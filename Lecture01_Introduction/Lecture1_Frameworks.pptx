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50.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38" r:id="rId1"/>
    <p:sldMasterId id="2147483750" r:id="rId2"/>
  </p:sldMasterIdLst>
  <p:notesMasterIdLst>
    <p:notesMasterId r:id="rId92"/>
  </p:notesMasterIdLst>
  <p:sldIdLst>
    <p:sldId id="256" r:id="rId3"/>
    <p:sldId id="285" r:id="rId4"/>
    <p:sldId id="348" r:id="rId5"/>
    <p:sldId id="347" r:id="rId6"/>
    <p:sldId id="313" r:id="rId7"/>
    <p:sldId id="314" r:id="rId8"/>
    <p:sldId id="448" r:id="rId9"/>
    <p:sldId id="353" r:id="rId10"/>
    <p:sldId id="363" r:id="rId11"/>
    <p:sldId id="355" r:id="rId12"/>
    <p:sldId id="365" r:id="rId13"/>
    <p:sldId id="362" r:id="rId14"/>
    <p:sldId id="315" r:id="rId15"/>
    <p:sldId id="338" r:id="rId16"/>
    <p:sldId id="331" r:id="rId17"/>
    <p:sldId id="447" r:id="rId18"/>
    <p:sldId id="333" r:id="rId19"/>
    <p:sldId id="334" r:id="rId20"/>
    <p:sldId id="317" r:id="rId21"/>
    <p:sldId id="429" r:id="rId22"/>
    <p:sldId id="430" r:id="rId23"/>
    <p:sldId id="357" r:id="rId24"/>
    <p:sldId id="431" r:id="rId25"/>
    <p:sldId id="432" r:id="rId26"/>
    <p:sldId id="327" r:id="rId27"/>
    <p:sldId id="257" r:id="rId28"/>
    <p:sldId id="433" r:id="rId29"/>
    <p:sldId id="279" r:id="rId30"/>
    <p:sldId id="452" r:id="rId31"/>
    <p:sldId id="258" r:id="rId32"/>
    <p:sldId id="260" r:id="rId33"/>
    <p:sldId id="281" r:id="rId34"/>
    <p:sldId id="263" r:id="rId35"/>
    <p:sldId id="453" r:id="rId36"/>
    <p:sldId id="273" r:id="rId37"/>
    <p:sldId id="287" r:id="rId38"/>
    <p:sldId id="349" r:id="rId39"/>
    <p:sldId id="359" r:id="rId40"/>
    <p:sldId id="339" r:id="rId41"/>
    <p:sldId id="319" r:id="rId42"/>
    <p:sldId id="336" r:id="rId43"/>
    <p:sldId id="352" r:id="rId44"/>
    <p:sldId id="259" r:id="rId45"/>
    <p:sldId id="265" r:id="rId46"/>
    <p:sldId id="435" r:id="rId47"/>
    <p:sldId id="437" r:id="rId48"/>
    <p:sldId id="261" r:id="rId49"/>
    <p:sldId id="320" r:id="rId50"/>
    <p:sldId id="321" r:id="rId51"/>
    <p:sldId id="291" r:id="rId52"/>
    <p:sldId id="290" r:id="rId53"/>
    <p:sldId id="438" r:id="rId54"/>
    <p:sldId id="439" r:id="rId55"/>
    <p:sldId id="440" r:id="rId56"/>
    <p:sldId id="329" r:id="rId57"/>
    <p:sldId id="330" r:id="rId58"/>
    <p:sldId id="337" r:id="rId59"/>
    <p:sldId id="350" r:id="rId60"/>
    <p:sldId id="351" r:id="rId61"/>
    <p:sldId id="289" r:id="rId62"/>
    <p:sldId id="436" r:id="rId63"/>
    <p:sldId id="293" r:id="rId64"/>
    <p:sldId id="449" r:id="rId65"/>
    <p:sldId id="294" r:id="rId66"/>
    <p:sldId id="335" r:id="rId67"/>
    <p:sldId id="450" r:id="rId68"/>
    <p:sldId id="295" r:id="rId69"/>
    <p:sldId id="340" r:id="rId70"/>
    <p:sldId id="298" r:id="rId71"/>
    <p:sldId id="302" r:id="rId72"/>
    <p:sldId id="301" r:id="rId73"/>
    <p:sldId id="445" r:id="rId74"/>
    <p:sldId id="446" r:id="rId75"/>
    <p:sldId id="306" r:id="rId76"/>
    <p:sldId id="341" r:id="rId77"/>
    <p:sldId id="305" r:id="rId78"/>
    <p:sldId id="308" r:id="rId79"/>
    <p:sldId id="309" r:id="rId80"/>
    <p:sldId id="324" r:id="rId81"/>
    <p:sldId id="325" r:id="rId82"/>
    <p:sldId id="451" r:id="rId83"/>
    <p:sldId id="283" r:id="rId84"/>
    <p:sldId id="441" r:id="rId85"/>
    <p:sldId id="442" r:id="rId86"/>
    <p:sldId id="443" r:id="rId87"/>
    <p:sldId id="444" r:id="rId88"/>
    <p:sldId id="266" r:id="rId89"/>
    <p:sldId id="434" r:id="rId90"/>
    <p:sldId id="343" r:id="rId91"/>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610" autoAdjust="0"/>
  </p:normalViewPr>
  <p:slideViewPr>
    <p:cSldViewPr>
      <p:cViewPr varScale="1">
        <p:scale>
          <a:sx n="55" d="100"/>
          <a:sy n="55" d="100"/>
        </p:scale>
        <p:origin x="1096" y="3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iagrams/_rels/data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s>
</file>

<file path=ppt/diagrams/_rels/data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s>
</file>

<file path=ppt/diagrams/_rels/data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s>
</file>

<file path=ppt/diagrams/_rels/data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image" Target="../media/image33.svg"/><Relationship Id="rId5" Type="http://schemas.openxmlformats.org/officeDocument/2006/relationships/image" Target="../media/image29.svg"/><Relationship Id="rId4" Type="http://schemas.openxmlformats.org/officeDocument/2006/relationships/image" Target="../media/image36.svg"/></Relationships>
</file>

<file path=ppt/diagrams/_rels/data5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image" Target="../media/image160.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image" Target="../media/image33.svg"/><Relationship Id="rId5" Type="http://schemas.openxmlformats.org/officeDocument/2006/relationships/image" Target="../media/image29.sv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FF6D50-23E5-4585-AD99-599A5B4F1D89}" type="doc">
      <dgm:prSet loTypeId="urn:microsoft.com/office/officeart/2009/layout/CircleArrowProcess" loCatId="process" qsTypeId="urn:microsoft.com/office/officeart/2005/8/quickstyle/simple1" qsCatId="simple" csTypeId="urn:microsoft.com/office/officeart/2005/8/colors/accent3_2" csCatId="accent3" phldr="1"/>
      <dgm:spPr/>
      <dgm:t>
        <a:bodyPr/>
        <a:lstStyle/>
        <a:p>
          <a:endParaRPr lang="en-CA"/>
        </a:p>
      </dgm:t>
    </dgm:pt>
    <dgm:pt modelId="{536EC01D-3056-4B9A-B929-64A7FB9C23FA}">
      <dgm:prSet phldrT="[Text]" custT="1"/>
      <dgm:spPr/>
      <dgm:t>
        <a:bodyPr/>
        <a:lstStyle/>
        <a:p>
          <a:r>
            <a:rPr lang="en-US" sz="1600" dirty="0"/>
            <a:t>Foundations</a:t>
          </a:r>
          <a:endParaRPr lang="en-CA" sz="1600" dirty="0"/>
        </a:p>
      </dgm:t>
    </dgm:pt>
    <dgm:pt modelId="{2EA23DBF-63FD-4C96-BD86-BC115001E01C}" type="parTrans" cxnId="{879E3312-BC20-4A07-96C9-EA3344BD4ECA}">
      <dgm:prSet/>
      <dgm:spPr/>
      <dgm:t>
        <a:bodyPr/>
        <a:lstStyle/>
        <a:p>
          <a:endParaRPr lang="en-CA"/>
        </a:p>
      </dgm:t>
    </dgm:pt>
    <dgm:pt modelId="{D9929218-F35B-466E-948C-EB0C465CB8D0}" type="sibTrans" cxnId="{879E3312-BC20-4A07-96C9-EA3344BD4ECA}">
      <dgm:prSet/>
      <dgm:spPr/>
      <dgm:t>
        <a:bodyPr/>
        <a:lstStyle/>
        <a:p>
          <a:endParaRPr lang="en-CA"/>
        </a:p>
      </dgm:t>
    </dgm:pt>
    <dgm:pt modelId="{882C7950-E5A0-49EC-9A35-D2BD28B94B7D}">
      <dgm:prSet phldrT="[Text]" custT="1"/>
      <dgm:spPr/>
      <dgm:t>
        <a:bodyPr/>
        <a:lstStyle/>
        <a:p>
          <a:r>
            <a:rPr lang="en-US" sz="1600" dirty="0"/>
            <a:t>Regression</a:t>
          </a:r>
          <a:r>
            <a:rPr lang="en-US" sz="1200" dirty="0"/>
            <a:t> in Practice (Associations)</a:t>
          </a:r>
          <a:endParaRPr lang="en-CA" sz="1200" dirty="0"/>
        </a:p>
      </dgm:t>
    </dgm:pt>
    <dgm:pt modelId="{0EF26D2D-721C-4291-B744-98E4E7EDBB03}" type="parTrans" cxnId="{A50CABE8-1561-4570-96C7-1376DFBF2A1F}">
      <dgm:prSet/>
      <dgm:spPr/>
      <dgm:t>
        <a:bodyPr/>
        <a:lstStyle/>
        <a:p>
          <a:endParaRPr lang="en-CA"/>
        </a:p>
      </dgm:t>
    </dgm:pt>
    <dgm:pt modelId="{E8F80AF6-7EBC-46C1-9E12-97DC470CCD89}" type="sibTrans" cxnId="{A50CABE8-1561-4570-96C7-1376DFBF2A1F}">
      <dgm:prSet/>
      <dgm:spPr/>
      <dgm:t>
        <a:bodyPr/>
        <a:lstStyle/>
        <a:p>
          <a:endParaRPr lang="en-CA"/>
        </a:p>
      </dgm:t>
    </dgm:pt>
    <dgm:pt modelId="{4DBC9FB7-39D2-416E-BC7D-6BEF530EA1F3}">
      <dgm:prSet phldrT="[Text]" custT="1"/>
      <dgm:spPr/>
      <dgm:t>
        <a:bodyPr/>
        <a:lstStyle/>
        <a:p>
          <a:r>
            <a:rPr lang="en-US" sz="1600" dirty="0"/>
            <a:t>Research Design</a:t>
          </a:r>
          <a:endParaRPr lang="en-CA" sz="1600" dirty="0"/>
        </a:p>
      </dgm:t>
    </dgm:pt>
    <dgm:pt modelId="{17F10008-FAEE-488F-84FB-F7319267A630}" type="parTrans" cxnId="{1914B3E3-0F49-4E24-AE23-4A581CA855BC}">
      <dgm:prSet/>
      <dgm:spPr/>
      <dgm:t>
        <a:bodyPr/>
        <a:lstStyle/>
        <a:p>
          <a:endParaRPr lang="en-CA"/>
        </a:p>
      </dgm:t>
    </dgm:pt>
    <dgm:pt modelId="{30202C8A-D920-455A-8F3D-A418F25227FE}" type="sibTrans" cxnId="{1914B3E3-0F49-4E24-AE23-4A581CA855BC}">
      <dgm:prSet/>
      <dgm:spPr/>
      <dgm:t>
        <a:bodyPr/>
        <a:lstStyle/>
        <a:p>
          <a:endParaRPr lang="en-CA"/>
        </a:p>
      </dgm:t>
    </dgm:pt>
    <dgm:pt modelId="{DBE50A84-23A5-4AB8-9F6D-EB2A62939E7D}">
      <dgm:prSet phldrT="[Text]" custT="1"/>
      <dgm:spPr/>
      <dgm:t>
        <a:bodyPr/>
        <a:lstStyle/>
        <a:p>
          <a:r>
            <a:rPr lang="en-US" sz="1600" dirty="0"/>
            <a:t>Causal Inference Methods</a:t>
          </a:r>
          <a:endParaRPr lang="en-CA" sz="1600" dirty="0"/>
        </a:p>
      </dgm:t>
    </dgm:pt>
    <dgm:pt modelId="{D96259A8-A180-47E4-AF69-DDCF312D530E}" type="parTrans" cxnId="{11569719-B142-40C3-BFCF-9548DE831E3D}">
      <dgm:prSet/>
      <dgm:spPr/>
      <dgm:t>
        <a:bodyPr/>
        <a:lstStyle/>
        <a:p>
          <a:endParaRPr lang="en-CA"/>
        </a:p>
      </dgm:t>
    </dgm:pt>
    <dgm:pt modelId="{E5D659B7-6946-4963-B9BB-22F4DF5EA45A}" type="sibTrans" cxnId="{11569719-B142-40C3-BFCF-9548DE831E3D}">
      <dgm:prSet/>
      <dgm:spPr/>
      <dgm:t>
        <a:bodyPr/>
        <a:lstStyle/>
        <a:p>
          <a:endParaRPr lang="en-CA"/>
        </a:p>
      </dgm:t>
    </dgm:pt>
    <dgm:pt modelId="{0FF7DA2B-3BE2-4F1B-BFAD-4A273EC976BD}">
      <dgm:prSet phldrT="[Text]" custT="1"/>
      <dgm:spPr/>
      <dgm:t>
        <a:bodyPr/>
        <a:lstStyle/>
        <a:p>
          <a:r>
            <a:rPr lang="en-US" sz="1600" dirty="0"/>
            <a:t>Optional topics</a:t>
          </a:r>
          <a:endParaRPr lang="en-CA" sz="1600" dirty="0"/>
        </a:p>
      </dgm:t>
    </dgm:pt>
    <dgm:pt modelId="{FF4479DA-4F5C-4707-875E-492290E22343}" type="parTrans" cxnId="{1D3282EE-704E-449B-88D5-4FB60AC2175A}">
      <dgm:prSet/>
      <dgm:spPr/>
      <dgm:t>
        <a:bodyPr/>
        <a:lstStyle/>
        <a:p>
          <a:endParaRPr lang="en-CA"/>
        </a:p>
      </dgm:t>
    </dgm:pt>
    <dgm:pt modelId="{1C074A1F-6C86-455F-94DE-2A4C9DDDDE6C}" type="sibTrans" cxnId="{1D3282EE-704E-449B-88D5-4FB60AC2175A}">
      <dgm:prSet/>
      <dgm:spPr/>
      <dgm:t>
        <a:bodyPr/>
        <a:lstStyle/>
        <a:p>
          <a:endParaRPr lang="en-CA"/>
        </a:p>
      </dgm:t>
    </dgm:pt>
    <dgm:pt modelId="{BC8C2B6C-293B-4506-B297-31FD60E0B5EE}">
      <dgm:prSet phldrT="[Text]" custT="1"/>
      <dgm:spPr/>
      <dgm:t>
        <a:bodyPr/>
        <a:lstStyle/>
        <a:p>
          <a:r>
            <a:rPr lang="en-US" sz="1800" dirty="0"/>
            <a:t>Synthetic Controls</a:t>
          </a:r>
          <a:endParaRPr lang="en-CA" sz="1800" dirty="0"/>
        </a:p>
      </dgm:t>
    </dgm:pt>
    <dgm:pt modelId="{586D32F8-D332-4D57-93C6-930AB22BC97F}" type="parTrans" cxnId="{3703CB98-7318-4DC8-AE84-1C408A9CDF80}">
      <dgm:prSet/>
      <dgm:spPr/>
      <dgm:t>
        <a:bodyPr/>
        <a:lstStyle/>
        <a:p>
          <a:endParaRPr lang="en-CA"/>
        </a:p>
      </dgm:t>
    </dgm:pt>
    <dgm:pt modelId="{46B01233-6826-4948-A7D6-A9E1F6996F82}" type="sibTrans" cxnId="{3703CB98-7318-4DC8-AE84-1C408A9CDF80}">
      <dgm:prSet/>
      <dgm:spPr/>
      <dgm:t>
        <a:bodyPr/>
        <a:lstStyle/>
        <a:p>
          <a:endParaRPr lang="en-CA"/>
        </a:p>
      </dgm:t>
    </dgm:pt>
    <dgm:pt modelId="{F3EFA439-32B7-47AE-805F-B353D5C81FAE}">
      <dgm:prSet phldrT="[Text]" custT="1"/>
      <dgm:spPr/>
      <dgm:t>
        <a:bodyPr/>
        <a:lstStyle/>
        <a:p>
          <a:r>
            <a:rPr lang="en-US" sz="1800" dirty="0"/>
            <a:t>Machine Learning for Quant Research (Causality)</a:t>
          </a:r>
          <a:endParaRPr lang="en-CA" sz="1800" dirty="0"/>
        </a:p>
      </dgm:t>
    </dgm:pt>
    <dgm:pt modelId="{0F55AD98-9FED-486C-A0AA-A27E6A00ABE7}" type="parTrans" cxnId="{9C03DA3B-653D-483C-A9DD-3293A08FD4C2}">
      <dgm:prSet/>
      <dgm:spPr/>
      <dgm:t>
        <a:bodyPr/>
        <a:lstStyle/>
        <a:p>
          <a:endParaRPr lang="en-CA"/>
        </a:p>
      </dgm:t>
    </dgm:pt>
    <dgm:pt modelId="{A0707149-9D31-443B-AC7D-22C542604492}" type="sibTrans" cxnId="{9C03DA3B-653D-483C-A9DD-3293A08FD4C2}">
      <dgm:prSet/>
      <dgm:spPr/>
      <dgm:t>
        <a:bodyPr/>
        <a:lstStyle/>
        <a:p>
          <a:endParaRPr lang="en-CA"/>
        </a:p>
      </dgm:t>
    </dgm:pt>
    <dgm:pt modelId="{F216B66C-F552-4FE6-A7F2-CC3AC2B4E903}">
      <dgm:prSet phldrT="[Text]" custT="1"/>
      <dgm:spPr/>
      <dgm:t>
        <a:bodyPr/>
        <a:lstStyle/>
        <a:p>
          <a:r>
            <a:rPr lang="en-US" sz="1800" dirty="0"/>
            <a:t>Matching</a:t>
          </a:r>
          <a:endParaRPr lang="en-CA" sz="1800" dirty="0"/>
        </a:p>
      </dgm:t>
    </dgm:pt>
    <dgm:pt modelId="{94F3E3D3-CA81-4BCA-AA30-D8C2156DF612}" type="parTrans" cxnId="{7DBC0579-371D-40B8-860D-AB0304166660}">
      <dgm:prSet/>
      <dgm:spPr/>
      <dgm:t>
        <a:bodyPr/>
        <a:lstStyle/>
        <a:p>
          <a:endParaRPr lang="en-CA"/>
        </a:p>
      </dgm:t>
    </dgm:pt>
    <dgm:pt modelId="{72F9C756-BC7D-4A2B-B5AB-33577104137F}" type="sibTrans" cxnId="{7DBC0579-371D-40B8-860D-AB0304166660}">
      <dgm:prSet/>
      <dgm:spPr/>
      <dgm:t>
        <a:bodyPr/>
        <a:lstStyle/>
        <a:p>
          <a:endParaRPr lang="en-CA"/>
        </a:p>
      </dgm:t>
    </dgm:pt>
    <dgm:pt modelId="{3CCE9726-E8D2-4755-9B59-5268A92958F4}">
      <dgm:prSet phldrT="[Text]" custT="1"/>
      <dgm:spPr/>
      <dgm:t>
        <a:bodyPr/>
        <a:lstStyle/>
        <a:p>
          <a:r>
            <a:rPr lang="en-US" sz="1800" dirty="0"/>
            <a:t>Instrumental Variables</a:t>
          </a:r>
          <a:endParaRPr lang="en-CA" sz="1800" dirty="0"/>
        </a:p>
      </dgm:t>
    </dgm:pt>
    <dgm:pt modelId="{366E66F6-DB6F-4CC1-8BE9-33C96ABC4D48}" type="parTrans" cxnId="{A174C397-050B-4C1E-9E02-D09A172A9468}">
      <dgm:prSet/>
      <dgm:spPr/>
      <dgm:t>
        <a:bodyPr/>
        <a:lstStyle/>
        <a:p>
          <a:endParaRPr lang="en-CA"/>
        </a:p>
      </dgm:t>
    </dgm:pt>
    <dgm:pt modelId="{69D9D868-7776-448B-A098-CAF296C1E68A}" type="sibTrans" cxnId="{A174C397-050B-4C1E-9E02-D09A172A9468}">
      <dgm:prSet/>
      <dgm:spPr/>
      <dgm:t>
        <a:bodyPr/>
        <a:lstStyle/>
        <a:p>
          <a:endParaRPr lang="en-CA"/>
        </a:p>
      </dgm:t>
    </dgm:pt>
    <dgm:pt modelId="{6377FAA1-376F-4376-A570-7C3C3B1381D1}">
      <dgm:prSet phldrT="[Text]" custT="1"/>
      <dgm:spPr/>
      <dgm:t>
        <a:bodyPr/>
        <a:lstStyle/>
        <a:p>
          <a:r>
            <a:rPr lang="en-US" sz="1800" dirty="0"/>
            <a:t>Nonlinear regression models</a:t>
          </a:r>
          <a:endParaRPr lang="en-CA" sz="1800" dirty="0"/>
        </a:p>
      </dgm:t>
    </dgm:pt>
    <dgm:pt modelId="{8A7E5F41-7E0B-42F1-BEA1-DFCAEC0408CF}" type="parTrans" cxnId="{49BE6743-E9C4-4C9C-8185-98A2DF72B911}">
      <dgm:prSet/>
      <dgm:spPr/>
      <dgm:t>
        <a:bodyPr/>
        <a:lstStyle/>
        <a:p>
          <a:endParaRPr lang="en-CA"/>
        </a:p>
      </dgm:t>
    </dgm:pt>
    <dgm:pt modelId="{674CB0AA-09FB-4CD2-B700-6F7572D68E62}" type="sibTrans" cxnId="{49BE6743-E9C4-4C9C-8185-98A2DF72B911}">
      <dgm:prSet/>
      <dgm:spPr/>
      <dgm:t>
        <a:bodyPr/>
        <a:lstStyle/>
        <a:p>
          <a:endParaRPr lang="en-CA"/>
        </a:p>
      </dgm:t>
    </dgm:pt>
    <dgm:pt modelId="{05323FB1-CC2D-435A-8CF1-8BF60252DA61}">
      <dgm:prSet phldrT="[Text]" custT="1"/>
      <dgm:spPr/>
      <dgm:t>
        <a:bodyPr/>
        <a:lstStyle/>
        <a:p>
          <a:r>
            <a:rPr lang="en-US" sz="1800" dirty="0"/>
            <a:t>Difference-in-differences</a:t>
          </a:r>
          <a:endParaRPr lang="en-CA" sz="1800" dirty="0"/>
        </a:p>
      </dgm:t>
    </dgm:pt>
    <dgm:pt modelId="{D6625C48-D2FB-492E-B39B-4355C55CFAAD}" type="parTrans" cxnId="{D5214F1E-0E29-4D1D-BFF7-194E7ABAC6B0}">
      <dgm:prSet/>
      <dgm:spPr/>
      <dgm:t>
        <a:bodyPr/>
        <a:lstStyle/>
        <a:p>
          <a:endParaRPr lang="en-CA"/>
        </a:p>
      </dgm:t>
    </dgm:pt>
    <dgm:pt modelId="{3AB70E3B-5DDE-491D-B2CC-E9F124CE258C}" type="sibTrans" cxnId="{D5214F1E-0E29-4D1D-BFF7-194E7ABAC6B0}">
      <dgm:prSet/>
      <dgm:spPr/>
      <dgm:t>
        <a:bodyPr/>
        <a:lstStyle/>
        <a:p>
          <a:endParaRPr lang="en-CA"/>
        </a:p>
      </dgm:t>
    </dgm:pt>
    <dgm:pt modelId="{26168418-EF69-4877-A2D0-AD36997597D9}" type="pres">
      <dgm:prSet presAssocID="{90FF6D50-23E5-4585-AD99-599A5B4F1D89}" presName="Name0" presStyleCnt="0">
        <dgm:presLayoutVars>
          <dgm:chMax val="7"/>
          <dgm:chPref val="7"/>
          <dgm:dir val="rev"/>
          <dgm:animLvl val="lvl"/>
        </dgm:presLayoutVars>
      </dgm:prSet>
      <dgm:spPr/>
    </dgm:pt>
    <dgm:pt modelId="{5A81F4B4-BC5E-4EE4-8290-6A77EE3C689D}" type="pres">
      <dgm:prSet presAssocID="{536EC01D-3056-4B9A-B929-64A7FB9C23FA}" presName="Accent1" presStyleCnt="0"/>
      <dgm:spPr/>
    </dgm:pt>
    <dgm:pt modelId="{97719E79-9476-48DA-96CE-DE990C8879D1}" type="pres">
      <dgm:prSet presAssocID="{536EC01D-3056-4B9A-B929-64A7FB9C23FA}" presName="Accent" presStyleLbl="node1" presStyleIdx="0" presStyleCnt="5"/>
      <dgm:spPr/>
    </dgm:pt>
    <dgm:pt modelId="{A2CCA857-613F-48CE-A4F5-AE6E9AD5CCFD}" type="pres">
      <dgm:prSet presAssocID="{536EC01D-3056-4B9A-B929-64A7FB9C23FA}" presName="Parent1" presStyleLbl="revTx" presStyleIdx="0" presStyleCnt="7" custScaleX="125351">
        <dgm:presLayoutVars>
          <dgm:chMax val="1"/>
          <dgm:chPref val="1"/>
          <dgm:bulletEnabled val="1"/>
        </dgm:presLayoutVars>
      </dgm:prSet>
      <dgm:spPr/>
    </dgm:pt>
    <dgm:pt modelId="{75EB6104-0310-434B-ADB7-B612E1527ED6}" type="pres">
      <dgm:prSet presAssocID="{882C7950-E5A0-49EC-9A35-D2BD28B94B7D}" presName="Accent2" presStyleCnt="0"/>
      <dgm:spPr/>
    </dgm:pt>
    <dgm:pt modelId="{6084E631-2316-4D10-A75F-DF3113EA0B52}" type="pres">
      <dgm:prSet presAssocID="{882C7950-E5A0-49EC-9A35-D2BD28B94B7D}" presName="Accent" presStyleLbl="node1" presStyleIdx="1" presStyleCnt="5"/>
      <dgm:spPr/>
    </dgm:pt>
    <dgm:pt modelId="{23303CE6-2778-43FA-B74E-DF0F08958F8B}" type="pres">
      <dgm:prSet presAssocID="{882C7950-E5A0-49EC-9A35-D2BD28B94B7D}" presName="Parent2" presStyleLbl="revTx" presStyleIdx="1" presStyleCnt="7" custScaleX="121057">
        <dgm:presLayoutVars>
          <dgm:chMax val="1"/>
          <dgm:chPref val="1"/>
          <dgm:bulletEnabled val="1"/>
        </dgm:presLayoutVars>
      </dgm:prSet>
      <dgm:spPr/>
    </dgm:pt>
    <dgm:pt modelId="{43831C78-D88A-436F-9B00-2C814FEEB3CC}" type="pres">
      <dgm:prSet presAssocID="{4DBC9FB7-39D2-416E-BC7D-6BEF530EA1F3}" presName="Accent3" presStyleCnt="0"/>
      <dgm:spPr/>
    </dgm:pt>
    <dgm:pt modelId="{7C8DA746-1CA7-4DA8-8797-A51BA1A54D07}" type="pres">
      <dgm:prSet presAssocID="{4DBC9FB7-39D2-416E-BC7D-6BEF530EA1F3}" presName="Accent" presStyleLbl="node1" presStyleIdx="2" presStyleCnt="5"/>
      <dgm:spPr/>
    </dgm:pt>
    <dgm:pt modelId="{2C069BA6-6AB0-4879-8113-66001FC95627}" type="pres">
      <dgm:prSet presAssocID="{4DBC9FB7-39D2-416E-BC7D-6BEF530EA1F3}" presName="Parent3" presStyleLbl="revTx" presStyleIdx="2" presStyleCnt="7">
        <dgm:presLayoutVars>
          <dgm:chMax val="1"/>
          <dgm:chPref val="1"/>
          <dgm:bulletEnabled val="1"/>
        </dgm:presLayoutVars>
      </dgm:prSet>
      <dgm:spPr/>
    </dgm:pt>
    <dgm:pt modelId="{AB77C08B-EE33-4F12-9925-DF406451F570}" type="pres">
      <dgm:prSet presAssocID="{DBE50A84-23A5-4AB8-9F6D-EB2A62939E7D}" presName="Accent4" presStyleCnt="0"/>
      <dgm:spPr/>
    </dgm:pt>
    <dgm:pt modelId="{A1852EF2-4805-4DFD-B8CC-94A79494EFEC}" type="pres">
      <dgm:prSet presAssocID="{DBE50A84-23A5-4AB8-9F6D-EB2A62939E7D}" presName="Accent" presStyleLbl="node1" presStyleIdx="3" presStyleCnt="5"/>
      <dgm:spPr/>
    </dgm:pt>
    <dgm:pt modelId="{02DB933A-F142-468D-881E-439E2E4CC592}" type="pres">
      <dgm:prSet presAssocID="{DBE50A84-23A5-4AB8-9F6D-EB2A62939E7D}" presName="Child4" presStyleLbl="revTx" presStyleIdx="3" presStyleCnt="7" custScaleX="632229" custLinFactX="115162" custLinFactNeighborX="200000" custLinFactNeighborY="35290">
        <dgm:presLayoutVars>
          <dgm:chMax val="0"/>
          <dgm:chPref val="0"/>
          <dgm:bulletEnabled val="1"/>
        </dgm:presLayoutVars>
      </dgm:prSet>
      <dgm:spPr/>
    </dgm:pt>
    <dgm:pt modelId="{641F3FC8-4AE5-4F3A-9ADB-B46D3F710B65}" type="pres">
      <dgm:prSet presAssocID="{DBE50A84-23A5-4AB8-9F6D-EB2A62939E7D}" presName="Parent4" presStyleLbl="revTx" presStyleIdx="4" presStyleCnt="7">
        <dgm:presLayoutVars>
          <dgm:chMax val="1"/>
          <dgm:chPref val="1"/>
          <dgm:bulletEnabled val="1"/>
        </dgm:presLayoutVars>
      </dgm:prSet>
      <dgm:spPr/>
    </dgm:pt>
    <dgm:pt modelId="{CFE2AE36-705B-4EEA-87DC-4555F906C72C}" type="pres">
      <dgm:prSet presAssocID="{0FF7DA2B-3BE2-4F1B-BFAD-4A273EC976BD}" presName="Accent5" presStyleCnt="0"/>
      <dgm:spPr/>
    </dgm:pt>
    <dgm:pt modelId="{33DD1281-3181-44F8-93AE-D39471B822C2}" type="pres">
      <dgm:prSet presAssocID="{0FF7DA2B-3BE2-4F1B-BFAD-4A273EC976BD}" presName="Accent" presStyleLbl="node1" presStyleIdx="4" presStyleCnt="5"/>
      <dgm:spPr/>
    </dgm:pt>
    <dgm:pt modelId="{69E113A7-A102-4503-A418-26987C106DCF}" type="pres">
      <dgm:prSet presAssocID="{0FF7DA2B-3BE2-4F1B-BFAD-4A273EC976BD}" presName="Child5" presStyleLbl="revTx" presStyleIdx="5" presStyleCnt="7" custScaleX="536948" custScaleY="150676" custLinFactX="100000" custLinFactNeighborX="120198" custLinFactNeighborY="27065">
        <dgm:presLayoutVars>
          <dgm:chMax val="0"/>
          <dgm:chPref val="0"/>
          <dgm:bulletEnabled val="1"/>
        </dgm:presLayoutVars>
      </dgm:prSet>
      <dgm:spPr/>
    </dgm:pt>
    <dgm:pt modelId="{FB322EF9-D506-4CD4-88E7-403C463DD332}" type="pres">
      <dgm:prSet presAssocID="{0FF7DA2B-3BE2-4F1B-BFAD-4A273EC976BD}" presName="Parent5" presStyleLbl="revTx" presStyleIdx="6" presStyleCnt="7">
        <dgm:presLayoutVars>
          <dgm:chMax val="1"/>
          <dgm:chPref val="1"/>
          <dgm:bulletEnabled val="1"/>
        </dgm:presLayoutVars>
      </dgm:prSet>
      <dgm:spPr/>
    </dgm:pt>
  </dgm:ptLst>
  <dgm:cxnLst>
    <dgm:cxn modelId="{76AF3711-F750-42E4-AD0B-DDC9B9663559}" type="presOf" srcId="{05323FB1-CC2D-435A-8CF1-8BF60252DA61}" destId="{02DB933A-F142-468D-881E-439E2E4CC592}" srcOrd="0" destOrd="3" presId="urn:microsoft.com/office/officeart/2009/layout/CircleArrowProcess"/>
    <dgm:cxn modelId="{879E3312-BC20-4A07-96C9-EA3344BD4ECA}" srcId="{90FF6D50-23E5-4585-AD99-599A5B4F1D89}" destId="{536EC01D-3056-4B9A-B929-64A7FB9C23FA}" srcOrd="0" destOrd="0" parTransId="{2EA23DBF-63FD-4C96-BD86-BC115001E01C}" sibTransId="{D9929218-F35B-466E-948C-EB0C465CB8D0}"/>
    <dgm:cxn modelId="{11569719-B142-40C3-BFCF-9548DE831E3D}" srcId="{90FF6D50-23E5-4585-AD99-599A5B4F1D89}" destId="{DBE50A84-23A5-4AB8-9F6D-EB2A62939E7D}" srcOrd="3" destOrd="0" parTransId="{D96259A8-A180-47E4-AF69-DDCF312D530E}" sibTransId="{E5D659B7-6946-4963-B9BB-22F4DF5EA45A}"/>
    <dgm:cxn modelId="{2B16DD19-DFF3-4C43-966B-BB020A877D44}" type="presOf" srcId="{536EC01D-3056-4B9A-B929-64A7FB9C23FA}" destId="{A2CCA857-613F-48CE-A4F5-AE6E9AD5CCFD}" srcOrd="0" destOrd="0" presId="urn:microsoft.com/office/officeart/2009/layout/CircleArrowProcess"/>
    <dgm:cxn modelId="{D5214F1E-0E29-4D1D-BFF7-194E7ABAC6B0}" srcId="{DBE50A84-23A5-4AB8-9F6D-EB2A62939E7D}" destId="{05323FB1-CC2D-435A-8CF1-8BF60252DA61}" srcOrd="3" destOrd="0" parTransId="{D6625C48-D2FB-492E-B39B-4355C55CFAAD}" sibTransId="{3AB70E3B-5DDE-491D-B2CC-E9F124CE258C}"/>
    <dgm:cxn modelId="{C6008E20-A00A-4E7B-86A8-D5260CCF4F96}" type="presOf" srcId="{F3EFA439-32B7-47AE-805F-B353D5C81FAE}" destId="{69E113A7-A102-4503-A418-26987C106DCF}" srcOrd="0" destOrd="1" presId="urn:microsoft.com/office/officeart/2009/layout/CircleArrowProcess"/>
    <dgm:cxn modelId="{84909827-BE40-416D-B2A0-C5C3F4A74866}" type="presOf" srcId="{3CCE9726-E8D2-4755-9B59-5268A92958F4}" destId="{02DB933A-F142-468D-881E-439E2E4CC592}" srcOrd="0" destOrd="1" presId="urn:microsoft.com/office/officeart/2009/layout/CircleArrowProcess"/>
    <dgm:cxn modelId="{B179F128-FB83-4D58-9C78-FC6492A941C2}" type="presOf" srcId="{F216B66C-F552-4FE6-A7F2-CC3AC2B4E903}" destId="{02DB933A-F142-468D-881E-439E2E4CC592}" srcOrd="0" destOrd="0" presId="urn:microsoft.com/office/officeart/2009/layout/CircleArrowProcess"/>
    <dgm:cxn modelId="{F061A931-720F-4F45-ACB1-D5DDB574A64E}" type="presOf" srcId="{4DBC9FB7-39D2-416E-BC7D-6BEF530EA1F3}" destId="{2C069BA6-6AB0-4879-8113-66001FC95627}" srcOrd="0" destOrd="0" presId="urn:microsoft.com/office/officeart/2009/layout/CircleArrowProcess"/>
    <dgm:cxn modelId="{CD3E8335-5A92-4BE7-A418-E158F54697A0}" type="presOf" srcId="{DBE50A84-23A5-4AB8-9F6D-EB2A62939E7D}" destId="{641F3FC8-4AE5-4F3A-9ADB-B46D3F710B65}" srcOrd="0" destOrd="0" presId="urn:microsoft.com/office/officeart/2009/layout/CircleArrowProcess"/>
    <dgm:cxn modelId="{9C03DA3B-653D-483C-A9DD-3293A08FD4C2}" srcId="{0FF7DA2B-3BE2-4F1B-BFAD-4A273EC976BD}" destId="{F3EFA439-32B7-47AE-805F-B353D5C81FAE}" srcOrd="1" destOrd="0" parTransId="{0F55AD98-9FED-486C-A0AA-A27E6A00ABE7}" sibTransId="{A0707149-9D31-443B-AC7D-22C542604492}"/>
    <dgm:cxn modelId="{49BE6743-E9C4-4C9C-8185-98A2DF72B911}" srcId="{DBE50A84-23A5-4AB8-9F6D-EB2A62939E7D}" destId="{6377FAA1-376F-4376-A570-7C3C3B1381D1}" srcOrd="2" destOrd="0" parTransId="{8A7E5F41-7E0B-42F1-BEA1-DFCAEC0408CF}" sibTransId="{674CB0AA-09FB-4CD2-B700-6F7572D68E62}"/>
    <dgm:cxn modelId="{D324B649-C2F5-4CEF-BB2E-1B96CAC75CA9}" type="presOf" srcId="{90FF6D50-23E5-4585-AD99-599A5B4F1D89}" destId="{26168418-EF69-4877-A2D0-AD36997597D9}" srcOrd="0" destOrd="0" presId="urn:microsoft.com/office/officeart/2009/layout/CircleArrowProcess"/>
    <dgm:cxn modelId="{D66B2C4A-AA9D-4D25-BFD3-E68476B89F8F}" type="presOf" srcId="{0FF7DA2B-3BE2-4F1B-BFAD-4A273EC976BD}" destId="{FB322EF9-D506-4CD4-88E7-403C463DD332}" srcOrd="0" destOrd="0" presId="urn:microsoft.com/office/officeart/2009/layout/CircleArrowProcess"/>
    <dgm:cxn modelId="{F5C29474-3233-4C56-937D-BF74493631CC}" type="presOf" srcId="{BC8C2B6C-293B-4506-B297-31FD60E0B5EE}" destId="{69E113A7-A102-4503-A418-26987C106DCF}" srcOrd="0" destOrd="0" presId="urn:microsoft.com/office/officeart/2009/layout/CircleArrowProcess"/>
    <dgm:cxn modelId="{7DBC0579-371D-40B8-860D-AB0304166660}" srcId="{DBE50A84-23A5-4AB8-9F6D-EB2A62939E7D}" destId="{F216B66C-F552-4FE6-A7F2-CC3AC2B4E903}" srcOrd="0" destOrd="0" parTransId="{94F3E3D3-CA81-4BCA-AA30-D8C2156DF612}" sibTransId="{72F9C756-BC7D-4A2B-B5AB-33577104137F}"/>
    <dgm:cxn modelId="{A174C397-050B-4C1E-9E02-D09A172A9468}" srcId="{DBE50A84-23A5-4AB8-9F6D-EB2A62939E7D}" destId="{3CCE9726-E8D2-4755-9B59-5268A92958F4}" srcOrd="1" destOrd="0" parTransId="{366E66F6-DB6F-4CC1-8BE9-33C96ABC4D48}" sibTransId="{69D9D868-7776-448B-A098-CAF296C1E68A}"/>
    <dgm:cxn modelId="{3703CB98-7318-4DC8-AE84-1C408A9CDF80}" srcId="{0FF7DA2B-3BE2-4F1B-BFAD-4A273EC976BD}" destId="{BC8C2B6C-293B-4506-B297-31FD60E0B5EE}" srcOrd="0" destOrd="0" parTransId="{586D32F8-D332-4D57-93C6-930AB22BC97F}" sibTransId="{46B01233-6826-4948-A7D6-A9E1F6996F82}"/>
    <dgm:cxn modelId="{7109E9B7-462C-4E31-8A4E-8ABEC18EE60A}" type="presOf" srcId="{6377FAA1-376F-4376-A570-7C3C3B1381D1}" destId="{02DB933A-F142-468D-881E-439E2E4CC592}" srcOrd="0" destOrd="2" presId="urn:microsoft.com/office/officeart/2009/layout/CircleArrowProcess"/>
    <dgm:cxn modelId="{1914B3E3-0F49-4E24-AE23-4A581CA855BC}" srcId="{90FF6D50-23E5-4585-AD99-599A5B4F1D89}" destId="{4DBC9FB7-39D2-416E-BC7D-6BEF530EA1F3}" srcOrd="2" destOrd="0" parTransId="{17F10008-FAEE-488F-84FB-F7319267A630}" sibTransId="{30202C8A-D920-455A-8F3D-A418F25227FE}"/>
    <dgm:cxn modelId="{A50CABE8-1561-4570-96C7-1376DFBF2A1F}" srcId="{90FF6D50-23E5-4585-AD99-599A5B4F1D89}" destId="{882C7950-E5A0-49EC-9A35-D2BD28B94B7D}" srcOrd="1" destOrd="0" parTransId="{0EF26D2D-721C-4291-B744-98E4E7EDBB03}" sibTransId="{E8F80AF6-7EBC-46C1-9E12-97DC470CCD89}"/>
    <dgm:cxn modelId="{1D3282EE-704E-449B-88D5-4FB60AC2175A}" srcId="{90FF6D50-23E5-4585-AD99-599A5B4F1D89}" destId="{0FF7DA2B-3BE2-4F1B-BFAD-4A273EC976BD}" srcOrd="4" destOrd="0" parTransId="{FF4479DA-4F5C-4707-875E-492290E22343}" sibTransId="{1C074A1F-6C86-455F-94DE-2A4C9DDDDE6C}"/>
    <dgm:cxn modelId="{ABD3AEF7-3B2A-48CE-8FE0-5E3156FE9A86}" type="presOf" srcId="{882C7950-E5A0-49EC-9A35-D2BD28B94B7D}" destId="{23303CE6-2778-43FA-B74E-DF0F08958F8B}" srcOrd="0" destOrd="0" presId="urn:microsoft.com/office/officeart/2009/layout/CircleArrowProcess"/>
    <dgm:cxn modelId="{3133F36F-499B-4C7F-8638-5EAA631D237F}" type="presParOf" srcId="{26168418-EF69-4877-A2D0-AD36997597D9}" destId="{5A81F4B4-BC5E-4EE4-8290-6A77EE3C689D}" srcOrd="0" destOrd="0" presId="urn:microsoft.com/office/officeart/2009/layout/CircleArrowProcess"/>
    <dgm:cxn modelId="{E5CD9C29-36AE-4A59-9D87-FCB0D596E2E8}" type="presParOf" srcId="{5A81F4B4-BC5E-4EE4-8290-6A77EE3C689D}" destId="{97719E79-9476-48DA-96CE-DE990C8879D1}" srcOrd="0" destOrd="0" presId="urn:microsoft.com/office/officeart/2009/layout/CircleArrowProcess"/>
    <dgm:cxn modelId="{7DC16698-7C21-4663-A99A-3F2341223618}" type="presParOf" srcId="{26168418-EF69-4877-A2D0-AD36997597D9}" destId="{A2CCA857-613F-48CE-A4F5-AE6E9AD5CCFD}" srcOrd="1" destOrd="0" presId="urn:microsoft.com/office/officeart/2009/layout/CircleArrowProcess"/>
    <dgm:cxn modelId="{A0D456E6-2DBA-48C0-AB79-67D7A6A8EF5B}" type="presParOf" srcId="{26168418-EF69-4877-A2D0-AD36997597D9}" destId="{75EB6104-0310-434B-ADB7-B612E1527ED6}" srcOrd="2" destOrd="0" presId="urn:microsoft.com/office/officeart/2009/layout/CircleArrowProcess"/>
    <dgm:cxn modelId="{4D0A1205-D53F-4314-9909-96B54F10968A}" type="presParOf" srcId="{75EB6104-0310-434B-ADB7-B612E1527ED6}" destId="{6084E631-2316-4D10-A75F-DF3113EA0B52}" srcOrd="0" destOrd="0" presId="urn:microsoft.com/office/officeart/2009/layout/CircleArrowProcess"/>
    <dgm:cxn modelId="{D21075B0-21B3-442D-AD68-40D68AF997CC}" type="presParOf" srcId="{26168418-EF69-4877-A2D0-AD36997597D9}" destId="{23303CE6-2778-43FA-B74E-DF0F08958F8B}" srcOrd="3" destOrd="0" presId="urn:microsoft.com/office/officeart/2009/layout/CircleArrowProcess"/>
    <dgm:cxn modelId="{B940EB60-3259-4C95-837A-A54B5E6DB510}" type="presParOf" srcId="{26168418-EF69-4877-A2D0-AD36997597D9}" destId="{43831C78-D88A-436F-9B00-2C814FEEB3CC}" srcOrd="4" destOrd="0" presId="urn:microsoft.com/office/officeart/2009/layout/CircleArrowProcess"/>
    <dgm:cxn modelId="{591555BD-BC19-4839-B58B-EFF10C0025D3}" type="presParOf" srcId="{43831C78-D88A-436F-9B00-2C814FEEB3CC}" destId="{7C8DA746-1CA7-4DA8-8797-A51BA1A54D07}" srcOrd="0" destOrd="0" presId="urn:microsoft.com/office/officeart/2009/layout/CircleArrowProcess"/>
    <dgm:cxn modelId="{1FF3F738-3553-45B6-8136-123F4CC50694}" type="presParOf" srcId="{26168418-EF69-4877-A2D0-AD36997597D9}" destId="{2C069BA6-6AB0-4879-8113-66001FC95627}" srcOrd="5" destOrd="0" presId="urn:microsoft.com/office/officeart/2009/layout/CircleArrowProcess"/>
    <dgm:cxn modelId="{26E4FE9D-2A5A-4F1B-B5B0-BC06DC879301}" type="presParOf" srcId="{26168418-EF69-4877-A2D0-AD36997597D9}" destId="{AB77C08B-EE33-4F12-9925-DF406451F570}" srcOrd="6" destOrd="0" presId="urn:microsoft.com/office/officeart/2009/layout/CircleArrowProcess"/>
    <dgm:cxn modelId="{F099AFC6-1058-41D8-A192-EA52A2EE6799}" type="presParOf" srcId="{AB77C08B-EE33-4F12-9925-DF406451F570}" destId="{A1852EF2-4805-4DFD-B8CC-94A79494EFEC}" srcOrd="0" destOrd="0" presId="urn:microsoft.com/office/officeart/2009/layout/CircleArrowProcess"/>
    <dgm:cxn modelId="{212467F0-FE3D-4566-97F0-12DCB3042B9C}" type="presParOf" srcId="{26168418-EF69-4877-A2D0-AD36997597D9}" destId="{02DB933A-F142-468D-881E-439E2E4CC592}" srcOrd="7" destOrd="0" presId="urn:microsoft.com/office/officeart/2009/layout/CircleArrowProcess"/>
    <dgm:cxn modelId="{E2902C16-6F3B-4053-B58E-D2B8E4A747DD}" type="presParOf" srcId="{26168418-EF69-4877-A2D0-AD36997597D9}" destId="{641F3FC8-4AE5-4F3A-9ADB-B46D3F710B65}" srcOrd="8" destOrd="0" presId="urn:microsoft.com/office/officeart/2009/layout/CircleArrowProcess"/>
    <dgm:cxn modelId="{DFCD6CD3-521D-4BAC-AA15-75CFD879086F}" type="presParOf" srcId="{26168418-EF69-4877-A2D0-AD36997597D9}" destId="{CFE2AE36-705B-4EEA-87DC-4555F906C72C}" srcOrd="9" destOrd="0" presId="urn:microsoft.com/office/officeart/2009/layout/CircleArrowProcess"/>
    <dgm:cxn modelId="{FDF772DB-6EFD-42EF-A09E-81AFFAFEE8A7}" type="presParOf" srcId="{CFE2AE36-705B-4EEA-87DC-4555F906C72C}" destId="{33DD1281-3181-44F8-93AE-D39471B822C2}" srcOrd="0" destOrd="0" presId="urn:microsoft.com/office/officeart/2009/layout/CircleArrowProcess"/>
    <dgm:cxn modelId="{60D07657-B3F1-44DC-8831-AFBD0C5C31D7}" type="presParOf" srcId="{26168418-EF69-4877-A2D0-AD36997597D9}" destId="{69E113A7-A102-4503-A418-26987C106DCF}" srcOrd="10" destOrd="0" presId="urn:microsoft.com/office/officeart/2009/layout/CircleArrowProcess"/>
    <dgm:cxn modelId="{A08D5EC6-0896-4F2E-A9F6-1701E85D0A10}" type="presParOf" srcId="{26168418-EF69-4877-A2D0-AD36997597D9}" destId="{FB322EF9-D506-4CD4-88E7-403C463DD332}" srcOrd="11"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FF6D50-23E5-4585-AD99-599A5B4F1D89}" type="doc">
      <dgm:prSet loTypeId="urn:microsoft.com/office/officeart/2009/layout/CircleArrowProcess" loCatId="process" qsTypeId="urn:microsoft.com/office/officeart/2005/8/quickstyle/simple1" qsCatId="simple" csTypeId="urn:microsoft.com/office/officeart/2005/8/colors/accent3_2" csCatId="accent3" phldr="1"/>
      <dgm:spPr/>
      <dgm:t>
        <a:bodyPr/>
        <a:lstStyle/>
        <a:p>
          <a:endParaRPr lang="en-CA"/>
        </a:p>
      </dgm:t>
    </dgm:pt>
    <dgm:pt modelId="{536EC01D-3056-4B9A-B929-64A7FB9C23FA}">
      <dgm:prSet phldrT="[Text]" custT="1"/>
      <dgm:spPr/>
      <dgm:t>
        <a:bodyPr/>
        <a:lstStyle/>
        <a:p>
          <a:r>
            <a:rPr lang="en-US" sz="1600" dirty="0"/>
            <a:t>Foundations</a:t>
          </a:r>
          <a:endParaRPr lang="en-CA" sz="1600" dirty="0"/>
        </a:p>
      </dgm:t>
    </dgm:pt>
    <dgm:pt modelId="{2EA23DBF-63FD-4C96-BD86-BC115001E01C}" type="parTrans" cxnId="{879E3312-BC20-4A07-96C9-EA3344BD4ECA}">
      <dgm:prSet/>
      <dgm:spPr/>
      <dgm:t>
        <a:bodyPr/>
        <a:lstStyle/>
        <a:p>
          <a:endParaRPr lang="en-CA"/>
        </a:p>
      </dgm:t>
    </dgm:pt>
    <dgm:pt modelId="{D9929218-F35B-466E-948C-EB0C465CB8D0}" type="sibTrans" cxnId="{879E3312-BC20-4A07-96C9-EA3344BD4ECA}">
      <dgm:prSet/>
      <dgm:spPr/>
      <dgm:t>
        <a:bodyPr/>
        <a:lstStyle/>
        <a:p>
          <a:endParaRPr lang="en-CA"/>
        </a:p>
      </dgm:t>
    </dgm:pt>
    <dgm:pt modelId="{882C7950-E5A0-49EC-9A35-D2BD28B94B7D}">
      <dgm:prSet phldrT="[Text]" custT="1"/>
      <dgm:spPr/>
      <dgm:t>
        <a:bodyPr/>
        <a:lstStyle/>
        <a:p>
          <a:r>
            <a:rPr lang="en-US" sz="1600" dirty="0"/>
            <a:t>Regression</a:t>
          </a:r>
          <a:r>
            <a:rPr lang="en-US" sz="1200" dirty="0"/>
            <a:t> in Practice (Associations)</a:t>
          </a:r>
          <a:endParaRPr lang="en-CA" sz="1200" dirty="0"/>
        </a:p>
      </dgm:t>
    </dgm:pt>
    <dgm:pt modelId="{0EF26D2D-721C-4291-B744-98E4E7EDBB03}" type="parTrans" cxnId="{A50CABE8-1561-4570-96C7-1376DFBF2A1F}">
      <dgm:prSet/>
      <dgm:spPr/>
      <dgm:t>
        <a:bodyPr/>
        <a:lstStyle/>
        <a:p>
          <a:endParaRPr lang="en-CA"/>
        </a:p>
      </dgm:t>
    </dgm:pt>
    <dgm:pt modelId="{E8F80AF6-7EBC-46C1-9E12-97DC470CCD89}" type="sibTrans" cxnId="{A50CABE8-1561-4570-96C7-1376DFBF2A1F}">
      <dgm:prSet/>
      <dgm:spPr/>
      <dgm:t>
        <a:bodyPr/>
        <a:lstStyle/>
        <a:p>
          <a:endParaRPr lang="en-CA"/>
        </a:p>
      </dgm:t>
    </dgm:pt>
    <dgm:pt modelId="{4DBC9FB7-39D2-416E-BC7D-6BEF530EA1F3}">
      <dgm:prSet phldrT="[Text]" custT="1"/>
      <dgm:spPr/>
      <dgm:t>
        <a:bodyPr/>
        <a:lstStyle/>
        <a:p>
          <a:r>
            <a:rPr lang="en-US" sz="1600" dirty="0"/>
            <a:t>Research Design</a:t>
          </a:r>
          <a:endParaRPr lang="en-CA" sz="1600" dirty="0"/>
        </a:p>
      </dgm:t>
    </dgm:pt>
    <dgm:pt modelId="{17F10008-FAEE-488F-84FB-F7319267A630}" type="parTrans" cxnId="{1914B3E3-0F49-4E24-AE23-4A581CA855BC}">
      <dgm:prSet/>
      <dgm:spPr/>
      <dgm:t>
        <a:bodyPr/>
        <a:lstStyle/>
        <a:p>
          <a:endParaRPr lang="en-CA"/>
        </a:p>
      </dgm:t>
    </dgm:pt>
    <dgm:pt modelId="{30202C8A-D920-455A-8F3D-A418F25227FE}" type="sibTrans" cxnId="{1914B3E3-0F49-4E24-AE23-4A581CA855BC}">
      <dgm:prSet/>
      <dgm:spPr/>
      <dgm:t>
        <a:bodyPr/>
        <a:lstStyle/>
        <a:p>
          <a:endParaRPr lang="en-CA"/>
        </a:p>
      </dgm:t>
    </dgm:pt>
    <dgm:pt modelId="{DBE50A84-23A5-4AB8-9F6D-EB2A62939E7D}">
      <dgm:prSet phldrT="[Text]" custT="1"/>
      <dgm:spPr/>
      <dgm:t>
        <a:bodyPr/>
        <a:lstStyle/>
        <a:p>
          <a:r>
            <a:rPr lang="en-US" sz="1600" dirty="0"/>
            <a:t>Causal Inference Methods</a:t>
          </a:r>
          <a:endParaRPr lang="en-CA" sz="1600" dirty="0"/>
        </a:p>
      </dgm:t>
    </dgm:pt>
    <dgm:pt modelId="{D96259A8-A180-47E4-AF69-DDCF312D530E}" type="parTrans" cxnId="{11569719-B142-40C3-BFCF-9548DE831E3D}">
      <dgm:prSet/>
      <dgm:spPr/>
      <dgm:t>
        <a:bodyPr/>
        <a:lstStyle/>
        <a:p>
          <a:endParaRPr lang="en-CA"/>
        </a:p>
      </dgm:t>
    </dgm:pt>
    <dgm:pt modelId="{E5D659B7-6946-4963-B9BB-22F4DF5EA45A}" type="sibTrans" cxnId="{11569719-B142-40C3-BFCF-9548DE831E3D}">
      <dgm:prSet/>
      <dgm:spPr/>
      <dgm:t>
        <a:bodyPr/>
        <a:lstStyle/>
        <a:p>
          <a:endParaRPr lang="en-CA"/>
        </a:p>
      </dgm:t>
    </dgm:pt>
    <dgm:pt modelId="{0FF7DA2B-3BE2-4F1B-BFAD-4A273EC976BD}">
      <dgm:prSet phldrT="[Text]" custT="1"/>
      <dgm:spPr/>
      <dgm:t>
        <a:bodyPr/>
        <a:lstStyle/>
        <a:p>
          <a:r>
            <a:rPr lang="en-US" sz="1600" dirty="0"/>
            <a:t>Optional topics</a:t>
          </a:r>
          <a:endParaRPr lang="en-CA" sz="1600" dirty="0"/>
        </a:p>
      </dgm:t>
    </dgm:pt>
    <dgm:pt modelId="{FF4479DA-4F5C-4707-875E-492290E22343}" type="parTrans" cxnId="{1D3282EE-704E-449B-88D5-4FB60AC2175A}">
      <dgm:prSet/>
      <dgm:spPr/>
      <dgm:t>
        <a:bodyPr/>
        <a:lstStyle/>
        <a:p>
          <a:endParaRPr lang="en-CA"/>
        </a:p>
      </dgm:t>
    </dgm:pt>
    <dgm:pt modelId="{1C074A1F-6C86-455F-94DE-2A4C9DDDDE6C}" type="sibTrans" cxnId="{1D3282EE-704E-449B-88D5-4FB60AC2175A}">
      <dgm:prSet/>
      <dgm:spPr/>
      <dgm:t>
        <a:bodyPr/>
        <a:lstStyle/>
        <a:p>
          <a:endParaRPr lang="en-CA"/>
        </a:p>
      </dgm:t>
    </dgm:pt>
    <dgm:pt modelId="{BC8C2B6C-293B-4506-B297-31FD60E0B5EE}">
      <dgm:prSet phldrT="[Text]" custT="1"/>
      <dgm:spPr/>
      <dgm:t>
        <a:bodyPr/>
        <a:lstStyle/>
        <a:p>
          <a:r>
            <a:rPr lang="en-US" sz="1800" dirty="0"/>
            <a:t>Synthetic Controls</a:t>
          </a:r>
          <a:endParaRPr lang="en-CA" sz="1800" dirty="0"/>
        </a:p>
      </dgm:t>
    </dgm:pt>
    <dgm:pt modelId="{586D32F8-D332-4D57-93C6-930AB22BC97F}" type="parTrans" cxnId="{3703CB98-7318-4DC8-AE84-1C408A9CDF80}">
      <dgm:prSet/>
      <dgm:spPr/>
      <dgm:t>
        <a:bodyPr/>
        <a:lstStyle/>
        <a:p>
          <a:endParaRPr lang="en-CA"/>
        </a:p>
      </dgm:t>
    </dgm:pt>
    <dgm:pt modelId="{46B01233-6826-4948-A7D6-A9E1F6996F82}" type="sibTrans" cxnId="{3703CB98-7318-4DC8-AE84-1C408A9CDF80}">
      <dgm:prSet/>
      <dgm:spPr/>
      <dgm:t>
        <a:bodyPr/>
        <a:lstStyle/>
        <a:p>
          <a:endParaRPr lang="en-CA"/>
        </a:p>
      </dgm:t>
    </dgm:pt>
    <dgm:pt modelId="{F3EFA439-32B7-47AE-805F-B353D5C81FAE}">
      <dgm:prSet phldrT="[Text]" custT="1"/>
      <dgm:spPr/>
      <dgm:t>
        <a:bodyPr/>
        <a:lstStyle/>
        <a:p>
          <a:r>
            <a:rPr lang="en-US" sz="1800" dirty="0"/>
            <a:t>Machine Learning for Quant Research (Causality)</a:t>
          </a:r>
          <a:endParaRPr lang="en-CA" sz="1800" dirty="0"/>
        </a:p>
      </dgm:t>
    </dgm:pt>
    <dgm:pt modelId="{0F55AD98-9FED-486C-A0AA-A27E6A00ABE7}" type="parTrans" cxnId="{9C03DA3B-653D-483C-A9DD-3293A08FD4C2}">
      <dgm:prSet/>
      <dgm:spPr/>
      <dgm:t>
        <a:bodyPr/>
        <a:lstStyle/>
        <a:p>
          <a:endParaRPr lang="en-CA"/>
        </a:p>
      </dgm:t>
    </dgm:pt>
    <dgm:pt modelId="{A0707149-9D31-443B-AC7D-22C542604492}" type="sibTrans" cxnId="{9C03DA3B-653D-483C-A9DD-3293A08FD4C2}">
      <dgm:prSet/>
      <dgm:spPr/>
      <dgm:t>
        <a:bodyPr/>
        <a:lstStyle/>
        <a:p>
          <a:endParaRPr lang="en-CA"/>
        </a:p>
      </dgm:t>
    </dgm:pt>
    <dgm:pt modelId="{F216B66C-F552-4FE6-A7F2-CC3AC2B4E903}">
      <dgm:prSet phldrT="[Text]" custT="1"/>
      <dgm:spPr/>
      <dgm:t>
        <a:bodyPr/>
        <a:lstStyle/>
        <a:p>
          <a:r>
            <a:rPr lang="en-US" sz="1800" dirty="0"/>
            <a:t>Matching</a:t>
          </a:r>
          <a:endParaRPr lang="en-CA" sz="1800" dirty="0"/>
        </a:p>
      </dgm:t>
    </dgm:pt>
    <dgm:pt modelId="{94F3E3D3-CA81-4BCA-AA30-D8C2156DF612}" type="parTrans" cxnId="{7DBC0579-371D-40B8-860D-AB0304166660}">
      <dgm:prSet/>
      <dgm:spPr/>
      <dgm:t>
        <a:bodyPr/>
        <a:lstStyle/>
        <a:p>
          <a:endParaRPr lang="en-CA"/>
        </a:p>
      </dgm:t>
    </dgm:pt>
    <dgm:pt modelId="{72F9C756-BC7D-4A2B-B5AB-33577104137F}" type="sibTrans" cxnId="{7DBC0579-371D-40B8-860D-AB0304166660}">
      <dgm:prSet/>
      <dgm:spPr/>
      <dgm:t>
        <a:bodyPr/>
        <a:lstStyle/>
        <a:p>
          <a:endParaRPr lang="en-CA"/>
        </a:p>
      </dgm:t>
    </dgm:pt>
    <dgm:pt modelId="{3CCE9726-E8D2-4755-9B59-5268A92958F4}">
      <dgm:prSet phldrT="[Text]" custT="1"/>
      <dgm:spPr/>
      <dgm:t>
        <a:bodyPr/>
        <a:lstStyle/>
        <a:p>
          <a:r>
            <a:rPr lang="en-US" sz="1800" dirty="0"/>
            <a:t>Instrumental Variables</a:t>
          </a:r>
          <a:endParaRPr lang="en-CA" sz="1800" dirty="0"/>
        </a:p>
      </dgm:t>
    </dgm:pt>
    <dgm:pt modelId="{366E66F6-DB6F-4CC1-8BE9-33C96ABC4D48}" type="parTrans" cxnId="{A174C397-050B-4C1E-9E02-D09A172A9468}">
      <dgm:prSet/>
      <dgm:spPr/>
      <dgm:t>
        <a:bodyPr/>
        <a:lstStyle/>
        <a:p>
          <a:endParaRPr lang="en-CA"/>
        </a:p>
      </dgm:t>
    </dgm:pt>
    <dgm:pt modelId="{69D9D868-7776-448B-A098-CAF296C1E68A}" type="sibTrans" cxnId="{A174C397-050B-4C1E-9E02-D09A172A9468}">
      <dgm:prSet/>
      <dgm:spPr/>
      <dgm:t>
        <a:bodyPr/>
        <a:lstStyle/>
        <a:p>
          <a:endParaRPr lang="en-CA"/>
        </a:p>
      </dgm:t>
    </dgm:pt>
    <dgm:pt modelId="{6377FAA1-376F-4376-A570-7C3C3B1381D1}">
      <dgm:prSet phldrT="[Text]" custT="1"/>
      <dgm:spPr/>
      <dgm:t>
        <a:bodyPr/>
        <a:lstStyle/>
        <a:p>
          <a:r>
            <a:rPr lang="en-US" sz="1800" dirty="0"/>
            <a:t>Nonlinear regression models</a:t>
          </a:r>
          <a:endParaRPr lang="en-CA" sz="1800" dirty="0"/>
        </a:p>
      </dgm:t>
    </dgm:pt>
    <dgm:pt modelId="{8A7E5F41-7E0B-42F1-BEA1-DFCAEC0408CF}" type="parTrans" cxnId="{49BE6743-E9C4-4C9C-8185-98A2DF72B911}">
      <dgm:prSet/>
      <dgm:spPr/>
      <dgm:t>
        <a:bodyPr/>
        <a:lstStyle/>
        <a:p>
          <a:endParaRPr lang="en-CA"/>
        </a:p>
      </dgm:t>
    </dgm:pt>
    <dgm:pt modelId="{674CB0AA-09FB-4CD2-B700-6F7572D68E62}" type="sibTrans" cxnId="{49BE6743-E9C4-4C9C-8185-98A2DF72B911}">
      <dgm:prSet/>
      <dgm:spPr/>
      <dgm:t>
        <a:bodyPr/>
        <a:lstStyle/>
        <a:p>
          <a:endParaRPr lang="en-CA"/>
        </a:p>
      </dgm:t>
    </dgm:pt>
    <dgm:pt modelId="{05323FB1-CC2D-435A-8CF1-8BF60252DA61}">
      <dgm:prSet phldrT="[Text]" custT="1"/>
      <dgm:spPr/>
      <dgm:t>
        <a:bodyPr/>
        <a:lstStyle/>
        <a:p>
          <a:r>
            <a:rPr lang="en-US" sz="1800" dirty="0"/>
            <a:t>Difference-in-differences</a:t>
          </a:r>
          <a:endParaRPr lang="en-CA" sz="1800" dirty="0"/>
        </a:p>
      </dgm:t>
    </dgm:pt>
    <dgm:pt modelId="{D6625C48-D2FB-492E-B39B-4355C55CFAAD}" type="parTrans" cxnId="{D5214F1E-0E29-4D1D-BFF7-194E7ABAC6B0}">
      <dgm:prSet/>
      <dgm:spPr/>
      <dgm:t>
        <a:bodyPr/>
        <a:lstStyle/>
        <a:p>
          <a:endParaRPr lang="en-CA"/>
        </a:p>
      </dgm:t>
    </dgm:pt>
    <dgm:pt modelId="{3AB70E3B-5DDE-491D-B2CC-E9F124CE258C}" type="sibTrans" cxnId="{D5214F1E-0E29-4D1D-BFF7-194E7ABAC6B0}">
      <dgm:prSet/>
      <dgm:spPr/>
      <dgm:t>
        <a:bodyPr/>
        <a:lstStyle/>
        <a:p>
          <a:endParaRPr lang="en-CA"/>
        </a:p>
      </dgm:t>
    </dgm:pt>
    <dgm:pt modelId="{26168418-EF69-4877-A2D0-AD36997597D9}" type="pres">
      <dgm:prSet presAssocID="{90FF6D50-23E5-4585-AD99-599A5B4F1D89}" presName="Name0" presStyleCnt="0">
        <dgm:presLayoutVars>
          <dgm:chMax val="7"/>
          <dgm:chPref val="7"/>
          <dgm:dir val="rev"/>
          <dgm:animLvl val="lvl"/>
        </dgm:presLayoutVars>
      </dgm:prSet>
      <dgm:spPr/>
    </dgm:pt>
    <dgm:pt modelId="{5A81F4B4-BC5E-4EE4-8290-6A77EE3C689D}" type="pres">
      <dgm:prSet presAssocID="{536EC01D-3056-4B9A-B929-64A7FB9C23FA}" presName="Accent1" presStyleCnt="0"/>
      <dgm:spPr/>
    </dgm:pt>
    <dgm:pt modelId="{97719E79-9476-48DA-96CE-DE990C8879D1}" type="pres">
      <dgm:prSet presAssocID="{536EC01D-3056-4B9A-B929-64A7FB9C23FA}" presName="Accent" presStyleLbl="node1" presStyleIdx="0" presStyleCnt="5"/>
      <dgm:spPr/>
    </dgm:pt>
    <dgm:pt modelId="{A2CCA857-613F-48CE-A4F5-AE6E9AD5CCFD}" type="pres">
      <dgm:prSet presAssocID="{536EC01D-3056-4B9A-B929-64A7FB9C23FA}" presName="Parent1" presStyleLbl="revTx" presStyleIdx="0" presStyleCnt="7" custScaleX="125351">
        <dgm:presLayoutVars>
          <dgm:chMax val="1"/>
          <dgm:chPref val="1"/>
          <dgm:bulletEnabled val="1"/>
        </dgm:presLayoutVars>
      </dgm:prSet>
      <dgm:spPr/>
    </dgm:pt>
    <dgm:pt modelId="{75EB6104-0310-434B-ADB7-B612E1527ED6}" type="pres">
      <dgm:prSet presAssocID="{882C7950-E5A0-49EC-9A35-D2BD28B94B7D}" presName="Accent2" presStyleCnt="0"/>
      <dgm:spPr/>
    </dgm:pt>
    <dgm:pt modelId="{6084E631-2316-4D10-A75F-DF3113EA0B52}" type="pres">
      <dgm:prSet presAssocID="{882C7950-E5A0-49EC-9A35-D2BD28B94B7D}" presName="Accent" presStyleLbl="node1" presStyleIdx="1" presStyleCnt="5"/>
      <dgm:spPr/>
    </dgm:pt>
    <dgm:pt modelId="{23303CE6-2778-43FA-B74E-DF0F08958F8B}" type="pres">
      <dgm:prSet presAssocID="{882C7950-E5A0-49EC-9A35-D2BD28B94B7D}" presName="Parent2" presStyleLbl="revTx" presStyleIdx="1" presStyleCnt="7" custScaleX="121057">
        <dgm:presLayoutVars>
          <dgm:chMax val="1"/>
          <dgm:chPref val="1"/>
          <dgm:bulletEnabled val="1"/>
        </dgm:presLayoutVars>
      </dgm:prSet>
      <dgm:spPr/>
    </dgm:pt>
    <dgm:pt modelId="{43831C78-D88A-436F-9B00-2C814FEEB3CC}" type="pres">
      <dgm:prSet presAssocID="{4DBC9FB7-39D2-416E-BC7D-6BEF530EA1F3}" presName="Accent3" presStyleCnt="0"/>
      <dgm:spPr/>
    </dgm:pt>
    <dgm:pt modelId="{7C8DA746-1CA7-4DA8-8797-A51BA1A54D07}" type="pres">
      <dgm:prSet presAssocID="{4DBC9FB7-39D2-416E-BC7D-6BEF530EA1F3}" presName="Accent" presStyleLbl="node1" presStyleIdx="2" presStyleCnt="5"/>
      <dgm:spPr/>
    </dgm:pt>
    <dgm:pt modelId="{2C069BA6-6AB0-4879-8113-66001FC95627}" type="pres">
      <dgm:prSet presAssocID="{4DBC9FB7-39D2-416E-BC7D-6BEF530EA1F3}" presName="Parent3" presStyleLbl="revTx" presStyleIdx="2" presStyleCnt="7">
        <dgm:presLayoutVars>
          <dgm:chMax val="1"/>
          <dgm:chPref val="1"/>
          <dgm:bulletEnabled val="1"/>
        </dgm:presLayoutVars>
      </dgm:prSet>
      <dgm:spPr/>
    </dgm:pt>
    <dgm:pt modelId="{AB77C08B-EE33-4F12-9925-DF406451F570}" type="pres">
      <dgm:prSet presAssocID="{DBE50A84-23A5-4AB8-9F6D-EB2A62939E7D}" presName="Accent4" presStyleCnt="0"/>
      <dgm:spPr/>
    </dgm:pt>
    <dgm:pt modelId="{A1852EF2-4805-4DFD-B8CC-94A79494EFEC}" type="pres">
      <dgm:prSet presAssocID="{DBE50A84-23A5-4AB8-9F6D-EB2A62939E7D}" presName="Accent" presStyleLbl="node1" presStyleIdx="3" presStyleCnt="5"/>
      <dgm:spPr/>
    </dgm:pt>
    <dgm:pt modelId="{02DB933A-F142-468D-881E-439E2E4CC592}" type="pres">
      <dgm:prSet presAssocID="{DBE50A84-23A5-4AB8-9F6D-EB2A62939E7D}" presName="Child4" presStyleLbl="revTx" presStyleIdx="3" presStyleCnt="7" custScaleX="632229" custLinFactX="115162" custLinFactNeighborX="200000" custLinFactNeighborY="35290">
        <dgm:presLayoutVars>
          <dgm:chMax val="0"/>
          <dgm:chPref val="0"/>
          <dgm:bulletEnabled val="1"/>
        </dgm:presLayoutVars>
      </dgm:prSet>
      <dgm:spPr/>
    </dgm:pt>
    <dgm:pt modelId="{641F3FC8-4AE5-4F3A-9ADB-B46D3F710B65}" type="pres">
      <dgm:prSet presAssocID="{DBE50A84-23A5-4AB8-9F6D-EB2A62939E7D}" presName="Parent4" presStyleLbl="revTx" presStyleIdx="4" presStyleCnt="7">
        <dgm:presLayoutVars>
          <dgm:chMax val="1"/>
          <dgm:chPref val="1"/>
          <dgm:bulletEnabled val="1"/>
        </dgm:presLayoutVars>
      </dgm:prSet>
      <dgm:spPr/>
    </dgm:pt>
    <dgm:pt modelId="{CFE2AE36-705B-4EEA-87DC-4555F906C72C}" type="pres">
      <dgm:prSet presAssocID="{0FF7DA2B-3BE2-4F1B-BFAD-4A273EC976BD}" presName="Accent5" presStyleCnt="0"/>
      <dgm:spPr/>
    </dgm:pt>
    <dgm:pt modelId="{33DD1281-3181-44F8-93AE-D39471B822C2}" type="pres">
      <dgm:prSet presAssocID="{0FF7DA2B-3BE2-4F1B-BFAD-4A273EC976BD}" presName="Accent" presStyleLbl="node1" presStyleIdx="4" presStyleCnt="5"/>
      <dgm:spPr/>
    </dgm:pt>
    <dgm:pt modelId="{69E113A7-A102-4503-A418-26987C106DCF}" type="pres">
      <dgm:prSet presAssocID="{0FF7DA2B-3BE2-4F1B-BFAD-4A273EC976BD}" presName="Child5" presStyleLbl="revTx" presStyleIdx="5" presStyleCnt="7" custScaleX="536948" custScaleY="150676" custLinFactX="100000" custLinFactNeighborX="120198" custLinFactNeighborY="27065">
        <dgm:presLayoutVars>
          <dgm:chMax val="0"/>
          <dgm:chPref val="0"/>
          <dgm:bulletEnabled val="1"/>
        </dgm:presLayoutVars>
      </dgm:prSet>
      <dgm:spPr/>
    </dgm:pt>
    <dgm:pt modelId="{FB322EF9-D506-4CD4-88E7-403C463DD332}" type="pres">
      <dgm:prSet presAssocID="{0FF7DA2B-3BE2-4F1B-BFAD-4A273EC976BD}" presName="Parent5" presStyleLbl="revTx" presStyleIdx="6" presStyleCnt="7">
        <dgm:presLayoutVars>
          <dgm:chMax val="1"/>
          <dgm:chPref val="1"/>
          <dgm:bulletEnabled val="1"/>
        </dgm:presLayoutVars>
      </dgm:prSet>
      <dgm:spPr/>
    </dgm:pt>
  </dgm:ptLst>
  <dgm:cxnLst>
    <dgm:cxn modelId="{76AF3711-F750-42E4-AD0B-DDC9B9663559}" type="presOf" srcId="{05323FB1-CC2D-435A-8CF1-8BF60252DA61}" destId="{02DB933A-F142-468D-881E-439E2E4CC592}" srcOrd="0" destOrd="3" presId="urn:microsoft.com/office/officeart/2009/layout/CircleArrowProcess"/>
    <dgm:cxn modelId="{879E3312-BC20-4A07-96C9-EA3344BD4ECA}" srcId="{90FF6D50-23E5-4585-AD99-599A5B4F1D89}" destId="{536EC01D-3056-4B9A-B929-64A7FB9C23FA}" srcOrd="0" destOrd="0" parTransId="{2EA23DBF-63FD-4C96-BD86-BC115001E01C}" sibTransId="{D9929218-F35B-466E-948C-EB0C465CB8D0}"/>
    <dgm:cxn modelId="{11569719-B142-40C3-BFCF-9548DE831E3D}" srcId="{90FF6D50-23E5-4585-AD99-599A5B4F1D89}" destId="{DBE50A84-23A5-4AB8-9F6D-EB2A62939E7D}" srcOrd="3" destOrd="0" parTransId="{D96259A8-A180-47E4-AF69-DDCF312D530E}" sibTransId="{E5D659B7-6946-4963-B9BB-22F4DF5EA45A}"/>
    <dgm:cxn modelId="{2B16DD19-DFF3-4C43-966B-BB020A877D44}" type="presOf" srcId="{536EC01D-3056-4B9A-B929-64A7FB9C23FA}" destId="{A2CCA857-613F-48CE-A4F5-AE6E9AD5CCFD}" srcOrd="0" destOrd="0" presId="urn:microsoft.com/office/officeart/2009/layout/CircleArrowProcess"/>
    <dgm:cxn modelId="{D5214F1E-0E29-4D1D-BFF7-194E7ABAC6B0}" srcId="{DBE50A84-23A5-4AB8-9F6D-EB2A62939E7D}" destId="{05323FB1-CC2D-435A-8CF1-8BF60252DA61}" srcOrd="3" destOrd="0" parTransId="{D6625C48-D2FB-492E-B39B-4355C55CFAAD}" sibTransId="{3AB70E3B-5DDE-491D-B2CC-E9F124CE258C}"/>
    <dgm:cxn modelId="{C6008E20-A00A-4E7B-86A8-D5260CCF4F96}" type="presOf" srcId="{F3EFA439-32B7-47AE-805F-B353D5C81FAE}" destId="{69E113A7-A102-4503-A418-26987C106DCF}" srcOrd="0" destOrd="1" presId="urn:microsoft.com/office/officeart/2009/layout/CircleArrowProcess"/>
    <dgm:cxn modelId="{84909827-BE40-416D-B2A0-C5C3F4A74866}" type="presOf" srcId="{3CCE9726-E8D2-4755-9B59-5268A92958F4}" destId="{02DB933A-F142-468D-881E-439E2E4CC592}" srcOrd="0" destOrd="1" presId="urn:microsoft.com/office/officeart/2009/layout/CircleArrowProcess"/>
    <dgm:cxn modelId="{B179F128-FB83-4D58-9C78-FC6492A941C2}" type="presOf" srcId="{F216B66C-F552-4FE6-A7F2-CC3AC2B4E903}" destId="{02DB933A-F142-468D-881E-439E2E4CC592}" srcOrd="0" destOrd="0" presId="urn:microsoft.com/office/officeart/2009/layout/CircleArrowProcess"/>
    <dgm:cxn modelId="{F061A931-720F-4F45-ACB1-D5DDB574A64E}" type="presOf" srcId="{4DBC9FB7-39D2-416E-BC7D-6BEF530EA1F3}" destId="{2C069BA6-6AB0-4879-8113-66001FC95627}" srcOrd="0" destOrd="0" presId="urn:microsoft.com/office/officeart/2009/layout/CircleArrowProcess"/>
    <dgm:cxn modelId="{CD3E8335-5A92-4BE7-A418-E158F54697A0}" type="presOf" srcId="{DBE50A84-23A5-4AB8-9F6D-EB2A62939E7D}" destId="{641F3FC8-4AE5-4F3A-9ADB-B46D3F710B65}" srcOrd="0" destOrd="0" presId="urn:microsoft.com/office/officeart/2009/layout/CircleArrowProcess"/>
    <dgm:cxn modelId="{9C03DA3B-653D-483C-A9DD-3293A08FD4C2}" srcId="{0FF7DA2B-3BE2-4F1B-BFAD-4A273EC976BD}" destId="{F3EFA439-32B7-47AE-805F-B353D5C81FAE}" srcOrd="1" destOrd="0" parTransId="{0F55AD98-9FED-486C-A0AA-A27E6A00ABE7}" sibTransId="{A0707149-9D31-443B-AC7D-22C542604492}"/>
    <dgm:cxn modelId="{49BE6743-E9C4-4C9C-8185-98A2DF72B911}" srcId="{DBE50A84-23A5-4AB8-9F6D-EB2A62939E7D}" destId="{6377FAA1-376F-4376-A570-7C3C3B1381D1}" srcOrd="2" destOrd="0" parTransId="{8A7E5F41-7E0B-42F1-BEA1-DFCAEC0408CF}" sibTransId="{674CB0AA-09FB-4CD2-B700-6F7572D68E62}"/>
    <dgm:cxn modelId="{D324B649-C2F5-4CEF-BB2E-1B96CAC75CA9}" type="presOf" srcId="{90FF6D50-23E5-4585-AD99-599A5B4F1D89}" destId="{26168418-EF69-4877-A2D0-AD36997597D9}" srcOrd="0" destOrd="0" presId="urn:microsoft.com/office/officeart/2009/layout/CircleArrowProcess"/>
    <dgm:cxn modelId="{D66B2C4A-AA9D-4D25-BFD3-E68476B89F8F}" type="presOf" srcId="{0FF7DA2B-3BE2-4F1B-BFAD-4A273EC976BD}" destId="{FB322EF9-D506-4CD4-88E7-403C463DD332}" srcOrd="0" destOrd="0" presId="urn:microsoft.com/office/officeart/2009/layout/CircleArrowProcess"/>
    <dgm:cxn modelId="{F5C29474-3233-4C56-937D-BF74493631CC}" type="presOf" srcId="{BC8C2B6C-293B-4506-B297-31FD60E0B5EE}" destId="{69E113A7-A102-4503-A418-26987C106DCF}" srcOrd="0" destOrd="0" presId="urn:microsoft.com/office/officeart/2009/layout/CircleArrowProcess"/>
    <dgm:cxn modelId="{7DBC0579-371D-40B8-860D-AB0304166660}" srcId="{DBE50A84-23A5-4AB8-9F6D-EB2A62939E7D}" destId="{F216B66C-F552-4FE6-A7F2-CC3AC2B4E903}" srcOrd="0" destOrd="0" parTransId="{94F3E3D3-CA81-4BCA-AA30-D8C2156DF612}" sibTransId="{72F9C756-BC7D-4A2B-B5AB-33577104137F}"/>
    <dgm:cxn modelId="{A174C397-050B-4C1E-9E02-D09A172A9468}" srcId="{DBE50A84-23A5-4AB8-9F6D-EB2A62939E7D}" destId="{3CCE9726-E8D2-4755-9B59-5268A92958F4}" srcOrd="1" destOrd="0" parTransId="{366E66F6-DB6F-4CC1-8BE9-33C96ABC4D48}" sibTransId="{69D9D868-7776-448B-A098-CAF296C1E68A}"/>
    <dgm:cxn modelId="{3703CB98-7318-4DC8-AE84-1C408A9CDF80}" srcId="{0FF7DA2B-3BE2-4F1B-BFAD-4A273EC976BD}" destId="{BC8C2B6C-293B-4506-B297-31FD60E0B5EE}" srcOrd="0" destOrd="0" parTransId="{586D32F8-D332-4D57-93C6-930AB22BC97F}" sibTransId="{46B01233-6826-4948-A7D6-A9E1F6996F82}"/>
    <dgm:cxn modelId="{7109E9B7-462C-4E31-8A4E-8ABEC18EE60A}" type="presOf" srcId="{6377FAA1-376F-4376-A570-7C3C3B1381D1}" destId="{02DB933A-F142-468D-881E-439E2E4CC592}" srcOrd="0" destOrd="2" presId="urn:microsoft.com/office/officeart/2009/layout/CircleArrowProcess"/>
    <dgm:cxn modelId="{1914B3E3-0F49-4E24-AE23-4A581CA855BC}" srcId="{90FF6D50-23E5-4585-AD99-599A5B4F1D89}" destId="{4DBC9FB7-39D2-416E-BC7D-6BEF530EA1F3}" srcOrd="2" destOrd="0" parTransId="{17F10008-FAEE-488F-84FB-F7319267A630}" sibTransId="{30202C8A-D920-455A-8F3D-A418F25227FE}"/>
    <dgm:cxn modelId="{A50CABE8-1561-4570-96C7-1376DFBF2A1F}" srcId="{90FF6D50-23E5-4585-AD99-599A5B4F1D89}" destId="{882C7950-E5A0-49EC-9A35-D2BD28B94B7D}" srcOrd="1" destOrd="0" parTransId="{0EF26D2D-721C-4291-B744-98E4E7EDBB03}" sibTransId="{E8F80AF6-7EBC-46C1-9E12-97DC470CCD89}"/>
    <dgm:cxn modelId="{1D3282EE-704E-449B-88D5-4FB60AC2175A}" srcId="{90FF6D50-23E5-4585-AD99-599A5B4F1D89}" destId="{0FF7DA2B-3BE2-4F1B-BFAD-4A273EC976BD}" srcOrd="4" destOrd="0" parTransId="{FF4479DA-4F5C-4707-875E-492290E22343}" sibTransId="{1C074A1F-6C86-455F-94DE-2A4C9DDDDE6C}"/>
    <dgm:cxn modelId="{ABD3AEF7-3B2A-48CE-8FE0-5E3156FE9A86}" type="presOf" srcId="{882C7950-E5A0-49EC-9A35-D2BD28B94B7D}" destId="{23303CE6-2778-43FA-B74E-DF0F08958F8B}" srcOrd="0" destOrd="0" presId="urn:microsoft.com/office/officeart/2009/layout/CircleArrowProcess"/>
    <dgm:cxn modelId="{3133F36F-499B-4C7F-8638-5EAA631D237F}" type="presParOf" srcId="{26168418-EF69-4877-A2D0-AD36997597D9}" destId="{5A81F4B4-BC5E-4EE4-8290-6A77EE3C689D}" srcOrd="0" destOrd="0" presId="urn:microsoft.com/office/officeart/2009/layout/CircleArrowProcess"/>
    <dgm:cxn modelId="{E5CD9C29-36AE-4A59-9D87-FCB0D596E2E8}" type="presParOf" srcId="{5A81F4B4-BC5E-4EE4-8290-6A77EE3C689D}" destId="{97719E79-9476-48DA-96CE-DE990C8879D1}" srcOrd="0" destOrd="0" presId="urn:microsoft.com/office/officeart/2009/layout/CircleArrowProcess"/>
    <dgm:cxn modelId="{7DC16698-7C21-4663-A99A-3F2341223618}" type="presParOf" srcId="{26168418-EF69-4877-A2D0-AD36997597D9}" destId="{A2CCA857-613F-48CE-A4F5-AE6E9AD5CCFD}" srcOrd="1" destOrd="0" presId="urn:microsoft.com/office/officeart/2009/layout/CircleArrowProcess"/>
    <dgm:cxn modelId="{A0D456E6-2DBA-48C0-AB79-67D7A6A8EF5B}" type="presParOf" srcId="{26168418-EF69-4877-A2D0-AD36997597D9}" destId="{75EB6104-0310-434B-ADB7-B612E1527ED6}" srcOrd="2" destOrd="0" presId="urn:microsoft.com/office/officeart/2009/layout/CircleArrowProcess"/>
    <dgm:cxn modelId="{4D0A1205-D53F-4314-9909-96B54F10968A}" type="presParOf" srcId="{75EB6104-0310-434B-ADB7-B612E1527ED6}" destId="{6084E631-2316-4D10-A75F-DF3113EA0B52}" srcOrd="0" destOrd="0" presId="urn:microsoft.com/office/officeart/2009/layout/CircleArrowProcess"/>
    <dgm:cxn modelId="{D21075B0-21B3-442D-AD68-40D68AF997CC}" type="presParOf" srcId="{26168418-EF69-4877-A2D0-AD36997597D9}" destId="{23303CE6-2778-43FA-B74E-DF0F08958F8B}" srcOrd="3" destOrd="0" presId="urn:microsoft.com/office/officeart/2009/layout/CircleArrowProcess"/>
    <dgm:cxn modelId="{B940EB60-3259-4C95-837A-A54B5E6DB510}" type="presParOf" srcId="{26168418-EF69-4877-A2D0-AD36997597D9}" destId="{43831C78-D88A-436F-9B00-2C814FEEB3CC}" srcOrd="4" destOrd="0" presId="urn:microsoft.com/office/officeart/2009/layout/CircleArrowProcess"/>
    <dgm:cxn modelId="{591555BD-BC19-4839-B58B-EFF10C0025D3}" type="presParOf" srcId="{43831C78-D88A-436F-9B00-2C814FEEB3CC}" destId="{7C8DA746-1CA7-4DA8-8797-A51BA1A54D07}" srcOrd="0" destOrd="0" presId="urn:microsoft.com/office/officeart/2009/layout/CircleArrowProcess"/>
    <dgm:cxn modelId="{1FF3F738-3553-45B6-8136-123F4CC50694}" type="presParOf" srcId="{26168418-EF69-4877-A2D0-AD36997597D9}" destId="{2C069BA6-6AB0-4879-8113-66001FC95627}" srcOrd="5" destOrd="0" presId="urn:microsoft.com/office/officeart/2009/layout/CircleArrowProcess"/>
    <dgm:cxn modelId="{26E4FE9D-2A5A-4F1B-B5B0-BC06DC879301}" type="presParOf" srcId="{26168418-EF69-4877-A2D0-AD36997597D9}" destId="{AB77C08B-EE33-4F12-9925-DF406451F570}" srcOrd="6" destOrd="0" presId="urn:microsoft.com/office/officeart/2009/layout/CircleArrowProcess"/>
    <dgm:cxn modelId="{F099AFC6-1058-41D8-A192-EA52A2EE6799}" type="presParOf" srcId="{AB77C08B-EE33-4F12-9925-DF406451F570}" destId="{A1852EF2-4805-4DFD-B8CC-94A79494EFEC}" srcOrd="0" destOrd="0" presId="urn:microsoft.com/office/officeart/2009/layout/CircleArrowProcess"/>
    <dgm:cxn modelId="{212467F0-FE3D-4566-97F0-12DCB3042B9C}" type="presParOf" srcId="{26168418-EF69-4877-A2D0-AD36997597D9}" destId="{02DB933A-F142-468D-881E-439E2E4CC592}" srcOrd="7" destOrd="0" presId="urn:microsoft.com/office/officeart/2009/layout/CircleArrowProcess"/>
    <dgm:cxn modelId="{E2902C16-6F3B-4053-B58E-D2B8E4A747DD}" type="presParOf" srcId="{26168418-EF69-4877-A2D0-AD36997597D9}" destId="{641F3FC8-4AE5-4F3A-9ADB-B46D3F710B65}" srcOrd="8" destOrd="0" presId="urn:microsoft.com/office/officeart/2009/layout/CircleArrowProcess"/>
    <dgm:cxn modelId="{DFCD6CD3-521D-4BAC-AA15-75CFD879086F}" type="presParOf" srcId="{26168418-EF69-4877-A2D0-AD36997597D9}" destId="{CFE2AE36-705B-4EEA-87DC-4555F906C72C}" srcOrd="9" destOrd="0" presId="urn:microsoft.com/office/officeart/2009/layout/CircleArrowProcess"/>
    <dgm:cxn modelId="{FDF772DB-6EFD-42EF-A09E-81AFFAFEE8A7}" type="presParOf" srcId="{CFE2AE36-705B-4EEA-87DC-4555F906C72C}" destId="{33DD1281-3181-44F8-93AE-D39471B822C2}" srcOrd="0" destOrd="0" presId="urn:microsoft.com/office/officeart/2009/layout/CircleArrowProcess"/>
    <dgm:cxn modelId="{60D07657-B3F1-44DC-8831-AFBD0C5C31D7}" type="presParOf" srcId="{26168418-EF69-4877-A2D0-AD36997597D9}" destId="{69E113A7-A102-4503-A418-26987C106DCF}" srcOrd="10" destOrd="0" presId="urn:microsoft.com/office/officeart/2009/layout/CircleArrowProcess"/>
    <dgm:cxn modelId="{A08D5EC6-0896-4F2E-A9F6-1701E85D0A10}" type="presParOf" srcId="{26168418-EF69-4877-A2D0-AD36997597D9}" destId="{FB322EF9-D506-4CD4-88E7-403C463DD332}" srcOrd="11"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FF6D50-23E5-4585-AD99-599A5B4F1D89}" type="doc">
      <dgm:prSet loTypeId="urn:microsoft.com/office/officeart/2009/layout/CircleArrowProcess" loCatId="process" qsTypeId="urn:microsoft.com/office/officeart/2005/8/quickstyle/simple1" qsCatId="simple" csTypeId="urn:microsoft.com/office/officeart/2005/8/colors/accent3_2" csCatId="accent3" phldr="1"/>
      <dgm:spPr/>
      <dgm:t>
        <a:bodyPr/>
        <a:lstStyle/>
        <a:p>
          <a:endParaRPr lang="en-CA"/>
        </a:p>
      </dgm:t>
    </dgm:pt>
    <dgm:pt modelId="{536EC01D-3056-4B9A-B929-64A7FB9C23FA}">
      <dgm:prSet phldrT="[Text]" custT="1"/>
      <dgm:spPr/>
      <dgm:t>
        <a:bodyPr/>
        <a:lstStyle/>
        <a:p>
          <a:r>
            <a:rPr lang="en-US" sz="1600" dirty="0"/>
            <a:t>Foundations</a:t>
          </a:r>
          <a:endParaRPr lang="en-CA" sz="1600" dirty="0"/>
        </a:p>
      </dgm:t>
    </dgm:pt>
    <dgm:pt modelId="{2EA23DBF-63FD-4C96-BD86-BC115001E01C}" type="parTrans" cxnId="{879E3312-BC20-4A07-96C9-EA3344BD4ECA}">
      <dgm:prSet/>
      <dgm:spPr/>
      <dgm:t>
        <a:bodyPr/>
        <a:lstStyle/>
        <a:p>
          <a:endParaRPr lang="en-CA"/>
        </a:p>
      </dgm:t>
    </dgm:pt>
    <dgm:pt modelId="{D9929218-F35B-466E-948C-EB0C465CB8D0}" type="sibTrans" cxnId="{879E3312-BC20-4A07-96C9-EA3344BD4ECA}">
      <dgm:prSet/>
      <dgm:spPr/>
      <dgm:t>
        <a:bodyPr/>
        <a:lstStyle/>
        <a:p>
          <a:endParaRPr lang="en-CA"/>
        </a:p>
      </dgm:t>
    </dgm:pt>
    <dgm:pt modelId="{882C7950-E5A0-49EC-9A35-D2BD28B94B7D}">
      <dgm:prSet phldrT="[Text]" custT="1"/>
      <dgm:spPr/>
      <dgm:t>
        <a:bodyPr/>
        <a:lstStyle/>
        <a:p>
          <a:r>
            <a:rPr lang="en-US" sz="1600" dirty="0"/>
            <a:t>Regression</a:t>
          </a:r>
          <a:r>
            <a:rPr lang="en-US" sz="1200" dirty="0"/>
            <a:t> in Practice (Associations)</a:t>
          </a:r>
          <a:endParaRPr lang="en-CA" sz="1200" dirty="0"/>
        </a:p>
      </dgm:t>
    </dgm:pt>
    <dgm:pt modelId="{0EF26D2D-721C-4291-B744-98E4E7EDBB03}" type="parTrans" cxnId="{A50CABE8-1561-4570-96C7-1376DFBF2A1F}">
      <dgm:prSet/>
      <dgm:spPr/>
      <dgm:t>
        <a:bodyPr/>
        <a:lstStyle/>
        <a:p>
          <a:endParaRPr lang="en-CA"/>
        </a:p>
      </dgm:t>
    </dgm:pt>
    <dgm:pt modelId="{E8F80AF6-7EBC-46C1-9E12-97DC470CCD89}" type="sibTrans" cxnId="{A50CABE8-1561-4570-96C7-1376DFBF2A1F}">
      <dgm:prSet/>
      <dgm:spPr/>
      <dgm:t>
        <a:bodyPr/>
        <a:lstStyle/>
        <a:p>
          <a:endParaRPr lang="en-CA"/>
        </a:p>
      </dgm:t>
    </dgm:pt>
    <dgm:pt modelId="{4DBC9FB7-39D2-416E-BC7D-6BEF530EA1F3}">
      <dgm:prSet phldrT="[Text]" custT="1"/>
      <dgm:spPr/>
      <dgm:t>
        <a:bodyPr/>
        <a:lstStyle/>
        <a:p>
          <a:r>
            <a:rPr lang="en-US" sz="1600" dirty="0"/>
            <a:t>Research Design</a:t>
          </a:r>
          <a:endParaRPr lang="en-CA" sz="1600" dirty="0"/>
        </a:p>
      </dgm:t>
    </dgm:pt>
    <dgm:pt modelId="{17F10008-FAEE-488F-84FB-F7319267A630}" type="parTrans" cxnId="{1914B3E3-0F49-4E24-AE23-4A581CA855BC}">
      <dgm:prSet/>
      <dgm:spPr/>
      <dgm:t>
        <a:bodyPr/>
        <a:lstStyle/>
        <a:p>
          <a:endParaRPr lang="en-CA"/>
        </a:p>
      </dgm:t>
    </dgm:pt>
    <dgm:pt modelId="{30202C8A-D920-455A-8F3D-A418F25227FE}" type="sibTrans" cxnId="{1914B3E3-0F49-4E24-AE23-4A581CA855BC}">
      <dgm:prSet/>
      <dgm:spPr/>
      <dgm:t>
        <a:bodyPr/>
        <a:lstStyle/>
        <a:p>
          <a:endParaRPr lang="en-CA"/>
        </a:p>
      </dgm:t>
    </dgm:pt>
    <dgm:pt modelId="{DBE50A84-23A5-4AB8-9F6D-EB2A62939E7D}">
      <dgm:prSet phldrT="[Text]" custT="1"/>
      <dgm:spPr/>
      <dgm:t>
        <a:bodyPr/>
        <a:lstStyle/>
        <a:p>
          <a:r>
            <a:rPr lang="en-US" sz="1600" dirty="0"/>
            <a:t>Causal Inference Methods</a:t>
          </a:r>
          <a:endParaRPr lang="en-CA" sz="1600" dirty="0"/>
        </a:p>
      </dgm:t>
    </dgm:pt>
    <dgm:pt modelId="{D96259A8-A180-47E4-AF69-DDCF312D530E}" type="parTrans" cxnId="{11569719-B142-40C3-BFCF-9548DE831E3D}">
      <dgm:prSet/>
      <dgm:spPr/>
      <dgm:t>
        <a:bodyPr/>
        <a:lstStyle/>
        <a:p>
          <a:endParaRPr lang="en-CA"/>
        </a:p>
      </dgm:t>
    </dgm:pt>
    <dgm:pt modelId="{E5D659B7-6946-4963-B9BB-22F4DF5EA45A}" type="sibTrans" cxnId="{11569719-B142-40C3-BFCF-9548DE831E3D}">
      <dgm:prSet/>
      <dgm:spPr/>
      <dgm:t>
        <a:bodyPr/>
        <a:lstStyle/>
        <a:p>
          <a:endParaRPr lang="en-CA"/>
        </a:p>
      </dgm:t>
    </dgm:pt>
    <dgm:pt modelId="{0FF7DA2B-3BE2-4F1B-BFAD-4A273EC976BD}">
      <dgm:prSet phldrT="[Text]" custT="1"/>
      <dgm:spPr/>
      <dgm:t>
        <a:bodyPr/>
        <a:lstStyle/>
        <a:p>
          <a:r>
            <a:rPr lang="en-US" sz="1600" dirty="0"/>
            <a:t>Optional topics</a:t>
          </a:r>
          <a:endParaRPr lang="en-CA" sz="1600" dirty="0"/>
        </a:p>
      </dgm:t>
    </dgm:pt>
    <dgm:pt modelId="{FF4479DA-4F5C-4707-875E-492290E22343}" type="parTrans" cxnId="{1D3282EE-704E-449B-88D5-4FB60AC2175A}">
      <dgm:prSet/>
      <dgm:spPr/>
      <dgm:t>
        <a:bodyPr/>
        <a:lstStyle/>
        <a:p>
          <a:endParaRPr lang="en-CA"/>
        </a:p>
      </dgm:t>
    </dgm:pt>
    <dgm:pt modelId="{1C074A1F-6C86-455F-94DE-2A4C9DDDDE6C}" type="sibTrans" cxnId="{1D3282EE-704E-449B-88D5-4FB60AC2175A}">
      <dgm:prSet/>
      <dgm:spPr/>
      <dgm:t>
        <a:bodyPr/>
        <a:lstStyle/>
        <a:p>
          <a:endParaRPr lang="en-CA"/>
        </a:p>
      </dgm:t>
    </dgm:pt>
    <dgm:pt modelId="{BC8C2B6C-293B-4506-B297-31FD60E0B5EE}">
      <dgm:prSet phldrT="[Text]" custT="1"/>
      <dgm:spPr/>
      <dgm:t>
        <a:bodyPr/>
        <a:lstStyle/>
        <a:p>
          <a:r>
            <a:rPr lang="en-US" sz="1800" dirty="0"/>
            <a:t>Synthetic Controls</a:t>
          </a:r>
          <a:endParaRPr lang="en-CA" sz="1800" dirty="0"/>
        </a:p>
      </dgm:t>
    </dgm:pt>
    <dgm:pt modelId="{586D32F8-D332-4D57-93C6-930AB22BC97F}" type="parTrans" cxnId="{3703CB98-7318-4DC8-AE84-1C408A9CDF80}">
      <dgm:prSet/>
      <dgm:spPr/>
      <dgm:t>
        <a:bodyPr/>
        <a:lstStyle/>
        <a:p>
          <a:endParaRPr lang="en-CA"/>
        </a:p>
      </dgm:t>
    </dgm:pt>
    <dgm:pt modelId="{46B01233-6826-4948-A7D6-A9E1F6996F82}" type="sibTrans" cxnId="{3703CB98-7318-4DC8-AE84-1C408A9CDF80}">
      <dgm:prSet/>
      <dgm:spPr/>
      <dgm:t>
        <a:bodyPr/>
        <a:lstStyle/>
        <a:p>
          <a:endParaRPr lang="en-CA"/>
        </a:p>
      </dgm:t>
    </dgm:pt>
    <dgm:pt modelId="{F3EFA439-32B7-47AE-805F-B353D5C81FAE}">
      <dgm:prSet phldrT="[Text]" custT="1"/>
      <dgm:spPr/>
      <dgm:t>
        <a:bodyPr/>
        <a:lstStyle/>
        <a:p>
          <a:r>
            <a:rPr lang="en-US" sz="1800" dirty="0"/>
            <a:t>Machine Learning for Quant Research (Causality)</a:t>
          </a:r>
          <a:endParaRPr lang="en-CA" sz="1800" dirty="0"/>
        </a:p>
      </dgm:t>
    </dgm:pt>
    <dgm:pt modelId="{0F55AD98-9FED-486C-A0AA-A27E6A00ABE7}" type="parTrans" cxnId="{9C03DA3B-653D-483C-A9DD-3293A08FD4C2}">
      <dgm:prSet/>
      <dgm:spPr/>
      <dgm:t>
        <a:bodyPr/>
        <a:lstStyle/>
        <a:p>
          <a:endParaRPr lang="en-CA"/>
        </a:p>
      </dgm:t>
    </dgm:pt>
    <dgm:pt modelId="{A0707149-9D31-443B-AC7D-22C542604492}" type="sibTrans" cxnId="{9C03DA3B-653D-483C-A9DD-3293A08FD4C2}">
      <dgm:prSet/>
      <dgm:spPr/>
      <dgm:t>
        <a:bodyPr/>
        <a:lstStyle/>
        <a:p>
          <a:endParaRPr lang="en-CA"/>
        </a:p>
      </dgm:t>
    </dgm:pt>
    <dgm:pt modelId="{F216B66C-F552-4FE6-A7F2-CC3AC2B4E903}">
      <dgm:prSet phldrT="[Text]" custT="1"/>
      <dgm:spPr/>
      <dgm:t>
        <a:bodyPr/>
        <a:lstStyle/>
        <a:p>
          <a:r>
            <a:rPr lang="en-US" sz="1800" dirty="0"/>
            <a:t>Matching</a:t>
          </a:r>
          <a:endParaRPr lang="en-CA" sz="1800" dirty="0"/>
        </a:p>
      </dgm:t>
    </dgm:pt>
    <dgm:pt modelId="{94F3E3D3-CA81-4BCA-AA30-D8C2156DF612}" type="parTrans" cxnId="{7DBC0579-371D-40B8-860D-AB0304166660}">
      <dgm:prSet/>
      <dgm:spPr/>
      <dgm:t>
        <a:bodyPr/>
        <a:lstStyle/>
        <a:p>
          <a:endParaRPr lang="en-CA"/>
        </a:p>
      </dgm:t>
    </dgm:pt>
    <dgm:pt modelId="{72F9C756-BC7D-4A2B-B5AB-33577104137F}" type="sibTrans" cxnId="{7DBC0579-371D-40B8-860D-AB0304166660}">
      <dgm:prSet/>
      <dgm:spPr/>
      <dgm:t>
        <a:bodyPr/>
        <a:lstStyle/>
        <a:p>
          <a:endParaRPr lang="en-CA"/>
        </a:p>
      </dgm:t>
    </dgm:pt>
    <dgm:pt modelId="{3CCE9726-E8D2-4755-9B59-5268A92958F4}">
      <dgm:prSet phldrT="[Text]" custT="1"/>
      <dgm:spPr/>
      <dgm:t>
        <a:bodyPr/>
        <a:lstStyle/>
        <a:p>
          <a:r>
            <a:rPr lang="en-US" sz="1800" dirty="0"/>
            <a:t>Instrumental Variables</a:t>
          </a:r>
          <a:endParaRPr lang="en-CA" sz="1800" dirty="0"/>
        </a:p>
      </dgm:t>
    </dgm:pt>
    <dgm:pt modelId="{366E66F6-DB6F-4CC1-8BE9-33C96ABC4D48}" type="parTrans" cxnId="{A174C397-050B-4C1E-9E02-D09A172A9468}">
      <dgm:prSet/>
      <dgm:spPr/>
      <dgm:t>
        <a:bodyPr/>
        <a:lstStyle/>
        <a:p>
          <a:endParaRPr lang="en-CA"/>
        </a:p>
      </dgm:t>
    </dgm:pt>
    <dgm:pt modelId="{69D9D868-7776-448B-A098-CAF296C1E68A}" type="sibTrans" cxnId="{A174C397-050B-4C1E-9E02-D09A172A9468}">
      <dgm:prSet/>
      <dgm:spPr/>
      <dgm:t>
        <a:bodyPr/>
        <a:lstStyle/>
        <a:p>
          <a:endParaRPr lang="en-CA"/>
        </a:p>
      </dgm:t>
    </dgm:pt>
    <dgm:pt modelId="{6377FAA1-376F-4376-A570-7C3C3B1381D1}">
      <dgm:prSet phldrT="[Text]" custT="1"/>
      <dgm:spPr/>
      <dgm:t>
        <a:bodyPr/>
        <a:lstStyle/>
        <a:p>
          <a:r>
            <a:rPr lang="en-US" sz="1800" dirty="0"/>
            <a:t>Nonlinear regression models</a:t>
          </a:r>
          <a:endParaRPr lang="en-CA" sz="1800" dirty="0"/>
        </a:p>
      </dgm:t>
    </dgm:pt>
    <dgm:pt modelId="{8A7E5F41-7E0B-42F1-BEA1-DFCAEC0408CF}" type="parTrans" cxnId="{49BE6743-E9C4-4C9C-8185-98A2DF72B911}">
      <dgm:prSet/>
      <dgm:spPr/>
      <dgm:t>
        <a:bodyPr/>
        <a:lstStyle/>
        <a:p>
          <a:endParaRPr lang="en-CA"/>
        </a:p>
      </dgm:t>
    </dgm:pt>
    <dgm:pt modelId="{674CB0AA-09FB-4CD2-B700-6F7572D68E62}" type="sibTrans" cxnId="{49BE6743-E9C4-4C9C-8185-98A2DF72B911}">
      <dgm:prSet/>
      <dgm:spPr/>
      <dgm:t>
        <a:bodyPr/>
        <a:lstStyle/>
        <a:p>
          <a:endParaRPr lang="en-CA"/>
        </a:p>
      </dgm:t>
    </dgm:pt>
    <dgm:pt modelId="{05323FB1-CC2D-435A-8CF1-8BF60252DA61}">
      <dgm:prSet phldrT="[Text]" custT="1"/>
      <dgm:spPr/>
      <dgm:t>
        <a:bodyPr/>
        <a:lstStyle/>
        <a:p>
          <a:r>
            <a:rPr lang="en-US" sz="1800" dirty="0"/>
            <a:t>Difference-in-differences</a:t>
          </a:r>
          <a:endParaRPr lang="en-CA" sz="1800" dirty="0"/>
        </a:p>
      </dgm:t>
    </dgm:pt>
    <dgm:pt modelId="{D6625C48-D2FB-492E-B39B-4355C55CFAAD}" type="parTrans" cxnId="{D5214F1E-0E29-4D1D-BFF7-194E7ABAC6B0}">
      <dgm:prSet/>
      <dgm:spPr/>
      <dgm:t>
        <a:bodyPr/>
        <a:lstStyle/>
        <a:p>
          <a:endParaRPr lang="en-CA"/>
        </a:p>
      </dgm:t>
    </dgm:pt>
    <dgm:pt modelId="{3AB70E3B-5DDE-491D-B2CC-E9F124CE258C}" type="sibTrans" cxnId="{D5214F1E-0E29-4D1D-BFF7-194E7ABAC6B0}">
      <dgm:prSet/>
      <dgm:spPr/>
      <dgm:t>
        <a:bodyPr/>
        <a:lstStyle/>
        <a:p>
          <a:endParaRPr lang="en-CA"/>
        </a:p>
      </dgm:t>
    </dgm:pt>
    <dgm:pt modelId="{26168418-EF69-4877-A2D0-AD36997597D9}" type="pres">
      <dgm:prSet presAssocID="{90FF6D50-23E5-4585-AD99-599A5B4F1D89}" presName="Name0" presStyleCnt="0">
        <dgm:presLayoutVars>
          <dgm:chMax val="7"/>
          <dgm:chPref val="7"/>
          <dgm:dir val="rev"/>
          <dgm:animLvl val="lvl"/>
        </dgm:presLayoutVars>
      </dgm:prSet>
      <dgm:spPr/>
    </dgm:pt>
    <dgm:pt modelId="{5A81F4B4-BC5E-4EE4-8290-6A77EE3C689D}" type="pres">
      <dgm:prSet presAssocID="{536EC01D-3056-4B9A-B929-64A7FB9C23FA}" presName="Accent1" presStyleCnt="0"/>
      <dgm:spPr/>
    </dgm:pt>
    <dgm:pt modelId="{97719E79-9476-48DA-96CE-DE990C8879D1}" type="pres">
      <dgm:prSet presAssocID="{536EC01D-3056-4B9A-B929-64A7FB9C23FA}" presName="Accent" presStyleLbl="node1" presStyleIdx="0" presStyleCnt="5"/>
      <dgm:spPr/>
    </dgm:pt>
    <dgm:pt modelId="{A2CCA857-613F-48CE-A4F5-AE6E9AD5CCFD}" type="pres">
      <dgm:prSet presAssocID="{536EC01D-3056-4B9A-B929-64A7FB9C23FA}" presName="Parent1" presStyleLbl="revTx" presStyleIdx="0" presStyleCnt="7" custScaleX="125351">
        <dgm:presLayoutVars>
          <dgm:chMax val="1"/>
          <dgm:chPref val="1"/>
          <dgm:bulletEnabled val="1"/>
        </dgm:presLayoutVars>
      </dgm:prSet>
      <dgm:spPr/>
    </dgm:pt>
    <dgm:pt modelId="{75EB6104-0310-434B-ADB7-B612E1527ED6}" type="pres">
      <dgm:prSet presAssocID="{882C7950-E5A0-49EC-9A35-D2BD28B94B7D}" presName="Accent2" presStyleCnt="0"/>
      <dgm:spPr/>
    </dgm:pt>
    <dgm:pt modelId="{6084E631-2316-4D10-A75F-DF3113EA0B52}" type="pres">
      <dgm:prSet presAssocID="{882C7950-E5A0-49EC-9A35-D2BD28B94B7D}" presName="Accent" presStyleLbl="node1" presStyleIdx="1" presStyleCnt="5"/>
      <dgm:spPr/>
    </dgm:pt>
    <dgm:pt modelId="{23303CE6-2778-43FA-B74E-DF0F08958F8B}" type="pres">
      <dgm:prSet presAssocID="{882C7950-E5A0-49EC-9A35-D2BD28B94B7D}" presName="Parent2" presStyleLbl="revTx" presStyleIdx="1" presStyleCnt="7" custScaleX="121057">
        <dgm:presLayoutVars>
          <dgm:chMax val="1"/>
          <dgm:chPref val="1"/>
          <dgm:bulletEnabled val="1"/>
        </dgm:presLayoutVars>
      </dgm:prSet>
      <dgm:spPr/>
    </dgm:pt>
    <dgm:pt modelId="{43831C78-D88A-436F-9B00-2C814FEEB3CC}" type="pres">
      <dgm:prSet presAssocID="{4DBC9FB7-39D2-416E-BC7D-6BEF530EA1F3}" presName="Accent3" presStyleCnt="0"/>
      <dgm:spPr/>
    </dgm:pt>
    <dgm:pt modelId="{7C8DA746-1CA7-4DA8-8797-A51BA1A54D07}" type="pres">
      <dgm:prSet presAssocID="{4DBC9FB7-39D2-416E-BC7D-6BEF530EA1F3}" presName="Accent" presStyleLbl="node1" presStyleIdx="2" presStyleCnt="5"/>
      <dgm:spPr/>
    </dgm:pt>
    <dgm:pt modelId="{2C069BA6-6AB0-4879-8113-66001FC95627}" type="pres">
      <dgm:prSet presAssocID="{4DBC9FB7-39D2-416E-BC7D-6BEF530EA1F3}" presName="Parent3" presStyleLbl="revTx" presStyleIdx="2" presStyleCnt="7">
        <dgm:presLayoutVars>
          <dgm:chMax val="1"/>
          <dgm:chPref val="1"/>
          <dgm:bulletEnabled val="1"/>
        </dgm:presLayoutVars>
      </dgm:prSet>
      <dgm:spPr/>
    </dgm:pt>
    <dgm:pt modelId="{AB77C08B-EE33-4F12-9925-DF406451F570}" type="pres">
      <dgm:prSet presAssocID="{DBE50A84-23A5-4AB8-9F6D-EB2A62939E7D}" presName="Accent4" presStyleCnt="0"/>
      <dgm:spPr/>
    </dgm:pt>
    <dgm:pt modelId="{A1852EF2-4805-4DFD-B8CC-94A79494EFEC}" type="pres">
      <dgm:prSet presAssocID="{DBE50A84-23A5-4AB8-9F6D-EB2A62939E7D}" presName="Accent" presStyleLbl="node1" presStyleIdx="3" presStyleCnt="5"/>
      <dgm:spPr/>
    </dgm:pt>
    <dgm:pt modelId="{02DB933A-F142-468D-881E-439E2E4CC592}" type="pres">
      <dgm:prSet presAssocID="{DBE50A84-23A5-4AB8-9F6D-EB2A62939E7D}" presName="Child4" presStyleLbl="revTx" presStyleIdx="3" presStyleCnt="7" custScaleX="632229" custLinFactX="115162" custLinFactNeighborX="200000" custLinFactNeighborY="35290">
        <dgm:presLayoutVars>
          <dgm:chMax val="0"/>
          <dgm:chPref val="0"/>
          <dgm:bulletEnabled val="1"/>
        </dgm:presLayoutVars>
      </dgm:prSet>
      <dgm:spPr/>
    </dgm:pt>
    <dgm:pt modelId="{641F3FC8-4AE5-4F3A-9ADB-B46D3F710B65}" type="pres">
      <dgm:prSet presAssocID="{DBE50A84-23A5-4AB8-9F6D-EB2A62939E7D}" presName="Parent4" presStyleLbl="revTx" presStyleIdx="4" presStyleCnt="7">
        <dgm:presLayoutVars>
          <dgm:chMax val="1"/>
          <dgm:chPref val="1"/>
          <dgm:bulletEnabled val="1"/>
        </dgm:presLayoutVars>
      </dgm:prSet>
      <dgm:spPr/>
    </dgm:pt>
    <dgm:pt modelId="{CFE2AE36-705B-4EEA-87DC-4555F906C72C}" type="pres">
      <dgm:prSet presAssocID="{0FF7DA2B-3BE2-4F1B-BFAD-4A273EC976BD}" presName="Accent5" presStyleCnt="0"/>
      <dgm:spPr/>
    </dgm:pt>
    <dgm:pt modelId="{33DD1281-3181-44F8-93AE-D39471B822C2}" type="pres">
      <dgm:prSet presAssocID="{0FF7DA2B-3BE2-4F1B-BFAD-4A273EC976BD}" presName="Accent" presStyleLbl="node1" presStyleIdx="4" presStyleCnt="5"/>
      <dgm:spPr/>
    </dgm:pt>
    <dgm:pt modelId="{69E113A7-A102-4503-A418-26987C106DCF}" type="pres">
      <dgm:prSet presAssocID="{0FF7DA2B-3BE2-4F1B-BFAD-4A273EC976BD}" presName="Child5" presStyleLbl="revTx" presStyleIdx="5" presStyleCnt="7" custScaleX="536948" custScaleY="150676" custLinFactX="100000" custLinFactNeighborX="120198" custLinFactNeighborY="27065">
        <dgm:presLayoutVars>
          <dgm:chMax val="0"/>
          <dgm:chPref val="0"/>
          <dgm:bulletEnabled val="1"/>
        </dgm:presLayoutVars>
      </dgm:prSet>
      <dgm:spPr/>
    </dgm:pt>
    <dgm:pt modelId="{FB322EF9-D506-4CD4-88E7-403C463DD332}" type="pres">
      <dgm:prSet presAssocID="{0FF7DA2B-3BE2-4F1B-BFAD-4A273EC976BD}" presName="Parent5" presStyleLbl="revTx" presStyleIdx="6" presStyleCnt="7">
        <dgm:presLayoutVars>
          <dgm:chMax val="1"/>
          <dgm:chPref val="1"/>
          <dgm:bulletEnabled val="1"/>
        </dgm:presLayoutVars>
      </dgm:prSet>
      <dgm:spPr/>
    </dgm:pt>
  </dgm:ptLst>
  <dgm:cxnLst>
    <dgm:cxn modelId="{76AF3711-F750-42E4-AD0B-DDC9B9663559}" type="presOf" srcId="{05323FB1-CC2D-435A-8CF1-8BF60252DA61}" destId="{02DB933A-F142-468D-881E-439E2E4CC592}" srcOrd="0" destOrd="3" presId="urn:microsoft.com/office/officeart/2009/layout/CircleArrowProcess"/>
    <dgm:cxn modelId="{879E3312-BC20-4A07-96C9-EA3344BD4ECA}" srcId="{90FF6D50-23E5-4585-AD99-599A5B4F1D89}" destId="{536EC01D-3056-4B9A-B929-64A7FB9C23FA}" srcOrd="0" destOrd="0" parTransId="{2EA23DBF-63FD-4C96-BD86-BC115001E01C}" sibTransId="{D9929218-F35B-466E-948C-EB0C465CB8D0}"/>
    <dgm:cxn modelId="{11569719-B142-40C3-BFCF-9548DE831E3D}" srcId="{90FF6D50-23E5-4585-AD99-599A5B4F1D89}" destId="{DBE50A84-23A5-4AB8-9F6D-EB2A62939E7D}" srcOrd="3" destOrd="0" parTransId="{D96259A8-A180-47E4-AF69-DDCF312D530E}" sibTransId="{E5D659B7-6946-4963-B9BB-22F4DF5EA45A}"/>
    <dgm:cxn modelId="{2B16DD19-DFF3-4C43-966B-BB020A877D44}" type="presOf" srcId="{536EC01D-3056-4B9A-B929-64A7FB9C23FA}" destId="{A2CCA857-613F-48CE-A4F5-AE6E9AD5CCFD}" srcOrd="0" destOrd="0" presId="urn:microsoft.com/office/officeart/2009/layout/CircleArrowProcess"/>
    <dgm:cxn modelId="{D5214F1E-0E29-4D1D-BFF7-194E7ABAC6B0}" srcId="{DBE50A84-23A5-4AB8-9F6D-EB2A62939E7D}" destId="{05323FB1-CC2D-435A-8CF1-8BF60252DA61}" srcOrd="3" destOrd="0" parTransId="{D6625C48-D2FB-492E-B39B-4355C55CFAAD}" sibTransId="{3AB70E3B-5DDE-491D-B2CC-E9F124CE258C}"/>
    <dgm:cxn modelId="{C6008E20-A00A-4E7B-86A8-D5260CCF4F96}" type="presOf" srcId="{F3EFA439-32B7-47AE-805F-B353D5C81FAE}" destId="{69E113A7-A102-4503-A418-26987C106DCF}" srcOrd="0" destOrd="1" presId="urn:microsoft.com/office/officeart/2009/layout/CircleArrowProcess"/>
    <dgm:cxn modelId="{84909827-BE40-416D-B2A0-C5C3F4A74866}" type="presOf" srcId="{3CCE9726-E8D2-4755-9B59-5268A92958F4}" destId="{02DB933A-F142-468D-881E-439E2E4CC592}" srcOrd="0" destOrd="1" presId="urn:microsoft.com/office/officeart/2009/layout/CircleArrowProcess"/>
    <dgm:cxn modelId="{B179F128-FB83-4D58-9C78-FC6492A941C2}" type="presOf" srcId="{F216B66C-F552-4FE6-A7F2-CC3AC2B4E903}" destId="{02DB933A-F142-468D-881E-439E2E4CC592}" srcOrd="0" destOrd="0" presId="urn:microsoft.com/office/officeart/2009/layout/CircleArrowProcess"/>
    <dgm:cxn modelId="{F061A931-720F-4F45-ACB1-D5DDB574A64E}" type="presOf" srcId="{4DBC9FB7-39D2-416E-BC7D-6BEF530EA1F3}" destId="{2C069BA6-6AB0-4879-8113-66001FC95627}" srcOrd="0" destOrd="0" presId="urn:microsoft.com/office/officeart/2009/layout/CircleArrowProcess"/>
    <dgm:cxn modelId="{CD3E8335-5A92-4BE7-A418-E158F54697A0}" type="presOf" srcId="{DBE50A84-23A5-4AB8-9F6D-EB2A62939E7D}" destId="{641F3FC8-4AE5-4F3A-9ADB-B46D3F710B65}" srcOrd="0" destOrd="0" presId="urn:microsoft.com/office/officeart/2009/layout/CircleArrowProcess"/>
    <dgm:cxn modelId="{9C03DA3B-653D-483C-A9DD-3293A08FD4C2}" srcId="{0FF7DA2B-3BE2-4F1B-BFAD-4A273EC976BD}" destId="{F3EFA439-32B7-47AE-805F-B353D5C81FAE}" srcOrd="1" destOrd="0" parTransId="{0F55AD98-9FED-486C-A0AA-A27E6A00ABE7}" sibTransId="{A0707149-9D31-443B-AC7D-22C542604492}"/>
    <dgm:cxn modelId="{49BE6743-E9C4-4C9C-8185-98A2DF72B911}" srcId="{DBE50A84-23A5-4AB8-9F6D-EB2A62939E7D}" destId="{6377FAA1-376F-4376-A570-7C3C3B1381D1}" srcOrd="2" destOrd="0" parTransId="{8A7E5F41-7E0B-42F1-BEA1-DFCAEC0408CF}" sibTransId="{674CB0AA-09FB-4CD2-B700-6F7572D68E62}"/>
    <dgm:cxn modelId="{D324B649-C2F5-4CEF-BB2E-1B96CAC75CA9}" type="presOf" srcId="{90FF6D50-23E5-4585-AD99-599A5B4F1D89}" destId="{26168418-EF69-4877-A2D0-AD36997597D9}" srcOrd="0" destOrd="0" presId="urn:microsoft.com/office/officeart/2009/layout/CircleArrowProcess"/>
    <dgm:cxn modelId="{D66B2C4A-AA9D-4D25-BFD3-E68476B89F8F}" type="presOf" srcId="{0FF7DA2B-3BE2-4F1B-BFAD-4A273EC976BD}" destId="{FB322EF9-D506-4CD4-88E7-403C463DD332}" srcOrd="0" destOrd="0" presId="urn:microsoft.com/office/officeart/2009/layout/CircleArrowProcess"/>
    <dgm:cxn modelId="{F5C29474-3233-4C56-937D-BF74493631CC}" type="presOf" srcId="{BC8C2B6C-293B-4506-B297-31FD60E0B5EE}" destId="{69E113A7-A102-4503-A418-26987C106DCF}" srcOrd="0" destOrd="0" presId="urn:microsoft.com/office/officeart/2009/layout/CircleArrowProcess"/>
    <dgm:cxn modelId="{7DBC0579-371D-40B8-860D-AB0304166660}" srcId="{DBE50A84-23A5-4AB8-9F6D-EB2A62939E7D}" destId="{F216B66C-F552-4FE6-A7F2-CC3AC2B4E903}" srcOrd="0" destOrd="0" parTransId="{94F3E3D3-CA81-4BCA-AA30-D8C2156DF612}" sibTransId="{72F9C756-BC7D-4A2B-B5AB-33577104137F}"/>
    <dgm:cxn modelId="{A174C397-050B-4C1E-9E02-D09A172A9468}" srcId="{DBE50A84-23A5-4AB8-9F6D-EB2A62939E7D}" destId="{3CCE9726-E8D2-4755-9B59-5268A92958F4}" srcOrd="1" destOrd="0" parTransId="{366E66F6-DB6F-4CC1-8BE9-33C96ABC4D48}" sibTransId="{69D9D868-7776-448B-A098-CAF296C1E68A}"/>
    <dgm:cxn modelId="{3703CB98-7318-4DC8-AE84-1C408A9CDF80}" srcId="{0FF7DA2B-3BE2-4F1B-BFAD-4A273EC976BD}" destId="{BC8C2B6C-293B-4506-B297-31FD60E0B5EE}" srcOrd="0" destOrd="0" parTransId="{586D32F8-D332-4D57-93C6-930AB22BC97F}" sibTransId="{46B01233-6826-4948-A7D6-A9E1F6996F82}"/>
    <dgm:cxn modelId="{7109E9B7-462C-4E31-8A4E-8ABEC18EE60A}" type="presOf" srcId="{6377FAA1-376F-4376-A570-7C3C3B1381D1}" destId="{02DB933A-F142-468D-881E-439E2E4CC592}" srcOrd="0" destOrd="2" presId="urn:microsoft.com/office/officeart/2009/layout/CircleArrowProcess"/>
    <dgm:cxn modelId="{1914B3E3-0F49-4E24-AE23-4A581CA855BC}" srcId="{90FF6D50-23E5-4585-AD99-599A5B4F1D89}" destId="{4DBC9FB7-39D2-416E-BC7D-6BEF530EA1F3}" srcOrd="2" destOrd="0" parTransId="{17F10008-FAEE-488F-84FB-F7319267A630}" sibTransId="{30202C8A-D920-455A-8F3D-A418F25227FE}"/>
    <dgm:cxn modelId="{A50CABE8-1561-4570-96C7-1376DFBF2A1F}" srcId="{90FF6D50-23E5-4585-AD99-599A5B4F1D89}" destId="{882C7950-E5A0-49EC-9A35-D2BD28B94B7D}" srcOrd="1" destOrd="0" parTransId="{0EF26D2D-721C-4291-B744-98E4E7EDBB03}" sibTransId="{E8F80AF6-7EBC-46C1-9E12-97DC470CCD89}"/>
    <dgm:cxn modelId="{1D3282EE-704E-449B-88D5-4FB60AC2175A}" srcId="{90FF6D50-23E5-4585-AD99-599A5B4F1D89}" destId="{0FF7DA2B-3BE2-4F1B-BFAD-4A273EC976BD}" srcOrd="4" destOrd="0" parTransId="{FF4479DA-4F5C-4707-875E-492290E22343}" sibTransId="{1C074A1F-6C86-455F-94DE-2A4C9DDDDE6C}"/>
    <dgm:cxn modelId="{ABD3AEF7-3B2A-48CE-8FE0-5E3156FE9A86}" type="presOf" srcId="{882C7950-E5A0-49EC-9A35-D2BD28B94B7D}" destId="{23303CE6-2778-43FA-B74E-DF0F08958F8B}" srcOrd="0" destOrd="0" presId="urn:microsoft.com/office/officeart/2009/layout/CircleArrowProcess"/>
    <dgm:cxn modelId="{3133F36F-499B-4C7F-8638-5EAA631D237F}" type="presParOf" srcId="{26168418-EF69-4877-A2D0-AD36997597D9}" destId="{5A81F4B4-BC5E-4EE4-8290-6A77EE3C689D}" srcOrd="0" destOrd="0" presId="urn:microsoft.com/office/officeart/2009/layout/CircleArrowProcess"/>
    <dgm:cxn modelId="{E5CD9C29-36AE-4A59-9D87-FCB0D596E2E8}" type="presParOf" srcId="{5A81F4B4-BC5E-4EE4-8290-6A77EE3C689D}" destId="{97719E79-9476-48DA-96CE-DE990C8879D1}" srcOrd="0" destOrd="0" presId="urn:microsoft.com/office/officeart/2009/layout/CircleArrowProcess"/>
    <dgm:cxn modelId="{7DC16698-7C21-4663-A99A-3F2341223618}" type="presParOf" srcId="{26168418-EF69-4877-A2D0-AD36997597D9}" destId="{A2CCA857-613F-48CE-A4F5-AE6E9AD5CCFD}" srcOrd="1" destOrd="0" presId="urn:microsoft.com/office/officeart/2009/layout/CircleArrowProcess"/>
    <dgm:cxn modelId="{A0D456E6-2DBA-48C0-AB79-67D7A6A8EF5B}" type="presParOf" srcId="{26168418-EF69-4877-A2D0-AD36997597D9}" destId="{75EB6104-0310-434B-ADB7-B612E1527ED6}" srcOrd="2" destOrd="0" presId="urn:microsoft.com/office/officeart/2009/layout/CircleArrowProcess"/>
    <dgm:cxn modelId="{4D0A1205-D53F-4314-9909-96B54F10968A}" type="presParOf" srcId="{75EB6104-0310-434B-ADB7-B612E1527ED6}" destId="{6084E631-2316-4D10-A75F-DF3113EA0B52}" srcOrd="0" destOrd="0" presId="urn:microsoft.com/office/officeart/2009/layout/CircleArrowProcess"/>
    <dgm:cxn modelId="{D21075B0-21B3-442D-AD68-40D68AF997CC}" type="presParOf" srcId="{26168418-EF69-4877-A2D0-AD36997597D9}" destId="{23303CE6-2778-43FA-B74E-DF0F08958F8B}" srcOrd="3" destOrd="0" presId="urn:microsoft.com/office/officeart/2009/layout/CircleArrowProcess"/>
    <dgm:cxn modelId="{B940EB60-3259-4C95-837A-A54B5E6DB510}" type="presParOf" srcId="{26168418-EF69-4877-A2D0-AD36997597D9}" destId="{43831C78-D88A-436F-9B00-2C814FEEB3CC}" srcOrd="4" destOrd="0" presId="urn:microsoft.com/office/officeart/2009/layout/CircleArrowProcess"/>
    <dgm:cxn modelId="{591555BD-BC19-4839-B58B-EFF10C0025D3}" type="presParOf" srcId="{43831C78-D88A-436F-9B00-2C814FEEB3CC}" destId="{7C8DA746-1CA7-4DA8-8797-A51BA1A54D07}" srcOrd="0" destOrd="0" presId="urn:microsoft.com/office/officeart/2009/layout/CircleArrowProcess"/>
    <dgm:cxn modelId="{1FF3F738-3553-45B6-8136-123F4CC50694}" type="presParOf" srcId="{26168418-EF69-4877-A2D0-AD36997597D9}" destId="{2C069BA6-6AB0-4879-8113-66001FC95627}" srcOrd="5" destOrd="0" presId="urn:microsoft.com/office/officeart/2009/layout/CircleArrowProcess"/>
    <dgm:cxn modelId="{26E4FE9D-2A5A-4F1B-B5B0-BC06DC879301}" type="presParOf" srcId="{26168418-EF69-4877-A2D0-AD36997597D9}" destId="{AB77C08B-EE33-4F12-9925-DF406451F570}" srcOrd="6" destOrd="0" presId="urn:microsoft.com/office/officeart/2009/layout/CircleArrowProcess"/>
    <dgm:cxn modelId="{F099AFC6-1058-41D8-A192-EA52A2EE6799}" type="presParOf" srcId="{AB77C08B-EE33-4F12-9925-DF406451F570}" destId="{A1852EF2-4805-4DFD-B8CC-94A79494EFEC}" srcOrd="0" destOrd="0" presId="urn:microsoft.com/office/officeart/2009/layout/CircleArrowProcess"/>
    <dgm:cxn modelId="{212467F0-FE3D-4566-97F0-12DCB3042B9C}" type="presParOf" srcId="{26168418-EF69-4877-A2D0-AD36997597D9}" destId="{02DB933A-F142-468D-881E-439E2E4CC592}" srcOrd="7" destOrd="0" presId="urn:microsoft.com/office/officeart/2009/layout/CircleArrowProcess"/>
    <dgm:cxn modelId="{E2902C16-6F3B-4053-B58E-D2B8E4A747DD}" type="presParOf" srcId="{26168418-EF69-4877-A2D0-AD36997597D9}" destId="{641F3FC8-4AE5-4F3A-9ADB-B46D3F710B65}" srcOrd="8" destOrd="0" presId="urn:microsoft.com/office/officeart/2009/layout/CircleArrowProcess"/>
    <dgm:cxn modelId="{DFCD6CD3-521D-4BAC-AA15-75CFD879086F}" type="presParOf" srcId="{26168418-EF69-4877-A2D0-AD36997597D9}" destId="{CFE2AE36-705B-4EEA-87DC-4555F906C72C}" srcOrd="9" destOrd="0" presId="urn:microsoft.com/office/officeart/2009/layout/CircleArrowProcess"/>
    <dgm:cxn modelId="{FDF772DB-6EFD-42EF-A09E-81AFFAFEE8A7}" type="presParOf" srcId="{CFE2AE36-705B-4EEA-87DC-4555F906C72C}" destId="{33DD1281-3181-44F8-93AE-D39471B822C2}" srcOrd="0" destOrd="0" presId="urn:microsoft.com/office/officeart/2009/layout/CircleArrowProcess"/>
    <dgm:cxn modelId="{60D07657-B3F1-44DC-8831-AFBD0C5C31D7}" type="presParOf" srcId="{26168418-EF69-4877-A2D0-AD36997597D9}" destId="{69E113A7-A102-4503-A418-26987C106DCF}" srcOrd="10" destOrd="0" presId="urn:microsoft.com/office/officeart/2009/layout/CircleArrowProcess"/>
    <dgm:cxn modelId="{A08D5EC6-0896-4F2E-A9F6-1701E85D0A10}" type="presParOf" srcId="{26168418-EF69-4877-A2D0-AD36997597D9}" destId="{FB322EF9-D506-4CD4-88E7-403C463DD332}" srcOrd="11"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68ABB2-D931-43FA-AB49-3CF0B7579CD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54423D-F6CF-4F1C-8CB2-397610DFA6FB}">
      <dgm:prSet/>
      <dgm:spPr/>
      <dgm:t>
        <a:bodyPr/>
        <a:lstStyle/>
        <a:p>
          <a:pPr>
            <a:defRPr cap="all"/>
          </a:pPr>
          <a:r>
            <a:rPr lang="en-US"/>
            <a:t>What is happening?</a:t>
          </a:r>
        </a:p>
      </dgm:t>
    </dgm:pt>
    <dgm:pt modelId="{887555E2-7BBF-431E-8B3B-89E5D26A4A87}" type="parTrans" cxnId="{CCE5A130-E0F8-4BDA-90BA-87471191E964}">
      <dgm:prSet/>
      <dgm:spPr/>
      <dgm:t>
        <a:bodyPr/>
        <a:lstStyle/>
        <a:p>
          <a:endParaRPr lang="en-US"/>
        </a:p>
      </dgm:t>
    </dgm:pt>
    <dgm:pt modelId="{DAE76447-FFD1-480E-8D6C-414B2C347C12}" type="sibTrans" cxnId="{CCE5A130-E0F8-4BDA-90BA-87471191E964}">
      <dgm:prSet/>
      <dgm:spPr/>
      <dgm:t>
        <a:bodyPr/>
        <a:lstStyle/>
        <a:p>
          <a:endParaRPr lang="en-US"/>
        </a:p>
      </dgm:t>
    </dgm:pt>
    <dgm:pt modelId="{63DD9918-D259-4578-9CA1-476ECFF1CBB8}">
      <dgm:prSet/>
      <dgm:spPr/>
      <dgm:t>
        <a:bodyPr/>
        <a:lstStyle/>
        <a:p>
          <a:pPr>
            <a:defRPr cap="all"/>
          </a:pPr>
          <a:r>
            <a:rPr lang="en-US"/>
            <a:t>Quantify and summarize data</a:t>
          </a:r>
        </a:p>
      </dgm:t>
    </dgm:pt>
    <dgm:pt modelId="{00E9326D-B3C9-4A66-B87B-A183C76034E5}" type="parTrans" cxnId="{9407B557-9A6D-4228-9813-D5BCF8E1B263}">
      <dgm:prSet/>
      <dgm:spPr/>
      <dgm:t>
        <a:bodyPr/>
        <a:lstStyle/>
        <a:p>
          <a:endParaRPr lang="en-US"/>
        </a:p>
      </dgm:t>
    </dgm:pt>
    <dgm:pt modelId="{BC993722-4F8C-4DD3-B7BB-418BA1196228}" type="sibTrans" cxnId="{9407B557-9A6D-4228-9813-D5BCF8E1B263}">
      <dgm:prSet/>
      <dgm:spPr/>
      <dgm:t>
        <a:bodyPr/>
        <a:lstStyle/>
        <a:p>
          <a:endParaRPr lang="en-US"/>
        </a:p>
      </dgm:t>
    </dgm:pt>
    <dgm:pt modelId="{F40511F5-E2C9-4188-B22A-6D702AD1A9A5}">
      <dgm:prSet/>
      <dgm:spPr/>
      <dgm:t>
        <a:bodyPr/>
        <a:lstStyle/>
        <a:p>
          <a:pPr>
            <a:defRPr cap="all"/>
          </a:pPr>
          <a:r>
            <a:rPr lang="en-US"/>
            <a:t>Foundation for further analysis</a:t>
          </a:r>
        </a:p>
      </dgm:t>
    </dgm:pt>
    <dgm:pt modelId="{DCC27F4B-CE87-459D-AEBB-592468FC9711}" type="parTrans" cxnId="{ADBDDEEB-5A8D-46CE-B1B7-D8E39FFBE3C0}">
      <dgm:prSet/>
      <dgm:spPr/>
      <dgm:t>
        <a:bodyPr/>
        <a:lstStyle/>
        <a:p>
          <a:endParaRPr lang="en-US"/>
        </a:p>
      </dgm:t>
    </dgm:pt>
    <dgm:pt modelId="{10FE0C38-D05B-4FF9-815C-C5496B584BDE}" type="sibTrans" cxnId="{ADBDDEEB-5A8D-46CE-B1B7-D8E39FFBE3C0}">
      <dgm:prSet/>
      <dgm:spPr/>
      <dgm:t>
        <a:bodyPr/>
        <a:lstStyle/>
        <a:p>
          <a:endParaRPr lang="en-US"/>
        </a:p>
      </dgm:t>
    </dgm:pt>
    <dgm:pt modelId="{E1D29C3D-6375-461B-92D6-99106B84E2D7}" type="pres">
      <dgm:prSet presAssocID="{1F68ABB2-D931-43FA-AB49-3CF0B7579CD2}" presName="root" presStyleCnt="0">
        <dgm:presLayoutVars>
          <dgm:dir/>
          <dgm:resizeHandles val="exact"/>
        </dgm:presLayoutVars>
      </dgm:prSet>
      <dgm:spPr/>
    </dgm:pt>
    <dgm:pt modelId="{D359C3BD-6148-4630-8BC3-64E1BD570336}" type="pres">
      <dgm:prSet presAssocID="{D654423D-F6CF-4F1C-8CB2-397610DFA6FB}" presName="compNode" presStyleCnt="0"/>
      <dgm:spPr/>
    </dgm:pt>
    <dgm:pt modelId="{F34F24EE-948B-496A-A84D-F861A601FCF2}" type="pres">
      <dgm:prSet presAssocID="{D654423D-F6CF-4F1C-8CB2-397610DFA6FB}" presName="iconBgRect" presStyleLbl="bgShp" presStyleIdx="0" presStyleCnt="3"/>
      <dgm:spPr/>
    </dgm:pt>
    <dgm:pt modelId="{57727F63-978B-41A6-AB2E-C83B9DC5F885}" type="pres">
      <dgm:prSet presAssocID="{D654423D-F6CF-4F1C-8CB2-397610DFA6F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ccept"/>
        </a:ext>
      </dgm:extLst>
    </dgm:pt>
    <dgm:pt modelId="{C4C2EAF2-90E8-4979-85BF-837D66921033}" type="pres">
      <dgm:prSet presAssocID="{D654423D-F6CF-4F1C-8CB2-397610DFA6FB}" presName="spaceRect" presStyleCnt="0"/>
      <dgm:spPr/>
    </dgm:pt>
    <dgm:pt modelId="{DC967CD6-526D-4BD0-99F5-6C2698E74D11}" type="pres">
      <dgm:prSet presAssocID="{D654423D-F6CF-4F1C-8CB2-397610DFA6FB}" presName="textRect" presStyleLbl="revTx" presStyleIdx="0" presStyleCnt="3">
        <dgm:presLayoutVars>
          <dgm:chMax val="1"/>
          <dgm:chPref val="1"/>
        </dgm:presLayoutVars>
      </dgm:prSet>
      <dgm:spPr/>
    </dgm:pt>
    <dgm:pt modelId="{0047023D-CA0B-43F5-B25B-0571D904A113}" type="pres">
      <dgm:prSet presAssocID="{DAE76447-FFD1-480E-8D6C-414B2C347C12}" presName="sibTrans" presStyleCnt="0"/>
      <dgm:spPr/>
    </dgm:pt>
    <dgm:pt modelId="{7C774AD6-F0A6-4A1B-A2E3-2101AE0345AE}" type="pres">
      <dgm:prSet presAssocID="{63DD9918-D259-4578-9CA1-476ECFF1CBB8}" presName="compNode" presStyleCnt="0"/>
      <dgm:spPr/>
    </dgm:pt>
    <dgm:pt modelId="{BF15CF91-5CFC-4E47-AD87-F6B707AE7B30}" type="pres">
      <dgm:prSet presAssocID="{63DD9918-D259-4578-9CA1-476ECFF1CBB8}" presName="iconBgRect" presStyleLbl="bgShp" presStyleIdx="1" presStyleCnt="3"/>
      <dgm:spPr/>
    </dgm:pt>
    <dgm:pt modelId="{4010E5B5-2F1E-4A50-A3FF-47A1410AC008}" type="pres">
      <dgm:prSet presAssocID="{63DD9918-D259-4578-9CA1-476ECFF1CB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oter"/>
        </a:ext>
      </dgm:extLst>
    </dgm:pt>
    <dgm:pt modelId="{0ADBA961-B826-4BFE-A86A-B808882516D3}" type="pres">
      <dgm:prSet presAssocID="{63DD9918-D259-4578-9CA1-476ECFF1CBB8}" presName="spaceRect" presStyleCnt="0"/>
      <dgm:spPr/>
    </dgm:pt>
    <dgm:pt modelId="{06D02A51-C974-4E91-90B7-D5DD79A24144}" type="pres">
      <dgm:prSet presAssocID="{63DD9918-D259-4578-9CA1-476ECFF1CBB8}" presName="textRect" presStyleLbl="revTx" presStyleIdx="1" presStyleCnt="3">
        <dgm:presLayoutVars>
          <dgm:chMax val="1"/>
          <dgm:chPref val="1"/>
        </dgm:presLayoutVars>
      </dgm:prSet>
      <dgm:spPr/>
    </dgm:pt>
    <dgm:pt modelId="{E7DB1717-E81D-480A-8D45-7ED14BE2382B}" type="pres">
      <dgm:prSet presAssocID="{BC993722-4F8C-4DD3-B7BB-418BA1196228}" presName="sibTrans" presStyleCnt="0"/>
      <dgm:spPr/>
    </dgm:pt>
    <dgm:pt modelId="{563CDFC4-2537-4986-BEDE-A0E85C4E1E2C}" type="pres">
      <dgm:prSet presAssocID="{F40511F5-E2C9-4188-B22A-6D702AD1A9A5}" presName="compNode" presStyleCnt="0"/>
      <dgm:spPr/>
    </dgm:pt>
    <dgm:pt modelId="{C2FAFCCD-579B-4991-A849-7012DCC7713B}" type="pres">
      <dgm:prSet presAssocID="{F40511F5-E2C9-4188-B22A-6D702AD1A9A5}" presName="iconBgRect" presStyleLbl="bgShp" presStyleIdx="2" presStyleCnt="3"/>
      <dgm:spPr/>
    </dgm:pt>
    <dgm:pt modelId="{511FBC39-5A8D-4C91-8FDE-86D2FB970032}" type="pres">
      <dgm:prSet presAssocID="{F40511F5-E2C9-4188-B22A-6D702AD1A9A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ngerprint"/>
        </a:ext>
      </dgm:extLst>
    </dgm:pt>
    <dgm:pt modelId="{C871E568-4CE7-4613-B5F9-D10BA03D0A50}" type="pres">
      <dgm:prSet presAssocID="{F40511F5-E2C9-4188-B22A-6D702AD1A9A5}" presName="spaceRect" presStyleCnt="0"/>
      <dgm:spPr/>
    </dgm:pt>
    <dgm:pt modelId="{81E67826-5AE0-4EB3-9EF6-B150FB22DB7F}" type="pres">
      <dgm:prSet presAssocID="{F40511F5-E2C9-4188-B22A-6D702AD1A9A5}" presName="textRect" presStyleLbl="revTx" presStyleIdx="2" presStyleCnt="3">
        <dgm:presLayoutVars>
          <dgm:chMax val="1"/>
          <dgm:chPref val="1"/>
        </dgm:presLayoutVars>
      </dgm:prSet>
      <dgm:spPr/>
    </dgm:pt>
  </dgm:ptLst>
  <dgm:cxnLst>
    <dgm:cxn modelId="{CCE5A130-E0F8-4BDA-90BA-87471191E964}" srcId="{1F68ABB2-D931-43FA-AB49-3CF0B7579CD2}" destId="{D654423D-F6CF-4F1C-8CB2-397610DFA6FB}" srcOrd="0" destOrd="0" parTransId="{887555E2-7BBF-431E-8B3B-89E5D26A4A87}" sibTransId="{DAE76447-FFD1-480E-8D6C-414B2C347C12}"/>
    <dgm:cxn modelId="{64BC8252-B95C-49E8-ACB8-F090CF17667C}" type="presOf" srcId="{1F68ABB2-D931-43FA-AB49-3CF0B7579CD2}" destId="{E1D29C3D-6375-461B-92D6-99106B84E2D7}" srcOrd="0" destOrd="0" presId="urn:microsoft.com/office/officeart/2018/5/layout/IconCircleLabelList"/>
    <dgm:cxn modelId="{9407B557-9A6D-4228-9813-D5BCF8E1B263}" srcId="{1F68ABB2-D931-43FA-AB49-3CF0B7579CD2}" destId="{63DD9918-D259-4578-9CA1-476ECFF1CBB8}" srcOrd="1" destOrd="0" parTransId="{00E9326D-B3C9-4A66-B87B-A183C76034E5}" sibTransId="{BC993722-4F8C-4DD3-B7BB-418BA1196228}"/>
    <dgm:cxn modelId="{3C6AF283-7473-4C40-A46A-C6A3036D6A0C}" type="presOf" srcId="{F40511F5-E2C9-4188-B22A-6D702AD1A9A5}" destId="{81E67826-5AE0-4EB3-9EF6-B150FB22DB7F}" srcOrd="0" destOrd="0" presId="urn:microsoft.com/office/officeart/2018/5/layout/IconCircleLabelList"/>
    <dgm:cxn modelId="{80544486-67D8-4260-BEBF-16AEB3B4BC58}" type="presOf" srcId="{D654423D-F6CF-4F1C-8CB2-397610DFA6FB}" destId="{DC967CD6-526D-4BD0-99F5-6C2698E74D11}" srcOrd="0" destOrd="0" presId="urn:microsoft.com/office/officeart/2018/5/layout/IconCircleLabelList"/>
    <dgm:cxn modelId="{DBEE0FD3-4482-4BAC-A9ED-56ACEEB0E5FD}" type="presOf" srcId="{63DD9918-D259-4578-9CA1-476ECFF1CBB8}" destId="{06D02A51-C974-4E91-90B7-D5DD79A24144}" srcOrd="0" destOrd="0" presId="urn:microsoft.com/office/officeart/2018/5/layout/IconCircleLabelList"/>
    <dgm:cxn modelId="{ADBDDEEB-5A8D-46CE-B1B7-D8E39FFBE3C0}" srcId="{1F68ABB2-D931-43FA-AB49-3CF0B7579CD2}" destId="{F40511F5-E2C9-4188-B22A-6D702AD1A9A5}" srcOrd="2" destOrd="0" parTransId="{DCC27F4B-CE87-459D-AEBB-592468FC9711}" sibTransId="{10FE0C38-D05B-4FF9-815C-C5496B584BDE}"/>
    <dgm:cxn modelId="{95CA7E05-B2DE-4DEB-8694-CF14F57E65A9}" type="presParOf" srcId="{E1D29C3D-6375-461B-92D6-99106B84E2D7}" destId="{D359C3BD-6148-4630-8BC3-64E1BD570336}" srcOrd="0" destOrd="0" presId="urn:microsoft.com/office/officeart/2018/5/layout/IconCircleLabelList"/>
    <dgm:cxn modelId="{973228F5-1866-45FD-A1FE-824BE30E5E48}" type="presParOf" srcId="{D359C3BD-6148-4630-8BC3-64E1BD570336}" destId="{F34F24EE-948B-496A-A84D-F861A601FCF2}" srcOrd="0" destOrd="0" presId="urn:microsoft.com/office/officeart/2018/5/layout/IconCircleLabelList"/>
    <dgm:cxn modelId="{3E27737D-5405-48A3-84E1-B8281C4A5604}" type="presParOf" srcId="{D359C3BD-6148-4630-8BC3-64E1BD570336}" destId="{57727F63-978B-41A6-AB2E-C83B9DC5F885}" srcOrd="1" destOrd="0" presId="urn:microsoft.com/office/officeart/2018/5/layout/IconCircleLabelList"/>
    <dgm:cxn modelId="{10B22A0A-7D63-4BDD-B773-8C2CEC1EBCA8}" type="presParOf" srcId="{D359C3BD-6148-4630-8BC3-64E1BD570336}" destId="{C4C2EAF2-90E8-4979-85BF-837D66921033}" srcOrd="2" destOrd="0" presId="urn:microsoft.com/office/officeart/2018/5/layout/IconCircleLabelList"/>
    <dgm:cxn modelId="{3719F229-CD6B-45A4-A5A2-CDA1BF4B4581}" type="presParOf" srcId="{D359C3BD-6148-4630-8BC3-64E1BD570336}" destId="{DC967CD6-526D-4BD0-99F5-6C2698E74D11}" srcOrd="3" destOrd="0" presId="urn:microsoft.com/office/officeart/2018/5/layout/IconCircleLabelList"/>
    <dgm:cxn modelId="{56A5A866-4A9E-43E7-9FDB-7EE3C7C9F1E6}" type="presParOf" srcId="{E1D29C3D-6375-461B-92D6-99106B84E2D7}" destId="{0047023D-CA0B-43F5-B25B-0571D904A113}" srcOrd="1" destOrd="0" presId="urn:microsoft.com/office/officeart/2018/5/layout/IconCircleLabelList"/>
    <dgm:cxn modelId="{B27F1E74-7A24-4DF6-A85C-2D8407D0C179}" type="presParOf" srcId="{E1D29C3D-6375-461B-92D6-99106B84E2D7}" destId="{7C774AD6-F0A6-4A1B-A2E3-2101AE0345AE}" srcOrd="2" destOrd="0" presId="urn:microsoft.com/office/officeart/2018/5/layout/IconCircleLabelList"/>
    <dgm:cxn modelId="{A67FBD98-B5A1-4D90-966F-7063DDF4C652}" type="presParOf" srcId="{7C774AD6-F0A6-4A1B-A2E3-2101AE0345AE}" destId="{BF15CF91-5CFC-4E47-AD87-F6B707AE7B30}" srcOrd="0" destOrd="0" presId="urn:microsoft.com/office/officeart/2018/5/layout/IconCircleLabelList"/>
    <dgm:cxn modelId="{B10C5A61-208C-4D07-AF25-576141986BB4}" type="presParOf" srcId="{7C774AD6-F0A6-4A1B-A2E3-2101AE0345AE}" destId="{4010E5B5-2F1E-4A50-A3FF-47A1410AC008}" srcOrd="1" destOrd="0" presId="urn:microsoft.com/office/officeart/2018/5/layout/IconCircleLabelList"/>
    <dgm:cxn modelId="{FA60D05B-C31C-4031-A84A-F9424449C91A}" type="presParOf" srcId="{7C774AD6-F0A6-4A1B-A2E3-2101AE0345AE}" destId="{0ADBA961-B826-4BFE-A86A-B808882516D3}" srcOrd="2" destOrd="0" presId="urn:microsoft.com/office/officeart/2018/5/layout/IconCircleLabelList"/>
    <dgm:cxn modelId="{2D2BEA18-7CBB-4A21-B775-C14247EC23C6}" type="presParOf" srcId="{7C774AD6-F0A6-4A1B-A2E3-2101AE0345AE}" destId="{06D02A51-C974-4E91-90B7-D5DD79A24144}" srcOrd="3" destOrd="0" presId="urn:microsoft.com/office/officeart/2018/5/layout/IconCircleLabelList"/>
    <dgm:cxn modelId="{3A92C457-36AE-4AD9-838F-B8B58A28BE2E}" type="presParOf" srcId="{E1D29C3D-6375-461B-92D6-99106B84E2D7}" destId="{E7DB1717-E81D-480A-8D45-7ED14BE2382B}" srcOrd="3" destOrd="0" presId="urn:microsoft.com/office/officeart/2018/5/layout/IconCircleLabelList"/>
    <dgm:cxn modelId="{13270FAC-5B2A-4F30-9CF6-B1219AD073CB}" type="presParOf" srcId="{E1D29C3D-6375-461B-92D6-99106B84E2D7}" destId="{563CDFC4-2537-4986-BEDE-A0E85C4E1E2C}" srcOrd="4" destOrd="0" presId="urn:microsoft.com/office/officeart/2018/5/layout/IconCircleLabelList"/>
    <dgm:cxn modelId="{3D169B41-7994-4F82-90D0-AFAD6B22FC0F}" type="presParOf" srcId="{563CDFC4-2537-4986-BEDE-A0E85C4E1E2C}" destId="{C2FAFCCD-579B-4991-A849-7012DCC7713B}" srcOrd="0" destOrd="0" presId="urn:microsoft.com/office/officeart/2018/5/layout/IconCircleLabelList"/>
    <dgm:cxn modelId="{0D79B8B6-7BDF-43D4-B88C-1F4CE5B0BD0F}" type="presParOf" srcId="{563CDFC4-2537-4986-BEDE-A0E85C4E1E2C}" destId="{511FBC39-5A8D-4C91-8FDE-86D2FB970032}" srcOrd="1" destOrd="0" presId="urn:microsoft.com/office/officeart/2018/5/layout/IconCircleLabelList"/>
    <dgm:cxn modelId="{325F9423-D831-4EEC-AD75-813C43B58F24}" type="presParOf" srcId="{563CDFC4-2537-4986-BEDE-A0E85C4E1E2C}" destId="{C871E568-4CE7-4613-B5F9-D10BA03D0A50}" srcOrd="2" destOrd="0" presId="urn:microsoft.com/office/officeart/2018/5/layout/IconCircleLabelList"/>
    <dgm:cxn modelId="{46D9D474-A442-40F6-A6EB-476DFECF4B12}" type="presParOf" srcId="{563CDFC4-2537-4986-BEDE-A0E85C4E1E2C}" destId="{81E67826-5AE0-4EB3-9EF6-B150FB22DB7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CC24F1-43E3-41E0-A57F-59DA11063D9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D966F3E-9937-4C5F-BD3B-974BF1E03560}">
      <dgm:prSet/>
      <dgm:spPr/>
      <dgm:t>
        <a:bodyPr/>
        <a:lstStyle/>
        <a:p>
          <a:pPr>
            <a:defRPr cap="all"/>
          </a:pPr>
          <a:r>
            <a:rPr lang="en-US" dirty="0">
              <a:solidFill>
                <a:schemeClr val="bg1"/>
              </a:solidFill>
            </a:rPr>
            <a:t>What will happen?</a:t>
          </a:r>
        </a:p>
      </dgm:t>
    </dgm:pt>
    <dgm:pt modelId="{DD758B14-3BC0-4F3A-9B3A-A7C9635E2853}" type="parTrans" cxnId="{0EC7BB47-1264-4E9D-AC18-5E8DFD8F60DA}">
      <dgm:prSet/>
      <dgm:spPr/>
      <dgm:t>
        <a:bodyPr/>
        <a:lstStyle/>
        <a:p>
          <a:endParaRPr lang="en-US"/>
        </a:p>
      </dgm:t>
    </dgm:pt>
    <dgm:pt modelId="{762599A5-3084-42ED-9F3C-54B2BC3273FA}" type="sibTrans" cxnId="{0EC7BB47-1264-4E9D-AC18-5E8DFD8F60DA}">
      <dgm:prSet/>
      <dgm:spPr/>
      <dgm:t>
        <a:bodyPr/>
        <a:lstStyle/>
        <a:p>
          <a:endParaRPr lang="en-US"/>
        </a:p>
      </dgm:t>
    </dgm:pt>
    <dgm:pt modelId="{37E19E29-998F-48FD-914E-784D7C3380D5}">
      <dgm:prSet/>
      <dgm:spPr/>
      <dgm:t>
        <a:bodyPr/>
        <a:lstStyle/>
        <a:p>
          <a:pPr>
            <a:defRPr cap="all"/>
          </a:pPr>
          <a:r>
            <a:rPr lang="en-US" dirty="0">
              <a:solidFill>
                <a:schemeClr val="bg1"/>
              </a:solidFill>
            </a:rPr>
            <a:t>Estimate future outcomes</a:t>
          </a:r>
        </a:p>
      </dgm:t>
    </dgm:pt>
    <dgm:pt modelId="{C541F667-80EA-4852-8547-70F17810E067}" type="parTrans" cxnId="{B3E43040-5152-4256-81FE-DE75A22FD9DD}">
      <dgm:prSet/>
      <dgm:spPr/>
      <dgm:t>
        <a:bodyPr/>
        <a:lstStyle/>
        <a:p>
          <a:endParaRPr lang="en-US"/>
        </a:p>
      </dgm:t>
    </dgm:pt>
    <dgm:pt modelId="{33DF69B1-8902-4B5F-9540-AF2B3A26F243}" type="sibTrans" cxnId="{B3E43040-5152-4256-81FE-DE75A22FD9DD}">
      <dgm:prSet/>
      <dgm:spPr/>
      <dgm:t>
        <a:bodyPr/>
        <a:lstStyle/>
        <a:p>
          <a:endParaRPr lang="en-US"/>
        </a:p>
      </dgm:t>
    </dgm:pt>
    <dgm:pt modelId="{BE5F2D91-E62B-4631-8BA6-70D6D18DCD68}">
      <dgm:prSet/>
      <dgm:spPr/>
      <dgm:t>
        <a:bodyPr/>
        <a:lstStyle/>
        <a:p>
          <a:pPr>
            <a:defRPr cap="all"/>
          </a:pPr>
          <a:r>
            <a:rPr lang="en-US" dirty="0">
              <a:solidFill>
                <a:schemeClr val="bg1"/>
              </a:solidFill>
            </a:rPr>
            <a:t>Focus on accuracy, not causality</a:t>
          </a:r>
        </a:p>
      </dgm:t>
    </dgm:pt>
    <dgm:pt modelId="{F3CFB51A-55C3-49B9-B3D0-ADF74194BD58}" type="parTrans" cxnId="{3E8206F8-CBEA-4E9D-80B5-AD9EFC263911}">
      <dgm:prSet/>
      <dgm:spPr/>
      <dgm:t>
        <a:bodyPr/>
        <a:lstStyle/>
        <a:p>
          <a:endParaRPr lang="en-US"/>
        </a:p>
      </dgm:t>
    </dgm:pt>
    <dgm:pt modelId="{D85EF0F2-F708-4187-ABDD-4B0E0498592E}" type="sibTrans" cxnId="{3E8206F8-CBEA-4E9D-80B5-AD9EFC263911}">
      <dgm:prSet/>
      <dgm:spPr/>
      <dgm:t>
        <a:bodyPr/>
        <a:lstStyle/>
        <a:p>
          <a:endParaRPr lang="en-US"/>
        </a:p>
      </dgm:t>
    </dgm:pt>
    <dgm:pt modelId="{48CC801F-8120-491F-9990-5FDF91CE5C10}" type="pres">
      <dgm:prSet presAssocID="{5CCC24F1-43E3-41E0-A57F-59DA11063D98}" presName="root" presStyleCnt="0">
        <dgm:presLayoutVars>
          <dgm:dir/>
          <dgm:resizeHandles val="exact"/>
        </dgm:presLayoutVars>
      </dgm:prSet>
      <dgm:spPr/>
    </dgm:pt>
    <dgm:pt modelId="{3FD56611-E173-49B9-8212-050B5AFFAA48}" type="pres">
      <dgm:prSet presAssocID="{7D966F3E-9937-4C5F-BD3B-974BF1E03560}" presName="compNode" presStyleCnt="0"/>
      <dgm:spPr/>
    </dgm:pt>
    <dgm:pt modelId="{FA50CDC7-180F-40DF-9626-0397D0D87A16}" type="pres">
      <dgm:prSet presAssocID="{7D966F3E-9937-4C5F-BD3B-974BF1E03560}" presName="iconBgRect" presStyleLbl="bgShp" presStyleIdx="0" presStyleCnt="3"/>
      <dgm:spPr>
        <a:prstGeom prst="round2DiagRect">
          <a:avLst>
            <a:gd name="adj1" fmla="val 29727"/>
            <a:gd name="adj2" fmla="val 0"/>
          </a:avLst>
        </a:prstGeom>
      </dgm:spPr>
    </dgm:pt>
    <dgm:pt modelId="{005627EC-19F6-417B-B6D1-4FD0BEBF6EBE}" type="pres">
      <dgm:prSet presAssocID="{7D966F3E-9937-4C5F-BD3B-974BF1E0356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ghtning bolt"/>
        </a:ext>
      </dgm:extLst>
    </dgm:pt>
    <dgm:pt modelId="{B361F170-5B21-4929-BE62-596AC2AB7B3C}" type="pres">
      <dgm:prSet presAssocID="{7D966F3E-9937-4C5F-BD3B-974BF1E03560}" presName="spaceRect" presStyleCnt="0"/>
      <dgm:spPr/>
    </dgm:pt>
    <dgm:pt modelId="{5EC27893-EB74-448F-A508-132F5DE02C77}" type="pres">
      <dgm:prSet presAssocID="{7D966F3E-9937-4C5F-BD3B-974BF1E03560}" presName="textRect" presStyleLbl="revTx" presStyleIdx="0" presStyleCnt="3">
        <dgm:presLayoutVars>
          <dgm:chMax val="1"/>
          <dgm:chPref val="1"/>
        </dgm:presLayoutVars>
      </dgm:prSet>
      <dgm:spPr/>
    </dgm:pt>
    <dgm:pt modelId="{FD839892-5049-45A4-9441-6AB8B500A9D2}" type="pres">
      <dgm:prSet presAssocID="{762599A5-3084-42ED-9F3C-54B2BC3273FA}" presName="sibTrans" presStyleCnt="0"/>
      <dgm:spPr/>
    </dgm:pt>
    <dgm:pt modelId="{C3F79808-EFEA-4872-9F0A-E23D4B031440}" type="pres">
      <dgm:prSet presAssocID="{37E19E29-998F-48FD-914E-784D7C3380D5}" presName="compNode" presStyleCnt="0"/>
      <dgm:spPr/>
    </dgm:pt>
    <dgm:pt modelId="{A019C1D6-CD59-4B38-8DF9-E15BB8408C6C}" type="pres">
      <dgm:prSet presAssocID="{37E19E29-998F-48FD-914E-784D7C3380D5}" presName="iconBgRect" presStyleLbl="bgShp" presStyleIdx="1" presStyleCnt="3"/>
      <dgm:spPr>
        <a:prstGeom prst="round2DiagRect">
          <a:avLst>
            <a:gd name="adj1" fmla="val 29727"/>
            <a:gd name="adj2" fmla="val 0"/>
          </a:avLst>
        </a:prstGeom>
      </dgm:spPr>
    </dgm:pt>
    <dgm:pt modelId="{7B1C3E1C-5E1F-445E-84DC-6838A435DD0F}" type="pres">
      <dgm:prSet presAssocID="{37E19E29-998F-48FD-914E-784D7C3380D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E799B7A3-14AB-4AB6-A561-F27F7F4497FE}" type="pres">
      <dgm:prSet presAssocID="{37E19E29-998F-48FD-914E-784D7C3380D5}" presName="spaceRect" presStyleCnt="0"/>
      <dgm:spPr/>
    </dgm:pt>
    <dgm:pt modelId="{8AC90F2F-528D-472E-8F02-BC4E853B6B3B}" type="pres">
      <dgm:prSet presAssocID="{37E19E29-998F-48FD-914E-784D7C3380D5}" presName="textRect" presStyleLbl="revTx" presStyleIdx="1" presStyleCnt="3">
        <dgm:presLayoutVars>
          <dgm:chMax val="1"/>
          <dgm:chPref val="1"/>
        </dgm:presLayoutVars>
      </dgm:prSet>
      <dgm:spPr/>
    </dgm:pt>
    <dgm:pt modelId="{A2A6F8E3-B3B3-4876-A702-4C64982A7AC2}" type="pres">
      <dgm:prSet presAssocID="{33DF69B1-8902-4B5F-9540-AF2B3A26F243}" presName="sibTrans" presStyleCnt="0"/>
      <dgm:spPr/>
    </dgm:pt>
    <dgm:pt modelId="{24F36175-ED1B-448D-AC5B-C1D8CC4126BC}" type="pres">
      <dgm:prSet presAssocID="{BE5F2D91-E62B-4631-8BA6-70D6D18DCD68}" presName="compNode" presStyleCnt="0"/>
      <dgm:spPr/>
    </dgm:pt>
    <dgm:pt modelId="{5CAA122F-5A95-4A10-9315-0A5F8967D97A}" type="pres">
      <dgm:prSet presAssocID="{BE5F2D91-E62B-4631-8BA6-70D6D18DCD68}" presName="iconBgRect" presStyleLbl="bgShp" presStyleIdx="2" presStyleCnt="3"/>
      <dgm:spPr>
        <a:prstGeom prst="round2DiagRect">
          <a:avLst>
            <a:gd name="adj1" fmla="val 29727"/>
            <a:gd name="adj2" fmla="val 0"/>
          </a:avLst>
        </a:prstGeom>
      </dgm:spPr>
    </dgm:pt>
    <dgm:pt modelId="{FDC23FE5-2EB5-4062-A4EA-B414C9EEC1F8}" type="pres">
      <dgm:prSet presAssocID="{BE5F2D91-E62B-4631-8BA6-70D6D18DCD6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llseye"/>
        </a:ext>
      </dgm:extLst>
    </dgm:pt>
    <dgm:pt modelId="{D216FD21-6298-43F7-98C7-7E2601907215}" type="pres">
      <dgm:prSet presAssocID="{BE5F2D91-E62B-4631-8BA6-70D6D18DCD68}" presName="spaceRect" presStyleCnt="0"/>
      <dgm:spPr/>
    </dgm:pt>
    <dgm:pt modelId="{28F8CC0B-06B5-45D3-8D70-2B33720CC39F}" type="pres">
      <dgm:prSet presAssocID="{BE5F2D91-E62B-4631-8BA6-70D6D18DCD68}" presName="textRect" presStyleLbl="revTx" presStyleIdx="2" presStyleCnt="3">
        <dgm:presLayoutVars>
          <dgm:chMax val="1"/>
          <dgm:chPref val="1"/>
        </dgm:presLayoutVars>
      </dgm:prSet>
      <dgm:spPr/>
    </dgm:pt>
  </dgm:ptLst>
  <dgm:cxnLst>
    <dgm:cxn modelId="{DD942B2F-E582-44C1-B8D3-9E1F63FECFE3}" type="presOf" srcId="{37E19E29-998F-48FD-914E-784D7C3380D5}" destId="{8AC90F2F-528D-472E-8F02-BC4E853B6B3B}" srcOrd="0" destOrd="0" presId="urn:microsoft.com/office/officeart/2018/5/layout/IconLeafLabelList"/>
    <dgm:cxn modelId="{B3E43040-5152-4256-81FE-DE75A22FD9DD}" srcId="{5CCC24F1-43E3-41E0-A57F-59DA11063D98}" destId="{37E19E29-998F-48FD-914E-784D7C3380D5}" srcOrd="1" destOrd="0" parTransId="{C541F667-80EA-4852-8547-70F17810E067}" sibTransId="{33DF69B1-8902-4B5F-9540-AF2B3A26F243}"/>
    <dgm:cxn modelId="{0EC7BB47-1264-4E9D-AC18-5E8DFD8F60DA}" srcId="{5CCC24F1-43E3-41E0-A57F-59DA11063D98}" destId="{7D966F3E-9937-4C5F-BD3B-974BF1E03560}" srcOrd="0" destOrd="0" parTransId="{DD758B14-3BC0-4F3A-9B3A-A7C9635E2853}" sibTransId="{762599A5-3084-42ED-9F3C-54B2BC3273FA}"/>
    <dgm:cxn modelId="{5C478650-F051-4474-9079-A0668FBD4269}" type="presOf" srcId="{BE5F2D91-E62B-4631-8BA6-70D6D18DCD68}" destId="{28F8CC0B-06B5-45D3-8D70-2B33720CC39F}" srcOrd="0" destOrd="0" presId="urn:microsoft.com/office/officeart/2018/5/layout/IconLeafLabelList"/>
    <dgm:cxn modelId="{B8B9DF8F-2B70-4CB0-BC6E-26F8B5B657F8}" type="presOf" srcId="{5CCC24F1-43E3-41E0-A57F-59DA11063D98}" destId="{48CC801F-8120-491F-9990-5FDF91CE5C10}" srcOrd="0" destOrd="0" presId="urn:microsoft.com/office/officeart/2018/5/layout/IconLeafLabelList"/>
    <dgm:cxn modelId="{BA6AC7F1-02D6-4650-94DA-6F05F46C36F8}" type="presOf" srcId="{7D966F3E-9937-4C5F-BD3B-974BF1E03560}" destId="{5EC27893-EB74-448F-A508-132F5DE02C77}" srcOrd="0" destOrd="0" presId="urn:microsoft.com/office/officeart/2018/5/layout/IconLeafLabelList"/>
    <dgm:cxn modelId="{3E8206F8-CBEA-4E9D-80B5-AD9EFC263911}" srcId="{5CCC24F1-43E3-41E0-A57F-59DA11063D98}" destId="{BE5F2D91-E62B-4631-8BA6-70D6D18DCD68}" srcOrd="2" destOrd="0" parTransId="{F3CFB51A-55C3-49B9-B3D0-ADF74194BD58}" sibTransId="{D85EF0F2-F708-4187-ABDD-4B0E0498592E}"/>
    <dgm:cxn modelId="{D5EA325D-16CF-46DB-9BF3-EB8F7F0951BB}" type="presParOf" srcId="{48CC801F-8120-491F-9990-5FDF91CE5C10}" destId="{3FD56611-E173-49B9-8212-050B5AFFAA48}" srcOrd="0" destOrd="0" presId="urn:microsoft.com/office/officeart/2018/5/layout/IconLeafLabelList"/>
    <dgm:cxn modelId="{39129316-6F89-4A7D-B71B-3C3C5EA5A56F}" type="presParOf" srcId="{3FD56611-E173-49B9-8212-050B5AFFAA48}" destId="{FA50CDC7-180F-40DF-9626-0397D0D87A16}" srcOrd="0" destOrd="0" presId="urn:microsoft.com/office/officeart/2018/5/layout/IconLeafLabelList"/>
    <dgm:cxn modelId="{E8B20BCE-7A08-4717-8814-049DB5B27074}" type="presParOf" srcId="{3FD56611-E173-49B9-8212-050B5AFFAA48}" destId="{005627EC-19F6-417B-B6D1-4FD0BEBF6EBE}" srcOrd="1" destOrd="0" presId="urn:microsoft.com/office/officeart/2018/5/layout/IconLeafLabelList"/>
    <dgm:cxn modelId="{A5F0833F-C238-4F90-8199-8A3FB2210B80}" type="presParOf" srcId="{3FD56611-E173-49B9-8212-050B5AFFAA48}" destId="{B361F170-5B21-4929-BE62-596AC2AB7B3C}" srcOrd="2" destOrd="0" presId="urn:microsoft.com/office/officeart/2018/5/layout/IconLeafLabelList"/>
    <dgm:cxn modelId="{0A710F70-FA99-4776-93ED-B19DB6E8959A}" type="presParOf" srcId="{3FD56611-E173-49B9-8212-050B5AFFAA48}" destId="{5EC27893-EB74-448F-A508-132F5DE02C77}" srcOrd="3" destOrd="0" presId="urn:microsoft.com/office/officeart/2018/5/layout/IconLeafLabelList"/>
    <dgm:cxn modelId="{3E149CD9-4D18-44D6-AEE1-1BB4B389C2E1}" type="presParOf" srcId="{48CC801F-8120-491F-9990-5FDF91CE5C10}" destId="{FD839892-5049-45A4-9441-6AB8B500A9D2}" srcOrd="1" destOrd="0" presId="urn:microsoft.com/office/officeart/2018/5/layout/IconLeafLabelList"/>
    <dgm:cxn modelId="{1657F01F-75A6-4C09-B430-9D02D78C9650}" type="presParOf" srcId="{48CC801F-8120-491F-9990-5FDF91CE5C10}" destId="{C3F79808-EFEA-4872-9F0A-E23D4B031440}" srcOrd="2" destOrd="0" presId="urn:microsoft.com/office/officeart/2018/5/layout/IconLeafLabelList"/>
    <dgm:cxn modelId="{EC0423D8-0FF0-4605-972E-3A48E16E2CA0}" type="presParOf" srcId="{C3F79808-EFEA-4872-9F0A-E23D4B031440}" destId="{A019C1D6-CD59-4B38-8DF9-E15BB8408C6C}" srcOrd="0" destOrd="0" presId="urn:microsoft.com/office/officeart/2018/5/layout/IconLeafLabelList"/>
    <dgm:cxn modelId="{80D9A735-721E-434F-A444-28D7E6092626}" type="presParOf" srcId="{C3F79808-EFEA-4872-9F0A-E23D4B031440}" destId="{7B1C3E1C-5E1F-445E-84DC-6838A435DD0F}" srcOrd="1" destOrd="0" presId="urn:microsoft.com/office/officeart/2018/5/layout/IconLeafLabelList"/>
    <dgm:cxn modelId="{D04A82EB-CD38-41A9-A7B4-2CB7B652152E}" type="presParOf" srcId="{C3F79808-EFEA-4872-9F0A-E23D4B031440}" destId="{E799B7A3-14AB-4AB6-A561-F27F7F4497FE}" srcOrd="2" destOrd="0" presId="urn:microsoft.com/office/officeart/2018/5/layout/IconLeafLabelList"/>
    <dgm:cxn modelId="{2B0A3ADD-DBD8-4926-B6E6-18FC98A317D3}" type="presParOf" srcId="{C3F79808-EFEA-4872-9F0A-E23D4B031440}" destId="{8AC90F2F-528D-472E-8F02-BC4E853B6B3B}" srcOrd="3" destOrd="0" presId="urn:microsoft.com/office/officeart/2018/5/layout/IconLeafLabelList"/>
    <dgm:cxn modelId="{83D92DA8-1A36-4068-B764-EF295BFE64CC}" type="presParOf" srcId="{48CC801F-8120-491F-9990-5FDF91CE5C10}" destId="{A2A6F8E3-B3B3-4876-A702-4C64982A7AC2}" srcOrd="3" destOrd="0" presId="urn:microsoft.com/office/officeart/2018/5/layout/IconLeafLabelList"/>
    <dgm:cxn modelId="{2923267E-9B0E-40A7-AA32-D83BD0A7B1E4}" type="presParOf" srcId="{48CC801F-8120-491F-9990-5FDF91CE5C10}" destId="{24F36175-ED1B-448D-AC5B-C1D8CC4126BC}" srcOrd="4" destOrd="0" presId="urn:microsoft.com/office/officeart/2018/5/layout/IconLeafLabelList"/>
    <dgm:cxn modelId="{8E5F29BB-5124-4332-BAF5-980A62A7A407}" type="presParOf" srcId="{24F36175-ED1B-448D-AC5B-C1D8CC4126BC}" destId="{5CAA122F-5A95-4A10-9315-0A5F8967D97A}" srcOrd="0" destOrd="0" presId="urn:microsoft.com/office/officeart/2018/5/layout/IconLeafLabelList"/>
    <dgm:cxn modelId="{488E65A8-956A-444F-AB1B-296EB1535AC7}" type="presParOf" srcId="{24F36175-ED1B-448D-AC5B-C1D8CC4126BC}" destId="{FDC23FE5-2EB5-4062-A4EA-B414C9EEC1F8}" srcOrd="1" destOrd="0" presId="urn:microsoft.com/office/officeart/2018/5/layout/IconLeafLabelList"/>
    <dgm:cxn modelId="{4D4A8754-9D48-442F-8C35-0DE4D0DE6185}" type="presParOf" srcId="{24F36175-ED1B-448D-AC5B-C1D8CC4126BC}" destId="{D216FD21-6298-43F7-98C7-7E2601907215}" srcOrd="2" destOrd="0" presId="urn:microsoft.com/office/officeart/2018/5/layout/IconLeafLabelList"/>
    <dgm:cxn modelId="{C2492A64-C554-47FC-B961-C623B922D3BC}" type="presParOf" srcId="{24F36175-ED1B-448D-AC5B-C1D8CC4126BC}" destId="{28F8CC0B-06B5-45D3-8D70-2B33720CC39F}"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F68ABB2-D931-43FA-AB49-3CF0B7579CD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54423D-F6CF-4F1C-8CB2-397610DFA6FB}">
      <dgm:prSet custT="1"/>
      <dgm:spPr/>
      <dgm:t>
        <a:bodyPr/>
        <a:lstStyle/>
        <a:p>
          <a:pPr>
            <a:defRPr cap="all"/>
          </a:pPr>
          <a:r>
            <a:rPr lang="en-US" sz="1800" dirty="0">
              <a:solidFill>
                <a:schemeClr val="bg1"/>
              </a:solidFill>
            </a:rPr>
            <a:t>What is the effect of X on Y?</a:t>
          </a:r>
        </a:p>
      </dgm:t>
    </dgm:pt>
    <dgm:pt modelId="{887555E2-7BBF-431E-8B3B-89E5D26A4A87}" type="parTrans" cxnId="{CCE5A130-E0F8-4BDA-90BA-87471191E964}">
      <dgm:prSet/>
      <dgm:spPr/>
      <dgm:t>
        <a:bodyPr/>
        <a:lstStyle/>
        <a:p>
          <a:endParaRPr lang="en-US"/>
        </a:p>
      </dgm:t>
    </dgm:pt>
    <dgm:pt modelId="{DAE76447-FFD1-480E-8D6C-414B2C347C12}" type="sibTrans" cxnId="{CCE5A130-E0F8-4BDA-90BA-87471191E964}">
      <dgm:prSet/>
      <dgm:spPr/>
      <dgm:t>
        <a:bodyPr/>
        <a:lstStyle/>
        <a:p>
          <a:endParaRPr lang="en-US"/>
        </a:p>
      </dgm:t>
    </dgm:pt>
    <dgm:pt modelId="{63DD9918-D259-4578-9CA1-476ECFF1CBB8}">
      <dgm:prSet custT="1"/>
      <dgm:spPr/>
      <dgm:t>
        <a:bodyPr/>
        <a:lstStyle/>
        <a:p>
          <a:pPr>
            <a:defRPr cap="all"/>
          </a:pPr>
          <a:r>
            <a:rPr lang="en-US" sz="1800" dirty="0">
              <a:solidFill>
                <a:schemeClr val="bg1"/>
              </a:solidFill>
            </a:rPr>
            <a:t>What mechanisms explain this effect?</a:t>
          </a:r>
        </a:p>
      </dgm:t>
    </dgm:pt>
    <dgm:pt modelId="{00E9326D-B3C9-4A66-B87B-A183C76034E5}" type="parTrans" cxnId="{9407B557-9A6D-4228-9813-D5BCF8E1B263}">
      <dgm:prSet/>
      <dgm:spPr/>
      <dgm:t>
        <a:bodyPr/>
        <a:lstStyle/>
        <a:p>
          <a:endParaRPr lang="en-US"/>
        </a:p>
      </dgm:t>
    </dgm:pt>
    <dgm:pt modelId="{BC993722-4F8C-4DD3-B7BB-418BA1196228}" type="sibTrans" cxnId="{9407B557-9A6D-4228-9813-D5BCF8E1B263}">
      <dgm:prSet/>
      <dgm:spPr/>
      <dgm:t>
        <a:bodyPr/>
        <a:lstStyle/>
        <a:p>
          <a:endParaRPr lang="en-US"/>
        </a:p>
      </dgm:t>
    </dgm:pt>
    <dgm:pt modelId="{F40511F5-E2C9-4188-B22A-6D702AD1A9A5}">
      <dgm:prSet custT="1"/>
      <dgm:spPr/>
      <dgm:t>
        <a:bodyPr/>
        <a:lstStyle/>
        <a:p>
          <a:pPr>
            <a:defRPr cap="all"/>
          </a:pPr>
          <a:r>
            <a:rPr lang="en-US" sz="1800" dirty="0">
              <a:solidFill>
                <a:schemeClr val="bg1"/>
              </a:solidFill>
            </a:rPr>
            <a:t>How would policy influencing X affect Y?</a:t>
          </a:r>
        </a:p>
      </dgm:t>
    </dgm:pt>
    <dgm:pt modelId="{DCC27F4B-CE87-459D-AEBB-592468FC9711}" type="parTrans" cxnId="{ADBDDEEB-5A8D-46CE-B1B7-D8E39FFBE3C0}">
      <dgm:prSet/>
      <dgm:spPr/>
      <dgm:t>
        <a:bodyPr/>
        <a:lstStyle/>
        <a:p>
          <a:endParaRPr lang="en-US"/>
        </a:p>
      </dgm:t>
    </dgm:pt>
    <dgm:pt modelId="{10FE0C38-D05B-4FF9-815C-C5496B584BDE}" type="sibTrans" cxnId="{ADBDDEEB-5A8D-46CE-B1B7-D8E39FFBE3C0}">
      <dgm:prSet/>
      <dgm:spPr/>
      <dgm:t>
        <a:bodyPr/>
        <a:lstStyle/>
        <a:p>
          <a:endParaRPr lang="en-US"/>
        </a:p>
      </dgm:t>
    </dgm:pt>
    <dgm:pt modelId="{E1D29C3D-6375-461B-92D6-99106B84E2D7}" type="pres">
      <dgm:prSet presAssocID="{1F68ABB2-D931-43FA-AB49-3CF0B7579CD2}" presName="root" presStyleCnt="0">
        <dgm:presLayoutVars>
          <dgm:dir/>
          <dgm:resizeHandles val="exact"/>
        </dgm:presLayoutVars>
      </dgm:prSet>
      <dgm:spPr/>
    </dgm:pt>
    <dgm:pt modelId="{D359C3BD-6148-4630-8BC3-64E1BD570336}" type="pres">
      <dgm:prSet presAssocID="{D654423D-F6CF-4F1C-8CB2-397610DFA6FB}" presName="compNode" presStyleCnt="0"/>
      <dgm:spPr/>
    </dgm:pt>
    <dgm:pt modelId="{F34F24EE-948B-496A-A84D-F861A601FCF2}" type="pres">
      <dgm:prSet presAssocID="{D654423D-F6CF-4F1C-8CB2-397610DFA6FB}" presName="iconBgRect" presStyleLbl="bgShp" presStyleIdx="0" presStyleCnt="3"/>
      <dgm:spPr/>
    </dgm:pt>
    <dgm:pt modelId="{57727F63-978B-41A6-AB2E-C83B9DC5F885}" type="pres">
      <dgm:prSet presAssocID="{D654423D-F6CF-4F1C-8CB2-397610DFA6FB}"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ccept"/>
        </a:ext>
      </dgm:extLst>
    </dgm:pt>
    <dgm:pt modelId="{C4C2EAF2-90E8-4979-85BF-837D66921033}" type="pres">
      <dgm:prSet presAssocID="{D654423D-F6CF-4F1C-8CB2-397610DFA6FB}" presName="spaceRect" presStyleCnt="0"/>
      <dgm:spPr/>
    </dgm:pt>
    <dgm:pt modelId="{DC967CD6-526D-4BD0-99F5-6C2698E74D11}" type="pres">
      <dgm:prSet presAssocID="{D654423D-F6CF-4F1C-8CB2-397610DFA6FB}" presName="textRect" presStyleLbl="revTx" presStyleIdx="0" presStyleCnt="3">
        <dgm:presLayoutVars>
          <dgm:chMax val="1"/>
          <dgm:chPref val="1"/>
        </dgm:presLayoutVars>
      </dgm:prSet>
      <dgm:spPr/>
    </dgm:pt>
    <dgm:pt modelId="{0047023D-CA0B-43F5-B25B-0571D904A113}" type="pres">
      <dgm:prSet presAssocID="{DAE76447-FFD1-480E-8D6C-414B2C347C12}" presName="sibTrans" presStyleCnt="0"/>
      <dgm:spPr/>
    </dgm:pt>
    <dgm:pt modelId="{7C774AD6-F0A6-4A1B-A2E3-2101AE0345AE}" type="pres">
      <dgm:prSet presAssocID="{63DD9918-D259-4578-9CA1-476ECFF1CBB8}" presName="compNode" presStyleCnt="0"/>
      <dgm:spPr/>
    </dgm:pt>
    <dgm:pt modelId="{BF15CF91-5CFC-4E47-AD87-F6B707AE7B30}" type="pres">
      <dgm:prSet presAssocID="{63DD9918-D259-4578-9CA1-476ECFF1CBB8}" presName="iconBgRect" presStyleLbl="bgShp" presStyleIdx="1" presStyleCnt="3"/>
      <dgm:spPr/>
    </dgm:pt>
    <dgm:pt modelId="{4010E5B5-2F1E-4A50-A3FF-47A1410AC008}" type="pres">
      <dgm:prSet presAssocID="{63DD9918-D259-4578-9CA1-476ECFF1CBB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oter"/>
        </a:ext>
      </dgm:extLst>
    </dgm:pt>
    <dgm:pt modelId="{0ADBA961-B826-4BFE-A86A-B808882516D3}" type="pres">
      <dgm:prSet presAssocID="{63DD9918-D259-4578-9CA1-476ECFF1CBB8}" presName="spaceRect" presStyleCnt="0"/>
      <dgm:spPr/>
    </dgm:pt>
    <dgm:pt modelId="{06D02A51-C974-4E91-90B7-D5DD79A24144}" type="pres">
      <dgm:prSet presAssocID="{63DD9918-D259-4578-9CA1-476ECFF1CBB8}" presName="textRect" presStyleLbl="revTx" presStyleIdx="1" presStyleCnt="3">
        <dgm:presLayoutVars>
          <dgm:chMax val="1"/>
          <dgm:chPref val="1"/>
        </dgm:presLayoutVars>
      </dgm:prSet>
      <dgm:spPr/>
    </dgm:pt>
    <dgm:pt modelId="{E7DB1717-E81D-480A-8D45-7ED14BE2382B}" type="pres">
      <dgm:prSet presAssocID="{BC993722-4F8C-4DD3-B7BB-418BA1196228}" presName="sibTrans" presStyleCnt="0"/>
      <dgm:spPr/>
    </dgm:pt>
    <dgm:pt modelId="{563CDFC4-2537-4986-BEDE-A0E85C4E1E2C}" type="pres">
      <dgm:prSet presAssocID="{F40511F5-E2C9-4188-B22A-6D702AD1A9A5}" presName="compNode" presStyleCnt="0"/>
      <dgm:spPr/>
    </dgm:pt>
    <dgm:pt modelId="{C2FAFCCD-579B-4991-A849-7012DCC7713B}" type="pres">
      <dgm:prSet presAssocID="{F40511F5-E2C9-4188-B22A-6D702AD1A9A5}" presName="iconBgRect" presStyleLbl="bgShp" presStyleIdx="2" presStyleCnt="3"/>
      <dgm:spPr/>
    </dgm:pt>
    <dgm:pt modelId="{511FBC39-5A8D-4C91-8FDE-86D2FB970032}" type="pres">
      <dgm:prSet presAssocID="{F40511F5-E2C9-4188-B22A-6D702AD1A9A5}"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ngerprint"/>
        </a:ext>
      </dgm:extLst>
    </dgm:pt>
    <dgm:pt modelId="{C871E568-4CE7-4613-B5F9-D10BA03D0A50}" type="pres">
      <dgm:prSet presAssocID="{F40511F5-E2C9-4188-B22A-6D702AD1A9A5}" presName="spaceRect" presStyleCnt="0"/>
      <dgm:spPr/>
    </dgm:pt>
    <dgm:pt modelId="{81E67826-5AE0-4EB3-9EF6-B150FB22DB7F}" type="pres">
      <dgm:prSet presAssocID="{F40511F5-E2C9-4188-B22A-6D702AD1A9A5}" presName="textRect" presStyleLbl="revTx" presStyleIdx="2" presStyleCnt="3">
        <dgm:presLayoutVars>
          <dgm:chMax val="1"/>
          <dgm:chPref val="1"/>
        </dgm:presLayoutVars>
      </dgm:prSet>
      <dgm:spPr/>
    </dgm:pt>
  </dgm:ptLst>
  <dgm:cxnLst>
    <dgm:cxn modelId="{CCE5A130-E0F8-4BDA-90BA-87471191E964}" srcId="{1F68ABB2-D931-43FA-AB49-3CF0B7579CD2}" destId="{D654423D-F6CF-4F1C-8CB2-397610DFA6FB}" srcOrd="0" destOrd="0" parTransId="{887555E2-7BBF-431E-8B3B-89E5D26A4A87}" sibTransId="{DAE76447-FFD1-480E-8D6C-414B2C347C12}"/>
    <dgm:cxn modelId="{64BC8252-B95C-49E8-ACB8-F090CF17667C}" type="presOf" srcId="{1F68ABB2-D931-43FA-AB49-3CF0B7579CD2}" destId="{E1D29C3D-6375-461B-92D6-99106B84E2D7}" srcOrd="0" destOrd="0" presId="urn:microsoft.com/office/officeart/2018/5/layout/IconCircleLabelList"/>
    <dgm:cxn modelId="{9407B557-9A6D-4228-9813-D5BCF8E1B263}" srcId="{1F68ABB2-D931-43FA-AB49-3CF0B7579CD2}" destId="{63DD9918-D259-4578-9CA1-476ECFF1CBB8}" srcOrd="1" destOrd="0" parTransId="{00E9326D-B3C9-4A66-B87B-A183C76034E5}" sibTransId="{BC993722-4F8C-4DD3-B7BB-418BA1196228}"/>
    <dgm:cxn modelId="{3C6AF283-7473-4C40-A46A-C6A3036D6A0C}" type="presOf" srcId="{F40511F5-E2C9-4188-B22A-6D702AD1A9A5}" destId="{81E67826-5AE0-4EB3-9EF6-B150FB22DB7F}" srcOrd="0" destOrd="0" presId="urn:microsoft.com/office/officeart/2018/5/layout/IconCircleLabelList"/>
    <dgm:cxn modelId="{80544486-67D8-4260-BEBF-16AEB3B4BC58}" type="presOf" srcId="{D654423D-F6CF-4F1C-8CB2-397610DFA6FB}" destId="{DC967CD6-526D-4BD0-99F5-6C2698E74D11}" srcOrd="0" destOrd="0" presId="urn:microsoft.com/office/officeart/2018/5/layout/IconCircleLabelList"/>
    <dgm:cxn modelId="{DBEE0FD3-4482-4BAC-A9ED-56ACEEB0E5FD}" type="presOf" srcId="{63DD9918-D259-4578-9CA1-476ECFF1CBB8}" destId="{06D02A51-C974-4E91-90B7-D5DD79A24144}" srcOrd="0" destOrd="0" presId="urn:microsoft.com/office/officeart/2018/5/layout/IconCircleLabelList"/>
    <dgm:cxn modelId="{ADBDDEEB-5A8D-46CE-B1B7-D8E39FFBE3C0}" srcId="{1F68ABB2-D931-43FA-AB49-3CF0B7579CD2}" destId="{F40511F5-E2C9-4188-B22A-6D702AD1A9A5}" srcOrd="2" destOrd="0" parTransId="{DCC27F4B-CE87-459D-AEBB-592468FC9711}" sibTransId="{10FE0C38-D05B-4FF9-815C-C5496B584BDE}"/>
    <dgm:cxn modelId="{95CA7E05-B2DE-4DEB-8694-CF14F57E65A9}" type="presParOf" srcId="{E1D29C3D-6375-461B-92D6-99106B84E2D7}" destId="{D359C3BD-6148-4630-8BC3-64E1BD570336}" srcOrd="0" destOrd="0" presId="urn:microsoft.com/office/officeart/2018/5/layout/IconCircleLabelList"/>
    <dgm:cxn modelId="{973228F5-1866-45FD-A1FE-824BE30E5E48}" type="presParOf" srcId="{D359C3BD-6148-4630-8BC3-64E1BD570336}" destId="{F34F24EE-948B-496A-A84D-F861A601FCF2}" srcOrd="0" destOrd="0" presId="urn:microsoft.com/office/officeart/2018/5/layout/IconCircleLabelList"/>
    <dgm:cxn modelId="{3E27737D-5405-48A3-84E1-B8281C4A5604}" type="presParOf" srcId="{D359C3BD-6148-4630-8BC3-64E1BD570336}" destId="{57727F63-978B-41A6-AB2E-C83B9DC5F885}" srcOrd="1" destOrd="0" presId="urn:microsoft.com/office/officeart/2018/5/layout/IconCircleLabelList"/>
    <dgm:cxn modelId="{10B22A0A-7D63-4BDD-B773-8C2CEC1EBCA8}" type="presParOf" srcId="{D359C3BD-6148-4630-8BC3-64E1BD570336}" destId="{C4C2EAF2-90E8-4979-85BF-837D66921033}" srcOrd="2" destOrd="0" presId="urn:microsoft.com/office/officeart/2018/5/layout/IconCircleLabelList"/>
    <dgm:cxn modelId="{3719F229-CD6B-45A4-A5A2-CDA1BF4B4581}" type="presParOf" srcId="{D359C3BD-6148-4630-8BC3-64E1BD570336}" destId="{DC967CD6-526D-4BD0-99F5-6C2698E74D11}" srcOrd="3" destOrd="0" presId="urn:microsoft.com/office/officeart/2018/5/layout/IconCircleLabelList"/>
    <dgm:cxn modelId="{56A5A866-4A9E-43E7-9FDB-7EE3C7C9F1E6}" type="presParOf" srcId="{E1D29C3D-6375-461B-92D6-99106B84E2D7}" destId="{0047023D-CA0B-43F5-B25B-0571D904A113}" srcOrd="1" destOrd="0" presId="urn:microsoft.com/office/officeart/2018/5/layout/IconCircleLabelList"/>
    <dgm:cxn modelId="{B27F1E74-7A24-4DF6-A85C-2D8407D0C179}" type="presParOf" srcId="{E1D29C3D-6375-461B-92D6-99106B84E2D7}" destId="{7C774AD6-F0A6-4A1B-A2E3-2101AE0345AE}" srcOrd="2" destOrd="0" presId="urn:microsoft.com/office/officeart/2018/5/layout/IconCircleLabelList"/>
    <dgm:cxn modelId="{A67FBD98-B5A1-4D90-966F-7063DDF4C652}" type="presParOf" srcId="{7C774AD6-F0A6-4A1B-A2E3-2101AE0345AE}" destId="{BF15CF91-5CFC-4E47-AD87-F6B707AE7B30}" srcOrd="0" destOrd="0" presId="urn:microsoft.com/office/officeart/2018/5/layout/IconCircleLabelList"/>
    <dgm:cxn modelId="{B10C5A61-208C-4D07-AF25-576141986BB4}" type="presParOf" srcId="{7C774AD6-F0A6-4A1B-A2E3-2101AE0345AE}" destId="{4010E5B5-2F1E-4A50-A3FF-47A1410AC008}" srcOrd="1" destOrd="0" presId="urn:microsoft.com/office/officeart/2018/5/layout/IconCircleLabelList"/>
    <dgm:cxn modelId="{FA60D05B-C31C-4031-A84A-F9424449C91A}" type="presParOf" srcId="{7C774AD6-F0A6-4A1B-A2E3-2101AE0345AE}" destId="{0ADBA961-B826-4BFE-A86A-B808882516D3}" srcOrd="2" destOrd="0" presId="urn:microsoft.com/office/officeart/2018/5/layout/IconCircleLabelList"/>
    <dgm:cxn modelId="{2D2BEA18-7CBB-4A21-B775-C14247EC23C6}" type="presParOf" srcId="{7C774AD6-F0A6-4A1B-A2E3-2101AE0345AE}" destId="{06D02A51-C974-4E91-90B7-D5DD79A24144}" srcOrd="3" destOrd="0" presId="urn:microsoft.com/office/officeart/2018/5/layout/IconCircleLabelList"/>
    <dgm:cxn modelId="{3A92C457-36AE-4AD9-838F-B8B58A28BE2E}" type="presParOf" srcId="{E1D29C3D-6375-461B-92D6-99106B84E2D7}" destId="{E7DB1717-E81D-480A-8D45-7ED14BE2382B}" srcOrd="3" destOrd="0" presId="urn:microsoft.com/office/officeart/2018/5/layout/IconCircleLabelList"/>
    <dgm:cxn modelId="{13270FAC-5B2A-4F30-9CF6-B1219AD073CB}" type="presParOf" srcId="{E1D29C3D-6375-461B-92D6-99106B84E2D7}" destId="{563CDFC4-2537-4986-BEDE-A0E85C4E1E2C}" srcOrd="4" destOrd="0" presId="urn:microsoft.com/office/officeart/2018/5/layout/IconCircleLabelList"/>
    <dgm:cxn modelId="{3D169B41-7994-4F82-90D0-AFAD6B22FC0F}" type="presParOf" srcId="{563CDFC4-2537-4986-BEDE-A0E85C4E1E2C}" destId="{C2FAFCCD-579B-4991-A849-7012DCC7713B}" srcOrd="0" destOrd="0" presId="urn:microsoft.com/office/officeart/2018/5/layout/IconCircleLabelList"/>
    <dgm:cxn modelId="{0D79B8B6-7BDF-43D4-B88C-1F4CE5B0BD0F}" type="presParOf" srcId="{563CDFC4-2537-4986-BEDE-A0E85C4E1E2C}" destId="{511FBC39-5A8D-4C91-8FDE-86D2FB970032}" srcOrd="1" destOrd="0" presId="urn:microsoft.com/office/officeart/2018/5/layout/IconCircleLabelList"/>
    <dgm:cxn modelId="{325F9423-D831-4EEC-AD75-813C43B58F24}" type="presParOf" srcId="{563CDFC4-2537-4986-BEDE-A0E85C4E1E2C}" destId="{C871E568-4CE7-4613-B5F9-D10BA03D0A50}" srcOrd="2" destOrd="0" presId="urn:microsoft.com/office/officeart/2018/5/layout/IconCircleLabelList"/>
    <dgm:cxn modelId="{46D9D474-A442-40F6-A6EB-476DFECF4B12}" type="presParOf" srcId="{563CDFC4-2537-4986-BEDE-A0E85C4E1E2C}" destId="{81E67826-5AE0-4EB3-9EF6-B150FB22DB7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9FE8088-95AB-43A3-874B-BD5864431DB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E539D72-0277-4131-82EA-FE208FD6B93A}">
      <dgm:prSet custT="1"/>
      <dgm:spPr/>
      <dgm:t>
        <a:bodyPr/>
        <a:lstStyle/>
        <a:p>
          <a:pPr>
            <a:defRPr cap="all"/>
          </a:pPr>
          <a:r>
            <a:rPr lang="en-US" sz="1800" dirty="0"/>
            <a:t>1. What is your research question? What is your ideal experiment?</a:t>
          </a:r>
        </a:p>
      </dgm:t>
    </dgm:pt>
    <dgm:pt modelId="{BF13107B-EDB7-4C6C-8DBF-1F2CDB5CBF4A}" type="parTrans" cxnId="{C7C755BC-7EEE-4CC1-A268-D707BACBC2E5}">
      <dgm:prSet/>
      <dgm:spPr/>
      <dgm:t>
        <a:bodyPr/>
        <a:lstStyle/>
        <a:p>
          <a:endParaRPr lang="en-US"/>
        </a:p>
      </dgm:t>
    </dgm:pt>
    <dgm:pt modelId="{1546A2F7-945F-46F6-9BD0-847D0A7599FB}" type="sibTrans" cxnId="{C7C755BC-7EEE-4CC1-A268-D707BACBC2E5}">
      <dgm:prSet/>
      <dgm:spPr/>
      <dgm:t>
        <a:bodyPr/>
        <a:lstStyle/>
        <a:p>
          <a:endParaRPr lang="en-US"/>
        </a:p>
      </dgm:t>
    </dgm:pt>
    <dgm:pt modelId="{31C01BCA-42D2-46EC-9ED6-E1C3E93EEEF3}">
      <dgm:prSet/>
      <dgm:spPr/>
      <dgm:t>
        <a:bodyPr/>
        <a:lstStyle/>
        <a:p>
          <a:pPr>
            <a:defRPr cap="all"/>
          </a:pPr>
          <a:r>
            <a:rPr lang="en-US"/>
            <a:t>2. Do you want to describe, predict, or explain?</a:t>
          </a:r>
        </a:p>
      </dgm:t>
    </dgm:pt>
    <dgm:pt modelId="{1A6A4FE4-12DF-4AB0-B202-09238CA39A16}" type="parTrans" cxnId="{E4376AFD-3CB6-470B-A492-EE3E645919A9}">
      <dgm:prSet/>
      <dgm:spPr/>
      <dgm:t>
        <a:bodyPr/>
        <a:lstStyle/>
        <a:p>
          <a:endParaRPr lang="en-US"/>
        </a:p>
      </dgm:t>
    </dgm:pt>
    <dgm:pt modelId="{CF054FC2-52D6-4ADA-9198-E1C5FDF2D2F8}" type="sibTrans" cxnId="{E4376AFD-3CB6-470B-A492-EE3E645919A9}">
      <dgm:prSet/>
      <dgm:spPr/>
      <dgm:t>
        <a:bodyPr/>
        <a:lstStyle/>
        <a:p>
          <a:endParaRPr lang="en-US"/>
        </a:p>
      </dgm:t>
    </dgm:pt>
    <dgm:pt modelId="{70224361-E78C-458F-BA70-26027BE27020}">
      <dgm:prSet/>
      <dgm:spPr/>
      <dgm:t>
        <a:bodyPr/>
        <a:lstStyle/>
        <a:p>
          <a:pPr>
            <a:defRPr cap="all"/>
          </a:pPr>
          <a:r>
            <a:rPr lang="en-US" dirty="0"/>
            <a:t>3. What data and variation do you have?</a:t>
          </a:r>
        </a:p>
      </dgm:t>
    </dgm:pt>
    <dgm:pt modelId="{BE9BA61C-F8DE-426C-9760-139D8DFFEAAA}" type="parTrans" cxnId="{3BC95EDC-673E-45A1-B091-59351A3453D4}">
      <dgm:prSet/>
      <dgm:spPr/>
      <dgm:t>
        <a:bodyPr/>
        <a:lstStyle/>
        <a:p>
          <a:endParaRPr lang="en-US"/>
        </a:p>
      </dgm:t>
    </dgm:pt>
    <dgm:pt modelId="{E94E4DBA-7442-453A-AE15-35266AF4DC5A}" type="sibTrans" cxnId="{3BC95EDC-673E-45A1-B091-59351A3453D4}">
      <dgm:prSet/>
      <dgm:spPr/>
      <dgm:t>
        <a:bodyPr/>
        <a:lstStyle/>
        <a:p>
          <a:endParaRPr lang="en-US"/>
        </a:p>
      </dgm:t>
    </dgm:pt>
    <dgm:pt modelId="{B450AA7E-0FB1-4E9D-936F-6918A46AAE42}">
      <dgm:prSet/>
      <dgm:spPr/>
      <dgm:t>
        <a:bodyPr/>
        <a:lstStyle/>
        <a:p>
          <a:pPr>
            <a:defRPr cap="all"/>
          </a:pPr>
          <a:r>
            <a:rPr lang="en-US"/>
            <a:t>4. What assumptions can you justify?</a:t>
          </a:r>
        </a:p>
      </dgm:t>
    </dgm:pt>
    <dgm:pt modelId="{3966BDE8-AB2B-4158-98D8-222574723C67}" type="parTrans" cxnId="{64CD6696-AF25-46A7-828E-5F8733246499}">
      <dgm:prSet/>
      <dgm:spPr/>
      <dgm:t>
        <a:bodyPr/>
        <a:lstStyle/>
        <a:p>
          <a:endParaRPr lang="en-US"/>
        </a:p>
      </dgm:t>
    </dgm:pt>
    <dgm:pt modelId="{20DA8612-3C25-48A9-A17E-192DB0ABECFF}" type="sibTrans" cxnId="{64CD6696-AF25-46A7-828E-5F8733246499}">
      <dgm:prSet/>
      <dgm:spPr/>
      <dgm:t>
        <a:bodyPr/>
        <a:lstStyle/>
        <a:p>
          <a:endParaRPr lang="en-US"/>
        </a:p>
      </dgm:t>
    </dgm:pt>
    <dgm:pt modelId="{B4A14F11-7882-41C0-A4C1-849089731A30}">
      <dgm:prSet/>
      <dgm:spPr/>
      <dgm:t>
        <a:bodyPr/>
        <a:lstStyle/>
        <a:p>
          <a:pPr>
            <a:defRPr cap="all"/>
          </a:pPr>
          <a:r>
            <a:rPr lang="en-US"/>
            <a:t>5. What is the policy goal?</a:t>
          </a:r>
        </a:p>
      </dgm:t>
    </dgm:pt>
    <dgm:pt modelId="{C5F6C310-9403-43FC-94D5-0A14CEE9FB02}" type="parTrans" cxnId="{599E52D7-B4B6-46DE-8227-37F5FD37F02F}">
      <dgm:prSet/>
      <dgm:spPr/>
      <dgm:t>
        <a:bodyPr/>
        <a:lstStyle/>
        <a:p>
          <a:endParaRPr lang="en-US"/>
        </a:p>
      </dgm:t>
    </dgm:pt>
    <dgm:pt modelId="{79C73AF3-1E2F-4BBD-A4A4-B71D8310BCD1}" type="sibTrans" cxnId="{599E52D7-B4B6-46DE-8227-37F5FD37F02F}">
      <dgm:prSet/>
      <dgm:spPr/>
      <dgm:t>
        <a:bodyPr/>
        <a:lstStyle/>
        <a:p>
          <a:endParaRPr lang="en-US"/>
        </a:p>
      </dgm:t>
    </dgm:pt>
    <dgm:pt modelId="{4C000C75-3CF2-4483-A4E5-B85EF21ADC18}" type="pres">
      <dgm:prSet presAssocID="{79FE8088-95AB-43A3-874B-BD5864431DBF}" presName="root" presStyleCnt="0">
        <dgm:presLayoutVars>
          <dgm:dir/>
          <dgm:resizeHandles val="exact"/>
        </dgm:presLayoutVars>
      </dgm:prSet>
      <dgm:spPr/>
    </dgm:pt>
    <dgm:pt modelId="{803B6281-4801-4572-A3C9-0FF488CB5848}" type="pres">
      <dgm:prSet presAssocID="{FE539D72-0277-4131-82EA-FE208FD6B93A}" presName="compNode" presStyleCnt="0"/>
      <dgm:spPr/>
    </dgm:pt>
    <dgm:pt modelId="{D78AB590-8DD4-4C74-BA05-D7CDB9C9BDD0}" type="pres">
      <dgm:prSet presAssocID="{FE539D72-0277-4131-82EA-FE208FD6B93A}" presName="iconBgRect" presStyleLbl="bgShp" presStyleIdx="0" presStyleCnt="5"/>
      <dgm:spPr>
        <a:prstGeom prst="round2DiagRect">
          <a:avLst>
            <a:gd name="adj1" fmla="val 29727"/>
            <a:gd name="adj2" fmla="val 0"/>
          </a:avLst>
        </a:prstGeom>
      </dgm:spPr>
    </dgm:pt>
    <dgm:pt modelId="{A5BC1F22-EB9D-4E2B-A03D-9BD49FAC4043}" type="pres">
      <dgm:prSet presAssocID="{FE539D72-0277-4131-82EA-FE208FD6B93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68FFC053-6C2C-4A37-B6B8-1A24D10231B2}" type="pres">
      <dgm:prSet presAssocID="{FE539D72-0277-4131-82EA-FE208FD6B93A}" presName="spaceRect" presStyleCnt="0"/>
      <dgm:spPr/>
    </dgm:pt>
    <dgm:pt modelId="{08D93831-29FC-49E8-9C5E-706DF57508AE}" type="pres">
      <dgm:prSet presAssocID="{FE539D72-0277-4131-82EA-FE208FD6B93A}" presName="textRect" presStyleLbl="revTx" presStyleIdx="0" presStyleCnt="5">
        <dgm:presLayoutVars>
          <dgm:chMax val="1"/>
          <dgm:chPref val="1"/>
        </dgm:presLayoutVars>
      </dgm:prSet>
      <dgm:spPr/>
    </dgm:pt>
    <dgm:pt modelId="{44A53E66-E260-4C00-952A-5E7E389E625A}" type="pres">
      <dgm:prSet presAssocID="{1546A2F7-945F-46F6-9BD0-847D0A7599FB}" presName="sibTrans" presStyleCnt="0"/>
      <dgm:spPr/>
    </dgm:pt>
    <dgm:pt modelId="{789780F9-FEC4-4B78-9CB1-781D9FEBDC38}" type="pres">
      <dgm:prSet presAssocID="{31C01BCA-42D2-46EC-9ED6-E1C3E93EEEF3}" presName="compNode" presStyleCnt="0"/>
      <dgm:spPr/>
    </dgm:pt>
    <dgm:pt modelId="{10CB323D-8BEE-4E0A-B9A6-BB9AF2B57AC0}" type="pres">
      <dgm:prSet presAssocID="{31C01BCA-42D2-46EC-9ED6-E1C3E93EEEF3}" presName="iconBgRect" presStyleLbl="bgShp" presStyleIdx="1" presStyleCnt="5"/>
      <dgm:spPr>
        <a:prstGeom prst="round2DiagRect">
          <a:avLst>
            <a:gd name="adj1" fmla="val 29727"/>
            <a:gd name="adj2" fmla="val 0"/>
          </a:avLst>
        </a:prstGeom>
      </dgm:spPr>
    </dgm:pt>
    <dgm:pt modelId="{68C8E821-DAA9-4096-B94C-5683AA05D416}" type="pres">
      <dgm:prSet presAssocID="{31C01BCA-42D2-46EC-9ED6-E1C3E93EEEF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316476F8-52CB-43DF-A3F9-5140BEC6BB0E}" type="pres">
      <dgm:prSet presAssocID="{31C01BCA-42D2-46EC-9ED6-E1C3E93EEEF3}" presName="spaceRect" presStyleCnt="0"/>
      <dgm:spPr/>
    </dgm:pt>
    <dgm:pt modelId="{7EFF054D-53EB-4C39-AD4C-1D9C5B2C17C4}" type="pres">
      <dgm:prSet presAssocID="{31C01BCA-42D2-46EC-9ED6-E1C3E93EEEF3}" presName="textRect" presStyleLbl="revTx" presStyleIdx="1" presStyleCnt="5">
        <dgm:presLayoutVars>
          <dgm:chMax val="1"/>
          <dgm:chPref val="1"/>
        </dgm:presLayoutVars>
      </dgm:prSet>
      <dgm:spPr/>
    </dgm:pt>
    <dgm:pt modelId="{A9EEBC65-F257-4CAA-AE5A-72AD13E48F6B}" type="pres">
      <dgm:prSet presAssocID="{CF054FC2-52D6-4ADA-9198-E1C5FDF2D2F8}" presName="sibTrans" presStyleCnt="0"/>
      <dgm:spPr/>
    </dgm:pt>
    <dgm:pt modelId="{7752EDA2-6D7A-4329-9745-B433A158351C}" type="pres">
      <dgm:prSet presAssocID="{70224361-E78C-458F-BA70-26027BE27020}" presName="compNode" presStyleCnt="0"/>
      <dgm:spPr/>
    </dgm:pt>
    <dgm:pt modelId="{B86E754B-E76B-4FB1-BB96-2132CB5D2EF4}" type="pres">
      <dgm:prSet presAssocID="{70224361-E78C-458F-BA70-26027BE27020}" presName="iconBgRect" presStyleLbl="bgShp" presStyleIdx="2" presStyleCnt="5"/>
      <dgm:spPr>
        <a:prstGeom prst="round2DiagRect">
          <a:avLst>
            <a:gd name="adj1" fmla="val 29727"/>
            <a:gd name="adj2" fmla="val 0"/>
          </a:avLst>
        </a:prstGeom>
      </dgm:spPr>
    </dgm:pt>
    <dgm:pt modelId="{313FD225-4A45-4EC9-A1BA-9D2568BCAEC6}" type="pres">
      <dgm:prSet presAssocID="{70224361-E78C-458F-BA70-26027BE2702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udience"/>
        </a:ext>
      </dgm:extLst>
    </dgm:pt>
    <dgm:pt modelId="{DAB959FC-907B-41C0-8DD3-C18D4F9748A0}" type="pres">
      <dgm:prSet presAssocID="{70224361-E78C-458F-BA70-26027BE27020}" presName="spaceRect" presStyleCnt="0"/>
      <dgm:spPr/>
    </dgm:pt>
    <dgm:pt modelId="{418C91DE-0B7C-4B48-BFE5-31D56D70F6BC}" type="pres">
      <dgm:prSet presAssocID="{70224361-E78C-458F-BA70-26027BE27020}" presName="textRect" presStyleLbl="revTx" presStyleIdx="2" presStyleCnt="5">
        <dgm:presLayoutVars>
          <dgm:chMax val="1"/>
          <dgm:chPref val="1"/>
        </dgm:presLayoutVars>
      </dgm:prSet>
      <dgm:spPr/>
    </dgm:pt>
    <dgm:pt modelId="{EF8941B7-BC1A-4837-8673-D5038527EF25}" type="pres">
      <dgm:prSet presAssocID="{E94E4DBA-7442-453A-AE15-35266AF4DC5A}" presName="sibTrans" presStyleCnt="0"/>
      <dgm:spPr/>
    </dgm:pt>
    <dgm:pt modelId="{E011A367-D899-494D-9193-33D256FECE18}" type="pres">
      <dgm:prSet presAssocID="{B450AA7E-0FB1-4E9D-936F-6918A46AAE42}" presName="compNode" presStyleCnt="0"/>
      <dgm:spPr/>
    </dgm:pt>
    <dgm:pt modelId="{99C32FEA-3E5B-4935-96E8-AA5DECE94A61}" type="pres">
      <dgm:prSet presAssocID="{B450AA7E-0FB1-4E9D-936F-6918A46AAE42}" presName="iconBgRect" presStyleLbl="bgShp" presStyleIdx="3" presStyleCnt="5"/>
      <dgm:spPr>
        <a:prstGeom prst="round2DiagRect">
          <a:avLst>
            <a:gd name="adj1" fmla="val 29727"/>
            <a:gd name="adj2" fmla="val 0"/>
          </a:avLst>
        </a:prstGeom>
      </dgm:spPr>
    </dgm:pt>
    <dgm:pt modelId="{8BF64AFC-0039-4308-9B66-64CB7FB4274A}" type="pres">
      <dgm:prSet presAssocID="{B450AA7E-0FB1-4E9D-936F-6918A46AAE4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2C2AA079-FEB8-4032-87C6-67A81FDE42D0}" type="pres">
      <dgm:prSet presAssocID="{B450AA7E-0FB1-4E9D-936F-6918A46AAE42}" presName="spaceRect" presStyleCnt="0"/>
      <dgm:spPr/>
    </dgm:pt>
    <dgm:pt modelId="{504268BE-DCE2-42C8-AB80-28E6264782D5}" type="pres">
      <dgm:prSet presAssocID="{B450AA7E-0FB1-4E9D-936F-6918A46AAE42}" presName="textRect" presStyleLbl="revTx" presStyleIdx="3" presStyleCnt="5">
        <dgm:presLayoutVars>
          <dgm:chMax val="1"/>
          <dgm:chPref val="1"/>
        </dgm:presLayoutVars>
      </dgm:prSet>
      <dgm:spPr/>
    </dgm:pt>
    <dgm:pt modelId="{8D08CECA-876E-4ECE-AC4D-5F6BFA879880}" type="pres">
      <dgm:prSet presAssocID="{20DA8612-3C25-48A9-A17E-192DB0ABECFF}" presName="sibTrans" presStyleCnt="0"/>
      <dgm:spPr/>
    </dgm:pt>
    <dgm:pt modelId="{60B4141C-6142-4A21-9309-328FBE14003D}" type="pres">
      <dgm:prSet presAssocID="{B4A14F11-7882-41C0-A4C1-849089731A30}" presName="compNode" presStyleCnt="0"/>
      <dgm:spPr/>
    </dgm:pt>
    <dgm:pt modelId="{00EFE217-841E-4ABD-A88E-811D78288E61}" type="pres">
      <dgm:prSet presAssocID="{B4A14F11-7882-41C0-A4C1-849089731A30}" presName="iconBgRect" presStyleLbl="bgShp" presStyleIdx="4" presStyleCnt="5"/>
      <dgm:spPr>
        <a:prstGeom prst="round2DiagRect">
          <a:avLst>
            <a:gd name="adj1" fmla="val 29727"/>
            <a:gd name="adj2" fmla="val 0"/>
          </a:avLst>
        </a:prstGeom>
      </dgm:spPr>
    </dgm:pt>
    <dgm:pt modelId="{B2C14E18-E3A6-4DDC-B4D0-2845115138A0}" type="pres">
      <dgm:prSet presAssocID="{B4A14F11-7882-41C0-A4C1-849089731A3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ullseye"/>
        </a:ext>
      </dgm:extLst>
    </dgm:pt>
    <dgm:pt modelId="{ACB07D10-22F6-415A-8297-C66E23B305A1}" type="pres">
      <dgm:prSet presAssocID="{B4A14F11-7882-41C0-A4C1-849089731A30}" presName="spaceRect" presStyleCnt="0"/>
      <dgm:spPr/>
    </dgm:pt>
    <dgm:pt modelId="{8A2C4BE6-9CE9-4AA8-B5BF-DB0A28B9FBEF}" type="pres">
      <dgm:prSet presAssocID="{B4A14F11-7882-41C0-A4C1-849089731A30}" presName="textRect" presStyleLbl="revTx" presStyleIdx="4" presStyleCnt="5">
        <dgm:presLayoutVars>
          <dgm:chMax val="1"/>
          <dgm:chPref val="1"/>
        </dgm:presLayoutVars>
      </dgm:prSet>
      <dgm:spPr/>
    </dgm:pt>
  </dgm:ptLst>
  <dgm:cxnLst>
    <dgm:cxn modelId="{01A1C938-3FB8-49E0-A125-C1FAEFEEEAA7}" type="presOf" srcId="{FE539D72-0277-4131-82EA-FE208FD6B93A}" destId="{08D93831-29FC-49E8-9C5E-706DF57508AE}" srcOrd="0" destOrd="0" presId="urn:microsoft.com/office/officeart/2018/5/layout/IconLeafLabelList"/>
    <dgm:cxn modelId="{23303965-FEBA-407A-8F12-CD8C234594B6}" type="presOf" srcId="{70224361-E78C-458F-BA70-26027BE27020}" destId="{418C91DE-0B7C-4B48-BFE5-31D56D70F6BC}" srcOrd="0" destOrd="0" presId="urn:microsoft.com/office/officeart/2018/5/layout/IconLeafLabelList"/>
    <dgm:cxn modelId="{405E2882-A3D5-4417-88E6-55690ACFA672}" type="presOf" srcId="{B4A14F11-7882-41C0-A4C1-849089731A30}" destId="{8A2C4BE6-9CE9-4AA8-B5BF-DB0A28B9FBEF}" srcOrd="0" destOrd="0" presId="urn:microsoft.com/office/officeart/2018/5/layout/IconLeafLabelList"/>
    <dgm:cxn modelId="{F5853F85-FBC4-45B4-BC2F-23CB6C570226}" type="presOf" srcId="{79FE8088-95AB-43A3-874B-BD5864431DBF}" destId="{4C000C75-3CF2-4483-A4E5-B85EF21ADC18}" srcOrd="0" destOrd="0" presId="urn:microsoft.com/office/officeart/2018/5/layout/IconLeafLabelList"/>
    <dgm:cxn modelId="{64CD6696-AF25-46A7-828E-5F8733246499}" srcId="{79FE8088-95AB-43A3-874B-BD5864431DBF}" destId="{B450AA7E-0FB1-4E9D-936F-6918A46AAE42}" srcOrd="3" destOrd="0" parTransId="{3966BDE8-AB2B-4158-98D8-222574723C67}" sibTransId="{20DA8612-3C25-48A9-A17E-192DB0ABECFF}"/>
    <dgm:cxn modelId="{16162BA7-16BD-42B3-8A14-05213FBD4171}" type="presOf" srcId="{B450AA7E-0FB1-4E9D-936F-6918A46AAE42}" destId="{504268BE-DCE2-42C8-AB80-28E6264782D5}" srcOrd="0" destOrd="0" presId="urn:microsoft.com/office/officeart/2018/5/layout/IconLeafLabelList"/>
    <dgm:cxn modelId="{591970B4-9908-4E53-A925-FAFED0FB8A86}" type="presOf" srcId="{31C01BCA-42D2-46EC-9ED6-E1C3E93EEEF3}" destId="{7EFF054D-53EB-4C39-AD4C-1D9C5B2C17C4}" srcOrd="0" destOrd="0" presId="urn:microsoft.com/office/officeart/2018/5/layout/IconLeafLabelList"/>
    <dgm:cxn modelId="{C7C755BC-7EEE-4CC1-A268-D707BACBC2E5}" srcId="{79FE8088-95AB-43A3-874B-BD5864431DBF}" destId="{FE539D72-0277-4131-82EA-FE208FD6B93A}" srcOrd="0" destOrd="0" parTransId="{BF13107B-EDB7-4C6C-8DBF-1F2CDB5CBF4A}" sibTransId="{1546A2F7-945F-46F6-9BD0-847D0A7599FB}"/>
    <dgm:cxn modelId="{599E52D7-B4B6-46DE-8227-37F5FD37F02F}" srcId="{79FE8088-95AB-43A3-874B-BD5864431DBF}" destId="{B4A14F11-7882-41C0-A4C1-849089731A30}" srcOrd="4" destOrd="0" parTransId="{C5F6C310-9403-43FC-94D5-0A14CEE9FB02}" sibTransId="{79C73AF3-1E2F-4BBD-A4A4-B71D8310BCD1}"/>
    <dgm:cxn modelId="{3BC95EDC-673E-45A1-B091-59351A3453D4}" srcId="{79FE8088-95AB-43A3-874B-BD5864431DBF}" destId="{70224361-E78C-458F-BA70-26027BE27020}" srcOrd="2" destOrd="0" parTransId="{BE9BA61C-F8DE-426C-9760-139D8DFFEAAA}" sibTransId="{E94E4DBA-7442-453A-AE15-35266AF4DC5A}"/>
    <dgm:cxn modelId="{E4376AFD-3CB6-470B-A492-EE3E645919A9}" srcId="{79FE8088-95AB-43A3-874B-BD5864431DBF}" destId="{31C01BCA-42D2-46EC-9ED6-E1C3E93EEEF3}" srcOrd="1" destOrd="0" parTransId="{1A6A4FE4-12DF-4AB0-B202-09238CA39A16}" sibTransId="{CF054FC2-52D6-4ADA-9198-E1C5FDF2D2F8}"/>
    <dgm:cxn modelId="{7C115EF0-12EF-4285-B062-A186FCE750BB}" type="presParOf" srcId="{4C000C75-3CF2-4483-A4E5-B85EF21ADC18}" destId="{803B6281-4801-4572-A3C9-0FF488CB5848}" srcOrd="0" destOrd="0" presId="urn:microsoft.com/office/officeart/2018/5/layout/IconLeafLabelList"/>
    <dgm:cxn modelId="{8E1E9301-930F-4408-8D2D-B3FB501A5CEA}" type="presParOf" srcId="{803B6281-4801-4572-A3C9-0FF488CB5848}" destId="{D78AB590-8DD4-4C74-BA05-D7CDB9C9BDD0}" srcOrd="0" destOrd="0" presId="urn:microsoft.com/office/officeart/2018/5/layout/IconLeafLabelList"/>
    <dgm:cxn modelId="{5399A38E-6B85-4A5E-B90C-7ACD623979C4}" type="presParOf" srcId="{803B6281-4801-4572-A3C9-0FF488CB5848}" destId="{A5BC1F22-EB9D-4E2B-A03D-9BD49FAC4043}" srcOrd="1" destOrd="0" presId="urn:microsoft.com/office/officeart/2018/5/layout/IconLeafLabelList"/>
    <dgm:cxn modelId="{0F31EA8F-DFDD-4FEE-97BB-83FC3C655DBA}" type="presParOf" srcId="{803B6281-4801-4572-A3C9-0FF488CB5848}" destId="{68FFC053-6C2C-4A37-B6B8-1A24D10231B2}" srcOrd="2" destOrd="0" presId="urn:microsoft.com/office/officeart/2018/5/layout/IconLeafLabelList"/>
    <dgm:cxn modelId="{64235EF2-280A-41FA-BA1C-6958AA8168CA}" type="presParOf" srcId="{803B6281-4801-4572-A3C9-0FF488CB5848}" destId="{08D93831-29FC-49E8-9C5E-706DF57508AE}" srcOrd="3" destOrd="0" presId="urn:microsoft.com/office/officeart/2018/5/layout/IconLeafLabelList"/>
    <dgm:cxn modelId="{59A29E4D-D966-4930-866A-C430196D14B2}" type="presParOf" srcId="{4C000C75-3CF2-4483-A4E5-B85EF21ADC18}" destId="{44A53E66-E260-4C00-952A-5E7E389E625A}" srcOrd="1" destOrd="0" presId="urn:microsoft.com/office/officeart/2018/5/layout/IconLeafLabelList"/>
    <dgm:cxn modelId="{E5C62147-5B49-4EC0-A9CF-9967C4B077D0}" type="presParOf" srcId="{4C000C75-3CF2-4483-A4E5-B85EF21ADC18}" destId="{789780F9-FEC4-4B78-9CB1-781D9FEBDC38}" srcOrd="2" destOrd="0" presId="urn:microsoft.com/office/officeart/2018/5/layout/IconLeafLabelList"/>
    <dgm:cxn modelId="{18AB9A4B-DF38-4E4C-BDC0-0193B8CBBF79}" type="presParOf" srcId="{789780F9-FEC4-4B78-9CB1-781D9FEBDC38}" destId="{10CB323D-8BEE-4E0A-B9A6-BB9AF2B57AC0}" srcOrd="0" destOrd="0" presId="urn:microsoft.com/office/officeart/2018/5/layout/IconLeafLabelList"/>
    <dgm:cxn modelId="{CFD9A544-BA35-4F48-9DBB-638CC9860BB2}" type="presParOf" srcId="{789780F9-FEC4-4B78-9CB1-781D9FEBDC38}" destId="{68C8E821-DAA9-4096-B94C-5683AA05D416}" srcOrd="1" destOrd="0" presId="urn:microsoft.com/office/officeart/2018/5/layout/IconLeafLabelList"/>
    <dgm:cxn modelId="{3F8EA5DA-2EC1-41E1-AA79-9BCCBAB1A031}" type="presParOf" srcId="{789780F9-FEC4-4B78-9CB1-781D9FEBDC38}" destId="{316476F8-52CB-43DF-A3F9-5140BEC6BB0E}" srcOrd="2" destOrd="0" presId="urn:microsoft.com/office/officeart/2018/5/layout/IconLeafLabelList"/>
    <dgm:cxn modelId="{F958AE15-5416-4E1D-BC0D-9390F5D70BE0}" type="presParOf" srcId="{789780F9-FEC4-4B78-9CB1-781D9FEBDC38}" destId="{7EFF054D-53EB-4C39-AD4C-1D9C5B2C17C4}" srcOrd="3" destOrd="0" presId="urn:microsoft.com/office/officeart/2018/5/layout/IconLeafLabelList"/>
    <dgm:cxn modelId="{B60590CA-F55D-41B2-ABFB-D44E47557F00}" type="presParOf" srcId="{4C000C75-3CF2-4483-A4E5-B85EF21ADC18}" destId="{A9EEBC65-F257-4CAA-AE5A-72AD13E48F6B}" srcOrd="3" destOrd="0" presId="urn:microsoft.com/office/officeart/2018/5/layout/IconLeafLabelList"/>
    <dgm:cxn modelId="{26C0F7BB-A9CA-40B0-B9DD-6F3E8AF01DA0}" type="presParOf" srcId="{4C000C75-3CF2-4483-A4E5-B85EF21ADC18}" destId="{7752EDA2-6D7A-4329-9745-B433A158351C}" srcOrd="4" destOrd="0" presId="urn:microsoft.com/office/officeart/2018/5/layout/IconLeafLabelList"/>
    <dgm:cxn modelId="{B63E67BE-7F6B-46B3-B257-8EFB54B1FE1B}" type="presParOf" srcId="{7752EDA2-6D7A-4329-9745-B433A158351C}" destId="{B86E754B-E76B-4FB1-BB96-2132CB5D2EF4}" srcOrd="0" destOrd="0" presId="urn:microsoft.com/office/officeart/2018/5/layout/IconLeafLabelList"/>
    <dgm:cxn modelId="{2B2B04B9-5703-447C-8479-71B87BB4D51A}" type="presParOf" srcId="{7752EDA2-6D7A-4329-9745-B433A158351C}" destId="{313FD225-4A45-4EC9-A1BA-9D2568BCAEC6}" srcOrd="1" destOrd="0" presId="urn:microsoft.com/office/officeart/2018/5/layout/IconLeafLabelList"/>
    <dgm:cxn modelId="{A8676EA4-A88D-4475-8A0F-0CACFE1414B5}" type="presParOf" srcId="{7752EDA2-6D7A-4329-9745-B433A158351C}" destId="{DAB959FC-907B-41C0-8DD3-C18D4F9748A0}" srcOrd="2" destOrd="0" presId="urn:microsoft.com/office/officeart/2018/5/layout/IconLeafLabelList"/>
    <dgm:cxn modelId="{80DB8B62-5C2A-4AC1-A8EF-A4C0245DE6D9}" type="presParOf" srcId="{7752EDA2-6D7A-4329-9745-B433A158351C}" destId="{418C91DE-0B7C-4B48-BFE5-31D56D70F6BC}" srcOrd="3" destOrd="0" presId="urn:microsoft.com/office/officeart/2018/5/layout/IconLeafLabelList"/>
    <dgm:cxn modelId="{3B2BA79F-219A-4B36-B94B-170DC10449E0}" type="presParOf" srcId="{4C000C75-3CF2-4483-A4E5-B85EF21ADC18}" destId="{EF8941B7-BC1A-4837-8673-D5038527EF25}" srcOrd="5" destOrd="0" presId="urn:microsoft.com/office/officeart/2018/5/layout/IconLeafLabelList"/>
    <dgm:cxn modelId="{CB019837-9652-469F-85D2-44FF579996A5}" type="presParOf" srcId="{4C000C75-3CF2-4483-A4E5-B85EF21ADC18}" destId="{E011A367-D899-494D-9193-33D256FECE18}" srcOrd="6" destOrd="0" presId="urn:microsoft.com/office/officeart/2018/5/layout/IconLeafLabelList"/>
    <dgm:cxn modelId="{AC699627-23A9-458F-ADCD-BA74DC8706CE}" type="presParOf" srcId="{E011A367-D899-494D-9193-33D256FECE18}" destId="{99C32FEA-3E5B-4935-96E8-AA5DECE94A61}" srcOrd="0" destOrd="0" presId="urn:microsoft.com/office/officeart/2018/5/layout/IconLeafLabelList"/>
    <dgm:cxn modelId="{9E7CA882-073E-4855-B5EE-691CB3CF8EF0}" type="presParOf" srcId="{E011A367-D899-494D-9193-33D256FECE18}" destId="{8BF64AFC-0039-4308-9B66-64CB7FB4274A}" srcOrd="1" destOrd="0" presId="urn:microsoft.com/office/officeart/2018/5/layout/IconLeafLabelList"/>
    <dgm:cxn modelId="{27FD5759-AE5B-46AB-96FF-4BE06B368C45}" type="presParOf" srcId="{E011A367-D899-494D-9193-33D256FECE18}" destId="{2C2AA079-FEB8-4032-87C6-67A81FDE42D0}" srcOrd="2" destOrd="0" presId="urn:microsoft.com/office/officeart/2018/5/layout/IconLeafLabelList"/>
    <dgm:cxn modelId="{046D1ECC-E2A2-4DAA-9340-4630C8FF5E55}" type="presParOf" srcId="{E011A367-D899-494D-9193-33D256FECE18}" destId="{504268BE-DCE2-42C8-AB80-28E6264782D5}" srcOrd="3" destOrd="0" presId="urn:microsoft.com/office/officeart/2018/5/layout/IconLeafLabelList"/>
    <dgm:cxn modelId="{ADA451B0-0A06-4438-8BC5-1C4E28281C5E}" type="presParOf" srcId="{4C000C75-3CF2-4483-A4E5-B85EF21ADC18}" destId="{8D08CECA-876E-4ECE-AC4D-5F6BFA879880}" srcOrd="7" destOrd="0" presId="urn:microsoft.com/office/officeart/2018/5/layout/IconLeafLabelList"/>
    <dgm:cxn modelId="{695F6012-A542-439F-9533-5950B804ED3F}" type="presParOf" srcId="{4C000C75-3CF2-4483-A4E5-B85EF21ADC18}" destId="{60B4141C-6142-4A21-9309-328FBE14003D}" srcOrd="8" destOrd="0" presId="urn:microsoft.com/office/officeart/2018/5/layout/IconLeafLabelList"/>
    <dgm:cxn modelId="{BDF7D87B-691A-4585-97CB-EF04C281E66B}" type="presParOf" srcId="{60B4141C-6142-4A21-9309-328FBE14003D}" destId="{00EFE217-841E-4ABD-A88E-811D78288E61}" srcOrd="0" destOrd="0" presId="urn:microsoft.com/office/officeart/2018/5/layout/IconLeafLabelList"/>
    <dgm:cxn modelId="{8FBF0971-C787-491D-B9EF-C253C8CBA951}" type="presParOf" srcId="{60B4141C-6142-4A21-9309-328FBE14003D}" destId="{B2C14E18-E3A6-4DDC-B4D0-2845115138A0}" srcOrd="1" destOrd="0" presId="urn:microsoft.com/office/officeart/2018/5/layout/IconLeafLabelList"/>
    <dgm:cxn modelId="{7053FCBA-825E-4295-B319-559195649D49}" type="presParOf" srcId="{60B4141C-6142-4A21-9309-328FBE14003D}" destId="{ACB07D10-22F6-415A-8297-C66E23B305A1}" srcOrd="2" destOrd="0" presId="urn:microsoft.com/office/officeart/2018/5/layout/IconLeafLabelList"/>
    <dgm:cxn modelId="{A52DE31F-E490-4086-B339-DDE01E3B04DC}" type="presParOf" srcId="{60B4141C-6142-4A21-9309-328FBE14003D}" destId="{8A2C4BE6-9CE9-4AA8-B5BF-DB0A28B9FBEF}"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207E5FD-F2C7-4906-9E48-61640A000A0F}" type="doc">
      <dgm:prSet loTypeId="urn:microsoft.com/office/officeart/2005/8/layout/StepDownProcess" loCatId="process" qsTypeId="urn:microsoft.com/office/officeart/2005/8/quickstyle/simple1" qsCatId="simple" csTypeId="urn:microsoft.com/office/officeart/2005/8/colors/colorful4" csCatId="colorful" phldr="1"/>
      <dgm:spPr/>
      <dgm:t>
        <a:bodyPr/>
        <a:lstStyle/>
        <a:p>
          <a:endParaRPr lang="en-CA"/>
        </a:p>
      </dgm:t>
    </dgm:pt>
    <dgm:pt modelId="{28B12180-8CA9-4096-84F9-E5272B504EF6}">
      <dgm:prSet phldrT="[Text]"/>
      <dgm:spPr/>
      <dgm:t>
        <a:bodyPr/>
        <a:lstStyle/>
        <a:p>
          <a:r>
            <a:rPr lang="en-US" dirty="0"/>
            <a:t>Association</a:t>
          </a:r>
          <a:endParaRPr lang="en-CA" dirty="0"/>
        </a:p>
      </dgm:t>
    </dgm:pt>
    <dgm:pt modelId="{C0537181-DED8-4C3C-96DC-01513AE1D0CC}" type="parTrans" cxnId="{FF5CD8BE-E358-4CCA-B679-DFDE8ED2E433}">
      <dgm:prSet/>
      <dgm:spPr/>
      <dgm:t>
        <a:bodyPr/>
        <a:lstStyle/>
        <a:p>
          <a:endParaRPr lang="en-CA"/>
        </a:p>
      </dgm:t>
    </dgm:pt>
    <dgm:pt modelId="{B59D9AE7-A9BB-4607-8E13-0FAADD3606D9}" type="sibTrans" cxnId="{FF5CD8BE-E358-4CCA-B679-DFDE8ED2E433}">
      <dgm:prSet/>
      <dgm:spPr/>
      <dgm:t>
        <a:bodyPr/>
        <a:lstStyle/>
        <a:p>
          <a:endParaRPr lang="en-CA"/>
        </a:p>
      </dgm:t>
    </dgm:pt>
    <dgm:pt modelId="{9125FB4E-5C72-417E-BCC1-A4649B69DEB1}">
      <dgm:prSet phldrT="[Text]" custT="1"/>
      <dgm:spPr/>
      <dgm:t>
        <a:bodyPr/>
        <a:lstStyle/>
        <a:p>
          <a:r>
            <a:rPr lang="en-US" sz="1400" dirty="0"/>
            <a:t>Correlations </a:t>
          </a:r>
          <a:endParaRPr lang="en-CA" sz="1400" dirty="0"/>
        </a:p>
      </dgm:t>
    </dgm:pt>
    <dgm:pt modelId="{04024570-EE23-4C64-9009-02B9BC94AA36}" type="parTrans" cxnId="{E76D33B5-D222-4B0A-AE9A-2A3C2952D57C}">
      <dgm:prSet/>
      <dgm:spPr/>
      <dgm:t>
        <a:bodyPr/>
        <a:lstStyle/>
        <a:p>
          <a:endParaRPr lang="en-CA"/>
        </a:p>
      </dgm:t>
    </dgm:pt>
    <dgm:pt modelId="{46462745-4E83-4AEE-A433-3914043221F9}" type="sibTrans" cxnId="{E76D33B5-D222-4B0A-AE9A-2A3C2952D57C}">
      <dgm:prSet/>
      <dgm:spPr/>
      <dgm:t>
        <a:bodyPr/>
        <a:lstStyle/>
        <a:p>
          <a:endParaRPr lang="en-CA"/>
        </a:p>
      </dgm:t>
    </dgm:pt>
    <dgm:pt modelId="{EC6321A9-FD03-4713-AE79-C2301EB5BA8D}">
      <dgm:prSet phldrT="[Text]"/>
      <dgm:spPr/>
      <dgm:t>
        <a:bodyPr/>
        <a:lstStyle/>
        <a:p>
          <a:r>
            <a:rPr lang="en-US" dirty="0"/>
            <a:t>Intervention</a:t>
          </a:r>
          <a:endParaRPr lang="en-CA" dirty="0"/>
        </a:p>
      </dgm:t>
    </dgm:pt>
    <dgm:pt modelId="{92734265-41E5-4B39-91D4-8B4C78FFB195}" type="parTrans" cxnId="{DD3C2F71-AB74-4E0C-A1FC-B74418721391}">
      <dgm:prSet/>
      <dgm:spPr/>
      <dgm:t>
        <a:bodyPr/>
        <a:lstStyle/>
        <a:p>
          <a:endParaRPr lang="en-CA"/>
        </a:p>
      </dgm:t>
    </dgm:pt>
    <dgm:pt modelId="{2C71C000-97D9-404D-BC0E-B273932497F7}" type="sibTrans" cxnId="{DD3C2F71-AB74-4E0C-A1FC-B74418721391}">
      <dgm:prSet/>
      <dgm:spPr/>
      <dgm:t>
        <a:bodyPr/>
        <a:lstStyle/>
        <a:p>
          <a:endParaRPr lang="en-CA"/>
        </a:p>
      </dgm:t>
    </dgm:pt>
    <mc:AlternateContent xmlns:mc="http://schemas.openxmlformats.org/markup-compatibility/2006" xmlns:a14="http://schemas.microsoft.com/office/drawing/2010/main">
      <mc:Choice Requires="a14">
        <dgm:pt modelId="{0C0EA7BD-7CA6-42C0-B8CD-9B32C7BC9D1B}">
          <dgm:prSet phldrT="[Text]" custT="1"/>
          <dgm:spPr/>
          <dgm:t>
            <a:bodyPr/>
            <a:lstStyle/>
            <a:p>
              <a:r>
                <a:rPr lang="en-US" sz="1400" dirty="0"/>
                <a:t>What would happen to </a:t>
              </a:r>
              <a14:m>
                <m:oMath xmlns:m="http://schemas.openxmlformats.org/officeDocument/2006/math">
                  <m:r>
                    <a:rPr lang="en-US" sz="1400" b="0" i="1" smtClean="0">
                      <a:latin typeface="Cambria Math" panose="02040503050406030204" pitchFamily="18" charset="0"/>
                    </a:rPr>
                    <m:t>𝑌</m:t>
                  </m:r>
                </m:oMath>
              </a14:m>
              <a:r>
                <a:rPr lang="en-CA" sz="1400" dirty="0"/>
                <a:t> if I changed </a:t>
              </a:r>
              <a14:m>
                <m:oMath xmlns:m="http://schemas.openxmlformats.org/officeDocument/2006/math">
                  <m:r>
                    <a:rPr lang="en-US" sz="1400" b="0" i="1" smtClean="0">
                      <a:latin typeface="Cambria Math" panose="02040503050406030204" pitchFamily="18" charset="0"/>
                    </a:rPr>
                    <m:t>𝑋</m:t>
                  </m:r>
                  <m:r>
                    <a:rPr lang="en-US" sz="1400" b="0" i="1" smtClean="0">
                      <a:latin typeface="Cambria Math" panose="02040503050406030204" pitchFamily="18" charset="0"/>
                    </a:rPr>
                    <m:t>?</m:t>
                  </m:r>
                </m:oMath>
              </a14:m>
              <a:r>
                <a:rPr lang="en-CA" sz="1400" dirty="0"/>
                <a:t> </a:t>
              </a:r>
            </a:p>
          </dgm:t>
        </dgm:pt>
      </mc:Choice>
      <mc:Fallback xmlns="">
        <dgm:pt modelId="{0C0EA7BD-7CA6-42C0-B8CD-9B32C7BC9D1B}">
          <dgm:prSet phldrT="[Text]" custT="1"/>
          <dgm:spPr/>
          <dgm:t>
            <a:bodyPr/>
            <a:lstStyle/>
            <a:p>
              <a:r>
                <a:rPr lang="en-US" sz="1400" dirty="0"/>
                <a:t>What would happen to </a:t>
              </a:r>
              <a:r>
                <a:rPr lang="en-US" sz="1400" b="0" i="0">
                  <a:latin typeface="Cambria Math" panose="02040503050406030204" pitchFamily="18" charset="0"/>
                </a:rPr>
                <a:t>𝑌</a:t>
              </a:r>
              <a:r>
                <a:rPr lang="en-CA" sz="1400" dirty="0"/>
                <a:t> if I changed </a:t>
              </a:r>
              <a:r>
                <a:rPr lang="en-US" sz="1400" b="0" i="0">
                  <a:latin typeface="Cambria Math" panose="02040503050406030204" pitchFamily="18" charset="0"/>
                </a:rPr>
                <a:t>𝑋?</a:t>
              </a:r>
              <a:r>
                <a:rPr lang="en-CA" sz="1400" dirty="0"/>
                <a:t> </a:t>
              </a:r>
            </a:p>
          </dgm:t>
        </dgm:pt>
      </mc:Fallback>
    </mc:AlternateContent>
    <dgm:pt modelId="{CE85167B-D8AD-4102-9B75-48D5A98E936F}" type="parTrans" cxnId="{FD20BECA-50BB-44B9-8F27-D9BF41BC3BBD}">
      <dgm:prSet/>
      <dgm:spPr/>
      <dgm:t>
        <a:bodyPr/>
        <a:lstStyle/>
        <a:p>
          <a:endParaRPr lang="en-CA"/>
        </a:p>
      </dgm:t>
    </dgm:pt>
    <dgm:pt modelId="{4DCCDDE0-4337-48AD-AB63-07B0B3ECA62C}" type="sibTrans" cxnId="{FD20BECA-50BB-44B9-8F27-D9BF41BC3BBD}">
      <dgm:prSet/>
      <dgm:spPr/>
      <dgm:t>
        <a:bodyPr/>
        <a:lstStyle/>
        <a:p>
          <a:endParaRPr lang="en-CA"/>
        </a:p>
      </dgm:t>
    </dgm:pt>
    <dgm:pt modelId="{E01EAA8E-5165-491F-B206-D2CEECB4A26F}">
      <dgm:prSet phldrT="[Text]"/>
      <dgm:spPr/>
      <dgm:t>
        <a:bodyPr/>
        <a:lstStyle/>
        <a:p>
          <a:r>
            <a:rPr lang="en-US" dirty="0"/>
            <a:t>Causality</a:t>
          </a:r>
          <a:endParaRPr lang="en-CA" dirty="0"/>
        </a:p>
      </dgm:t>
    </dgm:pt>
    <dgm:pt modelId="{625F202F-1348-4A3B-87ED-DF98841A9F52}" type="parTrans" cxnId="{A5055B52-8749-4A22-9A9B-5CF981D3D756}">
      <dgm:prSet/>
      <dgm:spPr/>
      <dgm:t>
        <a:bodyPr/>
        <a:lstStyle/>
        <a:p>
          <a:endParaRPr lang="en-CA"/>
        </a:p>
      </dgm:t>
    </dgm:pt>
    <dgm:pt modelId="{0CE945CA-5EEE-418E-BE55-74EAA5DA7061}" type="sibTrans" cxnId="{A5055B52-8749-4A22-9A9B-5CF981D3D756}">
      <dgm:prSet/>
      <dgm:spPr/>
      <dgm:t>
        <a:bodyPr/>
        <a:lstStyle/>
        <a:p>
          <a:endParaRPr lang="en-CA"/>
        </a:p>
      </dgm:t>
    </dgm:pt>
    <dgm:pt modelId="{0FE3EF23-41A5-4972-A0E6-B6EC54C7250B}">
      <dgm:prSet phldrT="[Text]" custT="1"/>
      <dgm:spPr/>
      <dgm:t>
        <a:bodyPr/>
        <a:lstStyle/>
        <a:p>
          <a:r>
            <a:rPr lang="en-US" sz="1400" dirty="0"/>
            <a:t>Counterfactuals</a:t>
          </a:r>
          <a:endParaRPr lang="en-CA" sz="1400" dirty="0"/>
        </a:p>
      </dgm:t>
    </dgm:pt>
    <dgm:pt modelId="{A8A7757A-D5BA-4874-891E-03D06492E7A7}" type="parTrans" cxnId="{C9F3CC08-7E81-41BF-A4DA-BA4E65DCFFC7}">
      <dgm:prSet/>
      <dgm:spPr/>
      <dgm:t>
        <a:bodyPr/>
        <a:lstStyle/>
        <a:p>
          <a:endParaRPr lang="en-CA"/>
        </a:p>
      </dgm:t>
    </dgm:pt>
    <dgm:pt modelId="{18E646C0-4EFF-485E-9FCD-B943846DC570}" type="sibTrans" cxnId="{C9F3CC08-7E81-41BF-A4DA-BA4E65DCFFC7}">
      <dgm:prSet/>
      <dgm:spPr/>
      <dgm:t>
        <a:bodyPr/>
        <a:lstStyle/>
        <a:p>
          <a:endParaRPr lang="en-CA"/>
        </a:p>
      </dgm:t>
    </dgm:pt>
    <dgm:pt modelId="{B20C8FFA-1D69-4BD2-ACD2-5F21121CFD94}">
      <dgm:prSet phldrT="[Text]" custT="1"/>
      <dgm:spPr/>
      <dgm:t>
        <a:bodyPr/>
        <a:lstStyle/>
        <a:p>
          <a:r>
            <a:rPr lang="en-US" sz="1400" dirty="0"/>
            <a:t>Regression/ML predictions</a:t>
          </a:r>
          <a:endParaRPr lang="en-CA" sz="1400" dirty="0"/>
        </a:p>
      </dgm:t>
    </dgm:pt>
    <dgm:pt modelId="{E822586C-2C90-4D81-8EEC-307E3EC2E937}" type="parTrans" cxnId="{E4C4F54C-DB2E-4DB0-91DB-72571BEF4741}">
      <dgm:prSet/>
      <dgm:spPr/>
      <dgm:t>
        <a:bodyPr/>
        <a:lstStyle/>
        <a:p>
          <a:endParaRPr lang="en-CA"/>
        </a:p>
      </dgm:t>
    </dgm:pt>
    <dgm:pt modelId="{8DE9F0B2-546D-47D2-A217-437BDAC67804}" type="sibTrans" cxnId="{E4C4F54C-DB2E-4DB0-91DB-72571BEF4741}">
      <dgm:prSet/>
      <dgm:spPr/>
      <dgm:t>
        <a:bodyPr/>
        <a:lstStyle/>
        <a:p>
          <a:endParaRPr lang="en-CA"/>
        </a:p>
      </dgm:t>
    </dgm:pt>
    <dgm:pt modelId="{25F7E716-F6EC-47F9-A2F7-A5AC10FB1431}">
      <dgm:prSet phldrT="[Text]" custT="1"/>
      <dgm:spPr/>
      <dgm:t>
        <a:bodyPr/>
        <a:lstStyle/>
        <a:p>
          <a:r>
            <a:rPr lang="en-US" sz="1400" dirty="0"/>
            <a:t>What is the conditional distribution?</a:t>
          </a:r>
          <a:endParaRPr lang="en-CA" sz="1400" dirty="0"/>
        </a:p>
      </dgm:t>
    </dgm:pt>
    <dgm:pt modelId="{24C1B76F-7CBC-4428-8B68-D96A0C70D1CC}" type="parTrans" cxnId="{D02917BD-9340-45E0-B180-2FE6201D22EF}">
      <dgm:prSet/>
      <dgm:spPr/>
      <dgm:t>
        <a:bodyPr/>
        <a:lstStyle/>
        <a:p>
          <a:endParaRPr lang="en-CA"/>
        </a:p>
      </dgm:t>
    </dgm:pt>
    <dgm:pt modelId="{11028CD6-4E07-4300-BC98-836B37BB1F41}" type="sibTrans" cxnId="{D02917BD-9340-45E0-B180-2FE6201D22EF}">
      <dgm:prSet/>
      <dgm:spPr/>
      <dgm:t>
        <a:bodyPr/>
        <a:lstStyle/>
        <a:p>
          <a:endParaRPr lang="en-CA"/>
        </a:p>
      </dgm:t>
    </dgm:pt>
    <dgm:pt modelId="{C8741B1D-23CA-427A-A661-27A57BEB3C98}">
      <dgm:prSet phldrT="[Text]" custT="1"/>
      <dgm:spPr/>
      <dgm:t>
        <a:bodyPr/>
        <a:lstStyle/>
        <a:p>
          <a:r>
            <a:rPr lang="en-US" sz="1400" dirty="0"/>
            <a:t>Randomized experiments, etc. </a:t>
          </a:r>
          <a:endParaRPr lang="en-CA" sz="1400" dirty="0"/>
        </a:p>
      </dgm:t>
    </dgm:pt>
    <dgm:pt modelId="{A815C829-5314-406F-8A38-ABBDDA531510}" type="parTrans" cxnId="{BC1A3CDE-6B72-453D-B8E0-B9259D96081A}">
      <dgm:prSet/>
      <dgm:spPr/>
      <dgm:t>
        <a:bodyPr/>
        <a:lstStyle/>
        <a:p>
          <a:endParaRPr lang="en-CA"/>
        </a:p>
      </dgm:t>
    </dgm:pt>
    <dgm:pt modelId="{376AEF6F-4CF9-4BE6-A4B0-797D41CC9FF5}" type="sibTrans" cxnId="{BC1A3CDE-6B72-453D-B8E0-B9259D96081A}">
      <dgm:prSet/>
      <dgm:spPr/>
      <dgm:t>
        <a:bodyPr/>
        <a:lstStyle/>
        <a:p>
          <a:endParaRPr lang="en-CA"/>
        </a:p>
      </dgm:t>
    </dgm:pt>
    <dgm:pt modelId="{E7EA23A9-FADB-4B88-96B7-4CC3EE9C402B}">
      <dgm:prSet phldrT="[Text]" custT="1"/>
      <dgm:spPr/>
      <dgm:t>
        <a:bodyPr/>
        <a:lstStyle/>
        <a:p>
          <a:r>
            <a:rPr lang="en-US" sz="1400" dirty="0"/>
            <a:t>A lot of empirical HSR work happens here</a:t>
          </a:r>
          <a:endParaRPr lang="en-CA" sz="1400" dirty="0"/>
        </a:p>
      </dgm:t>
    </dgm:pt>
    <dgm:pt modelId="{7C1C8DA6-D371-4961-B03E-3FF83A7EC849}" type="parTrans" cxnId="{72057701-B802-4803-A4AF-302926DA8827}">
      <dgm:prSet/>
      <dgm:spPr/>
      <dgm:t>
        <a:bodyPr/>
        <a:lstStyle/>
        <a:p>
          <a:endParaRPr lang="en-CA"/>
        </a:p>
      </dgm:t>
    </dgm:pt>
    <dgm:pt modelId="{38714CF1-CA47-4CA0-939C-C0E35ED71F32}" type="sibTrans" cxnId="{72057701-B802-4803-A4AF-302926DA8827}">
      <dgm:prSet/>
      <dgm:spPr/>
      <dgm:t>
        <a:bodyPr/>
        <a:lstStyle/>
        <a:p>
          <a:endParaRPr lang="en-CA"/>
        </a:p>
      </dgm:t>
    </dgm:pt>
    <dgm:pt modelId="{61219434-A2F8-4B08-8ED8-1B0EE2032230}">
      <dgm:prSet phldrT="[Text]" custT="1"/>
      <dgm:spPr/>
      <dgm:t>
        <a:bodyPr/>
        <a:lstStyle/>
        <a:p>
          <a:r>
            <a:rPr lang="en-US" sz="1400" dirty="0"/>
            <a:t>Have to deal with identification threats</a:t>
          </a:r>
          <a:endParaRPr lang="en-CA" sz="1400" dirty="0"/>
        </a:p>
      </dgm:t>
    </dgm:pt>
    <dgm:pt modelId="{B3656E5D-E48E-4969-A51D-A4934B4A417E}" type="parTrans" cxnId="{47384051-3A3E-4C40-BAF8-841F5363C392}">
      <dgm:prSet/>
      <dgm:spPr/>
      <dgm:t>
        <a:bodyPr/>
        <a:lstStyle/>
        <a:p>
          <a:endParaRPr lang="en-CA"/>
        </a:p>
      </dgm:t>
    </dgm:pt>
    <dgm:pt modelId="{53609AFD-F3D8-4004-BB8E-8DED4DD0ED57}" type="sibTrans" cxnId="{47384051-3A3E-4C40-BAF8-841F5363C392}">
      <dgm:prSet/>
      <dgm:spPr/>
      <dgm:t>
        <a:bodyPr/>
        <a:lstStyle/>
        <a:p>
          <a:endParaRPr lang="en-CA"/>
        </a:p>
      </dgm:t>
    </dgm:pt>
    <mc:AlternateContent xmlns:mc="http://schemas.openxmlformats.org/markup-compatibility/2006" xmlns:a14="http://schemas.microsoft.com/office/drawing/2010/main">
      <mc:Choice Requires="a14">
        <dgm:pt modelId="{0EB86AD6-6548-4C1A-A2A8-57ECDF0591D5}">
          <dgm:prSet phldrT="[Text]" custT="1"/>
          <dgm:spPr/>
          <dgm:t>
            <a:bodyPr/>
            <a:lstStyle/>
            <a:p>
              <a:r>
                <a:rPr lang="en-US" sz="1400" dirty="0"/>
                <a:t>We chose to do </a:t>
              </a:r>
              <a14:m>
                <m:oMath xmlns:m="http://schemas.openxmlformats.org/officeDocument/2006/math">
                  <m:r>
                    <a:rPr lang="en-US" sz="1400" b="0" i="1" smtClean="0">
                      <a:latin typeface="Cambria Math" panose="02040503050406030204" pitchFamily="18" charset="0"/>
                    </a:rPr>
                    <m:t>𝑋</m:t>
                  </m:r>
                  <m:r>
                    <a:rPr lang="en-US" sz="1400" b="0" i="1" smtClean="0">
                      <a:latin typeface="Cambria Math" panose="02040503050406030204" pitchFamily="18" charset="0"/>
                    </a:rPr>
                    <m:t>, </m:t>
                  </m:r>
                </m:oMath>
              </a14:m>
              <a:r>
                <a:rPr lang="en-CA" sz="1400" dirty="0"/>
                <a:t>but what if we had chosen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oMath>
              </a14:m>
              <a:endParaRPr lang="en-CA" sz="1400" dirty="0"/>
            </a:p>
          </dgm:t>
        </dgm:pt>
      </mc:Choice>
      <mc:Fallback xmlns="">
        <dgm:pt modelId="{0EB86AD6-6548-4C1A-A2A8-57ECDF0591D5}">
          <dgm:prSet phldrT="[Text]" custT="1"/>
          <dgm:spPr/>
          <dgm:t>
            <a:bodyPr/>
            <a:lstStyle/>
            <a:p>
              <a:r>
                <a:rPr lang="en-US" sz="1400" dirty="0"/>
                <a:t>We chose to do </a:t>
              </a:r>
              <a:r>
                <a:rPr lang="en-US" sz="1400" b="0" i="0">
                  <a:latin typeface="Cambria Math" panose="02040503050406030204" pitchFamily="18" charset="0"/>
                </a:rPr>
                <a:t>𝑋, </a:t>
              </a:r>
              <a:r>
                <a:rPr lang="en-CA" sz="1400" dirty="0"/>
                <a:t>but what if we had chosen </a:t>
              </a:r>
              <a:r>
                <a:rPr lang="en-US" sz="1400" b="0" i="0">
                  <a:latin typeface="Cambria Math" panose="02040503050406030204" pitchFamily="18" charset="0"/>
                </a:rPr>
                <a:t>𝑋^′?</a:t>
              </a:r>
              <a:endParaRPr lang="en-CA" sz="1400" dirty="0"/>
            </a:p>
          </dgm:t>
        </dgm:pt>
      </mc:Fallback>
    </mc:AlternateContent>
    <dgm:pt modelId="{35D386C9-BEFB-4B8C-8458-A262293193D7}" type="parTrans" cxnId="{A4BEF6E5-0A99-48AD-B7DA-CEA302A54D3B}">
      <dgm:prSet/>
      <dgm:spPr/>
      <dgm:t>
        <a:bodyPr/>
        <a:lstStyle/>
        <a:p>
          <a:endParaRPr lang="en-CA"/>
        </a:p>
      </dgm:t>
    </dgm:pt>
    <dgm:pt modelId="{0052B626-47B9-47D5-AD49-4E93F2F450B1}" type="sibTrans" cxnId="{A4BEF6E5-0A99-48AD-B7DA-CEA302A54D3B}">
      <dgm:prSet/>
      <dgm:spPr/>
      <dgm:t>
        <a:bodyPr/>
        <a:lstStyle/>
        <a:p>
          <a:endParaRPr lang="en-CA"/>
        </a:p>
      </dgm:t>
    </dgm:pt>
    <dgm:pt modelId="{D07BAD72-BB05-4C5F-B06E-0C193BCAD435}">
      <dgm:prSet phldrT="[Text]" custT="1"/>
      <dgm:spPr/>
      <dgm:t>
        <a:bodyPr/>
        <a:lstStyle/>
        <a:p>
          <a:r>
            <a:rPr lang="en-CA" sz="1400" dirty="0"/>
            <a:t>Harder to answer, requires even more structural assumptions</a:t>
          </a:r>
        </a:p>
      </dgm:t>
    </dgm:pt>
    <dgm:pt modelId="{26426A67-FE66-404F-9460-E4F947D534F5}" type="parTrans" cxnId="{EF00959A-8718-46A7-A47C-D1AE47D7E8A9}">
      <dgm:prSet/>
      <dgm:spPr/>
      <dgm:t>
        <a:bodyPr/>
        <a:lstStyle/>
        <a:p>
          <a:endParaRPr lang="en-CA"/>
        </a:p>
      </dgm:t>
    </dgm:pt>
    <dgm:pt modelId="{B450EC68-6D5A-4A07-B363-39B33570687A}" type="sibTrans" cxnId="{EF00959A-8718-46A7-A47C-D1AE47D7E8A9}">
      <dgm:prSet/>
      <dgm:spPr/>
      <dgm:t>
        <a:bodyPr/>
        <a:lstStyle/>
        <a:p>
          <a:endParaRPr lang="en-CA"/>
        </a:p>
      </dgm:t>
    </dgm:pt>
    <dgm:pt modelId="{496B60B2-DEEB-4D0C-A634-874D130198D9}">
      <dgm:prSet phldrT="[Text]" custT="1"/>
      <dgm:spPr/>
      <dgm:t>
        <a:bodyPr/>
        <a:lstStyle/>
        <a:p>
          <a:r>
            <a:rPr lang="en-CA" sz="1400" dirty="0"/>
            <a:t>Mechanisms also (should?) go here </a:t>
          </a:r>
        </a:p>
      </dgm:t>
    </dgm:pt>
    <dgm:pt modelId="{44D349A7-DEF7-4A30-AAC9-A6A84D55DE3B}" type="parTrans" cxnId="{23313C50-DE71-4555-9C80-814CFF440922}">
      <dgm:prSet/>
      <dgm:spPr/>
      <dgm:t>
        <a:bodyPr/>
        <a:lstStyle/>
        <a:p>
          <a:endParaRPr lang="en-CA"/>
        </a:p>
      </dgm:t>
    </dgm:pt>
    <dgm:pt modelId="{0E28E595-9727-4982-B0C0-67DCF9BD5E80}" type="sibTrans" cxnId="{23313C50-DE71-4555-9C80-814CFF440922}">
      <dgm:prSet/>
      <dgm:spPr/>
      <dgm:t>
        <a:bodyPr/>
        <a:lstStyle/>
        <a:p>
          <a:endParaRPr lang="en-CA"/>
        </a:p>
      </dgm:t>
    </dgm:pt>
    <dgm:pt modelId="{663D52B9-9CE4-4533-B0E4-2059036B064E}" type="pres">
      <dgm:prSet presAssocID="{2207E5FD-F2C7-4906-9E48-61640A000A0F}" presName="rootnode" presStyleCnt="0">
        <dgm:presLayoutVars>
          <dgm:chMax/>
          <dgm:chPref/>
          <dgm:dir/>
          <dgm:animLvl val="lvl"/>
        </dgm:presLayoutVars>
      </dgm:prSet>
      <dgm:spPr/>
    </dgm:pt>
    <dgm:pt modelId="{978D6E66-D782-422F-A144-A1946208D290}" type="pres">
      <dgm:prSet presAssocID="{28B12180-8CA9-4096-84F9-E5272B504EF6}" presName="composite" presStyleCnt="0"/>
      <dgm:spPr/>
    </dgm:pt>
    <dgm:pt modelId="{99790350-BB99-4984-9F95-9A0C49312EB3}" type="pres">
      <dgm:prSet presAssocID="{28B12180-8CA9-4096-84F9-E5272B504EF6}" presName="bentUpArrow1" presStyleLbl="alignImgPlace1" presStyleIdx="0" presStyleCnt="2" custLinFactNeighborX="-27045" custLinFactNeighborY="1528"/>
      <dgm:spPr/>
    </dgm:pt>
    <dgm:pt modelId="{DA07D112-FDC9-4B92-850C-6D6FB18D5E19}" type="pres">
      <dgm:prSet presAssocID="{28B12180-8CA9-4096-84F9-E5272B504EF6}" presName="ParentText" presStyleLbl="node1" presStyleIdx="0" presStyleCnt="3" custLinFactNeighborX="-30458">
        <dgm:presLayoutVars>
          <dgm:chMax val="1"/>
          <dgm:chPref val="1"/>
          <dgm:bulletEnabled val="1"/>
        </dgm:presLayoutVars>
      </dgm:prSet>
      <dgm:spPr/>
    </dgm:pt>
    <dgm:pt modelId="{CB8DAD8A-01A8-4520-A2D2-F1B01357429A}" type="pres">
      <dgm:prSet presAssocID="{28B12180-8CA9-4096-84F9-E5272B504EF6}" presName="ChildText" presStyleLbl="revTx" presStyleIdx="0" presStyleCnt="3" custScaleX="182687" custLinFactNeighborX="22589" custLinFactNeighborY="-1028">
        <dgm:presLayoutVars>
          <dgm:chMax val="0"/>
          <dgm:chPref val="0"/>
          <dgm:bulletEnabled val="1"/>
        </dgm:presLayoutVars>
      </dgm:prSet>
      <dgm:spPr/>
    </dgm:pt>
    <dgm:pt modelId="{3214F92C-9AF6-4D48-AD86-812B79F070E1}" type="pres">
      <dgm:prSet presAssocID="{B59D9AE7-A9BB-4607-8E13-0FAADD3606D9}" presName="sibTrans" presStyleCnt="0"/>
      <dgm:spPr/>
    </dgm:pt>
    <dgm:pt modelId="{BEFC09DC-69F2-4F50-AB83-14B9394891A9}" type="pres">
      <dgm:prSet presAssocID="{EC6321A9-FD03-4713-AE79-C2301EB5BA8D}" presName="composite" presStyleCnt="0"/>
      <dgm:spPr/>
    </dgm:pt>
    <dgm:pt modelId="{0486485E-699E-47E7-9D51-E5AE820F3EC4}" type="pres">
      <dgm:prSet presAssocID="{EC6321A9-FD03-4713-AE79-C2301EB5BA8D}" presName="bentUpArrow1" presStyleLbl="alignImgPlace1" presStyleIdx="1" presStyleCnt="2" custLinFactNeighborX="-47648"/>
      <dgm:spPr/>
    </dgm:pt>
    <dgm:pt modelId="{523987BD-8C16-46E3-8A04-9DF04896E5D2}" type="pres">
      <dgm:prSet presAssocID="{EC6321A9-FD03-4713-AE79-C2301EB5BA8D}" presName="ParentText" presStyleLbl="node1" presStyleIdx="1" presStyleCnt="3" custLinFactNeighborX="-36960" custLinFactNeighborY="-3485">
        <dgm:presLayoutVars>
          <dgm:chMax val="1"/>
          <dgm:chPref val="1"/>
          <dgm:bulletEnabled val="1"/>
        </dgm:presLayoutVars>
      </dgm:prSet>
      <dgm:spPr/>
    </dgm:pt>
    <dgm:pt modelId="{67C7E0D8-033A-44B9-B0D4-CD15A0360DB1}" type="pres">
      <dgm:prSet presAssocID="{EC6321A9-FD03-4713-AE79-C2301EB5BA8D}" presName="ChildText" presStyleLbl="revTx" presStyleIdx="1" presStyleCnt="3" custScaleX="285849" custLinFactNeighborX="55465" custLinFactNeighborY="-5337">
        <dgm:presLayoutVars>
          <dgm:chMax val="0"/>
          <dgm:chPref val="0"/>
          <dgm:bulletEnabled val="1"/>
        </dgm:presLayoutVars>
      </dgm:prSet>
      <dgm:spPr/>
    </dgm:pt>
    <dgm:pt modelId="{544D9E99-A66B-49EA-8BC6-75101427DF2B}" type="pres">
      <dgm:prSet presAssocID="{2C71C000-97D9-404D-BC0E-B273932497F7}" presName="sibTrans" presStyleCnt="0"/>
      <dgm:spPr/>
    </dgm:pt>
    <dgm:pt modelId="{670D65E6-0691-433D-9B7C-2F0FC2453009}" type="pres">
      <dgm:prSet presAssocID="{E01EAA8E-5165-491F-B206-D2CEECB4A26F}" presName="composite" presStyleCnt="0"/>
      <dgm:spPr/>
    </dgm:pt>
    <dgm:pt modelId="{F1977C6B-9949-4BBD-9556-586CB792BE3F}" type="pres">
      <dgm:prSet presAssocID="{E01EAA8E-5165-491F-B206-D2CEECB4A26F}" presName="ParentText" presStyleLbl="node1" presStyleIdx="2" presStyleCnt="3" custLinFactNeighborX="-48970" custLinFactNeighborY="1882">
        <dgm:presLayoutVars>
          <dgm:chMax val="1"/>
          <dgm:chPref val="1"/>
          <dgm:bulletEnabled val="1"/>
        </dgm:presLayoutVars>
      </dgm:prSet>
      <dgm:spPr/>
    </dgm:pt>
    <dgm:pt modelId="{3F610435-8C9C-4065-88E2-E727BAF5FC31}" type="pres">
      <dgm:prSet presAssocID="{E01EAA8E-5165-491F-B206-D2CEECB4A26F}" presName="FinalChildText" presStyleLbl="revTx" presStyleIdx="2" presStyleCnt="3" custScaleX="256285" custLinFactNeighborX="66011" custLinFactNeighborY="1127">
        <dgm:presLayoutVars>
          <dgm:chMax val="0"/>
          <dgm:chPref val="0"/>
          <dgm:bulletEnabled val="1"/>
        </dgm:presLayoutVars>
      </dgm:prSet>
      <dgm:spPr/>
    </dgm:pt>
  </dgm:ptLst>
  <dgm:cxnLst>
    <dgm:cxn modelId="{72057701-B802-4803-A4AF-302926DA8827}" srcId="{EC6321A9-FD03-4713-AE79-C2301EB5BA8D}" destId="{E7EA23A9-FADB-4B88-96B7-4CC3EE9C402B}" srcOrd="3" destOrd="0" parTransId="{7C1C8DA6-D371-4961-B03E-3FF83A7EC849}" sibTransId="{38714CF1-CA47-4CA0-939C-C0E35ED71F32}"/>
    <dgm:cxn modelId="{C9F3CC08-7E81-41BF-A4DA-BA4E65DCFFC7}" srcId="{E01EAA8E-5165-491F-B206-D2CEECB4A26F}" destId="{0FE3EF23-41A5-4972-A0E6-B6EC54C7250B}" srcOrd="0" destOrd="0" parTransId="{A8A7757A-D5BA-4874-891E-03D06492E7A7}" sibTransId="{18E646C0-4EFF-485E-9FCD-B943846DC570}"/>
    <dgm:cxn modelId="{A366270E-C8F7-4A6B-8D17-880D9D0FF032}" type="presOf" srcId="{28B12180-8CA9-4096-84F9-E5272B504EF6}" destId="{DA07D112-FDC9-4B92-850C-6D6FB18D5E19}" srcOrd="0" destOrd="0" presId="urn:microsoft.com/office/officeart/2005/8/layout/StepDownProcess"/>
    <dgm:cxn modelId="{7FB58411-BB8B-46A4-94C6-1AA287EC6D37}" type="presOf" srcId="{496B60B2-DEEB-4D0C-A634-874D130198D9}" destId="{3F610435-8C9C-4065-88E2-E727BAF5FC31}" srcOrd="0" destOrd="3" presId="urn:microsoft.com/office/officeart/2005/8/layout/StepDownProcess"/>
    <dgm:cxn modelId="{3A81E221-A48C-4E83-ABD1-2C859BDF1F84}" type="presOf" srcId="{E7EA23A9-FADB-4B88-96B7-4CC3EE9C402B}" destId="{67C7E0D8-033A-44B9-B0D4-CD15A0360DB1}" srcOrd="0" destOrd="3" presId="urn:microsoft.com/office/officeart/2005/8/layout/StepDownProcess"/>
    <dgm:cxn modelId="{83159C2B-92F7-482C-AF61-4393E09E0500}" type="presOf" srcId="{D07BAD72-BB05-4C5F-B06E-0C193BCAD435}" destId="{3F610435-8C9C-4065-88E2-E727BAF5FC31}" srcOrd="0" destOrd="2" presId="urn:microsoft.com/office/officeart/2005/8/layout/StepDownProcess"/>
    <dgm:cxn modelId="{AF201240-780C-430A-9237-F0A3D9BB31C6}" type="presOf" srcId="{B20C8FFA-1D69-4BD2-ACD2-5F21121CFD94}" destId="{CB8DAD8A-01A8-4520-A2D2-F1B01357429A}" srcOrd="0" destOrd="1" presId="urn:microsoft.com/office/officeart/2005/8/layout/StepDownProcess"/>
    <dgm:cxn modelId="{E07D2D5F-21F1-4634-A789-B71259213130}" type="presOf" srcId="{0FE3EF23-41A5-4972-A0E6-B6EC54C7250B}" destId="{3F610435-8C9C-4065-88E2-E727BAF5FC31}" srcOrd="0" destOrd="0" presId="urn:microsoft.com/office/officeart/2005/8/layout/StepDownProcess"/>
    <dgm:cxn modelId="{E4C4F54C-DB2E-4DB0-91DB-72571BEF4741}" srcId="{28B12180-8CA9-4096-84F9-E5272B504EF6}" destId="{B20C8FFA-1D69-4BD2-ACD2-5F21121CFD94}" srcOrd="1" destOrd="0" parTransId="{E822586C-2C90-4D81-8EEC-307E3EC2E937}" sibTransId="{8DE9F0B2-546D-47D2-A217-437BDAC67804}"/>
    <dgm:cxn modelId="{23313C50-DE71-4555-9C80-814CFF440922}" srcId="{E01EAA8E-5165-491F-B206-D2CEECB4A26F}" destId="{496B60B2-DEEB-4D0C-A634-874D130198D9}" srcOrd="3" destOrd="0" parTransId="{44D349A7-DEF7-4A30-AAC9-A6A84D55DE3B}" sibTransId="{0E28E595-9727-4982-B0C0-67DCF9BD5E80}"/>
    <dgm:cxn modelId="{DD3C2F71-AB74-4E0C-A1FC-B74418721391}" srcId="{2207E5FD-F2C7-4906-9E48-61640A000A0F}" destId="{EC6321A9-FD03-4713-AE79-C2301EB5BA8D}" srcOrd="1" destOrd="0" parTransId="{92734265-41E5-4B39-91D4-8B4C78FFB195}" sibTransId="{2C71C000-97D9-404D-BC0E-B273932497F7}"/>
    <dgm:cxn modelId="{47384051-3A3E-4C40-BAF8-841F5363C392}" srcId="{EC6321A9-FD03-4713-AE79-C2301EB5BA8D}" destId="{61219434-A2F8-4B08-8ED8-1B0EE2032230}" srcOrd="2" destOrd="0" parTransId="{B3656E5D-E48E-4969-A51D-A4934B4A417E}" sibTransId="{53609AFD-F3D8-4004-BB8E-8DED4DD0ED57}"/>
    <dgm:cxn modelId="{A5055B52-8749-4A22-9A9B-5CF981D3D756}" srcId="{2207E5FD-F2C7-4906-9E48-61640A000A0F}" destId="{E01EAA8E-5165-491F-B206-D2CEECB4A26F}" srcOrd="2" destOrd="0" parTransId="{625F202F-1348-4A3B-87ED-DF98841A9F52}" sibTransId="{0CE945CA-5EEE-418E-BE55-74EAA5DA7061}"/>
    <dgm:cxn modelId="{3080A676-3362-4F4B-BBA0-9099B5FDCDA5}" type="presOf" srcId="{E01EAA8E-5165-491F-B206-D2CEECB4A26F}" destId="{F1977C6B-9949-4BBD-9556-586CB792BE3F}" srcOrd="0" destOrd="0" presId="urn:microsoft.com/office/officeart/2005/8/layout/StepDownProcess"/>
    <dgm:cxn modelId="{BE87D67D-1FC7-4D41-A1B4-6478E61069D3}" type="presOf" srcId="{C8741B1D-23CA-427A-A661-27A57BEB3C98}" destId="{67C7E0D8-033A-44B9-B0D4-CD15A0360DB1}" srcOrd="0" destOrd="1" presId="urn:microsoft.com/office/officeart/2005/8/layout/StepDownProcess"/>
    <dgm:cxn modelId="{19285289-B8F6-4905-A10F-1D0725829B60}" type="presOf" srcId="{9125FB4E-5C72-417E-BCC1-A4649B69DEB1}" destId="{CB8DAD8A-01A8-4520-A2D2-F1B01357429A}" srcOrd="0" destOrd="0" presId="urn:microsoft.com/office/officeart/2005/8/layout/StepDownProcess"/>
    <dgm:cxn modelId="{DFC2D98F-20B3-4C52-83BA-72A0DB743CA7}" type="presOf" srcId="{2207E5FD-F2C7-4906-9E48-61640A000A0F}" destId="{663D52B9-9CE4-4533-B0E4-2059036B064E}" srcOrd="0" destOrd="0" presId="urn:microsoft.com/office/officeart/2005/8/layout/StepDownProcess"/>
    <dgm:cxn modelId="{895C6890-C0DE-45B8-938C-B0FDC58CF0BF}" type="presOf" srcId="{EC6321A9-FD03-4713-AE79-C2301EB5BA8D}" destId="{523987BD-8C16-46E3-8A04-9DF04896E5D2}" srcOrd="0" destOrd="0" presId="urn:microsoft.com/office/officeart/2005/8/layout/StepDownProcess"/>
    <dgm:cxn modelId="{EF00959A-8718-46A7-A47C-D1AE47D7E8A9}" srcId="{E01EAA8E-5165-491F-B206-D2CEECB4A26F}" destId="{D07BAD72-BB05-4C5F-B06E-0C193BCAD435}" srcOrd="2" destOrd="0" parTransId="{26426A67-FE66-404F-9460-E4F947D534F5}" sibTransId="{B450EC68-6D5A-4A07-B363-39B33570687A}"/>
    <dgm:cxn modelId="{EBEB079B-CC92-49D6-A2FD-A6ECDD2BD2CC}" type="presOf" srcId="{0C0EA7BD-7CA6-42C0-B8CD-9B32C7BC9D1B}" destId="{67C7E0D8-033A-44B9-B0D4-CD15A0360DB1}" srcOrd="0" destOrd="0" presId="urn:microsoft.com/office/officeart/2005/8/layout/StepDownProcess"/>
    <dgm:cxn modelId="{ADF247AF-8904-45C5-9979-BBE94FAD2453}" type="presOf" srcId="{61219434-A2F8-4B08-8ED8-1B0EE2032230}" destId="{67C7E0D8-033A-44B9-B0D4-CD15A0360DB1}" srcOrd="0" destOrd="2" presId="urn:microsoft.com/office/officeart/2005/8/layout/StepDownProcess"/>
    <dgm:cxn modelId="{E76D33B5-D222-4B0A-AE9A-2A3C2952D57C}" srcId="{28B12180-8CA9-4096-84F9-E5272B504EF6}" destId="{9125FB4E-5C72-417E-BCC1-A4649B69DEB1}" srcOrd="0" destOrd="0" parTransId="{04024570-EE23-4C64-9009-02B9BC94AA36}" sibTransId="{46462745-4E83-4AEE-A433-3914043221F9}"/>
    <dgm:cxn modelId="{D02917BD-9340-45E0-B180-2FE6201D22EF}" srcId="{28B12180-8CA9-4096-84F9-E5272B504EF6}" destId="{25F7E716-F6EC-47F9-A2F7-A5AC10FB1431}" srcOrd="2" destOrd="0" parTransId="{24C1B76F-7CBC-4428-8B68-D96A0C70D1CC}" sibTransId="{11028CD6-4E07-4300-BC98-836B37BB1F41}"/>
    <dgm:cxn modelId="{FF5CD8BE-E358-4CCA-B679-DFDE8ED2E433}" srcId="{2207E5FD-F2C7-4906-9E48-61640A000A0F}" destId="{28B12180-8CA9-4096-84F9-E5272B504EF6}" srcOrd="0" destOrd="0" parTransId="{C0537181-DED8-4C3C-96DC-01513AE1D0CC}" sibTransId="{B59D9AE7-A9BB-4607-8E13-0FAADD3606D9}"/>
    <dgm:cxn modelId="{FD20BECA-50BB-44B9-8F27-D9BF41BC3BBD}" srcId="{EC6321A9-FD03-4713-AE79-C2301EB5BA8D}" destId="{0C0EA7BD-7CA6-42C0-B8CD-9B32C7BC9D1B}" srcOrd="0" destOrd="0" parTransId="{CE85167B-D8AD-4102-9B75-48D5A98E936F}" sibTransId="{4DCCDDE0-4337-48AD-AB63-07B0B3ECA62C}"/>
    <dgm:cxn modelId="{BC1A3CDE-6B72-453D-B8E0-B9259D96081A}" srcId="{EC6321A9-FD03-4713-AE79-C2301EB5BA8D}" destId="{C8741B1D-23CA-427A-A661-27A57BEB3C98}" srcOrd="1" destOrd="0" parTransId="{A815C829-5314-406F-8A38-ABBDDA531510}" sibTransId="{376AEF6F-4CF9-4BE6-A4B0-797D41CC9FF5}"/>
    <dgm:cxn modelId="{18A636E4-034B-47BE-9162-F0CF2BBC554C}" type="presOf" srcId="{25F7E716-F6EC-47F9-A2F7-A5AC10FB1431}" destId="{CB8DAD8A-01A8-4520-A2D2-F1B01357429A}" srcOrd="0" destOrd="2" presId="urn:microsoft.com/office/officeart/2005/8/layout/StepDownProcess"/>
    <dgm:cxn modelId="{A4BEF6E5-0A99-48AD-B7DA-CEA302A54D3B}" srcId="{E01EAA8E-5165-491F-B206-D2CEECB4A26F}" destId="{0EB86AD6-6548-4C1A-A2A8-57ECDF0591D5}" srcOrd="1" destOrd="0" parTransId="{35D386C9-BEFB-4B8C-8458-A262293193D7}" sibTransId="{0052B626-47B9-47D5-AD49-4E93F2F450B1}"/>
    <dgm:cxn modelId="{444328FD-5832-4F1E-AD08-D8133A252D56}" type="presOf" srcId="{0EB86AD6-6548-4C1A-A2A8-57ECDF0591D5}" destId="{3F610435-8C9C-4065-88E2-E727BAF5FC31}" srcOrd="0" destOrd="1" presId="urn:microsoft.com/office/officeart/2005/8/layout/StepDownProcess"/>
    <dgm:cxn modelId="{8845A1BB-033F-4D0B-8B16-8329553F7D3E}" type="presParOf" srcId="{663D52B9-9CE4-4533-B0E4-2059036B064E}" destId="{978D6E66-D782-422F-A144-A1946208D290}" srcOrd="0" destOrd="0" presId="urn:microsoft.com/office/officeart/2005/8/layout/StepDownProcess"/>
    <dgm:cxn modelId="{F73FA55D-85D2-4D6E-A3B6-19AD8F17ED13}" type="presParOf" srcId="{978D6E66-D782-422F-A144-A1946208D290}" destId="{99790350-BB99-4984-9F95-9A0C49312EB3}" srcOrd="0" destOrd="0" presId="urn:microsoft.com/office/officeart/2005/8/layout/StepDownProcess"/>
    <dgm:cxn modelId="{433C9F92-EE2D-4192-AA0B-26931AB44B88}" type="presParOf" srcId="{978D6E66-D782-422F-A144-A1946208D290}" destId="{DA07D112-FDC9-4B92-850C-6D6FB18D5E19}" srcOrd="1" destOrd="0" presId="urn:microsoft.com/office/officeart/2005/8/layout/StepDownProcess"/>
    <dgm:cxn modelId="{5166D906-948E-4558-8549-34B43B4C7F20}" type="presParOf" srcId="{978D6E66-D782-422F-A144-A1946208D290}" destId="{CB8DAD8A-01A8-4520-A2D2-F1B01357429A}" srcOrd="2" destOrd="0" presId="urn:microsoft.com/office/officeart/2005/8/layout/StepDownProcess"/>
    <dgm:cxn modelId="{A3F85F24-07F8-490D-B21F-CACCB6F786CD}" type="presParOf" srcId="{663D52B9-9CE4-4533-B0E4-2059036B064E}" destId="{3214F92C-9AF6-4D48-AD86-812B79F070E1}" srcOrd="1" destOrd="0" presId="urn:microsoft.com/office/officeart/2005/8/layout/StepDownProcess"/>
    <dgm:cxn modelId="{4BA5FC54-49DA-4D1D-8F09-3CACD2A3D729}" type="presParOf" srcId="{663D52B9-9CE4-4533-B0E4-2059036B064E}" destId="{BEFC09DC-69F2-4F50-AB83-14B9394891A9}" srcOrd="2" destOrd="0" presId="urn:microsoft.com/office/officeart/2005/8/layout/StepDownProcess"/>
    <dgm:cxn modelId="{4BB701AD-6491-4EB3-9F3B-F15027DD20EC}" type="presParOf" srcId="{BEFC09DC-69F2-4F50-AB83-14B9394891A9}" destId="{0486485E-699E-47E7-9D51-E5AE820F3EC4}" srcOrd="0" destOrd="0" presId="urn:microsoft.com/office/officeart/2005/8/layout/StepDownProcess"/>
    <dgm:cxn modelId="{F80B978A-5EF8-4237-9D30-251DB71205F6}" type="presParOf" srcId="{BEFC09DC-69F2-4F50-AB83-14B9394891A9}" destId="{523987BD-8C16-46E3-8A04-9DF04896E5D2}" srcOrd="1" destOrd="0" presId="urn:microsoft.com/office/officeart/2005/8/layout/StepDownProcess"/>
    <dgm:cxn modelId="{940C5153-2E2A-4DB0-BAC2-E8770B75E3D6}" type="presParOf" srcId="{BEFC09DC-69F2-4F50-AB83-14B9394891A9}" destId="{67C7E0D8-033A-44B9-B0D4-CD15A0360DB1}" srcOrd="2" destOrd="0" presId="urn:microsoft.com/office/officeart/2005/8/layout/StepDownProcess"/>
    <dgm:cxn modelId="{1117C54C-5C06-4FDE-8BCB-E8C41506A975}" type="presParOf" srcId="{663D52B9-9CE4-4533-B0E4-2059036B064E}" destId="{544D9E99-A66B-49EA-8BC6-75101427DF2B}" srcOrd="3" destOrd="0" presId="urn:microsoft.com/office/officeart/2005/8/layout/StepDownProcess"/>
    <dgm:cxn modelId="{1494C0CB-D765-4797-9F66-3846A440F9A2}" type="presParOf" srcId="{663D52B9-9CE4-4533-B0E4-2059036B064E}" destId="{670D65E6-0691-433D-9B7C-2F0FC2453009}" srcOrd="4" destOrd="0" presId="urn:microsoft.com/office/officeart/2005/8/layout/StepDownProcess"/>
    <dgm:cxn modelId="{B57356F3-3E3C-4630-A2D4-7547EC599D61}" type="presParOf" srcId="{670D65E6-0691-433D-9B7C-2F0FC2453009}" destId="{F1977C6B-9949-4BBD-9556-586CB792BE3F}" srcOrd="0" destOrd="0" presId="urn:microsoft.com/office/officeart/2005/8/layout/StepDownProcess"/>
    <dgm:cxn modelId="{373249A1-5573-46B1-B2E6-0717B09E683C}" type="presParOf" srcId="{670D65E6-0691-433D-9B7C-2F0FC2453009}" destId="{3F610435-8C9C-4065-88E2-E727BAF5FC31}"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2207E5FD-F2C7-4906-9E48-61640A000A0F}" type="doc">
      <dgm:prSet loTypeId="urn:microsoft.com/office/officeart/2005/8/layout/StepDownProcess" loCatId="process" qsTypeId="urn:microsoft.com/office/officeart/2005/8/quickstyle/simple1" qsCatId="simple" csTypeId="urn:microsoft.com/office/officeart/2005/8/colors/colorful4" csCatId="colorful" phldr="1"/>
      <dgm:spPr/>
      <dgm:t>
        <a:bodyPr/>
        <a:lstStyle/>
        <a:p>
          <a:endParaRPr lang="en-CA"/>
        </a:p>
      </dgm:t>
    </dgm:pt>
    <dgm:pt modelId="{28B12180-8CA9-4096-84F9-E5272B504EF6}">
      <dgm:prSet phldrT="[Text]"/>
      <dgm:spPr/>
      <dgm:t>
        <a:bodyPr/>
        <a:lstStyle/>
        <a:p>
          <a:r>
            <a:rPr lang="en-US" dirty="0"/>
            <a:t>Association</a:t>
          </a:r>
          <a:endParaRPr lang="en-CA" dirty="0"/>
        </a:p>
      </dgm:t>
    </dgm:pt>
    <dgm:pt modelId="{C0537181-DED8-4C3C-96DC-01513AE1D0CC}" type="parTrans" cxnId="{FF5CD8BE-E358-4CCA-B679-DFDE8ED2E433}">
      <dgm:prSet/>
      <dgm:spPr/>
      <dgm:t>
        <a:bodyPr/>
        <a:lstStyle/>
        <a:p>
          <a:endParaRPr lang="en-CA"/>
        </a:p>
      </dgm:t>
    </dgm:pt>
    <dgm:pt modelId="{B59D9AE7-A9BB-4607-8E13-0FAADD3606D9}" type="sibTrans" cxnId="{FF5CD8BE-E358-4CCA-B679-DFDE8ED2E433}">
      <dgm:prSet/>
      <dgm:spPr/>
      <dgm:t>
        <a:bodyPr/>
        <a:lstStyle/>
        <a:p>
          <a:endParaRPr lang="en-CA"/>
        </a:p>
      </dgm:t>
    </dgm:pt>
    <dgm:pt modelId="{9125FB4E-5C72-417E-BCC1-A4649B69DEB1}">
      <dgm:prSet phldrT="[Text]" custT="1"/>
      <dgm:spPr/>
      <dgm:t>
        <a:bodyPr/>
        <a:lstStyle/>
        <a:p>
          <a:r>
            <a:rPr lang="en-US" sz="1400" dirty="0"/>
            <a:t>Correlations </a:t>
          </a:r>
          <a:endParaRPr lang="en-CA" sz="1400" dirty="0"/>
        </a:p>
      </dgm:t>
    </dgm:pt>
    <dgm:pt modelId="{04024570-EE23-4C64-9009-02B9BC94AA36}" type="parTrans" cxnId="{E76D33B5-D222-4B0A-AE9A-2A3C2952D57C}">
      <dgm:prSet/>
      <dgm:spPr/>
      <dgm:t>
        <a:bodyPr/>
        <a:lstStyle/>
        <a:p>
          <a:endParaRPr lang="en-CA"/>
        </a:p>
      </dgm:t>
    </dgm:pt>
    <dgm:pt modelId="{46462745-4E83-4AEE-A433-3914043221F9}" type="sibTrans" cxnId="{E76D33B5-D222-4B0A-AE9A-2A3C2952D57C}">
      <dgm:prSet/>
      <dgm:spPr/>
      <dgm:t>
        <a:bodyPr/>
        <a:lstStyle/>
        <a:p>
          <a:endParaRPr lang="en-CA"/>
        </a:p>
      </dgm:t>
    </dgm:pt>
    <dgm:pt modelId="{EC6321A9-FD03-4713-AE79-C2301EB5BA8D}">
      <dgm:prSet phldrT="[Text]"/>
      <dgm:spPr/>
      <dgm:t>
        <a:bodyPr/>
        <a:lstStyle/>
        <a:p>
          <a:r>
            <a:rPr lang="en-US" dirty="0"/>
            <a:t>Intervention</a:t>
          </a:r>
          <a:endParaRPr lang="en-CA" dirty="0"/>
        </a:p>
      </dgm:t>
    </dgm:pt>
    <dgm:pt modelId="{92734265-41E5-4B39-91D4-8B4C78FFB195}" type="parTrans" cxnId="{DD3C2F71-AB74-4E0C-A1FC-B74418721391}">
      <dgm:prSet/>
      <dgm:spPr/>
      <dgm:t>
        <a:bodyPr/>
        <a:lstStyle/>
        <a:p>
          <a:endParaRPr lang="en-CA"/>
        </a:p>
      </dgm:t>
    </dgm:pt>
    <dgm:pt modelId="{2C71C000-97D9-404D-BC0E-B273932497F7}" type="sibTrans" cxnId="{DD3C2F71-AB74-4E0C-A1FC-B74418721391}">
      <dgm:prSet/>
      <dgm:spPr/>
      <dgm:t>
        <a:bodyPr/>
        <a:lstStyle/>
        <a:p>
          <a:endParaRPr lang="en-CA"/>
        </a:p>
      </dgm:t>
    </dgm:pt>
    <dgm:pt modelId="{0C0EA7BD-7CA6-42C0-B8CD-9B32C7BC9D1B}">
      <dgm:prSet phldrT="[Text]" custT="1"/>
      <dgm:spPr>
        <a:blipFill>
          <a:blip xmlns:r="http://schemas.openxmlformats.org/officeDocument/2006/relationships" r:embed="rId1"/>
          <a:stretch>
            <a:fillRect l="-1055"/>
          </a:stretch>
        </a:blipFill>
      </dgm:spPr>
      <dgm:t>
        <a:bodyPr/>
        <a:lstStyle/>
        <a:p>
          <a:r>
            <a:rPr lang="en-CA">
              <a:noFill/>
            </a:rPr>
            <a:t> </a:t>
          </a:r>
        </a:p>
      </dgm:t>
    </dgm:pt>
    <dgm:pt modelId="{CE85167B-D8AD-4102-9B75-48D5A98E936F}" type="parTrans" cxnId="{FD20BECA-50BB-44B9-8F27-D9BF41BC3BBD}">
      <dgm:prSet/>
      <dgm:spPr/>
      <dgm:t>
        <a:bodyPr/>
        <a:lstStyle/>
        <a:p>
          <a:endParaRPr lang="en-CA"/>
        </a:p>
      </dgm:t>
    </dgm:pt>
    <dgm:pt modelId="{4DCCDDE0-4337-48AD-AB63-07B0B3ECA62C}" type="sibTrans" cxnId="{FD20BECA-50BB-44B9-8F27-D9BF41BC3BBD}">
      <dgm:prSet/>
      <dgm:spPr/>
      <dgm:t>
        <a:bodyPr/>
        <a:lstStyle/>
        <a:p>
          <a:endParaRPr lang="en-CA"/>
        </a:p>
      </dgm:t>
    </dgm:pt>
    <dgm:pt modelId="{E01EAA8E-5165-491F-B206-D2CEECB4A26F}">
      <dgm:prSet phldrT="[Text]"/>
      <dgm:spPr/>
      <dgm:t>
        <a:bodyPr/>
        <a:lstStyle/>
        <a:p>
          <a:r>
            <a:rPr lang="en-US" dirty="0"/>
            <a:t>Causality</a:t>
          </a:r>
          <a:endParaRPr lang="en-CA" dirty="0"/>
        </a:p>
      </dgm:t>
    </dgm:pt>
    <dgm:pt modelId="{625F202F-1348-4A3B-87ED-DF98841A9F52}" type="parTrans" cxnId="{A5055B52-8749-4A22-9A9B-5CF981D3D756}">
      <dgm:prSet/>
      <dgm:spPr/>
      <dgm:t>
        <a:bodyPr/>
        <a:lstStyle/>
        <a:p>
          <a:endParaRPr lang="en-CA"/>
        </a:p>
      </dgm:t>
    </dgm:pt>
    <dgm:pt modelId="{0CE945CA-5EEE-418E-BE55-74EAA5DA7061}" type="sibTrans" cxnId="{A5055B52-8749-4A22-9A9B-5CF981D3D756}">
      <dgm:prSet/>
      <dgm:spPr/>
      <dgm:t>
        <a:bodyPr/>
        <a:lstStyle/>
        <a:p>
          <a:endParaRPr lang="en-CA"/>
        </a:p>
      </dgm:t>
    </dgm:pt>
    <dgm:pt modelId="{0FE3EF23-41A5-4972-A0E6-B6EC54C7250B}">
      <dgm:prSet phldrT="[Text]" custT="1"/>
      <dgm:spPr>
        <a:blipFill>
          <a:blip xmlns:r="http://schemas.openxmlformats.org/officeDocument/2006/relationships" r:embed="rId2"/>
          <a:stretch>
            <a:fillRect l="-1178"/>
          </a:stretch>
        </a:blipFill>
      </dgm:spPr>
      <dgm:t>
        <a:bodyPr/>
        <a:lstStyle/>
        <a:p>
          <a:r>
            <a:rPr lang="en-CA">
              <a:noFill/>
            </a:rPr>
            <a:t> </a:t>
          </a:r>
        </a:p>
      </dgm:t>
    </dgm:pt>
    <dgm:pt modelId="{A8A7757A-D5BA-4874-891E-03D06492E7A7}" type="parTrans" cxnId="{C9F3CC08-7E81-41BF-A4DA-BA4E65DCFFC7}">
      <dgm:prSet/>
      <dgm:spPr/>
      <dgm:t>
        <a:bodyPr/>
        <a:lstStyle/>
        <a:p>
          <a:endParaRPr lang="en-CA"/>
        </a:p>
      </dgm:t>
    </dgm:pt>
    <dgm:pt modelId="{18E646C0-4EFF-485E-9FCD-B943846DC570}" type="sibTrans" cxnId="{C9F3CC08-7E81-41BF-A4DA-BA4E65DCFFC7}">
      <dgm:prSet/>
      <dgm:spPr/>
      <dgm:t>
        <a:bodyPr/>
        <a:lstStyle/>
        <a:p>
          <a:endParaRPr lang="en-CA"/>
        </a:p>
      </dgm:t>
    </dgm:pt>
    <dgm:pt modelId="{B20C8FFA-1D69-4BD2-ACD2-5F21121CFD94}">
      <dgm:prSet phldrT="[Text]" custT="1"/>
      <dgm:spPr/>
      <dgm:t>
        <a:bodyPr/>
        <a:lstStyle/>
        <a:p>
          <a:r>
            <a:rPr lang="en-US" sz="1400" dirty="0"/>
            <a:t>Regression/ML predictions</a:t>
          </a:r>
          <a:endParaRPr lang="en-CA" sz="1400" dirty="0"/>
        </a:p>
      </dgm:t>
    </dgm:pt>
    <dgm:pt modelId="{E822586C-2C90-4D81-8EEC-307E3EC2E937}" type="parTrans" cxnId="{E4C4F54C-DB2E-4DB0-91DB-72571BEF4741}">
      <dgm:prSet/>
      <dgm:spPr/>
      <dgm:t>
        <a:bodyPr/>
        <a:lstStyle/>
        <a:p>
          <a:endParaRPr lang="en-CA"/>
        </a:p>
      </dgm:t>
    </dgm:pt>
    <dgm:pt modelId="{8DE9F0B2-546D-47D2-A217-437BDAC67804}" type="sibTrans" cxnId="{E4C4F54C-DB2E-4DB0-91DB-72571BEF4741}">
      <dgm:prSet/>
      <dgm:spPr/>
      <dgm:t>
        <a:bodyPr/>
        <a:lstStyle/>
        <a:p>
          <a:endParaRPr lang="en-CA"/>
        </a:p>
      </dgm:t>
    </dgm:pt>
    <dgm:pt modelId="{25F7E716-F6EC-47F9-A2F7-A5AC10FB1431}">
      <dgm:prSet phldrT="[Text]" custT="1"/>
      <dgm:spPr/>
      <dgm:t>
        <a:bodyPr/>
        <a:lstStyle/>
        <a:p>
          <a:r>
            <a:rPr lang="en-US" sz="1400" dirty="0"/>
            <a:t>What is the conditional distribution?</a:t>
          </a:r>
          <a:endParaRPr lang="en-CA" sz="1400" dirty="0"/>
        </a:p>
      </dgm:t>
    </dgm:pt>
    <dgm:pt modelId="{24C1B76F-7CBC-4428-8B68-D96A0C70D1CC}" type="parTrans" cxnId="{D02917BD-9340-45E0-B180-2FE6201D22EF}">
      <dgm:prSet/>
      <dgm:spPr/>
      <dgm:t>
        <a:bodyPr/>
        <a:lstStyle/>
        <a:p>
          <a:endParaRPr lang="en-CA"/>
        </a:p>
      </dgm:t>
    </dgm:pt>
    <dgm:pt modelId="{11028CD6-4E07-4300-BC98-836B37BB1F41}" type="sibTrans" cxnId="{D02917BD-9340-45E0-B180-2FE6201D22EF}">
      <dgm:prSet/>
      <dgm:spPr/>
      <dgm:t>
        <a:bodyPr/>
        <a:lstStyle/>
        <a:p>
          <a:endParaRPr lang="en-CA"/>
        </a:p>
      </dgm:t>
    </dgm:pt>
    <dgm:pt modelId="{C8741B1D-23CA-427A-A661-27A57BEB3C98}">
      <dgm:prSet phldrT="[Text]" custT="1"/>
      <dgm:spPr/>
      <dgm:t>
        <a:bodyPr/>
        <a:lstStyle/>
        <a:p>
          <a:r>
            <a:rPr lang="en-CA">
              <a:noFill/>
            </a:rPr>
            <a:t> </a:t>
          </a:r>
        </a:p>
      </dgm:t>
    </dgm:pt>
    <dgm:pt modelId="{A815C829-5314-406F-8A38-ABBDDA531510}" type="parTrans" cxnId="{BC1A3CDE-6B72-453D-B8E0-B9259D96081A}">
      <dgm:prSet/>
      <dgm:spPr/>
      <dgm:t>
        <a:bodyPr/>
        <a:lstStyle/>
        <a:p>
          <a:endParaRPr lang="en-CA"/>
        </a:p>
      </dgm:t>
    </dgm:pt>
    <dgm:pt modelId="{376AEF6F-4CF9-4BE6-A4B0-797D41CC9FF5}" type="sibTrans" cxnId="{BC1A3CDE-6B72-453D-B8E0-B9259D96081A}">
      <dgm:prSet/>
      <dgm:spPr/>
      <dgm:t>
        <a:bodyPr/>
        <a:lstStyle/>
        <a:p>
          <a:endParaRPr lang="en-CA"/>
        </a:p>
      </dgm:t>
    </dgm:pt>
    <dgm:pt modelId="{E7EA23A9-FADB-4B88-96B7-4CC3EE9C402B}">
      <dgm:prSet phldrT="[Text]" custT="1"/>
      <dgm:spPr/>
      <dgm:t>
        <a:bodyPr/>
        <a:lstStyle/>
        <a:p>
          <a:r>
            <a:rPr lang="en-CA">
              <a:noFill/>
            </a:rPr>
            <a:t> </a:t>
          </a:r>
        </a:p>
      </dgm:t>
    </dgm:pt>
    <dgm:pt modelId="{7C1C8DA6-D371-4961-B03E-3FF83A7EC849}" type="parTrans" cxnId="{72057701-B802-4803-A4AF-302926DA8827}">
      <dgm:prSet/>
      <dgm:spPr/>
      <dgm:t>
        <a:bodyPr/>
        <a:lstStyle/>
        <a:p>
          <a:endParaRPr lang="en-CA"/>
        </a:p>
      </dgm:t>
    </dgm:pt>
    <dgm:pt modelId="{38714CF1-CA47-4CA0-939C-C0E35ED71F32}" type="sibTrans" cxnId="{72057701-B802-4803-A4AF-302926DA8827}">
      <dgm:prSet/>
      <dgm:spPr/>
      <dgm:t>
        <a:bodyPr/>
        <a:lstStyle/>
        <a:p>
          <a:endParaRPr lang="en-CA"/>
        </a:p>
      </dgm:t>
    </dgm:pt>
    <dgm:pt modelId="{61219434-A2F8-4B08-8ED8-1B0EE2032230}">
      <dgm:prSet phldrT="[Text]" custT="1"/>
      <dgm:spPr/>
      <dgm:t>
        <a:bodyPr/>
        <a:lstStyle/>
        <a:p>
          <a:r>
            <a:rPr lang="en-CA">
              <a:noFill/>
            </a:rPr>
            <a:t> </a:t>
          </a:r>
        </a:p>
      </dgm:t>
    </dgm:pt>
    <dgm:pt modelId="{B3656E5D-E48E-4969-A51D-A4934B4A417E}" type="parTrans" cxnId="{47384051-3A3E-4C40-BAF8-841F5363C392}">
      <dgm:prSet/>
      <dgm:spPr/>
      <dgm:t>
        <a:bodyPr/>
        <a:lstStyle/>
        <a:p>
          <a:endParaRPr lang="en-CA"/>
        </a:p>
      </dgm:t>
    </dgm:pt>
    <dgm:pt modelId="{53609AFD-F3D8-4004-BB8E-8DED4DD0ED57}" type="sibTrans" cxnId="{47384051-3A3E-4C40-BAF8-841F5363C392}">
      <dgm:prSet/>
      <dgm:spPr/>
      <dgm:t>
        <a:bodyPr/>
        <a:lstStyle/>
        <a:p>
          <a:endParaRPr lang="en-CA"/>
        </a:p>
      </dgm:t>
    </dgm:pt>
    <dgm:pt modelId="{0EB86AD6-6548-4C1A-A2A8-57ECDF0591D5}">
      <dgm:prSet phldrT="[Text]" custT="1"/>
      <dgm:spPr/>
      <dgm:t>
        <a:bodyPr/>
        <a:lstStyle/>
        <a:p>
          <a:r>
            <a:rPr lang="en-CA">
              <a:noFill/>
            </a:rPr>
            <a:t> </a:t>
          </a:r>
        </a:p>
      </dgm:t>
    </dgm:pt>
    <dgm:pt modelId="{35D386C9-BEFB-4B8C-8458-A262293193D7}" type="parTrans" cxnId="{A4BEF6E5-0A99-48AD-B7DA-CEA302A54D3B}">
      <dgm:prSet/>
      <dgm:spPr/>
      <dgm:t>
        <a:bodyPr/>
        <a:lstStyle/>
        <a:p>
          <a:endParaRPr lang="en-CA"/>
        </a:p>
      </dgm:t>
    </dgm:pt>
    <dgm:pt modelId="{0052B626-47B9-47D5-AD49-4E93F2F450B1}" type="sibTrans" cxnId="{A4BEF6E5-0A99-48AD-B7DA-CEA302A54D3B}">
      <dgm:prSet/>
      <dgm:spPr/>
      <dgm:t>
        <a:bodyPr/>
        <a:lstStyle/>
        <a:p>
          <a:endParaRPr lang="en-CA"/>
        </a:p>
      </dgm:t>
    </dgm:pt>
    <dgm:pt modelId="{D07BAD72-BB05-4C5F-B06E-0C193BCAD435}">
      <dgm:prSet phldrT="[Text]" custT="1"/>
      <dgm:spPr/>
      <dgm:t>
        <a:bodyPr/>
        <a:lstStyle/>
        <a:p>
          <a:r>
            <a:rPr lang="en-CA">
              <a:noFill/>
            </a:rPr>
            <a:t> </a:t>
          </a:r>
        </a:p>
      </dgm:t>
    </dgm:pt>
    <dgm:pt modelId="{26426A67-FE66-404F-9460-E4F947D534F5}" type="parTrans" cxnId="{EF00959A-8718-46A7-A47C-D1AE47D7E8A9}">
      <dgm:prSet/>
      <dgm:spPr/>
      <dgm:t>
        <a:bodyPr/>
        <a:lstStyle/>
        <a:p>
          <a:endParaRPr lang="en-CA"/>
        </a:p>
      </dgm:t>
    </dgm:pt>
    <dgm:pt modelId="{B450EC68-6D5A-4A07-B363-39B33570687A}" type="sibTrans" cxnId="{EF00959A-8718-46A7-A47C-D1AE47D7E8A9}">
      <dgm:prSet/>
      <dgm:spPr/>
      <dgm:t>
        <a:bodyPr/>
        <a:lstStyle/>
        <a:p>
          <a:endParaRPr lang="en-CA"/>
        </a:p>
      </dgm:t>
    </dgm:pt>
    <dgm:pt modelId="{496B60B2-DEEB-4D0C-A634-874D130198D9}">
      <dgm:prSet phldrT="[Text]" custT="1"/>
      <dgm:spPr/>
      <dgm:t>
        <a:bodyPr/>
        <a:lstStyle/>
        <a:p>
          <a:r>
            <a:rPr lang="en-CA">
              <a:noFill/>
            </a:rPr>
            <a:t> </a:t>
          </a:r>
        </a:p>
      </dgm:t>
    </dgm:pt>
    <dgm:pt modelId="{44D349A7-DEF7-4A30-AAC9-A6A84D55DE3B}" type="parTrans" cxnId="{23313C50-DE71-4555-9C80-814CFF440922}">
      <dgm:prSet/>
      <dgm:spPr/>
      <dgm:t>
        <a:bodyPr/>
        <a:lstStyle/>
        <a:p>
          <a:endParaRPr lang="en-CA"/>
        </a:p>
      </dgm:t>
    </dgm:pt>
    <dgm:pt modelId="{0E28E595-9727-4982-B0C0-67DCF9BD5E80}" type="sibTrans" cxnId="{23313C50-DE71-4555-9C80-814CFF440922}">
      <dgm:prSet/>
      <dgm:spPr/>
      <dgm:t>
        <a:bodyPr/>
        <a:lstStyle/>
        <a:p>
          <a:endParaRPr lang="en-CA"/>
        </a:p>
      </dgm:t>
    </dgm:pt>
    <dgm:pt modelId="{663D52B9-9CE4-4533-B0E4-2059036B064E}" type="pres">
      <dgm:prSet presAssocID="{2207E5FD-F2C7-4906-9E48-61640A000A0F}" presName="rootnode" presStyleCnt="0">
        <dgm:presLayoutVars>
          <dgm:chMax/>
          <dgm:chPref/>
          <dgm:dir/>
          <dgm:animLvl val="lvl"/>
        </dgm:presLayoutVars>
      </dgm:prSet>
      <dgm:spPr/>
    </dgm:pt>
    <dgm:pt modelId="{978D6E66-D782-422F-A144-A1946208D290}" type="pres">
      <dgm:prSet presAssocID="{28B12180-8CA9-4096-84F9-E5272B504EF6}" presName="composite" presStyleCnt="0"/>
      <dgm:spPr/>
    </dgm:pt>
    <dgm:pt modelId="{99790350-BB99-4984-9F95-9A0C49312EB3}" type="pres">
      <dgm:prSet presAssocID="{28B12180-8CA9-4096-84F9-E5272B504EF6}" presName="bentUpArrow1" presStyleLbl="alignImgPlace1" presStyleIdx="0" presStyleCnt="2" custLinFactNeighborX="-27045" custLinFactNeighborY="1528"/>
      <dgm:spPr/>
    </dgm:pt>
    <dgm:pt modelId="{DA07D112-FDC9-4B92-850C-6D6FB18D5E19}" type="pres">
      <dgm:prSet presAssocID="{28B12180-8CA9-4096-84F9-E5272B504EF6}" presName="ParentText" presStyleLbl="node1" presStyleIdx="0" presStyleCnt="3" custLinFactNeighborX="-30458">
        <dgm:presLayoutVars>
          <dgm:chMax val="1"/>
          <dgm:chPref val="1"/>
          <dgm:bulletEnabled val="1"/>
        </dgm:presLayoutVars>
      </dgm:prSet>
      <dgm:spPr/>
    </dgm:pt>
    <dgm:pt modelId="{CB8DAD8A-01A8-4520-A2D2-F1B01357429A}" type="pres">
      <dgm:prSet presAssocID="{28B12180-8CA9-4096-84F9-E5272B504EF6}" presName="ChildText" presStyleLbl="revTx" presStyleIdx="0" presStyleCnt="3" custScaleX="182687" custLinFactNeighborX="22589" custLinFactNeighborY="-1028">
        <dgm:presLayoutVars>
          <dgm:chMax val="0"/>
          <dgm:chPref val="0"/>
          <dgm:bulletEnabled val="1"/>
        </dgm:presLayoutVars>
      </dgm:prSet>
      <dgm:spPr/>
    </dgm:pt>
    <dgm:pt modelId="{3214F92C-9AF6-4D48-AD86-812B79F070E1}" type="pres">
      <dgm:prSet presAssocID="{B59D9AE7-A9BB-4607-8E13-0FAADD3606D9}" presName="sibTrans" presStyleCnt="0"/>
      <dgm:spPr/>
    </dgm:pt>
    <dgm:pt modelId="{BEFC09DC-69F2-4F50-AB83-14B9394891A9}" type="pres">
      <dgm:prSet presAssocID="{EC6321A9-FD03-4713-AE79-C2301EB5BA8D}" presName="composite" presStyleCnt="0"/>
      <dgm:spPr/>
    </dgm:pt>
    <dgm:pt modelId="{0486485E-699E-47E7-9D51-E5AE820F3EC4}" type="pres">
      <dgm:prSet presAssocID="{EC6321A9-FD03-4713-AE79-C2301EB5BA8D}" presName="bentUpArrow1" presStyleLbl="alignImgPlace1" presStyleIdx="1" presStyleCnt="2" custLinFactNeighborX="-47648"/>
      <dgm:spPr/>
    </dgm:pt>
    <dgm:pt modelId="{523987BD-8C16-46E3-8A04-9DF04896E5D2}" type="pres">
      <dgm:prSet presAssocID="{EC6321A9-FD03-4713-AE79-C2301EB5BA8D}" presName="ParentText" presStyleLbl="node1" presStyleIdx="1" presStyleCnt="3" custLinFactNeighborX="-36960" custLinFactNeighborY="-3485">
        <dgm:presLayoutVars>
          <dgm:chMax val="1"/>
          <dgm:chPref val="1"/>
          <dgm:bulletEnabled val="1"/>
        </dgm:presLayoutVars>
      </dgm:prSet>
      <dgm:spPr/>
    </dgm:pt>
    <dgm:pt modelId="{67C7E0D8-033A-44B9-B0D4-CD15A0360DB1}" type="pres">
      <dgm:prSet presAssocID="{EC6321A9-FD03-4713-AE79-C2301EB5BA8D}" presName="ChildText" presStyleLbl="revTx" presStyleIdx="1" presStyleCnt="3" custScaleX="285849" custLinFactNeighborX="55465" custLinFactNeighborY="-5337">
        <dgm:presLayoutVars>
          <dgm:chMax val="0"/>
          <dgm:chPref val="0"/>
          <dgm:bulletEnabled val="1"/>
        </dgm:presLayoutVars>
      </dgm:prSet>
      <dgm:spPr/>
    </dgm:pt>
    <dgm:pt modelId="{544D9E99-A66B-49EA-8BC6-75101427DF2B}" type="pres">
      <dgm:prSet presAssocID="{2C71C000-97D9-404D-BC0E-B273932497F7}" presName="sibTrans" presStyleCnt="0"/>
      <dgm:spPr/>
    </dgm:pt>
    <dgm:pt modelId="{670D65E6-0691-433D-9B7C-2F0FC2453009}" type="pres">
      <dgm:prSet presAssocID="{E01EAA8E-5165-491F-B206-D2CEECB4A26F}" presName="composite" presStyleCnt="0"/>
      <dgm:spPr/>
    </dgm:pt>
    <dgm:pt modelId="{F1977C6B-9949-4BBD-9556-586CB792BE3F}" type="pres">
      <dgm:prSet presAssocID="{E01EAA8E-5165-491F-B206-D2CEECB4A26F}" presName="ParentText" presStyleLbl="node1" presStyleIdx="2" presStyleCnt="3" custLinFactNeighborX="-48970" custLinFactNeighborY="1882">
        <dgm:presLayoutVars>
          <dgm:chMax val="1"/>
          <dgm:chPref val="1"/>
          <dgm:bulletEnabled val="1"/>
        </dgm:presLayoutVars>
      </dgm:prSet>
      <dgm:spPr/>
    </dgm:pt>
    <dgm:pt modelId="{3F610435-8C9C-4065-88E2-E727BAF5FC31}" type="pres">
      <dgm:prSet presAssocID="{E01EAA8E-5165-491F-B206-D2CEECB4A26F}" presName="FinalChildText" presStyleLbl="revTx" presStyleIdx="2" presStyleCnt="3" custScaleX="256285" custLinFactNeighborX="66011" custLinFactNeighborY="1127">
        <dgm:presLayoutVars>
          <dgm:chMax val="0"/>
          <dgm:chPref val="0"/>
          <dgm:bulletEnabled val="1"/>
        </dgm:presLayoutVars>
      </dgm:prSet>
      <dgm:spPr/>
    </dgm:pt>
  </dgm:ptLst>
  <dgm:cxnLst>
    <dgm:cxn modelId="{72057701-B802-4803-A4AF-302926DA8827}" srcId="{EC6321A9-FD03-4713-AE79-C2301EB5BA8D}" destId="{E7EA23A9-FADB-4B88-96B7-4CC3EE9C402B}" srcOrd="3" destOrd="0" parTransId="{7C1C8DA6-D371-4961-B03E-3FF83A7EC849}" sibTransId="{38714CF1-CA47-4CA0-939C-C0E35ED71F32}"/>
    <dgm:cxn modelId="{C9F3CC08-7E81-41BF-A4DA-BA4E65DCFFC7}" srcId="{E01EAA8E-5165-491F-B206-D2CEECB4A26F}" destId="{0FE3EF23-41A5-4972-A0E6-B6EC54C7250B}" srcOrd="0" destOrd="0" parTransId="{A8A7757A-D5BA-4874-891E-03D06492E7A7}" sibTransId="{18E646C0-4EFF-485E-9FCD-B943846DC570}"/>
    <dgm:cxn modelId="{A366270E-C8F7-4A6B-8D17-880D9D0FF032}" type="presOf" srcId="{28B12180-8CA9-4096-84F9-E5272B504EF6}" destId="{DA07D112-FDC9-4B92-850C-6D6FB18D5E19}" srcOrd="0" destOrd="0" presId="urn:microsoft.com/office/officeart/2005/8/layout/StepDownProcess"/>
    <dgm:cxn modelId="{7FB58411-BB8B-46A4-94C6-1AA287EC6D37}" type="presOf" srcId="{496B60B2-DEEB-4D0C-A634-874D130198D9}" destId="{3F610435-8C9C-4065-88E2-E727BAF5FC31}" srcOrd="0" destOrd="3" presId="urn:microsoft.com/office/officeart/2005/8/layout/StepDownProcess"/>
    <dgm:cxn modelId="{3A81E221-A48C-4E83-ABD1-2C859BDF1F84}" type="presOf" srcId="{E7EA23A9-FADB-4B88-96B7-4CC3EE9C402B}" destId="{67C7E0D8-033A-44B9-B0D4-CD15A0360DB1}" srcOrd="0" destOrd="3" presId="urn:microsoft.com/office/officeart/2005/8/layout/StepDownProcess"/>
    <dgm:cxn modelId="{83159C2B-92F7-482C-AF61-4393E09E0500}" type="presOf" srcId="{D07BAD72-BB05-4C5F-B06E-0C193BCAD435}" destId="{3F610435-8C9C-4065-88E2-E727BAF5FC31}" srcOrd="0" destOrd="2" presId="urn:microsoft.com/office/officeart/2005/8/layout/StepDownProcess"/>
    <dgm:cxn modelId="{AF201240-780C-430A-9237-F0A3D9BB31C6}" type="presOf" srcId="{B20C8FFA-1D69-4BD2-ACD2-5F21121CFD94}" destId="{CB8DAD8A-01A8-4520-A2D2-F1B01357429A}" srcOrd="0" destOrd="1" presId="urn:microsoft.com/office/officeart/2005/8/layout/StepDownProcess"/>
    <dgm:cxn modelId="{E07D2D5F-21F1-4634-A789-B71259213130}" type="presOf" srcId="{0FE3EF23-41A5-4972-A0E6-B6EC54C7250B}" destId="{3F610435-8C9C-4065-88E2-E727BAF5FC31}" srcOrd="0" destOrd="0" presId="urn:microsoft.com/office/officeart/2005/8/layout/StepDownProcess"/>
    <dgm:cxn modelId="{E4C4F54C-DB2E-4DB0-91DB-72571BEF4741}" srcId="{28B12180-8CA9-4096-84F9-E5272B504EF6}" destId="{B20C8FFA-1D69-4BD2-ACD2-5F21121CFD94}" srcOrd="1" destOrd="0" parTransId="{E822586C-2C90-4D81-8EEC-307E3EC2E937}" sibTransId="{8DE9F0B2-546D-47D2-A217-437BDAC67804}"/>
    <dgm:cxn modelId="{23313C50-DE71-4555-9C80-814CFF440922}" srcId="{E01EAA8E-5165-491F-B206-D2CEECB4A26F}" destId="{496B60B2-DEEB-4D0C-A634-874D130198D9}" srcOrd="3" destOrd="0" parTransId="{44D349A7-DEF7-4A30-AAC9-A6A84D55DE3B}" sibTransId="{0E28E595-9727-4982-B0C0-67DCF9BD5E80}"/>
    <dgm:cxn modelId="{DD3C2F71-AB74-4E0C-A1FC-B74418721391}" srcId="{2207E5FD-F2C7-4906-9E48-61640A000A0F}" destId="{EC6321A9-FD03-4713-AE79-C2301EB5BA8D}" srcOrd="1" destOrd="0" parTransId="{92734265-41E5-4B39-91D4-8B4C78FFB195}" sibTransId="{2C71C000-97D9-404D-BC0E-B273932497F7}"/>
    <dgm:cxn modelId="{47384051-3A3E-4C40-BAF8-841F5363C392}" srcId="{EC6321A9-FD03-4713-AE79-C2301EB5BA8D}" destId="{61219434-A2F8-4B08-8ED8-1B0EE2032230}" srcOrd="2" destOrd="0" parTransId="{B3656E5D-E48E-4969-A51D-A4934B4A417E}" sibTransId="{53609AFD-F3D8-4004-BB8E-8DED4DD0ED57}"/>
    <dgm:cxn modelId="{A5055B52-8749-4A22-9A9B-5CF981D3D756}" srcId="{2207E5FD-F2C7-4906-9E48-61640A000A0F}" destId="{E01EAA8E-5165-491F-B206-D2CEECB4A26F}" srcOrd="2" destOrd="0" parTransId="{625F202F-1348-4A3B-87ED-DF98841A9F52}" sibTransId="{0CE945CA-5EEE-418E-BE55-74EAA5DA7061}"/>
    <dgm:cxn modelId="{3080A676-3362-4F4B-BBA0-9099B5FDCDA5}" type="presOf" srcId="{E01EAA8E-5165-491F-B206-D2CEECB4A26F}" destId="{F1977C6B-9949-4BBD-9556-586CB792BE3F}" srcOrd="0" destOrd="0" presId="urn:microsoft.com/office/officeart/2005/8/layout/StepDownProcess"/>
    <dgm:cxn modelId="{BE87D67D-1FC7-4D41-A1B4-6478E61069D3}" type="presOf" srcId="{C8741B1D-23CA-427A-A661-27A57BEB3C98}" destId="{67C7E0D8-033A-44B9-B0D4-CD15A0360DB1}" srcOrd="0" destOrd="1" presId="urn:microsoft.com/office/officeart/2005/8/layout/StepDownProcess"/>
    <dgm:cxn modelId="{19285289-B8F6-4905-A10F-1D0725829B60}" type="presOf" srcId="{9125FB4E-5C72-417E-BCC1-A4649B69DEB1}" destId="{CB8DAD8A-01A8-4520-A2D2-F1B01357429A}" srcOrd="0" destOrd="0" presId="urn:microsoft.com/office/officeart/2005/8/layout/StepDownProcess"/>
    <dgm:cxn modelId="{DFC2D98F-20B3-4C52-83BA-72A0DB743CA7}" type="presOf" srcId="{2207E5FD-F2C7-4906-9E48-61640A000A0F}" destId="{663D52B9-9CE4-4533-B0E4-2059036B064E}" srcOrd="0" destOrd="0" presId="urn:microsoft.com/office/officeart/2005/8/layout/StepDownProcess"/>
    <dgm:cxn modelId="{895C6890-C0DE-45B8-938C-B0FDC58CF0BF}" type="presOf" srcId="{EC6321A9-FD03-4713-AE79-C2301EB5BA8D}" destId="{523987BD-8C16-46E3-8A04-9DF04896E5D2}" srcOrd="0" destOrd="0" presId="urn:microsoft.com/office/officeart/2005/8/layout/StepDownProcess"/>
    <dgm:cxn modelId="{EF00959A-8718-46A7-A47C-D1AE47D7E8A9}" srcId="{E01EAA8E-5165-491F-B206-D2CEECB4A26F}" destId="{D07BAD72-BB05-4C5F-B06E-0C193BCAD435}" srcOrd="2" destOrd="0" parTransId="{26426A67-FE66-404F-9460-E4F947D534F5}" sibTransId="{B450EC68-6D5A-4A07-B363-39B33570687A}"/>
    <dgm:cxn modelId="{EBEB079B-CC92-49D6-A2FD-A6ECDD2BD2CC}" type="presOf" srcId="{0C0EA7BD-7CA6-42C0-B8CD-9B32C7BC9D1B}" destId="{67C7E0D8-033A-44B9-B0D4-CD15A0360DB1}" srcOrd="0" destOrd="0" presId="urn:microsoft.com/office/officeart/2005/8/layout/StepDownProcess"/>
    <dgm:cxn modelId="{ADF247AF-8904-45C5-9979-BBE94FAD2453}" type="presOf" srcId="{61219434-A2F8-4B08-8ED8-1B0EE2032230}" destId="{67C7E0D8-033A-44B9-B0D4-CD15A0360DB1}" srcOrd="0" destOrd="2" presId="urn:microsoft.com/office/officeart/2005/8/layout/StepDownProcess"/>
    <dgm:cxn modelId="{E76D33B5-D222-4B0A-AE9A-2A3C2952D57C}" srcId="{28B12180-8CA9-4096-84F9-E5272B504EF6}" destId="{9125FB4E-5C72-417E-BCC1-A4649B69DEB1}" srcOrd="0" destOrd="0" parTransId="{04024570-EE23-4C64-9009-02B9BC94AA36}" sibTransId="{46462745-4E83-4AEE-A433-3914043221F9}"/>
    <dgm:cxn modelId="{D02917BD-9340-45E0-B180-2FE6201D22EF}" srcId="{28B12180-8CA9-4096-84F9-E5272B504EF6}" destId="{25F7E716-F6EC-47F9-A2F7-A5AC10FB1431}" srcOrd="2" destOrd="0" parTransId="{24C1B76F-7CBC-4428-8B68-D96A0C70D1CC}" sibTransId="{11028CD6-4E07-4300-BC98-836B37BB1F41}"/>
    <dgm:cxn modelId="{FF5CD8BE-E358-4CCA-B679-DFDE8ED2E433}" srcId="{2207E5FD-F2C7-4906-9E48-61640A000A0F}" destId="{28B12180-8CA9-4096-84F9-E5272B504EF6}" srcOrd="0" destOrd="0" parTransId="{C0537181-DED8-4C3C-96DC-01513AE1D0CC}" sibTransId="{B59D9AE7-A9BB-4607-8E13-0FAADD3606D9}"/>
    <dgm:cxn modelId="{FD20BECA-50BB-44B9-8F27-D9BF41BC3BBD}" srcId="{EC6321A9-FD03-4713-AE79-C2301EB5BA8D}" destId="{0C0EA7BD-7CA6-42C0-B8CD-9B32C7BC9D1B}" srcOrd="0" destOrd="0" parTransId="{CE85167B-D8AD-4102-9B75-48D5A98E936F}" sibTransId="{4DCCDDE0-4337-48AD-AB63-07B0B3ECA62C}"/>
    <dgm:cxn modelId="{BC1A3CDE-6B72-453D-B8E0-B9259D96081A}" srcId="{EC6321A9-FD03-4713-AE79-C2301EB5BA8D}" destId="{C8741B1D-23CA-427A-A661-27A57BEB3C98}" srcOrd="1" destOrd="0" parTransId="{A815C829-5314-406F-8A38-ABBDDA531510}" sibTransId="{376AEF6F-4CF9-4BE6-A4B0-797D41CC9FF5}"/>
    <dgm:cxn modelId="{18A636E4-034B-47BE-9162-F0CF2BBC554C}" type="presOf" srcId="{25F7E716-F6EC-47F9-A2F7-A5AC10FB1431}" destId="{CB8DAD8A-01A8-4520-A2D2-F1B01357429A}" srcOrd="0" destOrd="2" presId="urn:microsoft.com/office/officeart/2005/8/layout/StepDownProcess"/>
    <dgm:cxn modelId="{A4BEF6E5-0A99-48AD-B7DA-CEA302A54D3B}" srcId="{E01EAA8E-5165-491F-B206-D2CEECB4A26F}" destId="{0EB86AD6-6548-4C1A-A2A8-57ECDF0591D5}" srcOrd="1" destOrd="0" parTransId="{35D386C9-BEFB-4B8C-8458-A262293193D7}" sibTransId="{0052B626-47B9-47D5-AD49-4E93F2F450B1}"/>
    <dgm:cxn modelId="{444328FD-5832-4F1E-AD08-D8133A252D56}" type="presOf" srcId="{0EB86AD6-6548-4C1A-A2A8-57ECDF0591D5}" destId="{3F610435-8C9C-4065-88E2-E727BAF5FC31}" srcOrd="0" destOrd="1" presId="urn:microsoft.com/office/officeart/2005/8/layout/StepDownProcess"/>
    <dgm:cxn modelId="{8845A1BB-033F-4D0B-8B16-8329553F7D3E}" type="presParOf" srcId="{663D52B9-9CE4-4533-B0E4-2059036B064E}" destId="{978D6E66-D782-422F-A144-A1946208D290}" srcOrd="0" destOrd="0" presId="urn:microsoft.com/office/officeart/2005/8/layout/StepDownProcess"/>
    <dgm:cxn modelId="{F73FA55D-85D2-4D6E-A3B6-19AD8F17ED13}" type="presParOf" srcId="{978D6E66-D782-422F-A144-A1946208D290}" destId="{99790350-BB99-4984-9F95-9A0C49312EB3}" srcOrd="0" destOrd="0" presId="urn:microsoft.com/office/officeart/2005/8/layout/StepDownProcess"/>
    <dgm:cxn modelId="{433C9F92-EE2D-4192-AA0B-26931AB44B88}" type="presParOf" srcId="{978D6E66-D782-422F-A144-A1946208D290}" destId="{DA07D112-FDC9-4B92-850C-6D6FB18D5E19}" srcOrd="1" destOrd="0" presId="urn:microsoft.com/office/officeart/2005/8/layout/StepDownProcess"/>
    <dgm:cxn modelId="{5166D906-948E-4558-8549-34B43B4C7F20}" type="presParOf" srcId="{978D6E66-D782-422F-A144-A1946208D290}" destId="{CB8DAD8A-01A8-4520-A2D2-F1B01357429A}" srcOrd="2" destOrd="0" presId="urn:microsoft.com/office/officeart/2005/8/layout/StepDownProcess"/>
    <dgm:cxn modelId="{A3F85F24-07F8-490D-B21F-CACCB6F786CD}" type="presParOf" srcId="{663D52B9-9CE4-4533-B0E4-2059036B064E}" destId="{3214F92C-9AF6-4D48-AD86-812B79F070E1}" srcOrd="1" destOrd="0" presId="urn:microsoft.com/office/officeart/2005/8/layout/StepDownProcess"/>
    <dgm:cxn modelId="{4BA5FC54-49DA-4D1D-8F09-3CACD2A3D729}" type="presParOf" srcId="{663D52B9-9CE4-4533-B0E4-2059036B064E}" destId="{BEFC09DC-69F2-4F50-AB83-14B9394891A9}" srcOrd="2" destOrd="0" presId="urn:microsoft.com/office/officeart/2005/8/layout/StepDownProcess"/>
    <dgm:cxn modelId="{4BB701AD-6491-4EB3-9F3B-F15027DD20EC}" type="presParOf" srcId="{BEFC09DC-69F2-4F50-AB83-14B9394891A9}" destId="{0486485E-699E-47E7-9D51-E5AE820F3EC4}" srcOrd="0" destOrd="0" presId="urn:microsoft.com/office/officeart/2005/8/layout/StepDownProcess"/>
    <dgm:cxn modelId="{F80B978A-5EF8-4237-9D30-251DB71205F6}" type="presParOf" srcId="{BEFC09DC-69F2-4F50-AB83-14B9394891A9}" destId="{523987BD-8C16-46E3-8A04-9DF04896E5D2}" srcOrd="1" destOrd="0" presId="urn:microsoft.com/office/officeart/2005/8/layout/StepDownProcess"/>
    <dgm:cxn modelId="{940C5153-2E2A-4DB0-BAC2-E8770B75E3D6}" type="presParOf" srcId="{BEFC09DC-69F2-4F50-AB83-14B9394891A9}" destId="{67C7E0D8-033A-44B9-B0D4-CD15A0360DB1}" srcOrd="2" destOrd="0" presId="urn:microsoft.com/office/officeart/2005/8/layout/StepDownProcess"/>
    <dgm:cxn modelId="{1117C54C-5C06-4FDE-8BCB-E8C41506A975}" type="presParOf" srcId="{663D52B9-9CE4-4533-B0E4-2059036B064E}" destId="{544D9E99-A66B-49EA-8BC6-75101427DF2B}" srcOrd="3" destOrd="0" presId="urn:microsoft.com/office/officeart/2005/8/layout/StepDownProcess"/>
    <dgm:cxn modelId="{1494C0CB-D765-4797-9F66-3846A440F9A2}" type="presParOf" srcId="{663D52B9-9CE4-4533-B0E4-2059036B064E}" destId="{670D65E6-0691-433D-9B7C-2F0FC2453009}" srcOrd="4" destOrd="0" presId="urn:microsoft.com/office/officeart/2005/8/layout/StepDownProcess"/>
    <dgm:cxn modelId="{B57356F3-3E3C-4630-A2D4-7547EC599D61}" type="presParOf" srcId="{670D65E6-0691-433D-9B7C-2F0FC2453009}" destId="{F1977C6B-9949-4BBD-9556-586CB792BE3F}" srcOrd="0" destOrd="0" presId="urn:microsoft.com/office/officeart/2005/8/layout/StepDownProcess"/>
    <dgm:cxn modelId="{373249A1-5573-46B1-B2E6-0717B09E683C}" type="presParOf" srcId="{670D65E6-0691-433D-9B7C-2F0FC2453009}" destId="{3F610435-8C9C-4065-88E2-E727BAF5FC31}"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19E79-9476-48DA-96CE-DE990C8879D1}">
      <dsp:nvSpPr>
        <dsp:cNvPr id="0" name=""/>
        <dsp:cNvSpPr/>
      </dsp:nvSpPr>
      <dsp:spPr>
        <a:xfrm>
          <a:off x="3476411" y="0"/>
          <a:ext cx="1864840" cy="1864934"/>
        </a:xfrm>
        <a:prstGeom prst="leftCircularArrow">
          <a:avLst>
            <a:gd name="adj1" fmla="val 10980"/>
            <a:gd name="adj2" fmla="val 1142322"/>
            <a:gd name="adj3" fmla="val 6300000"/>
            <a:gd name="adj4" fmla="val 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CCA857-613F-48CE-A4F5-AE6E9AD5CCFD}">
      <dsp:nvSpPr>
        <dsp:cNvPr id="0" name=""/>
        <dsp:cNvSpPr/>
      </dsp:nvSpPr>
      <dsp:spPr>
        <a:xfrm>
          <a:off x="3754126" y="675421"/>
          <a:ext cx="1304510"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Foundations</a:t>
          </a:r>
          <a:endParaRPr lang="en-CA" sz="1600" kern="1200" dirty="0"/>
        </a:p>
      </dsp:txBody>
      <dsp:txXfrm>
        <a:off x="3754126" y="675421"/>
        <a:ext cx="1304510" cy="520110"/>
      </dsp:txXfrm>
    </dsp:sp>
    <dsp:sp modelId="{6084E631-2316-4D10-A75F-DF3113EA0B52}">
      <dsp:nvSpPr>
        <dsp:cNvPr id="0" name=""/>
        <dsp:cNvSpPr/>
      </dsp:nvSpPr>
      <dsp:spPr>
        <a:xfrm>
          <a:off x="3994480" y="1071524"/>
          <a:ext cx="1864840" cy="1864934"/>
        </a:xfrm>
        <a:prstGeom prst="circularArrow">
          <a:avLst>
            <a:gd name="adj1" fmla="val 10980"/>
            <a:gd name="adj2" fmla="val 1142322"/>
            <a:gd name="adj3" fmla="val 4500000"/>
            <a:gd name="adj4" fmla="val 135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03CE6-2778-43FA-B74E-DF0F08958F8B}">
      <dsp:nvSpPr>
        <dsp:cNvPr id="0" name=""/>
        <dsp:cNvSpPr/>
      </dsp:nvSpPr>
      <dsp:spPr>
        <a:xfrm>
          <a:off x="4296638" y="1749353"/>
          <a:ext cx="1259823"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Regression</a:t>
          </a:r>
          <a:r>
            <a:rPr lang="en-US" sz="1200" kern="1200" dirty="0"/>
            <a:t> in Practice (Associations)</a:t>
          </a:r>
          <a:endParaRPr lang="en-CA" sz="1200" kern="1200" dirty="0"/>
        </a:p>
      </dsp:txBody>
      <dsp:txXfrm>
        <a:off x="4296638" y="1749353"/>
        <a:ext cx="1259823" cy="520110"/>
      </dsp:txXfrm>
    </dsp:sp>
    <dsp:sp modelId="{7C8DA746-1CA7-4DA8-8797-A51BA1A54D07}">
      <dsp:nvSpPr>
        <dsp:cNvPr id="0" name=""/>
        <dsp:cNvSpPr/>
      </dsp:nvSpPr>
      <dsp:spPr>
        <a:xfrm>
          <a:off x="3476411" y="2147864"/>
          <a:ext cx="1864840" cy="1864934"/>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069BA6-6AB0-4879-8113-66001FC95627}">
      <dsp:nvSpPr>
        <dsp:cNvPr id="0" name=""/>
        <dsp:cNvSpPr/>
      </dsp:nvSpPr>
      <dsp:spPr>
        <a:xfrm>
          <a:off x="3886039" y="2822684"/>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Research Design</a:t>
          </a:r>
          <a:endParaRPr lang="en-CA" sz="1600" kern="1200" dirty="0"/>
        </a:p>
      </dsp:txBody>
      <dsp:txXfrm>
        <a:off x="3886039" y="2822684"/>
        <a:ext cx="1040686" cy="520110"/>
      </dsp:txXfrm>
    </dsp:sp>
    <dsp:sp modelId="{A1852EF2-4805-4DFD-B8CC-94A79494EFEC}">
      <dsp:nvSpPr>
        <dsp:cNvPr id="0" name=""/>
        <dsp:cNvSpPr/>
      </dsp:nvSpPr>
      <dsp:spPr>
        <a:xfrm>
          <a:off x="3994480" y="3221194"/>
          <a:ext cx="1864840" cy="1864934"/>
        </a:xfrm>
        <a:prstGeom prst="circularArrow">
          <a:avLst>
            <a:gd name="adj1" fmla="val 10980"/>
            <a:gd name="adj2" fmla="val 1142322"/>
            <a:gd name="adj3" fmla="val 4500000"/>
            <a:gd name="adj4" fmla="val 135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DB933A-F142-468D-881E-439E2E4CC592}">
      <dsp:nvSpPr>
        <dsp:cNvPr id="0" name=""/>
        <dsp:cNvSpPr/>
      </dsp:nvSpPr>
      <dsp:spPr>
        <a:xfrm>
          <a:off x="5762752" y="4036741"/>
          <a:ext cx="7068286" cy="741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Matching</a:t>
          </a:r>
          <a:endParaRPr lang="en-CA" sz="1800" kern="1200" dirty="0"/>
        </a:p>
        <a:p>
          <a:pPr marL="171450" lvl="1" indent="-171450" algn="l" defTabSz="800100">
            <a:lnSpc>
              <a:spcPct val="90000"/>
            </a:lnSpc>
            <a:spcBef>
              <a:spcPct val="0"/>
            </a:spcBef>
            <a:spcAft>
              <a:spcPct val="15000"/>
            </a:spcAft>
            <a:buChar char="•"/>
          </a:pPr>
          <a:r>
            <a:rPr lang="en-US" sz="1800" kern="1200" dirty="0"/>
            <a:t>Instrumental Variables</a:t>
          </a:r>
          <a:endParaRPr lang="en-CA" sz="1800" kern="1200" dirty="0"/>
        </a:p>
        <a:p>
          <a:pPr marL="171450" lvl="1" indent="-171450" algn="l" defTabSz="800100">
            <a:lnSpc>
              <a:spcPct val="90000"/>
            </a:lnSpc>
            <a:spcBef>
              <a:spcPct val="0"/>
            </a:spcBef>
            <a:spcAft>
              <a:spcPct val="15000"/>
            </a:spcAft>
            <a:buChar char="•"/>
          </a:pPr>
          <a:r>
            <a:rPr lang="en-US" sz="1800" kern="1200" dirty="0"/>
            <a:t>Nonlinear regression models</a:t>
          </a:r>
          <a:endParaRPr lang="en-CA" sz="1800" kern="1200" dirty="0"/>
        </a:p>
        <a:p>
          <a:pPr marL="171450" lvl="1" indent="-171450" algn="l" defTabSz="800100">
            <a:lnSpc>
              <a:spcPct val="90000"/>
            </a:lnSpc>
            <a:spcBef>
              <a:spcPct val="0"/>
            </a:spcBef>
            <a:spcAft>
              <a:spcPct val="15000"/>
            </a:spcAft>
            <a:buChar char="•"/>
          </a:pPr>
          <a:r>
            <a:rPr lang="en-US" sz="1800" kern="1200" dirty="0"/>
            <a:t>Difference-in-differences</a:t>
          </a:r>
          <a:endParaRPr lang="en-CA" sz="1800" kern="1200" dirty="0"/>
        </a:p>
      </dsp:txBody>
      <dsp:txXfrm>
        <a:off x="5762752" y="4036741"/>
        <a:ext cx="7068286" cy="741639"/>
      </dsp:txXfrm>
    </dsp:sp>
    <dsp:sp modelId="{641F3FC8-4AE5-4F3A-9ADB-B46D3F710B65}">
      <dsp:nvSpPr>
        <dsp:cNvPr id="0" name=""/>
        <dsp:cNvSpPr/>
      </dsp:nvSpPr>
      <dsp:spPr>
        <a:xfrm>
          <a:off x="4406207" y="3896616"/>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Causal Inference Methods</a:t>
          </a:r>
          <a:endParaRPr lang="en-CA" sz="1600" kern="1200" dirty="0"/>
        </a:p>
      </dsp:txBody>
      <dsp:txXfrm>
        <a:off x="4406207" y="3896616"/>
        <a:ext cx="1040686" cy="520110"/>
      </dsp:txXfrm>
    </dsp:sp>
    <dsp:sp modelId="{33DD1281-3181-44F8-93AE-D39471B822C2}">
      <dsp:nvSpPr>
        <dsp:cNvPr id="0" name=""/>
        <dsp:cNvSpPr/>
      </dsp:nvSpPr>
      <dsp:spPr>
        <a:xfrm>
          <a:off x="3608639" y="4416727"/>
          <a:ext cx="1602132" cy="1603072"/>
        </a:xfrm>
        <a:prstGeom prst="blockArc">
          <a:avLst>
            <a:gd name="adj1" fmla="val 0"/>
            <a:gd name="adj2" fmla="val 18900000"/>
            <a:gd name="adj3" fmla="val 1274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E113A7-A102-4503-A418-26987C106DCF}">
      <dsp:nvSpPr>
        <dsp:cNvPr id="0" name=""/>
        <dsp:cNvSpPr/>
      </dsp:nvSpPr>
      <dsp:spPr>
        <a:xfrm>
          <a:off x="5366472" y="4872592"/>
          <a:ext cx="6003049" cy="1117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Synthetic Controls</a:t>
          </a:r>
          <a:endParaRPr lang="en-CA" sz="1800" kern="1200" dirty="0"/>
        </a:p>
        <a:p>
          <a:pPr marL="171450" lvl="1" indent="-171450" algn="l" defTabSz="800100">
            <a:lnSpc>
              <a:spcPct val="90000"/>
            </a:lnSpc>
            <a:spcBef>
              <a:spcPct val="0"/>
            </a:spcBef>
            <a:spcAft>
              <a:spcPct val="15000"/>
            </a:spcAft>
            <a:buChar char="•"/>
          </a:pPr>
          <a:r>
            <a:rPr lang="en-US" sz="1800" kern="1200" dirty="0"/>
            <a:t>Machine Learning for Quant Research (Causality)</a:t>
          </a:r>
          <a:endParaRPr lang="en-CA" sz="1800" kern="1200" dirty="0"/>
        </a:p>
      </dsp:txBody>
      <dsp:txXfrm>
        <a:off x="5366472" y="4872592"/>
        <a:ext cx="6003049" cy="1117472"/>
      </dsp:txXfrm>
    </dsp:sp>
    <dsp:sp modelId="{FB322EF9-D506-4CD4-88E7-403C463DD332}">
      <dsp:nvSpPr>
        <dsp:cNvPr id="0" name=""/>
        <dsp:cNvSpPr/>
      </dsp:nvSpPr>
      <dsp:spPr>
        <a:xfrm>
          <a:off x="3886039" y="4970548"/>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Optional topics</a:t>
          </a:r>
          <a:endParaRPr lang="en-CA" sz="1600" kern="1200" dirty="0"/>
        </a:p>
      </dsp:txBody>
      <dsp:txXfrm>
        <a:off x="3886039" y="4970548"/>
        <a:ext cx="1040686" cy="520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19E79-9476-48DA-96CE-DE990C8879D1}">
      <dsp:nvSpPr>
        <dsp:cNvPr id="0" name=""/>
        <dsp:cNvSpPr/>
      </dsp:nvSpPr>
      <dsp:spPr>
        <a:xfrm>
          <a:off x="3476411" y="0"/>
          <a:ext cx="1864840" cy="1864934"/>
        </a:xfrm>
        <a:prstGeom prst="leftCircularArrow">
          <a:avLst>
            <a:gd name="adj1" fmla="val 10980"/>
            <a:gd name="adj2" fmla="val 1142322"/>
            <a:gd name="adj3" fmla="val 6300000"/>
            <a:gd name="adj4" fmla="val 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CCA857-613F-48CE-A4F5-AE6E9AD5CCFD}">
      <dsp:nvSpPr>
        <dsp:cNvPr id="0" name=""/>
        <dsp:cNvSpPr/>
      </dsp:nvSpPr>
      <dsp:spPr>
        <a:xfrm>
          <a:off x="3754126" y="675421"/>
          <a:ext cx="1304510"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Foundations</a:t>
          </a:r>
          <a:endParaRPr lang="en-CA" sz="1600" kern="1200" dirty="0"/>
        </a:p>
      </dsp:txBody>
      <dsp:txXfrm>
        <a:off x="3754126" y="675421"/>
        <a:ext cx="1304510" cy="520110"/>
      </dsp:txXfrm>
    </dsp:sp>
    <dsp:sp modelId="{6084E631-2316-4D10-A75F-DF3113EA0B52}">
      <dsp:nvSpPr>
        <dsp:cNvPr id="0" name=""/>
        <dsp:cNvSpPr/>
      </dsp:nvSpPr>
      <dsp:spPr>
        <a:xfrm>
          <a:off x="3994480" y="1071524"/>
          <a:ext cx="1864840" cy="1864934"/>
        </a:xfrm>
        <a:prstGeom prst="circularArrow">
          <a:avLst>
            <a:gd name="adj1" fmla="val 10980"/>
            <a:gd name="adj2" fmla="val 1142322"/>
            <a:gd name="adj3" fmla="val 4500000"/>
            <a:gd name="adj4" fmla="val 135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03CE6-2778-43FA-B74E-DF0F08958F8B}">
      <dsp:nvSpPr>
        <dsp:cNvPr id="0" name=""/>
        <dsp:cNvSpPr/>
      </dsp:nvSpPr>
      <dsp:spPr>
        <a:xfrm>
          <a:off x="4296638" y="1749353"/>
          <a:ext cx="1259823"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Regression</a:t>
          </a:r>
          <a:r>
            <a:rPr lang="en-US" sz="1200" kern="1200" dirty="0"/>
            <a:t> in Practice (Associations)</a:t>
          </a:r>
          <a:endParaRPr lang="en-CA" sz="1200" kern="1200" dirty="0"/>
        </a:p>
      </dsp:txBody>
      <dsp:txXfrm>
        <a:off x="4296638" y="1749353"/>
        <a:ext cx="1259823" cy="520110"/>
      </dsp:txXfrm>
    </dsp:sp>
    <dsp:sp modelId="{7C8DA746-1CA7-4DA8-8797-A51BA1A54D07}">
      <dsp:nvSpPr>
        <dsp:cNvPr id="0" name=""/>
        <dsp:cNvSpPr/>
      </dsp:nvSpPr>
      <dsp:spPr>
        <a:xfrm>
          <a:off x="3476411" y="2147864"/>
          <a:ext cx="1864840" cy="1864934"/>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069BA6-6AB0-4879-8113-66001FC95627}">
      <dsp:nvSpPr>
        <dsp:cNvPr id="0" name=""/>
        <dsp:cNvSpPr/>
      </dsp:nvSpPr>
      <dsp:spPr>
        <a:xfrm>
          <a:off x="3886039" y="2822684"/>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Research Design</a:t>
          </a:r>
          <a:endParaRPr lang="en-CA" sz="1600" kern="1200" dirty="0"/>
        </a:p>
      </dsp:txBody>
      <dsp:txXfrm>
        <a:off x="3886039" y="2822684"/>
        <a:ext cx="1040686" cy="520110"/>
      </dsp:txXfrm>
    </dsp:sp>
    <dsp:sp modelId="{A1852EF2-4805-4DFD-B8CC-94A79494EFEC}">
      <dsp:nvSpPr>
        <dsp:cNvPr id="0" name=""/>
        <dsp:cNvSpPr/>
      </dsp:nvSpPr>
      <dsp:spPr>
        <a:xfrm>
          <a:off x="3994480" y="3221194"/>
          <a:ext cx="1864840" cy="1864934"/>
        </a:xfrm>
        <a:prstGeom prst="circularArrow">
          <a:avLst>
            <a:gd name="adj1" fmla="val 10980"/>
            <a:gd name="adj2" fmla="val 1142322"/>
            <a:gd name="adj3" fmla="val 4500000"/>
            <a:gd name="adj4" fmla="val 135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DB933A-F142-468D-881E-439E2E4CC592}">
      <dsp:nvSpPr>
        <dsp:cNvPr id="0" name=""/>
        <dsp:cNvSpPr/>
      </dsp:nvSpPr>
      <dsp:spPr>
        <a:xfrm>
          <a:off x="5762752" y="4036741"/>
          <a:ext cx="7068286" cy="741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Matching</a:t>
          </a:r>
          <a:endParaRPr lang="en-CA" sz="1800" kern="1200" dirty="0"/>
        </a:p>
        <a:p>
          <a:pPr marL="171450" lvl="1" indent="-171450" algn="l" defTabSz="800100">
            <a:lnSpc>
              <a:spcPct val="90000"/>
            </a:lnSpc>
            <a:spcBef>
              <a:spcPct val="0"/>
            </a:spcBef>
            <a:spcAft>
              <a:spcPct val="15000"/>
            </a:spcAft>
            <a:buChar char="•"/>
          </a:pPr>
          <a:r>
            <a:rPr lang="en-US" sz="1800" kern="1200" dirty="0"/>
            <a:t>Instrumental Variables</a:t>
          </a:r>
          <a:endParaRPr lang="en-CA" sz="1800" kern="1200" dirty="0"/>
        </a:p>
        <a:p>
          <a:pPr marL="171450" lvl="1" indent="-171450" algn="l" defTabSz="800100">
            <a:lnSpc>
              <a:spcPct val="90000"/>
            </a:lnSpc>
            <a:spcBef>
              <a:spcPct val="0"/>
            </a:spcBef>
            <a:spcAft>
              <a:spcPct val="15000"/>
            </a:spcAft>
            <a:buChar char="•"/>
          </a:pPr>
          <a:r>
            <a:rPr lang="en-US" sz="1800" kern="1200" dirty="0"/>
            <a:t>Nonlinear regression models</a:t>
          </a:r>
          <a:endParaRPr lang="en-CA" sz="1800" kern="1200" dirty="0"/>
        </a:p>
        <a:p>
          <a:pPr marL="171450" lvl="1" indent="-171450" algn="l" defTabSz="800100">
            <a:lnSpc>
              <a:spcPct val="90000"/>
            </a:lnSpc>
            <a:spcBef>
              <a:spcPct val="0"/>
            </a:spcBef>
            <a:spcAft>
              <a:spcPct val="15000"/>
            </a:spcAft>
            <a:buChar char="•"/>
          </a:pPr>
          <a:r>
            <a:rPr lang="en-US" sz="1800" kern="1200" dirty="0"/>
            <a:t>Difference-in-differences</a:t>
          </a:r>
          <a:endParaRPr lang="en-CA" sz="1800" kern="1200" dirty="0"/>
        </a:p>
      </dsp:txBody>
      <dsp:txXfrm>
        <a:off x="5762752" y="4036741"/>
        <a:ext cx="7068286" cy="741639"/>
      </dsp:txXfrm>
    </dsp:sp>
    <dsp:sp modelId="{641F3FC8-4AE5-4F3A-9ADB-B46D3F710B65}">
      <dsp:nvSpPr>
        <dsp:cNvPr id="0" name=""/>
        <dsp:cNvSpPr/>
      </dsp:nvSpPr>
      <dsp:spPr>
        <a:xfrm>
          <a:off x="4406207" y="3896616"/>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Causal Inference Methods</a:t>
          </a:r>
          <a:endParaRPr lang="en-CA" sz="1600" kern="1200" dirty="0"/>
        </a:p>
      </dsp:txBody>
      <dsp:txXfrm>
        <a:off x="4406207" y="3896616"/>
        <a:ext cx="1040686" cy="520110"/>
      </dsp:txXfrm>
    </dsp:sp>
    <dsp:sp modelId="{33DD1281-3181-44F8-93AE-D39471B822C2}">
      <dsp:nvSpPr>
        <dsp:cNvPr id="0" name=""/>
        <dsp:cNvSpPr/>
      </dsp:nvSpPr>
      <dsp:spPr>
        <a:xfrm>
          <a:off x="3608639" y="4416727"/>
          <a:ext cx="1602132" cy="1603072"/>
        </a:xfrm>
        <a:prstGeom prst="blockArc">
          <a:avLst>
            <a:gd name="adj1" fmla="val 0"/>
            <a:gd name="adj2" fmla="val 18900000"/>
            <a:gd name="adj3" fmla="val 1274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E113A7-A102-4503-A418-26987C106DCF}">
      <dsp:nvSpPr>
        <dsp:cNvPr id="0" name=""/>
        <dsp:cNvSpPr/>
      </dsp:nvSpPr>
      <dsp:spPr>
        <a:xfrm>
          <a:off x="5366472" y="4872592"/>
          <a:ext cx="6003049" cy="1117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Synthetic Controls</a:t>
          </a:r>
          <a:endParaRPr lang="en-CA" sz="1800" kern="1200" dirty="0"/>
        </a:p>
        <a:p>
          <a:pPr marL="171450" lvl="1" indent="-171450" algn="l" defTabSz="800100">
            <a:lnSpc>
              <a:spcPct val="90000"/>
            </a:lnSpc>
            <a:spcBef>
              <a:spcPct val="0"/>
            </a:spcBef>
            <a:spcAft>
              <a:spcPct val="15000"/>
            </a:spcAft>
            <a:buChar char="•"/>
          </a:pPr>
          <a:r>
            <a:rPr lang="en-US" sz="1800" kern="1200" dirty="0"/>
            <a:t>Machine Learning for Quant Research (Causality)</a:t>
          </a:r>
          <a:endParaRPr lang="en-CA" sz="1800" kern="1200" dirty="0"/>
        </a:p>
      </dsp:txBody>
      <dsp:txXfrm>
        <a:off x="5366472" y="4872592"/>
        <a:ext cx="6003049" cy="1117472"/>
      </dsp:txXfrm>
    </dsp:sp>
    <dsp:sp modelId="{FB322EF9-D506-4CD4-88E7-403C463DD332}">
      <dsp:nvSpPr>
        <dsp:cNvPr id="0" name=""/>
        <dsp:cNvSpPr/>
      </dsp:nvSpPr>
      <dsp:spPr>
        <a:xfrm>
          <a:off x="3886039" y="4970548"/>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Optional topics</a:t>
          </a:r>
          <a:endParaRPr lang="en-CA" sz="1600" kern="1200" dirty="0"/>
        </a:p>
      </dsp:txBody>
      <dsp:txXfrm>
        <a:off x="3886039" y="4970548"/>
        <a:ext cx="1040686" cy="5201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19E79-9476-48DA-96CE-DE990C8879D1}">
      <dsp:nvSpPr>
        <dsp:cNvPr id="0" name=""/>
        <dsp:cNvSpPr/>
      </dsp:nvSpPr>
      <dsp:spPr>
        <a:xfrm>
          <a:off x="3476411" y="0"/>
          <a:ext cx="1864840" cy="1864934"/>
        </a:xfrm>
        <a:prstGeom prst="leftCircularArrow">
          <a:avLst>
            <a:gd name="adj1" fmla="val 10980"/>
            <a:gd name="adj2" fmla="val 1142322"/>
            <a:gd name="adj3" fmla="val 6300000"/>
            <a:gd name="adj4" fmla="val 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CCA857-613F-48CE-A4F5-AE6E9AD5CCFD}">
      <dsp:nvSpPr>
        <dsp:cNvPr id="0" name=""/>
        <dsp:cNvSpPr/>
      </dsp:nvSpPr>
      <dsp:spPr>
        <a:xfrm>
          <a:off x="3754126" y="675421"/>
          <a:ext cx="1304510"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Foundations</a:t>
          </a:r>
          <a:endParaRPr lang="en-CA" sz="1600" kern="1200" dirty="0"/>
        </a:p>
      </dsp:txBody>
      <dsp:txXfrm>
        <a:off x="3754126" y="675421"/>
        <a:ext cx="1304510" cy="520110"/>
      </dsp:txXfrm>
    </dsp:sp>
    <dsp:sp modelId="{6084E631-2316-4D10-A75F-DF3113EA0B52}">
      <dsp:nvSpPr>
        <dsp:cNvPr id="0" name=""/>
        <dsp:cNvSpPr/>
      </dsp:nvSpPr>
      <dsp:spPr>
        <a:xfrm>
          <a:off x="3994480" y="1071524"/>
          <a:ext cx="1864840" cy="1864934"/>
        </a:xfrm>
        <a:prstGeom prst="circularArrow">
          <a:avLst>
            <a:gd name="adj1" fmla="val 10980"/>
            <a:gd name="adj2" fmla="val 1142322"/>
            <a:gd name="adj3" fmla="val 4500000"/>
            <a:gd name="adj4" fmla="val 135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03CE6-2778-43FA-B74E-DF0F08958F8B}">
      <dsp:nvSpPr>
        <dsp:cNvPr id="0" name=""/>
        <dsp:cNvSpPr/>
      </dsp:nvSpPr>
      <dsp:spPr>
        <a:xfrm>
          <a:off x="4296638" y="1749353"/>
          <a:ext cx="1259823"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Regression</a:t>
          </a:r>
          <a:r>
            <a:rPr lang="en-US" sz="1200" kern="1200" dirty="0"/>
            <a:t> in Practice (Associations)</a:t>
          </a:r>
          <a:endParaRPr lang="en-CA" sz="1200" kern="1200" dirty="0"/>
        </a:p>
      </dsp:txBody>
      <dsp:txXfrm>
        <a:off x="4296638" y="1749353"/>
        <a:ext cx="1259823" cy="520110"/>
      </dsp:txXfrm>
    </dsp:sp>
    <dsp:sp modelId="{7C8DA746-1CA7-4DA8-8797-A51BA1A54D07}">
      <dsp:nvSpPr>
        <dsp:cNvPr id="0" name=""/>
        <dsp:cNvSpPr/>
      </dsp:nvSpPr>
      <dsp:spPr>
        <a:xfrm>
          <a:off x="3476411" y="2147864"/>
          <a:ext cx="1864840" cy="1864934"/>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069BA6-6AB0-4879-8113-66001FC95627}">
      <dsp:nvSpPr>
        <dsp:cNvPr id="0" name=""/>
        <dsp:cNvSpPr/>
      </dsp:nvSpPr>
      <dsp:spPr>
        <a:xfrm>
          <a:off x="3886039" y="2822684"/>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Research Design</a:t>
          </a:r>
          <a:endParaRPr lang="en-CA" sz="1600" kern="1200" dirty="0"/>
        </a:p>
      </dsp:txBody>
      <dsp:txXfrm>
        <a:off x="3886039" y="2822684"/>
        <a:ext cx="1040686" cy="520110"/>
      </dsp:txXfrm>
    </dsp:sp>
    <dsp:sp modelId="{A1852EF2-4805-4DFD-B8CC-94A79494EFEC}">
      <dsp:nvSpPr>
        <dsp:cNvPr id="0" name=""/>
        <dsp:cNvSpPr/>
      </dsp:nvSpPr>
      <dsp:spPr>
        <a:xfrm>
          <a:off x="3994480" y="3221194"/>
          <a:ext cx="1864840" cy="1864934"/>
        </a:xfrm>
        <a:prstGeom prst="circularArrow">
          <a:avLst>
            <a:gd name="adj1" fmla="val 10980"/>
            <a:gd name="adj2" fmla="val 1142322"/>
            <a:gd name="adj3" fmla="val 4500000"/>
            <a:gd name="adj4" fmla="val 13500000"/>
            <a:gd name="adj5" fmla="val 125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DB933A-F142-468D-881E-439E2E4CC592}">
      <dsp:nvSpPr>
        <dsp:cNvPr id="0" name=""/>
        <dsp:cNvSpPr/>
      </dsp:nvSpPr>
      <dsp:spPr>
        <a:xfrm>
          <a:off x="5762752" y="4036741"/>
          <a:ext cx="7068286" cy="741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Matching</a:t>
          </a:r>
          <a:endParaRPr lang="en-CA" sz="1800" kern="1200" dirty="0"/>
        </a:p>
        <a:p>
          <a:pPr marL="171450" lvl="1" indent="-171450" algn="l" defTabSz="800100">
            <a:lnSpc>
              <a:spcPct val="90000"/>
            </a:lnSpc>
            <a:spcBef>
              <a:spcPct val="0"/>
            </a:spcBef>
            <a:spcAft>
              <a:spcPct val="15000"/>
            </a:spcAft>
            <a:buChar char="•"/>
          </a:pPr>
          <a:r>
            <a:rPr lang="en-US" sz="1800" kern="1200" dirty="0"/>
            <a:t>Instrumental Variables</a:t>
          </a:r>
          <a:endParaRPr lang="en-CA" sz="1800" kern="1200" dirty="0"/>
        </a:p>
        <a:p>
          <a:pPr marL="171450" lvl="1" indent="-171450" algn="l" defTabSz="800100">
            <a:lnSpc>
              <a:spcPct val="90000"/>
            </a:lnSpc>
            <a:spcBef>
              <a:spcPct val="0"/>
            </a:spcBef>
            <a:spcAft>
              <a:spcPct val="15000"/>
            </a:spcAft>
            <a:buChar char="•"/>
          </a:pPr>
          <a:r>
            <a:rPr lang="en-US" sz="1800" kern="1200" dirty="0"/>
            <a:t>Nonlinear regression models</a:t>
          </a:r>
          <a:endParaRPr lang="en-CA" sz="1800" kern="1200" dirty="0"/>
        </a:p>
        <a:p>
          <a:pPr marL="171450" lvl="1" indent="-171450" algn="l" defTabSz="800100">
            <a:lnSpc>
              <a:spcPct val="90000"/>
            </a:lnSpc>
            <a:spcBef>
              <a:spcPct val="0"/>
            </a:spcBef>
            <a:spcAft>
              <a:spcPct val="15000"/>
            </a:spcAft>
            <a:buChar char="•"/>
          </a:pPr>
          <a:r>
            <a:rPr lang="en-US" sz="1800" kern="1200" dirty="0"/>
            <a:t>Difference-in-differences</a:t>
          </a:r>
          <a:endParaRPr lang="en-CA" sz="1800" kern="1200" dirty="0"/>
        </a:p>
      </dsp:txBody>
      <dsp:txXfrm>
        <a:off x="5762752" y="4036741"/>
        <a:ext cx="7068286" cy="741639"/>
      </dsp:txXfrm>
    </dsp:sp>
    <dsp:sp modelId="{641F3FC8-4AE5-4F3A-9ADB-B46D3F710B65}">
      <dsp:nvSpPr>
        <dsp:cNvPr id="0" name=""/>
        <dsp:cNvSpPr/>
      </dsp:nvSpPr>
      <dsp:spPr>
        <a:xfrm>
          <a:off x="4406207" y="3896616"/>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Causal Inference Methods</a:t>
          </a:r>
          <a:endParaRPr lang="en-CA" sz="1600" kern="1200" dirty="0"/>
        </a:p>
      </dsp:txBody>
      <dsp:txXfrm>
        <a:off x="4406207" y="3896616"/>
        <a:ext cx="1040686" cy="520110"/>
      </dsp:txXfrm>
    </dsp:sp>
    <dsp:sp modelId="{33DD1281-3181-44F8-93AE-D39471B822C2}">
      <dsp:nvSpPr>
        <dsp:cNvPr id="0" name=""/>
        <dsp:cNvSpPr/>
      </dsp:nvSpPr>
      <dsp:spPr>
        <a:xfrm>
          <a:off x="3608639" y="4416727"/>
          <a:ext cx="1602132" cy="1603072"/>
        </a:xfrm>
        <a:prstGeom prst="blockArc">
          <a:avLst>
            <a:gd name="adj1" fmla="val 0"/>
            <a:gd name="adj2" fmla="val 18900000"/>
            <a:gd name="adj3" fmla="val 1274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E113A7-A102-4503-A418-26987C106DCF}">
      <dsp:nvSpPr>
        <dsp:cNvPr id="0" name=""/>
        <dsp:cNvSpPr/>
      </dsp:nvSpPr>
      <dsp:spPr>
        <a:xfrm>
          <a:off x="5366472" y="4872592"/>
          <a:ext cx="6003049" cy="1117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Synthetic Controls</a:t>
          </a:r>
          <a:endParaRPr lang="en-CA" sz="1800" kern="1200" dirty="0"/>
        </a:p>
        <a:p>
          <a:pPr marL="171450" lvl="1" indent="-171450" algn="l" defTabSz="800100">
            <a:lnSpc>
              <a:spcPct val="90000"/>
            </a:lnSpc>
            <a:spcBef>
              <a:spcPct val="0"/>
            </a:spcBef>
            <a:spcAft>
              <a:spcPct val="15000"/>
            </a:spcAft>
            <a:buChar char="•"/>
          </a:pPr>
          <a:r>
            <a:rPr lang="en-US" sz="1800" kern="1200" dirty="0"/>
            <a:t>Machine Learning for Quant Research (Causality)</a:t>
          </a:r>
          <a:endParaRPr lang="en-CA" sz="1800" kern="1200" dirty="0"/>
        </a:p>
      </dsp:txBody>
      <dsp:txXfrm>
        <a:off x="5366472" y="4872592"/>
        <a:ext cx="6003049" cy="1117472"/>
      </dsp:txXfrm>
    </dsp:sp>
    <dsp:sp modelId="{FB322EF9-D506-4CD4-88E7-403C463DD332}">
      <dsp:nvSpPr>
        <dsp:cNvPr id="0" name=""/>
        <dsp:cNvSpPr/>
      </dsp:nvSpPr>
      <dsp:spPr>
        <a:xfrm>
          <a:off x="3886039" y="4970548"/>
          <a:ext cx="1040686" cy="520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Optional topics</a:t>
          </a:r>
          <a:endParaRPr lang="en-CA" sz="1600" kern="1200" dirty="0"/>
        </a:p>
      </dsp:txBody>
      <dsp:txXfrm>
        <a:off x="3886039" y="4970548"/>
        <a:ext cx="1040686" cy="5201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F24EE-948B-496A-A84D-F861A601FCF2}">
      <dsp:nvSpPr>
        <dsp:cNvPr id="0" name=""/>
        <dsp:cNvSpPr/>
      </dsp:nvSpPr>
      <dsp:spPr>
        <a:xfrm>
          <a:off x="1285675" y="21574"/>
          <a:ext cx="1132312" cy="11323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27F63-978B-41A6-AB2E-C83B9DC5F885}">
      <dsp:nvSpPr>
        <dsp:cNvPr id="0" name=""/>
        <dsp:cNvSpPr/>
      </dsp:nvSpPr>
      <dsp:spPr>
        <a:xfrm>
          <a:off x="1526988" y="262886"/>
          <a:ext cx="649687" cy="649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C967CD6-526D-4BD0-99F5-6C2698E74D11}">
      <dsp:nvSpPr>
        <dsp:cNvPr id="0" name=""/>
        <dsp:cNvSpPr/>
      </dsp:nvSpPr>
      <dsp:spPr>
        <a:xfrm>
          <a:off x="923707" y="1506574"/>
          <a:ext cx="18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What is happening?</a:t>
          </a:r>
        </a:p>
      </dsp:txBody>
      <dsp:txXfrm>
        <a:off x="923707" y="1506574"/>
        <a:ext cx="1856250" cy="720000"/>
      </dsp:txXfrm>
    </dsp:sp>
    <dsp:sp modelId="{BF15CF91-5CFC-4E47-AD87-F6B707AE7B30}">
      <dsp:nvSpPr>
        <dsp:cNvPr id="0" name=""/>
        <dsp:cNvSpPr/>
      </dsp:nvSpPr>
      <dsp:spPr>
        <a:xfrm>
          <a:off x="3466769" y="21574"/>
          <a:ext cx="1132312" cy="11323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10E5B5-2F1E-4A50-A3FF-47A1410AC008}">
      <dsp:nvSpPr>
        <dsp:cNvPr id="0" name=""/>
        <dsp:cNvSpPr/>
      </dsp:nvSpPr>
      <dsp:spPr>
        <a:xfrm>
          <a:off x="3708082" y="262886"/>
          <a:ext cx="649687" cy="649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02A51-C974-4E91-90B7-D5DD79A24144}">
      <dsp:nvSpPr>
        <dsp:cNvPr id="0" name=""/>
        <dsp:cNvSpPr/>
      </dsp:nvSpPr>
      <dsp:spPr>
        <a:xfrm>
          <a:off x="3104800" y="1506574"/>
          <a:ext cx="18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Quantify and summarize data</a:t>
          </a:r>
        </a:p>
      </dsp:txBody>
      <dsp:txXfrm>
        <a:off x="3104800" y="1506574"/>
        <a:ext cx="1856250" cy="720000"/>
      </dsp:txXfrm>
    </dsp:sp>
    <dsp:sp modelId="{C2FAFCCD-579B-4991-A849-7012DCC7713B}">
      <dsp:nvSpPr>
        <dsp:cNvPr id="0" name=""/>
        <dsp:cNvSpPr/>
      </dsp:nvSpPr>
      <dsp:spPr>
        <a:xfrm>
          <a:off x="2376222" y="2690636"/>
          <a:ext cx="1132312" cy="11323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1FBC39-5A8D-4C91-8FDE-86D2FB970032}">
      <dsp:nvSpPr>
        <dsp:cNvPr id="0" name=""/>
        <dsp:cNvSpPr/>
      </dsp:nvSpPr>
      <dsp:spPr>
        <a:xfrm>
          <a:off x="2617535" y="2931949"/>
          <a:ext cx="649687" cy="6496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1E67826-5AE0-4EB3-9EF6-B150FB22DB7F}">
      <dsp:nvSpPr>
        <dsp:cNvPr id="0" name=""/>
        <dsp:cNvSpPr/>
      </dsp:nvSpPr>
      <dsp:spPr>
        <a:xfrm>
          <a:off x="2014254" y="4175636"/>
          <a:ext cx="18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Foundation for further analysis</a:t>
          </a:r>
        </a:p>
      </dsp:txBody>
      <dsp:txXfrm>
        <a:off x="2014254" y="4175636"/>
        <a:ext cx="18562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0CDC7-180F-40DF-9626-0397D0D87A16}">
      <dsp:nvSpPr>
        <dsp:cNvPr id="0" name=""/>
        <dsp:cNvSpPr/>
      </dsp:nvSpPr>
      <dsp:spPr>
        <a:xfrm>
          <a:off x="652143" y="139899"/>
          <a:ext cx="1818562" cy="18185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627EC-19F6-417B-B6D1-4FD0BEBF6EBE}">
      <dsp:nvSpPr>
        <dsp:cNvPr id="0" name=""/>
        <dsp:cNvSpPr/>
      </dsp:nvSpPr>
      <dsp:spPr>
        <a:xfrm>
          <a:off x="1039706" y="527461"/>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EC27893-EB74-448F-A508-132F5DE02C77}">
      <dsp:nvSpPr>
        <dsp:cNvPr id="0" name=""/>
        <dsp:cNvSpPr/>
      </dsp:nvSpPr>
      <dsp:spPr>
        <a:xfrm>
          <a:off x="70799" y="2524899"/>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solidFill>
                <a:schemeClr val="bg1"/>
              </a:solidFill>
            </a:rPr>
            <a:t>What will happen?</a:t>
          </a:r>
        </a:p>
      </dsp:txBody>
      <dsp:txXfrm>
        <a:off x="70799" y="2524899"/>
        <a:ext cx="2981250" cy="720000"/>
      </dsp:txXfrm>
    </dsp:sp>
    <dsp:sp modelId="{A019C1D6-CD59-4B38-8DF9-E15BB8408C6C}">
      <dsp:nvSpPr>
        <dsp:cNvPr id="0" name=""/>
        <dsp:cNvSpPr/>
      </dsp:nvSpPr>
      <dsp:spPr>
        <a:xfrm>
          <a:off x="4155112" y="139899"/>
          <a:ext cx="1818562" cy="18185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C3E1C-5E1F-445E-84DC-6838A435DD0F}">
      <dsp:nvSpPr>
        <dsp:cNvPr id="0" name=""/>
        <dsp:cNvSpPr/>
      </dsp:nvSpPr>
      <dsp:spPr>
        <a:xfrm>
          <a:off x="4542674" y="527461"/>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C90F2F-528D-472E-8F02-BC4E853B6B3B}">
      <dsp:nvSpPr>
        <dsp:cNvPr id="0" name=""/>
        <dsp:cNvSpPr/>
      </dsp:nvSpPr>
      <dsp:spPr>
        <a:xfrm>
          <a:off x="3573768" y="2524899"/>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solidFill>
                <a:schemeClr val="bg1"/>
              </a:solidFill>
            </a:rPr>
            <a:t>Estimate future outcomes</a:t>
          </a:r>
        </a:p>
      </dsp:txBody>
      <dsp:txXfrm>
        <a:off x="3573768" y="2524899"/>
        <a:ext cx="2981250" cy="720000"/>
      </dsp:txXfrm>
    </dsp:sp>
    <dsp:sp modelId="{5CAA122F-5A95-4A10-9315-0A5F8967D97A}">
      <dsp:nvSpPr>
        <dsp:cNvPr id="0" name=""/>
        <dsp:cNvSpPr/>
      </dsp:nvSpPr>
      <dsp:spPr>
        <a:xfrm>
          <a:off x="7658081" y="139899"/>
          <a:ext cx="1818562" cy="181856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C23FE5-2EB5-4062-A4EA-B414C9EEC1F8}">
      <dsp:nvSpPr>
        <dsp:cNvPr id="0" name=""/>
        <dsp:cNvSpPr/>
      </dsp:nvSpPr>
      <dsp:spPr>
        <a:xfrm>
          <a:off x="8045643" y="527461"/>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8F8CC0B-06B5-45D3-8D70-2B33720CC39F}">
      <dsp:nvSpPr>
        <dsp:cNvPr id="0" name=""/>
        <dsp:cNvSpPr/>
      </dsp:nvSpPr>
      <dsp:spPr>
        <a:xfrm>
          <a:off x="7076737" y="2524899"/>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solidFill>
                <a:schemeClr val="bg1"/>
              </a:solidFill>
            </a:rPr>
            <a:t>Focus on accuracy, not causality</a:t>
          </a:r>
        </a:p>
      </dsp:txBody>
      <dsp:txXfrm>
        <a:off x="7076737" y="2524899"/>
        <a:ext cx="29812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4F24EE-948B-496A-A84D-F861A601FCF2}">
      <dsp:nvSpPr>
        <dsp:cNvPr id="0" name=""/>
        <dsp:cNvSpPr/>
      </dsp:nvSpPr>
      <dsp:spPr>
        <a:xfrm>
          <a:off x="413203" y="1209855"/>
          <a:ext cx="1132312" cy="11323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27F63-978B-41A6-AB2E-C83B9DC5F885}">
      <dsp:nvSpPr>
        <dsp:cNvPr id="0" name=""/>
        <dsp:cNvSpPr/>
      </dsp:nvSpPr>
      <dsp:spPr>
        <a:xfrm>
          <a:off x="654515" y="1451168"/>
          <a:ext cx="649687" cy="649687"/>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C967CD6-526D-4BD0-99F5-6C2698E74D11}">
      <dsp:nvSpPr>
        <dsp:cNvPr id="0" name=""/>
        <dsp:cNvSpPr/>
      </dsp:nvSpPr>
      <dsp:spPr>
        <a:xfrm>
          <a:off x="51234" y="2694855"/>
          <a:ext cx="18562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bg1"/>
              </a:solidFill>
            </a:rPr>
            <a:t>What is the effect of X on Y?</a:t>
          </a:r>
        </a:p>
      </dsp:txBody>
      <dsp:txXfrm>
        <a:off x="51234" y="2694855"/>
        <a:ext cx="1856250" cy="1012500"/>
      </dsp:txXfrm>
    </dsp:sp>
    <dsp:sp modelId="{BF15CF91-5CFC-4E47-AD87-F6B707AE7B30}">
      <dsp:nvSpPr>
        <dsp:cNvPr id="0" name=""/>
        <dsp:cNvSpPr/>
      </dsp:nvSpPr>
      <dsp:spPr>
        <a:xfrm>
          <a:off x="2594297" y="1209855"/>
          <a:ext cx="1132312" cy="11323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10E5B5-2F1E-4A50-A3FF-47A1410AC008}">
      <dsp:nvSpPr>
        <dsp:cNvPr id="0" name=""/>
        <dsp:cNvSpPr/>
      </dsp:nvSpPr>
      <dsp:spPr>
        <a:xfrm>
          <a:off x="2835609" y="1451168"/>
          <a:ext cx="649687" cy="649687"/>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02A51-C974-4E91-90B7-D5DD79A24144}">
      <dsp:nvSpPr>
        <dsp:cNvPr id="0" name=""/>
        <dsp:cNvSpPr/>
      </dsp:nvSpPr>
      <dsp:spPr>
        <a:xfrm>
          <a:off x="2232328" y="2694855"/>
          <a:ext cx="18562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bg1"/>
              </a:solidFill>
            </a:rPr>
            <a:t>What mechanisms explain this effect?</a:t>
          </a:r>
        </a:p>
      </dsp:txBody>
      <dsp:txXfrm>
        <a:off x="2232328" y="2694855"/>
        <a:ext cx="1856250" cy="1012500"/>
      </dsp:txXfrm>
    </dsp:sp>
    <dsp:sp modelId="{C2FAFCCD-579B-4991-A849-7012DCC7713B}">
      <dsp:nvSpPr>
        <dsp:cNvPr id="0" name=""/>
        <dsp:cNvSpPr/>
      </dsp:nvSpPr>
      <dsp:spPr>
        <a:xfrm>
          <a:off x="4775390" y="1209855"/>
          <a:ext cx="1132312" cy="11323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1FBC39-5A8D-4C91-8FDE-86D2FB970032}">
      <dsp:nvSpPr>
        <dsp:cNvPr id="0" name=""/>
        <dsp:cNvSpPr/>
      </dsp:nvSpPr>
      <dsp:spPr>
        <a:xfrm>
          <a:off x="5016703" y="1451168"/>
          <a:ext cx="649687" cy="649687"/>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1E67826-5AE0-4EB3-9EF6-B150FB22DB7F}">
      <dsp:nvSpPr>
        <dsp:cNvPr id="0" name=""/>
        <dsp:cNvSpPr/>
      </dsp:nvSpPr>
      <dsp:spPr>
        <a:xfrm>
          <a:off x="4413422" y="2694855"/>
          <a:ext cx="18562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bg1"/>
              </a:solidFill>
            </a:rPr>
            <a:t>How would policy influencing X affect Y?</a:t>
          </a:r>
        </a:p>
      </dsp:txBody>
      <dsp:txXfrm>
        <a:off x="4413422" y="2694855"/>
        <a:ext cx="1856250" cy="10125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8AB590-8DD4-4C74-BA05-D7CDB9C9BDD0}">
      <dsp:nvSpPr>
        <dsp:cNvPr id="0" name=""/>
        <dsp:cNvSpPr/>
      </dsp:nvSpPr>
      <dsp:spPr>
        <a:xfrm>
          <a:off x="796737" y="678515"/>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BC1F22-EB9D-4E2B-A03D-9BD49FAC4043}">
      <dsp:nvSpPr>
        <dsp:cNvPr id="0" name=""/>
        <dsp:cNvSpPr/>
      </dsp:nvSpPr>
      <dsp:spPr>
        <a:xfrm>
          <a:off x="103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D93831-29FC-49E8-9C5E-706DF57508AE}">
      <dsp:nvSpPr>
        <dsp:cNvPr id="0" name=""/>
        <dsp:cNvSpPr/>
      </dsp:nvSpPr>
      <dsp:spPr>
        <a:xfrm>
          <a:off x="44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1. What is your research question? What is your ideal experiment?</a:t>
          </a:r>
        </a:p>
      </dsp:txBody>
      <dsp:txXfrm>
        <a:off x="445737" y="2118515"/>
        <a:ext cx="1800000" cy="1260000"/>
      </dsp:txXfrm>
    </dsp:sp>
    <dsp:sp modelId="{10CB323D-8BEE-4E0A-B9A6-BB9AF2B57AC0}">
      <dsp:nvSpPr>
        <dsp:cNvPr id="0" name=""/>
        <dsp:cNvSpPr/>
      </dsp:nvSpPr>
      <dsp:spPr>
        <a:xfrm>
          <a:off x="2911737" y="678515"/>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8E821-DAA9-4096-B94C-5683AA05D416}">
      <dsp:nvSpPr>
        <dsp:cNvPr id="0" name=""/>
        <dsp:cNvSpPr/>
      </dsp:nvSpPr>
      <dsp:spPr>
        <a:xfrm>
          <a:off x="3145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FF054D-53EB-4C39-AD4C-1D9C5B2C17C4}">
      <dsp:nvSpPr>
        <dsp:cNvPr id="0" name=""/>
        <dsp:cNvSpPr/>
      </dsp:nvSpPr>
      <dsp:spPr>
        <a:xfrm>
          <a:off x="2560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2. Do you want to describe, predict, or explain?</a:t>
          </a:r>
        </a:p>
      </dsp:txBody>
      <dsp:txXfrm>
        <a:off x="2560737" y="2118515"/>
        <a:ext cx="1800000" cy="1260000"/>
      </dsp:txXfrm>
    </dsp:sp>
    <dsp:sp modelId="{B86E754B-E76B-4FB1-BB96-2132CB5D2EF4}">
      <dsp:nvSpPr>
        <dsp:cNvPr id="0" name=""/>
        <dsp:cNvSpPr/>
      </dsp:nvSpPr>
      <dsp:spPr>
        <a:xfrm>
          <a:off x="5026737" y="678515"/>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3FD225-4A45-4EC9-A1BA-9D2568BCAEC6}">
      <dsp:nvSpPr>
        <dsp:cNvPr id="0" name=""/>
        <dsp:cNvSpPr/>
      </dsp:nvSpPr>
      <dsp:spPr>
        <a:xfrm>
          <a:off x="526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8C91DE-0B7C-4B48-BFE5-31D56D70F6BC}">
      <dsp:nvSpPr>
        <dsp:cNvPr id="0" name=""/>
        <dsp:cNvSpPr/>
      </dsp:nvSpPr>
      <dsp:spPr>
        <a:xfrm>
          <a:off x="467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dirty="0"/>
            <a:t>3. What data and variation do you have?</a:t>
          </a:r>
        </a:p>
      </dsp:txBody>
      <dsp:txXfrm>
        <a:off x="4675737" y="2118515"/>
        <a:ext cx="1800000" cy="1260000"/>
      </dsp:txXfrm>
    </dsp:sp>
    <dsp:sp modelId="{99C32FEA-3E5B-4935-96E8-AA5DECE94A61}">
      <dsp:nvSpPr>
        <dsp:cNvPr id="0" name=""/>
        <dsp:cNvSpPr/>
      </dsp:nvSpPr>
      <dsp:spPr>
        <a:xfrm>
          <a:off x="7141737" y="678515"/>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64AFC-0039-4308-9B66-64CB7FB4274A}">
      <dsp:nvSpPr>
        <dsp:cNvPr id="0" name=""/>
        <dsp:cNvSpPr/>
      </dsp:nvSpPr>
      <dsp:spPr>
        <a:xfrm>
          <a:off x="7375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04268BE-DCE2-42C8-AB80-28E6264782D5}">
      <dsp:nvSpPr>
        <dsp:cNvPr id="0" name=""/>
        <dsp:cNvSpPr/>
      </dsp:nvSpPr>
      <dsp:spPr>
        <a:xfrm>
          <a:off x="6790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4. What assumptions can you justify?</a:t>
          </a:r>
        </a:p>
      </dsp:txBody>
      <dsp:txXfrm>
        <a:off x="6790737" y="2118515"/>
        <a:ext cx="1800000" cy="1260000"/>
      </dsp:txXfrm>
    </dsp:sp>
    <dsp:sp modelId="{00EFE217-841E-4ABD-A88E-811D78288E61}">
      <dsp:nvSpPr>
        <dsp:cNvPr id="0" name=""/>
        <dsp:cNvSpPr/>
      </dsp:nvSpPr>
      <dsp:spPr>
        <a:xfrm>
          <a:off x="9256737" y="678515"/>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C14E18-E3A6-4DDC-B4D0-2845115138A0}">
      <dsp:nvSpPr>
        <dsp:cNvPr id="0" name=""/>
        <dsp:cNvSpPr/>
      </dsp:nvSpPr>
      <dsp:spPr>
        <a:xfrm>
          <a:off x="949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2C4BE6-9CE9-4AA8-B5BF-DB0A28B9FBEF}">
      <dsp:nvSpPr>
        <dsp:cNvPr id="0" name=""/>
        <dsp:cNvSpPr/>
      </dsp:nvSpPr>
      <dsp:spPr>
        <a:xfrm>
          <a:off x="890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5. What is the policy goal?</a:t>
          </a:r>
        </a:p>
      </dsp:txBody>
      <dsp:txXfrm>
        <a:off x="8905737" y="2118515"/>
        <a:ext cx="1800000" cy="126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90350-BB99-4984-9F95-9A0C49312EB3}">
      <dsp:nvSpPr>
        <dsp:cNvPr id="0" name=""/>
        <dsp:cNvSpPr/>
      </dsp:nvSpPr>
      <dsp:spPr>
        <a:xfrm rot="5400000">
          <a:off x="287260" y="1702056"/>
          <a:ext cx="1485250" cy="1690905"/>
        </a:xfrm>
        <a:prstGeom prst="bentUpArrow">
          <a:avLst>
            <a:gd name="adj1" fmla="val 32840"/>
            <a:gd name="adj2" fmla="val 25000"/>
            <a:gd name="adj3" fmla="val 35780"/>
          </a:avLst>
        </a:prstGeom>
        <a:solidFill>
          <a:schemeClr val="accent4">
            <a:tint val="5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07D112-FDC9-4B92-850C-6D6FB18D5E19}">
      <dsp:nvSpPr>
        <dsp:cNvPr id="0" name=""/>
        <dsp:cNvSpPr/>
      </dsp:nvSpPr>
      <dsp:spPr>
        <a:xfrm>
          <a:off x="0" y="32931"/>
          <a:ext cx="2500287" cy="1750120"/>
        </a:xfrm>
        <a:prstGeom prst="roundRect">
          <a:avLst>
            <a:gd name="adj" fmla="val 16670"/>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Association</a:t>
          </a:r>
          <a:endParaRPr lang="en-CA" sz="2800" kern="1200" dirty="0"/>
        </a:p>
      </dsp:txBody>
      <dsp:txXfrm>
        <a:off x="85449" y="118380"/>
        <a:ext cx="2329389" cy="1579222"/>
      </dsp:txXfrm>
    </dsp:sp>
    <dsp:sp modelId="{CB8DAD8A-01A8-4520-A2D2-F1B01357429A}">
      <dsp:nvSpPr>
        <dsp:cNvPr id="0" name=""/>
        <dsp:cNvSpPr/>
      </dsp:nvSpPr>
      <dsp:spPr>
        <a:xfrm>
          <a:off x="2510306" y="185304"/>
          <a:ext cx="3322109" cy="141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Correlations </a:t>
          </a:r>
          <a:endParaRPr lang="en-CA" sz="1400" kern="1200" dirty="0"/>
        </a:p>
        <a:p>
          <a:pPr marL="114300" lvl="1" indent="-114300" algn="l" defTabSz="622300">
            <a:lnSpc>
              <a:spcPct val="90000"/>
            </a:lnSpc>
            <a:spcBef>
              <a:spcPct val="0"/>
            </a:spcBef>
            <a:spcAft>
              <a:spcPct val="15000"/>
            </a:spcAft>
            <a:buChar char="•"/>
          </a:pPr>
          <a:r>
            <a:rPr lang="en-US" sz="1400" kern="1200" dirty="0"/>
            <a:t>Regression/ML predictions</a:t>
          </a:r>
          <a:endParaRPr lang="en-CA" sz="1400" kern="1200" dirty="0"/>
        </a:p>
        <a:p>
          <a:pPr marL="114300" lvl="1" indent="-114300" algn="l" defTabSz="622300">
            <a:lnSpc>
              <a:spcPct val="90000"/>
            </a:lnSpc>
            <a:spcBef>
              <a:spcPct val="0"/>
            </a:spcBef>
            <a:spcAft>
              <a:spcPct val="15000"/>
            </a:spcAft>
            <a:buChar char="•"/>
          </a:pPr>
          <a:r>
            <a:rPr lang="en-US" sz="1400" kern="1200" dirty="0"/>
            <a:t>What is the conditional distribution?</a:t>
          </a:r>
          <a:endParaRPr lang="en-CA" sz="1400" kern="1200" dirty="0"/>
        </a:p>
      </dsp:txBody>
      <dsp:txXfrm>
        <a:off x="2510306" y="185304"/>
        <a:ext cx="3322109" cy="1414524"/>
      </dsp:txXfrm>
    </dsp:sp>
    <dsp:sp modelId="{0486485E-699E-47E7-9D51-E5AE820F3EC4}">
      <dsp:nvSpPr>
        <dsp:cNvPr id="0" name=""/>
        <dsp:cNvSpPr/>
      </dsp:nvSpPr>
      <dsp:spPr>
        <a:xfrm rot="5400000">
          <a:off x="2372760" y="3645323"/>
          <a:ext cx="1485250" cy="1690905"/>
        </a:xfrm>
        <a:prstGeom prst="bentUpArrow">
          <a:avLst>
            <a:gd name="adj1" fmla="val 32840"/>
            <a:gd name="adj2" fmla="val 25000"/>
            <a:gd name="adj3" fmla="val 35780"/>
          </a:avLst>
        </a:prstGeom>
        <a:solidFill>
          <a:schemeClr val="accent4">
            <a:tint val="50000"/>
            <a:hueOff val="18423184"/>
            <a:satOff val="-11507"/>
            <a:lumOff val="8093"/>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3987BD-8C16-46E3-8A04-9DF04896E5D2}">
      <dsp:nvSpPr>
        <dsp:cNvPr id="0" name=""/>
        <dsp:cNvSpPr/>
      </dsp:nvSpPr>
      <dsp:spPr>
        <a:xfrm>
          <a:off x="1860835" y="1937902"/>
          <a:ext cx="2500287" cy="1750120"/>
        </a:xfrm>
        <a:prstGeom prst="roundRect">
          <a:avLst>
            <a:gd name="adj" fmla="val 16670"/>
          </a:avLst>
        </a:prstGeom>
        <a:solidFill>
          <a:schemeClr val="accent4">
            <a:hueOff val="9058885"/>
            <a:satOff val="-4016"/>
            <a:lumOff val="-803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Intervention</a:t>
          </a:r>
          <a:endParaRPr lang="en-CA" sz="2800" kern="1200" dirty="0"/>
        </a:p>
      </dsp:txBody>
      <dsp:txXfrm>
        <a:off x="1946284" y="2023351"/>
        <a:ext cx="2329389" cy="1579222"/>
      </dsp:txXfrm>
    </dsp:sp>
    <dsp:sp modelId="{67C7E0D8-033A-44B9-B0D4-CD15A0360DB1}">
      <dsp:nvSpPr>
        <dsp:cNvPr id="0" name=""/>
        <dsp:cNvSpPr/>
      </dsp:nvSpPr>
      <dsp:spPr>
        <a:xfrm>
          <a:off x="4604038" y="2090314"/>
          <a:ext cx="5198080" cy="141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What would happen to </a:t>
          </a:r>
          <a14:m xmlns:a14="http://schemas.microsoft.com/office/drawing/2010/main">
            <m:oMath xmlns:m="http://schemas.openxmlformats.org/officeDocument/2006/math">
              <m:r>
                <a:rPr lang="en-US" sz="1400" b="0" i="1" kern="1200" smtClean="0">
                  <a:latin typeface="Cambria Math" panose="02040503050406030204" pitchFamily="18" charset="0"/>
                </a:rPr>
                <m:t>𝑌</m:t>
              </m:r>
            </m:oMath>
          </a14:m>
          <a:r>
            <a:rPr lang="en-CA" sz="1400" kern="1200" dirty="0"/>
            <a:t> if I changed </a:t>
          </a:r>
          <a14:m xmlns:a14="http://schemas.microsoft.com/office/drawing/2010/main">
            <m:oMath xmlns:m="http://schemas.openxmlformats.org/officeDocument/2006/math">
              <m:r>
                <a:rPr lang="en-US" sz="1400" b="0" i="1" kern="1200" smtClean="0">
                  <a:latin typeface="Cambria Math" panose="02040503050406030204" pitchFamily="18" charset="0"/>
                </a:rPr>
                <m:t>𝑋</m:t>
              </m:r>
              <m:r>
                <a:rPr lang="en-US" sz="1400" b="0" i="1" kern="1200" smtClean="0">
                  <a:latin typeface="Cambria Math" panose="02040503050406030204" pitchFamily="18" charset="0"/>
                </a:rPr>
                <m:t>?</m:t>
              </m:r>
            </m:oMath>
          </a14:m>
          <a:r>
            <a:rPr lang="en-CA" sz="1400" kern="1200" dirty="0"/>
            <a:t> </a:t>
          </a:r>
        </a:p>
        <a:p>
          <a:pPr marL="114300" lvl="1" indent="-114300" algn="l" defTabSz="622300">
            <a:lnSpc>
              <a:spcPct val="90000"/>
            </a:lnSpc>
            <a:spcBef>
              <a:spcPct val="0"/>
            </a:spcBef>
            <a:spcAft>
              <a:spcPct val="15000"/>
            </a:spcAft>
            <a:buChar char="•"/>
          </a:pPr>
          <a:r>
            <a:rPr lang="en-US" sz="1400" kern="1200" dirty="0"/>
            <a:t>Randomized experiments, etc. </a:t>
          </a:r>
          <a:endParaRPr lang="en-CA" sz="1400" kern="1200" dirty="0"/>
        </a:p>
        <a:p>
          <a:pPr marL="114300" lvl="1" indent="-114300" algn="l" defTabSz="622300">
            <a:lnSpc>
              <a:spcPct val="90000"/>
            </a:lnSpc>
            <a:spcBef>
              <a:spcPct val="0"/>
            </a:spcBef>
            <a:spcAft>
              <a:spcPct val="15000"/>
            </a:spcAft>
            <a:buChar char="•"/>
          </a:pPr>
          <a:r>
            <a:rPr lang="en-US" sz="1400" kern="1200" dirty="0"/>
            <a:t>Have to deal with identification threats</a:t>
          </a:r>
          <a:endParaRPr lang="en-CA" sz="1400" kern="1200" dirty="0"/>
        </a:p>
        <a:p>
          <a:pPr marL="114300" lvl="1" indent="-114300" algn="l" defTabSz="622300">
            <a:lnSpc>
              <a:spcPct val="90000"/>
            </a:lnSpc>
            <a:spcBef>
              <a:spcPct val="0"/>
            </a:spcBef>
            <a:spcAft>
              <a:spcPct val="15000"/>
            </a:spcAft>
            <a:buChar char="•"/>
          </a:pPr>
          <a:r>
            <a:rPr lang="en-US" sz="1400" kern="1200" dirty="0"/>
            <a:t>A lot of empirical HSR work happens here</a:t>
          </a:r>
          <a:endParaRPr lang="en-CA" sz="1400" kern="1200" dirty="0"/>
        </a:p>
      </dsp:txBody>
      <dsp:txXfrm>
        <a:off x="4604038" y="2090314"/>
        <a:ext cx="5198080" cy="1414524"/>
      </dsp:txXfrm>
    </dsp:sp>
    <dsp:sp modelId="{F1977C6B-9949-4BBD-9556-586CB792BE3F}">
      <dsp:nvSpPr>
        <dsp:cNvPr id="0" name=""/>
        <dsp:cNvSpPr/>
      </dsp:nvSpPr>
      <dsp:spPr>
        <a:xfrm>
          <a:off x="3994428" y="3997787"/>
          <a:ext cx="2500287" cy="1750120"/>
        </a:xfrm>
        <a:prstGeom prst="roundRect">
          <a:avLst>
            <a:gd name="adj" fmla="val 16670"/>
          </a:avLst>
        </a:prstGeom>
        <a:solidFill>
          <a:schemeClr val="accent4">
            <a:hueOff val="18117770"/>
            <a:satOff val="-8031"/>
            <a:lumOff val="-1607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Causality</a:t>
          </a:r>
          <a:endParaRPr lang="en-CA" sz="2800" kern="1200" dirty="0"/>
        </a:p>
      </dsp:txBody>
      <dsp:txXfrm>
        <a:off x="4079877" y="4083236"/>
        <a:ext cx="2329389" cy="1579222"/>
      </dsp:txXfrm>
    </dsp:sp>
    <dsp:sp modelId="{3F610435-8C9C-4065-88E2-E727BAF5FC31}">
      <dsp:nvSpPr>
        <dsp:cNvPr id="0" name=""/>
        <dsp:cNvSpPr/>
      </dsp:nvSpPr>
      <dsp:spPr>
        <a:xfrm>
          <a:off x="6649172" y="4147711"/>
          <a:ext cx="4660467" cy="141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Counterfactuals</a:t>
          </a:r>
          <a:endParaRPr lang="en-CA" sz="1400" kern="1200" dirty="0"/>
        </a:p>
        <a:p>
          <a:pPr marL="114300" lvl="1" indent="-114300" algn="l" defTabSz="622300">
            <a:lnSpc>
              <a:spcPct val="90000"/>
            </a:lnSpc>
            <a:spcBef>
              <a:spcPct val="0"/>
            </a:spcBef>
            <a:spcAft>
              <a:spcPct val="15000"/>
            </a:spcAft>
            <a:buChar char="•"/>
          </a:pPr>
          <a:r>
            <a:rPr lang="en-US" sz="1400" kern="1200" dirty="0"/>
            <a:t>We chose to do </a:t>
          </a:r>
          <a14:m xmlns:a14="http://schemas.microsoft.com/office/drawing/2010/main">
            <m:oMath xmlns:m="http://schemas.openxmlformats.org/officeDocument/2006/math">
              <m:r>
                <a:rPr lang="en-US" sz="1400" b="0" i="1" kern="1200" smtClean="0">
                  <a:latin typeface="Cambria Math" panose="02040503050406030204" pitchFamily="18" charset="0"/>
                </a:rPr>
                <m:t>𝑋</m:t>
              </m:r>
              <m:r>
                <a:rPr lang="en-US" sz="1400" b="0" i="1" kern="1200" smtClean="0">
                  <a:latin typeface="Cambria Math" panose="02040503050406030204" pitchFamily="18" charset="0"/>
                </a:rPr>
                <m:t>, </m:t>
              </m:r>
            </m:oMath>
          </a14:m>
          <a:r>
            <a:rPr lang="en-CA" sz="1400" kern="1200" dirty="0"/>
            <a:t>but what if we had chosen </a:t>
          </a:r>
          <a14:m xmlns:a14="http://schemas.microsoft.com/office/drawing/2010/main">
            <m:oMath xmlns:m="http://schemas.openxmlformats.org/officeDocument/2006/math">
              <m:sSup>
                <m:sSupPr>
                  <m:ctrlPr>
                    <a:rPr lang="en-US" sz="1400" b="0" i="1" kern="1200" smtClean="0">
                      <a:latin typeface="Cambria Math" panose="02040503050406030204" pitchFamily="18" charset="0"/>
                    </a:rPr>
                  </m:ctrlPr>
                </m:sSupPr>
                <m:e>
                  <m:r>
                    <a:rPr lang="en-US" sz="1400" b="0" i="1" kern="1200" smtClean="0">
                      <a:latin typeface="Cambria Math" panose="02040503050406030204" pitchFamily="18" charset="0"/>
                    </a:rPr>
                    <m:t>𝑋</m:t>
                  </m:r>
                </m:e>
                <m:sup>
                  <m:r>
                    <a:rPr lang="en-US" sz="1400" b="0" i="1" kern="1200" smtClean="0">
                      <a:latin typeface="Cambria Math" panose="02040503050406030204" pitchFamily="18" charset="0"/>
                    </a:rPr>
                    <m:t>′</m:t>
                  </m:r>
                </m:sup>
              </m:sSup>
              <m:r>
                <a:rPr lang="en-US" sz="1400" b="0" i="1" kern="1200" smtClean="0">
                  <a:latin typeface="Cambria Math" panose="02040503050406030204" pitchFamily="18" charset="0"/>
                </a:rPr>
                <m:t>?</m:t>
              </m:r>
            </m:oMath>
          </a14:m>
          <a:endParaRPr lang="en-CA" sz="1400" kern="1200" dirty="0"/>
        </a:p>
        <a:p>
          <a:pPr marL="114300" lvl="1" indent="-114300" algn="l" defTabSz="622300">
            <a:lnSpc>
              <a:spcPct val="90000"/>
            </a:lnSpc>
            <a:spcBef>
              <a:spcPct val="0"/>
            </a:spcBef>
            <a:spcAft>
              <a:spcPct val="15000"/>
            </a:spcAft>
            <a:buChar char="•"/>
          </a:pPr>
          <a:r>
            <a:rPr lang="en-CA" sz="1400" kern="1200" dirty="0"/>
            <a:t>Harder to answer, requires even more structural assumptions</a:t>
          </a:r>
        </a:p>
        <a:p>
          <a:pPr marL="114300" lvl="1" indent="-114300" algn="l" defTabSz="622300">
            <a:lnSpc>
              <a:spcPct val="90000"/>
            </a:lnSpc>
            <a:spcBef>
              <a:spcPct val="0"/>
            </a:spcBef>
            <a:spcAft>
              <a:spcPct val="15000"/>
            </a:spcAft>
            <a:buChar char="•"/>
          </a:pPr>
          <a:r>
            <a:rPr lang="en-CA" sz="1400" kern="1200" dirty="0"/>
            <a:t>Mechanisms also (should?) go here </a:t>
          </a:r>
        </a:p>
      </dsp:txBody>
      <dsp:txXfrm>
        <a:off x="6649172" y="4147711"/>
        <a:ext cx="4660467" cy="1414524"/>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r>
              <a:rPr lang="en-US" sz="1000" dirty="0"/>
              <a:t>*Move more quickly through logistics than you have in the past – target is 20 </a:t>
            </a:r>
            <a:r>
              <a:rPr lang="en-US" sz="1000"/>
              <a:t>minutes.* </a:t>
            </a:r>
          </a:p>
          <a:p>
            <a:r>
              <a:rPr lang="en-US" sz="1000"/>
              <a:t>Let’s </a:t>
            </a:r>
            <a:r>
              <a:rPr lang="en-US" sz="1000" dirty="0"/>
              <a:t>start with a round of introductions – name, which program you’re in (</a:t>
            </a:r>
            <a:r>
              <a:rPr lang="en-US" sz="1000" dirty="0" err="1"/>
              <a:t>Msc</a:t>
            </a:r>
            <a:r>
              <a:rPr lang="en-US" sz="1000" dirty="0"/>
              <a:t>/</a:t>
            </a:r>
            <a:r>
              <a:rPr lang="en-US" sz="1000" dirty="0" err="1"/>
              <a:t>Phd</a:t>
            </a:r>
            <a:r>
              <a:rPr lang="en-US" sz="1000" dirty="0"/>
              <a:t> + emphasis + 1 broad/specific area of research interest), anything else you want us to know. </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Some of my “get to know you” answers:</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503290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Some of your answers to the survey (if you haven’t taken it, please do! For my own info at least). We have both Master’s and PhD students with all kinds of interests (here are just a few – can remain anonymous if desired). Lots of different backgrounds and comfort working with data + research questions + contexts. Good scope for group work here! </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800457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Lots of different professional and academic goals!</a:t>
            </a:r>
          </a:p>
          <a:p>
            <a:endParaRPr lang="en-CA" dirty="0"/>
          </a:p>
          <a:p>
            <a:r>
              <a:rPr lang="en-CA" dirty="0"/>
              <a:t>Now, a couple of things we’re *not* doing, just for transparency – if you want me to direct you to other courses where you can find these, I can absolutely do that: </a:t>
            </a:r>
          </a:p>
          <a:p>
            <a:pPr marL="171450" indent="-171450">
              <a:buFont typeface="Arial" panose="020B0604020202020204" pitchFamily="34" charset="0"/>
              <a:buChar char="•"/>
            </a:pPr>
            <a:r>
              <a:rPr lang="en-CA" dirty="0"/>
              <a:t>Clinical trials (</a:t>
            </a:r>
            <a:r>
              <a:rPr lang="en-CA" dirty="0" err="1"/>
              <a:t>ish</a:t>
            </a:r>
            <a:r>
              <a:rPr lang="en-CA" dirty="0"/>
              <a:t>) (things like calculating power, planning them, etc.)</a:t>
            </a:r>
          </a:p>
          <a:p>
            <a:pPr marL="171450" indent="-171450">
              <a:buFont typeface="Arial" panose="020B0604020202020204" pitchFamily="34" charset="0"/>
              <a:buChar char="•"/>
            </a:pPr>
            <a:r>
              <a:rPr lang="en-CA" dirty="0"/>
              <a:t>Meta analysis and systematic reviews</a:t>
            </a:r>
          </a:p>
          <a:p>
            <a:pPr marL="171450" indent="-171450">
              <a:buFont typeface="Arial" panose="020B0604020202020204" pitchFamily="34" charset="0"/>
              <a:buChar char="•"/>
            </a:pPr>
            <a:r>
              <a:rPr lang="en-CA" dirty="0"/>
              <a:t>Economic evaluation (e.g., for a drug; CEA, CUA)</a:t>
            </a:r>
          </a:p>
          <a:p>
            <a:pPr marL="171450" indent="-171450">
              <a:buFont typeface="Arial" panose="020B0604020202020204" pitchFamily="34" charset="0"/>
              <a:buChar char="•"/>
            </a:pPr>
            <a:r>
              <a:rPr lang="en-CA" dirty="0"/>
              <a:t>Survey design or implementation</a:t>
            </a:r>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2459165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4200056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knitting early and often – want to make sure you’re not just coding away in an environment that isn’t going to respond to you. Note that we are shifting to individual assignments this term because of inappropriate progress into future courses from past cohorts (may need to add exams as we move forward).</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311186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9B39-6BC9-4E7B-F787-46C7DADCB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4F843-5990-16C9-6AE6-46E4E6821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6BB52-B4EB-F262-8C65-F316266F5667}"/>
              </a:ext>
            </a:extLst>
          </p:cNvPr>
          <p:cNvSpPr>
            <a:spLocks noGrp="1"/>
          </p:cNvSpPr>
          <p:nvPr>
            <p:ph type="body" idx="1"/>
          </p:nvPr>
        </p:nvSpPr>
        <p:spPr/>
        <p:txBody>
          <a:bodyPr/>
          <a:lstStyle/>
          <a:p>
            <a:r>
              <a:rPr lang="en-US" dirty="0"/>
              <a:t>Example here is Assignment 1 – you should think about answering all of the questions as getting you to a B+/A- or so. The academic writing and how we discuss these issues is a central part of this course, and so will constitute a chunk of the grade (we will talk about grading later). </a:t>
            </a:r>
          </a:p>
        </p:txBody>
      </p:sp>
      <p:sp>
        <p:nvSpPr>
          <p:cNvPr id="4" name="Slide Number Placeholder 3">
            <a:extLst>
              <a:ext uri="{FF2B5EF4-FFF2-40B4-BE49-F238E27FC236}">
                <a16:creationId xmlns:a16="http://schemas.microsoft.com/office/drawing/2014/main" id="{FF5823E6-0F66-AF68-66AD-B9B0FDA3D42F}"/>
              </a:ext>
            </a:extLst>
          </p:cNvPr>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2024541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of the assignment drawn straight from ChatGPT with insufficient checks/editing will be deducted points (including a 0 score for AI without any changes).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670497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9AA4B-8F4E-0B5D-03D9-511B08F36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CE5A1-BB26-4E53-3C15-179CB3C49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E00DC-DE82-2971-4CE6-138E8BD1D92C}"/>
              </a:ext>
            </a:extLst>
          </p:cNvPr>
          <p:cNvSpPr>
            <a:spLocks noGrp="1"/>
          </p:cNvSpPr>
          <p:nvPr>
            <p:ph type="body" idx="1"/>
          </p:nvPr>
        </p:nvSpPr>
        <p:spPr/>
        <p:txBody>
          <a:bodyPr/>
          <a:lstStyle/>
          <a:p>
            <a:r>
              <a:rPr lang="en-US" dirty="0"/>
              <a:t>This isn’t just to get around Chat GPT (although that’s a bit motivator). It’s also because graduate level skills involve being able to cogently, precisely, and pithily explain your reasoning and work as well as actually doing the work. </a:t>
            </a:r>
            <a:r>
              <a:rPr lang="en-US" u="sng" dirty="0"/>
              <a:t>The conversation is just as important as the code. </a:t>
            </a:r>
          </a:p>
        </p:txBody>
      </p:sp>
      <p:sp>
        <p:nvSpPr>
          <p:cNvPr id="4" name="Slide Number Placeholder 3">
            <a:extLst>
              <a:ext uri="{FF2B5EF4-FFF2-40B4-BE49-F238E27FC236}">
                <a16:creationId xmlns:a16="http://schemas.microsoft.com/office/drawing/2014/main" id="{5B2C6AF0-1851-968C-2319-8C84E4B0C9D8}"/>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1569504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for AI use in paper: I will take your outline/proposal, and have AI simulate a paper (with fake results) based on that. I will then circulate it back to you and tell you what the grade you would get on such a paper would be (likely no higher than a B unless your outline is amazing). You will then be responsible for everything you produce afterwards with that bar in mind. Remember that </a:t>
            </a:r>
            <a:r>
              <a:rPr lang="en-US"/>
              <a:t>AI writing gives the “ick”</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31521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FE57-0239-1E1C-62A5-023D31477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6E8CC-43C9-6412-4100-EE36059D1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CDF29-2676-A3EC-B5D3-D8E8B1E88BB8}"/>
              </a:ext>
            </a:extLst>
          </p:cNvPr>
          <p:cNvSpPr>
            <a:spLocks noGrp="1"/>
          </p:cNvSpPr>
          <p:nvPr>
            <p:ph type="body" idx="1"/>
          </p:nvPr>
        </p:nvSpPr>
        <p:spPr/>
        <p:txBody>
          <a:bodyPr/>
          <a:lstStyle/>
          <a:p>
            <a:r>
              <a:rPr lang="en-US" dirty="0"/>
              <a:t>Note that we are attempting to standardize grades across courses with the modernization, so some of this is updated department policy. What does each grade mean? </a:t>
            </a:r>
          </a:p>
          <a:p>
            <a:pPr marL="171450" indent="-171450">
              <a:buFontTx/>
              <a:buChar char="-"/>
            </a:pPr>
            <a:r>
              <a:rPr lang="en-US" dirty="0"/>
              <a:t>A+ is reserved for “blow me away” work – will expect no more than 5% of the class will get A+ in a term. “Full marks” happens at 85%, so you shouldn’t expect more than that most of the time. </a:t>
            </a:r>
          </a:p>
          <a:p>
            <a:pPr marL="171450" indent="-171450">
              <a:buFontTx/>
              <a:buChar char="-"/>
            </a:pPr>
            <a:r>
              <a:rPr lang="en-US" dirty="0"/>
              <a:t>Grades will likely be split between B+/A- and A/A+. Don’t worry if you see a B+ on an assignment or paper! </a:t>
            </a:r>
          </a:p>
          <a:p>
            <a:pPr marL="171450" indent="-171450">
              <a:buFontTx/>
              <a:buChar char="-"/>
            </a:pPr>
            <a:r>
              <a:rPr lang="en-US" dirty="0"/>
              <a:t>If you get a B or B-, you can interpret that as a signal that some work is needed.</a:t>
            </a:r>
          </a:p>
          <a:p>
            <a:pPr marL="171450" indent="-171450">
              <a:buFontTx/>
              <a:buChar char="-"/>
            </a:pPr>
            <a:r>
              <a:rPr lang="en-US" dirty="0"/>
              <a:t>Perfect grades aren’t going to be possible – assignments are not purely coding, but also interpretation (this isn’t math homework). Also grades will be distributed only as letters, since the numerical marks make no sense. </a:t>
            </a:r>
          </a:p>
          <a:p>
            <a:pPr marL="171450" indent="-171450">
              <a:buFontTx/>
              <a:buChar char="-"/>
            </a:pPr>
            <a:r>
              <a:rPr lang="en-US" dirty="0"/>
              <a:t>Grades aren’t nearly as important as learning. What does each grade mean for you moving forward? If you’re a qual or mixed methods person, a B+ is perfectly good here. An A+ would mean I want to poach you to become my HE student. </a:t>
            </a:r>
          </a:p>
        </p:txBody>
      </p:sp>
      <p:sp>
        <p:nvSpPr>
          <p:cNvPr id="4" name="Slide Number Placeholder 3">
            <a:extLst>
              <a:ext uri="{FF2B5EF4-FFF2-40B4-BE49-F238E27FC236}">
                <a16:creationId xmlns:a16="http://schemas.microsoft.com/office/drawing/2014/main" id="{65614568-9A23-26C2-DDEB-3269FA491659}"/>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1492154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7E73-E5A1-2E2C-246D-9EBD06EB1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7D098-84D6-FDB5-CA8B-2D6A39708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CAA2F-CCE9-F104-E9C0-EFA57A22F7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 reserve the right to impose a grade penalty for too many unexcused absences, being unprepared in class for class discussions, etc.. Audio-recordings are not substitutes for attending class. Students should note that since audio recordings are to be permitted, their voice may be recorded by others during the class. Please speak to me if this is a concern for you.</a:t>
            </a:r>
            <a:endParaRPr lang="en-CA" sz="1200" dirty="0"/>
          </a:p>
          <a:p>
            <a:endParaRPr lang="en-US" dirty="0"/>
          </a:p>
        </p:txBody>
      </p:sp>
      <p:sp>
        <p:nvSpPr>
          <p:cNvPr id="4" name="Slide Number Placeholder 3">
            <a:extLst>
              <a:ext uri="{FF2B5EF4-FFF2-40B4-BE49-F238E27FC236}">
                <a16:creationId xmlns:a16="http://schemas.microsoft.com/office/drawing/2014/main" id="{508243F2-85EF-C6A8-3BD5-F5C7A1C11A98}"/>
              </a:ext>
            </a:extLst>
          </p:cNvPr>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1219812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Note: where this course fits: </a:t>
            </a:r>
            <a:r>
              <a:rPr lang="en-US" dirty="0"/>
              <a:t>Talk about 5772 as a pre-req and 5746 as a </a:t>
            </a:r>
            <a:r>
              <a:rPr lang="en-US" dirty="0" err="1"/>
              <a:t>followup</a:t>
            </a:r>
            <a:r>
              <a:rPr lang="en-US" dirty="0"/>
              <a:t>, as well as ML, data wrangling, and data viz classes. I’m presupposing your familiarity with R as per Assignment 0 – if this isn’t a good fit for you, then look into 5772. By next week, please have RStudio and R installed, and Copilot if you’re going to use it. I recommend submitting a knitted version of Assignment 0 (and then emailing me) to make sure you have a good handle </a:t>
            </a:r>
            <a:r>
              <a:rPr lang="en-US"/>
              <a:t>on things. </a:t>
            </a:r>
            <a:endParaRPr lang="en-US" dirty="0"/>
          </a:p>
          <a:p>
            <a:endParaRPr lang="en-CA" dirty="0"/>
          </a:p>
          <a:p>
            <a:r>
              <a:rPr lang="en-CA" dirty="0"/>
              <a:t>Why only use R? Group assignments, flexibility across emphases. </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591747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Group work is encouraged, </a:t>
            </a:r>
            <a:r>
              <a:rPr lang="en-CA" dirty="0" err="1"/>
              <a:t>Github</a:t>
            </a:r>
            <a:r>
              <a:rPr lang="en-CA" dirty="0"/>
              <a:t> discussions, office hours, etc. Talk about sample papers and reading materials (useful as you prep your final paper; treat this course as an intro to a lot of methods but you should take a deep dive into methods you care </a:t>
            </a:r>
            <a:r>
              <a:rPr lang="en-CA"/>
              <a:t>more about.)</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1465017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305082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F21E4-C7F9-B40F-D100-65EE34B57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C469D-DB68-ED7C-A6CF-0C8C202EE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D0F8E-816C-4792-74BB-82445995E5DE}"/>
              </a:ext>
            </a:extLst>
          </p:cNvPr>
          <p:cNvSpPr>
            <a:spLocks noGrp="1"/>
          </p:cNvSpPr>
          <p:nvPr>
            <p:ph type="body" idx="1"/>
          </p:nvPr>
        </p:nvSpPr>
        <p:spPr/>
        <p:txBody>
          <a:bodyPr/>
          <a:lstStyle/>
          <a:p>
            <a:r>
              <a:rPr lang="en-US" dirty="0"/>
              <a:t>We can’t cover everything in one course, so we will need to assume a common starting point. The review of Assignment 0 will be *very* brief, if you have specific questions, please send them my way! If you are feeling like you are lagging, there is a course for you! Also, rely on your groups and Copilot </a:t>
            </a:r>
            <a:endParaRPr lang="en-CA" dirty="0"/>
          </a:p>
        </p:txBody>
      </p:sp>
      <p:sp>
        <p:nvSpPr>
          <p:cNvPr id="4" name="Slide Number Placeholder 3">
            <a:extLst>
              <a:ext uri="{FF2B5EF4-FFF2-40B4-BE49-F238E27FC236}">
                <a16:creationId xmlns:a16="http://schemas.microsoft.com/office/drawing/2014/main" id="{5839B0CE-8894-F2F7-4C57-54C6AA8A12B3}"/>
              </a:ext>
            </a:extLst>
          </p:cNvPr>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405322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there will still be some theory, but less</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325921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It can be a pain to learn R – but the best way to learn really is trial by error. Note that there’s some literature/ideas out there that it’s good to suck at something (it’s the first step to being good at something), but I don’t want you to feel like you are sucking! Come to me with questions, but don’t be stressed if you are feeling frustrated. These are tools that will serve you well, invest in them </a:t>
            </a:r>
            <a:r>
              <a:rPr lang="en-CA" b="1" dirty="0"/>
              <a:t>(copilot is a great resource!)</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088279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Cheap, great resource, online version available. Highly recommend for all applied quant researchers</a:t>
            </a:r>
            <a:r>
              <a:rPr lang="en-CA"/>
              <a:t>.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27493716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6C2F8-C5E9-27AF-8536-4984F0AD0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B8AC2-0A44-4F4B-42CB-947ED36E8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DE7E2-B7B7-2547-FD26-5EC607ADA681}"/>
              </a:ext>
            </a:extLst>
          </p:cNvPr>
          <p:cNvSpPr>
            <a:spLocks noGrp="1"/>
          </p:cNvSpPr>
          <p:nvPr>
            <p:ph type="body" idx="1"/>
          </p:nvPr>
        </p:nvSpPr>
        <p:spPr/>
        <p:txBody>
          <a:bodyPr/>
          <a:lstStyle/>
          <a:p>
            <a:r>
              <a:rPr lang="en-CA" dirty="0"/>
              <a:t>*talk about new AI </a:t>
            </a:r>
            <a:r>
              <a:rPr lang="en-CA"/>
              <a:t>policy here* Note</a:t>
            </a:r>
            <a:r>
              <a:rPr lang="en-CA" dirty="0"/>
              <a:t>: chat GPT makes this worse for everyone if it’s misused. Way too much output obfuscating your own learning and my own ability to give you feedback. We’re trying some new things this semester to try to get around this. </a:t>
            </a:r>
          </a:p>
          <a:p>
            <a:endParaRPr lang="en-CA" dirty="0"/>
          </a:p>
          <a:p>
            <a:r>
              <a:rPr lang="en-CA" dirty="0"/>
              <a:t>One thing it’s good at (</a:t>
            </a:r>
            <a:r>
              <a:rPr lang="en-CA" dirty="0" err="1"/>
              <a:t>ish</a:t>
            </a:r>
            <a:r>
              <a:rPr lang="en-CA" dirty="0"/>
              <a:t>) – coding! Here is how you can integrate with R Studio and ask questions. Remember that the more detailed the question, the better the answer. (Note that this will only give you coding help, but there’s a reason you should do it this way – it will see your code and history!) </a:t>
            </a:r>
          </a:p>
        </p:txBody>
      </p:sp>
      <p:sp>
        <p:nvSpPr>
          <p:cNvPr id="4" name="Slide Number Placeholder 3">
            <a:extLst>
              <a:ext uri="{FF2B5EF4-FFF2-40B4-BE49-F238E27FC236}">
                <a16:creationId xmlns:a16="http://schemas.microsoft.com/office/drawing/2014/main" id="{34835B99-0A84-C050-0611-A3EC65C977A6}"/>
              </a:ext>
            </a:extLst>
          </p:cNvPr>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489196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45179-5993-F745-CE76-D85141BC5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CFF34-6ECB-252D-20E6-1C907D3EF3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ACF9D-B844-774B-E410-62BA9DEE164D}"/>
              </a:ext>
            </a:extLst>
          </p:cNvPr>
          <p:cNvSpPr>
            <a:spLocks noGrp="1"/>
          </p:cNvSpPr>
          <p:nvPr>
            <p:ph type="body" idx="1"/>
          </p:nvPr>
        </p:nvSpPr>
        <p:spPr/>
        <p:txBody>
          <a:bodyPr/>
          <a:lstStyle/>
          <a:p>
            <a:r>
              <a:rPr lang="en-CA" dirty="0"/>
              <a:t>It’s *much* more variable at interpreting statistics. For example, this is good – although erring on the side of too much information. A worse outcome is this one: https://chatgpt.com/share/677d4e1b-46f0-8000-9cd8-e09f628f7795. </a:t>
            </a:r>
          </a:p>
          <a:p>
            <a:pPr marL="171450" indent="-171450">
              <a:buFont typeface="Arial" panose="020B0604020202020204" pitchFamily="34" charset="0"/>
              <a:buChar char="•"/>
            </a:pPr>
            <a:r>
              <a:rPr lang="en-CA" dirty="0"/>
              <a:t>Not really engaging in the context discussion</a:t>
            </a:r>
          </a:p>
          <a:p>
            <a:pPr marL="171450" indent="-171450">
              <a:buFont typeface="Arial" panose="020B0604020202020204" pitchFamily="34" charset="0"/>
              <a:buChar char="•"/>
            </a:pPr>
            <a:r>
              <a:rPr lang="en-CA" dirty="0"/>
              <a:t>Missing some obvious things (yes, a doubling of head trauma rates is serious) </a:t>
            </a:r>
          </a:p>
          <a:p>
            <a:pPr marL="171450" indent="-171450">
              <a:buFont typeface="Arial" panose="020B0604020202020204" pitchFamily="34" charset="0"/>
              <a:buChar char="•"/>
            </a:pPr>
            <a:r>
              <a:rPr lang="en-CA" dirty="0"/>
              <a:t>Provides too much information – you risk losing points for going on tangents that aren’t related to the question</a:t>
            </a:r>
          </a:p>
          <a:p>
            <a:pPr marL="171450" indent="-171450">
              <a:buFont typeface="Arial" panose="020B0604020202020204" pitchFamily="34" charset="0"/>
              <a:buChar char="•"/>
            </a:pPr>
            <a:r>
              <a:rPr lang="en-CA" dirty="0"/>
              <a:t>Ultimately, you take your learning into your hands. How could you use this in an assignment? </a:t>
            </a:r>
          </a:p>
          <a:p>
            <a:pPr marL="171450" indent="-171450">
              <a:buFont typeface="Arial" panose="020B0604020202020204" pitchFamily="34" charset="0"/>
              <a:buChar char="•"/>
            </a:pPr>
            <a:r>
              <a:rPr lang="en-CA" dirty="0"/>
              <a:t>If I feel it’s plagiarized, then it’s plagiarized. Will also be using Pangram as a resource here. </a:t>
            </a:r>
          </a:p>
          <a:p>
            <a:pPr marL="0" indent="0">
              <a:buFont typeface="Arial" panose="020B0604020202020204" pitchFamily="34" charset="0"/>
              <a:buNone/>
            </a:pPr>
            <a:endParaRPr lang="en-CA" dirty="0"/>
          </a:p>
          <a:p>
            <a:pPr marL="0" indent="0">
              <a:buFont typeface="Arial" panose="020B0604020202020204" pitchFamily="34" charset="0"/>
              <a:buNone/>
            </a:pPr>
            <a:r>
              <a:rPr lang="en-CA" dirty="0"/>
              <a:t>Is this clickbait? Probably. But still has a point. </a:t>
            </a:r>
          </a:p>
        </p:txBody>
      </p:sp>
      <p:sp>
        <p:nvSpPr>
          <p:cNvPr id="4" name="Slide Number Placeholder 3">
            <a:extLst>
              <a:ext uri="{FF2B5EF4-FFF2-40B4-BE49-F238E27FC236}">
                <a16:creationId xmlns:a16="http://schemas.microsoft.com/office/drawing/2014/main" id="{1C0A5D20-012D-0382-0A3A-CABD8E9D982B}"/>
              </a:ext>
            </a:extLst>
          </p:cNvPr>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2368828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talk about our methodological toolkit – whether its social epidemiology, health economics, biostats, etc., this has evolved significantly over time. Early approaches relied on basic regression models to identify associations between social factors and health, often in cross-sectional designs. Researchers then incorporated longitudinal and multilevel approaches to capture dynamic and contextual influences on health (this is next semester). The focus then shifted to understanding mechanisms through mediation analysis and causal inference techniques, while econometric and quasi-experimental methods enhanced our ability to assess policy impacts. More recently, AI and machine learning have entered the field, offering new analytical opportunities but also raising challenges related to bias and interpretability. See here for more: https://leongcentre.utoronto.ca/social-epidemiology-course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will have case studies for each of these, starting next week. **Case studies try hard to cover a lot of disciplines and different healthcare settings (Canada, US, developing countries)** If you have specific interests, let me know.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573730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BB1A2-6CD0-7429-6A17-5D2A0E8D3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A8149-3F9F-F84D-FF21-4DF4E6194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5ABCD-EAC6-C565-B320-F05FD752695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In addition to assignments (application), we will also have case studies (interpretation) for each lecture. Go over case study for next week, talk about expectations here. </a:t>
            </a:r>
            <a:endParaRPr lang="en-US" dirty="0"/>
          </a:p>
        </p:txBody>
      </p:sp>
      <p:sp>
        <p:nvSpPr>
          <p:cNvPr id="4" name="Slide Number Placeholder 3">
            <a:extLst>
              <a:ext uri="{FF2B5EF4-FFF2-40B4-BE49-F238E27FC236}">
                <a16:creationId xmlns:a16="http://schemas.microsoft.com/office/drawing/2014/main" id="{2C639114-1356-A668-701A-E9DCB7F133DC}"/>
              </a:ext>
            </a:extLst>
          </p:cNvPr>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759775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7010E-0074-703F-16CC-02CA861FD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1E0A6-3F4C-F1DF-E837-001871D73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1122A-8617-9652-068A-A04CEEEB5E0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talk about our methodological toolkit – whether its social epidemiology, health economics, biostats, etc., this has evolved significantly over time. Early approaches relied on basic regression models to identify associations between social factors and health, often in cross-sectional designs. Researchers then incorporated longitudinal and multilevel approaches to capture dynamic and contextual influences on health (this is next semester). The focus then shifted to understanding mechanisms through mediation analysis and causal inference techniques, while econometric and quasi-experimental methods enhanced our ability to assess policy impacts. More recently, AI and machine learning have entered the field, offering new analytical opportunities but also raising challenges related to bias and interpretability. See here for more: https://leongcentre.utoronto.ca/social-epidemiology-course</a:t>
            </a:r>
            <a:endParaRPr lang="en-US" dirty="0"/>
          </a:p>
        </p:txBody>
      </p:sp>
      <p:sp>
        <p:nvSpPr>
          <p:cNvPr id="4" name="Slide Number Placeholder 3">
            <a:extLst>
              <a:ext uri="{FF2B5EF4-FFF2-40B4-BE49-F238E27FC236}">
                <a16:creationId xmlns:a16="http://schemas.microsoft.com/office/drawing/2014/main" id="{826323F6-4173-D871-C527-36C38C90AC48}"/>
              </a:ext>
            </a:extLst>
          </p:cNvPr>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2792086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753678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Our goal is to understand a DGP – what gives rise to the data we see in the world? Example: being sick and going to the doctor. Another example: what is the impact of a particular policy (such as fitness exam for children)</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423487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DA855-811C-2290-B1CF-B5EBBC957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111EC-A552-D7E1-274E-CD683494D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2283B-A297-62BF-E43F-60710D577A7E}"/>
              </a:ext>
            </a:extLst>
          </p:cNvPr>
          <p:cNvSpPr>
            <a:spLocks noGrp="1"/>
          </p:cNvSpPr>
          <p:nvPr>
            <p:ph type="body" idx="1"/>
          </p:nvPr>
        </p:nvSpPr>
        <p:spPr/>
        <p:txBody>
          <a:bodyPr/>
          <a:lstStyle/>
          <a:p>
            <a:r>
              <a:rPr lang="en-CA" dirty="0"/>
              <a:t>Our goal is to understand a DGP – what gives rise to the data we see in the world? Example: being sick and going to the doctor. </a:t>
            </a:r>
          </a:p>
          <a:p>
            <a:endParaRPr lang="en-CA" dirty="0"/>
          </a:p>
          <a:p>
            <a:r>
              <a:rPr lang="en-CA" dirty="0"/>
              <a:t>Historically, some fields (economics) have prioritized causal questions over and above associations and descriptive work. Others use largely correlations/associations. Why might we care more about causal work? What about associations might still be important? [Discussion]</a:t>
            </a:r>
          </a:p>
        </p:txBody>
      </p:sp>
      <p:sp>
        <p:nvSpPr>
          <p:cNvPr id="4" name="Slide Number Placeholder 3">
            <a:extLst>
              <a:ext uri="{FF2B5EF4-FFF2-40B4-BE49-F238E27FC236}">
                <a16:creationId xmlns:a16="http://schemas.microsoft.com/office/drawing/2014/main" id="{FD8BA857-4A8A-A5FB-56B9-72782F5C2B3A}"/>
              </a:ext>
            </a:extLst>
          </p:cNvPr>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3658748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F5C54-83BB-2BDA-022B-4DD10F119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7BE20-8F6B-97CE-C6B4-CB0439075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3C402-4DBE-3E5A-D081-2A5F2928A421}"/>
              </a:ext>
            </a:extLst>
          </p:cNvPr>
          <p:cNvSpPr>
            <a:spLocks noGrp="1"/>
          </p:cNvSpPr>
          <p:nvPr>
            <p:ph type="body" idx="1"/>
          </p:nvPr>
        </p:nvSpPr>
        <p:spPr/>
        <p:txBody>
          <a:bodyPr/>
          <a:lstStyle/>
          <a:p>
            <a:r>
              <a:rPr lang="en-US" dirty="0"/>
              <a:t>What kinds of questions are you asking? Generally your question falls into one of these three categories. </a:t>
            </a:r>
          </a:p>
          <a:p>
            <a:r>
              <a:rPr lang="en-US" dirty="0"/>
              <a:t>Go through each of these with an example. </a:t>
            </a:r>
            <a:r>
              <a:rPr lang="en-US" sz="1200" kern="1200" dirty="0">
                <a:solidFill>
                  <a:schemeClr val="tx1"/>
                </a:solidFill>
                <a:effectLst/>
                <a:latin typeface="+mn-lt"/>
                <a:ea typeface="+mn-ea"/>
                <a:cs typeface="+mn-cs"/>
              </a:rPr>
              <a:t>Talk about how to address the type of questions we are asking and the type of questions we can ask. Note importantly that most of the time we gravitate towards asking causal questions and we should ask the question appropriately even if we don't end up producing a causal estimate.</a:t>
            </a:r>
            <a:endParaRPr lang="en-US" dirty="0"/>
          </a:p>
        </p:txBody>
      </p:sp>
      <p:sp>
        <p:nvSpPr>
          <p:cNvPr id="4" name="Slide Number Placeholder 3">
            <a:extLst>
              <a:ext uri="{FF2B5EF4-FFF2-40B4-BE49-F238E27FC236}">
                <a16:creationId xmlns:a16="http://schemas.microsoft.com/office/drawing/2014/main" id="{B3B9D956-EEA0-C018-8BB7-C4407DFBE9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026229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99ED2-D496-2D5E-606F-A3B7F71AA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D2821-6972-9155-E430-1832827A6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069D8-3D13-D60C-4837-E037349F5C61}"/>
              </a:ext>
            </a:extLst>
          </p:cNvPr>
          <p:cNvSpPr>
            <a:spLocks noGrp="1"/>
          </p:cNvSpPr>
          <p:nvPr>
            <p:ph type="body" idx="1"/>
          </p:nvPr>
        </p:nvSpPr>
        <p:spPr/>
        <p:txBody>
          <a:bodyPr/>
          <a:lstStyle/>
          <a:p>
            <a:r>
              <a:rPr lang="en-US" dirty="0"/>
              <a:t>A helpful framing: GBBO. We’re going to go through each of these in the remaining lectures (less on predictive, more on the descriptive/causal breakdown)</a:t>
            </a:r>
          </a:p>
        </p:txBody>
      </p:sp>
      <p:sp>
        <p:nvSpPr>
          <p:cNvPr id="4" name="Slide Number Placeholder 3">
            <a:extLst>
              <a:ext uri="{FF2B5EF4-FFF2-40B4-BE49-F238E27FC236}">
                <a16:creationId xmlns:a16="http://schemas.microsoft.com/office/drawing/2014/main" id="{EF08210B-3A2B-780B-547D-F693B6F2DFB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16108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stage of *looking for clues* in an escape room. </a:t>
            </a:r>
          </a:p>
          <a:p>
            <a:r>
              <a:rPr lang="en-US" dirty="0"/>
              <a:t>Example questions: What is the prevalence of diabetes in Ontario? What is prevalence across regions, groups, etc.?</a:t>
            </a:r>
          </a:p>
          <a:p>
            <a:r>
              <a:rPr lang="en-US" dirty="0"/>
              <a:t>How has hospital readmission changed over 10 years?</a:t>
            </a:r>
          </a:p>
          <a:p>
            <a:r>
              <a:rPr lang="en-US" dirty="0"/>
              <a:t>What are the demographics of patients accessing telehealth?</a:t>
            </a:r>
          </a:p>
          <a:p>
            <a:r>
              <a:rPr lang="en-US" dirty="0"/>
              <a:t>How are two variables correlated or related (not necessarily in a causal way)?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Source: https://doi.org/10.1136/bmjopen-2025-099358</a:t>
            </a:r>
            <a:endParaRPr dirty="0"/>
          </a:p>
          <a:p>
            <a:r>
              <a:rPr dirty="0"/>
              <a:t>Focus on summarizing patterns</a:t>
            </a:r>
            <a:r>
              <a:rPr lang="en-US" dirty="0"/>
              <a:t> – think about descriptive papers as storytelling. There are no modeling assumptions required so you’re not filling in the whole picture (nothing on what is causing this or what its effects are on patient outcomes), but you are illustrating patterns in the data. A good figure is really all you need.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E4A79-9B85-2FEC-77E4-6EB38C637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DB841-DE11-1182-F90E-85F2E6574D6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E381A10-3A21-2CC5-CCE6-EFA1DE2B33F3}"/>
              </a:ext>
            </a:extLst>
          </p:cNvPr>
          <p:cNvSpPr>
            <a:spLocks noGrp="1"/>
          </p:cNvSpPr>
          <p:nvPr>
            <p:ph type="body" sz="quarter" idx="3"/>
          </p:nvPr>
        </p:nvSpPr>
        <p:spPr/>
        <p:txBody>
          <a:bodyPr/>
          <a:lstStyle/>
          <a:p>
            <a:r>
              <a:rPr lang="en-US" dirty="0"/>
              <a:t>Source: https://www.healthaffairs.org/doi/10.1377/hlthaff.2022.00705</a:t>
            </a:r>
            <a:endParaRPr dirty="0"/>
          </a:p>
          <a:p>
            <a:r>
              <a:rPr dirty="0"/>
              <a:t>Focus on summarizing patterns</a:t>
            </a:r>
            <a:r>
              <a:rPr lang="en-US" dirty="0"/>
              <a:t> – think about descriptive papers as storytelling. There are no modeling assumptions required so you’re not filling in the whole picture, but you are illustrating patterns in the data. A good figure is really all you need.</a:t>
            </a:r>
            <a:endParaRPr dirty="0"/>
          </a:p>
        </p:txBody>
      </p:sp>
      <p:sp>
        <p:nvSpPr>
          <p:cNvPr id="4" name="Slide Number Placeholder 3">
            <a:extLst>
              <a:ext uri="{FF2B5EF4-FFF2-40B4-BE49-F238E27FC236}">
                <a16:creationId xmlns:a16="http://schemas.microsoft.com/office/drawing/2014/main" id="{3ECA0C5C-5264-79BB-5318-8B0742ED2B51}"/>
              </a:ext>
            </a:extLst>
          </p:cNvPr>
          <p:cNvSpPr>
            <a:spLocks noGrp="1"/>
          </p:cNvSpPr>
          <p:nvPr>
            <p:ph type="sldNum" sz="quarter" idx="5"/>
          </p:nvPr>
        </p:nvSpPr>
        <p:spPr/>
      </p:sp>
    </p:spTree>
    <p:extLst>
      <p:ext uri="{BB962C8B-B14F-4D97-AF65-F5344CB8AC3E}">
        <p14:creationId xmlns:p14="http://schemas.microsoft.com/office/powerpoint/2010/main" val="14119702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stage of the escape room where you start to tie the clues together. You don’t move all the way to causality but you notice something like, “If I move to this corner of the room, this light starts flashing.” And you start to identify (predict) which clues are important.  </a:t>
            </a:r>
            <a:endParaRPr dirty="0"/>
          </a:p>
          <a:p>
            <a:r>
              <a:rPr dirty="0"/>
              <a:t>Prediction is about </a:t>
            </a:r>
            <a:r>
              <a:rPr b="1" dirty="0"/>
              <a:t>forecasting</a:t>
            </a:r>
            <a:r>
              <a:rPr lang="en-US" b="1" dirty="0"/>
              <a:t>, n</a:t>
            </a:r>
            <a:r>
              <a:rPr dirty="0"/>
              <a:t>ot about understanding mechanisms</a:t>
            </a:r>
            <a:r>
              <a:rPr lang="en-US" dirty="0"/>
              <a:t>. We explicitly don’t model pathways. </a:t>
            </a:r>
          </a:p>
          <a:p>
            <a:endParaRPr lang="en-US" dirty="0"/>
          </a:p>
          <a:p>
            <a:r>
              <a:rPr lang="en-US" dirty="0"/>
              <a:t>Some example questions: Which patients are at risk of hospital readmission?</a:t>
            </a:r>
          </a:p>
          <a:p>
            <a:r>
              <a:rPr lang="en-US" dirty="0"/>
              <a:t>Can we predict opioid overdose using EHR data?</a:t>
            </a:r>
          </a:p>
          <a:p>
            <a:r>
              <a:rPr lang="en-US" dirty="0"/>
              <a:t>What factors predict high-cost patients?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DD451-A82E-C2BB-B16E-90C7DC5F4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DE4A1-72E8-37A1-9F5C-9D97C0320DD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7009A31-5B8C-27F8-8979-AB08855BAE62}"/>
              </a:ext>
            </a:extLst>
          </p:cNvPr>
          <p:cNvSpPr>
            <a:spLocks noGrp="1"/>
          </p:cNvSpPr>
          <p:nvPr>
            <p:ph type="body" sz="quarter" idx="3"/>
          </p:nvPr>
        </p:nvSpPr>
        <p:spPr/>
        <p:txBody>
          <a:bodyPr/>
          <a:lstStyle/>
          <a:p>
            <a:r>
              <a:rPr lang="en-US" dirty="0"/>
              <a:t>This is the stage of *using the clues* in an escape room. </a:t>
            </a:r>
          </a:p>
          <a:p>
            <a:r>
              <a:rPr lang="en-US" dirty="0"/>
              <a:t>Example questions: What is the effect of Medicaid expansion on ER visits?</a:t>
            </a:r>
          </a:p>
          <a:p>
            <a:r>
              <a:rPr lang="en-US" dirty="0"/>
              <a:t>Does a sugar tax reduce soda consumption?</a:t>
            </a:r>
          </a:p>
          <a:p>
            <a:r>
              <a:rPr lang="en-US" dirty="0"/>
              <a:t>How does telemedicine affect follow-up adherence?</a:t>
            </a:r>
          </a:p>
          <a:p>
            <a:endParaRPr dirty="0"/>
          </a:p>
        </p:txBody>
      </p:sp>
      <p:sp>
        <p:nvSpPr>
          <p:cNvPr id="4" name="Slide Number Placeholder 3">
            <a:extLst>
              <a:ext uri="{FF2B5EF4-FFF2-40B4-BE49-F238E27FC236}">
                <a16:creationId xmlns:a16="http://schemas.microsoft.com/office/drawing/2014/main" id="{F366E68D-E446-7496-E288-ED04D5772DE3}"/>
              </a:ext>
            </a:extLst>
          </p:cNvPr>
          <p:cNvSpPr>
            <a:spLocks noGrp="1"/>
          </p:cNvSpPr>
          <p:nvPr>
            <p:ph type="sldNum" sz="quarter" idx="5"/>
          </p:nvPr>
        </p:nvSpPr>
        <p:spPr/>
      </p:sp>
    </p:spTree>
    <p:extLst>
      <p:ext uri="{BB962C8B-B14F-4D97-AF65-F5344CB8AC3E}">
        <p14:creationId xmlns:p14="http://schemas.microsoft.com/office/powerpoint/2010/main" val="1457488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Note – you will also go through a </a:t>
            </a:r>
            <a:r>
              <a:rPr lang="en-US" b="1" dirty="0"/>
              <a:t>lot </a:t>
            </a:r>
            <a:r>
              <a:rPr lang="en-US" b="0" dirty="0"/>
              <a:t>of bad or underbaked ideas before you get the right bake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Gol standard of med research is RCT – is that all we can use? Example: effectiveness of a drug</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11175990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But gold standard has been taken over by medical journals in particular. (although this is changing!)</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11657681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But gold standard has been taken over by medical journals in particular. (although this is changing!)</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29168775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Gol standard of med research is RCT – is that all we can use?</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28062541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Decades of research goes into understanding how real data can give us (some) real answers. There are more assumptions and some limits on the parameters you return, but that’s a </a:t>
            </a:r>
            <a:r>
              <a:rPr lang="en-CA" dirty="0" err="1"/>
              <a:t>tradeoff</a:t>
            </a:r>
            <a:r>
              <a:rPr lang="en-CA" dirty="0"/>
              <a:t> worth taking. </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2549803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Policies are not all based on RCTs -- many rely on real-world data and causal inference. The questions are: (1) is that causal inference sound? And (2) more philosophically – to what extent should all policy be built on evidence vs. art/craft/intuition? Do we need more evidence about drinking age, for example?</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33669726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From Janet Currie, Henrik </a:t>
            </a:r>
            <a:r>
              <a:rPr lang="en-CA" dirty="0" err="1"/>
              <a:t>Kleven</a:t>
            </a:r>
            <a:r>
              <a:rPr lang="en-CA" dirty="0"/>
              <a:t>, and </a:t>
            </a:r>
            <a:r>
              <a:rPr lang="en-CA" dirty="0" err="1"/>
              <a:t>Esmee</a:t>
            </a:r>
            <a:r>
              <a:rPr lang="en-CA" dirty="0"/>
              <a:t> Zwiers (2020 AEA PP)</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39773425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b="1" u="sng" dirty="0">
                <a:solidFill>
                  <a:schemeClr val="accent3">
                    <a:lumMod val="75000"/>
                  </a:schemeClr>
                </a:solidFill>
              </a:rPr>
              <a:t>Example</a:t>
            </a:r>
            <a:r>
              <a:rPr lang="en-US" sz="2400" dirty="0"/>
              <a:t>: Suppose we are making a diagnosis: How helpful is knowing a patient has a fever?  Must consider all symptoms together </a:t>
            </a:r>
            <a:r>
              <a:rPr lang="en-US" sz="2400" dirty="0">
                <a:sym typeface="Wingdings" panose="05000000000000000000" pitchFamily="2" charset="2"/>
              </a:rPr>
              <a:t> this requires us to build a *model*</a:t>
            </a:r>
            <a:endParaRPr lang="en-US" sz="2400" dirty="0"/>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9893947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helpful refrain of econometrics. We are going to talk today about 2 high-level ways to build models in quant research: DAGs (visual) and potential outcomes (precise measurement of policy effects)</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36342118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750BA-2EDB-9AFE-3DE1-9BCBADBCF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38D36-3B54-7FF4-FFDF-CBD197097690}"/>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4766BBF-8AB0-D5A7-19BD-B6D14C5B3F17}"/>
              </a:ext>
            </a:extLst>
          </p:cNvPr>
          <p:cNvSpPr>
            <a:spLocks noGrp="1"/>
          </p:cNvSpPr>
          <p:nvPr>
            <p:ph type="body" idx="1"/>
          </p:nvPr>
        </p:nvSpPr>
        <p:spPr/>
        <p:txBody>
          <a:bodyPr/>
          <a:lstStyle/>
          <a:p>
            <a:endParaRPr lang="en-CA" dirty="0"/>
          </a:p>
          <a:p>
            <a:r>
              <a:rPr lang="en-CA" dirty="0"/>
              <a:t>We’re going to talk about two complementary frameworks today for thinking about moving from associations to causal frameworks: DAGs and PO. They have different strengths so its important to think about them both carefully. </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386557E-FFEE-0B49-A68B-FE93644F4D6F}"/>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12012913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B549C-89A5-FE7A-6142-50A96BE84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EC9A7-874D-FCC3-DCA4-3CFA148F2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B73CB-AB97-39EF-6822-DF5EAE20B92D}"/>
              </a:ext>
            </a:extLst>
          </p:cNvPr>
          <p:cNvSpPr>
            <a:spLocks noGrp="1"/>
          </p:cNvSpPr>
          <p:nvPr>
            <p:ph type="body" idx="1"/>
          </p:nvPr>
        </p:nvSpPr>
        <p:spPr/>
        <p:txBody>
          <a:bodyPr/>
          <a:lstStyle/>
          <a:p>
            <a:r>
              <a:rPr lang="en-CA" dirty="0"/>
              <a:t>Drawn in part from Guido </a:t>
            </a:r>
            <a:r>
              <a:rPr lang="en-CA" dirty="0" err="1"/>
              <a:t>Imbens</a:t>
            </a:r>
            <a:r>
              <a:rPr lang="en-CA" dirty="0"/>
              <a:t>’ JEP paper on research design and Judea Pearl’s book. We’re going to start with (1) next week and then move on to the rest.</a:t>
            </a:r>
          </a:p>
        </p:txBody>
      </p:sp>
      <p:sp>
        <p:nvSpPr>
          <p:cNvPr id="4" name="Slide Number Placeholder 3">
            <a:extLst>
              <a:ext uri="{FF2B5EF4-FFF2-40B4-BE49-F238E27FC236}">
                <a16:creationId xmlns:a16="http://schemas.microsoft.com/office/drawing/2014/main" id="{7C7D2E4A-BFA7-E133-B023-5419A6BDC310}"/>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36897269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there’s no math behind the causal structure – that’s all the hypothesis part of the scientific method. Once the structure is set, then you can do something with the math.</a:t>
            </a:r>
          </a:p>
          <a:p>
            <a:endParaRPr lang="en-US" dirty="0"/>
          </a:p>
          <a:p>
            <a:r>
              <a:rPr lang="en-US" dirty="0"/>
              <a:t>Immediate notes: </a:t>
            </a:r>
          </a:p>
          <a:p>
            <a:r>
              <a:rPr lang="en-US" dirty="0"/>
              <a:t>- There are no cycles (causality runs in one direction). So this model can’t handle reverse causality or simultaneous causality. </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0206293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or may not be motivated by south of the border policy here, but this ha </a:t>
            </a:r>
            <a:r>
              <a:rPr lang="en-US" dirty="0" err="1"/>
              <a:t>salso</a:t>
            </a:r>
            <a:r>
              <a:rPr lang="en-US" dirty="0"/>
              <a:t> existed in Ontario for a long time! </a:t>
            </a:r>
            <a:r>
              <a:rPr lang="en-US" b="1" dirty="0"/>
              <a:t>Ontario’s Daily Physical Activity (DPA) Policy</a:t>
            </a:r>
          </a:p>
          <a:p>
            <a:r>
              <a:rPr lang="en-US" b="1" dirty="0"/>
              <a:t>What it is</a:t>
            </a:r>
            <a:r>
              <a:rPr lang="en-US" dirty="0"/>
              <a:t>: Since 2005, Ontario requires elementary schools to provide </a:t>
            </a:r>
            <a:r>
              <a:rPr lang="en-US" b="1" dirty="0"/>
              <a:t>20 minutes of sustained moderate-to-vigorous physical activity each school day</a:t>
            </a:r>
            <a:r>
              <a:rPr lang="en-US" dirty="0"/>
              <a:t>.</a:t>
            </a:r>
          </a:p>
          <a:p>
            <a:endParaRPr lang="en-CA" dirty="0"/>
          </a:p>
          <a:p>
            <a:r>
              <a:rPr lang="en-CA" dirty="0"/>
              <a:t>Note: you might think D is exogenous (it’s a school policy). Let’s start with that and think about a simple way to measure the effectiveness of the policy. </a:t>
            </a:r>
          </a:p>
          <a:p>
            <a:endParaRPr lang="en-CA" dirty="0"/>
          </a:p>
          <a:p>
            <a:r>
              <a:rPr lang="en-CA" dirty="0"/>
              <a:t>Then: are there reasons D might not apply to everyone at the same level? How does this complicate a province-level analysis, or what else might we need here? (e.g., school fixed effects). This is our first introduction to exogeneity assumptions. </a:t>
            </a:r>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24176433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RCT, in this situation, would eliminate (“close”) effect of X on Y by randomizing (so that there is no “X \</a:t>
            </a:r>
            <a:r>
              <a:rPr lang="en-US" dirty="0" err="1"/>
              <a:t>rightarrow</a:t>
            </a:r>
            <a:r>
              <a:rPr lang="en-US" dirty="0"/>
              <a:t> 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Types of relationships: (1) chain X -&gt; y -&gt; z; (2) fork z &lt;- x -&gt; y; (3) inverted fork / collider z -&gt; x &lt;- y  (x is the collider; controlling for it can cause a spurious relationship between any of the three variables).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DAG is distinctive in that the model should show the </a:t>
            </a:r>
            <a:r>
              <a:rPr lang="en-US" u="sng" dirty="0"/>
              <a:t>complete </a:t>
            </a:r>
            <a:r>
              <a:rPr lang="en-US" u="none" dirty="0"/>
              <a:t>causal pathway and is also completely committed to the </a:t>
            </a:r>
            <a:r>
              <a:rPr lang="en-US" u="sng" dirty="0"/>
              <a:t>lack </a:t>
            </a:r>
            <a:r>
              <a:rPr lang="en-US" u="none" dirty="0"/>
              <a:t>of causal pathways where there are no arrows. If it’s on the board, it doesn’t matter!</a:t>
            </a:r>
            <a:endParaRPr lang="en-US" dirty="0"/>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36160965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limit this a bit just so we can see what we could do. Suppose we highlighted the clearest “identification threats”.	</a:t>
            </a:r>
          </a:p>
          <a:p>
            <a:r>
              <a:rPr lang="en-US" dirty="0"/>
              <a:t>- Note: we may also have unobserved variables capturing background information, shown here as B with the dashed lines (even more complexity!) what kinds of unobserved things might we have? Kids’ health on the day of the exam, blood sugar?</a:t>
            </a:r>
          </a:p>
          <a:p>
            <a:pPr marL="171450" indent="-171450">
              <a:buFontTx/>
              <a:buChar char="-"/>
            </a:pPr>
            <a:r>
              <a:rPr lang="en-US" dirty="0"/>
              <a:t>We may also have context validity problems – what are we trying to measure, and what do we actually measure? How well are those correlated? </a:t>
            </a:r>
          </a:p>
          <a:p>
            <a:pPr marL="171450" indent="-171450">
              <a:buFontTx/>
              <a:buChar char="-"/>
            </a:pPr>
            <a:r>
              <a:rPr lang="en-US" dirty="0"/>
              <a:t>Notice what’s </a:t>
            </a:r>
            <a:r>
              <a:rPr lang="en-US" i="1" dirty="0"/>
              <a:t>not </a:t>
            </a:r>
            <a:r>
              <a:rPr lang="en-US" i="0" dirty="0"/>
              <a:t>happening here. B has no influence on D; what is that saying? Is this believable? Why or why not? </a:t>
            </a:r>
            <a:endParaRPr lang="en-US" dirty="0"/>
          </a:p>
          <a:p>
            <a:endParaRPr lang="en-US" dirty="0"/>
          </a:p>
          <a:p>
            <a:r>
              <a:rPr lang="en-US" dirty="0"/>
              <a:t>A causal pathway is </a:t>
            </a:r>
            <a:r>
              <a:rPr lang="en-US" b="1" dirty="0"/>
              <a:t>identified </a:t>
            </a:r>
            <a:r>
              <a:rPr lang="en-US" b="0" dirty="0"/>
              <a:t>if </a:t>
            </a:r>
            <a:r>
              <a:rPr lang="en-US" dirty="0"/>
              <a:t>the association between treatment and outcome is properly stripped and isolated. DAG methods (and do calculus) give insight into exactly what to do to isolate a pathway. </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42797840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much is too much? This is a critical discussion of research design. This is also a key drawback currently of Chat GPT.</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12573023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4F14-FBB1-13B3-511E-2CBE6E4F2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6991F-C2DE-ADBE-7586-C13AE15C8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F2E22-4B1E-8D2B-1D99-CD52E7CAF34C}"/>
              </a:ext>
            </a:extLst>
          </p:cNvPr>
          <p:cNvSpPr>
            <a:spLocks noGrp="1"/>
          </p:cNvSpPr>
          <p:nvPr>
            <p:ph type="body" idx="1"/>
          </p:nvPr>
        </p:nvSpPr>
        <p:spPr/>
        <p:txBody>
          <a:bodyPr/>
          <a:lstStyle/>
          <a:p>
            <a:r>
              <a:rPr lang="en-US" dirty="0"/>
              <a:t>For example, the bottom right square is obviously almost complete. On the other hand, take the top left is almost completely unidentified at the moment. It’s not until all the pieces are filled in that we will identify that square. You start with the 4 in the (2,2) spot and then move from there. Importantly, not all sudoku puzzles are identified/well-posed! Same with our data. </a:t>
            </a:r>
          </a:p>
        </p:txBody>
      </p:sp>
      <p:sp>
        <p:nvSpPr>
          <p:cNvPr id="4" name="Slide Number Placeholder 3">
            <a:extLst>
              <a:ext uri="{FF2B5EF4-FFF2-40B4-BE49-F238E27FC236}">
                <a16:creationId xmlns:a16="http://schemas.microsoft.com/office/drawing/2014/main" id="{F41752E9-67C7-FD93-E737-16CEF2C5E18F}"/>
              </a:ext>
            </a:extLst>
          </p:cNvPr>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22242688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67678-CCEF-3940-E3F1-9506ECB16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E873F-7FD1-EA7F-A47A-0993695ED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BE30A-CE76-3FB5-1DB2-CCEA2DA4BFBA}"/>
              </a:ext>
            </a:extLst>
          </p:cNvPr>
          <p:cNvSpPr>
            <a:spLocks noGrp="1"/>
          </p:cNvSpPr>
          <p:nvPr>
            <p:ph type="body" idx="1"/>
          </p:nvPr>
        </p:nvSpPr>
        <p:spPr/>
        <p:txBody>
          <a:bodyPr/>
          <a:lstStyle/>
          <a:p>
            <a:r>
              <a:rPr lang="en-US" dirty="0"/>
              <a:t>Let’s limit this a bit just so we can see what we could do. Suppose we highlighted the clearest “identification threats”.	</a:t>
            </a:r>
          </a:p>
          <a:p>
            <a:r>
              <a:rPr lang="en-US" dirty="0"/>
              <a:t>	- Note: we may also have unobserved variables, shown here with the dashed lines (even more </a:t>
            </a:r>
            <a:r>
              <a:rPr lang="en-US" dirty="0" err="1"/>
              <a:t>complextity</a:t>
            </a:r>
            <a:r>
              <a:rPr lang="en-US" dirty="0"/>
              <a:t>!) what kinds of unobserved things might we have? Kids’ health on the day of the exam, blood sugar?</a:t>
            </a:r>
          </a:p>
          <a:p>
            <a:endParaRPr lang="en-US" dirty="0"/>
          </a:p>
          <a:p>
            <a:r>
              <a:rPr lang="en-US" dirty="0"/>
              <a:t>A causal pathway is </a:t>
            </a:r>
            <a:r>
              <a:rPr lang="en-US" b="1" dirty="0"/>
              <a:t>identified </a:t>
            </a:r>
            <a:r>
              <a:rPr lang="en-US" b="0" dirty="0"/>
              <a:t>if </a:t>
            </a:r>
            <a:r>
              <a:rPr lang="en-US" dirty="0"/>
              <a:t>the association between treatment and outcome is </a:t>
            </a:r>
            <a:r>
              <a:rPr lang="en-US" dirty="0" err="1"/>
              <a:t>propertly</a:t>
            </a:r>
            <a:r>
              <a:rPr lang="en-US" dirty="0"/>
              <a:t> stripped and isolated. DAG methods (and do calculus) give insight into exactly what to do to isolate a </a:t>
            </a:r>
            <a:r>
              <a:rPr lang="en-US" dirty="0" err="1"/>
              <a:t>pathyway</a:t>
            </a:r>
            <a:r>
              <a:rPr lang="en-US" dirty="0"/>
              <a:t>. </a:t>
            </a:r>
          </a:p>
        </p:txBody>
      </p:sp>
      <p:sp>
        <p:nvSpPr>
          <p:cNvPr id="4" name="Slide Number Placeholder 3">
            <a:extLst>
              <a:ext uri="{FF2B5EF4-FFF2-40B4-BE49-F238E27FC236}">
                <a16:creationId xmlns:a16="http://schemas.microsoft.com/office/drawing/2014/main" id="{3EB79CE7-0986-81FD-2033-91E27A6D69B0}"/>
              </a:ext>
            </a:extLst>
          </p:cNvPr>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2598873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6685-41BE-59A0-37B4-72344C67B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ABABE-7406-5B66-86F2-DA6C22F91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A49CC-716D-EF36-8F93-44B256C248B9}"/>
              </a:ext>
            </a:extLst>
          </p:cNvPr>
          <p:cNvSpPr>
            <a:spLocks noGrp="1"/>
          </p:cNvSpPr>
          <p:nvPr>
            <p:ph type="body" idx="1"/>
          </p:nvPr>
        </p:nvSpPr>
        <p:spPr/>
        <p:txBody>
          <a:bodyPr/>
          <a:lstStyle/>
          <a:p>
            <a:r>
              <a:rPr lang="en-US" dirty="0"/>
              <a:t>This is from a more standard economics paper, but the idea here applies to all quant fields attempting to deal with causal questions. This is the best image of what we’re trying to do here. Why is this an identification threat?</a:t>
            </a:r>
          </a:p>
        </p:txBody>
      </p:sp>
      <p:sp>
        <p:nvSpPr>
          <p:cNvPr id="4" name="Slide Number Placeholder 3">
            <a:extLst>
              <a:ext uri="{FF2B5EF4-FFF2-40B4-BE49-F238E27FC236}">
                <a16:creationId xmlns:a16="http://schemas.microsoft.com/office/drawing/2014/main" id="{C5AAD61D-6D10-C0B1-4029-CDD7A964FD83}"/>
              </a:ext>
            </a:extLst>
          </p:cNvPr>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9738274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we say to this headline? Easy to just say correlation doesn’t imply causation – except that it *can*, so this isn’t enough of a response (and it kills conversation). Instead, we want to know *why* this result isn’t good enough to say it’s causal. </a:t>
            </a:r>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23767799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we want to know *why* this result isn’t good enough to say it’s causal. </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12404925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DAGs give names and structures to types of obstacles to causal inference. Examples: confounding was just done. Can you think of others? (Mediation is like effect of education on salary, by race; collision is like admission rate bias – you might discover spurious correlations between diseases if you have a selected sample of hospitalized patients, such as between respiratory disease and locomotor disease) We’ll talk about these all more in class. </a:t>
            </a:r>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1481806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Mediation is a *directed path* where the arrows all point in the same direction. (Mediation is like effect of education on salary, by race; collision is like admission rate bias – you might discover spurious correlations between diseases if you have a selected sample of hospitalized patients, such as between respiratory disease and locomotor disease) We’ll talk about these all more in class.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23387318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note the direction of the arrows has changed. The treatment (X) and the causal effects of X on Y </a:t>
            </a:r>
            <a:r>
              <a:rPr lang="en-US" i="1" dirty="0"/>
              <a:t>collide </a:t>
            </a:r>
            <a:r>
              <a:rPr lang="en-US" i="0" dirty="0"/>
              <a:t>at Z. A collider, on its own, actually closes the backdoor path – there isn’t an open backdoor from X to Y here because of the arrow directions. So actually, you </a:t>
            </a:r>
            <a:r>
              <a:rPr lang="en-US" i="1" dirty="0"/>
              <a:t>don’t </a:t>
            </a:r>
            <a:r>
              <a:rPr lang="en-US" i="0" dirty="0"/>
              <a:t>want to control for Z here, and if you do, you can introduce bias! </a:t>
            </a:r>
          </a:p>
          <a:p>
            <a:endParaRPr lang="en-US" i="0" dirty="0"/>
          </a:p>
          <a:p>
            <a:r>
              <a:rPr lang="en-US" i="0" dirty="0"/>
              <a:t>An example: (there are some other really good ones in SC’s book!) trying to uncover gender-based discrimination in the workplace.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5418250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DAG is a theoretical, hypothesized object. If you tell me how the world works (the DAG) then I can tell you exactly how to “identify” the causal parameter (note: that doesn’t mean I’ll tell you how to estimate it or conduct inference on it). But you have to believe me that the DAG is important (and you can see in our earlier exercise why that isn’t necessarily straightforward). </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24548481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8FBF5-EEAC-9641-7B88-E065D8A7D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8982D-E780-B67B-20C4-41379372DDC0}"/>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BB5E3297-9193-D7EF-6E42-49A28B94C4D9}"/>
              </a:ext>
            </a:extLst>
          </p:cNvPr>
          <p:cNvSpPr>
            <a:spLocks noGrp="1"/>
          </p:cNvSpPr>
          <p:nvPr>
            <p:ph type="body" idx="1"/>
          </p:nvPr>
        </p:nvSpPr>
        <p:spPr/>
        <p:txBody>
          <a:bodyPr/>
          <a:lstStyle/>
          <a:p>
            <a:endParaRPr lang="en-CA" dirty="0"/>
          </a:p>
          <a:p>
            <a:r>
              <a:rPr lang="en-CA" dirty="0"/>
              <a:t>We’re going to talk about two complementary frameworks today for thinking about moving from associations to causal frameworks: DAGs and PO. They have different strengths so its important to think about them both carefully. </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C740F90-D63B-E442-25F3-A8BE0E198D39}"/>
              </a:ext>
            </a:extLst>
          </p:cNvPr>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26894869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t>So the DAG was useful for one set of reasons, but ultimately has flaws that can’t quite be overcome (reverse causality, where does the DAG come from, all kinds of selection, unobservable data, inference and estimation). The PO framework says – what if can get around all of that by literally examining the same person in two different worlds?</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18515151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B7A9C-7135-D32B-DB4D-6D472B35C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327A1-3A08-A2B0-A77F-2698786EB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A5D61-40F8-3DCA-EBDB-F3CABCF2D1D1}"/>
              </a:ext>
            </a:extLst>
          </p:cNvPr>
          <p:cNvSpPr>
            <a:spLocks noGrp="1"/>
          </p:cNvSpPr>
          <p:nvPr>
            <p:ph type="body" idx="1"/>
          </p:nvPr>
        </p:nvSpPr>
        <p:spPr/>
        <p:txBody>
          <a:bodyPr/>
          <a:lstStyle/>
          <a:p>
            <a:r>
              <a:rPr lang="en-US" dirty="0"/>
              <a:t>Superscripts versus subscripts. Here we are going to leverage </a:t>
            </a:r>
            <a:r>
              <a:rPr lang="en-US" b="1" dirty="0"/>
              <a:t>variation </a:t>
            </a:r>
            <a:r>
              <a:rPr lang="en-US" b="0" dirty="0"/>
              <a:t>that isn’t in our control as a researcher to approximate that experiment (construct a treatment group and a control group, in the simplest case)</a:t>
            </a:r>
            <a:endParaRPr lang="en-US" dirty="0"/>
          </a:p>
        </p:txBody>
      </p:sp>
      <p:sp>
        <p:nvSpPr>
          <p:cNvPr id="4" name="Slide Number Placeholder 3">
            <a:extLst>
              <a:ext uri="{FF2B5EF4-FFF2-40B4-BE49-F238E27FC236}">
                <a16:creationId xmlns:a16="http://schemas.microsoft.com/office/drawing/2014/main" id="{CCAF4D7B-C449-B086-2E5D-20D7FEDFCE35}"/>
              </a:ext>
            </a:extLst>
          </p:cNvPr>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17528765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the central problem here? For each individual, we only observe 1 or the other! This is the </a:t>
            </a:r>
            <a:r>
              <a:rPr lang="en-US" b="1" dirty="0"/>
              <a:t>fundamental problem of causal inference</a:t>
            </a:r>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37863117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observed both outcomes for an individual, calculating the ATE (parameter of interest) would be easy (like in It’s a Wonderful Life). Since we can’t do that, what we do instead is ensure that we observe multiple units so that we can see units receiving each of the various treatments. We then must assume something about the assignment *mechanism* that determines which units receive treatments to say something about the ATE.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40305016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our case study: what things are important here? Similar populations, so that the “division into treatment/control groups was without choice”</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39061570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around our problem of only observing one state per individual, we use averages. Expectations will be covered more next lecture – here we’re thinking averages of observed data. </a:t>
            </a:r>
          </a:p>
          <a:p>
            <a:endParaRPr lang="en-US" dirty="0"/>
          </a:p>
          <a:p>
            <a:r>
              <a:rPr lang="en-US" dirty="0"/>
              <a:t>How does this relate to the case study above? What are the averages here? What assumptions do we need for this to be a treatment effect? (Balance)</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15282966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discuss assumptions in more detail in next lecture (and throughout the course). Note that the two pieces of 1 are related (the second part says basically randomization of D). But this is often violated on its own! Think about taking medicine when you’re sick. </a:t>
            </a:r>
          </a:p>
          <a:p>
            <a:r>
              <a:rPr lang="en-US" dirty="0"/>
              <a:t>* Note that </a:t>
            </a:r>
            <a:r>
              <a:rPr lang="en-US" dirty="0" err="1"/>
              <a:t>unconfoundedness</a:t>
            </a:r>
            <a:r>
              <a:rPr lang="en-US" dirty="0"/>
              <a:t> is still weaker than purely random treatment assignment – it can depend on pretreatment variables in unknown ways, and we can still recover treatment effects provided all of that is *uncorrelated* with the outcome. </a:t>
            </a:r>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24902951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averages work? Let’s assume that we have some measure of health outcome (satisfaction, years of life, etc.) from a treatment Y1 and no treatment Y0. Suppose we have an oracle (not my word) that gives us both states of the world for all individuals. </a:t>
            </a:r>
          </a:p>
          <a:p>
            <a:endParaRPr lang="en-US" dirty="0"/>
          </a:p>
          <a:p>
            <a:r>
              <a:rPr lang="en-US" dirty="0"/>
              <a:t>What do the assumptions mean here? </a:t>
            </a:r>
          </a:p>
          <a:p>
            <a:pPr marL="228600" indent="-228600">
              <a:buAutoNum type="arabicPeriod"/>
            </a:pPr>
            <a:r>
              <a:rPr lang="en-US" dirty="0"/>
              <a:t>We assume surgery affects outcome, not outcome affecting surgery. We also assume assignment to surgery has nothing to do with relative difference between outcomes across states of the world (no selection). </a:t>
            </a:r>
          </a:p>
          <a:p>
            <a:pPr marL="228600" indent="-228600">
              <a:buAutoNum type="arabicPeriod"/>
            </a:pPr>
            <a:r>
              <a:rPr lang="en-US" dirty="0"/>
              <a:t>We assume we measure outcomes perfectly in each state, and know state assignments perfectly. </a:t>
            </a:r>
          </a:p>
          <a:p>
            <a:pPr marL="228600" indent="-228600">
              <a:buAutoNum type="arabicPeriod"/>
            </a:pPr>
            <a:r>
              <a:rPr lang="en-US" dirty="0"/>
              <a:t>My surgery status doesn’t affect your outcomes (seems okay at first glance, but why might this be violated in practice?)</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16473649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each row / observation containing all relevant information. This is the structure you’ll need for regressions. This is a cross-sectional data set (one row per unit – in this case patient). A panel repeats the observation over time (more next semester). </a:t>
            </a:r>
          </a:p>
        </p:txBody>
      </p:sp>
      <p:sp>
        <p:nvSpPr>
          <p:cNvPr id="4" name="Slide Number Placeholder 3"/>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20088862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would be the ATE for the population (assuming that there are only 10 people in this population). So on average, is the treatment effective? Yes!</a:t>
            </a:r>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7142117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15D9-C55D-325D-9FAF-C3D03BF10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14DBE-6495-40DD-63FB-E211D09CB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2D7CF-B329-F6E3-6EFB-56A6222EFAC8}"/>
              </a:ext>
            </a:extLst>
          </p:cNvPr>
          <p:cNvSpPr>
            <a:spLocks noGrp="1"/>
          </p:cNvSpPr>
          <p:nvPr>
            <p:ph type="body" idx="1"/>
          </p:nvPr>
        </p:nvSpPr>
        <p:spPr/>
        <p:txBody>
          <a:bodyPr/>
          <a:lstStyle/>
          <a:p>
            <a:r>
              <a:rPr lang="en-US" dirty="0"/>
              <a:t>Using Excel to randomly assign to treatment and control groups – not bad</a:t>
            </a:r>
          </a:p>
        </p:txBody>
      </p:sp>
      <p:sp>
        <p:nvSpPr>
          <p:cNvPr id="4" name="Slide Number Placeholder 3">
            <a:extLst>
              <a:ext uri="{FF2B5EF4-FFF2-40B4-BE49-F238E27FC236}">
                <a16:creationId xmlns:a16="http://schemas.microsoft.com/office/drawing/2014/main" id="{3AB5DE4D-25A5-E94A-27B6-8A7531DC486A}"/>
              </a:ext>
            </a:extLst>
          </p:cNvPr>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170175410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BF531-7E20-9670-B30F-AFBD19549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44999-95CC-D984-21B4-B0E80FD0B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EB1D8-1421-6FAD-CBBA-98620BAC4C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Excel to randomly assign to treatment and control groups – now this is the exact opposite? Why might this happen? </a:t>
            </a:r>
            <a:r>
              <a:rPr lang="en-CA" dirty="0"/>
              <a:t>When do we know if this is a good estimator? We want (1) unbiasedness and (2) consistency.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Importantly in real world data, which of the assumptions that we just mentioned is going to be violated? Selection!</a:t>
            </a:r>
          </a:p>
          <a:p>
            <a:endParaRPr lang="en-US" dirty="0"/>
          </a:p>
        </p:txBody>
      </p:sp>
      <p:sp>
        <p:nvSpPr>
          <p:cNvPr id="4" name="Slide Number Placeholder 3">
            <a:extLst>
              <a:ext uri="{FF2B5EF4-FFF2-40B4-BE49-F238E27FC236}">
                <a16:creationId xmlns:a16="http://schemas.microsoft.com/office/drawing/2014/main" id="{DED58132-4463-D71F-75EC-867032D6DD9A}"/>
              </a:ext>
            </a:extLst>
          </p:cNvPr>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67315105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treatment is still based on the oracle, but now it’s oracle, MD. Why are these the same as the ATT and the ATU? </a:t>
            </a:r>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2442254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calculate, average delta across treated group and untreated group separately. Notice that the untreated units all would lose out from treatment (because they are perfectly assigned). Why are these the same as the ATT and the ATU? </a:t>
            </a:r>
          </a:p>
          <a:p>
            <a:endParaRPr lang="en-US" dirty="0"/>
          </a:p>
          <a:p>
            <a:r>
              <a:rPr lang="en-US" dirty="0"/>
              <a:t>Now what are the problems with this assignment? Violates independence!</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42640370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now get to reality: no oracle. Does averaging work? Note – before, we weren’t talking about “estimating” the ATE because we had all data. Now, we are inherently using a sample </a:t>
            </a:r>
            <a:r>
              <a:rPr lang="en-US" b="1" dirty="0"/>
              <a:t>even if we had population data.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377035102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When do we know if this is a good estimator? We want (1) unbiasedness and (2) consistency. </a:t>
            </a:r>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122155771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econometrics comes in (more than just the math and stats)</a:t>
            </a:r>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2808161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selection is who got the treatment – sicker patients get surgery, this changes the underlying nature of our data set. Treatment is not independently assigned (in DAG language? This is confounding)</a:t>
            </a:r>
          </a:p>
        </p:txBody>
      </p:sp>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23453893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is why simple differences in means don’t capture causality! What do we mean by quasi-randomness (from the reading)?</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0439221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5C249-D67D-C016-A8B9-A3B9627EB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7660E-5BDB-2E30-A7EB-F316DD84E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D0F79-C9CF-0524-B562-97F8DC4DA0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What stood out here? What was compelling? What made you scratch your head and say “that can’t be true”? (Can use other examples from the reading – but let’s focus on the </a:t>
            </a:r>
            <a:r>
              <a:rPr lang="en-US" sz="1200" b="1" dirty="0"/>
              <a:t>exogenous variation </a:t>
            </a:r>
            <a:r>
              <a:rPr lang="en-US" sz="1200" b="0" dirty="0"/>
              <a:t>we are using). </a:t>
            </a:r>
            <a:endParaRPr lang="en-US" sz="1200" dirty="0"/>
          </a:p>
        </p:txBody>
      </p:sp>
      <p:sp>
        <p:nvSpPr>
          <p:cNvPr id="4" name="Slide Number Placeholder 3">
            <a:extLst>
              <a:ext uri="{FF2B5EF4-FFF2-40B4-BE49-F238E27FC236}">
                <a16:creationId xmlns:a16="http://schemas.microsoft.com/office/drawing/2014/main" id="{DFAD6437-95CF-BD02-C899-B2C592FEA4CE}"/>
              </a:ext>
            </a:extLst>
          </p:cNvPr>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349721351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great power, great responsibility</a:t>
            </a:r>
          </a:p>
        </p:txBody>
      </p:sp>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149607048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17F5-2058-2424-FEAC-8FDD16EEA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35315-7D6B-8028-AEE1-BE5C6F673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5ADD9D-D27F-CF91-5E2F-2855D7500E42}"/>
              </a:ext>
            </a:extLst>
          </p:cNvPr>
          <p:cNvSpPr>
            <a:spLocks noGrp="1"/>
          </p:cNvSpPr>
          <p:nvPr>
            <p:ph type="body" idx="1"/>
          </p:nvPr>
        </p:nvSpPr>
        <p:spPr/>
        <p:txBody>
          <a:bodyPr/>
          <a:lstStyle/>
          <a:p>
            <a:r>
              <a:rPr lang="en-US" dirty="0"/>
              <a:t>With great power, great responsibility</a:t>
            </a:r>
          </a:p>
        </p:txBody>
      </p:sp>
      <p:sp>
        <p:nvSpPr>
          <p:cNvPr id="4" name="Slide Number Placeholder 3">
            <a:extLst>
              <a:ext uri="{FF2B5EF4-FFF2-40B4-BE49-F238E27FC236}">
                <a16:creationId xmlns:a16="http://schemas.microsoft.com/office/drawing/2014/main" id="{4480BD2E-81D1-1923-6FBC-1B52387122C6}"/>
              </a:ext>
            </a:extLst>
          </p:cNvPr>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23157546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BA434-3F27-D66E-E6F6-68E46F0B0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FF629-2FA5-81C4-5F3A-18E61883C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D149A-36BC-FDF3-922F-419B5514D210}"/>
              </a:ext>
            </a:extLst>
          </p:cNvPr>
          <p:cNvSpPr>
            <a:spLocks noGrp="1"/>
          </p:cNvSpPr>
          <p:nvPr>
            <p:ph type="body" idx="1"/>
          </p:nvPr>
        </p:nvSpPr>
        <p:spPr/>
        <p:txBody>
          <a:bodyPr/>
          <a:lstStyle/>
          <a:p>
            <a:r>
              <a:rPr lang="en-US" dirty="0"/>
              <a:t>Drawn from </a:t>
            </a:r>
            <a:r>
              <a:rPr lang="en-US" dirty="0" err="1"/>
              <a:t>Imbens</a:t>
            </a:r>
            <a:r>
              <a:rPr lang="en-US" dirty="0"/>
              <a:t>’ paper. What observed cofounders exist? What unobserved variables might confound this? </a:t>
            </a:r>
          </a:p>
        </p:txBody>
      </p:sp>
      <p:sp>
        <p:nvSpPr>
          <p:cNvPr id="4" name="Slide Number Placeholder 3">
            <a:extLst>
              <a:ext uri="{FF2B5EF4-FFF2-40B4-BE49-F238E27FC236}">
                <a16:creationId xmlns:a16="http://schemas.microsoft.com/office/drawing/2014/main" id="{0A3FA461-89C2-ECEF-5532-2A2A26BFAE84}"/>
              </a:ext>
            </a:extLst>
          </p:cNvPr>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6191999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A1EF-93B0-3C01-EFC4-E50EBE6D6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A7466-C3B8-4BCE-5041-D795FAE87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1431B-9928-0E5D-87E7-18ED288A6096}"/>
              </a:ext>
            </a:extLst>
          </p:cNvPr>
          <p:cNvSpPr>
            <a:spLocks noGrp="1"/>
          </p:cNvSpPr>
          <p:nvPr>
            <p:ph type="body" idx="1"/>
          </p:nvPr>
        </p:nvSpPr>
        <p:spPr/>
        <p:txBody>
          <a:bodyPr/>
          <a:lstStyle/>
          <a:p>
            <a:r>
              <a:rPr lang="en-US" dirty="0"/>
              <a:t>This is the value of DAGs, we can draw these easily! But how can we deal with this?</a:t>
            </a:r>
          </a:p>
        </p:txBody>
      </p:sp>
      <p:sp>
        <p:nvSpPr>
          <p:cNvPr id="4" name="Slide Number Placeholder 3">
            <a:extLst>
              <a:ext uri="{FF2B5EF4-FFF2-40B4-BE49-F238E27FC236}">
                <a16:creationId xmlns:a16="http://schemas.microsoft.com/office/drawing/2014/main" id="{988C51D4-9B5A-EC97-7FD2-4BF80E8B7CCD}"/>
              </a:ext>
            </a:extLst>
          </p:cNvPr>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55969818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A55C8-6DB3-5727-093D-457439CCD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C0A3C-2257-574A-8B3D-631C6C592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56835-2A28-8454-2024-D43DD4DF8D7D}"/>
              </a:ext>
            </a:extLst>
          </p:cNvPr>
          <p:cNvSpPr>
            <a:spLocks noGrp="1"/>
          </p:cNvSpPr>
          <p:nvPr>
            <p:ph type="body" idx="1"/>
          </p:nvPr>
        </p:nvSpPr>
        <p:spPr/>
        <p:txBody>
          <a:bodyPr/>
          <a:lstStyle/>
          <a:p>
            <a:r>
              <a:rPr lang="en-US" dirty="0"/>
              <a:t>Here are two possible approaches – both are instrumental varaibles approaches (we will cover these later) and find something correlated with the exposure but not with the unobserved confounder. But the DAG doesn’t tell us all of the assumptions here, or the differences between these two models? They should return the same treatment effect, right? Maybe, maybe not! This is where the PO model can be more useful. </a:t>
            </a:r>
          </a:p>
        </p:txBody>
      </p:sp>
      <p:sp>
        <p:nvSpPr>
          <p:cNvPr id="4" name="Slide Number Placeholder 3">
            <a:extLst>
              <a:ext uri="{FF2B5EF4-FFF2-40B4-BE49-F238E27FC236}">
                <a16:creationId xmlns:a16="http://schemas.microsoft.com/office/drawing/2014/main" id="{D3091C54-CC03-D2E5-C9F7-05FA2E541FBA}"/>
              </a:ext>
            </a:extLst>
          </p:cNvPr>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8117920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notes on model testing. Confirmation and publication biases abound in literature. You can believe in your hypothesis and do a project that tests it (this is part of the scientific method!) but you should just as earnestly try to disprove it (that’s how you know your DAG is wrong, for example). Science should be about </a:t>
            </a:r>
            <a:r>
              <a:rPr lang="en-US" b="1" dirty="0"/>
              <a:t>knowledge </a:t>
            </a:r>
            <a:r>
              <a:rPr lang="en-US" b="0" dirty="0"/>
              <a:t>, not politics or storytelling. Use the data hacking website if you have time.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25769609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C6DF-9876-7445-6294-DA3381B2C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89BE1-818C-B6FF-6565-7D054505A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A65EF-5360-8A84-DE75-8AE925F04588}"/>
              </a:ext>
            </a:extLst>
          </p:cNvPr>
          <p:cNvSpPr>
            <a:spLocks noGrp="1"/>
          </p:cNvSpPr>
          <p:nvPr>
            <p:ph type="body" idx="1"/>
          </p:nvPr>
        </p:nvSpPr>
        <p:spPr/>
        <p:txBody>
          <a:bodyPr/>
          <a:lstStyle/>
          <a:p>
            <a:r>
              <a:rPr lang="en-US" dirty="0"/>
              <a:t>With great power, great responsibility</a:t>
            </a:r>
          </a:p>
        </p:txBody>
      </p:sp>
      <p:sp>
        <p:nvSpPr>
          <p:cNvPr id="4" name="Slide Number Placeholder 3">
            <a:extLst>
              <a:ext uri="{FF2B5EF4-FFF2-40B4-BE49-F238E27FC236}">
                <a16:creationId xmlns:a16="http://schemas.microsoft.com/office/drawing/2014/main" id="{695ED66A-48E6-368B-B657-F2C46B80257C}"/>
              </a:ext>
            </a:extLst>
          </p:cNvPr>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339387053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284891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799">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4"/>
            <a:ext cx="7197726" cy="1405467"/>
          </a:xfrm>
        </p:spPr>
        <p:txBody>
          <a:bodyPr anchor="t">
            <a:normAutofit/>
          </a:bodyPr>
          <a:lstStyle>
            <a:lvl1pPr marL="0" indent="0" algn="r">
              <a:buNone/>
              <a:defRPr sz="1799" cap="all">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9" y="5870577"/>
            <a:ext cx="1600200" cy="377825"/>
          </a:xfrm>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a:xfrm>
            <a:off x="3962399" y="5870577"/>
            <a:ext cx="4893958" cy="377825"/>
          </a:xfrm>
        </p:spPr>
        <p:txBody>
          <a:bodyPr/>
          <a:lstStyle/>
          <a:p>
            <a:endParaRPr lang="en-US"/>
          </a:p>
        </p:txBody>
      </p:sp>
      <p:sp>
        <p:nvSpPr>
          <p:cNvPr id="6" name="Slide Number Placeholder 5"/>
          <p:cNvSpPr>
            <a:spLocks noGrp="1"/>
          </p:cNvSpPr>
          <p:nvPr>
            <p:ph type="sldNum" sz="quarter" idx="12"/>
          </p:nvPr>
        </p:nvSpPr>
        <p:spPr>
          <a:xfrm>
            <a:off x="10608959" y="5870577"/>
            <a:ext cx="551167" cy="3778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1797388"/>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0736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3308581"/>
            <a:ext cx="10131427" cy="1468800"/>
          </a:xfrm>
        </p:spPr>
        <p:txBody>
          <a:bodyPr anchor="b"/>
          <a:lstStyle>
            <a:lvl1pPr algn="l">
              <a:defRPr sz="3999"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1999" cap="all">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1075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6" y="2142069"/>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910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2"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226734"/>
            <a:ext cx="4722813"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4"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986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17212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8214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648202"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5151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1600200"/>
            <a:ext cx="6164653" cy="1371600"/>
          </a:xfrm>
        </p:spPr>
        <p:txBody>
          <a:bodyPr anchor="b">
            <a:normAutofit/>
          </a:bodyPr>
          <a:lstStyle>
            <a:lvl1pPr algn="l">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2971800"/>
            <a:ext cx="6164653" cy="1828800"/>
          </a:xfrm>
        </p:spPr>
        <p:txBody>
          <a:bodyPr anchor="t">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1398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4732865"/>
            <a:ext cx="10131427"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5299603"/>
            <a:ext cx="10131427" cy="493712"/>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7479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2" y="609603"/>
            <a:ext cx="10131427" cy="3124199"/>
          </a:xfrm>
        </p:spPr>
        <p:txBody>
          <a:bodyPr anchor="ctr">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74948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1" name="TextBox 10"/>
          <p:cNvSpPr txBox="1"/>
          <p:nvPr/>
        </p:nvSpPr>
        <p:spPr>
          <a:xfrm>
            <a:off x="488276" y="823337"/>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992267" y="609603"/>
            <a:ext cx="9550399" cy="2743199"/>
          </a:xfrm>
        </p:spPr>
        <p:txBody>
          <a:bodyPr anchor="ctr">
            <a:normAutofit/>
          </a:bodyPr>
          <a:lstStyle>
            <a:lvl1pPr algn="l">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6" y="4343400"/>
            <a:ext cx="10152367" cy="1447800"/>
          </a:xfrm>
        </p:spPr>
        <p:txBody>
          <a:bodyPr anchor="ctr">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00169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3" y="3308581"/>
            <a:ext cx="10131425" cy="1468800"/>
          </a:xfrm>
        </p:spPr>
        <p:txBody>
          <a:bodyPr anchor="b">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81825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4" name="TextBox 13"/>
          <p:cNvSpPr txBox="1"/>
          <p:nvPr/>
        </p:nvSpPr>
        <p:spPr>
          <a:xfrm>
            <a:off x="488276" y="823337"/>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6" name="Title 1"/>
          <p:cNvSpPr>
            <a:spLocks noGrp="1"/>
          </p:cNvSpPr>
          <p:nvPr>
            <p:ph type="title"/>
          </p:nvPr>
        </p:nvSpPr>
        <p:spPr>
          <a:xfrm>
            <a:off x="992267" y="609603"/>
            <a:ext cx="9550399" cy="2743199"/>
          </a:xfrm>
        </p:spPr>
        <p:txBody>
          <a:bodyPr anchor="ctr">
            <a:normAutofit/>
          </a:bodyPr>
          <a:lstStyle>
            <a:lvl1pPr algn="l">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3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85239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2" y="609603"/>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7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57879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8" name="Title 1"/>
          <p:cNvSpPr>
            <a:spLocks noGrp="1"/>
          </p:cNvSpPr>
          <p:nvPr>
            <p:ph type="title"/>
          </p:nvPr>
        </p:nvSpPr>
        <p:spPr>
          <a:xfrm>
            <a:off x="685802" y="609602"/>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66170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Vertical Title 1"/>
          <p:cNvSpPr>
            <a:spLocks noGrp="1"/>
          </p:cNvSpPr>
          <p:nvPr>
            <p:ph type="title" orient="vert"/>
          </p:nvPr>
        </p:nvSpPr>
        <p:spPr>
          <a:xfrm>
            <a:off x="8658675" y="609601"/>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573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2" y="609602"/>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2" y="2142069"/>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7"/>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685801" y="5870577"/>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1" y="5870577"/>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44530648"/>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063" rtl="0" eaLnBrk="1" latinLnBrk="0" hangingPunct="1">
        <a:spcBef>
          <a:spcPct val="0"/>
        </a:spcBef>
        <a:buNone/>
        <a:defRPr sz="3599"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calendly.com/Hoagland-office-hour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r-project.or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rstudio.com/"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r-project.or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github.com/alex-hoagland/HAD5744_2022F/discussions" TargetMode="External"/><Relationship Id="rId5" Type="http://schemas.openxmlformats.org/officeDocument/2006/relationships/hyperlink" Target="https://github.com/alex-hoagland/HAD5744_2022F" TargetMode="External"/><Relationship Id="rId4" Type="http://schemas.openxmlformats.org/officeDocument/2006/relationships/hyperlink" Target="https://rstudio.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jacobjameson.github.io/Intro%20R.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hatgpt.com/share/677d4e1b-46f0-8000-9cd8-e09f628f7795"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18.svg"/><Relationship Id="rId4" Type="http://schemas.openxmlformats.org/officeDocument/2006/relationships/image" Target="../media/image17.svg"/></Relationships>
</file>

<file path=ppt/slides/_rels/slide29.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svg"/><Relationship Id="rId7"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19.jpeg"/><Relationship Id="rId5" Type="http://schemas.openxmlformats.org/officeDocument/2006/relationships/image" Target="../media/image18.svg"/><Relationship Id="rId4" Type="http://schemas.openxmlformats.org/officeDocument/2006/relationships/image" Target="../media/image17.sv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tylervigen.com/spurious-correlation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diagramData" Target="../diagrams/data50.xml"/><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8.xml"/><Relationship Id="rId5" Type="http://schemas.openxmlformats.org/officeDocument/2006/relationships/diagramQuickStyle" Target="../diagrams/quickStyle8.xml"/><Relationship Id="rId10"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diagramLayout" Target="../diagrams/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80.png"/></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evalf22.classes.andrewheiss.com/example/dags.html"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projects.fivethirtyeight.com/p-hacking/"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09800"/>
            <a:ext cx="11353800" cy="1894362"/>
          </a:xfrm>
        </p:spPr>
        <p:txBody>
          <a:bodyPr>
            <a:normAutofit fontScale="90000"/>
          </a:bodyPr>
          <a:lstStyle/>
          <a:p>
            <a:r>
              <a:rPr lang="en-US" dirty="0"/>
              <a:t>Quantitative Methods in HSR I </a:t>
            </a:r>
          </a:p>
        </p:txBody>
      </p:sp>
      <p:sp>
        <p:nvSpPr>
          <p:cNvPr id="3" name="Subtitle 2"/>
          <p:cNvSpPr>
            <a:spLocks noGrp="1"/>
          </p:cNvSpPr>
          <p:nvPr>
            <p:ph type="subTitle" idx="1"/>
          </p:nvPr>
        </p:nvSpPr>
        <p:spPr>
          <a:xfrm>
            <a:off x="762000" y="4191000"/>
            <a:ext cx="10591800" cy="1981200"/>
          </a:xfrm>
        </p:spPr>
        <p:txBody>
          <a:bodyPr>
            <a:noAutofit/>
          </a:bodyPr>
          <a:lstStyle/>
          <a:p>
            <a:pPr>
              <a:spcBef>
                <a:spcPts val="0"/>
              </a:spcBef>
              <a:spcAft>
                <a:spcPts val="0"/>
              </a:spcAft>
            </a:pPr>
            <a:r>
              <a:rPr lang="en-US" dirty="0"/>
              <a:t>Lecture 1: </a:t>
            </a:r>
            <a:r>
              <a:rPr lang="en-US" b="1" dirty="0"/>
              <a:t>Understanding the Determinants of Health Outcomes:</a:t>
            </a:r>
          </a:p>
          <a:p>
            <a:pPr>
              <a:spcBef>
                <a:spcPts val="0"/>
              </a:spcBef>
              <a:spcAft>
                <a:spcPts val="0"/>
              </a:spcAft>
            </a:pPr>
            <a:r>
              <a:rPr lang="en-US" b="1" dirty="0"/>
              <a:t>		DAGs and Potential Outcomes </a:t>
            </a:r>
            <a:endParaRPr lang="en-US" dirty="0"/>
          </a:p>
          <a:p>
            <a:r>
              <a:rPr lang="en-US" dirty="0"/>
              <a:t>September 14, 2026</a:t>
            </a:r>
          </a:p>
          <a:p>
            <a:endParaRPr lang="en-US" dirty="0"/>
          </a:p>
          <a:p>
            <a:r>
              <a:rPr lang="en-US" dirty="0"/>
              <a:t>HAD5744 </a:t>
            </a:r>
            <a:r>
              <a:rPr lang="en-US" dirty="0">
                <a:sym typeface="Symbol" panose="05050102010706020507" pitchFamily="18" charset="2"/>
              </a:rPr>
              <a:t> </a:t>
            </a:r>
            <a:r>
              <a:rPr lang="en-US"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7466C88B-B170-4C69-85D3-FD6AD975F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0FE256-DF37-4639-8CB7-2E2F1897A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5522600" y="758952"/>
            <a:ext cx="5157591" cy="4041648"/>
          </a:xfrm>
        </p:spPr>
        <p:txBody>
          <a:bodyPr vert="horz" lIns="91440" tIns="45720" rIns="91440" bIns="45720" rtlCol="0" anchor="b">
            <a:normAutofit/>
          </a:bodyPr>
          <a:lstStyle/>
          <a:p>
            <a:pPr>
              <a:lnSpc>
                <a:spcPct val="85000"/>
              </a:lnSpc>
            </a:pPr>
            <a:r>
              <a:rPr lang="en-US" sz="6100">
                <a:solidFill>
                  <a:srgbClr val="FFFFFF"/>
                </a:solidFill>
                <a:latin typeface="+mj-lt"/>
              </a:rPr>
              <a:t>Introductions</a:t>
            </a:r>
          </a:p>
        </p:txBody>
      </p:sp>
      <p:sp useBgFill="1">
        <p:nvSpPr>
          <p:cNvPr id="29" name="Rectangle 28">
            <a:extLst>
              <a:ext uri="{FF2B5EF4-FFF2-40B4-BE49-F238E27FC236}">
                <a16:creationId xmlns:a16="http://schemas.microsoft.com/office/drawing/2014/main" id="{FDD1039A-772C-4213-A092-0D8A9EF4AC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4" y="0"/>
            <a:ext cx="461996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family posing for a picture&#10;&#10;AI-generated content may be incorrect.">
            <a:extLst>
              <a:ext uri="{FF2B5EF4-FFF2-40B4-BE49-F238E27FC236}">
                <a16:creationId xmlns:a16="http://schemas.microsoft.com/office/drawing/2014/main" id="{05B97C3B-5375-46FF-8DF1-E978AD7F137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p:blipFill>
        <p:spPr>
          <a:xfrm>
            <a:off x="902987" y="629844"/>
            <a:ext cx="3718563" cy="5591824"/>
          </a:xfrm>
          <a:prstGeom prst="rect">
            <a:avLst/>
          </a:prstGeom>
        </p:spPr>
      </p:pic>
      <p:sp>
        <p:nvSpPr>
          <p:cNvPr id="31" name="Rectangle 30">
            <a:extLst>
              <a:ext uri="{FF2B5EF4-FFF2-40B4-BE49-F238E27FC236}">
                <a16:creationId xmlns:a16="http://schemas.microsoft.com/office/drawing/2014/main" id="{0B39728D-66CA-4175-956D-FE26F3225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337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762000" y="365760"/>
            <a:ext cx="10192512" cy="777240"/>
          </a:xfrm>
        </p:spPr>
        <p:txBody>
          <a:bodyPr>
            <a:normAutofit/>
          </a:bodyPr>
          <a:lstStyle/>
          <a:p>
            <a:r>
              <a:rPr lang="en-US" dirty="0"/>
              <a:t>Introductions: Backgrounds</a:t>
            </a:r>
          </a:p>
        </p:txBody>
      </p:sp>
      <p:sp>
        <p:nvSpPr>
          <p:cNvPr id="14" name="TextBox 13">
            <a:extLst>
              <a:ext uri="{FF2B5EF4-FFF2-40B4-BE49-F238E27FC236}">
                <a16:creationId xmlns:a16="http://schemas.microsoft.com/office/drawing/2014/main" id="{CA1C3643-665B-1FA8-3CBF-91DFCE933DE3}"/>
              </a:ext>
            </a:extLst>
          </p:cNvPr>
          <p:cNvSpPr txBox="1"/>
          <p:nvPr/>
        </p:nvSpPr>
        <p:spPr>
          <a:xfrm>
            <a:off x="756920" y="4653452"/>
            <a:ext cx="10060882" cy="715089"/>
          </a:xfrm>
          <a:prstGeom prst="roundRect">
            <a:avLst/>
          </a:prstGeom>
          <a:solidFill>
            <a:schemeClr val="accent2">
              <a:lumMod val="75000"/>
            </a:schemeClr>
          </a:solidFill>
          <a:ln>
            <a:solidFill>
              <a:schemeClr val="accent2">
                <a:lumMod val="50000"/>
              </a:schemeClr>
            </a:solidFill>
          </a:ln>
        </p:spPr>
        <p:txBody>
          <a:bodyPr wrap="square" rtlCol="0">
            <a:spAutoFit/>
          </a:bodyPr>
          <a:lstStyle/>
          <a:p>
            <a:r>
              <a:rPr lang="en-US">
                <a:solidFill>
                  <a:schemeClr val="bg1"/>
                </a:solidFill>
              </a:rPr>
              <a:t>I am an epidemiologist, and have worked in several research/hospital research institutes. I’m currently working full-time as a Senior Analyst at CIHI.</a:t>
            </a:r>
            <a:endParaRPr lang="en-CA" sz="2200" dirty="0">
              <a:solidFill>
                <a:schemeClr val="bg1"/>
              </a:solidFill>
              <a:latin typeface="Aptos" panose="020B0004020202020204" pitchFamily="34" charset="0"/>
            </a:endParaRPr>
          </a:p>
        </p:txBody>
      </p:sp>
      <p:sp>
        <p:nvSpPr>
          <p:cNvPr id="15" name="TextBox 14">
            <a:extLst>
              <a:ext uri="{FF2B5EF4-FFF2-40B4-BE49-F238E27FC236}">
                <a16:creationId xmlns:a16="http://schemas.microsoft.com/office/drawing/2014/main" id="{6A45EBA3-6688-AE2D-E845-0A9843EE531D}"/>
              </a:ext>
            </a:extLst>
          </p:cNvPr>
          <p:cNvSpPr txBox="1"/>
          <p:nvPr/>
        </p:nvSpPr>
        <p:spPr>
          <a:xfrm>
            <a:off x="756920" y="3413809"/>
            <a:ext cx="10060882" cy="1021556"/>
          </a:xfrm>
          <a:prstGeom prst="roundRect">
            <a:avLst/>
          </a:prstGeom>
          <a:solidFill>
            <a:schemeClr val="accent2">
              <a:lumMod val="75000"/>
            </a:schemeClr>
          </a:solidFill>
          <a:ln>
            <a:solidFill>
              <a:schemeClr val="accent2">
                <a:lumMod val="50000"/>
              </a:schemeClr>
            </a:solidFill>
          </a:ln>
        </p:spPr>
        <p:txBody>
          <a:bodyPr wrap="square" rtlCol="0">
            <a:spAutoFit/>
          </a:bodyPr>
          <a:lstStyle/>
          <a:p>
            <a:r>
              <a:rPr lang="en-US" dirty="0">
                <a:solidFill>
                  <a:schemeClr val="bg1"/>
                </a:solidFill>
              </a:rPr>
              <a:t>I currently don't know what I want to do with my degree but I know that I am very interested in using healthcare data to drive informed decision making to improve the health outcomes, and experience within the healthcare systems of individuals and populations</a:t>
            </a:r>
            <a:endParaRPr lang="en-CA" sz="2200" dirty="0">
              <a:solidFill>
                <a:schemeClr val="bg1"/>
              </a:solidFill>
              <a:latin typeface="Aptos" panose="020B0004020202020204" pitchFamily="34" charset="0"/>
            </a:endParaRPr>
          </a:p>
        </p:txBody>
      </p:sp>
      <p:sp>
        <p:nvSpPr>
          <p:cNvPr id="16" name="TextBox 15">
            <a:extLst>
              <a:ext uri="{FF2B5EF4-FFF2-40B4-BE49-F238E27FC236}">
                <a16:creationId xmlns:a16="http://schemas.microsoft.com/office/drawing/2014/main" id="{044AD57E-3F5D-52D7-2D73-D98C8B80C9C7}"/>
              </a:ext>
            </a:extLst>
          </p:cNvPr>
          <p:cNvSpPr txBox="1"/>
          <p:nvPr/>
        </p:nvSpPr>
        <p:spPr>
          <a:xfrm>
            <a:off x="756920" y="1867699"/>
            <a:ext cx="10060882" cy="1328023"/>
          </a:xfrm>
          <a:prstGeom prst="roundRect">
            <a:avLst/>
          </a:prstGeom>
          <a:solidFill>
            <a:schemeClr val="accent2">
              <a:lumMod val="75000"/>
            </a:schemeClr>
          </a:solidFill>
          <a:ln>
            <a:solidFill>
              <a:schemeClr val="accent2">
                <a:lumMod val="50000"/>
              </a:schemeClr>
            </a:solidFill>
          </a:ln>
        </p:spPr>
        <p:txBody>
          <a:bodyPr wrap="square" rtlCol="0">
            <a:spAutoFit/>
          </a:bodyPr>
          <a:lstStyle/>
          <a:p>
            <a:r>
              <a:rPr lang="en-US" dirty="0">
                <a:solidFill>
                  <a:schemeClr val="bg1"/>
                </a:solidFill>
              </a:rPr>
              <a:t>I'm a practicing nurse practitioner (NP) that specializes in liver disease at University Health Network (UHN), focused primarily in cirrhosis and liver failure. I have worked in healthcare for over 17 years, and am hoping to translate my clinical experiences into work that has more systems-level impact as my career evolves. </a:t>
            </a:r>
            <a:endParaRPr lang="en-CA" sz="2200" dirty="0">
              <a:solidFill>
                <a:schemeClr val="bg1"/>
              </a:solidFill>
              <a:latin typeface="Aptos" panose="020B0004020202020204" pitchFamily="34" charset="0"/>
            </a:endParaRPr>
          </a:p>
        </p:txBody>
      </p:sp>
      <p:sp>
        <p:nvSpPr>
          <p:cNvPr id="17" name="TextBox 16">
            <a:extLst>
              <a:ext uri="{FF2B5EF4-FFF2-40B4-BE49-F238E27FC236}">
                <a16:creationId xmlns:a16="http://schemas.microsoft.com/office/drawing/2014/main" id="{F8A4666C-BC49-0B06-DA1C-0573BF456E8B}"/>
              </a:ext>
            </a:extLst>
          </p:cNvPr>
          <p:cNvSpPr txBox="1"/>
          <p:nvPr/>
        </p:nvSpPr>
        <p:spPr>
          <a:xfrm>
            <a:off x="756920" y="1240989"/>
            <a:ext cx="5381601" cy="408623"/>
          </a:xfrm>
          <a:prstGeom prst="roundRect">
            <a:avLst/>
          </a:prstGeom>
          <a:solidFill>
            <a:schemeClr val="accent2">
              <a:lumMod val="75000"/>
            </a:schemeClr>
          </a:solidFill>
          <a:ln>
            <a:solidFill>
              <a:schemeClr val="accent2">
                <a:lumMod val="50000"/>
              </a:schemeClr>
            </a:solidFill>
          </a:ln>
        </p:spPr>
        <p:txBody>
          <a:bodyPr wrap="none" rtlCol="0">
            <a:spAutoFit/>
          </a:bodyPr>
          <a:lstStyle/>
          <a:p>
            <a:r>
              <a:rPr lang="en-US" dirty="0">
                <a:solidFill>
                  <a:schemeClr val="bg1"/>
                </a:solidFill>
              </a:rPr>
              <a:t>Worked as research analyst at UHN for 2 years. </a:t>
            </a:r>
            <a:endParaRPr lang="en-CA" sz="2200" dirty="0">
              <a:solidFill>
                <a:schemeClr val="bg1"/>
              </a:solidFill>
              <a:latin typeface="Aptos" panose="020B0004020202020204" pitchFamily="34" charset="0"/>
            </a:endParaRPr>
          </a:p>
        </p:txBody>
      </p:sp>
      <p:sp>
        <p:nvSpPr>
          <p:cNvPr id="3" name="TextBox 2">
            <a:extLst>
              <a:ext uri="{FF2B5EF4-FFF2-40B4-BE49-F238E27FC236}">
                <a16:creationId xmlns:a16="http://schemas.microsoft.com/office/drawing/2014/main" id="{A9D63625-BB7C-D416-883A-9337E31FFC9D}"/>
              </a:ext>
            </a:extLst>
          </p:cNvPr>
          <p:cNvSpPr txBox="1"/>
          <p:nvPr/>
        </p:nvSpPr>
        <p:spPr>
          <a:xfrm>
            <a:off x="756920" y="5586629"/>
            <a:ext cx="10060882" cy="715089"/>
          </a:xfrm>
          <a:prstGeom prst="roundRect">
            <a:avLst/>
          </a:prstGeom>
          <a:solidFill>
            <a:schemeClr val="accent2">
              <a:lumMod val="75000"/>
            </a:schemeClr>
          </a:solidFill>
          <a:ln>
            <a:solidFill>
              <a:schemeClr val="accent2">
                <a:lumMod val="50000"/>
              </a:schemeClr>
            </a:solidFill>
          </a:ln>
        </p:spPr>
        <p:txBody>
          <a:bodyPr wrap="square" rtlCol="0">
            <a:spAutoFit/>
          </a:bodyPr>
          <a:lstStyle/>
          <a:p>
            <a:r>
              <a:rPr lang="en-US" dirty="0">
                <a:solidFill>
                  <a:schemeClr val="bg1"/>
                </a:solidFill>
              </a:rPr>
              <a:t>I am a pharmacist who has been working as a consultant in the pharmaceutical industry, primarily working on real-world evidence generation and preparing HTA submissions.</a:t>
            </a:r>
            <a:endParaRPr lang="en-CA" sz="2200" dirty="0">
              <a:solidFill>
                <a:schemeClr val="bg1"/>
              </a:solidFill>
              <a:latin typeface="Aptos" panose="020B0004020202020204" pitchFamily="34" charset="0"/>
            </a:endParaRPr>
          </a:p>
        </p:txBody>
      </p:sp>
    </p:spTree>
    <p:extLst>
      <p:ext uri="{BB962C8B-B14F-4D97-AF65-F5344CB8AC3E}">
        <p14:creationId xmlns:p14="http://schemas.microsoft.com/office/powerpoint/2010/main" val="199907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07264" y="166449"/>
            <a:ext cx="10192512" cy="777240"/>
          </a:xfrm>
        </p:spPr>
        <p:txBody>
          <a:bodyPr/>
          <a:lstStyle/>
          <a:p>
            <a:r>
              <a:rPr lang="en-US" dirty="0"/>
              <a:t>Introductions: Goals from Course</a:t>
            </a:r>
          </a:p>
        </p:txBody>
      </p:sp>
      <p:sp>
        <p:nvSpPr>
          <p:cNvPr id="14" name="TextBox 13">
            <a:extLst>
              <a:ext uri="{FF2B5EF4-FFF2-40B4-BE49-F238E27FC236}">
                <a16:creationId xmlns:a16="http://schemas.microsoft.com/office/drawing/2014/main" id="{EEAEDE12-3D45-001A-D408-204AE08E9795}"/>
              </a:ext>
            </a:extLst>
          </p:cNvPr>
          <p:cNvSpPr txBox="1"/>
          <p:nvPr/>
        </p:nvSpPr>
        <p:spPr>
          <a:xfrm>
            <a:off x="207264" y="2139435"/>
            <a:ext cx="10716767" cy="408623"/>
          </a:xfrm>
          <a:prstGeom prst="roundRect">
            <a:avLst/>
          </a:prstGeom>
          <a:solidFill>
            <a:schemeClr val="accent3">
              <a:lumMod val="40000"/>
              <a:lumOff val="60000"/>
            </a:schemeClr>
          </a:solidFill>
          <a:ln>
            <a:solidFill>
              <a:schemeClr val="accent3">
                <a:lumMod val="75000"/>
              </a:schemeClr>
            </a:solidFill>
          </a:ln>
        </p:spPr>
        <p:txBody>
          <a:bodyPr wrap="square" rtlCol="0">
            <a:spAutoFit/>
          </a:bodyPr>
          <a:lstStyle/>
          <a:p>
            <a:r>
              <a:rPr lang="en-US" dirty="0"/>
              <a:t>Learn the statistical and quantitative analysis skills that will be used in my thesis analysis.</a:t>
            </a:r>
            <a:endParaRPr lang="en-CA" sz="2200" dirty="0">
              <a:latin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A453869E-425F-F7DD-38B4-4A6E25DFA2A7}"/>
              </a:ext>
            </a:extLst>
          </p:cNvPr>
          <p:cNvSpPr txBox="1"/>
          <p:nvPr/>
        </p:nvSpPr>
        <p:spPr>
          <a:xfrm>
            <a:off x="207264" y="2949180"/>
            <a:ext cx="10716767" cy="715089"/>
          </a:xfrm>
          <a:prstGeom prst="roundRect">
            <a:avLst/>
          </a:prstGeom>
          <a:solidFill>
            <a:schemeClr val="accent3">
              <a:lumMod val="40000"/>
              <a:lumOff val="60000"/>
            </a:schemeClr>
          </a:solidFill>
          <a:ln>
            <a:solidFill>
              <a:schemeClr val="accent3">
                <a:lumMod val="75000"/>
              </a:schemeClr>
            </a:solidFill>
          </a:ln>
        </p:spPr>
        <p:txBody>
          <a:bodyPr wrap="square" rtlCol="0">
            <a:spAutoFit/>
          </a:bodyPr>
          <a:lstStyle/>
          <a:p>
            <a:r>
              <a:rPr lang="en-US" dirty="0"/>
              <a:t>Enhance research and appraisal skills relevant to clinical academic medicine, with the goal of focusing on health policy/systems level "quality improvement"</a:t>
            </a:r>
            <a:endParaRPr lang="en-CA" sz="2200" dirty="0">
              <a:latin typeface="Aptos" panose="020B000402020202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924289A9-17DB-B0B9-EDAC-99D29420738E}"/>
              </a:ext>
            </a:extLst>
          </p:cNvPr>
          <p:cNvSpPr txBox="1"/>
          <p:nvPr/>
        </p:nvSpPr>
        <p:spPr>
          <a:xfrm>
            <a:off x="207264" y="5181600"/>
            <a:ext cx="10716767" cy="1021556"/>
          </a:xfrm>
          <a:prstGeom prst="roundRect">
            <a:avLst/>
          </a:prstGeom>
          <a:solidFill>
            <a:schemeClr val="accent3">
              <a:lumMod val="40000"/>
              <a:lumOff val="60000"/>
            </a:schemeClr>
          </a:solidFill>
          <a:ln>
            <a:solidFill>
              <a:schemeClr val="accent3">
                <a:lumMod val="75000"/>
              </a:schemeClr>
            </a:solidFill>
          </a:ln>
        </p:spPr>
        <p:txBody>
          <a:bodyPr wrap="square" rtlCol="0">
            <a:spAutoFit/>
          </a:bodyPr>
          <a:lstStyle/>
          <a:p>
            <a:r>
              <a:rPr lang="en-US" dirty="0"/>
              <a:t>I hope there will be a balance between learning the theoretical underpinnings and their practical application - I'm looking forward to the 'hands on' aspect of moving beyond understanding the statistical analysis in theory, to being able to apply it myself in R. </a:t>
            </a:r>
            <a:endParaRPr lang="en-CA" sz="2200" dirty="0">
              <a:latin typeface="Aptos" panose="020B000402020202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9546A42C-7216-1EB0-7D5D-CE6ED6AD65CC}"/>
              </a:ext>
            </a:extLst>
          </p:cNvPr>
          <p:cNvSpPr txBox="1"/>
          <p:nvPr/>
        </p:nvSpPr>
        <p:spPr>
          <a:xfrm>
            <a:off x="207264" y="1329690"/>
            <a:ext cx="10716767" cy="408623"/>
          </a:xfrm>
          <a:prstGeom prst="roundRect">
            <a:avLst/>
          </a:prstGeom>
          <a:solidFill>
            <a:schemeClr val="accent3">
              <a:lumMod val="40000"/>
              <a:lumOff val="60000"/>
            </a:schemeClr>
          </a:solidFill>
          <a:ln>
            <a:solidFill>
              <a:schemeClr val="accent3">
                <a:lumMod val="75000"/>
              </a:schemeClr>
            </a:solidFill>
          </a:ln>
        </p:spPr>
        <p:txBody>
          <a:bodyPr wrap="square" rtlCol="0">
            <a:spAutoFit/>
          </a:bodyPr>
          <a:lstStyle/>
          <a:p>
            <a:r>
              <a:rPr lang="en-US"/>
              <a:t>Doing multidisciplinary research on AI for applications in healthcare</a:t>
            </a:r>
            <a:endParaRPr lang="en-CA" sz="2200" dirty="0">
              <a:latin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B177B6E1-E101-BBB3-0003-2750CC66C91B}"/>
              </a:ext>
            </a:extLst>
          </p:cNvPr>
          <p:cNvSpPr txBox="1"/>
          <p:nvPr/>
        </p:nvSpPr>
        <p:spPr>
          <a:xfrm>
            <a:off x="207264" y="4065390"/>
            <a:ext cx="10716767" cy="715089"/>
          </a:xfrm>
          <a:prstGeom prst="roundRect">
            <a:avLst/>
          </a:prstGeom>
          <a:solidFill>
            <a:schemeClr val="accent3">
              <a:lumMod val="40000"/>
              <a:lumOff val="60000"/>
            </a:schemeClr>
          </a:solidFill>
          <a:ln>
            <a:solidFill>
              <a:schemeClr val="accent3">
                <a:lumMod val="75000"/>
              </a:schemeClr>
            </a:solidFill>
          </a:ln>
        </p:spPr>
        <p:txBody>
          <a:bodyPr wrap="square" rtlCol="0">
            <a:spAutoFit/>
          </a:bodyPr>
          <a:lstStyle/>
          <a:p>
            <a:r>
              <a:rPr lang="en-US" dirty="0"/>
              <a:t>I am passionate about understanding health inequities and improving the quality of life of marginalized people (especially people with disabilities).</a:t>
            </a:r>
            <a:endParaRPr lang="en-CA" sz="22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80877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533400" y="1219200"/>
            <a:ext cx="10896600" cy="4960939"/>
          </a:xfrm>
        </p:spPr>
        <p:txBody>
          <a:bodyPr>
            <a:normAutofit/>
          </a:bodyPr>
          <a:lstStyle/>
          <a:p>
            <a:pPr marL="0" indent="0">
              <a:buNone/>
            </a:pPr>
            <a:r>
              <a:rPr lang="en-US" sz="2400" b="1" dirty="0">
                <a:solidFill>
                  <a:srgbClr val="0070C0"/>
                </a:solidFill>
                <a:cs typeface="Times New Roman" panose="02020603050405020304" pitchFamily="18" charset="0"/>
              </a:rPr>
              <a:t>Booking office hours</a:t>
            </a:r>
            <a:r>
              <a:rPr lang="en-US" sz="2400" dirty="0">
                <a:solidFill>
                  <a:srgbClr val="0070C0"/>
                </a:solidFill>
                <a:cs typeface="Times New Roman" panose="02020603050405020304" pitchFamily="18" charset="0"/>
              </a:rPr>
              <a:t>:</a:t>
            </a:r>
            <a:r>
              <a:rPr lang="en-US" sz="2400" dirty="0">
                <a:cs typeface="Times New Roman" panose="02020603050405020304" pitchFamily="18" charset="0"/>
              </a:rPr>
              <a:t> </a:t>
            </a:r>
            <a:r>
              <a:rPr lang="en-US" sz="2400" u="sng" dirty="0">
                <a:solidFill>
                  <a:srgbClr val="0000FF"/>
                </a:solidFill>
                <a:ea typeface="Calibri" panose="020F0502020204030204" pitchFamily="34" charset="0"/>
                <a:cs typeface="Times New Roman" panose="02020603050405020304" pitchFamily="18" charset="0"/>
                <a:hlinkClick r:id="rId3"/>
              </a:rPr>
              <a:t>calendly.com/Hoagland-office-hours/</a:t>
            </a:r>
            <a:endParaRPr lang="en-US" sz="2400" dirty="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400" dirty="0">
                <a:effectLst/>
                <a:ea typeface="Calibri" panose="020F0502020204030204" pitchFamily="34" charset="0"/>
                <a:cs typeface="Times New Roman" panose="02020603050405020304" pitchFamily="18" charset="0"/>
              </a:rPr>
              <a:t>Tuesdays, 9-11am, or by appointment.</a:t>
            </a:r>
          </a:p>
          <a:p>
            <a:pPr marL="342900" marR="0" lvl="0" indent="-342900">
              <a:spcBef>
                <a:spcPts val="0"/>
              </a:spcBef>
              <a:spcAft>
                <a:spcPts val="0"/>
              </a:spcAft>
              <a:buFont typeface="Symbol" panose="05050102010706020507" pitchFamily="18" charset="2"/>
              <a:buChar char=""/>
            </a:pPr>
            <a:r>
              <a:rPr lang="en-US" sz="2400" dirty="0">
                <a:effectLst/>
                <a:ea typeface="Calibri" panose="020F0502020204030204" pitchFamily="34" charset="0"/>
                <a:cs typeface="Times New Roman" panose="02020603050405020304" pitchFamily="18" charset="0"/>
              </a:rPr>
              <a:t>All appointments are </a:t>
            </a:r>
            <a:r>
              <a:rPr lang="en-US" sz="2400" b="1" u="sng" dirty="0">
                <a:effectLst/>
                <a:ea typeface="Calibri" panose="020F0502020204030204" pitchFamily="34" charset="0"/>
                <a:cs typeface="Times New Roman" panose="02020603050405020304" pitchFamily="18" charset="0"/>
              </a:rPr>
              <a:t>by Zoom </a:t>
            </a:r>
            <a:r>
              <a:rPr lang="en-US" sz="2400" dirty="0">
                <a:effectLst/>
                <a:ea typeface="Calibri" panose="020F0502020204030204" pitchFamily="34" charset="0"/>
                <a:cs typeface="Times New Roman" panose="02020603050405020304" pitchFamily="18" charset="0"/>
              </a:rPr>
              <a:t>unless arranged otherwise in advance. </a:t>
            </a:r>
          </a:p>
        </p:txBody>
      </p:sp>
      <p:pic>
        <p:nvPicPr>
          <p:cNvPr id="7" name="Picture 6">
            <a:extLst>
              <a:ext uri="{FF2B5EF4-FFF2-40B4-BE49-F238E27FC236}">
                <a16:creationId xmlns:a16="http://schemas.microsoft.com/office/drawing/2014/main" id="{FB85D007-138F-4044-AD8A-659E0889A7A9}"/>
              </a:ext>
            </a:extLst>
          </p:cNvPr>
          <p:cNvPicPr>
            <a:picLocks noChangeAspect="1"/>
          </p:cNvPicPr>
          <p:nvPr/>
        </p:nvPicPr>
        <p:blipFill>
          <a:blip r:embed="rId4"/>
          <a:stretch>
            <a:fillRect/>
          </a:stretch>
        </p:blipFill>
        <p:spPr>
          <a:xfrm>
            <a:off x="1261872" y="2464814"/>
            <a:ext cx="7348728" cy="4316986"/>
          </a:xfrm>
          <a:prstGeom prst="rect">
            <a:avLst/>
          </a:prstGeom>
        </p:spPr>
      </p:pic>
      <p:sp>
        <p:nvSpPr>
          <p:cNvPr id="5" name="Title 1">
            <a:extLst>
              <a:ext uri="{FF2B5EF4-FFF2-40B4-BE49-F238E27FC236}">
                <a16:creationId xmlns:a16="http://schemas.microsoft.com/office/drawing/2014/main" id="{F437DC18-F235-4588-BBC9-31299ECA7DF3}"/>
              </a:ext>
            </a:extLst>
          </p:cNvPr>
          <p:cNvSpPr txBox="1">
            <a:spLocks/>
          </p:cNvSpPr>
          <p:nvPr/>
        </p:nvSpPr>
        <p:spPr>
          <a:xfrm>
            <a:off x="454152" y="365760"/>
            <a:ext cx="10500360"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spTree>
    <p:extLst>
      <p:ext uri="{BB962C8B-B14F-4D97-AF65-F5344CB8AC3E}">
        <p14:creationId xmlns:p14="http://schemas.microsoft.com/office/powerpoint/2010/main" val="162479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381000" y="1295400"/>
            <a:ext cx="10668000" cy="4884739"/>
          </a:xfrm>
        </p:spPr>
        <p:txBody>
          <a:bodyPr>
            <a:noAutofit/>
          </a:bodyPr>
          <a:lstStyle/>
          <a:p>
            <a:pPr marL="0" indent="0" algn="just">
              <a:spcBef>
                <a:spcPts val="0"/>
              </a:spcBef>
              <a:spcAft>
                <a:spcPts val="0"/>
              </a:spcAft>
              <a:buNone/>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Evaluation</a:t>
            </a:r>
            <a:r>
              <a:rPr lang="en-US" sz="2400" b="1" spc="-25"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Criteria: Assignments</a:t>
            </a:r>
            <a:endParaRPr lang="en-US" sz="2400" spc="-20" dirty="0">
              <a:latin typeface="Times New Roman" panose="02020603050405020304" pitchFamily="18" charset="0"/>
              <a:ea typeface="Calibri" panose="020F0502020204030204" pitchFamily="34" charset="0"/>
              <a:cs typeface="Times New Roman" panose="02020603050405020304" pitchFamily="18" charset="0"/>
            </a:endParaRPr>
          </a:p>
          <a:p>
            <a:pPr marL="0" marR="222250" indent="0" algn="just">
              <a:spcBef>
                <a:spcPts val="45"/>
              </a:spcBef>
              <a:spcAft>
                <a:spcPts val="0"/>
              </a:spcAft>
              <a:buNone/>
            </a:pPr>
            <a:endParaRPr lang="en-US" sz="2400" spc="-20" dirty="0">
              <a:ea typeface="Calibri" panose="020F0502020204030204" pitchFamily="34" charset="0"/>
              <a:cs typeface="Times New Roman" panose="02020603050405020304" pitchFamily="18" charset="0"/>
            </a:endParaRPr>
          </a:p>
          <a:p>
            <a:pPr marR="222250" algn="just">
              <a:spcBef>
                <a:spcPts val="45"/>
              </a:spcBef>
              <a:spcAft>
                <a:spcPts val="0"/>
              </a:spcAft>
            </a:pPr>
            <a:r>
              <a:rPr lang="en-US" sz="2400" spc="-20" dirty="0">
                <a:ea typeface="Calibri" panose="020F0502020204030204" pitchFamily="34" charset="0"/>
                <a:cs typeface="Times New Roman" panose="02020603050405020304" pitchFamily="18" charset="0"/>
              </a:rPr>
              <a:t>Please submit by Quercus before class on the due date</a:t>
            </a:r>
          </a:p>
          <a:p>
            <a:pPr marR="222250" algn="just">
              <a:spcBef>
                <a:spcPts val="45"/>
              </a:spcBef>
              <a:spcAft>
                <a:spcPts val="0"/>
              </a:spcAft>
            </a:pPr>
            <a:r>
              <a:rPr lang="en-US" sz="2400" spc="-20" dirty="0">
                <a:latin typeface="Times New Roman" panose="02020603050405020304" pitchFamily="18" charset="0"/>
                <a:ea typeface="Calibri" panose="020F0502020204030204" pitchFamily="34" charset="0"/>
                <a:cs typeface="Times New Roman" panose="02020603050405020304" pitchFamily="18" charset="0"/>
              </a:rPr>
              <a:t>A complete assignment should be a </a:t>
            </a:r>
            <a:r>
              <a:rPr lang="en-US" sz="2400" b="1" spc="-20" dirty="0">
                <a:latin typeface="Times New Roman" panose="02020603050405020304" pitchFamily="18" charset="0"/>
                <a:ea typeface="Calibri" panose="020F0502020204030204" pitchFamily="34" charset="0"/>
                <a:cs typeface="Times New Roman" panose="02020603050405020304" pitchFamily="18" charset="0"/>
              </a:rPr>
              <a:t>knitted </a:t>
            </a:r>
            <a:r>
              <a:rPr lang="en-US" sz="2400" spc="-20" dirty="0">
                <a:latin typeface="Times New Roman" panose="02020603050405020304" pitchFamily="18" charset="0"/>
                <a:ea typeface="Calibri" panose="020F0502020204030204" pitchFamily="34" charset="0"/>
                <a:cs typeface="Times New Roman" panose="02020603050405020304" pitchFamily="18" charset="0"/>
              </a:rPr>
              <a:t>document containing code and output – can use code appendices if you’d like for formatting</a:t>
            </a:r>
          </a:p>
          <a:p>
            <a:pPr marR="222250" algn="just">
              <a:spcBef>
                <a:spcPts val="45"/>
              </a:spcBef>
              <a:spcAft>
                <a:spcPts val="0"/>
              </a:spcAft>
            </a:pPr>
            <a:r>
              <a:rPr lang="en-US" sz="2400" spc="-20" dirty="0">
                <a:ea typeface="Calibri" panose="020F0502020204030204" pitchFamily="34" charset="0"/>
                <a:cs typeface="Times New Roman" panose="02020603050405020304" pitchFamily="18" charset="0"/>
              </a:rPr>
              <a:t>Assignments should be submitted </a:t>
            </a:r>
            <a:r>
              <a:rPr lang="en-US" sz="2400" b="1" u="sng" spc="-20" dirty="0">
                <a:ea typeface="Calibri" panose="020F0502020204030204" pitchFamily="34" charset="0"/>
                <a:cs typeface="Times New Roman" panose="02020603050405020304" pitchFamily="18" charset="0"/>
              </a:rPr>
              <a:t>individually</a:t>
            </a:r>
            <a:endParaRPr lang="en-US" sz="2400" b="1" u="sng" spc="-20" dirty="0">
              <a:latin typeface="Times New Roman" panose="02020603050405020304" pitchFamily="18" charset="0"/>
              <a:ea typeface="Calibri" panose="020F0502020204030204" pitchFamily="34" charset="0"/>
              <a:cs typeface="Times New Roman" panose="02020603050405020304" pitchFamily="18" charset="0"/>
            </a:endParaRPr>
          </a:p>
          <a:p>
            <a:pPr marR="222250" algn="just">
              <a:spcBef>
                <a:spcPts val="45"/>
              </a:spcBef>
              <a:spcAft>
                <a:spcPts val="0"/>
              </a:spcAft>
            </a:pPr>
            <a:endParaRPr lang="en-US" sz="2400" spc="-20" dirty="0">
              <a:effectLst/>
              <a:ea typeface="Calibri" panose="020F050202020403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id="{2CBDD2D1-2055-4095-B24C-4E07449F80A0}"/>
              </a:ext>
            </a:extLst>
          </p:cNvPr>
          <p:cNvSpPr txBox="1">
            <a:spLocks/>
          </p:cNvSpPr>
          <p:nvPr/>
        </p:nvSpPr>
        <p:spPr>
          <a:xfrm>
            <a:off x="353187" y="365760"/>
            <a:ext cx="10601325"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spTree>
    <p:extLst>
      <p:ext uri="{BB962C8B-B14F-4D97-AF65-F5344CB8AC3E}">
        <p14:creationId xmlns:p14="http://schemas.microsoft.com/office/powerpoint/2010/main" val="323464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30C62-D65D-9025-8E06-D269DD95E33A}"/>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C9FDB5D-2EA1-E0F8-25D6-91CA99176335}"/>
              </a:ext>
            </a:extLst>
          </p:cNvPr>
          <p:cNvSpPr>
            <a:spLocks noGrp="1"/>
          </p:cNvSpPr>
          <p:nvPr>
            <p:ph idx="1"/>
          </p:nvPr>
        </p:nvSpPr>
        <p:spPr>
          <a:xfrm>
            <a:off x="381000" y="1295400"/>
            <a:ext cx="5562600" cy="4884739"/>
          </a:xfrm>
        </p:spPr>
        <p:txBody>
          <a:bodyPr>
            <a:noAutofit/>
          </a:bodyPr>
          <a:lstStyle/>
          <a:p>
            <a:pPr marL="0" indent="0" algn="just">
              <a:spcBef>
                <a:spcPts val="0"/>
              </a:spcBef>
              <a:spcAft>
                <a:spcPts val="0"/>
              </a:spcAft>
              <a:buNone/>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Evaluation</a:t>
            </a:r>
            <a:r>
              <a:rPr lang="en-US" sz="2400" b="1" spc="-25"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Criteria: Assignments</a:t>
            </a:r>
          </a:p>
          <a:p>
            <a:pPr marL="0" indent="0" algn="just">
              <a:spcBef>
                <a:spcPts val="0"/>
              </a:spcBef>
              <a:spcAft>
                <a:spcPts val="0"/>
              </a:spcAft>
              <a:buNone/>
            </a:pPr>
            <a:r>
              <a:rPr lang="en-US" sz="2400" spc="-20" dirty="0">
                <a:ea typeface="Calibri" panose="020F0502020204030204" pitchFamily="34" charset="0"/>
                <a:cs typeface="Times New Roman" panose="02020603050405020304" pitchFamily="18" charset="0"/>
              </a:rPr>
              <a:t>Assignments should be seen less as math homework, more as </a:t>
            </a:r>
            <a:r>
              <a:rPr lang="en-US" sz="2400" u="sng" spc="-20" dirty="0">
                <a:ea typeface="Calibri" panose="020F0502020204030204" pitchFamily="34" charset="0"/>
                <a:cs typeface="Times New Roman" panose="02020603050405020304" pitchFamily="18" charset="0"/>
              </a:rPr>
              <a:t>paper skeletons</a:t>
            </a:r>
            <a:r>
              <a:rPr lang="en-US" sz="2400" spc="-20" dirty="0">
                <a:ea typeface="Calibri" panose="020F0502020204030204" pitchFamily="34" charset="0"/>
                <a:cs typeface="Times New Roman" panose="02020603050405020304" pitchFamily="18" charset="0"/>
              </a:rPr>
              <a:t> you should fill in (use to practice academic writing!)</a:t>
            </a:r>
            <a:endParaRPr lang="en-US" sz="2400" u="sng" spc="-20" dirty="0">
              <a:latin typeface="Times New Roman" panose="02020603050405020304" pitchFamily="18" charset="0"/>
              <a:ea typeface="Calibri" panose="020F0502020204030204" pitchFamily="34" charset="0"/>
              <a:cs typeface="Times New Roman" panose="02020603050405020304" pitchFamily="18" charset="0"/>
            </a:endParaRPr>
          </a:p>
          <a:p>
            <a:pPr marR="222250" algn="just">
              <a:spcBef>
                <a:spcPts val="45"/>
              </a:spcBef>
              <a:spcAft>
                <a:spcPts val="0"/>
              </a:spcAft>
            </a:pPr>
            <a:endParaRPr lang="en-US" sz="2400" spc="-20" dirty="0">
              <a:effectLst/>
              <a:ea typeface="Calibri" panose="020F050202020403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id="{CB262FDB-0916-031D-29D2-2A5F63D6E38B}"/>
              </a:ext>
            </a:extLst>
          </p:cNvPr>
          <p:cNvSpPr txBox="1">
            <a:spLocks/>
          </p:cNvSpPr>
          <p:nvPr/>
        </p:nvSpPr>
        <p:spPr>
          <a:xfrm>
            <a:off x="353187" y="365760"/>
            <a:ext cx="10601325"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pic>
        <p:nvPicPr>
          <p:cNvPr id="3" name="Picture 2">
            <a:extLst>
              <a:ext uri="{FF2B5EF4-FFF2-40B4-BE49-F238E27FC236}">
                <a16:creationId xmlns:a16="http://schemas.microsoft.com/office/drawing/2014/main" id="{EDFA8314-8372-BC97-9748-26AB14F55776}"/>
              </a:ext>
            </a:extLst>
          </p:cNvPr>
          <p:cNvPicPr>
            <a:picLocks noChangeAspect="1"/>
          </p:cNvPicPr>
          <p:nvPr/>
        </p:nvPicPr>
        <p:blipFill>
          <a:blip r:embed="rId3"/>
          <a:stretch>
            <a:fillRect/>
          </a:stretch>
        </p:blipFill>
        <p:spPr>
          <a:xfrm>
            <a:off x="5791200" y="961374"/>
            <a:ext cx="5383183" cy="5552790"/>
          </a:xfrm>
          <a:prstGeom prst="rect">
            <a:avLst/>
          </a:prstGeom>
        </p:spPr>
      </p:pic>
    </p:spTree>
    <p:extLst>
      <p:ext uri="{BB962C8B-B14F-4D97-AF65-F5344CB8AC3E}">
        <p14:creationId xmlns:p14="http://schemas.microsoft.com/office/powerpoint/2010/main" val="4220022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382924" y="1143000"/>
            <a:ext cx="10668000" cy="5486400"/>
          </a:xfrm>
        </p:spPr>
        <p:txBody>
          <a:bodyPr>
            <a:noAutofit/>
          </a:bodyPr>
          <a:lstStyle/>
          <a:p>
            <a:pPr marL="0" indent="0" algn="just">
              <a:spcBef>
                <a:spcPts val="0"/>
              </a:spcBef>
              <a:spcAft>
                <a:spcPts val="0"/>
              </a:spcAft>
              <a:buNone/>
            </a:pPr>
            <a:r>
              <a:rPr lang="en-US" sz="22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Evaluation</a:t>
            </a:r>
            <a:r>
              <a:rPr lang="en-US" sz="2200" b="1" spc="-25"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2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Criteria: Assignments</a:t>
            </a:r>
            <a:endParaRPr lang="en-US" sz="2200" spc="-20" dirty="0">
              <a:ea typeface="Calibri" panose="020F0502020204030204" pitchFamily="34" charset="0"/>
              <a:cs typeface="Times New Roman" panose="02020603050405020304" pitchFamily="18" charset="0"/>
            </a:endParaRPr>
          </a:p>
          <a:p>
            <a:pPr marR="222250" algn="just">
              <a:spcBef>
                <a:spcPts val="45"/>
              </a:spcBef>
              <a:spcAft>
                <a:spcPts val="0"/>
              </a:spcAft>
            </a:pPr>
            <a:r>
              <a:rPr lang="en-US" sz="2200" spc="-20" dirty="0">
                <a:ea typeface="Calibri" panose="020F0502020204030204" pitchFamily="34" charset="0"/>
                <a:cs typeface="Times New Roman" panose="02020603050405020304" pitchFamily="18" charset="0"/>
              </a:rPr>
              <a:t>Please submit by Quercus before class on the due date</a:t>
            </a:r>
          </a:p>
          <a:p>
            <a:pPr marR="222250" algn="just">
              <a:spcBef>
                <a:spcPts val="45"/>
              </a:spcBef>
              <a:spcAft>
                <a:spcPts val="0"/>
              </a:spcAft>
            </a:pPr>
            <a:r>
              <a:rPr lang="en-US" sz="2200" spc="-20" dirty="0">
                <a:latin typeface="Times New Roman" panose="02020603050405020304" pitchFamily="18" charset="0"/>
                <a:ea typeface="Calibri" panose="020F0502020204030204" pitchFamily="34" charset="0"/>
                <a:cs typeface="Times New Roman" panose="02020603050405020304" pitchFamily="18" charset="0"/>
              </a:rPr>
              <a:t>A complete assignment should be a </a:t>
            </a:r>
            <a:r>
              <a:rPr lang="en-US" sz="2200" b="1" spc="-20" dirty="0">
                <a:latin typeface="Times New Roman" panose="02020603050405020304" pitchFamily="18" charset="0"/>
                <a:ea typeface="Calibri" panose="020F0502020204030204" pitchFamily="34" charset="0"/>
                <a:cs typeface="Times New Roman" panose="02020603050405020304" pitchFamily="18" charset="0"/>
              </a:rPr>
              <a:t>knitted </a:t>
            </a:r>
            <a:r>
              <a:rPr lang="en-US" sz="2200" spc="-20" dirty="0">
                <a:latin typeface="Times New Roman" panose="02020603050405020304" pitchFamily="18" charset="0"/>
                <a:ea typeface="Calibri" panose="020F0502020204030204" pitchFamily="34" charset="0"/>
                <a:cs typeface="Times New Roman" panose="02020603050405020304" pitchFamily="18" charset="0"/>
              </a:rPr>
              <a:t>document containing code and output</a:t>
            </a:r>
          </a:p>
          <a:p>
            <a:pPr marR="222250" algn="just">
              <a:spcBef>
                <a:spcPts val="45"/>
              </a:spcBef>
              <a:spcAft>
                <a:spcPts val="0"/>
              </a:spcAft>
            </a:pPr>
            <a:endParaRPr lang="en-US" sz="1000" spc="-20" dirty="0">
              <a:effectLst/>
              <a:ea typeface="Calibri" panose="020F0502020204030204" pitchFamily="34" charset="0"/>
              <a:cs typeface="Times New Roman" panose="02020603050405020304" pitchFamily="18" charset="0"/>
            </a:endParaRPr>
          </a:p>
          <a:p>
            <a:pPr marL="0" marR="222250" indent="0" algn="just">
              <a:spcBef>
                <a:spcPts val="45"/>
              </a:spcBef>
              <a:spcAft>
                <a:spcPts val="0"/>
              </a:spcAft>
              <a:buNone/>
            </a:pPr>
            <a:r>
              <a:rPr lang="en-US" sz="2200" i="1" spc="-20" dirty="0">
                <a:latin typeface="Times New Roman" panose="02020603050405020304" pitchFamily="18" charset="0"/>
                <a:ea typeface="Calibri" panose="020F0502020204030204" pitchFamily="34" charset="0"/>
                <a:cs typeface="Times New Roman" panose="02020603050405020304" pitchFamily="18" charset="0"/>
              </a:rPr>
              <a:t>Notes: </a:t>
            </a:r>
          </a:p>
          <a:p>
            <a:pPr marR="222250" algn="just">
              <a:spcBef>
                <a:spcPts val="45"/>
              </a:spcBef>
              <a:spcAft>
                <a:spcPts val="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Assignments should be done </a:t>
            </a:r>
            <a:r>
              <a:rPr lang="en-US" sz="2200" b="1" u="sng" dirty="0">
                <a:effectLst/>
                <a:latin typeface="Times New Roman" panose="02020603050405020304" pitchFamily="18" charset="0"/>
                <a:ea typeface="Calibri" panose="020F0502020204030204" pitchFamily="34" charset="0"/>
                <a:cs typeface="Times New Roman" panose="02020603050405020304" pitchFamily="18" charset="0"/>
              </a:rPr>
              <a:t>individually</a:t>
            </a:r>
          </a:p>
          <a:p>
            <a:pPr marR="222250" algn="just">
              <a:spcBef>
                <a:spcPts val="45"/>
              </a:spcBef>
              <a:spcAft>
                <a:spcPts val="0"/>
              </a:spcAft>
            </a:pP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R="222250" algn="just">
              <a:spcBef>
                <a:spcPts val="45"/>
              </a:spcBef>
              <a:spcAft>
                <a:spcPts val="0"/>
              </a:spcAft>
            </a:pPr>
            <a:r>
              <a:rPr lang="en-US" sz="2200" b="1" dirty="0">
                <a:ea typeface="Calibri" panose="020F0502020204030204" pitchFamily="34" charset="0"/>
                <a:cs typeface="Times New Roman" panose="02020603050405020304" pitchFamily="18" charset="0"/>
              </a:rPr>
              <a:t>G</a:t>
            </a: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enerative AI in Course Content and Materials: </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Use it, don’t trust it!</a:t>
            </a:r>
          </a:p>
          <a:p>
            <a:pPr marR="222250" lvl="1" algn="just">
              <a:spcBef>
                <a:spcPts val="45"/>
              </a:spcBef>
              <a:spcAft>
                <a:spcPts val="0"/>
              </a:spcAft>
            </a:pPr>
            <a:r>
              <a:rPr lang="en-US" sz="2200" dirty="0">
                <a:ea typeface="Calibri" panose="020F0502020204030204" pitchFamily="34" charset="0"/>
                <a:cs typeface="Times New Roman" panose="02020603050405020304" pitchFamily="18" charset="0"/>
              </a:rPr>
              <a:t>For each assignment, include a paragraph explaining (a) how these tools were used and (b) how you as the student integrated these materials into your assignment (e.g., how were the inputs checked for completeness or debugged?).</a:t>
            </a:r>
          </a:p>
          <a:p>
            <a:pPr marR="222250" lvl="1" algn="just">
              <a:spcBef>
                <a:spcPts val="45"/>
              </a:spcBef>
              <a:spcAft>
                <a:spcPts val="0"/>
              </a:spcAft>
            </a:pPr>
            <a:r>
              <a:rPr lang="en-US" sz="2200" dirty="0">
                <a:ea typeface="Calibri" panose="020F0502020204030204" pitchFamily="34" charset="0"/>
                <a:cs typeface="Times New Roman" panose="02020603050405020304" pitchFamily="18" charset="0"/>
              </a:rPr>
              <a:t>I will be using Pangram to check for AI-generated output. Too much of this, especially if it conflicts with your statement, may impact your overall mark. </a:t>
            </a:r>
          </a:p>
          <a:p>
            <a:pPr marR="222250" algn="just">
              <a:spcBef>
                <a:spcPts val="45"/>
              </a:spcBef>
              <a:spcAft>
                <a:spcPts val="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There is a 10 (percentage point) penalty for each late day. </a:t>
            </a:r>
          </a:p>
        </p:txBody>
      </p:sp>
      <p:sp>
        <p:nvSpPr>
          <p:cNvPr id="5" name="Title 1">
            <a:extLst>
              <a:ext uri="{FF2B5EF4-FFF2-40B4-BE49-F238E27FC236}">
                <a16:creationId xmlns:a16="http://schemas.microsoft.com/office/drawing/2014/main" id="{2CBDD2D1-2055-4095-B24C-4E07449F80A0}"/>
              </a:ext>
            </a:extLst>
          </p:cNvPr>
          <p:cNvSpPr txBox="1">
            <a:spLocks/>
          </p:cNvSpPr>
          <p:nvPr/>
        </p:nvSpPr>
        <p:spPr>
          <a:xfrm>
            <a:off x="353187" y="365760"/>
            <a:ext cx="10601325"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sp>
        <p:nvSpPr>
          <p:cNvPr id="6" name="Title 5">
            <a:extLst>
              <a:ext uri="{FF2B5EF4-FFF2-40B4-BE49-F238E27FC236}">
                <a16:creationId xmlns:a16="http://schemas.microsoft.com/office/drawing/2014/main" id="{7A268CAC-145E-4B1C-89BC-11BEB5C46CAA}"/>
              </a:ext>
            </a:extLst>
          </p:cNvPr>
          <p:cNvSpPr>
            <a:spLocks noGrp="1"/>
          </p:cNvSpPr>
          <p:nvPr>
            <p:ph type="title"/>
          </p:nvPr>
        </p:nvSpPr>
        <p:spPr/>
        <p:txBody>
          <a:bodyPr/>
          <a:lstStyle/>
          <a:p>
            <a:r>
              <a:rPr lang="en-US" dirty="0"/>
              <a:t> </a:t>
            </a:r>
          </a:p>
        </p:txBody>
      </p:sp>
    </p:spTree>
    <p:extLst>
      <p:ext uri="{BB962C8B-B14F-4D97-AF65-F5344CB8AC3E}">
        <p14:creationId xmlns:p14="http://schemas.microsoft.com/office/powerpoint/2010/main" val="2490253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4DBC-7AFA-AE70-CB25-E7507B6041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FE5E67A-F4BF-837C-A030-DF562EF9A8AC}"/>
              </a:ext>
            </a:extLst>
          </p:cNvPr>
          <p:cNvSpPr txBox="1">
            <a:spLocks/>
          </p:cNvSpPr>
          <p:nvPr/>
        </p:nvSpPr>
        <p:spPr>
          <a:xfrm>
            <a:off x="353187" y="365760"/>
            <a:ext cx="10601325"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Assignment Presentations</a:t>
            </a:r>
          </a:p>
        </p:txBody>
      </p:sp>
      <p:sp>
        <p:nvSpPr>
          <p:cNvPr id="6" name="Title 5">
            <a:extLst>
              <a:ext uri="{FF2B5EF4-FFF2-40B4-BE49-F238E27FC236}">
                <a16:creationId xmlns:a16="http://schemas.microsoft.com/office/drawing/2014/main" id="{404F7581-AC69-F053-A256-A2FD0159115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9304EEC-E3FA-BE66-35CF-4F9D278163CD}"/>
              </a:ext>
            </a:extLst>
          </p:cNvPr>
          <p:cNvSpPr>
            <a:spLocks noGrp="1"/>
          </p:cNvSpPr>
          <p:nvPr>
            <p:ph idx="1"/>
          </p:nvPr>
        </p:nvSpPr>
        <p:spPr>
          <a:xfrm>
            <a:off x="457200" y="1143000"/>
            <a:ext cx="10472928" cy="5037137"/>
          </a:xfrm>
        </p:spPr>
        <p:txBody>
          <a:bodyPr>
            <a:normAutofit/>
          </a:bodyPr>
          <a:lstStyle/>
          <a:p>
            <a:pPr marL="0" indent="0">
              <a:buNone/>
            </a:pPr>
            <a:r>
              <a:rPr lang="en-US" sz="2200" dirty="0"/>
              <a:t>Part of assignment marks come from recorded video presentations of assignment solutions. </a:t>
            </a:r>
          </a:p>
          <a:p>
            <a:r>
              <a:rPr lang="en-US" sz="2200" b="1" u="sng" dirty="0"/>
              <a:t>These must be submitted individually</a:t>
            </a:r>
            <a:r>
              <a:rPr lang="en-US" sz="2200" dirty="0"/>
              <a:t>. </a:t>
            </a:r>
          </a:p>
          <a:p>
            <a:r>
              <a:rPr lang="en-US" sz="2200" dirty="0"/>
              <a:t>For each assignment, you will be asked to record videos </a:t>
            </a:r>
            <a:r>
              <a:rPr lang="en-US" sz="2200" i="1" dirty="0"/>
              <a:t>of no more than 3 minutes </a:t>
            </a:r>
            <a:r>
              <a:rPr lang="en-US" sz="2200" dirty="0"/>
              <a:t>explaining how you arrived at the answer to a given problem. You should explain both the code you used as well as how you interpreted your results. If applicable, you may also discuss how you would extend your findings in an actual research setting. </a:t>
            </a:r>
          </a:p>
          <a:p>
            <a:r>
              <a:rPr lang="en-US" sz="2200" dirty="0"/>
              <a:t>These videos should be submitted on Quercus in a MP4, AVI, WMV, or MOV format. </a:t>
            </a:r>
          </a:p>
        </p:txBody>
      </p:sp>
    </p:spTree>
    <p:extLst>
      <p:ext uri="{BB962C8B-B14F-4D97-AF65-F5344CB8AC3E}">
        <p14:creationId xmlns:p14="http://schemas.microsoft.com/office/powerpoint/2010/main" val="4038649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381000" y="1219200"/>
            <a:ext cx="10668000" cy="5486401"/>
          </a:xfrm>
        </p:spPr>
        <p:txBody>
          <a:bodyPr>
            <a:noAutofit/>
          </a:bodyPr>
          <a:lstStyle/>
          <a:p>
            <a:pPr marL="0" marR="222250" indent="0" algn="just">
              <a:spcBef>
                <a:spcPts val="45"/>
              </a:spcBef>
              <a:spcAft>
                <a:spcPts val="0"/>
              </a:spcAft>
              <a:buNone/>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Evaluation</a:t>
            </a:r>
            <a:r>
              <a:rPr lang="en-US" sz="2400" b="1" spc="-25"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Criteria: Major Paper. </a:t>
            </a:r>
            <a:r>
              <a:rPr lang="en-US" sz="2400" spc="-30" dirty="0">
                <a:ea typeface="Calibri" panose="020F0502020204030204" pitchFamily="34" charset="0"/>
                <a:cs typeface="Times New Roman" panose="02020603050405020304" pitchFamily="18" charset="0"/>
              </a:rPr>
              <a:t>I</a:t>
            </a:r>
            <a:r>
              <a:rPr lang="en-US" sz="2400" spc="-5" dirty="0">
                <a:ea typeface="Calibri" panose="020F0502020204030204" pitchFamily="34" charset="0"/>
                <a:cs typeface="Times New Roman" panose="02020603050405020304" pitchFamily="18" charset="0"/>
              </a:rPr>
              <a:t>nvestigation</a:t>
            </a:r>
            <a:r>
              <a:rPr lang="en-US" sz="2400" spc="415"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of</a:t>
            </a:r>
            <a:r>
              <a:rPr lang="en-US" sz="2400" spc="-35"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a</a:t>
            </a:r>
            <a:r>
              <a:rPr lang="en-US" sz="2400" spc="-50"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research</a:t>
            </a:r>
            <a:r>
              <a:rPr lang="en-US" sz="2400" spc="-45" dirty="0">
                <a:ea typeface="Calibri" panose="020F0502020204030204" pitchFamily="34" charset="0"/>
                <a:cs typeface="Times New Roman" panose="02020603050405020304" pitchFamily="18" charset="0"/>
              </a:rPr>
              <a:t> </a:t>
            </a:r>
            <a:r>
              <a:rPr lang="en-US" sz="2400" spc="-5" dirty="0">
                <a:ea typeface="Calibri" panose="020F0502020204030204" pitchFamily="34" charset="0"/>
                <a:cs typeface="Times New Roman" panose="02020603050405020304" pitchFamily="18" charset="0"/>
              </a:rPr>
              <a:t>question</a:t>
            </a:r>
            <a:r>
              <a:rPr lang="en-US" sz="2400" spc="-35"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of</a:t>
            </a:r>
            <a:r>
              <a:rPr lang="en-US" sz="2400" spc="-45"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your</a:t>
            </a:r>
            <a:r>
              <a:rPr lang="en-US" sz="2400" spc="-40"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own</a:t>
            </a:r>
            <a:r>
              <a:rPr lang="en-US" sz="2400" spc="-40" dirty="0">
                <a:ea typeface="Calibri" panose="020F0502020204030204" pitchFamily="34" charset="0"/>
                <a:cs typeface="Times New Roman" panose="02020603050405020304" pitchFamily="18" charset="0"/>
              </a:rPr>
              <a:t> </a:t>
            </a:r>
            <a:r>
              <a:rPr lang="en-US" sz="2400" dirty="0">
                <a:ea typeface="Calibri" panose="020F0502020204030204" pitchFamily="34" charset="0"/>
                <a:cs typeface="Times New Roman" panose="02020603050405020304" pitchFamily="18" charset="0"/>
              </a:rPr>
              <a:t>choosing</a:t>
            </a:r>
            <a:r>
              <a:rPr lang="en-US" sz="2400" spc="-40" dirty="0">
                <a:ea typeface="Calibri" panose="020F0502020204030204" pitchFamily="34" charset="0"/>
                <a:cs typeface="Times New Roman" panose="02020603050405020304" pitchFamily="18" charset="0"/>
              </a:rPr>
              <a:t> </a:t>
            </a:r>
          </a:p>
          <a:p>
            <a:pPr marR="73660">
              <a:lnSpc>
                <a:spcPct val="100000"/>
              </a:lnSpc>
              <a:spcBef>
                <a:spcPts val="0"/>
              </a:spcBef>
              <a:spcAft>
                <a:spcPts val="0"/>
              </a:spcAft>
            </a:pPr>
            <a:r>
              <a:rPr lang="en-US" sz="2400" b="1" u="sng" dirty="0">
                <a:solidFill>
                  <a:srgbClr val="0070C0"/>
                </a:solidFill>
                <a:ea typeface="Calibri" panose="020F0502020204030204" pitchFamily="34" charset="0"/>
                <a:cs typeface="Times New Roman" panose="02020603050405020304" pitchFamily="18" charset="0"/>
              </a:rPr>
              <a:t>Pair up in groups of 2-5 to produce a paper.</a:t>
            </a:r>
          </a:p>
          <a:p>
            <a:pPr marR="73660">
              <a:lnSpc>
                <a:spcPct val="100000"/>
              </a:lnSpc>
              <a:spcBef>
                <a:spcPts val="0"/>
              </a:spcBef>
              <a:spcAft>
                <a:spcPts val="0"/>
              </a:spcAft>
            </a:pPr>
            <a:r>
              <a:rPr lang="en-US" sz="2400" spc="-5" dirty="0">
                <a:ea typeface="Calibri" panose="020F0502020204030204" pitchFamily="34" charset="0"/>
                <a:cs typeface="Times New Roman" panose="02020603050405020304" pitchFamily="18" charset="0"/>
              </a:rPr>
              <a:t>Research question &amp; paper structure should match your emphasis but incorporate methods learned in this course </a:t>
            </a:r>
          </a:p>
          <a:p>
            <a:pPr marR="73660">
              <a:lnSpc>
                <a:spcPct val="100000"/>
              </a:lnSpc>
              <a:spcBef>
                <a:spcPts val="0"/>
              </a:spcBef>
              <a:spcAft>
                <a:spcPts val="0"/>
              </a:spcAft>
            </a:pPr>
            <a:r>
              <a:rPr lang="en-US" sz="2400" spc="-5" dirty="0">
                <a:ea typeface="Calibri" panose="020F0502020204030204" pitchFamily="34" charset="0"/>
                <a:cs typeface="Times New Roman" panose="02020603050405020304" pitchFamily="18" charset="0"/>
              </a:rPr>
              <a:t>Follow structure of a leading journal</a:t>
            </a:r>
          </a:p>
          <a:p>
            <a:pPr marR="73660">
              <a:lnSpc>
                <a:spcPct val="100000"/>
              </a:lnSpc>
              <a:spcBef>
                <a:spcPts val="0"/>
              </a:spcBef>
              <a:spcAft>
                <a:spcPts val="0"/>
              </a:spcAft>
            </a:pPr>
            <a:r>
              <a:rPr lang="en-US" sz="2400" spc="-5" dirty="0">
                <a:ea typeface="Calibri" panose="020F0502020204030204" pitchFamily="34" charset="0"/>
                <a:cs typeface="Times New Roman" panose="02020603050405020304" pitchFamily="18" charset="0"/>
              </a:rPr>
              <a:t>It must also include a contribution statement listing each author’s unique role in producing the final project, agreed upon by all project team members. </a:t>
            </a:r>
          </a:p>
          <a:p>
            <a:pPr marL="0" indent="0" algn="just">
              <a:spcBef>
                <a:spcPts val="0"/>
              </a:spcBef>
              <a:spcAft>
                <a:spcPts val="0"/>
              </a:spcAft>
              <a:buNone/>
            </a:pPr>
            <a:endParaRPr lang="en-US" sz="2400" i="1" dirty="0">
              <a:ea typeface="Calibri" panose="020F0502020204030204" pitchFamily="34" charset="0"/>
              <a:cs typeface="Times New Roman" panose="02020603050405020304" pitchFamily="18" charset="0"/>
            </a:endParaRPr>
          </a:p>
          <a:p>
            <a:pPr marL="0" marR="222250" indent="0" algn="just">
              <a:spcBef>
                <a:spcPts val="45"/>
              </a:spcBef>
              <a:spcAft>
                <a:spcPts val="0"/>
              </a:spcAft>
              <a:buNone/>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id="{AB9CABD2-957B-4662-975E-DA68FC464FE1}"/>
              </a:ext>
            </a:extLst>
          </p:cNvPr>
          <p:cNvSpPr txBox="1">
            <a:spLocks/>
          </p:cNvSpPr>
          <p:nvPr/>
        </p:nvSpPr>
        <p:spPr>
          <a:xfrm>
            <a:off x="389504" y="365760"/>
            <a:ext cx="10565008"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spTree>
    <p:extLst>
      <p:ext uri="{BB962C8B-B14F-4D97-AF65-F5344CB8AC3E}">
        <p14:creationId xmlns:p14="http://schemas.microsoft.com/office/powerpoint/2010/main" val="1292192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CF9DA-D37D-5D63-4979-7D075A99C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C1DFE-2810-4019-94B4-75FB7F6C4A4C}"/>
              </a:ext>
            </a:extLst>
          </p:cNvPr>
          <p:cNvSpPr>
            <a:spLocks noGrp="1"/>
          </p:cNvSpPr>
          <p:nvPr>
            <p:ph type="title"/>
          </p:nvPr>
        </p:nvSpPr>
        <p:spPr>
          <a:xfrm>
            <a:off x="2470404" y="337710"/>
            <a:ext cx="7269480" cy="1325562"/>
          </a:xfrm>
        </p:spPr>
        <p:txBody>
          <a:bodyPr/>
          <a:lstStyle/>
          <a:p>
            <a:r>
              <a:rPr lang="en-US" dirty="0"/>
              <a:t> </a:t>
            </a:r>
          </a:p>
        </p:txBody>
      </p:sp>
      <p:sp>
        <p:nvSpPr>
          <p:cNvPr id="5" name="Title 1">
            <a:extLst>
              <a:ext uri="{FF2B5EF4-FFF2-40B4-BE49-F238E27FC236}">
                <a16:creationId xmlns:a16="http://schemas.microsoft.com/office/drawing/2014/main" id="{989B0336-F827-B90D-D2C7-28817E7AA57C}"/>
              </a:ext>
            </a:extLst>
          </p:cNvPr>
          <p:cNvSpPr txBox="1">
            <a:spLocks/>
          </p:cNvSpPr>
          <p:nvPr/>
        </p:nvSpPr>
        <p:spPr>
          <a:xfrm>
            <a:off x="389504" y="365760"/>
            <a:ext cx="10565008"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Grading Policy</a:t>
            </a:r>
          </a:p>
        </p:txBody>
      </p:sp>
      <p:sp>
        <p:nvSpPr>
          <p:cNvPr id="6" name="Content Placeholder 5">
            <a:extLst>
              <a:ext uri="{FF2B5EF4-FFF2-40B4-BE49-F238E27FC236}">
                <a16:creationId xmlns:a16="http://schemas.microsoft.com/office/drawing/2014/main" id="{8F260BFB-EB5B-C545-232B-06974C7E944B}"/>
              </a:ext>
            </a:extLst>
          </p:cNvPr>
          <p:cNvSpPr>
            <a:spLocks noGrp="1"/>
          </p:cNvSpPr>
          <p:nvPr>
            <p:ph idx="1"/>
          </p:nvPr>
        </p:nvSpPr>
        <p:spPr>
          <a:xfrm>
            <a:off x="533400" y="1171050"/>
            <a:ext cx="10134600" cy="5349240"/>
          </a:xfrm>
        </p:spPr>
        <p:txBody>
          <a:bodyPr>
            <a:normAutofit lnSpcReduction="10000"/>
          </a:bodyPr>
          <a:lstStyle/>
          <a:p>
            <a:pPr marL="0" indent="0">
              <a:buNone/>
            </a:pPr>
            <a:r>
              <a:rPr lang="en-US" sz="2200" dirty="0"/>
              <a:t>What do my grades mean? </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r>
              <a:rPr lang="en-US" b="1" dirty="0"/>
              <a:t>Excellent:</a:t>
            </a:r>
            <a:r>
              <a:rPr lang="en-US" dirty="0"/>
              <a:t> Strong evidence of original thinking; good organization; capacity to analyze and synthesize; superior grasp of subject matter with sound critical evaluations; evidence of extensive knowledge base.</a:t>
            </a:r>
          </a:p>
          <a:p>
            <a:r>
              <a:rPr lang="en-US" b="1" dirty="0"/>
              <a:t>Good:</a:t>
            </a:r>
            <a:r>
              <a:rPr lang="en-US" dirty="0"/>
              <a:t> Evidence of grasp of subject matter, some evidence of critical capacity and analytic ability; reasonable understanding of relevant issues; evidence of familiarity with literature.</a:t>
            </a:r>
          </a:p>
          <a:p>
            <a:pPr marL="0" indent="0">
              <a:buNone/>
            </a:pPr>
            <a:endParaRPr lang="en-US" sz="2200" dirty="0"/>
          </a:p>
        </p:txBody>
      </p:sp>
      <p:pic>
        <p:nvPicPr>
          <p:cNvPr id="7" name="Picture 6">
            <a:extLst>
              <a:ext uri="{FF2B5EF4-FFF2-40B4-BE49-F238E27FC236}">
                <a16:creationId xmlns:a16="http://schemas.microsoft.com/office/drawing/2014/main" id="{EC5E801F-C1E3-7CBF-867A-35E09F57EDAD}"/>
              </a:ext>
            </a:extLst>
          </p:cNvPr>
          <p:cNvPicPr>
            <a:picLocks noChangeAspect="1"/>
          </p:cNvPicPr>
          <p:nvPr/>
        </p:nvPicPr>
        <p:blipFill>
          <a:blip r:embed="rId3"/>
          <a:stretch>
            <a:fillRect/>
          </a:stretch>
        </p:blipFill>
        <p:spPr>
          <a:xfrm>
            <a:off x="685800" y="1663272"/>
            <a:ext cx="7497221" cy="3115110"/>
          </a:xfrm>
          <a:prstGeom prst="rect">
            <a:avLst/>
          </a:prstGeom>
        </p:spPr>
      </p:pic>
    </p:spTree>
    <p:extLst>
      <p:ext uri="{BB962C8B-B14F-4D97-AF65-F5344CB8AC3E}">
        <p14:creationId xmlns:p14="http://schemas.microsoft.com/office/powerpoint/2010/main" val="674758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98F6-26A7-6503-7C80-49B163BE9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4434B-6008-E258-B25C-C8D342191CB0}"/>
              </a:ext>
            </a:extLst>
          </p:cNvPr>
          <p:cNvSpPr>
            <a:spLocks noGrp="1"/>
          </p:cNvSpPr>
          <p:nvPr>
            <p:ph type="title"/>
          </p:nvPr>
        </p:nvSpPr>
        <p:spPr>
          <a:xfrm>
            <a:off x="2470404" y="337710"/>
            <a:ext cx="7269480" cy="1325562"/>
          </a:xfrm>
        </p:spPr>
        <p:txBody>
          <a:bodyPr/>
          <a:lstStyle/>
          <a:p>
            <a:r>
              <a:rPr lang="en-US" dirty="0"/>
              <a:t> </a:t>
            </a:r>
          </a:p>
        </p:txBody>
      </p:sp>
      <p:sp>
        <p:nvSpPr>
          <p:cNvPr id="5" name="Title 1">
            <a:extLst>
              <a:ext uri="{FF2B5EF4-FFF2-40B4-BE49-F238E27FC236}">
                <a16:creationId xmlns:a16="http://schemas.microsoft.com/office/drawing/2014/main" id="{B64DACE4-4084-0798-F44C-C1EC04537233}"/>
              </a:ext>
            </a:extLst>
          </p:cNvPr>
          <p:cNvSpPr txBox="1">
            <a:spLocks/>
          </p:cNvSpPr>
          <p:nvPr/>
        </p:nvSpPr>
        <p:spPr>
          <a:xfrm>
            <a:off x="389504" y="365760"/>
            <a:ext cx="10565008"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Attendance Policy</a:t>
            </a:r>
          </a:p>
        </p:txBody>
      </p:sp>
      <p:sp>
        <p:nvSpPr>
          <p:cNvPr id="6" name="Content Placeholder 5">
            <a:extLst>
              <a:ext uri="{FF2B5EF4-FFF2-40B4-BE49-F238E27FC236}">
                <a16:creationId xmlns:a16="http://schemas.microsoft.com/office/drawing/2014/main" id="{1E69C060-B606-C2CF-FB8E-22E306E006BD}"/>
              </a:ext>
            </a:extLst>
          </p:cNvPr>
          <p:cNvSpPr>
            <a:spLocks noGrp="1"/>
          </p:cNvSpPr>
          <p:nvPr>
            <p:ph idx="1"/>
          </p:nvPr>
        </p:nvSpPr>
        <p:spPr>
          <a:xfrm>
            <a:off x="389504" y="1143000"/>
            <a:ext cx="10565008" cy="5037137"/>
          </a:xfrm>
        </p:spPr>
        <p:txBody>
          <a:bodyPr/>
          <a:lstStyle/>
          <a:p>
            <a:r>
              <a:rPr lang="en-US" sz="2200" dirty="0"/>
              <a:t>This course is designed for full-time, in-person attendance. </a:t>
            </a:r>
          </a:p>
          <a:p>
            <a:r>
              <a:rPr lang="en-US" sz="2200" dirty="0"/>
              <a:t>Lectures will not be recorded and virtual attendance is not permitted per IHPME and University policy. </a:t>
            </a:r>
          </a:p>
          <a:p>
            <a:r>
              <a:rPr lang="en-US" sz="2200" dirty="0"/>
              <a:t>Students may create audio recordings of the lectures for their personal use. Recordings are intended to permit lecture content review so as to enhance understanding of the topics presented. </a:t>
            </a:r>
            <a:endParaRPr lang="en-US" dirty="0"/>
          </a:p>
        </p:txBody>
      </p:sp>
    </p:spTree>
    <p:extLst>
      <p:ext uri="{BB962C8B-B14F-4D97-AF65-F5344CB8AC3E}">
        <p14:creationId xmlns:p14="http://schemas.microsoft.com/office/powerpoint/2010/main" val="432482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457200" y="1219200"/>
            <a:ext cx="10439400" cy="4960939"/>
          </a:xfrm>
        </p:spPr>
        <p:txBody>
          <a:bodyPr>
            <a:normAutofit/>
          </a:bodyPr>
          <a:lstStyle/>
          <a:p>
            <a:pPr marL="0" indent="0">
              <a:buNone/>
            </a:pPr>
            <a:r>
              <a:rPr lang="en-US" sz="2400" b="1" dirty="0">
                <a:solidFill>
                  <a:srgbClr val="0070C0"/>
                </a:solidFill>
              </a:rPr>
              <a:t>Software.</a:t>
            </a:r>
          </a:p>
          <a:p>
            <a:r>
              <a:rPr lang="en-US" sz="2400" dirty="0"/>
              <a:t>We will use R:</a:t>
            </a:r>
            <a:endParaRPr lang="en-US" sz="2400" u="sng" dirty="0">
              <a:effectLst/>
              <a:latin typeface="Times New Roman" panose="02020603050405020304" pitchFamily="18" charset="0"/>
              <a:ea typeface="Calibri" panose="020F0502020204030204" pitchFamily="34" charset="0"/>
            </a:endParaRPr>
          </a:p>
          <a:p>
            <a:pPr lvl="1"/>
            <a:r>
              <a:rPr lang="en-US" sz="2400" dirty="0">
                <a:latin typeface="Times New Roman" panose="02020603050405020304" pitchFamily="18" charset="0"/>
              </a:rPr>
              <a:t>You are welcome to use other software</a:t>
            </a:r>
            <a:r>
              <a:rPr lang="en-US" sz="2400" i="1" u="sng" dirty="0"/>
              <a:t> if you have experience with them</a:t>
            </a:r>
            <a:r>
              <a:rPr lang="en-US" sz="2400" dirty="0">
                <a:latin typeface="Times New Roman" panose="02020603050405020304" pitchFamily="18" charset="0"/>
              </a:rPr>
              <a:t> (textbooks cover STATA/Python)</a:t>
            </a:r>
          </a:p>
          <a:p>
            <a:pPr lvl="1"/>
            <a:r>
              <a:rPr lang="en-US" sz="2400" dirty="0">
                <a:latin typeface="Times New Roman" panose="02020603050405020304" pitchFamily="18" charset="0"/>
              </a:rPr>
              <a:t>R is free! Download R </a:t>
            </a:r>
            <a:r>
              <a:rPr lang="en-US" sz="2400" dirty="0">
                <a:latin typeface="Times New Roman" panose="02020603050405020304" pitchFamily="18" charset="0"/>
                <a:hlinkClick r:id="rId3"/>
              </a:rPr>
              <a:t>here</a:t>
            </a:r>
            <a:r>
              <a:rPr lang="en-US" sz="2400" dirty="0">
                <a:latin typeface="Times New Roman" panose="02020603050405020304" pitchFamily="18" charset="0"/>
              </a:rPr>
              <a:t> and an interface RStudio </a:t>
            </a:r>
            <a:r>
              <a:rPr lang="en-US" sz="2400" dirty="0">
                <a:latin typeface="Times New Roman" panose="02020603050405020304" pitchFamily="18" charset="0"/>
                <a:hlinkClick r:id="rId4"/>
              </a:rPr>
              <a:t>here</a:t>
            </a:r>
            <a:endParaRPr lang="en-US" sz="2400" dirty="0"/>
          </a:p>
        </p:txBody>
      </p:sp>
      <p:sp>
        <p:nvSpPr>
          <p:cNvPr id="5" name="Title 1">
            <a:extLst>
              <a:ext uri="{FF2B5EF4-FFF2-40B4-BE49-F238E27FC236}">
                <a16:creationId xmlns:a16="http://schemas.microsoft.com/office/drawing/2014/main" id="{9188A289-910E-45BF-9F49-22ADDCD09BA3}"/>
              </a:ext>
            </a:extLst>
          </p:cNvPr>
          <p:cNvSpPr txBox="1">
            <a:spLocks/>
          </p:cNvSpPr>
          <p:nvPr/>
        </p:nvSpPr>
        <p:spPr>
          <a:xfrm>
            <a:off x="452363" y="365760"/>
            <a:ext cx="10502149"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pic>
        <p:nvPicPr>
          <p:cNvPr id="6" name="Picture 2" descr="RStudio - RStudio">
            <a:extLst>
              <a:ext uri="{FF2B5EF4-FFF2-40B4-BE49-F238E27FC236}">
                <a16:creationId xmlns:a16="http://schemas.microsoft.com/office/drawing/2014/main" id="{F9F5F4EC-00C7-0EE7-D691-9BCEA5421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14900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157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381000" y="1219200"/>
            <a:ext cx="10515600" cy="4960939"/>
          </a:xfrm>
        </p:spPr>
        <p:txBody>
          <a:bodyPr>
            <a:normAutofit/>
          </a:bodyPr>
          <a:lstStyle/>
          <a:p>
            <a:pPr marL="0" indent="0">
              <a:buNone/>
            </a:pPr>
            <a:r>
              <a:rPr lang="en-US" sz="2400" b="1" dirty="0">
                <a:solidFill>
                  <a:srgbClr val="0070C0"/>
                </a:solidFill>
              </a:rPr>
              <a:t>Software.</a:t>
            </a:r>
          </a:p>
          <a:p>
            <a:r>
              <a:rPr lang="en-US" sz="2400" dirty="0"/>
              <a:t>We will use R:</a:t>
            </a:r>
            <a:endParaRPr lang="en-US" sz="2400" u="sng" dirty="0">
              <a:effectLst/>
              <a:latin typeface="Times New Roman" panose="02020603050405020304" pitchFamily="18" charset="0"/>
              <a:ea typeface="Calibri" panose="020F0502020204030204" pitchFamily="34" charset="0"/>
            </a:endParaRPr>
          </a:p>
          <a:p>
            <a:pPr lvl="1"/>
            <a:r>
              <a:rPr lang="en-US" sz="2400" dirty="0">
                <a:latin typeface="Times New Roman" panose="02020603050405020304" pitchFamily="18" charset="0"/>
              </a:rPr>
              <a:t>You are welcome to use other software (textbooks cover STATA/Python)</a:t>
            </a:r>
          </a:p>
          <a:p>
            <a:pPr lvl="1"/>
            <a:r>
              <a:rPr lang="en-US" sz="2400" dirty="0">
                <a:latin typeface="Times New Roman" panose="02020603050405020304" pitchFamily="18" charset="0"/>
              </a:rPr>
              <a:t>R is free! Download R </a:t>
            </a:r>
            <a:r>
              <a:rPr lang="en-US" sz="2400" dirty="0">
                <a:latin typeface="Times New Roman" panose="02020603050405020304" pitchFamily="18" charset="0"/>
                <a:hlinkClick r:id="rId3"/>
              </a:rPr>
              <a:t>here</a:t>
            </a:r>
            <a:r>
              <a:rPr lang="en-US" sz="2400" dirty="0">
                <a:latin typeface="Times New Roman" panose="02020603050405020304" pitchFamily="18" charset="0"/>
              </a:rPr>
              <a:t> and an interface RStudio </a:t>
            </a:r>
            <a:r>
              <a:rPr lang="en-US" sz="2400" dirty="0">
                <a:latin typeface="Times New Roman" panose="02020603050405020304" pitchFamily="18" charset="0"/>
                <a:hlinkClick r:id="rId4"/>
              </a:rPr>
              <a:t>here</a:t>
            </a:r>
            <a:endParaRPr lang="en-US" sz="2400" dirty="0">
              <a:latin typeface="Times New Roman" panose="02020603050405020304" pitchFamily="18" charset="0"/>
            </a:endParaRPr>
          </a:p>
          <a:p>
            <a:r>
              <a:rPr lang="en-US" sz="2400" dirty="0" err="1">
                <a:cs typeface="Times New Roman" panose="02020603050405020304" pitchFamily="18" charset="0"/>
                <a:hlinkClick r:id="rId5"/>
              </a:rPr>
              <a:t>Github</a:t>
            </a:r>
            <a:r>
              <a:rPr lang="en-US" sz="2400" dirty="0">
                <a:cs typeface="Times New Roman" panose="02020603050405020304" pitchFamily="18" charset="0"/>
                <a:hlinkClick r:id="rId5"/>
              </a:rPr>
              <a:t> repo</a:t>
            </a:r>
            <a:endParaRPr lang="en-US" sz="2400" dirty="0">
              <a:cs typeface="Times New Roman" panose="02020603050405020304" pitchFamily="18" charset="0"/>
            </a:endParaRPr>
          </a:p>
          <a:p>
            <a:pPr lvl="1"/>
            <a:r>
              <a:rPr lang="en-US" sz="2400" dirty="0">
                <a:cs typeface="Times New Roman" panose="02020603050405020304" pitchFamily="18" charset="0"/>
              </a:rPr>
              <a:t>Contains all relevant course materials</a:t>
            </a:r>
          </a:p>
          <a:p>
            <a:pPr lvl="1"/>
            <a:r>
              <a:rPr lang="en-US" sz="2400" dirty="0">
                <a:cs typeface="Times New Roman" panose="02020603050405020304" pitchFamily="18" charset="0"/>
              </a:rPr>
              <a:t>Sample papers</a:t>
            </a:r>
          </a:p>
          <a:p>
            <a:pPr lvl="1"/>
            <a:r>
              <a:rPr lang="en-US" sz="2400" dirty="0">
                <a:cs typeface="Times New Roman" panose="02020603050405020304" pitchFamily="18" charset="0"/>
                <a:hlinkClick r:id="rId6"/>
              </a:rPr>
              <a:t>Discussion boards</a:t>
            </a:r>
            <a:endParaRPr lang="en-US" sz="2400" dirty="0"/>
          </a:p>
          <a:p>
            <a:pPr lvl="1"/>
            <a:endParaRPr lang="en-US" sz="2400" dirty="0"/>
          </a:p>
        </p:txBody>
      </p:sp>
      <p:sp>
        <p:nvSpPr>
          <p:cNvPr id="5" name="Title 1">
            <a:extLst>
              <a:ext uri="{FF2B5EF4-FFF2-40B4-BE49-F238E27FC236}">
                <a16:creationId xmlns:a16="http://schemas.microsoft.com/office/drawing/2014/main" id="{9188A289-910E-45BF-9F49-22ADDCD09BA3}"/>
              </a:ext>
            </a:extLst>
          </p:cNvPr>
          <p:cNvSpPr txBox="1">
            <a:spLocks/>
          </p:cNvSpPr>
          <p:nvPr/>
        </p:nvSpPr>
        <p:spPr>
          <a:xfrm>
            <a:off x="375705" y="365760"/>
            <a:ext cx="10578807"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spTree>
    <p:extLst>
      <p:ext uri="{BB962C8B-B14F-4D97-AF65-F5344CB8AC3E}">
        <p14:creationId xmlns:p14="http://schemas.microsoft.com/office/powerpoint/2010/main" val="248313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304800" y="1219200"/>
            <a:ext cx="11548872" cy="4960939"/>
          </a:xfrm>
        </p:spPr>
        <p:txBody>
          <a:bodyPr>
            <a:normAutofit/>
          </a:bodyPr>
          <a:lstStyle/>
          <a:p>
            <a:pPr lvl="1"/>
            <a:r>
              <a:rPr lang="en-US" sz="2400" dirty="0"/>
              <a:t>A very flexible way to implement econometric/quantitative methods!</a:t>
            </a:r>
            <a:endParaRPr lang="en-US" sz="2400" dirty="0">
              <a:solidFill>
                <a:srgbClr val="0070C0"/>
              </a:solidFill>
            </a:endParaRPr>
          </a:p>
        </p:txBody>
      </p:sp>
      <p:sp>
        <p:nvSpPr>
          <p:cNvPr id="5" name="Title 1">
            <a:extLst>
              <a:ext uri="{FF2B5EF4-FFF2-40B4-BE49-F238E27FC236}">
                <a16:creationId xmlns:a16="http://schemas.microsoft.com/office/drawing/2014/main" id="{9188A289-910E-45BF-9F49-22ADDCD09BA3}"/>
              </a:ext>
            </a:extLst>
          </p:cNvPr>
          <p:cNvSpPr txBox="1">
            <a:spLocks/>
          </p:cNvSpPr>
          <p:nvPr/>
        </p:nvSpPr>
        <p:spPr>
          <a:xfrm>
            <a:off x="299047" y="365760"/>
            <a:ext cx="11618290"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Using R</a:t>
            </a:r>
          </a:p>
        </p:txBody>
      </p:sp>
      <p:pic>
        <p:nvPicPr>
          <p:cNvPr id="9" name="Picture 8">
            <a:extLst>
              <a:ext uri="{FF2B5EF4-FFF2-40B4-BE49-F238E27FC236}">
                <a16:creationId xmlns:a16="http://schemas.microsoft.com/office/drawing/2014/main" id="{3B0825BB-F768-4AE1-9A8E-D730EE9B4612}"/>
              </a:ext>
            </a:extLst>
          </p:cNvPr>
          <p:cNvPicPr>
            <a:picLocks noChangeAspect="1"/>
          </p:cNvPicPr>
          <p:nvPr/>
        </p:nvPicPr>
        <p:blipFill>
          <a:blip r:embed="rId3"/>
          <a:stretch>
            <a:fillRect/>
          </a:stretch>
        </p:blipFill>
        <p:spPr>
          <a:xfrm>
            <a:off x="-533400" y="1663272"/>
            <a:ext cx="5870588" cy="4593067"/>
          </a:xfrm>
          <a:prstGeom prst="rect">
            <a:avLst/>
          </a:prstGeom>
        </p:spPr>
      </p:pic>
      <p:sp>
        <p:nvSpPr>
          <p:cNvPr id="7" name="TextBox 6">
            <a:extLst>
              <a:ext uri="{FF2B5EF4-FFF2-40B4-BE49-F238E27FC236}">
                <a16:creationId xmlns:a16="http://schemas.microsoft.com/office/drawing/2014/main" id="{234AECC5-4E94-866D-7666-3BD0164AA4A5}"/>
              </a:ext>
            </a:extLst>
          </p:cNvPr>
          <p:cNvSpPr txBox="1"/>
          <p:nvPr/>
        </p:nvSpPr>
        <p:spPr>
          <a:xfrm>
            <a:off x="4965701" y="1887407"/>
            <a:ext cx="6375400" cy="923330"/>
          </a:xfrm>
          <a:prstGeom prst="rect">
            <a:avLst/>
          </a:prstGeom>
          <a:solidFill>
            <a:srgbClr val="FF7C80"/>
          </a:solidFill>
        </p:spPr>
        <p:txBody>
          <a:bodyPr wrap="square">
            <a:spAutoFit/>
          </a:bodyPr>
          <a:lstStyle/>
          <a:p>
            <a:r>
              <a:rPr lang="en-CA" b="1" dirty="0">
                <a:solidFill>
                  <a:schemeClr val="bg1"/>
                </a:solidFill>
              </a:rPr>
              <a:t>“I am setting up R for the first time. Where, when, and with who we can seek extra help outside of class, if needed?”</a:t>
            </a:r>
          </a:p>
        </p:txBody>
      </p:sp>
    </p:spTree>
    <p:extLst>
      <p:ext uri="{BB962C8B-B14F-4D97-AF65-F5344CB8AC3E}">
        <p14:creationId xmlns:p14="http://schemas.microsoft.com/office/powerpoint/2010/main" val="698810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D207B-60A5-1C8B-4D3B-1DFD1ABE5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28C27-01C7-5E17-4270-137EBE3210CC}"/>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337097C7-8469-BEFD-8515-42F12C6F8AEE}"/>
              </a:ext>
            </a:extLst>
          </p:cNvPr>
          <p:cNvSpPr>
            <a:spLocks noGrp="1"/>
          </p:cNvSpPr>
          <p:nvPr>
            <p:ph idx="1"/>
          </p:nvPr>
        </p:nvSpPr>
        <p:spPr>
          <a:xfrm>
            <a:off x="304800" y="1219200"/>
            <a:ext cx="11548872" cy="4960939"/>
          </a:xfrm>
        </p:spPr>
        <p:txBody>
          <a:bodyPr>
            <a:normAutofit/>
          </a:bodyPr>
          <a:lstStyle/>
          <a:p>
            <a:pPr lvl="1"/>
            <a:r>
              <a:rPr lang="en-US" sz="2400" dirty="0"/>
              <a:t>A very flexible way to implement econometric/quantitative methods!</a:t>
            </a:r>
            <a:endParaRPr lang="en-US" sz="2400" dirty="0">
              <a:solidFill>
                <a:srgbClr val="0070C0"/>
              </a:solidFill>
            </a:endParaRPr>
          </a:p>
        </p:txBody>
      </p:sp>
      <p:sp>
        <p:nvSpPr>
          <p:cNvPr id="5" name="Title 1">
            <a:extLst>
              <a:ext uri="{FF2B5EF4-FFF2-40B4-BE49-F238E27FC236}">
                <a16:creationId xmlns:a16="http://schemas.microsoft.com/office/drawing/2014/main" id="{A592C832-2382-8F27-E5CB-443EAEF2D949}"/>
              </a:ext>
            </a:extLst>
          </p:cNvPr>
          <p:cNvSpPr txBox="1">
            <a:spLocks/>
          </p:cNvSpPr>
          <p:nvPr/>
        </p:nvSpPr>
        <p:spPr>
          <a:xfrm>
            <a:off x="299047" y="365760"/>
            <a:ext cx="11618290"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Using R</a:t>
            </a:r>
          </a:p>
        </p:txBody>
      </p:sp>
      <p:pic>
        <p:nvPicPr>
          <p:cNvPr id="9" name="Picture 8">
            <a:extLst>
              <a:ext uri="{FF2B5EF4-FFF2-40B4-BE49-F238E27FC236}">
                <a16:creationId xmlns:a16="http://schemas.microsoft.com/office/drawing/2014/main" id="{6E657D23-ADC2-C4B7-E945-97FADC05D3E0}"/>
              </a:ext>
            </a:extLst>
          </p:cNvPr>
          <p:cNvPicPr>
            <a:picLocks noChangeAspect="1"/>
          </p:cNvPicPr>
          <p:nvPr/>
        </p:nvPicPr>
        <p:blipFill>
          <a:blip r:embed="rId3"/>
          <a:stretch>
            <a:fillRect/>
          </a:stretch>
        </p:blipFill>
        <p:spPr>
          <a:xfrm>
            <a:off x="-533400" y="1663272"/>
            <a:ext cx="5870588" cy="4593067"/>
          </a:xfrm>
          <a:prstGeom prst="rect">
            <a:avLst/>
          </a:prstGeom>
        </p:spPr>
      </p:pic>
      <p:sp>
        <p:nvSpPr>
          <p:cNvPr id="3" name="TextBox 2">
            <a:extLst>
              <a:ext uri="{FF2B5EF4-FFF2-40B4-BE49-F238E27FC236}">
                <a16:creationId xmlns:a16="http://schemas.microsoft.com/office/drawing/2014/main" id="{0E7E5E1D-9A00-68D9-DD9B-5DE7DC92D319}"/>
              </a:ext>
            </a:extLst>
          </p:cNvPr>
          <p:cNvSpPr txBox="1"/>
          <p:nvPr/>
        </p:nvSpPr>
        <p:spPr>
          <a:xfrm>
            <a:off x="5337188" y="2971800"/>
            <a:ext cx="5334000"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Make sure R is installed and setup (with Copilot!)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Assignment 0 (we will spend time going over some of this this/next time)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HAD5772 makes a great foundational course!</a:t>
            </a:r>
          </a:p>
        </p:txBody>
      </p:sp>
      <p:sp>
        <p:nvSpPr>
          <p:cNvPr id="7" name="TextBox 6">
            <a:extLst>
              <a:ext uri="{FF2B5EF4-FFF2-40B4-BE49-F238E27FC236}">
                <a16:creationId xmlns:a16="http://schemas.microsoft.com/office/drawing/2014/main" id="{9502557D-4C37-B0B8-D832-E13838E86111}"/>
              </a:ext>
            </a:extLst>
          </p:cNvPr>
          <p:cNvSpPr txBox="1"/>
          <p:nvPr/>
        </p:nvSpPr>
        <p:spPr>
          <a:xfrm>
            <a:off x="4800600" y="1721316"/>
            <a:ext cx="6375400" cy="923330"/>
          </a:xfrm>
          <a:prstGeom prst="rect">
            <a:avLst/>
          </a:prstGeom>
          <a:solidFill>
            <a:srgbClr val="FF7C80"/>
          </a:solidFill>
        </p:spPr>
        <p:txBody>
          <a:bodyPr wrap="square">
            <a:spAutoFit/>
          </a:bodyPr>
          <a:lstStyle/>
          <a:p>
            <a:r>
              <a:rPr lang="en-CA" b="1" dirty="0">
                <a:solidFill>
                  <a:schemeClr val="bg1"/>
                </a:solidFill>
              </a:rPr>
              <a:t>“I am setting up R for the first time. Where, when, and with who we can seek extra help outside of class, if needed?”</a:t>
            </a:r>
          </a:p>
        </p:txBody>
      </p:sp>
    </p:spTree>
    <p:extLst>
      <p:ext uri="{BB962C8B-B14F-4D97-AF65-F5344CB8AC3E}">
        <p14:creationId xmlns:p14="http://schemas.microsoft.com/office/powerpoint/2010/main" val="3749820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272396"/>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1261872" y="1066800"/>
            <a:ext cx="9634728" cy="4960939"/>
          </a:xfrm>
        </p:spPr>
        <p:txBody>
          <a:bodyPr>
            <a:normAutofit/>
          </a:bodyPr>
          <a:lstStyle/>
          <a:p>
            <a:pPr lvl="1"/>
            <a:r>
              <a:rPr lang="en-US" sz="2400" dirty="0"/>
              <a:t>We will use the </a:t>
            </a:r>
            <a:r>
              <a:rPr lang="en-US" sz="2400" b="1" dirty="0" err="1"/>
              <a:t>tidyverse</a:t>
            </a:r>
            <a:endParaRPr lang="en-US" sz="2400" b="1" dirty="0"/>
          </a:p>
          <a:p>
            <a:pPr lvl="1"/>
            <a:r>
              <a:rPr lang="en-US" sz="2400" dirty="0"/>
              <a:t>Makes R code </a:t>
            </a:r>
            <a:r>
              <a:rPr lang="en-US" sz="2400" b="1" dirty="0"/>
              <a:t>read more like English!</a:t>
            </a:r>
          </a:p>
          <a:p>
            <a:pPr lvl="1"/>
            <a:r>
              <a:rPr lang="en-US" sz="2400" dirty="0"/>
              <a:t>We will emphasize </a:t>
            </a:r>
            <a:r>
              <a:rPr lang="en-US" sz="2400" b="1" dirty="0">
                <a:solidFill>
                  <a:srgbClr val="0070C0"/>
                </a:solidFill>
              </a:rPr>
              <a:t>practical applications (e.g., coding) </a:t>
            </a:r>
            <a:r>
              <a:rPr lang="en-US" sz="2400" dirty="0"/>
              <a:t>over theory</a:t>
            </a:r>
          </a:p>
        </p:txBody>
      </p:sp>
      <p:sp>
        <p:nvSpPr>
          <p:cNvPr id="5" name="Title 1">
            <a:extLst>
              <a:ext uri="{FF2B5EF4-FFF2-40B4-BE49-F238E27FC236}">
                <a16:creationId xmlns:a16="http://schemas.microsoft.com/office/drawing/2014/main" id="{9188A289-910E-45BF-9F49-22ADDCD09BA3}"/>
              </a:ext>
            </a:extLst>
          </p:cNvPr>
          <p:cNvSpPr txBox="1">
            <a:spLocks/>
          </p:cNvSpPr>
          <p:nvPr/>
        </p:nvSpPr>
        <p:spPr>
          <a:xfrm>
            <a:off x="1261872" y="365760"/>
            <a:ext cx="9692640"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Using R</a:t>
            </a:r>
          </a:p>
        </p:txBody>
      </p:sp>
      <p:pic>
        <p:nvPicPr>
          <p:cNvPr id="7" name="Picture 6">
            <a:extLst>
              <a:ext uri="{FF2B5EF4-FFF2-40B4-BE49-F238E27FC236}">
                <a16:creationId xmlns:a16="http://schemas.microsoft.com/office/drawing/2014/main" id="{F85D38ED-CB4B-CDF1-5898-816A8EC8011C}"/>
              </a:ext>
            </a:extLst>
          </p:cNvPr>
          <p:cNvPicPr>
            <a:picLocks noChangeAspect="1"/>
          </p:cNvPicPr>
          <p:nvPr/>
        </p:nvPicPr>
        <p:blipFill>
          <a:blip r:embed="rId3"/>
          <a:stretch>
            <a:fillRect/>
          </a:stretch>
        </p:blipFill>
        <p:spPr>
          <a:xfrm>
            <a:off x="1676400" y="2297139"/>
            <a:ext cx="7954519" cy="4560861"/>
          </a:xfrm>
          <a:prstGeom prst="rect">
            <a:avLst/>
          </a:prstGeom>
        </p:spPr>
      </p:pic>
    </p:spTree>
    <p:extLst>
      <p:ext uri="{BB962C8B-B14F-4D97-AF65-F5344CB8AC3E}">
        <p14:creationId xmlns:p14="http://schemas.microsoft.com/office/powerpoint/2010/main" val="3112479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272396"/>
            <a:ext cx="7269480" cy="1325562"/>
          </a:xfrm>
        </p:spPr>
        <p:txBody>
          <a:bodyPr/>
          <a:lstStyle/>
          <a:p>
            <a:r>
              <a:rPr lang="en-US" dirty="0"/>
              <a:t> </a:t>
            </a:r>
          </a:p>
        </p:txBody>
      </p:sp>
      <p:pic>
        <p:nvPicPr>
          <p:cNvPr id="6" name="Content Placeholder 5">
            <a:extLst>
              <a:ext uri="{FF2B5EF4-FFF2-40B4-BE49-F238E27FC236}">
                <a16:creationId xmlns:a16="http://schemas.microsoft.com/office/drawing/2014/main" id="{B7692B18-F381-2632-2CBD-1E4711EEBB59}"/>
              </a:ext>
            </a:extLst>
          </p:cNvPr>
          <p:cNvPicPr>
            <a:picLocks noGrp="1" noChangeAspect="1"/>
          </p:cNvPicPr>
          <p:nvPr>
            <p:ph idx="1"/>
          </p:nvPr>
        </p:nvPicPr>
        <p:blipFill>
          <a:blip r:embed="rId3"/>
          <a:stretch>
            <a:fillRect/>
          </a:stretch>
        </p:blipFill>
        <p:spPr>
          <a:xfrm>
            <a:off x="1261872" y="1746069"/>
            <a:ext cx="7643834" cy="4746171"/>
          </a:xfrm>
        </p:spPr>
      </p:pic>
      <p:sp>
        <p:nvSpPr>
          <p:cNvPr id="5" name="Title 1">
            <a:extLst>
              <a:ext uri="{FF2B5EF4-FFF2-40B4-BE49-F238E27FC236}">
                <a16:creationId xmlns:a16="http://schemas.microsoft.com/office/drawing/2014/main" id="{9188A289-910E-45BF-9F49-22ADDCD09BA3}"/>
              </a:ext>
            </a:extLst>
          </p:cNvPr>
          <p:cNvSpPr txBox="1">
            <a:spLocks/>
          </p:cNvSpPr>
          <p:nvPr/>
        </p:nvSpPr>
        <p:spPr>
          <a:xfrm>
            <a:off x="1261872" y="365760"/>
            <a:ext cx="9692640"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Using R: A Trial of Patience/Faith/Etc. </a:t>
            </a:r>
          </a:p>
        </p:txBody>
      </p:sp>
      <p:sp>
        <p:nvSpPr>
          <p:cNvPr id="3" name="TextBox 2">
            <a:extLst>
              <a:ext uri="{FF2B5EF4-FFF2-40B4-BE49-F238E27FC236}">
                <a16:creationId xmlns:a16="http://schemas.microsoft.com/office/drawing/2014/main" id="{0A2072EC-227B-3E59-F9C4-2AC123F8D610}"/>
              </a:ext>
            </a:extLst>
          </p:cNvPr>
          <p:cNvSpPr txBox="1"/>
          <p:nvPr/>
        </p:nvSpPr>
        <p:spPr>
          <a:xfrm>
            <a:off x="1371600" y="1291111"/>
            <a:ext cx="8324715" cy="461665"/>
          </a:xfrm>
          <a:prstGeom prst="rect">
            <a:avLst/>
          </a:prstGeom>
          <a:noFill/>
        </p:spPr>
        <p:txBody>
          <a:bodyPr wrap="none" rtlCol="0">
            <a:spAutoFit/>
          </a:bodyPr>
          <a:lstStyle/>
          <a:p>
            <a:pPr marL="342900" indent="-342900">
              <a:buFont typeface="Arial" panose="020B0604020202020204" pitchFamily="34" charset="0"/>
              <a:buChar char="•"/>
            </a:pPr>
            <a:r>
              <a:rPr lang="en-CA" sz="2400" dirty="0">
                <a:latin typeface="Times New Roman" panose="02020603050405020304" pitchFamily="18" charset="0"/>
                <a:cs typeface="Times New Roman" panose="02020603050405020304" pitchFamily="18" charset="0"/>
              </a:rPr>
              <a:t>Mini-modules: </a:t>
            </a:r>
            <a:r>
              <a:rPr lang="en-CA" sz="2400" dirty="0">
                <a:latin typeface="Times New Roman" panose="02020603050405020304" pitchFamily="18" charset="0"/>
                <a:cs typeface="Times New Roman" panose="02020603050405020304" pitchFamily="18" charset="0"/>
                <a:hlinkClick r:id="rId4"/>
              </a:rPr>
              <a:t>https://jacobjameson.github.io/Intro%20R.html</a:t>
            </a:r>
            <a:r>
              <a:rPr lang="en-CA"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66985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68E5BA-C675-4302-ABDA-3EFDD6418FDE}"/>
              </a:ext>
            </a:extLst>
          </p:cNvPr>
          <p:cNvSpPr>
            <a:spLocks noGrp="1"/>
          </p:cNvSpPr>
          <p:nvPr>
            <p:ph idx="1"/>
          </p:nvPr>
        </p:nvSpPr>
        <p:spPr>
          <a:xfrm>
            <a:off x="2470404" y="1608139"/>
            <a:ext cx="7359396" cy="4572000"/>
          </a:xfrm>
        </p:spPr>
        <p:txBody>
          <a:bodyPr/>
          <a:lstStyle/>
          <a:p>
            <a:pPr lvl="1"/>
            <a:endParaRPr lang="en-US" dirty="0"/>
          </a:p>
          <a:p>
            <a:pPr lvl="1"/>
            <a:endParaRPr lang="en-US" dirty="0"/>
          </a:p>
        </p:txBody>
      </p:sp>
      <p:pic>
        <p:nvPicPr>
          <p:cNvPr id="5" name="Picture 4">
            <a:extLst>
              <a:ext uri="{FF2B5EF4-FFF2-40B4-BE49-F238E27FC236}">
                <a16:creationId xmlns:a16="http://schemas.microsoft.com/office/drawing/2014/main" id="{C85A759E-37EC-4ED5-8E18-EBA16CB0DB6A}"/>
              </a:ext>
            </a:extLst>
          </p:cNvPr>
          <p:cNvPicPr>
            <a:picLocks noChangeAspect="1"/>
          </p:cNvPicPr>
          <p:nvPr/>
        </p:nvPicPr>
        <p:blipFill>
          <a:blip r:embed="rId3"/>
          <a:stretch>
            <a:fillRect/>
          </a:stretch>
        </p:blipFill>
        <p:spPr>
          <a:xfrm>
            <a:off x="1345692" y="1143000"/>
            <a:ext cx="3912108" cy="5540090"/>
          </a:xfrm>
          <a:prstGeom prst="rect">
            <a:avLst/>
          </a:prstGeom>
        </p:spPr>
      </p:pic>
      <p:pic>
        <p:nvPicPr>
          <p:cNvPr id="7" name="Picture 6">
            <a:extLst>
              <a:ext uri="{FF2B5EF4-FFF2-40B4-BE49-F238E27FC236}">
                <a16:creationId xmlns:a16="http://schemas.microsoft.com/office/drawing/2014/main" id="{C01CE479-C2C6-43B0-8562-8B99B35CC6F1}"/>
              </a:ext>
            </a:extLst>
          </p:cNvPr>
          <p:cNvPicPr>
            <a:picLocks noChangeAspect="1"/>
          </p:cNvPicPr>
          <p:nvPr/>
        </p:nvPicPr>
        <p:blipFill>
          <a:blip r:embed="rId4"/>
          <a:stretch>
            <a:fillRect/>
          </a:stretch>
        </p:blipFill>
        <p:spPr>
          <a:xfrm>
            <a:off x="5444750" y="1138792"/>
            <a:ext cx="3623049" cy="5560633"/>
          </a:xfrm>
          <a:prstGeom prst="rect">
            <a:avLst/>
          </a:prstGeom>
        </p:spPr>
      </p:pic>
      <p:sp>
        <p:nvSpPr>
          <p:cNvPr id="6" name="Title 1">
            <a:extLst>
              <a:ext uri="{FF2B5EF4-FFF2-40B4-BE49-F238E27FC236}">
                <a16:creationId xmlns:a16="http://schemas.microsoft.com/office/drawing/2014/main" id="{2447C70A-E8CD-4D7B-8C00-FF6EC3DCB236}"/>
              </a:ext>
            </a:extLst>
          </p:cNvPr>
          <p:cNvSpPr txBox="1">
            <a:spLocks/>
          </p:cNvSpPr>
          <p:nvPr/>
        </p:nvSpPr>
        <p:spPr>
          <a:xfrm>
            <a:off x="1261872" y="365760"/>
            <a:ext cx="9692640"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Introduction &amp; Syllabus</a:t>
            </a:r>
          </a:p>
        </p:txBody>
      </p:sp>
      <p:sp>
        <p:nvSpPr>
          <p:cNvPr id="8" name="Title 7">
            <a:extLst>
              <a:ext uri="{FF2B5EF4-FFF2-40B4-BE49-F238E27FC236}">
                <a16:creationId xmlns:a16="http://schemas.microsoft.com/office/drawing/2014/main" id="{D13B5070-8B01-4C63-9F2E-79CAC4D00929}"/>
              </a:ext>
            </a:extLst>
          </p:cNvPr>
          <p:cNvSpPr>
            <a:spLocks noGrp="1"/>
          </p:cNvSpPr>
          <p:nvPr>
            <p:ph type="title"/>
          </p:nvPr>
        </p:nvSpPr>
        <p:spPr/>
        <p:txBody>
          <a:bodyPr/>
          <a:lstStyle/>
          <a:p>
            <a:r>
              <a:rPr lang="en-US" dirty="0"/>
              <a:t> </a:t>
            </a:r>
          </a:p>
        </p:txBody>
      </p:sp>
    </p:spTree>
    <p:extLst>
      <p:ext uri="{BB962C8B-B14F-4D97-AF65-F5344CB8AC3E}">
        <p14:creationId xmlns:p14="http://schemas.microsoft.com/office/powerpoint/2010/main" val="1420699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7591-F0FD-5A4E-1A09-7FCE0482A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3C384-4380-72BA-8091-750AE25D1A38}"/>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FC0976F2-5A75-A5AC-DA79-3D596E92E347}"/>
              </a:ext>
            </a:extLst>
          </p:cNvPr>
          <p:cNvSpPr>
            <a:spLocks noGrp="1"/>
          </p:cNvSpPr>
          <p:nvPr>
            <p:ph idx="1"/>
          </p:nvPr>
        </p:nvSpPr>
        <p:spPr>
          <a:xfrm>
            <a:off x="228600" y="1219200"/>
            <a:ext cx="10668000" cy="4960939"/>
          </a:xfrm>
        </p:spPr>
        <p:txBody>
          <a:bodyPr>
            <a:noAutofit/>
          </a:bodyPr>
          <a:lstStyle/>
          <a:p>
            <a:pPr marL="0" indent="0">
              <a:buNone/>
            </a:pPr>
            <a:r>
              <a:rPr lang="en-US" sz="2800" dirty="0">
                <a:cs typeface="Times New Roman" panose="02020603050405020304" pitchFamily="18" charset="0"/>
              </a:rPr>
              <a:t>Course policy on generative AI: use it carefully, take responsibility for your work (and learning), and do not plagiarize</a:t>
            </a:r>
          </a:p>
          <a:p>
            <a:pPr marL="0" indent="0">
              <a:buNone/>
            </a:pPr>
            <a:r>
              <a:rPr lang="en-US" sz="2800" dirty="0">
                <a:cs typeface="Times New Roman" panose="02020603050405020304" pitchFamily="18" charset="0"/>
              </a:rPr>
              <a:t>Generative AI has </a:t>
            </a:r>
            <a:r>
              <a:rPr lang="en-US" sz="2800" b="1" dirty="0">
                <a:cs typeface="Times New Roman" panose="02020603050405020304" pitchFamily="18" charset="0"/>
              </a:rPr>
              <a:t>strengths </a:t>
            </a:r>
            <a:r>
              <a:rPr lang="en-US" sz="2800" dirty="0">
                <a:cs typeface="Times New Roman" panose="02020603050405020304" pitchFamily="18" charset="0"/>
              </a:rPr>
              <a:t>and </a:t>
            </a:r>
            <a:r>
              <a:rPr lang="en-US" sz="2800" b="1" dirty="0">
                <a:cs typeface="Times New Roman" panose="02020603050405020304" pitchFamily="18" charset="0"/>
              </a:rPr>
              <a:t>weaknesses</a:t>
            </a:r>
            <a:r>
              <a:rPr lang="en-US" sz="2800" dirty="0">
                <a:cs typeface="Times New Roman" panose="02020603050405020304" pitchFamily="18" charset="0"/>
              </a:rPr>
              <a:t> in quant research</a:t>
            </a:r>
          </a:p>
          <a:p>
            <a:pPr marL="0" indent="0">
              <a:buNone/>
            </a:pPr>
            <a:endParaRPr lang="en-US" sz="2800" dirty="0">
              <a:cs typeface="Times New Roman" panose="02020603050405020304" pitchFamily="18" charset="0"/>
            </a:endParaRPr>
          </a:p>
        </p:txBody>
      </p:sp>
      <p:sp>
        <p:nvSpPr>
          <p:cNvPr id="5" name="Title 1">
            <a:extLst>
              <a:ext uri="{FF2B5EF4-FFF2-40B4-BE49-F238E27FC236}">
                <a16:creationId xmlns:a16="http://schemas.microsoft.com/office/drawing/2014/main" id="{B78E58F5-C9A4-4041-DC15-D6C68385CF61}"/>
              </a:ext>
            </a:extLst>
          </p:cNvPr>
          <p:cNvSpPr txBox="1">
            <a:spLocks/>
          </p:cNvSpPr>
          <p:nvPr/>
        </p:nvSpPr>
        <p:spPr>
          <a:xfrm>
            <a:off x="222389" y="365760"/>
            <a:ext cx="10732123"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What about Chat-GPT? </a:t>
            </a:r>
          </a:p>
        </p:txBody>
      </p:sp>
      <p:pic>
        <p:nvPicPr>
          <p:cNvPr id="6" name="Picture 5">
            <a:extLst>
              <a:ext uri="{FF2B5EF4-FFF2-40B4-BE49-F238E27FC236}">
                <a16:creationId xmlns:a16="http://schemas.microsoft.com/office/drawing/2014/main" id="{4536DE50-FB48-DA09-D74C-748E314E745F}"/>
              </a:ext>
            </a:extLst>
          </p:cNvPr>
          <p:cNvPicPr>
            <a:picLocks noChangeAspect="1"/>
          </p:cNvPicPr>
          <p:nvPr/>
        </p:nvPicPr>
        <p:blipFill>
          <a:blip r:embed="rId3"/>
          <a:stretch>
            <a:fillRect/>
          </a:stretch>
        </p:blipFill>
        <p:spPr>
          <a:xfrm>
            <a:off x="304800" y="2667000"/>
            <a:ext cx="9067800" cy="4297785"/>
          </a:xfrm>
          <a:prstGeom prst="rect">
            <a:avLst/>
          </a:prstGeom>
        </p:spPr>
      </p:pic>
    </p:spTree>
    <p:extLst>
      <p:ext uri="{BB962C8B-B14F-4D97-AF65-F5344CB8AC3E}">
        <p14:creationId xmlns:p14="http://schemas.microsoft.com/office/powerpoint/2010/main" val="878995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22CE-DA7B-FCDC-95B9-CA557AAA4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30900-102F-847F-883F-B464607C284F}"/>
              </a:ext>
            </a:extLst>
          </p:cNvPr>
          <p:cNvSpPr>
            <a:spLocks noGrp="1"/>
          </p:cNvSpPr>
          <p:nvPr>
            <p:ph type="title"/>
          </p:nvPr>
        </p:nvSpPr>
        <p:spPr>
          <a:xfrm>
            <a:off x="2470404" y="337710"/>
            <a:ext cx="7269480" cy="1325562"/>
          </a:xfrm>
        </p:spPr>
        <p:txBody>
          <a:bodyPr/>
          <a:lstStyle/>
          <a:p>
            <a:r>
              <a:rPr lang="en-US" dirty="0"/>
              <a:t> </a:t>
            </a:r>
          </a:p>
        </p:txBody>
      </p:sp>
      <p:sp>
        <p:nvSpPr>
          <p:cNvPr id="4" name="Content Placeholder 3">
            <a:extLst>
              <a:ext uri="{FF2B5EF4-FFF2-40B4-BE49-F238E27FC236}">
                <a16:creationId xmlns:a16="http://schemas.microsoft.com/office/drawing/2014/main" id="{565DB682-5123-8B8F-3A01-5C5DD9934A9F}"/>
              </a:ext>
            </a:extLst>
          </p:cNvPr>
          <p:cNvSpPr>
            <a:spLocks noGrp="1"/>
          </p:cNvSpPr>
          <p:nvPr>
            <p:ph idx="1"/>
          </p:nvPr>
        </p:nvSpPr>
        <p:spPr>
          <a:xfrm>
            <a:off x="228600" y="1219200"/>
            <a:ext cx="10668000" cy="4960939"/>
          </a:xfrm>
        </p:spPr>
        <p:txBody>
          <a:bodyPr>
            <a:noAutofit/>
          </a:bodyPr>
          <a:lstStyle/>
          <a:p>
            <a:pPr marL="0" indent="0">
              <a:buNone/>
            </a:pPr>
            <a:r>
              <a:rPr lang="en-US" sz="2800" dirty="0">
                <a:cs typeface="Times New Roman" panose="02020603050405020304" pitchFamily="18" charset="0"/>
              </a:rPr>
              <a:t>Course policy on generative AI: use it carefully, take responsibility for your work (and learning), and do not plagiarize</a:t>
            </a:r>
          </a:p>
          <a:p>
            <a:pPr marL="0" indent="0">
              <a:buNone/>
            </a:pPr>
            <a:r>
              <a:rPr lang="en-US" sz="2800" dirty="0">
                <a:cs typeface="Times New Roman" panose="02020603050405020304" pitchFamily="18" charset="0"/>
              </a:rPr>
              <a:t>Generative AI has </a:t>
            </a:r>
            <a:r>
              <a:rPr lang="en-US" sz="2800" b="1" dirty="0">
                <a:cs typeface="Times New Roman" panose="02020603050405020304" pitchFamily="18" charset="0"/>
              </a:rPr>
              <a:t>strengths </a:t>
            </a:r>
            <a:r>
              <a:rPr lang="en-US" sz="2800" dirty="0">
                <a:cs typeface="Times New Roman" panose="02020603050405020304" pitchFamily="18" charset="0"/>
              </a:rPr>
              <a:t>and </a:t>
            </a:r>
            <a:r>
              <a:rPr lang="en-US" sz="2800" b="1" dirty="0">
                <a:cs typeface="Times New Roman" panose="02020603050405020304" pitchFamily="18" charset="0"/>
              </a:rPr>
              <a:t>weaknesses</a:t>
            </a:r>
            <a:r>
              <a:rPr lang="en-US" sz="2800" dirty="0">
                <a:cs typeface="Times New Roman" panose="02020603050405020304" pitchFamily="18" charset="0"/>
              </a:rPr>
              <a:t> in quant research</a:t>
            </a:r>
          </a:p>
          <a:p>
            <a:pPr marL="0" indent="0">
              <a:buNone/>
            </a:pPr>
            <a:r>
              <a:rPr lang="en-US" sz="2800" dirty="0">
                <a:cs typeface="Times New Roman" panose="02020603050405020304" pitchFamily="18" charset="0"/>
              </a:rPr>
              <a:t>Case study: </a:t>
            </a:r>
            <a:r>
              <a:rPr lang="en-CA" sz="2800" dirty="0">
                <a:hlinkClick r:id="rId3"/>
              </a:rPr>
              <a:t>here</a:t>
            </a:r>
            <a:r>
              <a:rPr lang="en-CA" sz="2800" dirty="0"/>
              <a:t>. </a:t>
            </a:r>
            <a:endParaRPr lang="en-US" sz="2800" dirty="0">
              <a:cs typeface="Times New Roman" panose="02020603050405020304" pitchFamily="18" charset="0"/>
            </a:endParaRPr>
          </a:p>
          <a:p>
            <a:pPr marL="0" indent="0">
              <a:buNone/>
            </a:pPr>
            <a:endParaRPr lang="en-US" sz="2800" dirty="0">
              <a:cs typeface="Times New Roman" panose="02020603050405020304" pitchFamily="18" charset="0"/>
            </a:endParaRPr>
          </a:p>
        </p:txBody>
      </p:sp>
      <p:sp>
        <p:nvSpPr>
          <p:cNvPr id="5" name="Title 1">
            <a:extLst>
              <a:ext uri="{FF2B5EF4-FFF2-40B4-BE49-F238E27FC236}">
                <a16:creationId xmlns:a16="http://schemas.microsoft.com/office/drawing/2014/main" id="{59CED9AE-9FD1-F24B-AAA4-A145C86ED1FF}"/>
              </a:ext>
            </a:extLst>
          </p:cNvPr>
          <p:cNvSpPr txBox="1">
            <a:spLocks/>
          </p:cNvSpPr>
          <p:nvPr/>
        </p:nvSpPr>
        <p:spPr>
          <a:xfrm>
            <a:off x="222389" y="365760"/>
            <a:ext cx="10732123"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What about Chat-GPT? </a:t>
            </a:r>
          </a:p>
        </p:txBody>
      </p:sp>
      <p:pic>
        <p:nvPicPr>
          <p:cNvPr id="6" name="Picture 5">
            <a:extLst>
              <a:ext uri="{FF2B5EF4-FFF2-40B4-BE49-F238E27FC236}">
                <a16:creationId xmlns:a16="http://schemas.microsoft.com/office/drawing/2014/main" id="{804ACE2F-CD3D-7897-10BC-DEDFCAC3C49E}"/>
              </a:ext>
            </a:extLst>
          </p:cNvPr>
          <p:cNvPicPr>
            <a:picLocks noChangeAspect="1"/>
          </p:cNvPicPr>
          <p:nvPr/>
        </p:nvPicPr>
        <p:blipFill>
          <a:blip r:embed="rId4"/>
          <a:stretch>
            <a:fillRect/>
          </a:stretch>
        </p:blipFill>
        <p:spPr>
          <a:xfrm>
            <a:off x="1752600" y="3720093"/>
            <a:ext cx="9227312" cy="2835574"/>
          </a:xfrm>
          <a:prstGeom prst="rect">
            <a:avLst/>
          </a:prstGeom>
        </p:spPr>
      </p:pic>
    </p:spTree>
    <p:extLst>
      <p:ext uri="{BB962C8B-B14F-4D97-AF65-F5344CB8AC3E}">
        <p14:creationId xmlns:p14="http://schemas.microsoft.com/office/powerpoint/2010/main" val="1078635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D568-A3DE-4D27-9652-A8CF021A9E7A}"/>
              </a:ext>
            </a:extLst>
          </p:cNvPr>
          <p:cNvSpPr>
            <a:spLocks noGrp="1"/>
          </p:cNvSpPr>
          <p:nvPr>
            <p:ph type="title"/>
          </p:nvPr>
        </p:nvSpPr>
        <p:spPr>
          <a:xfrm>
            <a:off x="2470404" y="947309"/>
            <a:ext cx="7269480" cy="1325562"/>
          </a:xfrm>
        </p:spPr>
        <p:txBody>
          <a:bodyPr/>
          <a:lstStyle/>
          <a:p>
            <a:r>
              <a:rPr lang="en-US" sz="2400" dirty="0"/>
              <a:t> </a:t>
            </a:r>
          </a:p>
        </p:txBody>
      </p:sp>
      <p:sp>
        <p:nvSpPr>
          <p:cNvPr id="11" name="Title 1">
            <a:extLst>
              <a:ext uri="{FF2B5EF4-FFF2-40B4-BE49-F238E27FC236}">
                <a16:creationId xmlns:a16="http://schemas.microsoft.com/office/drawing/2014/main" id="{33D31E68-5318-0842-F9C0-0204ADD53CCA}"/>
              </a:ext>
            </a:extLst>
          </p:cNvPr>
          <p:cNvSpPr txBox="1">
            <a:spLocks/>
          </p:cNvSpPr>
          <p:nvPr/>
        </p:nvSpPr>
        <p:spPr>
          <a:xfrm>
            <a:off x="389504" y="152400"/>
            <a:ext cx="10565008"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Course Outline</a:t>
            </a:r>
          </a:p>
        </p:txBody>
      </p:sp>
      <p:graphicFrame>
        <p:nvGraphicFramePr>
          <p:cNvPr id="10" name="Diagram 9">
            <a:extLst>
              <a:ext uri="{FF2B5EF4-FFF2-40B4-BE49-F238E27FC236}">
                <a16:creationId xmlns:a16="http://schemas.microsoft.com/office/drawing/2014/main" id="{055445A6-B38C-F4C2-5B79-0116F78386B6}"/>
              </a:ext>
            </a:extLst>
          </p:cNvPr>
          <p:cNvGraphicFramePr/>
          <p:nvPr>
            <p:extLst>
              <p:ext uri="{D42A27DB-BD31-4B8C-83A1-F6EECF244321}">
                <p14:modId xmlns:p14="http://schemas.microsoft.com/office/powerpoint/2010/main" val="3531586563"/>
              </p:ext>
            </p:extLst>
          </p:nvPr>
        </p:nvGraphicFramePr>
        <p:xfrm>
          <a:off x="-2971800" y="713678"/>
          <a:ext cx="12831039"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5745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6C56-9176-4B92-7302-88C388790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DEB59-80D9-C528-D3F2-595002655251}"/>
              </a:ext>
            </a:extLst>
          </p:cNvPr>
          <p:cNvSpPr>
            <a:spLocks noGrp="1"/>
          </p:cNvSpPr>
          <p:nvPr>
            <p:ph type="title"/>
          </p:nvPr>
        </p:nvSpPr>
        <p:spPr>
          <a:xfrm>
            <a:off x="2470404" y="947309"/>
            <a:ext cx="7269480" cy="1325562"/>
          </a:xfrm>
        </p:spPr>
        <p:txBody>
          <a:bodyPr/>
          <a:lstStyle/>
          <a:p>
            <a:r>
              <a:rPr lang="en-US" sz="2400" dirty="0"/>
              <a:t> </a:t>
            </a:r>
          </a:p>
        </p:txBody>
      </p:sp>
      <p:sp>
        <p:nvSpPr>
          <p:cNvPr id="11" name="Title 1">
            <a:extLst>
              <a:ext uri="{FF2B5EF4-FFF2-40B4-BE49-F238E27FC236}">
                <a16:creationId xmlns:a16="http://schemas.microsoft.com/office/drawing/2014/main" id="{C686C5A2-1DC2-2864-D10C-294D26F4AFEB}"/>
              </a:ext>
            </a:extLst>
          </p:cNvPr>
          <p:cNvSpPr txBox="1">
            <a:spLocks/>
          </p:cNvSpPr>
          <p:nvPr/>
        </p:nvSpPr>
        <p:spPr>
          <a:xfrm>
            <a:off x="389504" y="152400"/>
            <a:ext cx="10565008"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Course Outline: Assignments </a:t>
            </a:r>
          </a:p>
        </p:txBody>
      </p:sp>
      <p:graphicFrame>
        <p:nvGraphicFramePr>
          <p:cNvPr id="10" name="Diagram 9">
            <a:extLst>
              <a:ext uri="{FF2B5EF4-FFF2-40B4-BE49-F238E27FC236}">
                <a16:creationId xmlns:a16="http://schemas.microsoft.com/office/drawing/2014/main" id="{09215060-1BC8-7152-6FCA-B63771D9C7C8}"/>
              </a:ext>
            </a:extLst>
          </p:cNvPr>
          <p:cNvGraphicFramePr/>
          <p:nvPr/>
        </p:nvGraphicFramePr>
        <p:xfrm>
          <a:off x="-2971800" y="713678"/>
          <a:ext cx="12831039"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4EE1F8C9-23FB-C4B6-4A18-98493DF10928}"/>
              </a:ext>
            </a:extLst>
          </p:cNvPr>
          <p:cNvSpPr txBox="1"/>
          <p:nvPr/>
        </p:nvSpPr>
        <p:spPr>
          <a:xfrm>
            <a:off x="3048000" y="2126263"/>
            <a:ext cx="4162044" cy="707886"/>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Assignment 1: foundations and data work</a:t>
            </a:r>
          </a:p>
        </p:txBody>
      </p:sp>
      <p:sp>
        <p:nvSpPr>
          <p:cNvPr id="4" name="TextBox 3">
            <a:extLst>
              <a:ext uri="{FF2B5EF4-FFF2-40B4-BE49-F238E27FC236}">
                <a16:creationId xmlns:a16="http://schemas.microsoft.com/office/drawing/2014/main" id="{980D269B-BEE5-C57E-F397-5991EE36AC7B}"/>
              </a:ext>
            </a:extLst>
          </p:cNvPr>
          <p:cNvSpPr txBox="1"/>
          <p:nvPr/>
        </p:nvSpPr>
        <p:spPr>
          <a:xfrm>
            <a:off x="3200400" y="3228945"/>
            <a:ext cx="4162044" cy="400110"/>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Assignment 2: applied regression</a:t>
            </a:r>
          </a:p>
        </p:txBody>
      </p:sp>
      <p:sp>
        <p:nvSpPr>
          <p:cNvPr id="5" name="TextBox 4">
            <a:extLst>
              <a:ext uri="{FF2B5EF4-FFF2-40B4-BE49-F238E27FC236}">
                <a16:creationId xmlns:a16="http://schemas.microsoft.com/office/drawing/2014/main" id="{C503E900-F13D-EBA2-69CC-90D475835AEB}"/>
              </a:ext>
            </a:extLst>
          </p:cNvPr>
          <p:cNvSpPr txBox="1"/>
          <p:nvPr/>
        </p:nvSpPr>
        <p:spPr>
          <a:xfrm>
            <a:off x="5867400" y="4598140"/>
            <a:ext cx="4162044" cy="400110"/>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Assignment 3: Matching/IV</a:t>
            </a:r>
          </a:p>
        </p:txBody>
      </p:sp>
      <p:sp>
        <p:nvSpPr>
          <p:cNvPr id="6" name="TextBox 5">
            <a:extLst>
              <a:ext uri="{FF2B5EF4-FFF2-40B4-BE49-F238E27FC236}">
                <a16:creationId xmlns:a16="http://schemas.microsoft.com/office/drawing/2014/main" id="{22F73B03-308E-C29C-7C58-5893021AEACE}"/>
              </a:ext>
            </a:extLst>
          </p:cNvPr>
          <p:cNvSpPr txBox="1"/>
          <p:nvPr/>
        </p:nvSpPr>
        <p:spPr>
          <a:xfrm>
            <a:off x="5867400" y="5465754"/>
            <a:ext cx="4162044" cy="400110"/>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Assignment 4: Nonlinear/DD</a:t>
            </a:r>
          </a:p>
        </p:txBody>
      </p:sp>
    </p:spTree>
    <p:extLst>
      <p:ext uri="{BB962C8B-B14F-4D97-AF65-F5344CB8AC3E}">
        <p14:creationId xmlns:p14="http://schemas.microsoft.com/office/powerpoint/2010/main" val="3111830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2C50-3E70-3B68-F4A4-7BE062641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ACFA4-7DCC-5D0B-FBA2-000999BD5E33}"/>
              </a:ext>
            </a:extLst>
          </p:cNvPr>
          <p:cNvSpPr>
            <a:spLocks noGrp="1"/>
          </p:cNvSpPr>
          <p:nvPr>
            <p:ph type="title"/>
          </p:nvPr>
        </p:nvSpPr>
        <p:spPr>
          <a:xfrm>
            <a:off x="2470404" y="947309"/>
            <a:ext cx="7269480" cy="1325562"/>
          </a:xfrm>
        </p:spPr>
        <p:txBody>
          <a:bodyPr/>
          <a:lstStyle/>
          <a:p>
            <a:r>
              <a:rPr lang="en-US" sz="2400" dirty="0"/>
              <a:t> </a:t>
            </a:r>
          </a:p>
        </p:txBody>
      </p:sp>
      <p:sp>
        <p:nvSpPr>
          <p:cNvPr id="11" name="Title 1">
            <a:extLst>
              <a:ext uri="{FF2B5EF4-FFF2-40B4-BE49-F238E27FC236}">
                <a16:creationId xmlns:a16="http://schemas.microsoft.com/office/drawing/2014/main" id="{C4DDE91B-B4DF-46A7-EECF-1FB43D523F56}"/>
              </a:ext>
            </a:extLst>
          </p:cNvPr>
          <p:cNvSpPr txBox="1">
            <a:spLocks/>
          </p:cNvSpPr>
          <p:nvPr/>
        </p:nvSpPr>
        <p:spPr>
          <a:xfrm>
            <a:off x="389504" y="152400"/>
            <a:ext cx="10565008" cy="77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latin typeface="Times New Roman" panose="02020603050405020304" pitchFamily="18" charset="0"/>
              </a:rPr>
              <a:t>Course Outline: Major papers </a:t>
            </a:r>
          </a:p>
        </p:txBody>
      </p:sp>
      <p:graphicFrame>
        <p:nvGraphicFramePr>
          <p:cNvPr id="10" name="Diagram 9">
            <a:extLst>
              <a:ext uri="{FF2B5EF4-FFF2-40B4-BE49-F238E27FC236}">
                <a16:creationId xmlns:a16="http://schemas.microsoft.com/office/drawing/2014/main" id="{1F3CDEA5-87AC-7ADE-23D7-49D1894754FC}"/>
              </a:ext>
            </a:extLst>
          </p:cNvPr>
          <p:cNvGraphicFramePr/>
          <p:nvPr/>
        </p:nvGraphicFramePr>
        <p:xfrm>
          <a:off x="-2971800" y="713678"/>
          <a:ext cx="12831039"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CAD4752C-F8AD-AB6C-FAF6-FE6CE9D9F301}"/>
              </a:ext>
            </a:extLst>
          </p:cNvPr>
          <p:cNvSpPr txBox="1"/>
          <p:nvPr/>
        </p:nvSpPr>
        <p:spPr>
          <a:xfrm>
            <a:off x="7924800" y="1132590"/>
            <a:ext cx="4314444" cy="1631216"/>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Goals: </a:t>
            </a:r>
          </a:p>
          <a:p>
            <a:pPr marL="342900" indent="-342900">
              <a:buFont typeface="Arial" panose="020B0604020202020204" pitchFamily="34" charset="0"/>
              <a:buChar char="•"/>
            </a:pPr>
            <a:r>
              <a:rPr lang="en-US" sz="2000" dirty="0">
                <a:solidFill>
                  <a:schemeClr val="bg1"/>
                </a:solidFill>
              </a:rPr>
              <a:t>Identify teams and research question </a:t>
            </a:r>
          </a:p>
          <a:p>
            <a:pPr marL="342900" indent="-342900">
              <a:buFont typeface="Arial" panose="020B0604020202020204" pitchFamily="34" charset="0"/>
              <a:buChar char="•"/>
            </a:pPr>
            <a:r>
              <a:rPr lang="en-US" sz="2000" dirty="0">
                <a:solidFill>
                  <a:schemeClr val="bg1"/>
                </a:solidFill>
              </a:rPr>
              <a:t>Find data sources</a:t>
            </a:r>
          </a:p>
          <a:p>
            <a:pPr marL="342900" indent="-342900">
              <a:buFont typeface="Arial" panose="020B0604020202020204" pitchFamily="34" charset="0"/>
              <a:buChar char="•"/>
            </a:pPr>
            <a:r>
              <a:rPr lang="en-US" sz="2000" dirty="0">
                <a:solidFill>
                  <a:schemeClr val="bg1"/>
                </a:solidFill>
              </a:rPr>
              <a:t>Start data cleaning</a:t>
            </a:r>
          </a:p>
        </p:txBody>
      </p:sp>
      <p:sp>
        <p:nvSpPr>
          <p:cNvPr id="4" name="TextBox 3">
            <a:extLst>
              <a:ext uri="{FF2B5EF4-FFF2-40B4-BE49-F238E27FC236}">
                <a16:creationId xmlns:a16="http://schemas.microsoft.com/office/drawing/2014/main" id="{9829FF4D-37B8-226C-6CF9-EB1CB5AC18A3}"/>
              </a:ext>
            </a:extLst>
          </p:cNvPr>
          <p:cNvSpPr txBox="1"/>
          <p:nvPr/>
        </p:nvSpPr>
        <p:spPr>
          <a:xfrm>
            <a:off x="7924800" y="2888907"/>
            <a:ext cx="4162044" cy="1938992"/>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Goals: </a:t>
            </a:r>
          </a:p>
          <a:p>
            <a:pPr marL="342900" indent="-342900">
              <a:buFont typeface="Arial" panose="020B0604020202020204" pitchFamily="34" charset="0"/>
              <a:buChar char="•"/>
            </a:pPr>
            <a:r>
              <a:rPr lang="en-US" sz="2000" dirty="0">
                <a:solidFill>
                  <a:schemeClr val="bg1"/>
                </a:solidFill>
              </a:rPr>
              <a:t>Identify research design</a:t>
            </a:r>
          </a:p>
          <a:p>
            <a:pPr marL="342900" indent="-342900">
              <a:buFont typeface="Arial" panose="020B0604020202020204" pitchFamily="34" charset="0"/>
              <a:buChar char="•"/>
            </a:pPr>
            <a:r>
              <a:rPr lang="en-US" sz="2000" dirty="0">
                <a:solidFill>
                  <a:schemeClr val="bg1"/>
                </a:solidFill>
              </a:rPr>
              <a:t>Advance reading</a:t>
            </a:r>
          </a:p>
          <a:p>
            <a:pPr marL="342900" indent="-342900">
              <a:buFont typeface="Arial" panose="020B0604020202020204" pitchFamily="34" charset="0"/>
              <a:buChar char="•"/>
            </a:pPr>
            <a:r>
              <a:rPr lang="en-US" sz="2000" dirty="0">
                <a:solidFill>
                  <a:schemeClr val="bg1"/>
                </a:solidFill>
              </a:rPr>
              <a:t>Data cleaning and preliminary analysis</a:t>
            </a:r>
          </a:p>
          <a:p>
            <a:pPr marL="342900" indent="-342900">
              <a:buFont typeface="Arial" panose="020B0604020202020204" pitchFamily="34" charset="0"/>
              <a:buChar char="•"/>
            </a:pPr>
            <a:r>
              <a:rPr lang="en-US" sz="2000" dirty="0">
                <a:solidFill>
                  <a:schemeClr val="bg1"/>
                </a:solidFill>
              </a:rPr>
              <a:t>Outline </a:t>
            </a:r>
          </a:p>
        </p:txBody>
      </p:sp>
      <p:sp>
        <p:nvSpPr>
          <p:cNvPr id="5" name="TextBox 4">
            <a:extLst>
              <a:ext uri="{FF2B5EF4-FFF2-40B4-BE49-F238E27FC236}">
                <a16:creationId xmlns:a16="http://schemas.microsoft.com/office/drawing/2014/main" id="{843DFFAF-91D9-05D1-3D97-E3F888FB0968}"/>
              </a:ext>
            </a:extLst>
          </p:cNvPr>
          <p:cNvSpPr txBox="1"/>
          <p:nvPr/>
        </p:nvSpPr>
        <p:spPr>
          <a:xfrm>
            <a:off x="7924800" y="4953000"/>
            <a:ext cx="4162044" cy="1631216"/>
          </a:xfrm>
          <a:prstGeom prst="rect">
            <a:avLst/>
          </a:prstGeom>
          <a:solidFill>
            <a:schemeClr val="accent2">
              <a:lumMod val="75000"/>
            </a:schemeClr>
          </a:solidFill>
          <a:ln>
            <a:solidFill>
              <a:schemeClr val="accent1"/>
            </a:solidFill>
          </a:ln>
        </p:spPr>
        <p:txBody>
          <a:bodyPr wrap="square" rtlCol="0">
            <a:spAutoFit/>
          </a:bodyPr>
          <a:lstStyle/>
          <a:p>
            <a:r>
              <a:rPr lang="en-US" sz="2000" dirty="0">
                <a:solidFill>
                  <a:schemeClr val="bg1"/>
                </a:solidFill>
              </a:rPr>
              <a:t>Goals: </a:t>
            </a:r>
          </a:p>
          <a:p>
            <a:pPr marL="342900" indent="-342900">
              <a:buFont typeface="Arial" panose="020B0604020202020204" pitchFamily="34" charset="0"/>
              <a:buChar char="•"/>
            </a:pPr>
            <a:r>
              <a:rPr lang="en-US" sz="2000" dirty="0">
                <a:solidFill>
                  <a:schemeClr val="bg1"/>
                </a:solidFill>
              </a:rPr>
              <a:t>Finalize analysis </a:t>
            </a:r>
          </a:p>
          <a:p>
            <a:pPr marL="342900" indent="-342900">
              <a:buFont typeface="Arial" panose="020B0604020202020204" pitchFamily="34" charset="0"/>
              <a:buChar char="•"/>
            </a:pPr>
            <a:r>
              <a:rPr lang="en-US" sz="2000" dirty="0">
                <a:solidFill>
                  <a:schemeClr val="bg1"/>
                </a:solidFill>
              </a:rPr>
              <a:t>Writeups</a:t>
            </a:r>
          </a:p>
          <a:p>
            <a:pPr marL="342900" indent="-342900">
              <a:buFont typeface="Arial" panose="020B0604020202020204" pitchFamily="34" charset="0"/>
              <a:buChar char="•"/>
            </a:pPr>
            <a:r>
              <a:rPr lang="en-US" sz="2000" dirty="0">
                <a:solidFill>
                  <a:schemeClr val="bg1"/>
                </a:solidFill>
              </a:rPr>
              <a:t>Paper + Presentations in December</a:t>
            </a:r>
          </a:p>
        </p:txBody>
      </p:sp>
    </p:spTree>
    <p:extLst>
      <p:ext uri="{BB962C8B-B14F-4D97-AF65-F5344CB8AC3E}">
        <p14:creationId xmlns:p14="http://schemas.microsoft.com/office/powerpoint/2010/main" val="3056320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481819"/>
            <a:ext cx="9525000" cy="1894362"/>
          </a:xfrm>
        </p:spPr>
        <p:txBody>
          <a:bodyPr>
            <a:normAutofit/>
          </a:bodyPr>
          <a:lstStyle/>
          <a:p>
            <a:r>
              <a:rPr lang="en-US" dirty="0"/>
              <a:t>Quantitative Frameworks</a:t>
            </a:r>
          </a:p>
        </p:txBody>
      </p:sp>
      <p:sp>
        <p:nvSpPr>
          <p:cNvPr id="3" name="Subtitle 2"/>
          <p:cNvSpPr>
            <a:spLocks noGrp="1"/>
          </p:cNvSpPr>
          <p:nvPr>
            <p:ph type="subTitle" idx="1"/>
          </p:nvPr>
        </p:nvSpPr>
        <p:spPr>
          <a:xfrm>
            <a:off x="2057400" y="4191000"/>
            <a:ext cx="9296400" cy="1981200"/>
          </a:xfrm>
        </p:spPr>
        <p:txBody>
          <a:bodyPr>
            <a:noAutofit/>
          </a:bodyPr>
          <a:lstStyle/>
          <a:p>
            <a:endParaRPr lang="en-US" dirty="0"/>
          </a:p>
        </p:txBody>
      </p:sp>
    </p:spTree>
    <p:extLst>
      <p:ext uri="{BB962C8B-B14F-4D97-AF65-F5344CB8AC3E}">
        <p14:creationId xmlns:p14="http://schemas.microsoft.com/office/powerpoint/2010/main" val="1640631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41961"/>
            <a:ext cx="8179628" cy="624840"/>
          </a:xfrm>
        </p:spPr>
        <p:txBody>
          <a:bodyPr>
            <a:normAutofit fontScale="90000"/>
          </a:bodyPr>
          <a:lstStyle/>
          <a:p>
            <a:r>
              <a:rPr lang="en-US" dirty="0">
                <a:latin typeface="Times New Roman" panose="02020603050405020304" pitchFamily="18" charset="0"/>
                <a:cs typeface="Times New Roman" panose="02020603050405020304" pitchFamily="18" charset="0"/>
              </a:rPr>
              <a:t>What are we aiming to do?</a:t>
            </a:r>
          </a:p>
        </p:txBody>
      </p:sp>
      <p:sp>
        <p:nvSpPr>
          <p:cNvPr id="3" name="Content Placeholder 2"/>
          <p:cNvSpPr>
            <a:spLocks noGrp="1"/>
          </p:cNvSpPr>
          <p:nvPr>
            <p:ph idx="1"/>
          </p:nvPr>
        </p:nvSpPr>
        <p:spPr>
          <a:xfrm>
            <a:off x="152400" y="1066801"/>
            <a:ext cx="9587484" cy="5141388"/>
          </a:xfrm>
        </p:spPr>
        <p:txBody>
          <a:bodyPr>
            <a:normAutofit/>
          </a:bodyPr>
          <a:lstStyle/>
          <a:p>
            <a:r>
              <a:rPr lang="en-US" sz="2400" b="1" dirty="0">
                <a:solidFill>
                  <a:schemeClr val="accent2">
                    <a:lumMod val="75000"/>
                  </a:schemeClr>
                </a:solidFill>
                <a:latin typeface="Times New Roman" panose="02020603050405020304" pitchFamily="18" charset="0"/>
                <a:cs typeface="Times New Roman" panose="02020603050405020304" pitchFamily="18" charset="0"/>
              </a:rPr>
              <a:t>Associations: </a:t>
            </a:r>
            <a:r>
              <a:rPr lang="en-US" sz="2400" dirty="0">
                <a:latin typeface="Times New Roman" panose="02020603050405020304" pitchFamily="18" charset="0"/>
                <a:cs typeface="Times New Roman" panose="02020603050405020304" pitchFamily="18" charset="0"/>
              </a:rPr>
              <a:t>What are the relationships between variables?</a:t>
            </a:r>
            <a:endParaRPr lang="en-US" sz="2400" b="1" dirty="0">
              <a:latin typeface="Times New Roman" panose="02020603050405020304" pitchFamily="18" charset="0"/>
              <a:cs typeface="Times New Roman" panose="02020603050405020304" pitchFamily="18" charset="0"/>
            </a:endParaRPr>
          </a:p>
          <a:p>
            <a:r>
              <a:rPr lang="en-US" sz="2400" dirty="0">
                <a:cs typeface="Times New Roman" panose="02020603050405020304" pitchFamily="18" charset="0"/>
              </a:rPr>
              <a:t>Key question: </a:t>
            </a:r>
            <a:r>
              <a:rPr lang="en-US" sz="2400" b="1" dirty="0">
                <a:cs typeface="Times New Roman" panose="02020603050405020304" pitchFamily="18" charset="0"/>
              </a:rPr>
              <a:t>what </a:t>
            </a:r>
            <a:r>
              <a:rPr lang="en-US" sz="2400" dirty="0">
                <a:cs typeface="Times New Roman" panose="02020603050405020304" pitchFamily="18" charset="0"/>
              </a:rPr>
              <a:t>do associations actually capture? </a:t>
            </a:r>
            <a:r>
              <a:rPr lang="en-US" sz="2400" b="1" dirty="0">
                <a:cs typeface="Times New Roman" panose="02020603050405020304" pitchFamily="18" charset="0"/>
              </a:rPr>
              <a:t>What</a:t>
            </a:r>
            <a:r>
              <a:rPr lang="en-US" sz="2400" dirty="0">
                <a:cs typeface="Times New Roman" panose="02020603050405020304" pitchFamily="18" charset="0"/>
              </a:rPr>
              <a:t> can we describe with just our data?</a:t>
            </a:r>
            <a:endParaRPr lang="en-US" sz="2400" dirty="0">
              <a:solidFill>
                <a:schemeClr val="accent2">
                  <a:lumMod val="75000"/>
                </a:schemeClr>
              </a:solidFill>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599E3-0BE7-E670-3D69-C677ACD2B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DC02B-41FB-FAB0-DEF0-9B1EFFF0DF90}"/>
              </a:ext>
            </a:extLst>
          </p:cNvPr>
          <p:cNvSpPr>
            <a:spLocks noGrp="1"/>
          </p:cNvSpPr>
          <p:nvPr>
            <p:ph type="title"/>
          </p:nvPr>
        </p:nvSpPr>
        <p:spPr>
          <a:xfrm>
            <a:off x="152400" y="441961"/>
            <a:ext cx="8179628" cy="624840"/>
          </a:xfrm>
        </p:spPr>
        <p:txBody>
          <a:bodyPr>
            <a:normAutofit fontScale="90000"/>
          </a:bodyPr>
          <a:lstStyle/>
          <a:p>
            <a:r>
              <a:rPr lang="en-US" dirty="0">
                <a:latin typeface="Times New Roman" panose="02020603050405020304" pitchFamily="18" charset="0"/>
                <a:cs typeface="Times New Roman" panose="02020603050405020304" pitchFamily="18" charset="0"/>
              </a:rPr>
              <a:t>What are we aiming to do?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333B02-20DC-150A-ACD2-C44FF0461983}"/>
                  </a:ext>
                </a:extLst>
              </p:cNvPr>
              <p:cNvSpPr>
                <a:spLocks noGrp="1"/>
              </p:cNvSpPr>
              <p:nvPr>
                <p:ph idx="1"/>
              </p:nvPr>
            </p:nvSpPr>
            <p:spPr>
              <a:xfrm>
                <a:off x="152400" y="1066801"/>
                <a:ext cx="9587484" cy="5141388"/>
              </a:xfrm>
            </p:spPr>
            <p:txBody>
              <a:bodyPr>
                <a:normAutofit/>
              </a:bodyPr>
              <a:lstStyle/>
              <a:p>
                <a:r>
                  <a:rPr lang="en-US" sz="2400" b="1" dirty="0">
                    <a:solidFill>
                      <a:schemeClr val="accent2">
                        <a:lumMod val="75000"/>
                      </a:schemeClr>
                    </a:solidFill>
                    <a:latin typeface="Times New Roman" panose="02020603050405020304" pitchFamily="18" charset="0"/>
                    <a:cs typeface="Times New Roman" panose="02020603050405020304" pitchFamily="18" charset="0"/>
                  </a:rPr>
                  <a:t>Associations: </a:t>
                </a:r>
                <a:r>
                  <a:rPr lang="en-US" sz="2400" dirty="0">
                    <a:latin typeface="Times New Roman" panose="02020603050405020304" pitchFamily="18" charset="0"/>
                    <a:cs typeface="Times New Roman" panose="02020603050405020304" pitchFamily="18" charset="0"/>
                  </a:rPr>
                  <a:t>What are the relationships between variables?</a:t>
                </a:r>
                <a:endParaRPr lang="en-US" sz="2400" b="1" dirty="0">
                  <a:latin typeface="Times New Roman" panose="02020603050405020304" pitchFamily="18" charset="0"/>
                  <a:cs typeface="Times New Roman" panose="02020603050405020304" pitchFamily="18" charset="0"/>
                </a:endParaRPr>
              </a:p>
              <a:p>
                <a:r>
                  <a:rPr lang="en-US" sz="2400" dirty="0">
                    <a:cs typeface="Times New Roman" panose="02020603050405020304" pitchFamily="18" charset="0"/>
                  </a:rPr>
                  <a:t>Key question: </a:t>
                </a:r>
                <a:r>
                  <a:rPr lang="en-US" sz="2400" b="1" dirty="0">
                    <a:cs typeface="Times New Roman" panose="02020603050405020304" pitchFamily="18" charset="0"/>
                  </a:rPr>
                  <a:t>what </a:t>
                </a:r>
                <a:r>
                  <a:rPr lang="en-US" sz="2400" dirty="0">
                    <a:cs typeface="Times New Roman" panose="02020603050405020304" pitchFamily="18" charset="0"/>
                  </a:rPr>
                  <a:t>do associations actually capture?</a:t>
                </a:r>
                <a:r>
                  <a:rPr lang="en-US" sz="2400" b="1" dirty="0">
                    <a:cs typeface="Times New Roman" panose="02020603050405020304" pitchFamily="18" charset="0"/>
                  </a:rPr>
                  <a:t> What</a:t>
                </a:r>
                <a:r>
                  <a:rPr lang="en-US" sz="2400" dirty="0">
                    <a:cs typeface="Times New Roman" panose="02020603050405020304" pitchFamily="18" charset="0"/>
                  </a:rPr>
                  <a:t> can we describe with just our data?</a:t>
                </a:r>
                <a:endParaRPr lang="en-US" sz="2400" dirty="0">
                  <a:solidFill>
                    <a:schemeClr val="accent2">
                      <a:lumMod val="75000"/>
                    </a:schemeClr>
                  </a:solidFill>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a:p>
                <a:r>
                  <a:rPr lang="en-US" sz="2400" b="1" dirty="0">
                    <a:solidFill>
                      <a:schemeClr val="accent2">
                        <a:lumMod val="75000"/>
                      </a:schemeClr>
                    </a:solidFill>
                    <a:latin typeface="Times New Roman" panose="02020603050405020304" pitchFamily="18" charset="0"/>
                    <a:cs typeface="Times New Roman" panose="02020603050405020304" pitchFamily="18" charset="0"/>
                  </a:rPr>
                  <a:t>Causal Inference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Identification of causal relationships</a:t>
                </a:r>
              </a:p>
              <a:p>
                <a:r>
                  <a:rPr lang="en-US" sz="2400" dirty="0">
                    <a:latin typeface="Times New Roman" panose="02020603050405020304" pitchFamily="18" charset="0"/>
                    <a:cs typeface="Times New Roman" panose="02020603050405020304" pitchFamily="18" charset="0"/>
                  </a:rPr>
                  <a:t>Build understanding of: </a:t>
                </a:r>
              </a:p>
              <a:p>
                <a:pPr lvl="1"/>
                <a:r>
                  <a:rPr lang="en-US" sz="2400" dirty="0">
                    <a:latin typeface="Times New Roman" panose="02020603050405020304" pitchFamily="18" charset="0"/>
                    <a:cs typeface="Times New Roman" panose="02020603050405020304" pitchFamily="18" charset="0"/>
                  </a:rPr>
                  <a:t>Causal pathways (X </a:t>
                </a:r>
                <a14:m>
                  <m:oMath xmlns:m="http://schemas.openxmlformats.org/officeDocument/2006/math">
                    <m:r>
                      <a:rPr lang="en-US" sz="2400" i="1">
                        <a:latin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 Y)</a:t>
                </a:r>
              </a:p>
              <a:p>
                <a:pPr lvl="1"/>
                <a:r>
                  <a:rPr lang="en-US" sz="2400" dirty="0">
                    <a:latin typeface="Times New Roman" panose="02020603050405020304" pitchFamily="18" charset="0"/>
                    <a:cs typeface="Times New Roman" panose="02020603050405020304" pitchFamily="18" charset="0"/>
                  </a:rPr>
                  <a:t>Directionality (</a:t>
                </a:r>
                <a:r>
                  <a:rPr lang="en-US" sz="2400" i="1" dirty="0">
                    <a:latin typeface="Times New Roman" panose="02020603050405020304" pitchFamily="18" charset="0"/>
                    <a:cs typeface="Times New Roman" panose="02020603050405020304" pitchFamily="18" charset="0"/>
                  </a:rPr>
                  <a:t>not </a:t>
                </a:r>
                <a:r>
                  <a:rPr lang="en-US" sz="2400" dirty="0">
                    <a:latin typeface="Times New Roman" panose="02020603050405020304" pitchFamily="18" charset="0"/>
                    <a:cs typeface="Times New Roman" panose="02020603050405020304" pitchFamily="18" charset="0"/>
                  </a:rPr>
                  <a:t>Y </a:t>
                </a:r>
                <a14:m>
                  <m:oMath xmlns:m="http://schemas.openxmlformats.org/officeDocument/2006/math">
                    <m:r>
                      <a:rPr lang="en-US" sz="2400" i="1">
                        <a:latin typeface="Cambria Math" panose="02040503050406030204" pitchFamily="18" charset="0"/>
                      </a:rPr>
                      <m:t>→</m:t>
                    </m:r>
                    <m:r>
                      <m:rPr>
                        <m:sty m:val="p"/>
                      </m:rPr>
                      <a:rPr lang="en-US" sz="2400">
                        <a:latin typeface="Cambria Math" panose="02040503050406030204" pitchFamily="18" charset="0"/>
                      </a:rPr>
                      <m:t>X</m:t>
                    </m:r>
                    <m:r>
                      <a:rPr lang="en-US" sz="2400">
                        <a:latin typeface="Cambria Math" panose="02040503050406030204" pitchFamily="18" charset="0"/>
                      </a:rPr>
                      <m:t>)</m:t>
                    </m:r>
                  </m:oMath>
                </a14:m>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Mechanisms (X </a:t>
                </a:r>
                <a14:m>
                  <m:oMath xmlns:m="http://schemas.openxmlformats.org/officeDocument/2006/math">
                    <m:r>
                      <a:rPr lang="en-US" sz="2400" i="1">
                        <a:latin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 A </a:t>
                </a:r>
                <a14:m>
                  <m:oMath xmlns:m="http://schemas.openxmlformats.org/officeDocument/2006/math">
                    <m:r>
                      <a:rPr lang="en-US" sz="2400" i="1">
                        <a:latin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 Y)</a:t>
                </a:r>
              </a:p>
              <a:p>
                <a:r>
                  <a:rPr lang="en-US" sz="2400" dirty="0">
                    <a:latin typeface="Times New Roman" panose="02020603050405020304" pitchFamily="18" charset="0"/>
                    <a:cs typeface="Times New Roman" panose="02020603050405020304" pitchFamily="18" charset="0"/>
                  </a:rPr>
                  <a:t>Key question: </a:t>
                </a:r>
                <a:r>
                  <a:rPr lang="en-US" sz="2400" b="1" dirty="0">
                    <a:latin typeface="Times New Roman" panose="02020603050405020304" pitchFamily="18" charset="0"/>
                    <a:cs typeface="Times New Roman" panose="02020603050405020304" pitchFamily="18" charset="0"/>
                  </a:rPr>
                  <a:t>when </a:t>
                </a:r>
                <a:r>
                  <a:rPr lang="en-US" sz="2400" dirty="0">
                    <a:latin typeface="Times New Roman" panose="02020603050405020304" pitchFamily="18" charset="0"/>
                    <a:cs typeface="Times New Roman" panose="02020603050405020304" pitchFamily="18" charset="0"/>
                  </a:rPr>
                  <a:t>can we say a relationship is </a:t>
                </a:r>
                <a:r>
                  <a:rPr lang="en-US" sz="2400" b="1" dirty="0">
                    <a:solidFill>
                      <a:schemeClr val="accent2">
                        <a:lumMod val="75000"/>
                      </a:schemeClr>
                    </a:solidFill>
                    <a:latin typeface="Times New Roman" panose="02020603050405020304" pitchFamily="18" charset="0"/>
                    <a:cs typeface="Times New Roman" panose="02020603050405020304" pitchFamily="18" charset="0"/>
                  </a:rPr>
                  <a:t>causal</a:t>
                </a:r>
                <a:r>
                  <a:rPr lang="en-US" sz="2400" b="1" dirty="0">
                    <a:latin typeface="Times New Roman" panose="02020603050405020304" pitchFamily="18" charset="0"/>
                    <a:cs typeface="Times New Roman" panose="02020603050405020304" pitchFamily="18" charset="0"/>
                  </a:rPr>
                  <a:t>? What </a:t>
                </a:r>
                <a:r>
                  <a:rPr lang="en-US" sz="2400" dirty="0">
                    <a:latin typeface="Times New Roman" panose="02020603050405020304" pitchFamily="18" charset="0"/>
                    <a:cs typeface="Times New Roman" panose="02020603050405020304" pitchFamily="18" charset="0"/>
                  </a:rPr>
                  <a:t>additional assumptions do we need?</a:t>
                </a:r>
              </a:p>
              <a:p>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D333B02-20DC-150A-ACD2-C44FF0461983}"/>
                  </a:ext>
                </a:extLst>
              </p:cNvPr>
              <p:cNvSpPr>
                <a:spLocks noGrp="1" noRot="1" noChangeAspect="1" noMove="1" noResize="1" noEditPoints="1" noAdjustHandles="1" noChangeArrowheads="1" noChangeShapeType="1" noTextEdit="1"/>
              </p:cNvSpPr>
              <p:nvPr>
                <p:ph idx="1"/>
              </p:nvPr>
            </p:nvSpPr>
            <p:spPr>
              <a:xfrm>
                <a:off x="152400" y="1066801"/>
                <a:ext cx="9587484" cy="5141388"/>
              </a:xfrm>
              <a:blipFill>
                <a:blip r:embed="rId3"/>
                <a:stretch>
                  <a:fillRect l="-445" t="-1305" r="-572" b="-2017"/>
                </a:stretch>
              </a:blipFill>
            </p:spPr>
            <p:txBody>
              <a:bodyPr/>
              <a:lstStyle/>
              <a:p>
                <a:r>
                  <a:rPr lang="en-CA">
                    <a:noFill/>
                  </a:rPr>
                  <a:t> </a:t>
                </a:r>
              </a:p>
            </p:txBody>
          </p:sp>
        </mc:Fallback>
      </mc:AlternateContent>
    </p:spTree>
    <p:extLst>
      <p:ext uri="{BB962C8B-B14F-4D97-AF65-F5344CB8AC3E}">
        <p14:creationId xmlns:p14="http://schemas.microsoft.com/office/powerpoint/2010/main" val="3488365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a:extLst>
            <a:ext uri="{FF2B5EF4-FFF2-40B4-BE49-F238E27FC236}">
              <a16:creationId xmlns:a16="http://schemas.microsoft.com/office/drawing/2014/main" id="{8DBAE5D0-48A0-4B08-AE18-7E3EE174F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8CAF1-BD39-D516-ABD0-A40043AB5E17}"/>
              </a:ext>
            </a:extLst>
          </p:cNvPr>
          <p:cNvSpPr>
            <a:spLocks noGrp="1"/>
          </p:cNvSpPr>
          <p:nvPr>
            <p:ph type="title"/>
          </p:nvPr>
        </p:nvSpPr>
        <p:spPr>
          <a:xfrm>
            <a:off x="404959" y="609601"/>
            <a:ext cx="10293857" cy="952547"/>
          </a:xfrm>
        </p:spPr>
        <p:txBody>
          <a:bodyPr anchor="b">
            <a:normAutofit/>
          </a:bodyPr>
          <a:lstStyle/>
          <a:p>
            <a:r>
              <a:rPr lang="en-US" sz="4500" dirty="0">
                <a:solidFill>
                  <a:schemeClr val="bg1"/>
                </a:solidFill>
              </a:rPr>
              <a:t>3 Types of Quantitative questions</a:t>
            </a:r>
          </a:p>
        </p:txBody>
      </p:sp>
      <p:sp>
        <p:nvSpPr>
          <p:cNvPr id="3" name="Content Placeholder 2">
            <a:extLst>
              <a:ext uri="{FF2B5EF4-FFF2-40B4-BE49-F238E27FC236}">
                <a16:creationId xmlns:a16="http://schemas.microsoft.com/office/drawing/2014/main" id="{2B4C0B7F-3A33-EF2D-3ED6-F35C1A06BCBE}"/>
              </a:ext>
            </a:extLst>
          </p:cNvPr>
          <p:cNvSpPr>
            <a:spLocks noGrp="1"/>
          </p:cNvSpPr>
          <p:nvPr>
            <p:ph idx="1"/>
          </p:nvPr>
        </p:nvSpPr>
        <p:spPr>
          <a:xfrm>
            <a:off x="4777670" y="4067818"/>
            <a:ext cx="2911070" cy="992696"/>
          </a:xfrm>
        </p:spPr>
        <p:txBody>
          <a:bodyPr numCol="1">
            <a:normAutofit/>
          </a:bodyPr>
          <a:lstStyle/>
          <a:p>
            <a:pPr marL="0" indent="0" algn="ctr">
              <a:buNone/>
            </a:pPr>
            <a:r>
              <a:rPr lang="en-US" sz="3000" b="1" dirty="0">
                <a:solidFill>
                  <a:schemeClr val="bg1"/>
                </a:solidFill>
              </a:rPr>
              <a:t>Predictive</a:t>
            </a:r>
          </a:p>
        </p:txBody>
      </p:sp>
      <p:pic>
        <p:nvPicPr>
          <p:cNvPr id="5" name="Graphic 4" descr="Magnifying glass outline">
            <a:extLst>
              <a:ext uri="{FF2B5EF4-FFF2-40B4-BE49-F238E27FC236}">
                <a16:creationId xmlns:a16="http://schemas.microsoft.com/office/drawing/2014/main" id="{EC28C02A-74D0-7302-B8BB-DBA50E6A0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0229" y="2553895"/>
            <a:ext cx="1514873" cy="1514873"/>
          </a:xfrm>
          <a:prstGeom prst="rect">
            <a:avLst/>
          </a:prstGeom>
        </p:spPr>
      </p:pic>
      <p:pic>
        <p:nvPicPr>
          <p:cNvPr id="7" name="Graphic 6" descr="Bar graph with downward trend outline">
            <a:extLst>
              <a:ext uri="{FF2B5EF4-FFF2-40B4-BE49-F238E27FC236}">
                <a16:creationId xmlns:a16="http://schemas.microsoft.com/office/drawing/2014/main" id="{4B356B8A-69DE-C16E-6078-243DEBF79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5300" y="2597438"/>
            <a:ext cx="1514873" cy="1514873"/>
          </a:xfrm>
          <a:prstGeom prst="rect">
            <a:avLst/>
          </a:prstGeom>
        </p:spPr>
      </p:pic>
      <p:pic>
        <p:nvPicPr>
          <p:cNvPr id="11" name="Graphic 10" descr="Cause And Effect outline">
            <a:extLst>
              <a:ext uri="{FF2B5EF4-FFF2-40B4-BE49-F238E27FC236}">
                <a16:creationId xmlns:a16="http://schemas.microsoft.com/office/drawing/2014/main" id="{15B7C342-4042-327B-DECC-C4429B9644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3039" y="2724179"/>
            <a:ext cx="1514873" cy="1514873"/>
          </a:xfrm>
          <a:prstGeom prst="rect">
            <a:avLst/>
          </a:prstGeom>
        </p:spPr>
      </p:pic>
      <p:sp>
        <p:nvSpPr>
          <p:cNvPr id="13" name="Content Placeholder 2">
            <a:extLst>
              <a:ext uri="{FF2B5EF4-FFF2-40B4-BE49-F238E27FC236}">
                <a16:creationId xmlns:a16="http://schemas.microsoft.com/office/drawing/2014/main" id="{83281337-201D-1DB2-5012-EF746C1C047B}"/>
              </a:ext>
            </a:extLst>
          </p:cNvPr>
          <p:cNvSpPr txBox="1">
            <a:spLocks/>
          </p:cNvSpPr>
          <p:nvPr/>
        </p:nvSpPr>
        <p:spPr>
          <a:xfrm>
            <a:off x="1495659" y="4067818"/>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Clr>
                <a:prstClr val="black"/>
              </a:buClr>
              <a:buNone/>
            </a:pPr>
            <a:r>
              <a:rPr lang="en-US" sz="3000" b="1" dirty="0">
                <a:solidFill>
                  <a:prstClr val="white"/>
                </a:solidFill>
                <a:latin typeface="Calibri" panose="020F0502020204030204"/>
              </a:rPr>
              <a:t>Descriptive</a:t>
            </a:r>
          </a:p>
        </p:txBody>
      </p:sp>
      <p:sp>
        <p:nvSpPr>
          <p:cNvPr id="14" name="Content Placeholder 2">
            <a:extLst>
              <a:ext uri="{FF2B5EF4-FFF2-40B4-BE49-F238E27FC236}">
                <a16:creationId xmlns:a16="http://schemas.microsoft.com/office/drawing/2014/main" id="{D0FD20AF-D115-28F1-801C-52AF9CC524A6}"/>
              </a:ext>
            </a:extLst>
          </p:cNvPr>
          <p:cNvSpPr txBox="1">
            <a:spLocks/>
          </p:cNvSpPr>
          <p:nvPr/>
        </p:nvSpPr>
        <p:spPr>
          <a:xfrm>
            <a:off x="7787745" y="4067818"/>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Clr>
                <a:prstClr val="black"/>
              </a:buClr>
              <a:buNone/>
            </a:pPr>
            <a:r>
              <a:rPr lang="en-US" sz="3000" b="1" dirty="0">
                <a:solidFill>
                  <a:prstClr val="white"/>
                </a:solidFill>
                <a:latin typeface="Calibri" panose="020F0502020204030204"/>
              </a:rPr>
              <a:t>Causal</a:t>
            </a:r>
          </a:p>
        </p:txBody>
      </p:sp>
      <p:cxnSp>
        <p:nvCxnSpPr>
          <p:cNvPr id="15" name="Straight Connector 14">
            <a:extLst>
              <a:ext uri="{FF2B5EF4-FFF2-40B4-BE49-F238E27FC236}">
                <a16:creationId xmlns:a16="http://schemas.microsoft.com/office/drawing/2014/main" id="{43A05352-BA32-6FA7-B576-5E8577E21F77}"/>
              </a:ext>
            </a:extLst>
          </p:cNvPr>
          <p:cNvCxnSpPr>
            <a:cxnSpLocks/>
          </p:cNvCxnSpPr>
          <p:nvPr/>
        </p:nvCxnSpPr>
        <p:spPr>
          <a:xfrm>
            <a:off x="202005" y="1817423"/>
            <a:ext cx="91941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3880971-81E8-0B26-2A87-C52E7F95FD6C}"/>
              </a:ext>
            </a:extLst>
          </p:cNvPr>
          <p:cNvSpPr txBox="1"/>
          <p:nvPr/>
        </p:nvSpPr>
        <p:spPr>
          <a:xfrm>
            <a:off x="7162800" y="6248399"/>
            <a:ext cx="4846198"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Paper: https://doi.org/10.1136/bmj-2025-085749</a:t>
            </a:r>
          </a:p>
        </p:txBody>
      </p:sp>
    </p:spTree>
    <p:extLst>
      <p:ext uri="{BB962C8B-B14F-4D97-AF65-F5344CB8AC3E}">
        <p14:creationId xmlns:p14="http://schemas.microsoft.com/office/powerpoint/2010/main" val="4073033539"/>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a:extLst>
            <a:ext uri="{FF2B5EF4-FFF2-40B4-BE49-F238E27FC236}">
              <a16:creationId xmlns:a16="http://schemas.microsoft.com/office/drawing/2014/main" id="{7079F896-BFEB-3693-399A-25F0341A8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1523D-0B00-48D7-E572-EAA095EC14C2}"/>
              </a:ext>
            </a:extLst>
          </p:cNvPr>
          <p:cNvSpPr>
            <a:spLocks noGrp="1"/>
          </p:cNvSpPr>
          <p:nvPr>
            <p:ph type="title"/>
          </p:nvPr>
        </p:nvSpPr>
        <p:spPr>
          <a:xfrm>
            <a:off x="404959" y="609601"/>
            <a:ext cx="10293857" cy="952547"/>
          </a:xfrm>
        </p:spPr>
        <p:txBody>
          <a:bodyPr anchor="b">
            <a:normAutofit/>
          </a:bodyPr>
          <a:lstStyle/>
          <a:p>
            <a:r>
              <a:rPr lang="en-US" sz="4500" dirty="0">
                <a:solidFill>
                  <a:schemeClr val="bg1"/>
                </a:solidFill>
              </a:rPr>
              <a:t>3 Types of Quantitative questions</a:t>
            </a:r>
          </a:p>
        </p:txBody>
      </p:sp>
      <p:sp>
        <p:nvSpPr>
          <p:cNvPr id="3" name="Content Placeholder 2">
            <a:extLst>
              <a:ext uri="{FF2B5EF4-FFF2-40B4-BE49-F238E27FC236}">
                <a16:creationId xmlns:a16="http://schemas.microsoft.com/office/drawing/2014/main" id="{BC5A9283-D513-EEEE-665C-A7243D049F3E}"/>
              </a:ext>
            </a:extLst>
          </p:cNvPr>
          <p:cNvSpPr>
            <a:spLocks noGrp="1"/>
          </p:cNvSpPr>
          <p:nvPr>
            <p:ph idx="1"/>
          </p:nvPr>
        </p:nvSpPr>
        <p:spPr>
          <a:xfrm>
            <a:off x="4587345" y="2971800"/>
            <a:ext cx="2911070" cy="992696"/>
          </a:xfrm>
        </p:spPr>
        <p:txBody>
          <a:bodyPr numCol="1">
            <a:normAutofit/>
          </a:bodyPr>
          <a:lstStyle/>
          <a:p>
            <a:pPr marL="0" indent="0" algn="ctr">
              <a:buNone/>
            </a:pPr>
            <a:r>
              <a:rPr lang="en-US" sz="3000" b="1" dirty="0">
                <a:solidFill>
                  <a:schemeClr val="bg1"/>
                </a:solidFill>
              </a:rPr>
              <a:t>Predictive</a:t>
            </a:r>
          </a:p>
        </p:txBody>
      </p:sp>
      <p:pic>
        <p:nvPicPr>
          <p:cNvPr id="5" name="Graphic 4" descr="Magnifying glass outline">
            <a:extLst>
              <a:ext uri="{FF2B5EF4-FFF2-40B4-BE49-F238E27FC236}">
                <a16:creationId xmlns:a16="http://schemas.microsoft.com/office/drawing/2014/main" id="{DEC31918-861C-458D-3F25-B1EA7CCBD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60098" y="2057546"/>
            <a:ext cx="1514873" cy="1514873"/>
          </a:xfrm>
          <a:prstGeom prst="rect">
            <a:avLst/>
          </a:prstGeom>
        </p:spPr>
      </p:pic>
      <p:pic>
        <p:nvPicPr>
          <p:cNvPr id="7" name="Graphic 6" descr="Bar graph with downward trend outline">
            <a:extLst>
              <a:ext uri="{FF2B5EF4-FFF2-40B4-BE49-F238E27FC236}">
                <a16:creationId xmlns:a16="http://schemas.microsoft.com/office/drawing/2014/main" id="{330F4F20-3467-AFD4-1204-2DA567589F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48238" y="1929908"/>
            <a:ext cx="1514873" cy="1514873"/>
          </a:xfrm>
          <a:prstGeom prst="rect">
            <a:avLst/>
          </a:prstGeom>
        </p:spPr>
      </p:pic>
      <p:pic>
        <p:nvPicPr>
          <p:cNvPr id="11" name="Graphic 10" descr="Cause And Effect outline">
            <a:extLst>
              <a:ext uri="{FF2B5EF4-FFF2-40B4-BE49-F238E27FC236}">
                <a16:creationId xmlns:a16="http://schemas.microsoft.com/office/drawing/2014/main" id="{07F49CFA-88B2-B32B-43B8-CF7AB80ABD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0" y="1944693"/>
            <a:ext cx="1514873" cy="1514873"/>
          </a:xfrm>
          <a:prstGeom prst="rect">
            <a:avLst/>
          </a:prstGeom>
        </p:spPr>
      </p:pic>
      <p:sp>
        <p:nvSpPr>
          <p:cNvPr id="13" name="Content Placeholder 2">
            <a:extLst>
              <a:ext uri="{FF2B5EF4-FFF2-40B4-BE49-F238E27FC236}">
                <a16:creationId xmlns:a16="http://schemas.microsoft.com/office/drawing/2014/main" id="{4009C77B-D8E4-E601-7F9D-4FEBB9E7E6FA}"/>
              </a:ext>
            </a:extLst>
          </p:cNvPr>
          <p:cNvSpPr txBox="1">
            <a:spLocks/>
          </p:cNvSpPr>
          <p:nvPr/>
        </p:nvSpPr>
        <p:spPr>
          <a:xfrm>
            <a:off x="762000" y="2971800"/>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marR="0" lvl="0" indent="0" algn="ctr" defTabSz="457063" rtl="0" eaLnBrk="1" fontAlgn="auto" latinLnBrk="0" hangingPunct="1">
              <a:lnSpc>
                <a:spcPct val="100000"/>
              </a:lnSpc>
              <a:spcBef>
                <a:spcPts val="0"/>
              </a:spcBef>
              <a:spcAft>
                <a:spcPts val="1000"/>
              </a:spcAft>
              <a:buClr>
                <a:prstClr val="black"/>
              </a:buClr>
              <a:buSzPct val="100000"/>
              <a:buFont typeface="Arial"/>
              <a:buNone/>
              <a:tabLst/>
              <a:defRPr/>
            </a:pPr>
            <a:r>
              <a:rPr kumimoji="0" lang="en-US" sz="3000" b="1" i="0" u="none" strike="noStrike" kern="1200" cap="none" spc="0" normalizeH="0" baseline="0" noProof="0" dirty="0">
                <a:ln>
                  <a:noFill/>
                </a:ln>
                <a:solidFill>
                  <a:prstClr val="white"/>
                </a:solidFill>
                <a:effectLst/>
                <a:uLnTx/>
                <a:uFillTx/>
                <a:latin typeface="Calibri" panose="020F0502020204030204"/>
                <a:ea typeface="+mn-ea"/>
                <a:cs typeface="+mn-cs"/>
              </a:rPr>
              <a:t>Descriptive</a:t>
            </a:r>
          </a:p>
        </p:txBody>
      </p:sp>
      <p:sp>
        <p:nvSpPr>
          <p:cNvPr id="14" name="Content Placeholder 2">
            <a:extLst>
              <a:ext uri="{FF2B5EF4-FFF2-40B4-BE49-F238E27FC236}">
                <a16:creationId xmlns:a16="http://schemas.microsoft.com/office/drawing/2014/main" id="{2F698345-DBFF-BED4-725A-B3B6997F226F}"/>
              </a:ext>
            </a:extLst>
          </p:cNvPr>
          <p:cNvSpPr txBox="1">
            <a:spLocks/>
          </p:cNvSpPr>
          <p:nvPr/>
        </p:nvSpPr>
        <p:spPr>
          <a:xfrm>
            <a:off x="8549745" y="2971800"/>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marR="0" lvl="0" indent="0" algn="ctr" defTabSz="457063" rtl="0" eaLnBrk="1" fontAlgn="auto" latinLnBrk="0" hangingPunct="1">
              <a:lnSpc>
                <a:spcPct val="100000"/>
              </a:lnSpc>
              <a:spcBef>
                <a:spcPts val="0"/>
              </a:spcBef>
              <a:spcAft>
                <a:spcPts val="1000"/>
              </a:spcAft>
              <a:buClr>
                <a:prstClr val="black"/>
              </a:buClr>
              <a:buSzPct val="100000"/>
              <a:buFont typeface="Arial"/>
              <a:buNone/>
              <a:tabLst/>
              <a:defRPr/>
            </a:pPr>
            <a:r>
              <a:rPr kumimoji="0" lang="en-US" sz="3000" b="1" i="0" u="none" strike="noStrike" kern="1200" cap="none" spc="0" normalizeH="0" baseline="0" noProof="0" dirty="0">
                <a:ln>
                  <a:noFill/>
                </a:ln>
                <a:solidFill>
                  <a:prstClr val="white"/>
                </a:solidFill>
                <a:effectLst/>
                <a:uLnTx/>
                <a:uFillTx/>
                <a:latin typeface="Calibri" panose="020F0502020204030204"/>
                <a:ea typeface="+mn-ea"/>
                <a:cs typeface="+mn-cs"/>
              </a:rPr>
              <a:t>Causal</a:t>
            </a:r>
          </a:p>
        </p:txBody>
      </p:sp>
      <p:cxnSp>
        <p:nvCxnSpPr>
          <p:cNvPr id="15" name="Straight Connector 14">
            <a:extLst>
              <a:ext uri="{FF2B5EF4-FFF2-40B4-BE49-F238E27FC236}">
                <a16:creationId xmlns:a16="http://schemas.microsoft.com/office/drawing/2014/main" id="{6565B019-D904-2448-D6A0-740BFD99E4F8}"/>
              </a:ext>
            </a:extLst>
          </p:cNvPr>
          <p:cNvCxnSpPr>
            <a:cxnSpLocks/>
          </p:cNvCxnSpPr>
          <p:nvPr/>
        </p:nvCxnSpPr>
        <p:spPr>
          <a:xfrm>
            <a:off x="202005" y="1817423"/>
            <a:ext cx="91941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6B603735-DF58-A392-57D1-8DB328D8979C}"/>
              </a:ext>
            </a:extLst>
          </p:cNvPr>
          <p:cNvSpPr txBox="1">
            <a:spLocks/>
          </p:cNvSpPr>
          <p:nvPr/>
        </p:nvSpPr>
        <p:spPr>
          <a:xfrm>
            <a:off x="4632730" y="3426904"/>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3000" b="1" dirty="0">
                <a:solidFill>
                  <a:schemeClr val="accent1">
                    <a:lumMod val="20000"/>
                    <a:lumOff val="80000"/>
                  </a:schemeClr>
                </a:solidFill>
              </a:rPr>
              <a:t>Technical</a:t>
            </a:r>
          </a:p>
        </p:txBody>
      </p:sp>
      <p:sp>
        <p:nvSpPr>
          <p:cNvPr id="8" name="Content Placeholder 2">
            <a:extLst>
              <a:ext uri="{FF2B5EF4-FFF2-40B4-BE49-F238E27FC236}">
                <a16:creationId xmlns:a16="http://schemas.microsoft.com/office/drawing/2014/main" id="{03422EEE-C699-6485-480C-9DF17CFB4619}"/>
              </a:ext>
            </a:extLst>
          </p:cNvPr>
          <p:cNvSpPr txBox="1">
            <a:spLocks/>
          </p:cNvSpPr>
          <p:nvPr/>
        </p:nvSpPr>
        <p:spPr>
          <a:xfrm>
            <a:off x="784693" y="3425640"/>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marR="0" lvl="0" indent="0" algn="ctr" defTabSz="457063" rtl="0" eaLnBrk="1" fontAlgn="auto" latinLnBrk="0" hangingPunct="1">
              <a:lnSpc>
                <a:spcPct val="100000"/>
              </a:lnSpc>
              <a:spcBef>
                <a:spcPts val="0"/>
              </a:spcBef>
              <a:spcAft>
                <a:spcPts val="1000"/>
              </a:spcAft>
              <a:buClr>
                <a:prstClr val="black"/>
              </a:buClr>
              <a:buSzPct val="100000"/>
              <a:buFont typeface="Arial"/>
              <a:buNone/>
              <a:tabLst/>
              <a:defRPr/>
            </a:pPr>
            <a:r>
              <a:rPr kumimoji="0" lang="en-US" sz="3000" b="1" i="0" u="none" strike="noStrike" kern="1200" cap="none" spc="0" normalizeH="0" baseline="0" noProof="0" dirty="0">
                <a:ln>
                  <a:noFill/>
                </a:ln>
                <a:solidFill>
                  <a:schemeClr val="accent1">
                    <a:lumMod val="20000"/>
                    <a:lumOff val="80000"/>
                  </a:schemeClr>
                </a:solidFill>
                <a:effectLst/>
                <a:uLnTx/>
                <a:uFillTx/>
                <a:latin typeface="Calibri" panose="020F0502020204030204"/>
                <a:ea typeface="+mn-ea"/>
                <a:cs typeface="+mn-cs"/>
              </a:rPr>
              <a:t>Signature</a:t>
            </a:r>
          </a:p>
        </p:txBody>
      </p:sp>
      <p:sp>
        <p:nvSpPr>
          <p:cNvPr id="9" name="Content Placeholder 2">
            <a:extLst>
              <a:ext uri="{FF2B5EF4-FFF2-40B4-BE49-F238E27FC236}">
                <a16:creationId xmlns:a16="http://schemas.microsoft.com/office/drawing/2014/main" id="{EED838CE-11E1-95B9-8390-DF65D2380183}"/>
              </a:ext>
            </a:extLst>
          </p:cNvPr>
          <p:cNvSpPr txBox="1">
            <a:spLocks/>
          </p:cNvSpPr>
          <p:nvPr/>
        </p:nvSpPr>
        <p:spPr>
          <a:xfrm>
            <a:off x="8595130" y="3426904"/>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marR="0" lvl="0" indent="0" algn="ctr" defTabSz="457063" rtl="0" eaLnBrk="1" fontAlgn="auto" latinLnBrk="0" hangingPunct="1">
              <a:lnSpc>
                <a:spcPct val="100000"/>
              </a:lnSpc>
              <a:spcBef>
                <a:spcPts val="0"/>
              </a:spcBef>
              <a:spcAft>
                <a:spcPts val="1000"/>
              </a:spcAft>
              <a:buClr>
                <a:prstClr val="black"/>
              </a:buClr>
              <a:buSzPct val="100000"/>
              <a:buFont typeface="Arial"/>
              <a:buNone/>
              <a:tabLst/>
              <a:defRPr/>
            </a:pPr>
            <a:r>
              <a:rPr kumimoji="0" lang="en-US" sz="3000" b="1" i="0" u="none" strike="noStrike" kern="1200" cap="none" spc="0" normalizeH="0" baseline="0" noProof="0" dirty="0">
                <a:ln>
                  <a:noFill/>
                </a:ln>
                <a:solidFill>
                  <a:schemeClr val="accent1">
                    <a:lumMod val="20000"/>
                    <a:lumOff val="80000"/>
                  </a:schemeClr>
                </a:solidFill>
                <a:effectLst/>
                <a:uLnTx/>
                <a:uFillTx/>
                <a:latin typeface="Calibri" panose="020F0502020204030204"/>
                <a:ea typeface="+mn-ea"/>
                <a:cs typeface="+mn-cs"/>
              </a:rPr>
              <a:t>Showstopper</a:t>
            </a:r>
          </a:p>
        </p:txBody>
      </p:sp>
      <p:pic>
        <p:nvPicPr>
          <p:cNvPr id="10" name="Picture 9" descr="Ranked: Great British Bake Off's most spectacular showstoppers EVER |  lovefood.com">
            <a:extLst>
              <a:ext uri="{FF2B5EF4-FFF2-40B4-BE49-F238E27FC236}">
                <a16:creationId xmlns:a16="http://schemas.microsoft.com/office/drawing/2014/main" id="{A3DFD5AA-53C3-2076-DCDC-EA449DA0CBEA}"/>
              </a:ext>
            </a:extLst>
          </p:cNvPr>
          <p:cNvPicPr>
            <a:picLocks noChangeAspect="1"/>
          </p:cNvPicPr>
          <p:nvPr/>
        </p:nvPicPr>
        <p:blipFill>
          <a:blip r:embed="rId6"/>
          <a:stretch>
            <a:fillRect/>
          </a:stretch>
        </p:blipFill>
        <p:spPr>
          <a:xfrm>
            <a:off x="8534400" y="4267200"/>
            <a:ext cx="3438143" cy="2286000"/>
          </a:xfrm>
          <a:prstGeom prst="rect">
            <a:avLst/>
          </a:prstGeom>
        </p:spPr>
      </p:pic>
      <p:pic>
        <p:nvPicPr>
          <p:cNvPr id="12" name="Picture 11" descr="The Great British Baking Show Season 13, Episode 3 Recap | The Spool">
            <a:extLst>
              <a:ext uri="{FF2B5EF4-FFF2-40B4-BE49-F238E27FC236}">
                <a16:creationId xmlns:a16="http://schemas.microsoft.com/office/drawing/2014/main" id="{E1D1C48B-7915-F9A1-4468-8CFF31E1BF5A}"/>
              </a:ext>
            </a:extLst>
          </p:cNvPr>
          <p:cNvPicPr>
            <a:picLocks noChangeAspect="1"/>
          </p:cNvPicPr>
          <p:nvPr/>
        </p:nvPicPr>
        <p:blipFill>
          <a:blip r:embed="rId7"/>
          <a:stretch>
            <a:fillRect/>
          </a:stretch>
        </p:blipFill>
        <p:spPr>
          <a:xfrm>
            <a:off x="3733800" y="4267200"/>
            <a:ext cx="4681729" cy="2286000"/>
          </a:xfrm>
          <a:prstGeom prst="rect">
            <a:avLst/>
          </a:prstGeom>
        </p:spPr>
      </p:pic>
      <p:pic>
        <p:nvPicPr>
          <p:cNvPr id="16" name="Picture 15" descr="The Great British Bake Off 2024: Biscuit Week Recap - Great British Chefs">
            <a:extLst>
              <a:ext uri="{FF2B5EF4-FFF2-40B4-BE49-F238E27FC236}">
                <a16:creationId xmlns:a16="http://schemas.microsoft.com/office/drawing/2014/main" id="{15B172E1-D878-4F95-8C33-7565DD4FA62D}"/>
              </a:ext>
            </a:extLst>
          </p:cNvPr>
          <p:cNvPicPr>
            <a:picLocks noChangeAspect="1"/>
          </p:cNvPicPr>
          <p:nvPr/>
        </p:nvPicPr>
        <p:blipFill>
          <a:blip r:embed="rId8"/>
          <a:stretch>
            <a:fillRect/>
          </a:stretch>
        </p:blipFill>
        <p:spPr>
          <a:xfrm>
            <a:off x="152400" y="4267200"/>
            <a:ext cx="3425869" cy="2286000"/>
          </a:xfrm>
          <a:prstGeom prst="rect">
            <a:avLst/>
          </a:prstGeom>
        </p:spPr>
      </p:pic>
    </p:spTree>
    <p:extLst>
      <p:ext uri="{BB962C8B-B14F-4D97-AF65-F5344CB8AC3E}">
        <p14:creationId xmlns:p14="http://schemas.microsoft.com/office/powerpoint/2010/main" val="2616878611"/>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0" y="643467"/>
            <a:ext cx="5013720" cy="4995333"/>
          </a:xfrm>
        </p:spPr>
        <p:txBody>
          <a:bodyPr>
            <a:normAutofit/>
          </a:bodyPr>
          <a:lstStyle/>
          <a:p>
            <a:r>
              <a:rPr lang="en-US" b="1" dirty="0"/>
              <a:t>Descriptive Questions</a:t>
            </a:r>
          </a:p>
        </p:txBody>
      </p:sp>
      <p:graphicFrame>
        <p:nvGraphicFramePr>
          <p:cNvPr id="7" name="Content Placeholder 2">
            <a:extLst>
              <a:ext uri="{FF2B5EF4-FFF2-40B4-BE49-F238E27FC236}">
                <a16:creationId xmlns:a16="http://schemas.microsoft.com/office/drawing/2014/main" id="{453E994B-CFD3-A75F-CC20-ED2A73DA048F}"/>
              </a:ext>
            </a:extLst>
          </p:cNvPr>
          <p:cNvGraphicFramePr>
            <a:graphicFrameLocks noGrp="1"/>
          </p:cNvGraphicFramePr>
          <p:nvPr>
            <p:ph idx="1"/>
          </p:nvPr>
        </p:nvGraphicFramePr>
        <p:xfrm>
          <a:off x="5467673" y="804672"/>
          <a:ext cx="5884758"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0B3048B1-0F44-3F01-6243-20E68476C6EB}"/>
              </a:ext>
            </a:extLst>
          </p:cNvPr>
          <p:cNvCxnSpPr>
            <a:cxnSpLocks/>
          </p:cNvCxnSpPr>
          <p:nvPr/>
        </p:nvCxnSpPr>
        <p:spPr>
          <a:xfrm>
            <a:off x="6096000" y="643467"/>
            <a:ext cx="0" cy="5409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65346" y="643463"/>
            <a:ext cx="3705797" cy="1608124"/>
          </a:xfrm>
        </p:spPr>
        <p:txBody>
          <a:bodyPr>
            <a:normAutofit/>
          </a:bodyPr>
          <a:lstStyle/>
          <a:p>
            <a:pPr>
              <a:lnSpc>
                <a:spcPct val="90000"/>
              </a:lnSpc>
            </a:pPr>
            <a:r>
              <a:rPr lang="en-US"/>
              <a:t>Descriptive papers are storytelling</a:t>
            </a:r>
          </a:p>
        </p:txBody>
      </p:sp>
      <p:sp>
        <p:nvSpPr>
          <p:cNvPr id="3" name="Content Placeholder 2"/>
          <p:cNvSpPr>
            <a:spLocks noGrp="1"/>
          </p:cNvSpPr>
          <p:nvPr>
            <p:ph idx="1"/>
          </p:nvPr>
        </p:nvSpPr>
        <p:spPr>
          <a:xfrm>
            <a:off x="7865346" y="2251587"/>
            <a:ext cx="3705797" cy="3972232"/>
          </a:xfrm>
        </p:spPr>
        <p:txBody>
          <a:bodyPr>
            <a:normAutofit/>
          </a:bodyPr>
          <a:lstStyle/>
          <a:p>
            <a:r>
              <a:rPr dirty="0"/>
              <a:t>Summary statistics (mean, median, rates)</a:t>
            </a:r>
          </a:p>
          <a:p>
            <a:r>
              <a:rPr dirty="0"/>
              <a:t>Cross-tabulations</a:t>
            </a:r>
          </a:p>
          <a:p>
            <a:r>
              <a:rPr dirty="0"/>
              <a:t>Time trends and line plots</a:t>
            </a:r>
          </a:p>
          <a:p>
            <a:r>
              <a:rPr dirty="0"/>
              <a:t>Histograms and bar charts</a:t>
            </a:r>
          </a:p>
          <a:p>
            <a:r>
              <a:rPr dirty="0"/>
              <a:t>Geospatial mapping</a:t>
            </a:r>
          </a:p>
        </p:txBody>
      </p:sp>
      <p:pic>
        <p:nvPicPr>
          <p:cNvPr id="5" name="Picture 4">
            <a:extLst>
              <a:ext uri="{FF2B5EF4-FFF2-40B4-BE49-F238E27FC236}">
                <a16:creationId xmlns:a16="http://schemas.microsoft.com/office/drawing/2014/main" id="{50692530-A918-348A-0EEE-4907197EEFAE}"/>
              </a:ext>
            </a:extLst>
          </p:cNvPr>
          <p:cNvPicPr>
            <a:picLocks noChangeAspect="1"/>
          </p:cNvPicPr>
          <p:nvPr/>
        </p:nvPicPr>
        <p:blipFill>
          <a:blip r:embed="rId4"/>
          <a:stretch>
            <a:fillRect/>
          </a:stretch>
        </p:blipFill>
        <p:spPr>
          <a:xfrm>
            <a:off x="857937" y="643463"/>
            <a:ext cx="6469977" cy="558035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a:extLst>
            <a:ext uri="{FF2B5EF4-FFF2-40B4-BE49-F238E27FC236}">
              <a16:creationId xmlns:a16="http://schemas.microsoft.com/office/drawing/2014/main" id="{203185DF-2CD2-F021-2A64-E2815D8B8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1314-4BA1-5E64-8E1C-4F8B76E16030}"/>
              </a:ext>
            </a:extLst>
          </p:cNvPr>
          <p:cNvSpPr>
            <a:spLocks noGrp="1"/>
          </p:cNvSpPr>
          <p:nvPr>
            <p:ph type="title"/>
          </p:nvPr>
        </p:nvSpPr>
        <p:spPr>
          <a:xfrm>
            <a:off x="7865346" y="643463"/>
            <a:ext cx="3705797" cy="1608124"/>
          </a:xfrm>
        </p:spPr>
        <p:txBody>
          <a:bodyPr>
            <a:normAutofit/>
          </a:bodyPr>
          <a:lstStyle/>
          <a:p>
            <a:pPr>
              <a:lnSpc>
                <a:spcPct val="90000"/>
              </a:lnSpc>
            </a:pPr>
            <a:r>
              <a:rPr lang="en-US"/>
              <a:t>Descriptive papers are storytelling</a:t>
            </a:r>
          </a:p>
        </p:txBody>
      </p:sp>
      <p:sp>
        <p:nvSpPr>
          <p:cNvPr id="3" name="Content Placeholder 2">
            <a:extLst>
              <a:ext uri="{FF2B5EF4-FFF2-40B4-BE49-F238E27FC236}">
                <a16:creationId xmlns:a16="http://schemas.microsoft.com/office/drawing/2014/main" id="{9F242699-A68B-212E-51F6-9802B6FA7446}"/>
              </a:ext>
            </a:extLst>
          </p:cNvPr>
          <p:cNvSpPr>
            <a:spLocks noGrp="1"/>
          </p:cNvSpPr>
          <p:nvPr>
            <p:ph idx="1"/>
          </p:nvPr>
        </p:nvSpPr>
        <p:spPr>
          <a:xfrm>
            <a:off x="7865346" y="2251587"/>
            <a:ext cx="3705797" cy="3972232"/>
          </a:xfrm>
        </p:spPr>
        <p:txBody>
          <a:bodyPr>
            <a:normAutofit/>
          </a:bodyPr>
          <a:lstStyle/>
          <a:p>
            <a:r>
              <a:rPr dirty="0"/>
              <a:t>Summary statistics (mean, median, rates)</a:t>
            </a:r>
          </a:p>
          <a:p>
            <a:r>
              <a:rPr dirty="0"/>
              <a:t>Cross-tabulations</a:t>
            </a:r>
          </a:p>
          <a:p>
            <a:r>
              <a:rPr dirty="0"/>
              <a:t>Time trends and line plots</a:t>
            </a:r>
          </a:p>
          <a:p>
            <a:r>
              <a:rPr dirty="0"/>
              <a:t>Histograms and bar charts</a:t>
            </a:r>
          </a:p>
          <a:p>
            <a:r>
              <a:rPr dirty="0"/>
              <a:t>Geospatial mapping</a:t>
            </a:r>
          </a:p>
        </p:txBody>
      </p:sp>
      <p:pic>
        <p:nvPicPr>
          <p:cNvPr id="12" name="Picture 11">
            <a:extLst>
              <a:ext uri="{FF2B5EF4-FFF2-40B4-BE49-F238E27FC236}">
                <a16:creationId xmlns:a16="http://schemas.microsoft.com/office/drawing/2014/main" id="{B6FE9513-D506-CE8F-8EA8-A4D8F84B462B}"/>
              </a:ext>
            </a:extLst>
          </p:cNvPr>
          <p:cNvPicPr>
            <a:picLocks noChangeAspect="1"/>
          </p:cNvPicPr>
          <p:nvPr/>
        </p:nvPicPr>
        <p:blipFill>
          <a:blip r:embed="rId4"/>
          <a:stretch>
            <a:fillRect/>
          </a:stretch>
        </p:blipFill>
        <p:spPr>
          <a:xfrm>
            <a:off x="644884" y="1175175"/>
            <a:ext cx="6896082" cy="45169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68844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1" y="609601"/>
            <a:ext cx="10128787" cy="1456267"/>
          </a:xfrm>
        </p:spPr>
        <p:txBody>
          <a:bodyPr>
            <a:normAutofit/>
          </a:bodyPr>
          <a:lstStyle/>
          <a:p>
            <a:r>
              <a:rPr b="1" dirty="0">
                <a:solidFill>
                  <a:schemeClr val="bg1"/>
                </a:solidFill>
              </a:rPr>
              <a:t>Predictive Questions</a:t>
            </a:r>
          </a:p>
        </p:txBody>
      </p:sp>
      <p:graphicFrame>
        <p:nvGraphicFramePr>
          <p:cNvPr id="5" name="Content Placeholder 2">
            <a:extLst>
              <a:ext uri="{FF2B5EF4-FFF2-40B4-BE49-F238E27FC236}">
                <a16:creationId xmlns:a16="http://schemas.microsoft.com/office/drawing/2014/main" id="{C9CEA8DD-3C66-58EB-7DA6-5ACA9432D46A}"/>
              </a:ext>
            </a:extLst>
          </p:cNvPr>
          <p:cNvGraphicFramePr>
            <a:graphicFrameLocks noGrp="1"/>
          </p:cNvGraphicFramePr>
          <p:nvPr>
            <p:ph idx="1"/>
          </p:nvPr>
        </p:nvGraphicFramePr>
        <p:xfrm>
          <a:off x="687210" y="2406401"/>
          <a:ext cx="10128787" cy="3384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CD691019-7DE3-B2A4-B816-B54F2EE53CF0}"/>
              </a:ext>
            </a:extLst>
          </p:cNvPr>
          <p:cNvCxnSpPr>
            <a:cxnSpLocks/>
          </p:cNvCxnSpPr>
          <p:nvPr/>
        </p:nvCxnSpPr>
        <p:spPr>
          <a:xfrm>
            <a:off x="202005" y="1817423"/>
            <a:ext cx="919410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ED8E7EA3-3506-17E8-64E8-9742EC32E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694C-9B09-FE80-602D-95A2103747F1}"/>
              </a:ext>
            </a:extLst>
          </p:cNvPr>
          <p:cNvSpPr>
            <a:spLocks noGrp="1"/>
          </p:cNvSpPr>
          <p:nvPr>
            <p:ph type="title"/>
          </p:nvPr>
        </p:nvSpPr>
        <p:spPr>
          <a:xfrm>
            <a:off x="687210" y="643467"/>
            <a:ext cx="5013720" cy="4995333"/>
          </a:xfrm>
        </p:spPr>
        <p:txBody>
          <a:bodyPr>
            <a:normAutofit/>
          </a:bodyPr>
          <a:lstStyle/>
          <a:p>
            <a:r>
              <a:rPr lang="en-US" b="1" dirty="0">
                <a:solidFill>
                  <a:schemeClr val="bg1"/>
                </a:solidFill>
              </a:rPr>
              <a:t>Causal Questions</a:t>
            </a:r>
          </a:p>
        </p:txBody>
      </p:sp>
      <p:graphicFrame>
        <p:nvGraphicFramePr>
          <p:cNvPr id="7" name="Content Placeholder 2">
            <a:extLst>
              <a:ext uri="{FF2B5EF4-FFF2-40B4-BE49-F238E27FC236}">
                <a16:creationId xmlns:a16="http://schemas.microsoft.com/office/drawing/2014/main" id="{A427B438-607D-DF2B-A2EA-CD0CBFF58F3B}"/>
              </a:ext>
            </a:extLst>
          </p:cNvPr>
          <p:cNvGraphicFramePr>
            <a:graphicFrameLocks noGrp="1"/>
          </p:cNvGraphicFramePr>
          <p:nvPr>
            <p:ph idx="1"/>
          </p:nvPr>
        </p:nvGraphicFramePr>
        <p:xfrm>
          <a:off x="5467673" y="804672"/>
          <a:ext cx="6320907"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DBFED654-C23B-64C0-A9CA-44D9E1DE744A}"/>
              </a:ext>
            </a:extLst>
          </p:cNvPr>
          <p:cNvCxnSpPr>
            <a:cxnSpLocks/>
          </p:cNvCxnSpPr>
          <p:nvPr/>
        </p:nvCxnSpPr>
        <p:spPr>
          <a:xfrm>
            <a:off x="4855923" y="643467"/>
            <a:ext cx="0" cy="540986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883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211" y="609601"/>
            <a:ext cx="10128787" cy="1456267"/>
          </a:xfrm>
        </p:spPr>
        <p:txBody>
          <a:bodyPr>
            <a:normAutofit/>
          </a:bodyPr>
          <a:lstStyle/>
          <a:p>
            <a:r>
              <a:rPr dirty="0"/>
              <a:t>Choosing the Right Method</a:t>
            </a:r>
          </a:p>
        </p:txBody>
      </p:sp>
      <p:graphicFrame>
        <p:nvGraphicFramePr>
          <p:cNvPr id="5" name="Content Placeholder 2">
            <a:extLst>
              <a:ext uri="{FF2B5EF4-FFF2-40B4-BE49-F238E27FC236}">
                <a16:creationId xmlns:a16="http://schemas.microsoft.com/office/drawing/2014/main" id="{77A953DF-C46A-4020-A094-B69A8634A8CC}"/>
              </a:ext>
            </a:extLst>
          </p:cNvPr>
          <p:cNvGraphicFramePr>
            <a:graphicFrameLocks noGrp="1"/>
          </p:cNvGraphicFramePr>
          <p:nvPr>
            <p:ph idx="1"/>
          </p:nvPr>
        </p:nvGraphicFramePr>
        <p:xfrm>
          <a:off x="687210" y="2406400"/>
          <a:ext cx="11151475" cy="40570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570" y="337392"/>
            <a:ext cx="6214430" cy="624840"/>
          </a:xfrm>
        </p:spPr>
        <p:txBody>
          <a:bodyPr>
            <a:noAutofit/>
          </a:bodyPr>
          <a:lstStyle/>
          <a:p>
            <a:pPr algn="ctr"/>
            <a:r>
              <a:rPr lang="en-US" dirty="0"/>
              <a:t>All that glitters is an RCT?</a:t>
            </a:r>
          </a:p>
        </p:txBody>
      </p:sp>
      <p:sp>
        <p:nvSpPr>
          <p:cNvPr id="3" name="Content Placeholder 2"/>
          <p:cNvSpPr>
            <a:spLocks noGrp="1"/>
          </p:cNvSpPr>
          <p:nvPr>
            <p:ph idx="1"/>
          </p:nvPr>
        </p:nvSpPr>
        <p:spPr>
          <a:xfrm>
            <a:off x="304800" y="1143001"/>
            <a:ext cx="8533442" cy="5065188"/>
          </a:xfrm>
        </p:spPr>
        <p:txBody>
          <a:bodyPr>
            <a:normAutofit/>
          </a:bodyPr>
          <a:lstStyle/>
          <a:p>
            <a:r>
              <a:rPr lang="en-US" sz="2400" dirty="0"/>
              <a:t>Can we only believe </a:t>
            </a:r>
            <a:r>
              <a:rPr lang="en-US" sz="2400" b="1" dirty="0">
                <a:solidFill>
                  <a:schemeClr val="accent2">
                    <a:lumMod val="75000"/>
                  </a:schemeClr>
                </a:solidFill>
              </a:rPr>
              <a:t>randomized control trials</a:t>
            </a:r>
            <a:r>
              <a:rPr lang="en-US" sz="2400" b="1" dirty="0"/>
              <a:t>?</a:t>
            </a:r>
          </a:p>
        </p:txBody>
      </p:sp>
    </p:spTree>
    <p:extLst>
      <p:ext uri="{BB962C8B-B14F-4D97-AF65-F5344CB8AC3E}">
        <p14:creationId xmlns:p14="http://schemas.microsoft.com/office/powerpoint/2010/main" val="4190568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92"/>
            <a:ext cx="7269480" cy="624840"/>
          </a:xfrm>
        </p:spPr>
        <p:txBody>
          <a:bodyPr>
            <a:noAutofit/>
          </a:bodyPr>
          <a:lstStyle/>
          <a:p>
            <a:pPr algn="ctr"/>
            <a:r>
              <a:rPr lang="en-US" dirty="0"/>
              <a:t>All that glitters is an RCT?</a:t>
            </a:r>
          </a:p>
        </p:txBody>
      </p:sp>
      <p:sp>
        <p:nvSpPr>
          <p:cNvPr id="3" name="Content Placeholder 2"/>
          <p:cNvSpPr>
            <a:spLocks noGrp="1"/>
          </p:cNvSpPr>
          <p:nvPr>
            <p:ph idx="1"/>
          </p:nvPr>
        </p:nvSpPr>
        <p:spPr>
          <a:xfrm>
            <a:off x="990600" y="1143001"/>
            <a:ext cx="9982200" cy="5065188"/>
          </a:xfrm>
        </p:spPr>
        <p:txBody>
          <a:bodyPr>
            <a:normAutofit/>
          </a:bodyPr>
          <a:lstStyle/>
          <a:p>
            <a:r>
              <a:rPr lang="en-US" sz="2400" dirty="0"/>
              <a:t>Can we only believe </a:t>
            </a:r>
            <a:r>
              <a:rPr lang="en-US" sz="2400" b="1" dirty="0">
                <a:solidFill>
                  <a:schemeClr val="accent2">
                    <a:lumMod val="75000"/>
                  </a:schemeClr>
                </a:solidFill>
              </a:rPr>
              <a:t>randomized control trials</a:t>
            </a:r>
            <a:r>
              <a:rPr lang="en-US" sz="2400" b="1" dirty="0"/>
              <a:t>?</a:t>
            </a:r>
          </a:p>
        </p:txBody>
      </p:sp>
      <p:pic>
        <p:nvPicPr>
          <p:cNvPr id="4" name="Picture 3">
            <a:extLst>
              <a:ext uri="{FF2B5EF4-FFF2-40B4-BE49-F238E27FC236}">
                <a16:creationId xmlns:a16="http://schemas.microsoft.com/office/drawing/2014/main" id="{286EB8AA-4FF7-5C1B-3F9D-FE39AC4BFB66}"/>
              </a:ext>
            </a:extLst>
          </p:cNvPr>
          <p:cNvPicPr>
            <a:picLocks noChangeAspect="1"/>
          </p:cNvPicPr>
          <p:nvPr/>
        </p:nvPicPr>
        <p:blipFill>
          <a:blip r:embed="rId3"/>
          <a:stretch>
            <a:fillRect/>
          </a:stretch>
        </p:blipFill>
        <p:spPr>
          <a:xfrm>
            <a:off x="990600" y="1523999"/>
            <a:ext cx="6685313" cy="5181971"/>
          </a:xfrm>
          <a:prstGeom prst="rect">
            <a:avLst/>
          </a:prstGeom>
        </p:spPr>
      </p:pic>
    </p:spTree>
    <p:extLst>
      <p:ext uri="{BB962C8B-B14F-4D97-AF65-F5344CB8AC3E}">
        <p14:creationId xmlns:p14="http://schemas.microsoft.com/office/powerpoint/2010/main" val="1929361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92"/>
            <a:ext cx="7269480" cy="624840"/>
          </a:xfrm>
        </p:spPr>
        <p:txBody>
          <a:bodyPr>
            <a:noAutofit/>
          </a:bodyPr>
          <a:lstStyle/>
          <a:p>
            <a:pPr algn="ctr"/>
            <a:r>
              <a:rPr lang="en-US" dirty="0"/>
              <a:t>All that glitters is an RCT?</a:t>
            </a:r>
          </a:p>
        </p:txBody>
      </p:sp>
      <p:sp>
        <p:nvSpPr>
          <p:cNvPr id="3" name="Content Placeholder 2"/>
          <p:cNvSpPr>
            <a:spLocks noGrp="1"/>
          </p:cNvSpPr>
          <p:nvPr>
            <p:ph idx="1"/>
          </p:nvPr>
        </p:nvSpPr>
        <p:spPr>
          <a:xfrm>
            <a:off x="990600" y="1143001"/>
            <a:ext cx="9982200" cy="5065188"/>
          </a:xfrm>
        </p:spPr>
        <p:txBody>
          <a:bodyPr>
            <a:normAutofit/>
          </a:bodyPr>
          <a:lstStyle/>
          <a:p>
            <a:r>
              <a:rPr lang="en-US" sz="2400" dirty="0"/>
              <a:t>Can we only believe </a:t>
            </a:r>
            <a:r>
              <a:rPr lang="en-US" sz="2400" b="1" dirty="0">
                <a:solidFill>
                  <a:schemeClr val="accent2">
                    <a:lumMod val="75000"/>
                  </a:schemeClr>
                </a:solidFill>
              </a:rPr>
              <a:t>randomized control trials</a:t>
            </a:r>
            <a:r>
              <a:rPr lang="en-US" sz="2400" b="1" dirty="0"/>
              <a:t>?</a:t>
            </a:r>
          </a:p>
        </p:txBody>
      </p:sp>
      <p:pic>
        <p:nvPicPr>
          <p:cNvPr id="4" name="Picture 3">
            <a:extLst>
              <a:ext uri="{FF2B5EF4-FFF2-40B4-BE49-F238E27FC236}">
                <a16:creationId xmlns:a16="http://schemas.microsoft.com/office/drawing/2014/main" id="{286EB8AA-4FF7-5C1B-3F9D-FE39AC4BFB66}"/>
              </a:ext>
            </a:extLst>
          </p:cNvPr>
          <p:cNvPicPr>
            <a:picLocks noChangeAspect="1"/>
          </p:cNvPicPr>
          <p:nvPr/>
        </p:nvPicPr>
        <p:blipFill>
          <a:blip r:embed="rId3"/>
          <a:stretch>
            <a:fillRect/>
          </a:stretch>
        </p:blipFill>
        <p:spPr>
          <a:xfrm>
            <a:off x="990600" y="1523999"/>
            <a:ext cx="6685313" cy="5181971"/>
          </a:xfrm>
          <a:prstGeom prst="rect">
            <a:avLst/>
          </a:prstGeom>
        </p:spPr>
      </p:pic>
      <p:pic>
        <p:nvPicPr>
          <p:cNvPr id="6" name="Picture 5">
            <a:extLst>
              <a:ext uri="{FF2B5EF4-FFF2-40B4-BE49-F238E27FC236}">
                <a16:creationId xmlns:a16="http://schemas.microsoft.com/office/drawing/2014/main" id="{13BADA58-31A1-2ABC-122B-68F53BA81977}"/>
              </a:ext>
            </a:extLst>
          </p:cNvPr>
          <p:cNvPicPr>
            <a:picLocks noChangeAspect="1"/>
          </p:cNvPicPr>
          <p:nvPr/>
        </p:nvPicPr>
        <p:blipFill>
          <a:blip r:embed="rId4"/>
          <a:stretch>
            <a:fillRect/>
          </a:stretch>
        </p:blipFill>
        <p:spPr>
          <a:xfrm>
            <a:off x="2057400" y="1949865"/>
            <a:ext cx="8745170" cy="4639322"/>
          </a:xfrm>
          <a:prstGeom prst="rect">
            <a:avLst/>
          </a:prstGeom>
        </p:spPr>
      </p:pic>
    </p:spTree>
    <p:extLst>
      <p:ext uri="{BB962C8B-B14F-4D97-AF65-F5344CB8AC3E}">
        <p14:creationId xmlns:p14="http://schemas.microsoft.com/office/powerpoint/2010/main" val="22975153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92"/>
            <a:ext cx="7269480" cy="624840"/>
          </a:xfrm>
        </p:spPr>
        <p:txBody>
          <a:bodyPr>
            <a:noAutofit/>
          </a:bodyPr>
          <a:lstStyle/>
          <a:p>
            <a:pPr algn="ctr"/>
            <a:r>
              <a:rPr lang="en-US" dirty="0"/>
              <a:t>All that glitters is an RCT?</a:t>
            </a:r>
          </a:p>
        </p:txBody>
      </p:sp>
      <p:sp>
        <p:nvSpPr>
          <p:cNvPr id="3" name="Content Placeholder 2"/>
          <p:cNvSpPr>
            <a:spLocks noGrp="1"/>
          </p:cNvSpPr>
          <p:nvPr>
            <p:ph idx="1"/>
          </p:nvPr>
        </p:nvSpPr>
        <p:spPr>
          <a:xfrm>
            <a:off x="990600" y="1143001"/>
            <a:ext cx="9982200" cy="5065188"/>
          </a:xfrm>
        </p:spPr>
        <p:txBody>
          <a:bodyPr>
            <a:normAutofit/>
          </a:bodyPr>
          <a:lstStyle/>
          <a:p>
            <a:r>
              <a:rPr lang="en-US" sz="2400" dirty="0"/>
              <a:t>Can we only believe </a:t>
            </a:r>
            <a:r>
              <a:rPr lang="en-US" sz="2400" b="1" dirty="0"/>
              <a:t>randomized control trials?</a:t>
            </a:r>
          </a:p>
          <a:p>
            <a:r>
              <a:rPr lang="en-US" sz="2400" dirty="0"/>
              <a:t>RCTs are useful in some settings, but what are some problems with them? </a:t>
            </a:r>
          </a:p>
        </p:txBody>
      </p:sp>
    </p:spTree>
    <p:extLst>
      <p:ext uri="{BB962C8B-B14F-4D97-AF65-F5344CB8AC3E}">
        <p14:creationId xmlns:p14="http://schemas.microsoft.com/office/powerpoint/2010/main" val="1895222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92"/>
            <a:ext cx="7269480" cy="624840"/>
          </a:xfrm>
        </p:spPr>
        <p:txBody>
          <a:bodyPr>
            <a:noAutofit/>
          </a:bodyPr>
          <a:lstStyle/>
          <a:p>
            <a:pPr algn="ctr"/>
            <a:r>
              <a:rPr lang="en-US" dirty="0"/>
              <a:t>All that glitters is an RCT?</a:t>
            </a:r>
          </a:p>
        </p:txBody>
      </p:sp>
      <p:sp>
        <p:nvSpPr>
          <p:cNvPr id="3" name="Content Placeholder 2"/>
          <p:cNvSpPr>
            <a:spLocks noGrp="1"/>
          </p:cNvSpPr>
          <p:nvPr>
            <p:ph idx="1"/>
          </p:nvPr>
        </p:nvSpPr>
        <p:spPr>
          <a:xfrm>
            <a:off x="990600" y="1143001"/>
            <a:ext cx="10210800" cy="5065188"/>
          </a:xfrm>
        </p:spPr>
        <p:txBody>
          <a:bodyPr>
            <a:normAutofit/>
          </a:bodyPr>
          <a:lstStyle/>
          <a:p>
            <a:r>
              <a:rPr lang="en-US" sz="2400" dirty="0"/>
              <a:t>Can we only believe </a:t>
            </a:r>
            <a:r>
              <a:rPr lang="en-US" sz="2400" b="1" dirty="0"/>
              <a:t>randomized control trials?</a:t>
            </a:r>
          </a:p>
          <a:p>
            <a:r>
              <a:rPr lang="en-US" sz="2400" dirty="0"/>
              <a:t>RCTs are useful in some settings, but what are some problems with them? </a:t>
            </a:r>
          </a:p>
          <a:p>
            <a:pPr lvl="1"/>
            <a:r>
              <a:rPr lang="en-US" sz="2400" dirty="0"/>
              <a:t>Not always feasible</a:t>
            </a:r>
          </a:p>
          <a:p>
            <a:pPr lvl="1"/>
            <a:r>
              <a:rPr lang="en-US" sz="2400" dirty="0"/>
              <a:t>Implicit biases</a:t>
            </a:r>
          </a:p>
          <a:p>
            <a:pPr lvl="1"/>
            <a:r>
              <a:rPr lang="en-US" sz="2400" dirty="0"/>
              <a:t>Can’t always detect negative side effects</a:t>
            </a:r>
          </a:p>
          <a:p>
            <a:pPr lvl="1"/>
            <a:r>
              <a:rPr lang="en-US" sz="2400" dirty="0"/>
              <a:t>Problems with external validity, scaling, etc. </a:t>
            </a:r>
          </a:p>
          <a:p>
            <a:r>
              <a:rPr lang="en-US" sz="2400" dirty="0"/>
              <a:t>Econometric analysis helps identify </a:t>
            </a:r>
            <a:r>
              <a:rPr lang="en-US" sz="2400" b="1" dirty="0">
                <a:solidFill>
                  <a:schemeClr val="accent2">
                    <a:lumMod val="75000"/>
                  </a:schemeClr>
                </a:solidFill>
              </a:rPr>
              <a:t>real world patterns </a:t>
            </a:r>
            <a:r>
              <a:rPr lang="en-US" sz="2400" dirty="0"/>
              <a:t>from </a:t>
            </a:r>
            <a:r>
              <a:rPr lang="en-US" sz="2400" b="1" dirty="0">
                <a:solidFill>
                  <a:schemeClr val="accent2">
                    <a:lumMod val="75000"/>
                  </a:schemeClr>
                </a:solidFill>
              </a:rPr>
              <a:t>real world data</a:t>
            </a:r>
            <a:endParaRPr lang="en-US" sz="2400" dirty="0">
              <a:solidFill>
                <a:schemeClr val="accent2">
                  <a:lumMod val="75000"/>
                </a:schemeClr>
              </a:solidFill>
            </a:endParaRPr>
          </a:p>
          <a:p>
            <a:pPr lvl="1"/>
            <a:endParaRPr lang="en-US" sz="2400" dirty="0"/>
          </a:p>
        </p:txBody>
      </p:sp>
    </p:spTree>
    <p:extLst>
      <p:ext uri="{BB962C8B-B14F-4D97-AF65-F5344CB8AC3E}">
        <p14:creationId xmlns:p14="http://schemas.microsoft.com/office/powerpoint/2010/main" val="397007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92"/>
            <a:ext cx="7269480" cy="624840"/>
          </a:xfrm>
        </p:spPr>
        <p:txBody>
          <a:bodyPr>
            <a:noAutofit/>
          </a:bodyPr>
          <a:lstStyle/>
          <a:p>
            <a:pPr algn="ctr"/>
            <a:r>
              <a:rPr lang="en-US" dirty="0"/>
              <a:t>All that glitters is an RCT?</a:t>
            </a:r>
          </a:p>
        </p:txBody>
      </p:sp>
      <p:sp>
        <p:nvSpPr>
          <p:cNvPr id="3" name="Content Placeholder 2"/>
          <p:cNvSpPr>
            <a:spLocks noGrp="1"/>
          </p:cNvSpPr>
          <p:nvPr>
            <p:ph idx="1"/>
          </p:nvPr>
        </p:nvSpPr>
        <p:spPr>
          <a:xfrm>
            <a:off x="990600" y="1143001"/>
            <a:ext cx="10210800" cy="5065188"/>
          </a:xfrm>
        </p:spPr>
        <p:txBody>
          <a:bodyPr/>
          <a:lstStyle/>
          <a:p>
            <a:pPr lvl="1"/>
            <a:endParaRPr lang="en-US" dirty="0"/>
          </a:p>
        </p:txBody>
      </p:sp>
      <p:pic>
        <p:nvPicPr>
          <p:cNvPr id="5" name="Picture 4">
            <a:extLst>
              <a:ext uri="{FF2B5EF4-FFF2-40B4-BE49-F238E27FC236}">
                <a16:creationId xmlns:a16="http://schemas.microsoft.com/office/drawing/2014/main" id="{AEE7F24A-24D1-5BDB-258B-4FBC18C82840}"/>
              </a:ext>
            </a:extLst>
          </p:cNvPr>
          <p:cNvPicPr>
            <a:picLocks noChangeAspect="1"/>
          </p:cNvPicPr>
          <p:nvPr/>
        </p:nvPicPr>
        <p:blipFill rotWithShape="1">
          <a:blip r:embed="rId3"/>
          <a:srcRect l="2885" t="189" r="32205" b="33106"/>
          <a:stretch/>
        </p:blipFill>
        <p:spPr>
          <a:xfrm>
            <a:off x="1447800" y="962232"/>
            <a:ext cx="4858536" cy="5438568"/>
          </a:xfrm>
          <a:prstGeom prst="rect">
            <a:avLst/>
          </a:prstGeom>
        </p:spPr>
      </p:pic>
    </p:spTree>
    <p:extLst>
      <p:ext uri="{BB962C8B-B14F-4D97-AF65-F5344CB8AC3E}">
        <p14:creationId xmlns:p14="http://schemas.microsoft.com/office/powerpoint/2010/main" val="36295676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92"/>
            <a:ext cx="7269480" cy="624840"/>
          </a:xfrm>
        </p:spPr>
        <p:txBody>
          <a:bodyPr>
            <a:noAutofit/>
          </a:bodyPr>
          <a:lstStyle/>
          <a:p>
            <a:pPr algn="ctr"/>
            <a:r>
              <a:rPr lang="en-US" dirty="0"/>
              <a:t>The rise of causal inference</a:t>
            </a:r>
          </a:p>
        </p:txBody>
      </p:sp>
      <p:sp>
        <p:nvSpPr>
          <p:cNvPr id="3" name="Content Placeholder 2"/>
          <p:cNvSpPr>
            <a:spLocks noGrp="1"/>
          </p:cNvSpPr>
          <p:nvPr>
            <p:ph idx="1"/>
          </p:nvPr>
        </p:nvSpPr>
        <p:spPr>
          <a:xfrm>
            <a:off x="990600" y="1143001"/>
            <a:ext cx="10210800" cy="5065188"/>
          </a:xfrm>
        </p:spPr>
        <p:txBody>
          <a:bodyPr/>
          <a:lstStyle/>
          <a:p>
            <a:pPr lvl="1"/>
            <a:endParaRPr lang="en-US" dirty="0"/>
          </a:p>
        </p:txBody>
      </p:sp>
      <p:pic>
        <p:nvPicPr>
          <p:cNvPr id="6" name="Picture 5">
            <a:extLst>
              <a:ext uri="{FF2B5EF4-FFF2-40B4-BE49-F238E27FC236}">
                <a16:creationId xmlns:a16="http://schemas.microsoft.com/office/drawing/2014/main" id="{D6501B0D-E23E-D5E4-617A-C3DB2A42E7AE}"/>
              </a:ext>
            </a:extLst>
          </p:cNvPr>
          <p:cNvPicPr>
            <a:picLocks noChangeAspect="1"/>
          </p:cNvPicPr>
          <p:nvPr/>
        </p:nvPicPr>
        <p:blipFill>
          <a:blip r:embed="rId3"/>
          <a:stretch>
            <a:fillRect/>
          </a:stretch>
        </p:blipFill>
        <p:spPr>
          <a:xfrm>
            <a:off x="609600" y="988669"/>
            <a:ext cx="9940741" cy="5400000"/>
          </a:xfrm>
          <a:prstGeom prst="rect">
            <a:avLst/>
          </a:prstGeom>
        </p:spPr>
      </p:pic>
    </p:spTree>
    <p:extLst>
      <p:ext uri="{BB962C8B-B14F-4D97-AF65-F5344CB8AC3E}">
        <p14:creationId xmlns:p14="http://schemas.microsoft.com/office/powerpoint/2010/main" val="1599356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041" y="381000"/>
            <a:ext cx="8303043" cy="624840"/>
          </a:xfrm>
        </p:spPr>
        <p:txBody>
          <a:bodyPr>
            <a:noAutofit/>
          </a:bodyPr>
          <a:lstStyle/>
          <a:p>
            <a:r>
              <a:rPr lang="en-US" dirty="0"/>
              <a:t>Econometric approach</a:t>
            </a:r>
          </a:p>
        </p:txBody>
      </p:sp>
      <p:sp>
        <p:nvSpPr>
          <p:cNvPr id="3" name="Content Placeholder 2"/>
          <p:cNvSpPr>
            <a:spLocks noGrp="1"/>
          </p:cNvSpPr>
          <p:nvPr>
            <p:ph idx="1"/>
          </p:nvPr>
        </p:nvSpPr>
        <p:spPr>
          <a:xfrm>
            <a:off x="228600" y="1005840"/>
            <a:ext cx="10896600" cy="5090160"/>
          </a:xfrm>
        </p:spPr>
        <p:txBody>
          <a:bodyPr>
            <a:normAutofit/>
          </a:bodyPr>
          <a:lstStyle/>
          <a:p>
            <a:r>
              <a:rPr lang="en-US" sz="2400" b="1" dirty="0">
                <a:solidFill>
                  <a:schemeClr val="accent2">
                    <a:lumMod val="75000"/>
                  </a:schemeClr>
                </a:solidFill>
              </a:rPr>
              <a:t>Observational data: </a:t>
            </a:r>
            <a:r>
              <a:rPr lang="en-US" sz="2400" dirty="0"/>
              <a:t>retrospective, “real-world” data</a:t>
            </a:r>
          </a:p>
          <a:p>
            <a:pPr lvl="1"/>
            <a:r>
              <a:rPr lang="en-US" sz="2400" dirty="0"/>
              <a:t>Not (typically) collected in a lab setting</a:t>
            </a:r>
          </a:p>
          <a:p>
            <a:pPr lvl="1"/>
            <a:r>
              <a:rPr lang="en-US" sz="2400" dirty="0"/>
              <a:t>Surveys, claims, tax records, etc. </a:t>
            </a:r>
          </a:p>
          <a:p>
            <a:r>
              <a:rPr lang="en-US" sz="2400" dirty="0"/>
              <a:t>What created that data? </a:t>
            </a:r>
          </a:p>
          <a:p>
            <a:pPr lvl="1"/>
            <a:r>
              <a:rPr lang="en-US" sz="2400" b="1" dirty="0">
                <a:solidFill>
                  <a:schemeClr val="accent2">
                    <a:lumMod val="75000"/>
                  </a:schemeClr>
                </a:solidFill>
              </a:rPr>
              <a:t>Data Generating Process: </a:t>
            </a:r>
            <a:r>
              <a:rPr lang="en-US" sz="2400" dirty="0"/>
              <a:t>what unique collection of characteristics, events, and randomness coalesced to form the data we are looking at? </a:t>
            </a:r>
          </a:p>
          <a:p>
            <a:pPr lvl="1"/>
            <a:r>
              <a:rPr lang="en-US" sz="2400" dirty="0"/>
              <a:t>Our objective is to use the data available to try and establish the nature of the true DGP.</a:t>
            </a:r>
          </a:p>
          <a:p>
            <a:pPr lvl="1"/>
            <a:r>
              <a:rPr lang="en-US" sz="2400" dirty="0"/>
              <a:t>But many different DGPs are possible, and many may yield very similar patterns!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960" y="228601"/>
            <a:ext cx="7280946" cy="652889"/>
          </a:xfrm>
        </p:spPr>
        <p:txBody>
          <a:bodyPr>
            <a:noAutofit/>
          </a:bodyPr>
          <a:lstStyle/>
          <a:p>
            <a:r>
              <a:rPr lang="en-US" dirty="0"/>
              <a:t>What’s a model?</a:t>
            </a:r>
          </a:p>
        </p:txBody>
      </p:sp>
      <p:sp>
        <p:nvSpPr>
          <p:cNvPr id="3" name="Content Placeholder 2"/>
          <p:cNvSpPr>
            <a:spLocks noGrp="1"/>
          </p:cNvSpPr>
          <p:nvPr>
            <p:ph idx="1"/>
          </p:nvPr>
        </p:nvSpPr>
        <p:spPr>
          <a:xfrm>
            <a:off x="152400" y="990600"/>
            <a:ext cx="10820400" cy="5189539"/>
          </a:xfrm>
        </p:spPr>
        <p:txBody>
          <a:bodyPr>
            <a:normAutofit/>
          </a:bodyPr>
          <a:lstStyle/>
          <a:p>
            <a:r>
              <a:rPr lang="en-US" sz="2400" dirty="0"/>
              <a:t>Goal: understand relation between: </a:t>
            </a:r>
          </a:p>
          <a:p>
            <a:pPr lvl="1"/>
            <a:r>
              <a:rPr lang="en-US" sz="2400" dirty="0"/>
              <a:t>Outcome (Y) </a:t>
            </a:r>
          </a:p>
          <a:p>
            <a:pPr lvl="1"/>
            <a:r>
              <a:rPr lang="en-US" sz="2400" dirty="0"/>
              <a:t>Treatment (D) </a:t>
            </a:r>
          </a:p>
          <a:p>
            <a:pPr lvl="1"/>
            <a:r>
              <a:rPr lang="en-US" sz="2400" dirty="0"/>
              <a:t>Covariate (X), </a:t>
            </a:r>
          </a:p>
          <a:p>
            <a:r>
              <a:rPr lang="en-US" sz="2400" dirty="0"/>
              <a:t>We must specify </a:t>
            </a:r>
            <a:r>
              <a:rPr lang="en-US" sz="2400" u="sng" dirty="0"/>
              <a:t>and test</a:t>
            </a:r>
            <a:r>
              <a:rPr lang="en-US" sz="2400" dirty="0"/>
              <a:t> the mechanisms between these features</a:t>
            </a:r>
          </a:p>
          <a:p>
            <a:r>
              <a:rPr lang="en-US" sz="2400" dirty="0"/>
              <a:t>Why do we have to do this in detail? </a:t>
            </a:r>
          </a:p>
          <a:p>
            <a:pPr lvl="1"/>
            <a:r>
              <a:rPr lang="en-US" sz="2400" u="sng" dirty="0"/>
              <a:t>Correlation is not causation (except when it is!)</a:t>
            </a:r>
          </a:p>
          <a:p>
            <a:pPr lvl="1"/>
            <a:r>
              <a:rPr lang="en-US" sz="2400" dirty="0"/>
              <a:t>Different variables may move in tandem without there being causal relations among them</a:t>
            </a:r>
          </a:p>
          <a:p>
            <a:pPr lvl="1"/>
            <a:r>
              <a:rPr lang="en-US" sz="2400" dirty="0">
                <a:hlinkClick r:id="rId3"/>
              </a:rPr>
              <a:t>https://www.tylervigen.com/spurious-correlations</a:t>
            </a:r>
            <a:r>
              <a:rPr lang="en-US" sz="2400" dirty="0"/>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638C0-37B0-22BE-EB22-726D84732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7AC1D-6938-70C8-9050-CFEBB1246998}"/>
              </a:ext>
            </a:extLst>
          </p:cNvPr>
          <p:cNvSpPr>
            <a:spLocks noGrp="1"/>
          </p:cNvSpPr>
          <p:nvPr>
            <p:ph type="ctrTitle"/>
          </p:nvPr>
        </p:nvSpPr>
        <p:spPr>
          <a:xfrm>
            <a:off x="2057400" y="2481819"/>
            <a:ext cx="8001000" cy="1894362"/>
          </a:xfrm>
        </p:spPr>
        <p:txBody>
          <a:bodyPr>
            <a:normAutofit/>
          </a:bodyPr>
          <a:lstStyle/>
          <a:p>
            <a:r>
              <a:rPr lang="en-US" dirty="0"/>
              <a:t>DAGs</a:t>
            </a:r>
          </a:p>
        </p:txBody>
      </p:sp>
    </p:spTree>
    <p:extLst>
      <p:ext uri="{BB962C8B-B14F-4D97-AF65-F5344CB8AC3E}">
        <p14:creationId xmlns:p14="http://schemas.microsoft.com/office/powerpoint/2010/main" val="1641904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65C9-E25E-5B5D-BB0C-EEADFB6FD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E513F-B591-B4E8-E2DE-4F446441764D}"/>
              </a:ext>
            </a:extLst>
          </p:cNvPr>
          <p:cNvSpPr>
            <a:spLocks noGrp="1"/>
          </p:cNvSpPr>
          <p:nvPr>
            <p:ph type="title"/>
          </p:nvPr>
        </p:nvSpPr>
        <p:spPr>
          <a:xfrm>
            <a:off x="348960" y="228601"/>
            <a:ext cx="7280946" cy="652889"/>
          </a:xfrm>
        </p:spPr>
        <p:txBody>
          <a:bodyPr>
            <a:noAutofit/>
          </a:bodyPr>
          <a:lstStyle/>
          <a:p>
            <a:r>
              <a:rPr lang="en-US" dirty="0"/>
              <a:t>A Ladder of Causality</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06B3A839-BC67-54A9-E266-A8B327714B6C}"/>
                  </a:ext>
                </a:extLst>
              </p:cNvPr>
              <p:cNvGraphicFramePr>
                <a:graphicFrameLocks noGrp="1"/>
              </p:cNvGraphicFramePr>
              <p:nvPr>
                <p:ph idx="1"/>
                <p:extLst>
                  <p:ext uri="{D42A27DB-BD31-4B8C-83A1-F6EECF244321}">
                    <p14:modId xmlns:p14="http://schemas.microsoft.com/office/powerpoint/2010/main" val="1271293706"/>
                  </p:ext>
                </p:extLst>
              </p:nvPr>
            </p:nvGraphicFramePr>
            <p:xfrm>
              <a:off x="348960" y="881491"/>
              <a:ext cx="11309640" cy="57479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4" name="Content Placeholder 3">
                <a:extLst>
                  <a:ext uri="{FF2B5EF4-FFF2-40B4-BE49-F238E27FC236}">
                    <a16:creationId xmlns:a16="http://schemas.microsoft.com/office/drawing/2014/main" id="{06B3A839-BC67-54A9-E266-A8B327714B6C}"/>
                  </a:ext>
                </a:extLst>
              </p:cNvPr>
              <p:cNvGraphicFramePr>
                <a:graphicFrameLocks noGrp="1"/>
              </p:cNvGraphicFramePr>
              <p:nvPr>
                <p:ph idx="1"/>
                <p:extLst>
                  <p:ext uri="{D42A27DB-BD31-4B8C-83A1-F6EECF244321}">
                    <p14:modId xmlns:p14="http://schemas.microsoft.com/office/powerpoint/2010/main" val="1271293706"/>
                  </p:ext>
                </p:extLst>
              </p:nvPr>
            </p:nvGraphicFramePr>
            <p:xfrm>
              <a:off x="348960" y="881491"/>
              <a:ext cx="11309640" cy="57479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15860700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728" y="304800"/>
            <a:ext cx="7183793" cy="701040"/>
          </a:xfrm>
        </p:spPr>
        <p:txBody>
          <a:bodyPr>
            <a:normAutofit/>
          </a:bodyPr>
          <a:lstStyle/>
          <a:p>
            <a:r>
              <a:rPr lang="en-US" dirty="0"/>
              <a:t>DGPs as DAGs</a:t>
            </a:r>
          </a:p>
        </p:txBody>
      </p:sp>
      <p:sp>
        <p:nvSpPr>
          <p:cNvPr id="3" name="Content Placeholder 2"/>
          <p:cNvSpPr>
            <a:spLocks noGrp="1"/>
          </p:cNvSpPr>
          <p:nvPr>
            <p:ph idx="1"/>
          </p:nvPr>
        </p:nvSpPr>
        <p:spPr>
          <a:xfrm>
            <a:off x="152400" y="1005840"/>
            <a:ext cx="10896600" cy="5623560"/>
          </a:xfrm>
        </p:spPr>
        <p:txBody>
          <a:bodyPr>
            <a:noAutofit/>
          </a:bodyPr>
          <a:lstStyle/>
          <a:p>
            <a:r>
              <a:rPr lang="en-US" sz="2400" b="1" dirty="0">
                <a:solidFill>
                  <a:schemeClr val="accent2">
                    <a:lumMod val="75000"/>
                  </a:schemeClr>
                </a:solidFill>
              </a:rPr>
              <a:t>Directed Acyclic Graphs (DAGs):</a:t>
            </a:r>
            <a:endParaRPr lang="en-US" sz="2400" dirty="0">
              <a:solidFill>
                <a:schemeClr val="accent2">
                  <a:lumMod val="75000"/>
                </a:schemeClr>
              </a:solidFill>
            </a:endParaRPr>
          </a:p>
          <a:p>
            <a:pPr lvl="1"/>
            <a:r>
              <a:rPr lang="en-US" sz="2400" dirty="0"/>
              <a:t>Graphical relationship of a chain of causal effects</a:t>
            </a:r>
          </a:p>
          <a:p>
            <a:pPr lvl="1"/>
            <a:r>
              <a:rPr lang="en-US" sz="2400" dirty="0"/>
              <a:t>Represented as random variables (nodes) and influencing events (arrows)</a:t>
            </a:r>
          </a:p>
          <a:p>
            <a:pPr lvl="1"/>
            <a:r>
              <a:rPr lang="en-US" sz="2400" dirty="0"/>
              <a:t>Maps a </a:t>
            </a:r>
            <a:r>
              <a:rPr lang="en-US" sz="2400" b="1" dirty="0">
                <a:solidFill>
                  <a:schemeClr val="accent3">
                    <a:lumMod val="75000"/>
                  </a:schemeClr>
                </a:solidFill>
              </a:rPr>
              <a:t>philosophical model </a:t>
            </a:r>
            <a:endParaRPr lang="en-US" sz="2400" dirty="0">
              <a:solidFill>
                <a:schemeClr val="accent3">
                  <a:lumMod val="75000"/>
                </a:schemeClr>
              </a:solidFill>
            </a:endParaRPr>
          </a:p>
          <a:p>
            <a:pPr lvl="1"/>
            <a:endParaRPr lang="en-US" sz="2400" dirty="0"/>
          </a:p>
          <a:p>
            <a:pPr lvl="1"/>
            <a:endParaRPr lang="en-US" sz="2400" dirty="0"/>
          </a:p>
          <a:p>
            <a:pPr marL="274320" lvl="1" indent="0">
              <a:buNone/>
            </a:pPr>
            <a:endParaRPr lang="en-US" sz="2400" dirty="0"/>
          </a:p>
        </p:txBody>
      </p:sp>
      <p:sp>
        <p:nvSpPr>
          <p:cNvPr id="4" name="Oval 3">
            <a:extLst>
              <a:ext uri="{FF2B5EF4-FFF2-40B4-BE49-F238E27FC236}">
                <a16:creationId xmlns:a16="http://schemas.microsoft.com/office/drawing/2014/main" id="{60A69CE1-AAD1-4E00-A64F-5B9C6E629902}"/>
              </a:ext>
            </a:extLst>
          </p:cNvPr>
          <p:cNvSpPr/>
          <p:nvPr/>
        </p:nvSpPr>
        <p:spPr>
          <a:xfrm>
            <a:off x="5486400" y="32766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p>
        </p:txBody>
      </p:sp>
      <p:sp>
        <p:nvSpPr>
          <p:cNvPr id="5" name="Oval 4">
            <a:extLst>
              <a:ext uri="{FF2B5EF4-FFF2-40B4-BE49-F238E27FC236}">
                <a16:creationId xmlns:a16="http://schemas.microsoft.com/office/drawing/2014/main" id="{9A1155EA-90DA-4651-AF19-F57D2394DFFC}"/>
              </a:ext>
            </a:extLst>
          </p:cNvPr>
          <p:cNvSpPr/>
          <p:nvPr/>
        </p:nvSpPr>
        <p:spPr>
          <a:xfrm>
            <a:off x="6357558" y="257958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Y</a:t>
            </a:r>
          </a:p>
        </p:txBody>
      </p:sp>
      <p:sp>
        <p:nvSpPr>
          <p:cNvPr id="6" name="Oval 5">
            <a:extLst>
              <a:ext uri="{FF2B5EF4-FFF2-40B4-BE49-F238E27FC236}">
                <a16:creationId xmlns:a16="http://schemas.microsoft.com/office/drawing/2014/main" id="{0D3AB419-6089-44DB-B9EB-C9B0F2157E9B}"/>
              </a:ext>
            </a:extLst>
          </p:cNvPr>
          <p:cNvSpPr/>
          <p:nvPr/>
        </p:nvSpPr>
        <p:spPr>
          <a:xfrm>
            <a:off x="4495800" y="257958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p:cxnSp>
        <p:nvCxnSpPr>
          <p:cNvPr id="9" name="Straight Arrow Connector 8">
            <a:extLst>
              <a:ext uri="{FF2B5EF4-FFF2-40B4-BE49-F238E27FC236}">
                <a16:creationId xmlns:a16="http://schemas.microsoft.com/office/drawing/2014/main" id="{140B4D30-5EE1-4197-8B95-21513B435049}"/>
              </a:ext>
            </a:extLst>
          </p:cNvPr>
          <p:cNvCxnSpPr>
            <a:stCxn id="4" idx="1"/>
          </p:cNvCxnSpPr>
          <p:nvPr/>
        </p:nvCxnSpPr>
        <p:spPr>
          <a:xfrm flipH="1" flipV="1">
            <a:off x="4953001" y="2960581"/>
            <a:ext cx="600355" cy="382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95DEED-D945-4A12-94DC-7A12C3D6AD75}"/>
              </a:ext>
            </a:extLst>
          </p:cNvPr>
          <p:cNvCxnSpPr>
            <a:stCxn id="4" idx="7"/>
            <a:endCxn id="5" idx="3"/>
          </p:cNvCxnSpPr>
          <p:nvPr/>
        </p:nvCxnSpPr>
        <p:spPr>
          <a:xfrm flipV="1">
            <a:off x="5876645" y="2969825"/>
            <a:ext cx="547868" cy="373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AC8B47-ACD8-450B-AAE9-57660E99656A}"/>
              </a:ext>
            </a:extLst>
          </p:cNvPr>
          <p:cNvCxnSpPr>
            <a:cxnSpLocks/>
          </p:cNvCxnSpPr>
          <p:nvPr/>
        </p:nvCxnSpPr>
        <p:spPr>
          <a:xfrm>
            <a:off x="5005487" y="2808180"/>
            <a:ext cx="1328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728" y="304800"/>
            <a:ext cx="7183793" cy="701040"/>
          </a:xfrm>
        </p:spPr>
        <p:txBody>
          <a:bodyPr>
            <a:normAutofit/>
          </a:bodyPr>
          <a:lstStyle/>
          <a:p>
            <a:r>
              <a:rPr lang="en-US" dirty="0"/>
              <a:t>DGPs as DAGs</a:t>
            </a:r>
          </a:p>
        </p:txBody>
      </p:sp>
      <p:sp>
        <p:nvSpPr>
          <p:cNvPr id="3" name="Content Placeholder 2"/>
          <p:cNvSpPr>
            <a:spLocks noGrp="1"/>
          </p:cNvSpPr>
          <p:nvPr>
            <p:ph idx="1"/>
          </p:nvPr>
        </p:nvSpPr>
        <p:spPr>
          <a:xfrm>
            <a:off x="152400" y="1005840"/>
            <a:ext cx="10896600" cy="5623560"/>
          </a:xfrm>
        </p:spPr>
        <p:txBody>
          <a:bodyPr>
            <a:noAutofit/>
          </a:bodyPr>
          <a:lstStyle/>
          <a:p>
            <a:r>
              <a:rPr lang="en-US" sz="2400" b="1" dirty="0">
                <a:solidFill>
                  <a:schemeClr val="accent2">
                    <a:lumMod val="75000"/>
                  </a:schemeClr>
                </a:solidFill>
              </a:rPr>
              <a:t>Directed Acyclic Graphs (DAGs):</a:t>
            </a:r>
            <a:endParaRPr lang="en-US" sz="2400" dirty="0">
              <a:solidFill>
                <a:schemeClr val="accent2">
                  <a:lumMod val="75000"/>
                </a:schemeClr>
              </a:solidFill>
            </a:endParaRPr>
          </a:p>
          <a:p>
            <a:pPr lvl="1"/>
            <a:r>
              <a:rPr lang="en-US" sz="2400" dirty="0"/>
              <a:t>Graphical relationship of a chain of causal effects</a:t>
            </a:r>
          </a:p>
          <a:p>
            <a:pPr lvl="1"/>
            <a:r>
              <a:rPr lang="en-US" sz="2400" dirty="0"/>
              <a:t>Represented as random variables (nodes) and influencing events (arrows)</a:t>
            </a:r>
          </a:p>
          <a:p>
            <a:pPr lvl="1"/>
            <a:r>
              <a:rPr lang="en-US" sz="2400" dirty="0"/>
              <a:t>Maps a </a:t>
            </a:r>
            <a:r>
              <a:rPr lang="en-US" sz="2400" b="1" dirty="0"/>
              <a:t>philosophical model</a:t>
            </a:r>
            <a:endParaRPr lang="en-US" sz="2400" dirty="0"/>
          </a:p>
          <a:p>
            <a:pPr lvl="1"/>
            <a:endParaRPr lang="en-US" sz="2400" dirty="0"/>
          </a:p>
          <a:p>
            <a:pPr lvl="1"/>
            <a:endParaRPr lang="en-US" sz="2400" dirty="0"/>
          </a:p>
          <a:p>
            <a:pPr lvl="1"/>
            <a:endParaRPr lang="en-US" sz="2400" dirty="0"/>
          </a:p>
          <a:p>
            <a:pPr lvl="1"/>
            <a:endParaRPr lang="en-US" sz="2400" dirty="0"/>
          </a:p>
          <a:p>
            <a:r>
              <a:rPr lang="en-US" sz="2400" b="1" u="sng" dirty="0">
                <a:solidFill>
                  <a:schemeClr val="accent3">
                    <a:lumMod val="75000"/>
                  </a:schemeClr>
                </a:solidFill>
              </a:rPr>
              <a:t>Example</a:t>
            </a:r>
            <a:r>
              <a:rPr lang="en-US" sz="2400" dirty="0"/>
              <a:t>: Physical Activity and Child Fitness</a:t>
            </a:r>
          </a:p>
          <a:p>
            <a:r>
              <a:rPr lang="en-US" sz="2400" b="1" dirty="0">
                <a:solidFill>
                  <a:schemeClr val="accent2">
                    <a:lumMod val="75000"/>
                  </a:schemeClr>
                </a:solidFill>
              </a:rPr>
              <a:t>Question: Are school physical activity programs effective?</a:t>
            </a:r>
            <a:endParaRPr lang="en-US" sz="2200" b="1" dirty="0">
              <a:solidFill>
                <a:schemeClr val="accent2">
                  <a:lumMod val="75000"/>
                </a:schemeClr>
              </a:solidFill>
            </a:endParaRPr>
          </a:p>
          <a:p>
            <a:pPr lvl="1"/>
            <a:r>
              <a:rPr lang="en-US" sz="2200" dirty="0"/>
              <a:t>Y: Outcome of interest (student fitness, academic outcomes, etc.)</a:t>
            </a:r>
          </a:p>
          <a:p>
            <a:pPr lvl="1"/>
            <a:r>
              <a:rPr lang="en-US" sz="2400" dirty="0"/>
              <a:t>D: Treatment/program</a:t>
            </a:r>
          </a:p>
          <a:p>
            <a:pPr lvl="1"/>
            <a:r>
              <a:rPr lang="en-US" sz="2400" dirty="0"/>
              <a:t>X: Covariates – what might contribute to both D and Y?</a:t>
            </a:r>
          </a:p>
          <a:p>
            <a:pPr lvl="1"/>
            <a:endParaRPr lang="en-US" sz="2400" dirty="0"/>
          </a:p>
          <a:p>
            <a:pPr lvl="1"/>
            <a:endParaRPr lang="en-US" sz="2400" dirty="0"/>
          </a:p>
          <a:p>
            <a:pPr marL="274320" lvl="1" indent="0">
              <a:buNone/>
            </a:pPr>
            <a:endParaRPr lang="en-US" sz="2400" dirty="0"/>
          </a:p>
        </p:txBody>
      </p:sp>
      <p:sp>
        <p:nvSpPr>
          <p:cNvPr id="4" name="Oval 3">
            <a:extLst>
              <a:ext uri="{FF2B5EF4-FFF2-40B4-BE49-F238E27FC236}">
                <a16:creationId xmlns:a16="http://schemas.microsoft.com/office/drawing/2014/main" id="{60A69CE1-AAD1-4E00-A64F-5B9C6E629902}"/>
              </a:ext>
            </a:extLst>
          </p:cNvPr>
          <p:cNvSpPr/>
          <p:nvPr/>
        </p:nvSpPr>
        <p:spPr>
          <a:xfrm>
            <a:off x="5486400" y="33528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p>
        </p:txBody>
      </p:sp>
      <p:sp>
        <p:nvSpPr>
          <p:cNvPr id="5" name="Oval 4">
            <a:extLst>
              <a:ext uri="{FF2B5EF4-FFF2-40B4-BE49-F238E27FC236}">
                <a16:creationId xmlns:a16="http://schemas.microsoft.com/office/drawing/2014/main" id="{9A1155EA-90DA-4651-AF19-F57D2394DFFC}"/>
              </a:ext>
            </a:extLst>
          </p:cNvPr>
          <p:cNvSpPr/>
          <p:nvPr/>
        </p:nvSpPr>
        <p:spPr>
          <a:xfrm>
            <a:off x="6357558" y="265578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Y</a:t>
            </a:r>
          </a:p>
        </p:txBody>
      </p:sp>
      <p:sp>
        <p:nvSpPr>
          <p:cNvPr id="6" name="Oval 5">
            <a:extLst>
              <a:ext uri="{FF2B5EF4-FFF2-40B4-BE49-F238E27FC236}">
                <a16:creationId xmlns:a16="http://schemas.microsoft.com/office/drawing/2014/main" id="{0D3AB419-6089-44DB-B9EB-C9B0F2157E9B}"/>
              </a:ext>
            </a:extLst>
          </p:cNvPr>
          <p:cNvSpPr/>
          <p:nvPr/>
        </p:nvSpPr>
        <p:spPr>
          <a:xfrm>
            <a:off x="4495800" y="265578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p:cxnSp>
        <p:nvCxnSpPr>
          <p:cNvPr id="9" name="Straight Arrow Connector 8">
            <a:extLst>
              <a:ext uri="{FF2B5EF4-FFF2-40B4-BE49-F238E27FC236}">
                <a16:creationId xmlns:a16="http://schemas.microsoft.com/office/drawing/2014/main" id="{140B4D30-5EE1-4197-8B95-21513B435049}"/>
              </a:ext>
            </a:extLst>
          </p:cNvPr>
          <p:cNvCxnSpPr>
            <a:stCxn id="4" idx="1"/>
          </p:cNvCxnSpPr>
          <p:nvPr/>
        </p:nvCxnSpPr>
        <p:spPr>
          <a:xfrm flipH="1" flipV="1">
            <a:off x="4953001" y="3036781"/>
            <a:ext cx="600355" cy="382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95DEED-D945-4A12-94DC-7A12C3D6AD75}"/>
              </a:ext>
            </a:extLst>
          </p:cNvPr>
          <p:cNvCxnSpPr>
            <a:stCxn id="4" idx="7"/>
            <a:endCxn id="5" idx="3"/>
          </p:cNvCxnSpPr>
          <p:nvPr/>
        </p:nvCxnSpPr>
        <p:spPr>
          <a:xfrm flipV="1">
            <a:off x="5876645" y="3046025"/>
            <a:ext cx="547868" cy="373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AC8B47-ACD8-450B-AAE9-57660E99656A}"/>
              </a:ext>
            </a:extLst>
          </p:cNvPr>
          <p:cNvCxnSpPr/>
          <p:nvPr/>
        </p:nvCxnSpPr>
        <p:spPr>
          <a:xfrm>
            <a:off x="5005487" y="2884380"/>
            <a:ext cx="1328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YARN | I had a presidential pardon from fitness. | The Goldbergs (2013) -  S01E19 The President's Fitness Test | Video gifs by quotes | e02665cc | 紗">
            <a:extLst>
              <a:ext uri="{FF2B5EF4-FFF2-40B4-BE49-F238E27FC236}">
                <a16:creationId xmlns:a16="http://schemas.microsoft.com/office/drawing/2014/main" id="{6F4A04DD-8D12-B0C6-F680-44BC34D93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0" y="4495800"/>
            <a:ext cx="3810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5074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964" y="304800"/>
            <a:ext cx="7133557" cy="701040"/>
          </a:xfrm>
        </p:spPr>
        <p:txBody>
          <a:bodyPr>
            <a:normAutofit/>
          </a:bodyPr>
          <a:lstStyle/>
          <a:p>
            <a:r>
              <a:rPr lang="en-US" dirty="0"/>
              <a:t>DGPs as DAGs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005840"/>
                <a:ext cx="10820400" cy="5623560"/>
              </a:xfrm>
            </p:spPr>
            <p:txBody>
              <a:bodyPr>
                <a:noAutofit/>
              </a:bodyPr>
              <a:lstStyle/>
              <a:p>
                <a:r>
                  <a:rPr lang="en-US" sz="2400" b="1" dirty="0"/>
                  <a:t>Directed Acyclic Graphs (DAGs):</a:t>
                </a:r>
                <a:endParaRPr lang="en-US" sz="2400" dirty="0"/>
              </a:p>
              <a:p>
                <a:pPr lvl="1"/>
                <a:r>
                  <a:rPr lang="en-US" sz="2400" dirty="0"/>
                  <a:t>Graphical relationship of a chain of causal effects</a:t>
                </a:r>
              </a:p>
              <a:p>
                <a:pPr lvl="1"/>
                <a:r>
                  <a:rPr lang="en-US" sz="2400" dirty="0"/>
                  <a:t>Represented as random variables (nodes) and influencing events (arrows)</a:t>
                </a:r>
              </a:p>
              <a:p>
                <a:pPr lvl="1"/>
                <a:endParaRPr lang="en-US" sz="2400" dirty="0"/>
              </a:p>
              <a:p>
                <a:pPr lvl="1"/>
                <a:endParaRPr lang="en-US" sz="2400" dirty="0"/>
              </a:p>
              <a:p>
                <a:pPr lvl="1"/>
                <a:endParaRPr lang="en-US" sz="2400" dirty="0"/>
              </a:p>
              <a:p>
                <a:pPr lvl="1"/>
                <a:endParaRPr lang="en-US" sz="2400" dirty="0"/>
              </a:p>
              <a:p>
                <a:r>
                  <a:rPr lang="en-US" sz="2400" dirty="0"/>
                  <a:t>We are interested in the effect of D on Y </a:t>
                </a:r>
              </a:p>
              <a:p>
                <a:pPr lvl="1"/>
                <a:r>
                  <a:rPr lang="en-US" sz="2400" dirty="0"/>
                  <a:t>Direct effect (D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m:t>
                    </m:r>
                  </m:oMath>
                </a14:m>
                <a:r>
                  <a:rPr lang="en-US" sz="2400" dirty="0"/>
                  <a:t> – this is the “causal effect” of interest</a:t>
                </a:r>
              </a:p>
              <a:p>
                <a:pPr lvl="1"/>
                <a:r>
                  <a:rPr lang="en-US" sz="2400" dirty="0"/>
                  <a:t>Indirect effect (D </a:t>
                </a:r>
                <a14:m>
                  <m:oMath xmlns:m="http://schemas.openxmlformats.org/officeDocument/2006/math">
                    <m:r>
                      <a:rPr lang="en-US" sz="2400" b="0" i="1" smtClean="0">
                        <a:latin typeface="Cambria Math" panose="02040503050406030204" pitchFamily="18" charset="0"/>
                      </a:rPr>
                      <m:t>←</m:t>
                    </m:r>
                  </m:oMath>
                </a14:m>
                <a:r>
                  <a:rPr lang="en-US" sz="2400" dirty="0"/>
                  <a:t> X </a:t>
                </a:r>
                <a14:m>
                  <m:oMath xmlns:m="http://schemas.openxmlformats.org/officeDocument/2006/math">
                    <m:r>
                      <a:rPr lang="en-US" sz="2400" i="1">
                        <a:latin typeface="Cambria Math" panose="02040503050406030204" pitchFamily="18" charset="0"/>
                      </a:rPr>
                      <m:t>→</m:t>
                    </m:r>
                    <m:r>
                      <m:rPr>
                        <m:sty m:val="p"/>
                      </m:rPr>
                      <a:rPr lang="en-US" sz="2400" b="0" i="0" smtClean="0">
                        <a:latin typeface="Cambria Math" panose="02040503050406030204" pitchFamily="18" charset="0"/>
                      </a:rPr>
                      <m:t>Y</m:t>
                    </m:r>
                    <m:r>
                      <a:rPr lang="en-US" sz="2400" b="0" i="0" smtClean="0">
                        <a:latin typeface="Cambria Math" panose="02040503050406030204" pitchFamily="18" charset="0"/>
                      </a:rPr>
                      <m:t>)</m:t>
                    </m:r>
                  </m:oMath>
                </a14:m>
                <a:r>
                  <a:rPr lang="en-US" sz="2400" b="0" dirty="0"/>
                  <a:t> – this is a “backdoor” path</a:t>
                </a:r>
              </a:p>
              <a:p>
                <a:r>
                  <a:rPr lang="en-US" sz="2400" b="0" dirty="0"/>
                  <a:t>What does an RCT do in this situation? </a:t>
                </a:r>
              </a:p>
              <a:p>
                <a:pPr lvl="1"/>
                <a:endParaRPr lang="en-US" sz="2400" dirty="0"/>
              </a:p>
              <a:p>
                <a:pPr lvl="1"/>
                <a:endParaRPr lang="en-US" sz="2400" dirty="0"/>
              </a:p>
              <a:p>
                <a:pPr lvl="1"/>
                <a:endParaRPr lang="en-US" sz="2400" dirty="0"/>
              </a:p>
              <a:p>
                <a:pPr lvl="1"/>
                <a:endParaRPr lang="en-US" sz="2400" dirty="0"/>
              </a:p>
              <a:p>
                <a:pPr marL="274320" lvl="1"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005840"/>
                <a:ext cx="10820400" cy="5623560"/>
              </a:xfrm>
              <a:blipFill>
                <a:blip r:embed="rId3"/>
                <a:stretch>
                  <a:fillRect l="-451" t="-1192"/>
                </a:stretch>
              </a:blipFill>
            </p:spPr>
            <p:txBody>
              <a:bodyPr/>
              <a:lstStyle/>
              <a:p>
                <a:r>
                  <a:rPr lang="en-CA">
                    <a:noFill/>
                  </a:rPr>
                  <a:t> </a:t>
                </a:r>
              </a:p>
            </p:txBody>
          </p:sp>
        </mc:Fallback>
      </mc:AlternateContent>
      <p:sp>
        <p:nvSpPr>
          <p:cNvPr id="4" name="Oval 3">
            <a:extLst>
              <a:ext uri="{FF2B5EF4-FFF2-40B4-BE49-F238E27FC236}">
                <a16:creationId xmlns:a16="http://schemas.microsoft.com/office/drawing/2014/main" id="{60A69CE1-AAD1-4E00-A64F-5B9C6E629902}"/>
              </a:ext>
            </a:extLst>
          </p:cNvPr>
          <p:cNvSpPr/>
          <p:nvPr/>
        </p:nvSpPr>
        <p:spPr>
          <a:xfrm>
            <a:off x="5486400" y="290682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p>
        </p:txBody>
      </p:sp>
      <p:sp>
        <p:nvSpPr>
          <p:cNvPr id="5" name="Oval 4">
            <a:extLst>
              <a:ext uri="{FF2B5EF4-FFF2-40B4-BE49-F238E27FC236}">
                <a16:creationId xmlns:a16="http://schemas.microsoft.com/office/drawing/2014/main" id="{9A1155EA-90DA-4651-AF19-F57D2394DFFC}"/>
              </a:ext>
            </a:extLst>
          </p:cNvPr>
          <p:cNvSpPr/>
          <p:nvPr/>
        </p:nvSpPr>
        <p:spPr>
          <a:xfrm>
            <a:off x="6357558" y="22098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Y</a:t>
            </a:r>
          </a:p>
        </p:txBody>
      </p:sp>
      <p:sp>
        <p:nvSpPr>
          <p:cNvPr id="6" name="Oval 5">
            <a:extLst>
              <a:ext uri="{FF2B5EF4-FFF2-40B4-BE49-F238E27FC236}">
                <a16:creationId xmlns:a16="http://schemas.microsoft.com/office/drawing/2014/main" id="{0D3AB419-6089-44DB-B9EB-C9B0F2157E9B}"/>
              </a:ext>
            </a:extLst>
          </p:cNvPr>
          <p:cNvSpPr/>
          <p:nvPr/>
        </p:nvSpPr>
        <p:spPr>
          <a:xfrm>
            <a:off x="4495800" y="22098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p:cxnSp>
        <p:nvCxnSpPr>
          <p:cNvPr id="9" name="Straight Arrow Connector 8">
            <a:extLst>
              <a:ext uri="{FF2B5EF4-FFF2-40B4-BE49-F238E27FC236}">
                <a16:creationId xmlns:a16="http://schemas.microsoft.com/office/drawing/2014/main" id="{140B4D30-5EE1-4197-8B95-21513B435049}"/>
              </a:ext>
            </a:extLst>
          </p:cNvPr>
          <p:cNvCxnSpPr>
            <a:stCxn id="4" idx="1"/>
          </p:cNvCxnSpPr>
          <p:nvPr/>
        </p:nvCxnSpPr>
        <p:spPr>
          <a:xfrm flipH="1" flipV="1">
            <a:off x="4953001" y="2590801"/>
            <a:ext cx="600355" cy="382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95DEED-D945-4A12-94DC-7A12C3D6AD75}"/>
              </a:ext>
            </a:extLst>
          </p:cNvPr>
          <p:cNvCxnSpPr>
            <a:stCxn id="4" idx="7"/>
            <a:endCxn id="5" idx="3"/>
          </p:cNvCxnSpPr>
          <p:nvPr/>
        </p:nvCxnSpPr>
        <p:spPr>
          <a:xfrm flipV="1">
            <a:off x="5876645" y="2600045"/>
            <a:ext cx="547868" cy="373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AC8B47-ACD8-450B-AAE9-57660E99656A}"/>
              </a:ext>
            </a:extLst>
          </p:cNvPr>
          <p:cNvCxnSpPr/>
          <p:nvPr/>
        </p:nvCxnSpPr>
        <p:spPr>
          <a:xfrm>
            <a:off x="5005487" y="2438400"/>
            <a:ext cx="1328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55933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670" y="304800"/>
            <a:ext cx="10100929" cy="701040"/>
          </a:xfrm>
        </p:spPr>
        <p:txBody>
          <a:bodyPr>
            <a:normAutofit/>
          </a:bodyPr>
          <a:lstStyle/>
          <a:p>
            <a:r>
              <a:rPr lang="en-US" dirty="0"/>
              <a:t>How do we define a causal relationship?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005840"/>
                <a:ext cx="10744200" cy="5623560"/>
              </a:xfrm>
            </p:spPr>
            <p:txBody>
              <a:bodyPr>
                <a:noAutofit/>
              </a:bodyPr>
              <a:lstStyle/>
              <a:p>
                <a:pPr lvl="1"/>
                <a:endParaRPr lang="en-US" sz="2400" dirty="0"/>
              </a:p>
              <a:p>
                <a:pPr lvl="1"/>
                <a:endParaRPr lang="en-US" sz="2400" dirty="0"/>
              </a:p>
              <a:p>
                <a:pPr marL="274320" lvl="1" indent="0">
                  <a:buNone/>
                </a:pPr>
                <a:endParaRPr lang="en-US" sz="2400" dirty="0"/>
              </a:p>
              <a:p>
                <a:endParaRPr lang="en-US" sz="2400" dirty="0"/>
              </a:p>
              <a:p>
                <a:endParaRPr lang="en-US" sz="2400" dirty="0"/>
              </a:p>
              <a:p>
                <a:r>
                  <a:rPr lang="en-US" sz="2400" b="1" dirty="0"/>
                  <a:t>First step: </a:t>
                </a:r>
                <a:r>
                  <a:rPr lang="en-US" sz="2400" dirty="0"/>
                  <a:t>list all pathways between D and Y: </a:t>
                </a:r>
              </a:p>
              <a:p>
                <a:pPr lvl="1"/>
                <a:r>
                  <a:rPr lang="en-US" sz="2400" dirty="0"/>
                  <a:t>D </a:t>
                </a:r>
                <a14:m>
                  <m:oMath xmlns:m="http://schemas.openxmlformats.org/officeDocument/2006/math">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𝑌</m:t>
                        </m:r>
                      </m:e>
                    </m:acc>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 </m:t>
                    </m:r>
                  </m:oMath>
                </a14:m>
                <a:endParaRPr lang="en-US" sz="2400" b="0" dirty="0"/>
              </a:p>
              <a:p>
                <a:pPr lvl="1"/>
                <a:r>
                  <a:rPr lang="en-US" sz="2400" dirty="0"/>
                  <a:t>D </a:t>
                </a:r>
                <a14:m>
                  <m:oMath xmlns:m="http://schemas.openxmlformats.org/officeDocument/2006/math">
                    <m:r>
                      <a:rPr lang="en-US" sz="240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𝑌</m:t>
                        </m:r>
                      </m:e>
                    </m:acc>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 </m:t>
                    </m:r>
                  </m:oMath>
                </a14:m>
                <a:endParaRPr lang="en-US" sz="2400" b="0" dirty="0"/>
              </a:p>
              <a:p>
                <a:pPr lvl="1"/>
                <a:r>
                  <a:rPr lang="en-US" sz="2400" dirty="0"/>
                  <a:t>D </a:t>
                </a:r>
                <a14:m>
                  <m:oMath xmlns:m="http://schemas.openxmlformats.org/officeDocument/2006/math">
                    <m:r>
                      <a:rPr lang="en-US" sz="240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𝑅</m:t>
                    </m:r>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𝑌</m:t>
                        </m:r>
                      </m:e>
                    </m:acc>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 </m:t>
                    </m:r>
                  </m:oMath>
                </a14:m>
                <a:endParaRPr lang="en-US" sz="2400" dirty="0"/>
              </a:p>
              <a:p>
                <a:r>
                  <a:rPr lang="en-US" sz="2400" dirty="0"/>
                  <a:t>To ID causal effects, we must </a:t>
                </a:r>
                <a:r>
                  <a:rPr lang="en-US" sz="2400" b="1" dirty="0"/>
                  <a:t>close </a:t>
                </a:r>
                <a:r>
                  <a:rPr lang="en-US" sz="2400" b="1" dirty="0">
                    <a:solidFill>
                      <a:schemeClr val="accent2">
                        <a:lumMod val="75000"/>
                      </a:schemeClr>
                    </a:solidFill>
                  </a:rPr>
                  <a:t>all open pathways not of interest</a:t>
                </a:r>
              </a:p>
              <a:p>
                <a:pPr lvl="1"/>
                <a:r>
                  <a:rPr lang="en-US" sz="2400" dirty="0"/>
                  <a:t>DAGs give insight into the appropriate methods to do this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005840"/>
                <a:ext cx="10744200" cy="5623560"/>
              </a:xfrm>
              <a:blipFill>
                <a:blip r:embed="rId3"/>
                <a:stretch>
                  <a:fillRect l="-454"/>
                </a:stretch>
              </a:blipFill>
            </p:spPr>
            <p:txBody>
              <a:bodyPr/>
              <a:lstStyle/>
              <a:p>
                <a:r>
                  <a:rPr lang="en-CA">
                    <a:noFill/>
                  </a:rPr>
                  <a:t> </a:t>
                </a:r>
              </a:p>
            </p:txBody>
          </p:sp>
        </mc:Fallback>
      </mc:AlternateContent>
      <p:grpSp>
        <p:nvGrpSpPr>
          <p:cNvPr id="32" name="Group 31">
            <a:extLst>
              <a:ext uri="{FF2B5EF4-FFF2-40B4-BE49-F238E27FC236}">
                <a16:creationId xmlns:a16="http://schemas.microsoft.com/office/drawing/2014/main" id="{6112502E-0A0D-4A76-8879-3B38826947B2}"/>
              </a:ext>
            </a:extLst>
          </p:cNvPr>
          <p:cNvGrpSpPr/>
          <p:nvPr/>
        </p:nvGrpSpPr>
        <p:grpSpPr>
          <a:xfrm>
            <a:off x="3733800" y="1143000"/>
            <a:ext cx="3586023" cy="1981200"/>
            <a:chOff x="2209800" y="2209801"/>
            <a:chExt cx="3057245" cy="1600200"/>
          </a:xfrm>
        </p:grpSpPr>
        <p:sp>
          <p:nvSpPr>
            <p:cNvPr id="4" name="Oval 3">
              <a:extLst>
                <a:ext uri="{FF2B5EF4-FFF2-40B4-BE49-F238E27FC236}">
                  <a16:creationId xmlns:a16="http://schemas.microsoft.com/office/drawing/2014/main" id="{60A69CE1-AAD1-4E00-A64F-5B9C6E629902}"/>
                </a:ext>
              </a:extLst>
            </p:cNvPr>
            <p:cNvSpPr/>
            <p:nvPr/>
          </p:nvSpPr>
          <p:spPr>
            <a:xfrm>
              <a:off x="3440220" y="22860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p:sp>
          <p:nvSpPr>
            <p:cNvPr id="5" name="Oval 4">
              <a:extLst>
                <a:ext uri="{FF2B5EF4-FFF2-40B4-BE49-F238E27FC236}">
                  <a16:creationId xmlns:a16="http://schemas.microsoft.com/office/drawing/2014/main" id="{9A1155EA-90DA-4651-AF19-F57D2394DFFC}"/>
                </a:ext>
              </a:extLst>
            </p:cNvPr>
            <p:cNvSpPr/>
            <p:nvPr/>
          </p:nvSpPr>
          <p:spPr>
            <a:xfrm>
              <a:off x="4809845" y="32004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Y</a:t>
              </a:r>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0D3AB419-6089-44DB-B9EB-C9B0F2157E9B}"/>
                    </a:ext>
                  </a:extLst>
                </p:cNvPr>
                <p:cNvSpPr/>
                <p:nvPr/>
              </p:nvSpPr>
              <p:spPr>
                <a:xfrm>
                  <a:off x="3695699" y="32004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𝑌</m:t>
                            </m:r>
                          </m:e>
                        </m:acc>
                      </m:oMath>
                    </m:oMathPara>
                  </a14:m>
                  <a:endParaRPr lang="en-US"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0D3AB419-6089-44DB-B9EB-C9B0F2157E9B}"/>
                    </a:ext>
                  </a:extLst>
                </p:cNvPr>
                <p:cNvSpPr>
                  <a:spLocks noRot="1" noChangeAspect="1" noMove="1" noResize="1" noEditPoints="1" noAdjustHandles="1" noChangeArrowheads="1" noChangeShapeType="1" noTextEdit="1"/>
                </p:cNvSpPr>
                <p:nvPr/>
              </p:nvSpPr>
              <p:spPr>
                <a:xfrm>
                  <a:off x="3695699" y="3200400"/>
                  <a:ext cx="457200" cy="457200"/>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140B4D30-5EE1-4197-8B95-21513B435049}"/>
                </a:ext>
              </a:extLst>
            </p:cNvPr>
            <p:cNvCxnSpPr>
              <a:cxnSpLocks/>
            </p:cNvCxnSpPr>
            <p:nvPr/>
          </p:nvCxnSpPr>
          <p:spPr>
            <a:xfrm>
              <a:off x="2788869" y="2514600"/>
              <a:ext cx="6132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AC8B47-ACD8-450B-AAE9-57660E99656A}"/>
                </a:ext>
              </a:extLst>
            </p:cNvPr>
            <p:cNvCxnSpPr>
              <a:cxnSpLocks/>
            </p:cNvCxnSpPr>
            <p:nvPr/>
          </p:nvCxnSpPr>
          <p:spPr>
            <a:xfrm>
              <a:off x="4145666" y="3448167"/>
              <a:ext cx="6641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4395923-FA01-4E6B-BB06-708F6BC922D5}"/>
                </a:ext>
              </a:extLst>
            </p:cNvPr>
            <p:cNvCxnSpPr>
              <a:cxnSpLocks/>
              <a:endCxn id="6" idx="0"/>
            </p:cNvCxnSpPr>
            <p:nvPr/>
          </p:nvCxnSpPr>
          <p:spPr>
            <a:xfrm>
              <a:off x="3733800" y="2743200"/>
              <a:ext cx="190499"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51B0700-1E64-4344-9FD9-C8E212AA8AD5}"/>
                </a:ext>
              </a:extLst>
            </p:cNvPr>
            <p:cNvSpPr/>
            <p:nvPr/>
          </p:nvSpPr>
          <p:spPr>
            <a:xfrm>
              <a:off x="2209800" y="2209801"/>
              <a:ext cx="525218" cy="533399"/>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endParaRPr lang="en-US" sz="1050" dirty="0">
                <a:latin typeface="Times New Roman" panose="02020603050405020304" pitchFamily="18" charset="0"/>
              </a:endParaRPr>
            </a:p>
          </p:txBody>
        </p:sp>
        <p:sp>
          <p:nvSpPr>
            <p:cNvPr id="23" name="Oval 22">
              <a:extLst>
                <a:ext uri="{FF2B5EF4-FFF2-40B4-BE49-F238E27FC236}">
                  <a16:creationId xmlns:a16="http://schemas.microsoft.com/office/drawing/2014/main" id="{1FDD7231-371C-4800-A673-57A1AD4C5D32}"/>
                </a:ext>
              </a:extLst>
            </p:cNvPr>
            <p:cNvSpPr/>
            <p:nvPr/>
          </p:nvSpPr>
          <p:spPr>
            <a:xfrm>
              <a:off x="2362200" y="3352801"/>
              <a:ext cx="4572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latin typeface="Times New Roman" panose="02020603050405020304" pitchFamily="18" charset="0"/>
                </a:rPr>
                <a:t>B</a:t>
              </a:r>
            </a:p>
          </p:txBody>
        </p:sp>
        <p:cxnSp>
          <p:nvCxnSpPr>
            <p:cNvPr id="24" name="Straight Arrow Connector 23">
              <a:extLst>
                <a:ext uri="{FF2B5EF4-FFF2-40B4-BE49-F238E27FC236}">
                  <a16:creationId xmlns:a16="http://schemas.microsoft.com/office/drawing/2014/main" id="{0742C1F7-42E9-4537-9173-F50851B1C26F}"/>
                </a:ext>
              </a:extLst>
            </p:cNvPr>
            <p:cNvCxnSpPr>
              <a:cxnSpLocks/>
            </p:cNvCxnSpPr>
            <p:nvPr/>
          </p:nvCxnSpPr>
          <p:spPr>
            <a:xfrm>
              <a:off x="2743200" y="2590800"/>
              <a:ext cx="9144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3231C08-703B-4392-B16F-132E7042C987}"/>
                </a:ext>
              </a:extLst>
            </p:cNvPr>
            <p:cNvCxnSpPr>
              <a:cxnSpLocks/>
            </p:cNvCxnSpPr>
            <p:nvPr/>
          </p:nvCxnSpPr>
          <p:spPr>
            <a:xfrm flipH="1" flipV="1">
              <a:off x="2514600" y="2819400"/>
              <a:ext cx="76200" cy="53340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D1DC796-AA48-435B-BF58-846A6F4F9B12}"/>
                </a:ext>
              </a:extLst>
            </p:cNvPr>
            <p:cNvCxnSpPr>
              <a:cxnSpLocks/>
            </p:cNvCxnSpPr>
            <p:nvPr/>
          </p:nvCxnSpPr>
          <p:spPr>
            <a:xfrm flipV="1">
              <a:off x="2895600" y="3505200"/>
              <a:ext cx="697020" cy="7620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910427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014" y="304800"/>
            <a:ext cx="7782187" cy="701040"/>
          </a:xfrm>
        </p:spPr>
        <p:txBody>
          <a:bodyPr>
            <a:normAutofit/>
          </a:bodyPr>
          <a:lstStyle/>
          <a:p>
            <a:r>
              <a:rPr lang="en-US" dirty="0"/>
              <a:t>A More Involved DAG</a:t>
            </a:r>
          </a:p>
        </p:txBody>
      </p:sp>
      <p:grpSp>
        <p:nvGrpSpPr>
          <p:cNvPr id="32" name="Group 31">
            <a:extLst>
              <a:ext uri="{FF2B5EF4-FFF2-40B4-BE49-F238E27FC236}">
                <a16:creationId xmlns:a16="http://schemas.microsoft.com/office/drawing/2014/main" id="{6112502E-0A0D-4A76-8879-3B38826947B2}"/>
              </a:ext>
            </a:extLst>
          </p:cNvPr>
          <p:cNvGrpSpPr/>
          <p:nvPr/>
        </p:nvGrpSpPr>
        <p:grpSpPr>
          <a:xfrm>
            <a:off x="4186378" y="1828800"/>
            <a:ext cx="3057245" cy="1600200"/>
            <a:chOff x="2209800" y="2209801"/>
            <a:chExt cx="3057245" cy="1600200"/>
          </a:xfrm>
        </p:grpSpPr>
        <p:sp>
          <p:nvSpPr>
            <p:cNvPr id="4" name="Oval 3">
              <a:extLst>
                <a:ext uri="{FF2B5EF4-FFF2-40B4-BE49-F238E27FC236}">
                  <a16:creationId xmlns:a16="http://schemas.microsoft.com/office/drawing/2014/main" id="{60A69CE1-AAD1-4E00-A64F-5B9C6E629902}"/>
                </a:ext>
              </a:extLst>
            </p:cNvPr>
            <p:cNvSpPr/>
            <p:nvPr/>
          </p:nvSpPr>
          <p:spPr>
            <a:xfrm>
              <a:off x="3440220" y="22860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p:sp>
          <p:nvSpPr>
            <p:cNvPr id="5" name="Oval 4">
              <a:extLst>
                <a:ext uri="{FF2B5EF4-FFF2-40B4-BE49-F238E27FC236}">
                  <a16:creationId xmlns:a16="http://schemas.microsoft.com/office/drawing/2014/main" id="{9A1155EA-90DA-4651-AF19-F57D2394DFFC}"/>
                </a:ext>
              </a:extLst>
            </p:cNvPr>
            <p:cNvSpPr/>
            <p:nvPr/>
          </p:nvSpPr>
          <p:spPr>
            <a:xfrm>
              <a:off x="4809845" y="32004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Y</a:t>
              </a:r>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0D3AB419-6089-44DB-B9EB-C9B0F2157E9B}"/>
                    </a:ext>
                  </a:extLst>
                </p:cNvPr>
                <p:cNvSpPr/>
                <p:nvPr/>
              </p:nvSpPr>
              <p:spPr>
                <a:xfrm>
                  <a:off x="3695699" y="32004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𝑌</m:t>
                            </m:r>
                          </m:e>
                        </m:acc>
                      </m:oMath>
                    </m:oMathPara>
                  </a14:m>
                  <a:endParaRPr lang="en-US" dirty="0">
                    <a:latin typeface="Times New Roman" panose="02020603050405020304" pitchFamily="18" charset="0"/>
                  </a:endParaRPr>
                </a:p>
              </p:txBody>
            </p:sp>
          </mc:Choice>
          <mc:Fallback xmlns="">
            <p:sp>
              <p:nvSpPr>
                <p:cNvPr id="6" name="Oval 5">
                  <a:extLst>
                    <a:ext uri="{FF2B5EF4-FFF2-40B4-BE49-F238E27FC236}">
                      <a16:creationId xmlns:a16="http://schemas.microsoft.com/office/drawing/2014/main" id="{0D3AB419-6089-44DB-B9EB-C9B0F2157E9B}"/>
                    </a:ext>
                  </a:extLst>
                </p:cNvPr>
                <p:cNvSpPr>
                  <a:spLocks noRot="1" noChangeAspect="1" noMove="1" noResize="1" noEditPoints="1" noAdjustHandles="1" noChangeArrowheads="1" noChangeShapeType="1" noTextEdit="1"/>
                </p:cNvSpPr>
                <p:nvPr/>
              </p:nvSpPr>
              <p:spPr>
                <a:xfrm>
                  <a:off x="3695699" y="3200400"/>
                  <a:ext cx="457200" cy="457200"/>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140B4D30-5EE1-4197-8B95-21513B435049}"/>
                </a:ext>
              </a:extLst>
            </p:cNvPr>
            <p:cNvCxnSpPr>
              <a:cxnSpLocks/>
            </p:cNvCxnSpPr>
            <p:nvPr/>
          </p:nvCxnSpPr>
          <p:spPr>
            <a:xfrm>
              <a:off x="2788869" y="2514600"/>
              <a:ext cx="6132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AC8B47-ACD8-450B-AAE9-57660E99656A}"/>
                </a:ext>
              </a:extLst>
            </p:cNvPr>
            <p:cNvCxnSpPr>
              <a:cxnSpLocks/>
            </p:cNvCxnSpPr>
            <p:nvPr/>
          </p:nvCxnSpPr>
          <p:spPr>
            <a:xfrm>
              <a:off x="4145666" y="3448167"/>
              <a:ext cx="6641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4395923-FA01-4E6B-BB06-708F6BC922D5}"/>
                </a:ext>
              </a:extLst>
            </p:cNvPr>
            <p:cNvCxnSpPr>
              <a:cxnSpLocks/>
              <a:endCxn id="6" idx="0"/>
            </p:cNvCxnSpPr>
            <p:nvPr/>
          </p:nvCxnSpPr>
          <p:spPr>
            <a:xfrm>
              <a:off x="3733800" y="2743200"/>
              <a:ext cx="190499"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51B0700-1E64-4344-9FD9-C8E212AA8AD5}"/>
                </a:ext>
              </a:extLst>
            </p:cNvPr>
            <p:cNvSpPr/>
            <p:nvPr/>
          </p:nvSpPr>
          <p:spPr>
            <a:xfrm>
              <a:off x="2209800" y="2209801"/>
              <a:ext cx="525218" cy="533399"/>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endParaRPr lang="en-US" sz="1050" dirty="0">
                <a:latin typeface="Times New Roman" panose="02020603050405020304" pitchFamily="18" charset="0"/>
              </a:endParaRPr>
            </a:p>
          </p:txBody>
        </p:sp>
        <p:sp>
          <p:nvSpPr>
            <p:cNvPr id="23" name="Oval 22">
              <a:extLst>
                <a:ext uri="{FF2B5EF4-FFF2-40B4-BE49-F238E27FC236}">
                  <a16:creationId xmlns:a16="http://schemas.microsoft.com/office/drawing/2014/main" id="{1FDD7231-371C-4800-A673-57A1AD4C5D32}"/>
                </a:ext>
              </a:extLst>
            </p:cNvPr>
            <p:cNvSpPr/>
            <p:nvPr/>
          </p:nvSpPr>
          <p:spPr>
            <a:xfrm>
              <a:off x="2362200" y="3352801"/>
              <a:ext cx="4572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latin typeface="Times New Roman" panose="02020603050405020304" pitchFamily="18" charset="0"/>
                </a:rPr>
                <a:t>R</a:t>
              </a:r>
            </a:p>
          </p:txBody>
        </p:sp>
        <p:cxnSp>
          <p:nvCxnSpPr>
            <p:cNvPr id="24" name="Straight Arrow Connector 23">
              <a:extLst>
                <a:ext uri="{FF2B5EF4-FFF2-40B4-BE49-F238E27FC236}">
                  <a16:creationId xmlns:a16="http://schemas.microsoft.com/office/drawing/2014/main" id="{0742C1F7-42E9-4537-9173-F50851B1C26F}"/>
                </a:ext>
              </a:extLst>
            </p:cNvPr>
            <p:cNvCxnSpPr>
              <a:cxnSpLocks/>
            </p:cNvCxnSpPr>
            <p:nvPr/>
          </p:nvCxnSpPr>
          <p:spPr>
            <a:xfrm>
              <a:off x="2743200" y="2590800"/>
              <a:ext cx="9144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3231C08-703B-4392-B16F-132E7042C987}"/>
                </a:ext>
              </a:extLst>
            </p:cNvPr>
            <p:cNvCxnSpPr>
              <a:cxnSpLocks/>
            </p:cNvCxnSpPr>
            <p:nvPr/>
          </p:nvCxnSpPr>
          <p:spPr>
            <a:xfrm flipH="1" flipV="1">
              <a:off x="2514600" y="2819400"/>
              <a:ext cx="76200" cy="53340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D1DC796-AA48-435B-BF58-846A6F4F9B12}"/>
                </a:ext>
              </a:extLst>
            </p:cNvPr>
            <p:cNvCxnSpPr>
              <a:cxnSpLocks/>
            </p:cNvCxnSpPr>
            <p:nvPr/>
          </p:nvCxnSpPr>
          <p:spPr>
            <a:xfrm flipV="1">
              <a:off x="2895600" y="3505200"/>
              <a:ext cx="697020" cy="7620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8" name="Picture 7">
            <a:extLst>
              <a:ext uri="{FF2B5EF4-FFF2-40B4-BE49-F238E27FC236}">
                <a16:creationId xmlns:a16="http://schemas.microsoft.com/office/drawing/2014/main" id="{DE615A4A-71E0-1C19-76B8-821DC002FA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7813" y="1005840"/>
            <a:ext cx="7807151" cy="5844725"/>
          </a:xfrm>
          <a:prstGeom prst="rect">
            <a:avLst/>
          </a:prstGeom>
        </p:spPr>
      </p:pic>
    </p:spTree>
    <p:extLst>
      <p:ext uri="{BB962C8B-B14F-4D97-AF65-F5344CB8AC3E}">
        <p14:creationId xmlns:p14="http://schemas.microsoft.com/office/powerpoint/2010/main" val="26332914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AC40F-0117-236D-04C6-D426DCDB3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68367-D69B-BD9F-A140-41ECF0E8557D}"/>
              </a:ext>
            </a:extLst>
          </p:cNvPr>
          <p:cNvSpPr>
            <a:spLocks noGrp="1"/>
          </p:cNvSpPr>
          <p:nvPr>
            <p:ph type="title"/>
          </p:nvPr>
        </p:nvSpPr>
        <p:spPr>
          <a:xfrm>
            <a:off x="414670" y="304800"/>
            <a:ext cx="10100929" cy="701040"/>
          </a:xfrm>
        </p:spPr>
        <p:txBody>
          <a:bodyPr>
            <a:normAutofit/>
          </a:bodyPr>
          <a:lstStyle/>
          <a:p>
            <a:r>
              <a:rPr lang="en-US" dirty="0"/>
              <a:t>Introduction to Identification</a:t>
            </a:r>
          </a:p>
        </p:txBody>
      </p:sp>
      <p:sp>
        <p:nvSpPr>
          <p:cNvPr id="3" name="Content Placeholder 2">
            <a:extLst>
              <a:ext uri="{FF2B5EF4-FFF2-40B4-BE49-F238E27FC236}">
                <a16:creationId xmlns:a16="http://schemas.microsoft.com/office/drawing/2014/main" id="{8F979723-434B-A4D9-9362-42364DD66D4C}"/>
              </a:ext>
            </a:extLst>
          </p:cNvPr>
          <p:cNvSpPr>
            <a:spLocks noGrp="1"/>
          </p:cNvSpPr>
          <p:nvPr>
            <p:ph idx="1"/>
          </p:nvPr>
        </p:nvSpPr>
        <p:spPr>
          <a:xfrm>
            <a:off x="228600" y="1005840"/>
            <a:ext cx="10744200" cy="5623560"/>
          </a:xfrm>
        </p:spPr>
        <p:txBody>
          <a:bodyPr>
            <a:noAutofit/>
          </a:bodyPr>
          <a:lstStyle/>
          <a:p>
            <a:pPr lvl="1"/>
            <a:r>
              <a:rPr lang="en-US" sz="2400" dirty="0"/>
              <a:t>The main problem here is one of </a:t>
            </a:r>
            <a:r>
              <a:rPr lang="en-US" sz="2400" b="1" u="sng" dirty="0"/>
              <a:t>identification</a:t>
            </a:r>
            <a:r>
              <a:rPr lang="en-US" sz="2400" dirty="0"/>
              <a:t>: what is the story the data are telling? </a:t>
            </a:r>
          </a:p>
          <a:p>
            <a:pPr lvl="1"/>
            <a:r>
              <a:rPr lang="en-US" sz="2400" dirty="0"/>
              <a:t>Imagine a Sudoku puzzle. Identification is *knowing* what numbers go where. But not all squares are immediately identified!</a:t>
            </a:r>
            <a:endParaRPr lang="en-US" sz="2200" dirty="0"/>
          </a:p>
          <a:p>
            <a:pPr lvl="1"/>
            <a:endParaRPr lang="en-US" sz="2400" dirty="0"/>
          </a:p>
          <a:p>
            <a:pPr marL="274320" lvl="1" indent="0">
              <a:buNone/>
            </a:pPr>
            <a:endParaRPr lang="en-US" sz="2400" dirty="0"/>
          </a:p>
          <a:p>
            <a:endParaRPr lang="en-US" sz="2400" dirty="0"/>
          </a:p>
          <a:p>
            <a:endParaRPr lang="en-US" sz="2400" dirty="0"/>
          </a:p>
        </p:txBody>
      </p:sp>
      <p:sp>
        <p:nvSpPr>
          <p:cNvPr id="7" name="AutoShape 2" descr="More on uniqueness in Sudoku">
            <a:extLst>
              <a:ext uri="{FF2B5EF4-FFF2-40B4-BE49-F238E27FC236}">
                <a16:creationId xmlns:a16="http://schemas.microsoft.com/office/drawing/2014/main" id="{2A2D77B6-4E1E-5ED4-C4D1-F1AA22873E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2056" name="Picture 8" descr="Sudoku 4x4 - Easy - Sudoku-Puzzles.net">
            <a:extLst>
              <a:ext uri="{FF2B5EF4-FFF2-40B4-BE49-F238E27FC236}">
                <a16:creationId xmlns:a16="http://schemas.microsoft.com/office/drawing/2014/main" id="{14C8D82F-721B-F547-CEBC-2C7A7D6FD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67000"/>
            <a:ext cx="3667125"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311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366B3-F671-C568-FEA2-1B3BFC9DD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60138-0170-2F88-BAD5-BCE020F04B89}"/>
              </a:ext>
            </a:extLst>
          </p:cNvPr>
          <p:cNvSpPr>
            <a:spLocks noGrp="1"/>
          </p:cNvSpPr>
          <p:nvPr>
            <p:ph type="title"/>
          </p:nvPr>
        </p:nvSpPr>
        <p:spPr>
          <a:xfrm>
            <a:off x="414670" y="304800"/>
            <a:ext cx="10100929" cy="701040"/>
          </a:xfrm>
        </p:spPr>
        <p:txBody>
          <a:bodyPr>
            <a:normAutofit/>
          </a:bodyPr>
          <a:lstStyle/>
          <a:p>
            <a:r>
              <a:rPr lang="en-US" dirty="0"/>
              <a:t>Introduction to Identification</a:t>
            </a:r>
          </a:p>
        </p:txBody>
      </p:sp>
      <p:sp>
        <p:nvSpPr>
          <p:cNvPr id="3" name="Content Placeholder 2">
            <a:extLst>
              <a:ext uri="{FF2B5EF4-FFF2-40B4-BE49-F238E27FC236}">
                <a16:creationId xmlns:a16="http://schemas.microsoft.com/office/drawing/2014/main" id="{C7332712-B9C5-639B-EA63-23F534E5646B}"/>
              </a:ext>
            </a:extLst>
          </p:cNvPr>
          <p:cNvSpPr>
            <a:spLocks noGrp="1"/>
          </p:cNvSpPr>
          <p:nvPr>
            <p:ph idx="1"/>
          </p:nvPr>
        </p:nvSpPr>
        <p:spPr>
          <a:xfrm>
            <a:off x="228600" y="1005840"/>
            <a:ext cx="10744200" cy="5623560"/>
          </a:xfrm>
        </p:spPr>
        <p:txBody>
          <a:bodyPr>
            <a:noAutofit/>
          </a:bodyPr>
          <a:lstStyle/>
          <a:p>
            <a:pPr lvl="1"/>
            <a:r>
              <a:rPr lang="en-US" sz="2400" dirty="0"/>
              <a:t>The main problem here is one of </a:t>
            </a:r>
            <a:r>
              <a:rPr lang="en-US" sz="2400" b="1" u="sng" dirty="0"/>
              <a:t>identification</a:t>
            </a:r>
            <a:r>
              <a:rPr lang="en-US" sz="2400" dirty="0"/>
              <a:t>: what is the story the data are telling? </a:t>
            </a:r>
          </a:p>
          <a:p>
            <a:pPr lvl="1"/>
            <a:r>
              <a:rPr lang="en-US" sz="2400" dirty="0"/>
              <a:t>Imagine a Sudoku puzzle. Identification is *knowing* what numbers go where. But not all squares are immediately identified!</a:t>
            </a:r>
            <a:endParaRPr lang="en-US" sz="2200" dirty="0"/>
          </a:p>
          <a:p>
            <a:pPr lvl="1"/>
            <a:endParaRPr lang="en-US" sz="2400" dirty="0"/>
          </a:p>
          <a:p>
            <a:pPr marL="274320" lvl="1" indent="0">
              <a:buNone/>
            </a:pPr>
            <a:endParaRPr lang="en-US" sz="2400" dirty="0"/>
          </a:p>
          <a:p>
            <a:endParaRPr lang="en-US" sz="2400" dirty="0"/>
          </a:p>
          <a:p>
            <a:endParaRPr lang="en-US" sz="2400" dirty="0"/>
          </a:p>
        </p:txBody>
      </p:sp>
      <p:sp>
        <p:nvSpPr>
          <p:cNvPr id="7" name="AutoShape 2" descr="More on uniqueness in Sudoku">
            <a:extLst>
              <a:ext uri="{FF2B5EF4-FFF2-40B4-BE49-F238E27FC236}">
                <a16:creationId xmlns:a16="http://schemas.microsoft.com/office/drawing/2014/main" id="{22F06CD3-A3D3-DCDB-83FC-B350D3625E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 name="TextBox 3">
            <a:extLst>
              <a:ext uri="{FF2B5EF4-FFF2-40B4-BE49-F238E27FC236}">
                <a16:creationId xmlns:a16="http://schemas.microsoft.com/office/drawing/2014/main" id="{00CF1B50-2699-C8AD-48C7-0E883F43C564}"/>
              </a:ext>
            </a:extLst>
          </p:cNvPr>
          <p:cNvSpPr txBox="1"/>
          <p:nvPr/>
        </p:nvSpPr>
        <p:spPr>
          <a:xfrm>
            <a:off x="4724400" y="2895600"/>
            <a:ext cx="5181600" cy="1754326"/>
          </a:xfrm>
          <a:prstGeom prst="rect">
            <a:avLst/>
          </a:prstGeom>
          <a:solidFill>
            <a:schemeClr val="accent5">
              <a:lumMod val="60000"/>
              <a:lumOff val="40000"/>
            </a:schemeClr>
          </a:solidFill>
          <a:ln>
            <a:solidFill>
              <a:schemeClr val="tx1"/>
            </a:solidFill>
          </a:ln>
        </p:spPr>
        <p:txBody>
          <a:bodyPr wrap="square" rtlCol="0">
            <a:spAutoFit/>
          </a:bodyPr>
          <a:lstStyle/>
          <a:p>
            <a:r>
              <a:rPr lang="en-US" dirty="0">
                <a:solidFill>
                  <a:schemeClr val="bg1"/>
                </a:solidFill>
              </a:rPr>
              <a:t>Using observational data to make causal claims means that we aren’t always guaranteed to be able to solve the puzzle. We need to make different assumptions to “identify” the effects of interest, and sometimes remaining issues threaten that identification.</a:t>
            </a:r>
            <a:endParaRPr lang="en-CA" dirty="0">
              <a:solidFill>
                <a:schemeClr val="bg1"/>
              </a:solidFill>
            </a:endParaRPr>
          </a:p>
        </p:txBody>
      </p:sp>
      <p:pic>
        <p:nvPicPr>
          <p:cNvPr id="5" name="Picture 8" descr="Sudoku 4x4 - Easy - Sudoku-Puzzles.net">
            <a:extLst>
              <a:ext uri="{FF2B5EF4-FFF2-40B4-BE49-F238E27FC236}">
                <a16:creationId xmlns:a16="http://schemas.microsoft.com/office/drawing/2014/main" id="{E8B55873-AE55-06B5-4E1A-D325498383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67000"/>
            <a:ext cx="3667125"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296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FA0AA-9873-31B3-B1D3-F91BCF320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AF7DA-87FB-B2B4-27C8-5F57E9EE0081}"/>
              </a:ext>
            </a:extLst>
          </p:cNvPr>
          <p:cNvSpPr>
            <a:spLocks noGrp="1"/>
          </p:cNvSpPr>
          <p:nvPr>
            <p:ph type="title"/>
          </p:nvPr>
        </p:nvSpPr>
        <p:spPr>
          <a:xfrm>
            <a:off x="414670" y="304800"/>
            <a:ext cx="10100929" cy="701040"/>
          </a:xfrm>
        </p:spPr>
        <p:txBody>
          <a:bodyPr>
            <a:normAutofit fontScale="90000"/>
          </a:bodyPr>
          <a:lstStyle/>
          <a:p>
            <a:r>
              <a:rPr lang="en-US" dirty="0"/>
              <a:t>Let’s take the Con out of Econometrics</a:t>
            </a:r>
            <a:br>
              <a:rPr lang="en-US" dirty="0"/>
            </a:br>
            <a:r>
              <a:rPr lang="en-US" sz="2200" dirty="0"/>
              <a:t>(Edward Leamer, 1983)</a:t>
            </a:r>
          </a:p>
        </p:txBody>
      </p:sp>
      <p:sp>
        <p:nvSpPr>
          <p:cNvPr id="3" name="Content Placeholder 2">
            <a:extLst>
              <a:ext uri="{FF2B5EF4-FFF2-40B4-BE49-F238E27FC236}">
                <a16:creationId xmlns:a16="http://schemas.microsoft.com/office/drawing/2014/main" id="{4C53698B-CF91-A861-A662-9F7934AC7E2F}"/>
              </a:ext>
            </a:extLst>
          </p:cNvPr>
          <p:cNvSpPr>
            <a:spLocks noGrp="1"/>
          </p:cNvSpPr>
          <p:nvPr>
            <p:ph idx="1"/>
          </p:nvPr>
        </p:nvSpPr>
        <p:spPr>
          <a:xfrm>
            <a:off x="228600" y="1005840"/>
            <a:ext cx="10744200" cy="5623560"/>
          </a:xfrm>
        </p:spPr>
        <p:txBody>
          <a:bodyPr>
            <a:noAutofit/>
          </a:bodyPr>
          <a:lstStyle/>
          <a:p>
            <a:pPr lvl="1"/>
            <a:endParaRPr lang="en-US" sz="2400" dirty="0"/>
          </a:p>
          <a:p>
            <a:pPr marL="274320" lvl="1" indent="0">
              <a:buNone/>
            </a:pPr>
            <a:endParaRPr lang="en-US" sz="2400" dirty="0"/>
          </a:p>
          <a:p>
            <a:endParaRPr lang="en-US" sz="2400" dirty="0"/>
          </a:p>
          <a:p>
            <a:endParaRPr lang="en-US" sz="2400" dirty="0"/>
          </a:p>
        </p:txBody>
      </p:sp>
      <p:sp>
        <p:nvSpPr>
          <p:cNvPr id="7" name="AutoShape 2" descr="More on uniqueness in Sudoku">
            <a:extLst>
              <a:ext uri="{FF2B5EF4-FFF2-40B4-BE49-F238E27FC236}">
                <a16:creationId xmlns:a16="http://schemas.microsoft.com/office/drawing/2014/main" id="{F28E2EC4-1652-3EF5-130B-AF68C886547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 name="TextBox 3">
            <a:extLst>
              <a:ext uri="{FF2B5EF4-FFF2-40B4-BE49-F238E27FC236}">
                <a16:creationId xmlns:a16="http://schemas.microsoft.com/office/drawing/2014/main" id="{92831435-08D2-D408-1A7F-55BC8AA55236}"/>
              </a:ext>
            </a:extLst>
          </p:cNvPr>
          <p:cNvSpPr txBox="1"/>
          <p:nvPr/>
        </p:nvSpPr>
        <p:spPr>
          <a:xfrm>
            <a:off x="152400" y="1005840"/>
            <a:ext cx="11125200" cy="4862870"/>
          </a:xfrm>
          <a:prstGeom prst="rect">
            <a:avLst/>
          </a:prstGeom>
          <a:solidFill>
            <a:schemeClr val="accent3">
              <a:lumMod val="20000"/>
              <a:lumOff val="80000"/>
            </a:schemeClr>
          </a:solidFill>
          <a:ln>
            <a:solidFill>
              <a:schemeClr val="tx1"/>
            </a:solidFill>
          </a:ln>
        </p:spPr>
        <p:txBody>
          <a:bodyPr wrap="square" rtlCol="0">
            <a:spAutoFit/>
          </a:bodyPr>
          <a:lstStyle/>
          <a:p>
            <a:r>
              <a:rPr lang="en-US" sz="2000" dirty="0">
                <a:latin typeface="Aptos" panose="020B0004020202020204" pitchFamily="34" charset="0"/>
              </a:rPr>
              <a:t>“Econometricians would like to project the image of agricultural experimenters who divide a farm into a set of smaller plots of land and who select randomly the level of fertilizer to be used on each plot. If some plots are assigned a certain amount of fertilizer while others are assigned none, then the difference between the mean yield of the fertilized plots and the mean yield of the unfertilized plots is a measure of the effect of fertilizer on agricultural yields. The econometrician's humble job is only to determine if that difference is large enough to suggest a real effect of fertilizer, or is so small that it is more likely due to random variation.</a:t>
            </a:r>
          </a:p>
          <a:p>
            <a:endParaRPr lang="en-US" sz="1000" dirty="0">
              <a:latin typeface="Aptos" panose="020B0004020202020204" pitchFamily="34" charset="0"/>
            </a:endParaRPr>
          </a:p>
          <a:p>
            <a:r>
              <a:rPr lang="en-US" sz="2000" dirty="0">
                <a:latin typeface="Aptos" panose="020B0004020202020204" pitchFamily="34" charset="0"/>
              </a:rPr>
              <a:t>“I would like to suggest a more accurate [image]. The applied econometrician is like a farmer who notices that the yield is somewhat higher under trees where birds roost, and he uses this as evidence that bird droppings increase yields. However, when he presents this finding at the annual meeting of the American Ecological Association, another farmer in the audience objects that he used the same data but came up with the conclusion that moderate amounts of shade increase yields. A bright chap in the back of the room then observes that these two hypotheses are indistinguishable, given the available data. He mentions the phrase "</a:t>
            </a:r>
            <a:r>
              <a:rPr lang="en-US" sz="2000" b="1" u="sng" dirty="0">
                <a:latin typeface="Aptos" panose="020B0004020202020204" pitchFamily="34" charset="0"/>
              </a:rPr>
              <a:t>identification problem</a:t>
            </a:r>
            <a:r>
              <a:rPr lang="en-US" sz="2000" dirty="0">
                <a:latin typeface="Aptos" panose="020B0004020202020204" pitchFamily="34" charset="0"/>
              </a:rPr>
              <a:t>," which, though no one knows quite what he means, is said with such authority that it is totally convincing.”</a:t>
            </a:r>
            <a:endParaRPr lang="en-CA" sz="2000" dirty="0">
              <a:latin typeface="Aptos" panose="020B0004020202020204" pitchFamily="34" charset="0"/>
            </a:endParaRPr>
          </a:p>
        </p:txBody>
      </p:sp>
    </p:spTree>
    <p:extLst>
      <p:ext uri="{BB962C8B-B14F-4D97-AF65-F5344CB8AC3E}">
        <p14:creationId xmlns:p14="http://schemas.microsoft.com/office/powerpoint/2010/main" val="40607795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304800"/>
            <a:ext cx="7010400" cy="701040"/>
          </a:xfrm>
        </p:spPr>
        <p:txBody>
          <a:bodyPr>
            <a:normAutofit/>
          </a:bodyPr>
          <a:lstStyle/>
          <a:p>
            <a:r>
              <a:rPr lang="en-US" dirty="0"/>
              <a:t>Why do we need DAGs?</a:t>
            </a:r>
          </a:p>
        </p:txBody>
      </p:sp>
      <p:sp>
        <p:nvSpPr>
          <p:cNvPr id="8" name="Content Placeholder 7">
            <a:extLst>
              <a:ext uri="{FF2B5EF4-FFF2-40B4-BE49-F238E27FC236}">
                <a16:creationId xmlns:a16="http://schemas.microsoft.com/office/drawing/2014/main" id="{A22054CD-7BF2-05D0-6CD8-017394822E3B}"/>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A5B50619-98FD-8F47-83E1-B23B8A6647FC}"/>
              </a:ext>
            </a:extLst>
          </p:cNvPr>
          <p:cNvPicPr>
            <a:picLocks noChangeAspect="1"/>
          </p:cNvPicPr>
          <p:nvPr/>
        </p:nvPicPr>
        <p:blipFill>
          <a:blip r:embed="rId3"/>
          <a:stretch>
            <a:fillRect/>
          </a:stretch>
        </p:blipFill>
        <p:spPr>
          <a:xfrm>
            <a:off x="1261872" y="1005839"/>
            <a:ext cx="5443728" cy="5623757"/>
          </a:xfrm>
          <a:prstGeom prst="rect">
            <a:avLst/>
          </a:prstGeom>
        </p:spPr>
      </p:pic>
    </p:spTree>
    <p:extLst>
      <p:ext uri="{BB962C8B-B14F-4D97-AF65-F5344CB8AC3E}">
        <p14:creationId xmlns:p14="http://schemas.microsoft.com/office/powerpoint/2010/main" val="1241146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304800"/>
            <a:ext cx="7010400" cy="701040"/>
          </a:xfrm>
        </p:spPr>
        <p:txBody>
          <a:bodyPr>
            <a:normAutofit/>
          </a:bodyPr>
          <a:lstStyle/>
          <a:p>
            <a:r>
              <a:rPr lang="en-US" dirty="0"/>
              <a:t>Why do we need DAGs?</a:t>
            </a:r>
          </a:p>
        </p:txBody>
      </p:sp>
      <p:sp>
        <p:nvSpPr>
          <p:cNvPr id="8" name="Content Placeholder 7">
            <a:extLst>
              <a:ext uri="{FF2B5EF4-FFF2-40B4-BE49-F238E27FC236}">
                <a16:creationId xmlns:a16="http://schemas.microsoft.com/office/drawing/2014/main" id="{A22054CD-7BF2-05D0-6CD8-017394822E3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F7198CD-0308-9E92-7948-8BC76CF383E6}"/>
              </a:ext>
            </a:extLst>
          </p:cNvPr>
          <p:cNvPicPr>
            <a:picLocks noChangeAspect="1"/>
          </p:cNvPicPr>
          <p:nvPr/>
        </p:nvPicPr>
        <p:blipFill>
          <a:blip r:embed="rId3"/>
          <a:stretch>
            <a:fillRect/>
          </a:stretch>
        </p:blipFill>
        <p:spPr>
          <a:xfrm>
            <a:off x="1240100" y="1005840"/>
            <a:ext cx="6673175" cy="5547360"/>
          </a:xfrm>
          <a:prstGeom prst="rect">
            <a:avLst/>
          </a:prstGeom>
        </p:spPr>
      </p:pic>
    </p:spTree>
    <p:extLst>
      <p:ext uri="{BB962C8B-B14F-4D97-AF65-F5344CB8AC3E}">
        <p14:creationId xmlns:p14="http://schemas.microsoft.com/office/powerpoint/2010/main" val="1446386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304800"/>
            <a:ext cx="7010400" cy="701040"/>
          </a:xfrm>
        </p:spPr>
        <p:txBody>
          <a:bodyPr>
            <a:normAutofit/>
          </a:bodyPr>
          <a:lstStyle/>
          <a:p>
            <a:r>
              <a:rPr lang="en-US" dirty="0"/>
              <a:t>Associations in DAGs</a:t>
            </a:r>
          </a:p>
        </p:txBody>
      </p:sp>
      <p:pic>
        <p:nvPicPr>
          <p:cNvPr id="8" name="Picture 7">
            <a:extLst>
              <a:ext uri="{FF2B5EF4-FFF2-40B4-BE49-F238E27FC236}">
                <a16:creationId xmlns:a16="http://schemas.microsoft.com/office/drawing/2014/main" id="{0C42E6BA-488A-A0FF-F15A-E09148DCBA16}"/>
              </a:ext>
            </a:extLst>
          </p:cNvPr>
          <p:cNvPicPr>
            <a:picLocks noChangeAspect="1"/>
          </p:cNvPicPr>
          <p:nvPr/>
        </p:nvPicPr>
        <p:blipFill rotWithShape="1">
          <a:blip r:embed="rId3"/>
          <a:srcRect r="65054"/>
          <a:stretch/>
        </p:blipFill>
        <p:spPr>
          <a:xfrm>
            <a:off x="317313" y="1005840"/>
            <a:ext cx="3797487" cy="4556760"/>
          </a:xfrm>
          <a:prstGeom prst="rect">
            <a:avLst/>
          </a:prstGeom>
        </p:spPr>
      </p:pic>
    </p:spTree>
    <p:extLst>
      <p:ext uri="{BB962C8B-B14F-4D97-AF65-F5344CB8AC3E}">
        <p14:creationId xmlns:p14="http://schemas.microsoft.com/office/powerpoint/2010/main" val="14028293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304800"/>
            <a:ext cx="7010400" cy="701040"/>
          </a:xfrm>
        </p:spPr>
        <p:txBody>
          <a:bodyPr>
            <a:normAutofit/>
          </a:bodyPr>
          <a:lstStyle/>
          <a:p>
            <a:r>
              <a:rPr lang="en-US" dirty="0"/>
              <a:t>Associations in DAGs</a:t>
            </a:r>
          </a:p>
        </p:txBody>
      </p:sp>
      <p:pic>
        <p:nvPicPr>
          <p:cNvPr id="8" name="Picture 7">
            <a:extLst>
              <a:ext uri="{FF2B5EF4-FFF2-40B4-BE49-F238E27FC236}">
                <a16:creationId xmlns:a16="http://schemas.microsoft.com/office/drawing/2014/main" id="{0C42E6BA-488A-A0FF-F15A-E09148DCBA16}"/>
              </a:ext>
            </a:extLst>
          </p:cNvPr>
          <p:cNvPicPr>
            <a:picLocks noChangeAspect="1"/>
          </p:cNvPicPr>
          <p:nvPr/>
        </p:nvPicPr>
        <p:blipFill rotWithShape="1">
          <a:blip r:embed="rId3"/>
          <a:srcRect r="31396"/>
          <a:stretch/>
        </p:blipFill>
        <p:spPr>
          <a:xfrm>
            <a:off x="317313" y="1005840"/>
            <a:ext cx="7455087" cy="4556760"/>
          </a:xfrm>
          <a:prstGeom prst="rect">
            <a:avLst/>
          </a:prstGeom>
        </p:spPr>
      </p:pic>
    </p:spTree>
    <p:extLst>
      <p:ext uri="{BB962C8B-B14F-4D97-AF65-F5344CB8AC3E}">
        <p14:creationId xmlns:p14="http://schemas.microsoft.com/office/powerpoint/2010/main" val="21740145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304800"/>
            <a:ext cx="7010400" cy="701040"/>
          </a:xfrm>
        </p:spPr>
        <p:txBody>
          <a:bodyPr>
            <a:normAutofit/>
          </a:bodyPr>
          <a:lstStyle/>
          <a:p>
            <a:r>
              <a:rPr lang="en-US" dirty="0"/>
              <a:t>Associations in DAGs</a:t>
            </a:r>
          </a:p>
        </p:txBody>
      </p:sp>
      <p:pic>
        <p:nvPicPr>
          <p:cNvPr id="8" name="Picture 7">
            <a:extLst>
              <a:ext uri="{FF2B5EF4-FFF2-40B4-BE49-F238E27FC236}">
                <a16:creationId xmlns:a16="http://schemas.microsoft.com/office/drawing/2014/main" id="{0C42E6BA-488A-A0FF-F15A-E09148DCBA16}"/>
              </a:ext>
            </a:extLst>
          </p:cNvPr>
          <p:cNvPicPr>
            <a:picLocks noChangeAspect="1"/>
          </p:cNvPicPr>
          <p:nvPr/>
        </p:nvPicPr>
        <p:blipFill>
          <a:blip r:embed="rId3"/>
          <a:stretch>
            <a:fillRect/>
          </a:stretch>
        </p:blipFill>
        <p:spPr>
          <a:xfrm>
            <a:off x="317313" y="1005840"/>
            <a:ext cx="10866839" cy="4556760"/>
          </a:xfrm>
          <a:prstGeom prst="rect">
            <a:avLst/>
          </a:prstGeom>
        </p:spPr>
      </p:pic>
    </p:spTree>
    <p:extLst>
      <p:ext uri="{BB962C8B-B14F-4D97-AF65-F5344CB8AC3E}">
        <p14:creationId xmlns:p14="http://schemas.microsoft.com/office/powerpoint/2010/main" val="1418841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96" y="276751"/>
            <a:ext cx="7204526" cy="701040"/>
          </a:xfrm>
        </p:spPr>
        <p:txBody>
          <a:bodyPr>
            <a:normAutofit/>
          </a:bodyPr>
          <a:lstStyle/>
          <a:p>
            <a:r>
              <a:rPr lang="en-US" dirty="0"/>
              <a:t>Some Drawbacks of DAGs</a:t>
            </a:r>
          </a:p>
        </p:txBody>
      </p:sp>
      <p:sp>
        <p:nvSpPr>
          <p:cNvPr id="3" name="Content Placeholder 2"/>
          <p:cNvSpPr>
            <a:spLocks noGrp="1"/>
          </p:cNvSpPr>
          <p:nvPr>
            <p:ph idx="1"/>
          </p:nvPr>
        </p:nvSpPr>
        <p:spPr>
          <a:xfrm>
            <a:off x="228600" y="977791"/>
            <a:ext cx="10591800" cy="5651609"/>
          </a:xfrm>
        </p:spPr>
        <p:txBody>
          <a:bodyPr>
            <a:noAutofit/>
          </a:bodyPr>
          <a:lstStyle/>
          <a:p>
            <a:pPr marL="0" indent="0">
              <a:buNone/>
            </a:pPr>
            <a:r>
              <a:rPr lang="en-US" sz="2400" dirty="0"/>
              <a:t>DAGs are very clear and allow you to state identification assumptions. However:</a:t>
            </a:r>
          </a:p>
          <a:p>
            <a:pPr marL="342900" indent="-342900">
              <a:buFont typeface="+mj-lt"/>
              <a:buAutoNum type="arabicPeriod"/>
            </a:pPr>
            <a:r>
              <a:rPr lang="en-US" sz="2400" dirty="0"/>
              <a:t>Causality runs in </a:t>
            </a:r>
            <a:r>
              <a:rPr lang="en-US" sz="2400" b="1" dirty="0">
                <a:solidFill>
                  <a:schemeClr val="accent2">
                    <a:lumMod val="75000"/>
                  </a:schemeClr>
                </a:solidFill>
              </a:rPr>
              <a:t>one direction </a:t>
            </a:r>
            <a:r>
              <a:rPr lang="en-US" sz="2400" dirty="0"/>
              <a:t>(simultaneity and reverse causality usually better represented with </a:t>
            </a:r>
            <a:r>
              <a:rPr lang="en-US" sz="2400" i="1" dirty="0"/>
              <a:t>potential outcomes framework)</a:t>
            </a:r>
          </a:p>
          <a:p>
            <a:pPr marL="342900" indent="-342900">
              <a:buFont typeface="+mj-lt"/>
              <a:buAutoNum type="arabicPeriod"/>
            </a:pPr>
            <a:r>
              <a:rPr lang="en-US" sz="2400" dirty="0"/>
              <a:t>Where does the DAG come from? </a:t>
            </a:r>
            <a:r>
              <a:rPr lang="en-US" sz="2400" i="1" u="sng" dirty="0"/>
              <a:t>This is </a:t>
            </a:r>
            <a:r>
              <a:rPr lang="en-US" sz="2400" b="1" i="1" u="sng" dirty="0"/>
              <a:t>the </a:t>
            </a:r>
            <a:r>
              <a:rPr lang="en-US" sz="2400" i="1" u="sng" dirty="0"/>
              <a:t>question</a:t>
            </a:r>
            <a:endParaRPr lang="en-US" sz="2400" dirty="0"/>
          </a:p>
          <a:p>
            <a:pPr marL="342900" indent="-342900">
              <a:buFont typeface="+mj-lt"/>
              <a:buAutoNum type="arabicPeriod"/>
            </a:pPr>
            <a:r>
              <a:rPr lang="en-US" sz="2400" dirty="0"/>
              <a:t>What about estimation and inference? </a:t>
            </a:r>
            <a:r>
              <a:rPr lang="en-US" sz="2400" u="sng" dirty="0"/>
              <a:t>What’s a collider and what’s a confounder?</a:t>
            </a:r>
            <a:endParaRPr lang="en-US" sz="2600" u="sng" dirty="0"/>
          </a:p>
          <a:p>
            <a:pPr lvl="1"/>
            <a:endParaRPr lang="en-US" sz="2400" dirty="0"/>
          </a:p>
          <a:p>
            <a:pPr lvl="1"/>
            <a:endParaRPr lang="en-US" sz="2400" dirty="0"/>
          </a:p>
          <a:p>
            <a:pPr marL="274320" lvl="1" indent="0">
              <a:buNone/>
            </a:pPr>
            <a:endParaRPr lang="en-US" sz="2400" dirty="0"/>
          </a:p>
          <a:p>
            <a:pPr lvl="1"/>
            <a:endParaRPr lang="en-US" sz="2400" dirty="0"/>
          </a:p>
          <a:p>
            <a:pPr lvl="1"/>
            <a:endParaRPr lang="en-US" sz="2400" dirty="0"/>
          </a:p>
          <a:p>
            <a:pPr lvl="1"/>
            <a:endParaRPr lang="en-US" sz="2400" dirty="0"/>
          </a:p>
          <a:p>
            <a:pPr lvl="1"/>
            <a:r>
              <a:rPr lang="en-US" sz="2400" dirty="0"/>
              <a:t>For help drawing DAGs in R, see </a:t>
            </a:r>
            <a:r>
              <a:rPr lang="en-US" sz="2400" dirty="0">
                <a:hlinkClick r:id="rId3"/>
              </a:rPr>
              <a:t>https://evalf22.classes.andrewheiss.com/example/dags.html</a:t>
            </a:r>
            <a:r>
              <a:rPr lang="en-US" sz="2400" dirty="0"/>
              <a:t>  </a:t>
            </a:r>
          </a:p>
          <a:p>
            <a:pPr lvl="1"/>
            <a:endParaRPr lang="en-US" sz="2400" dirty="0"/>
          </a:p>
        </p:txBody>
      </p:sp>
      <p:grpSp>
        <p:nvGrpSpPr>
          <p:cNvPr id="4" name="Group 3">
            <a:extLst>
              <a:ext uri="{FF2B5EF4-FFF2-40B4-BE49-F238E27FC236}">
                <a16:creationId xmlns:a16="http://schemas.microsoft.com/office/drawing/2014/main" id="{BAA1470C-9C12-4C4D-BBBE-8978C417E3F8}"/>
              </a:ext>
            </a:extLst>
          </p:cNvPr>
          <p:cNvGrpSpPr/>
          <p:nvPr/>
        </p:nvGrpSpPr>
        <p:grpSpPr>
          <a:xfrm>
            <a:off x="4005892" y="3581400"/>
            <a:ext cx="3057245" cy="1600200"/>
            <a:chOff x="2209800" y="2209801"/>
            <a:chExt cx="3057245" cy="1600200"/>
          </a:xfrm>
        </p:grpSpPr>
        <p:sp>
          <p:nvSpPr>
            <p:cNvPr id="5" name="Oval 4">
              <a:extLst>
                <a:ext uri="{FF2B5EF4-FFF2-40B4-BE49-F238E27FC236}">
                  <a16:creationId xmlns:a16="http://schemas.microsoft.com/office/drawing/2014/main" id="{F87867F6-F72C-4879-851B-9431586AE524}"/>
                </a:ext>
              </a:extLst>
            </p:cNvPr>
            <p:cNvSpPr/>
            <p:nvPr/>
          </p:nvSpPr>
          <p:spPr>
            <a:xfrm>
              <a:off x="3440220" y="22860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p:sp>
          <p:nvSpPr>
            <p:cNvPr id="6" name="Oval 5">
              <a:extLst>
                <a:ext uri="{FF2B5EF4-FFF2-40B4-BE49-F238E27FC236}">
                  <a16:creationId xmlns:a16="http://schemas.microsoft.com/office/drawing/2014/main" id="{A2A50AC6-991D-4385-ACB1-248BDBE3E19C}"/>
                </a:ext>
              </a:extLst>
            </p:cNvPr>
            <p:cNvSpPr/>
            <p:nvPr/>
          </p:nvSpPr>
          <p:spPr>
            <a:xfrm>
              <a:off x="4809845" y="32004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Y</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ED9C8C4-908F-4C37-8F36-5034EE6B4D2F}"/>
                    </a:ext>
                  </a:extLst>
                </p:cNvPr>
                <p:cNvSpPr/>
                <p:nvPr/>
              </p:nvSpPr>
              <p:spPr>
                <a:xfrm>
                  <a:off x="3695699" y="3200400"/>
                  <a:ext cx="457200" cy="4572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𝑌</m:t>
                            </m:r>
                          </m:e>
                        </m:acc>
                      </m:oMath>
                    </m:oMathPara>
                  </a14:m>
                  <a:endParaRPr lang="en-US" dirty="0">
                    <a:latin typeface="Times New Roman" panose="02020603050405020304" pitchFamily="18" charset="0"/>
                  </a:endParaRPr>
                </a:p>
              </p:txBody>
            </p:sp>
          </mc:Choice>
          <mc:Fallback xmlns="">
            <p:sp>
              <p:nvSpPr>
                <p:cNvPr id="7" name="Oval 6">
                  <a:extLst>
                    <a:ext uri="{FF2B5EF4-FFF2-40B4-BE49-F238E27FC236}">
                      <a16:creationId xmlns:a16="http://schemas.microsoft.com/office/drawing/2014/main" id="{FED9C8C4-908F-4C37-8F36-5034EE6B4D2F}"/>
                    </a:ext>
                  </a:extLst>
                </p:cNvPr>
                <p:cNvSpPr>
                  <a:spLocks noRot="1" noChangeAspect="1" noMove="1" noResize="1" noEditPoints="1" noAdjustHandles="1" noChangeArrowheads="1" noChangeShapeType="1" noTextEdit="1"/>
                </p:cNvSpPr>
                <p:nvPr/>
              </p:nvSpPr>
              <p:spPr>
                <a:xfrm>
                  <a:off x="3695699" y="3200400"/>
                  <a:ext cx="457200" cy="457200"/>
                </a:xfrm>
                <a:prstGeom prst="ellipse">
                  <a:avLst/>
                </a:prstGeom>
                <a:blipFill>
                  <a:blip r:embed="rId4"/>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2E75B83A-3C06-4E7E-8637-52E631027702}"/>
                </a:ext>
              </a:extLst>
            </p:cNvPr>
            <p:cNvCxnSpPr>
              <a:cxnSpLocks/>
            </p:cNvCxnSpPr>
            <p:nvPr/>
          </p:nvCxnSpPr>
          <p:spPr>
            <a:xfrm>
              <a:off x="2788869" y="2514600"/>
              <a:ext cx="6132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ADE2695-BABC-4FC5-ABF5-E28FFCA4A225}"/>
                </a:ext>
              </a:extLst>
            </p:cNvPr>
            <p:cNvCxnSpPr>
              <a:cxnSpLocks/>
            </p:cNvCxnSpPr>
            <p:nvPr/>
          </p:nvCxnSpPr>
          <p:spPr>
            <a:xfrm>
              <a:off x="4145666" y="3448167"/>
              <a:ext cx="6641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845676F-6A63-4057-853F-6B45756430B9}"/>
                </a:ext>
              </a:extLst>
            </p:cNvPr>
            <p:cNvCxnSpPr>
              <a:cxnSpLocks/>
              <a:endCxn id="7" idx="0"/>
            </p:cNvCxnSpPr>
            <p:nvPr/>
          </p:nvCxnSpPr>
          <p:spPr>
            <a:xfrm>
              <a:off x="3733800" y="2743200"/>
              <a:ext cx="190499"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3C202928-8130-40D3-8C43-D544E50DF3AF}"/>
                </a:ext>
              </a:extLst>
            </p:cNvPr>
            <p:cNvSpPr/>
            <p:nvPr/>
          </p:nvSpPr>
          <p:spPr>
            <a:xfrm>
              <a:off x="2209800" y="2209801"/>
              <a:ext cx="525218" cy="533399"/>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endParaRPr lang="en-US" sz="1050" dirty="0">
                <a:latin typeface="Times New Roman" panose="02020603050405020304" pitchFamily="18" charset="0"/>
              </a:endParaRPr>
            </a:p>
          </p:txBody>
        </p:sp>
        <p:sp>
          <p:nvSpPr>
            <p:cNvPr id="12" name="Oval 11">
              <a:extLst>
                <a:ext uri="{FF2B5EF4-FFF2-40B4-BE49-F238E27FC236}">
                  <a16:creationId xmlns:a16="http://schemas.microsoft.com/office/drawing/2014/main" id="{991E63D3-AD7F-4E8F-A02C-8E806916A533}"/>
                </a:ext>
              </a:extLst>
            </p:cNvPr>
            <p:cNvSpPr/>
            <p:nvPr/>
          </p:nvSpPr>
          <p:spPr>
            <a:xfrm>
              <a:off x="2362200" y="3352801"/>
              <a:ext cx="4572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latin typeface="Times New Roman" panose="02020603050405020304" pitchFamily="18" charset="0"/>
                </a:rPr>
                <a:t>R</a:t>
              </a:r>
            </a:p>
          </p:txBody>
        </p:sp>
        <p:cxnSp>
          <p:nvCxnSpPr>
            <p:cNvPr id="13" name="Straight Arrow Connector 12">
              <a:extLst>
                <a:ext uri="{FF2B5EF4-FFF2-40B4-BE49-F238E27FC236}">
                  <a16:creationId xmlns:a16="http://schemas.microsoft.com/office/drawing/2014/main" id="{D12F0083-1B10-49DD-BA7B-6359AB901BAB}"/>
                </a:ext>
              </a:extLst>
            </p:cNvPr>
            <p:cNvCxnSpPr>
              <a:cxnSpLocks/>
            </p:cNvCxnSpPr>
            <p:nvPr/>
          </p:nvCxnSpPr>
          <p:spPr>
            <a:xfrm>
              <a:off x="2743200" y="2590800"/>
              <a:ext cx="9144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7D2C15B-858B-494B-B098-B691B01907C7}"/>
                </a:ext>
              </a:extLst>
            </p:cNvPr>
            <p:cNvCxnSpPr>
              <a:cxnSpLocks/>
            </p:cNvCxnSpPr>
            <p:nvPr/>
          </p:nvCxnSpPr>
          <p:spPr>
            <a:xfrm flipH="1" flipV="1">
              <a:off x="2514600" y="2819400"/>
              <a:ext cx="76200" cy="53340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D7011F7-09B5-423C-B1F0-9052F268EE5B}"/>
                </a:ext>
              </a:extLst>
            </p:cNvPr>
            <p:cNvCxnSpPr>
              <a:cxnSpLocks/>
            </p:cNvCxnSpPr>
            <p:nvPr/>
          </p:nvCxnSpPr>
          <p:spPr>
            <a:xfrm flipV="1">
              <a:off x="2895600" y="3505200"/>
              <a:ext cx="697020" cy="7620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4449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1D71E-B954-387F-1C4A-C8716F192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954A5-B5E8-9FD2-6983-1683BE7A7EE0}"/>
              </a:ext>
            </a:extLst>
          </p:cNvPr>
          <p:cNvSpPr>
            <a:spLocks noGrp="1"/>
          </p:cNvSpPr>
          <p:nvPr>
            <p:ph type="ctrTitle"/>
          </p:nvPr>
        </p:nvSpPr>
        <p:spPr>
          <a:xfrm>
            <a:off x="914400" y="2481819"/>
            <a:ext cx="9144000" cy="1894362"/>
          </a:xfrm>
        </p:spPr>
        <p:txBody>
          <a:bodyPr>
            <a:normAutofit/>
          </a:bodyPr>
          <a:lstStyle/>
          <a:p>
            <a:r>
              <a:rPr lang="en-US" sz="6000" dirty="0"/>
              <a:t>Potential Outcomes</a:t>
            </a:r>
          </a:p>
        </p:txBody>
      </p:sp>
    </p:spTree>
    <p:extLst>
      <p:ext uri="{BB962C8B-B14F-4D97-AF65-F5344CB8AC3E}">
        <p14:creationId xmlns:p14="http://schemas.microsoft.com/office/powerpoint/2010/main" val="25087569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82" y="281940"/>
            <a:ext cx="10723418" cy="701040"/>
          </a:xfrm>
        </p:spPr>
        <p:txBody>
          <a:bodyPr>
            <a:noAutofit/>
          </a:bodyPr>
          <a:lstStyle/>
          <a:p>
            <a:r>
              <a:rPr lang="en-US" dirty="0"/>
              <a:t>Another approach: Potential Outcomes</a:t>
            </a:r>
          </a:p>
        </p:txBody>
      </p:sp>
      <p:sp>
        <p:nvSpPr>
          <p:cNvPr id="3" name="Content Placeholder 2"/>
          <p:cNvSpPr>
            <a:spLocks noGrp="1"/>
          </p:cNvSpPr>
          <p:nvPr>
            <p:ph idx="1"/>
          </p:nvPr>
        </p:nvSpPr>
        <p:spPr>
          <a:xfrm>
            <a:off x="228600" y="982980"/>
            <a:ext cx="10972800" cy="5646420"/>
          </a:xfrm>
        </p:spPr>
        <p:txBody>
          <a:bodyPr>
            <a:noAutofit/>
          </a:bodyPr>
          <a:lstStyle/>
          <a:p>
            <a:r>
              <a:rPr lang="en-US" sz="2400" b="1" dirty="0">
                <a:solidFill>
                  <a:schemeClr val="accent2">
                    <a:lumMod val="75000"/>
                  </a:schemeClr>
                </a:solidFill>
              </a:rPr>
              <a:t>Central idea</a:t>
            </a:r>
            <a:r>
              <a:rPr lang="en-US" sz="2400" b="1" dirty="0"/>
              <a:t>: </a:t>
            </a:r>
            <a:r>
              <a:rPr lang="en-US" sz="2400" dirty="0"/>
              <a:t>causal effects are drawn from </a:t>
            </a:r>
            <a:r>
              <a:rPr lang="en-US" sz="2400" u="sng" dirty="0"/>
              <a:t>randomization</a:t>
            </a:r>
          </a:p>
          <a:p>
            <a:pPr lvl="1"/>
            <a:r>
              <a:rPr lang="en-US" sz="2400" dirty="0"/>
              <a:t>Causal effects are defined as comparison between two states of the world: the </a:t>
            </a:r>
            <a:r>
              <a:rPr lang="en-US" sz="2400" b="1" dirty="0">
                <a:solidFill>
                  <a:schemeClr val="accent2">
                    <a:lumMod val="75000"/>
                  </a:schemeClr>
                </a:solidFill>
              </a:rPr>
              <a:t>actual</a:t>
            </a:r>
            <a:r>
              <a:rPr lang="en-US" sz="2400" b="1" dirty="0"/>
              <a:t> </a:t>
            </a:r>
            <a:r>
              <a:rPr lang="en-US" sz="2400" dirty="0"/>
              <a:t>world and a </a:t>
            </a:r>
            <a:r>
              <a:rPr lang="en-US" sz="2400" b="1" dirty="0">
                <a:solidFill>
                  <a:schemeClr val="accent3">
                    <a:lumMod val="75000"/>
                  </a:schemeClr>
                </a:solidFill>
              </a:rPr>
              <a:t>counterfactual</a:t>
            </a:r>
            <a:r>
              <a:rPr lang="en-US" sz="2400" b="1" dirty="0"/>
              <a:t> </a:t>
            </a:r>
            <a:endParaRPr lang="en-US" sz="2400" dirty="0"/>
          </a:p>
          <a:p>
            <a:pPr lvl="1"/>
            <a:r>
              <a:rPr lang="en-US" sz="2400" dirty="0"/>
              <a:t>Example: what is the causal effect of taking aspirin for a headache? What would my physical fitness level be if I didn’t have to take the Presidential Fitness Test?</a:t>
            </a:r>
          </a:p>
          <a:p>
            <a:pPr lvl="1"/>
            <a:r>
              <a:rPr lang="en-US" sz="2400" dirty="0"/>
              <a:t>Remember: </a:t>
            </a:r>
            <a:r>
              <a:rPr lang="en-US" sz="2400" u="sng" dirty="0"/>
              <a:t>can we approximate an experiment using observational data? </a:t>
            </a:r>
          </a:p>
          <a:p>
            <a:endParaRPr lang="en-US" sz="2400" dirty="0"/>
          </a:p>
        </p:txBody>
      </p:sp>
    </p:spTree>
    <p:extLst>
      <p:ext uri="{BB962C8B-B14F-4D97-AF65-F5344CB8AC3E}">
        <p14:creationId xmlns:p14="http://schemas.microsoft.com/office/powerpoint/2010/main" val="2268256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4D4D-A9FA-FD5A-4508-E7A8DA1BA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E2CEE-A33C-8B2C-2758-8CC3E2432D5C}"/>
              </a:ext>
            </a:extLst>
          </p:cNvPr>
          <p:cNvSpPr>
            <a:spLocks noGrp="1"/>
          </p:cNvSpPr>
          <p:nvPr>
            <p:ph type="title"/>
          </p:nvPr>
        </p:nvSpPr>
        <p:spPr>
          <a:xfrm>
            <a:off x="173182" y="281940"/>
            <a:ext cx="10723418" cy="701040"/>
          </a:xfrm>
        </p:spPr>
        <p:txBody>
          <a:bodyPr>
            <a:noAutofit/>
          </a:bodyPr>
          <a:lstStyle/>
          <a:p>
            <a:r>
              <a:rPr lang="en-US" dirty="0"/>
              <a:t>Another approach: Potential Outcomes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637505-463B-E8EE-3C61-74124BAF01E1}"/>
                  </a:ext>
                </a:extLst>
              </p:cNvPr>
              <p:cNvSpPr>
                <a:spLocks noGrp="1"/>
              </p:cNvSpPr>
              <p:nvPr>
                <p:ph idx="1"/>
              </p:nvPr>
            </p:nvSpPr>
            <p:spPr>
              <a:xfrm>
                <a:off x="228600" y="982980"/>
                <a:ext cx="10972800" cy="5646420"/>
              </a:xfrm>
            </p:spPr>
            <p:txBody>
              <a:bodyPr>
                <a:noAutofit/>
              </a:bodyPr>
              <a:lstStyle/>
              <a:p>
                <a:r>
                  <a:rPr lang="en-US" sz="2400" b="1" dirty="0">
                    <a:solidFill>
                      <a:schemeClr val="accent2">
                        <a:lumMod val="75000"/>
                      </a:schemeClr>
                    </a:solidFill>
                  </a:rPr>
                  <a:t>Central idea</a:t>
                </a:r>
                <a:r>
                  <a:rPr lang="en-US" sz="2400" b="1" dirty="0"/>
                  <a:t>: </a:t>
                </a:r>
                <a:r>
                  <a:rPr lang="en-US" sz="2400" dirty="0"/>
                  <a:t>causal effects are drawn from </a:t>
                </a:r>
                <a:r>
                  <a:rPr lang="en-US" sz="2400" u="sng" dirty="0"/>
                  <a:t>randomization</a:t>
                </a:r>
              </a:p>
              <a:p>
                <a:pPr lvl="1"/>
                <a:r>
                  <a:rPr lang="en-US" sz="2400" dirty="0"/>
                  <a:t>Causal effects are defined as comparison between two states of the world: the </a:t>
                </a:r>
                <a:r>
                  <a:rPr lang="en-US" sz="2400" b="1" dirty="0">
                    <a:solidFill>
                      <a:schemeClr val="accent2">
                        <a:lumMod val="75000"/>
                      </a:schemeClr>
                    </a:solidFill>
                  </a:rPr>
                  <a:t>actual</a:t>
                </a:r>
                <a:r>
                  <a:rPr lang="en-US" sz="2400" b="1" dirty="0"/>
                  <a:t> </a:t>
                </a:r>
                <a:r>
                  <a:rPr lang="en-US" sz="2400" dirty="0"/>
                  <a:t>world and a </a:t>
                </a:r>
                <a:r>
                  <a:rPr lang="en-US" sz="2400" b="1" dirty="0">
                    <a:solidFill>
                      <a:schemeClr val="accent3">
                        <a:lumMod val="75000"/>
                      </a:schemeClr>
                    </a:solidFill>
                  </a:rPr>
                  <a:t>counterfactual</a:t>
                </a:r>
                <a:r>
                  <a:rPr lang="en-US" sz="2400" b="1" dirty="0"/>
                  <a:t> </a:t>
                </a:r>
                <a:endParaRPr lang="en-US" sz="2400" dirty="0"/>
              </a:p>
              <a:p>
                <a:pPr lvl="1"/>
                <a:r>
                  <a:rPr lang="en-US" sz="2400" dirty="0"/>
                  <a:t>Example: what is the causal effect of taking aspirin for a headache? What would my physical fitness level be if I didn’t have to take the Presidential Fitness Test?</a:t>
                </a:r>
              </a:p>
              <a:p>
                <a:pPr lvl="1"/>
                <a:r>
                  <a:rPr lang="en-US" sz="2400" dirty="0"/>
                  <a:t>Remember: </a:t>
                </a:r>
                <a:r>
                  <a:rPr lang="en-US" sz="2400" u="sng" dirty="0"/>
                  <a:t>can we approximate an experiment using observational data? </a:t>
                </a:r>
              </a:p>
              <a:p>
                <a:r>
                  <a:rPr lang="en-US" sz="2400" dirty="0"/>
                  <a:t>Notation: </a:t>
                </a:r>
              </a:p>
              <a:p>
                <a:pPr lvl="1"/>
                <a14:m>
                  <m:oMath xmlns:m="http://schemas.openxmlformats.org/officeDocument/2006/math">
                    <m:r>
                      <a:rPr lang="en-US" sz="2400" b="0" i="1" smtClean="0">
                        <a:latin typeface="Cambria Math" panose="02040503050406030204" pitchFamily="18" charset="0"/>
                      </a:rPr>
                      <m:t>𝐷</m:t>
                    </m:r>
                  </m:oMath>
                </a14:m>
                <a:r>
                  <a:rPr lang="en-US" sz="2400" dirty="0"/>
                  <a:t>: a binary variable indicating treatment (</a:t>
                </a:r>
                <a14:m>
                  <m:oMath xmlns:m="http://schemas.openxmlformats.org/officeDocument/2006/math">
                    <m:r>
                      <a:rPr lang="en-US" sz="2400" b="0" i="1" smtClean="0">
                        <a:latin typeface="Cambria Math" panose="02040503050406030204" pitchFamily="18" charset="0"/>
                      </a:rPr>
                      <m:t>𝐷</m:t>
                    </m:r>
                    <m:r>
                      <a:rPr lang="en-US" sz="2400" b="0" i="1" smtClean="0">
                        <a:latin typeface="Cambria Math" panose="02040503050406030204" pitchFamily="18" charset="0"/>
                      </a:rPr>
                      <m:t>=1</m:t>
                    </m:r>
                  </m:oMath>
                </a14:m>
                <a:r>
                  <a:rPr lang="en-US" sz="2400" dirty="0"/>
                  <a:t> if treated, </a:t>
                </a:r>
                <a14:m>
                  <m:oMath xmlns:m="http://schemas.openxmlformats.org/officeDocument/2006/math">
                    <m:r>
                      <a:rPr lang="en-US" sz="2400" b="0" i="1" smtClean="0">
                        <a:latin typeface="Cambria Math" panose="02040503050406030204" pitchFamily="18" charset="0"/>
                      </a:rPr>
                      <m:t>𝐷</m:t>
                    </m:r>
                    <m:r>
                      <a:rPr lang="en-US" sz="2400" b="0" i="1" smtClean="0">
                        <a:latin typeface="Cambria Math" panose="02040503050406030204" pitchFamily="18" charset="0"/>
                      </a:rPr>
                      <m:t>=0</m:t>
                    </m:r>
                  </m:oMath>
                </a14:m>
                <a:r>
                  <a:rPr lang="en-US" sz="2400" dirty="0"/>
                  <a:t> if control)</a:t>
                </a:r>
              </a:p>
              <a:p>
                <a:pPr lvl="1"/>
                <a:r>
                  <a:rPr lang="en-US" sz="2400" dirty="0"/>
                  <a:t>Potential outcomes are defined based on the state of the world: </a:t>
                </a:r>
                <a14:m>
                  <m:oMath xmlns:m="http://schemas.openxmlformats.org/officeDocument/2006/math">
                    <m:sSubSup>
                      <m:sSubSupPr>
                        <m:ctrlPr>
                          <a:rPr lang="en-US" sz="2400" b="0" i="1" smtClean="0">
                            <a:latin typeface="Cambria Math" panose="02040503050406030204" pitchFamily="18" charset="0"/>
                          </a:rPr>
                        </m:ctrlPr>
                      </m:sSubSupPr>
                      <m:e>
                        <m:r>
                          <m:rPr>
                            <m:lit/>
                          </m:rPr>
                          <a:rPr lang="en-US" sz="2400" b="0" i="1" smtClean="0">
                            <a:latin typeface="Cambria Math" panose="02040503050406030204" pitchFamily="18" charset="0"/>
                          </a:rPr>
                          <m:t>{</m:t>
                        </m:r>
                        <m:r>
                          <a:rPr lang="en-US" sz="2400" b="0" i="1" smtClean="0">
                            <a:latin typeface="Cambria Math" panose="02040503050406030204" pitchFamily="18" charset="0"/>
                          </a:rPr>
                          <m:t>𝑌</m:t>
                        </m:r>
                      </m:e>
                      <m:sub/>
                      <m:sup>
                        <m:r>
                          <a:rPr lang="en-US" sz="2400" b="0" i="1" smtClean="0">
                            <a:latin typeface="Cambria Math" panose="02040503050406030204" pitchFamily="18" charset="0"/>
                          </a:rPr>
                          <m:t>0</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sup>
                        <m:r>
                          <a:rPr lang="en-US" sz="2400" b="0" i="1" smtClean="0">
                            <a:latin typeface="Cambria Math" panose="02040503050406030204" pitchFamily="18" charset="0"/>
                          </a:rPr>
                          <m:t>1</m:t>
                        </m:r>
                      </m:sup>
                    </m:sSubSup>
                    <m:r>
                      <m:rPr>
                        <m:lit/>
                      </m:rPr>
                      <a:rPr lang="en-US" sz="2400" b="0" i="1" smtClean="0">
                        <a:latin typeface="Cambria Math" panose="02040503050406030204" pitchFamily="18" charset="0"/>
                      </a:rPr>
                      <m:t>}</m:t>
                    </m:r>
                  </m:oMath>
                </a14:m>
                <a:endParaRPr lang="en-US" sz="2400" dirty="0"/>
              </a:p>
              <a:p>
                <a:pPr lvl="1"/>
                <a:r>
                  <a:rPr lang="en-US" sz="2400" dirty="0"/>
                  <a:t>Actual outcomes have </a:t>
                </a:r>
                <a:r>
                  <a:rPr lang="en-US" sz="2400" u="sng" dirty="0"/>
                  <a:t>subscripts</a:t>
                </a:r>
                <a:r>
                  <a:rPr lang="en-US" sz="2400" b="1" dirty="0"/>
                  <a:t> </a:t>
                </a:r>
                <a:r>
                  <a:rPr lang="en-US" sz="2400" dirty="0"/>
                  <a:t>(</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oMath>
                </a14:m>
                <a:r>
                  <a:rPr lang="en-US" sz="2400" dirty="0"/>
                  <a:t>: individuals </a:t>
                </a:r>
                <a14:m>
                  <m:oMath xmlns:m="http://schemas.openxmlformats.org/officeDocument/2006/math">
                    <m:r>
                      <a:rPr lang="en-US" sz="2400" b="0" i="1" smtClean="0">
                        <a:latin typeface="Cambria Math" panose="02040503050406030204" pitchFamily="18" charset="0"/>
                      </a:rPr>
                      <m:t>𝑖</m:t>
                    </m:r>
                  </m:oMath>
                </a14:m>
                <a:r>
                  <a:rPr lang="en-US" sz="2400" dirty="0"/>
                  <a:t> and periods </a:t>
                </a:r>
                <a14:m>
                  <m:oMath xmlns:m="http://schemas.openxmlformats.org/officeDocument/2006/math">
                    <m:r>
                      <a:rPr lang="en-US" sz="2400" b="0" i="1" smtClean="0">
                        <a:latin typeface="Cambria Math" panose="02040503050406030204" pitchFamily="18" charset="0"/>
                      </a:rPr>
                      <m:t>𝑡</m:t>
                    </m:r>
                  </m:oMath>
                </a14:m>
                <a:endParaRPr lang="en-US" sz="2400" dirty="0"/>
              </a:p>
              <a:p>
                <a:pPr lvl="1"/>
                <a:r>
                  <a:rPr lang="en-US" sz="2400" dirty="0"/>
                  <a:t>While there are at least two potential outcomes for each unit, only one is observed. The others are called </a:t>
                </a:r>
                <a:r>
                  <a:rPr lang="en-US" sz="2400" i="1" dirty="0"/>
                  <a:t>ex-post counterfactuals.</a:t>
                </a:r>
                <a:endParaRPr lang="en-US"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982980"/>
                <a:ext cx="10972800" cy="5646420"/>
              </a:xfrm>
              <a:blipFill>
                <a:blip r:embed="rId3"/>
                <a:stretch>
                  <a:fillRect l="-444" t="-1187" r="-778"/>
                </a:stretch>
              </a:blipFill>
            </p:spPr>
            <p:txBody>
              <a:bodyPr/>
              <a:lstStyle/>
              <a:p>
                <a:r>
                  <a:rPr lang="en-CA">
                    <a:noFill/>
                  </a:rPr>
                  <a:t> </a:t>
                </a:r>
              </a:p>
            </p:txBody>
          </p:sp>
        </mc:Fallback>
      </mc:AlternateContent>
    </p:spTree>
    <p:extLst>
      <p:ext uri="{BB962C8B-B14F-4D97-AF65-F5344CB8AC3E}">
        <p14:creationId xmlns:p14="http://schemas.microsoft.com/office/powerpoint/2010/main" val="27127870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81940"/>
            <a:ext cx="10896600" cy="701040"/>
          </a:xfrm>
        </p:spPr>
        <p:txBody>
          <a:bodyPr>
            <a:noAutofit/>
          </a:bodyPr>
          <a:lstStyle/>
          <a:p>
            <a:r>
              <a:rPr lang="en-US" dirty="0"/>
              <a:t>Another approach: Potential Outcomes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82980"/>
                <a:ext cx="10896600" cy="5646420"/>
              </a:xfrm>
            </p:spPr>
            <p:txBody>
              <a:bodyPr>
                <a:noAutofit/>
              </a:bodyPr>
              <a:lstStyle/>
              <a:p>
                <a:r>
                  <a:rPr lang="en-US" sz="2400" b="1" dirty="0">
                    <a:solidFill>
                      <a:schemeClr val="accent2">
                        <a:lumMod val="75000"/>
                      </a:schemeClr>
                    </a:solidFill>
                  </a:rPr>
                  <a:t>Central idea</a:t>
                </a:r>
                <a:r>
                  <a:rPr lang="en-US" sz="2400" b="1" dirty="0"/>
                  <a:t>: </a:t>
                </a:r>
                <a:r>
                  <a:rPr lang="en-US" sz="2400" dirty="0"/>
                  <a:t>causal effects are drawn from </a:t>
                </a:r>
                <a:r>
                  <a:rPr lang="en-US" sz="2400" u="sng" dirty="0"/>
                  <a:t>randomization</a:t>
                </a:r>
              </a:p>
              <a:p>
                <a:pPr lvl="1"/>
                <a:r>
                  <a:rPr lang="en-US" sz="2400" dirty="0"/>
                  <a:t>Causal effects are defined as comparison between two states of the world: the </a:t>
                </a:r>
                <a:r>
                  <a:rPr lang="en-US" sz="2400" b="1" dirty="0">
                    <a:solidFill>
                      <a:schemeClr val="accent2">
                        <a:lumMod val="75000"/>
                      </a:schemeClr>
                    </a:solidFill>
                  </a:rPr>
                  <a:t>actual</a:t>
                </a:r>
                <a:r>
                  <a:rPr lang="en-US" sz="2400" b="1" dirty="0"/>
                  <a:t> </a:t>
                </a:r>
                <a:r>
                  <a:rPr lang="en-US" sz="2400" dirty="0"/>
                  <a:t>world and a </a:t>
                </a:r>
                <a:r>
                  <a:rPr lang="en-US" sz="2400" b="1" dirty="0">
                    <a:solidFill>
                      <a:schemeClr val="accent3">
                        <a:lumMod val="75000"/>
                      </a:schemeClr>
                    </a:solidFill>
                  </a:rPr>
                  <a:t>counterfactual</a:t>
                </a:r>
                <a:r>
                  <a:rPr lang="en-US" sz="2400" b="1" dirty="0"/>
                  <a:t> </a:t>
                </a:r>
                <a:endParaRPr lang="en-US" sz="2400" dirty="0"/>
              </a:p>
              <a:p>
                <a:pPr lvl="1"/>
                <a:r>
                  <a:rPr lang="en-US" sz="2400" dirty="0"/>
                  <a:t>Example: what is the causal effect of taking aspirin for a headache?</a:t>
                </a:r>
              </a:p>
              <a:p>
                <a:r>
                  <a:rPr lang="en-US" sz="2400" dirty="0"/>
                  <a:t>Notation: </a:t>
                </a:r>
              </a:p>
              <a:p>
                <a:pPr lvl="1"/>
                <a14:m>
                  <m:oMath xmlns:m="http://schemas.openxmlformats.org/officeDocument/2006/math">
                    <m:r>
                      <a:rPr lang="en-US" sz="2400" b="0" i="1" smtClean="0">
                        <a:latin typeface="Cambria Math" panose="02040503050406030204" pitchFamily="18" charset="0"/>
                      </a:rPr>
                      <m:t>𝐷</m:t>
                    </m:r>
                  </m:oMath>
                </a14:m>
                <a:r>
                  <a:rPr lang="en-US" sz="2400" dirty="0"/>
                  <a:t>: binary variable indicating treatment (</a:t>
                </a:r>
                <a14:m>
                  <m:oMath xmlns:m="http://schemas.openxmlformats.org/officeDocument/2006/math">
                    <m:r>
                      <a:rPr lang="en-US" sz="2400" b="0" i="1" smtClean="0">
                        <a:latin typeface="Cambria Math" panose="02040503050406030204" pitchFamily="18" charset="0"/>
                      </a:rPr>
                      <m:t>𝐷</m:t>
                    </m:r>
                    <m:r>
                      <a:rPr lang="en-US" sz="2400" b="0" i="1" smtClean="0">
                        <a:latin typeface="Cambria Math" panose="02040503050406030204" pitchFamily="18" charset="0"/>
                      </a:rPr>
                      <m:t>=1</m:t>
                    </m:r>
                  </m:oMath>
                </a14:m>
                <a:r>
                  <a:rPr lang="en-US" sz="2400" dirty="0"/>
                  <a:t> if treated, </a:t>
                </a:r>
                <a14:m>
                  <m:oMath xmlns:m="http://schemas.openxmlformats.org/officeDocument/2006/math">
                    <m:r>
                      <a:rPr lang="en-US" sz="2400" b="0" i="1" smtClean="0">
                        <a:latin typeface="Cambria Math" panose="02040503050406030204" pitchFamily="18" charset="0"/>
                      </a:rPr>
                      <m:t>𝐷</m:t>
                    </m:r>
                    <m:r>
                      <a:rPr lang="en-US" sz="2400" b="0" i="1" smtClean="0">
                        <a:latin typeface="Cambria Math" panose="02040503050406030204" pitchFamily="18" charset="0"/>
                      </a:rPr>
                      <m:t>=0</m:t>
                    </m:r>
                  </m:oMath>
                </a14:m>
                <a:r>
                  <a:rPr lang="en-US" sz="2400" dirty="0"/>
                  <a:t> if control)</a:t>
                </a:r>
              </a:p>
              <a:p>
                <a:pPr lvl="1"/>
                <a:r>
                  <a:rPr lang="en-US" sz="2400" dirty="0"/>
                  <a:t>Potential outcomes are defined based on the state of the world: </a:t>
                </a:r>
                <a14:m>
                  <m:oMath xmlns:m="http://schemas.openxmlformats.org/officeDocument/2006/math">
                    <m:sSubSup>
                      <m:sSubSupPr>
                        <m:ctrlPr>
                          <a:rPr lang="en-US" sz="2400" b="0" i="1" smtClean="0">
                            <a:latin typeface="Cambria Math" panose="02040503050406030204" pitchFamily="18" charset="0"/>
                          </a:rPr>
                        </m:ctrlPr>
                      </m:sSubSupPr>
                      <m:e>
                        <m:r>
                          <m:rPr>
                            <m:lit/>
                          </m:rPr>
                          <a:rPr lang="en-US" sz="2400" b="0" i="1" smtClean="0">
                            <a:latin typeface="Cambria Math" panose="02040503050406030204" pitchFamily="18" charset="0"/>
                          </a:rPr>
                          <m:t>{</m:t>
                        </m:r>
                        <m:r>
                          <a:rPr lang="en-US" sz="2400" b="0" i="1" smtClean="0">
                            <a:latin typeface="Cambria Math" panose="02040503050406030204" pitchFamily="18" charset="0"/>
                          </a:rPr>
                          <m:t>𝑌</m:t>
                        </m:r>
                      </m:e>
                      <m:sub/>
                      <m:sup>
                        <m:r>
                          <a:rPr lang="en-US" sz="2400" b="0" i="1" smtClean="0">
                            <a:latin typeface="Cambria Math" panose="02040503050406030204" pitchFamily="18" charset="0"/>
                          </a:rPr>
                          <m:t>0</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sup>
                        <m:r>
                          <a:rPr lang="en-US" sz="2400" b="0" i="1" smtClean="0">
                            <a:latin typeface="Cambria Math" panose="02040503050406030204" pitchFamily="18" charset="0"/>
                          </a:rPr>
                          <m:t>1</m:t>
                        </m:r>
                      </m:sup>
                    </m:sSubSup>
                    <m:r>
                      <m:rPr>
                        <m:lit/>
                      </m:rPr>
                      <a:rPr lang="en-US" sz="2400" b="0" i="1" smtClean="0">
                        <a:latin typeface="Cambria Math" panose="02040503050406030204" pitchFamily="18" charset="0"/>
                      </a:rPr>
                      <m:t>}</m:t>
                    </m:r>
                  </m:oMath>
                </a14:m>
                <a:endParaRPr lang="en-US" sz="2400" dirty="0"/>
              </a:p>
              <a:p>
                <a:pPr lvl="1"/>
                <a:r>
                  <a:rPr lang="en-US" sz="2400" dirty="0"/>
                  <a:t>Actual outcomes have </a:t>
                </a:r>
                <a:r>
                  <a:rPr lang="en-US" sz="2400" u="sng" dirty="0"/>
                  <a:t>subscripts</a:t>
                </a:r>
                <a:r>
                  <a:rPr lang="en-US" sz="2400" b="1" dirty="0"/>
                  <a:t> </a:t>
                </a:r>
                <a:r>
                  <a:rPr lang="en-US" sz="2400" dirty="0"/>
                  <a:t>(</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oMath>
                </a14:m>
                <a:r>
                  <a:rPr lang="en-US" sz="2400" dirty="0"/>
                  <a:t>: individuals </a:t>
                </a:r>
                <a14:m>
                  <m:oMath xmlns:m="http://schemas.openxmlformats.org/officeDocument/2006/math">
                    <m:r>
                      <a:rPr lang="en-US" sz="2400" b="0" i="1" smtClean="0">
                        <a:latin typeface="Cambria Math" panose="02040503050406030204" pitchFamily="18" charset="0"/>
                      </a:rPr>
                      <m:t>𝑖</m:t>
                    </m:r>
                  </m:oMath>
                </a14:m>
                <a:r>
                  <a:rPr lang="en-US" sz="2400" dirty="0"/>
                  <a:t> and periods </a:t>
                </a:r>
                <a14:m>
                  <m:oMath xmlns:m="http://schemas.openxmlformats.org/officeDocument/2006/math">
                    <m:r>
                      <a:rPr lang="en-US" sz="2400" b="0" i="1" smtClean="0">
                        <a:latin typeface="Cambria Math" panose="02040503050406030204" pitchFamily="18" charset="0"/>
                      </a:rPr>
                      <m:t>𝑡</m:t>
                    </m:r>
                  </m:oMath>
                </a14:m>
                <a:endParaRPr lang="en-US" sz="1000" b="1" dirty="0"/>
              </a:p>
              <a:p>
                <a:pPr marL="0" indent="0">
                  <a:buNone/>
                </a:pPr>
                <a:r>
                  <a:rPr lang="en-US" sz="2400" b="1" dirty="0">
                    <a:solidFill>
                      <a:schemeClr val="accent2">
                        <a:lumMod val="75000"/>
                      </a:schemeClr>
                    </a:solidFill>
                  </a:rPr>
                  <a:t>How do we get from potential to actual?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𝑖𝑡</m:t>
                          </m:r>
                        </m:sub>
                      </m:sSub>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1</m:t>
                          </m:r>
                        </m:sup>
                      </m:sSubSup>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𝑖𝑡</m:t>
                              </m:r>
                            </m:sub>
                          </m:sSub>
                        </m:e>
                      </m:d>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0</m:t>
                          </m:r>
                        </m:sup>
                      </m:sSubSup>
                    </m:oMath>
                  </m:oMathPara>
                </a14:m>
                <a:endParaRPr lang="en-US" sz="2400" dirty="0"/>
              </a:p>
              <a:p>
                <a:r>
                  <a:rPr lang="en-US" sz="2400" dirty="0"/>
                  <a:t>This leads to an intuitive definition of a </a:t>
                </a:r>
                <a:r>
                  <a:rPr lang="en-US" sz="2400" b="1" u="sng" dirty="0">
                    <a:solidFill>
                      <a:schemeClr val="accent2">
                        <a:lumMod val="75000"/>
                      </a:schemeClr>
                    </a:solidFill>
                  </a:rPr>
                  <a:t>treatment effect: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𝛿</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1</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0</m:t>
                          </m:r>
                        </m:sup>
                      </m:sSubSup>
                    </m:oMath>
                  </m:oMathPara>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82980"/>
                <a:ext cx="10896600" cy="5646420"/>
              </a:xfrm>
              <a:blipFill>
                <a:blip r:embed="rId3"/>
                <a:stretch>
                  <a:fillRect l="-839" t="-1187"/>
                </a:stretch>
              </a:blipFill>
            </p:spPr>
            <p:txBody>
              <a:bodyPr/>
              <a:lstStyle/>
              <a:p>
                <a:r>
                  <a:rPr lang="en-US">
                    <a:noFill/>
                  </a:rPr>
                  <a:t> </a:t>
                </a:r>
              </a:p>
            </p:txBody>
          </p:sp>
        </mc:Fallback>
      </mc:AlternateContent>
    </p:spTree>
    <p:extLst>
      <p:ext uri="{BB962C8B-B14F-4D97-AF65-F5344CB8AC3E}">
        <p14:creationId xmlns:p14="http://schemas.microsoft.com/office/powerpoint/2010/main" val="22621451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81940"/>
            <a:ext cx="9906000" cy="701040"/>
          </a:xfrm>
        </p:spPr>
        <p:txBody>
          <a:bodyPr>
            <a:noAutofit/>
          </a:bodyPr>
          <a:lstStyle/>
          <a:p>
            <a:r>
              <a:rPr lang="en-US" dirty="0"/>
              <a:t>Another approach: Potential Outcomes</a:t>
            </a:r>
          </a:p>
        </p:txBody>
      </p:sp>
      <p:sp>
        <p:nvSpPr>
          <p:cNvPr id="3" name="Content Placeholder 2"/>
          <p:cNvSpPr>
            <a:spLocks noGrp="1"/>
          </p:cNvSpPr>
          <p:nvPr>
            <p:ph idx="1"/>
          </p:nvPr>
        </p:nvSpPr>
        <p:spPr>
          <a:xfrm>
            <a:off x="1143000" y="982980"/>
            <a:ext cx="9906000" cy="5646420"/>
          </a:xfrm>
        </p:spPr>
        <p:txBody>
          <a:bodyPr>
            <a:noAutofit/>
          </a:bodyPr>
          <a:lstStyle/>
          <a:p>
            <a:endParaRPr lang="en-US" sz="2000" dirty="0"/>
          </a:p>
        </p:txBody>
      </p:sp>
      <p:pic>
        <p:nvPicPr>
          <p:cNvPr id="5" name="Picture 4">
            <a:extLst>
              <a:ext uri="{FF2B5EF4-FFF2-40B4-BE49-F238E27FC236}">
                <a16:creationId xmlns:a16="http://schemas.microsoft.com/office/drawing/2014/main" id="{E09F30A6-6064-85C2-177B-E18F8F102F0B}"/>
              </a:ext>
            </a:extLst>
          </p:cNvPr>
          <p:cNvPicPr>
            <a:picLocks noChangeAspect="1"/>
          </p:cNvPicPr>
          <p:nvPr/>
        </p:nvPicPr>
        <p:blipFill>
          <a:blip r:embed="rId3"/>
          <a:stretch>
            <a:fillRect/>
          </a:stretch>
        </p:blipFill>
        <p:spPr>
          <a:xfrm>
            <a:off x="32657" y="1360170"/>
            <a:ext cx="11109882" cy="4892040"/>
          </a:xfrm>
          <a:prstGeom prst="rect">
            <a:avLst/>
          </a:prstGeom>
        </p:spPr>
      </p:pic>
    </p:spTree>
    <p:extLst>
      <p:ext uri="{BB962C8B-B14F-4D97-AF65-F5344CB8AC3E}">
        <p14:creationId xmlns:p14="http://schemas.microsoft.com/office/powerpoint/2010/main" val="1177575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7B876-3A0C-0E72-DB11-FF60BECDE4D9}"/>
              </a:ext>
            </a:extLst>
          </p:cNvPr>
          <p:cNvSpPr>
            <a:spLocks noGrp="1"/>
          </p:cNvSpPr>
          <p:nvPr>
            <p:ph type="title"/>
          </p:nvPr>
        </p:nvSpPr>
        <p:spPr/>
        <p:txBody>
          <a:bodyPr/>
          <a:lstStyle/>
          <a:p>
            <a:r>
              <a:rPr lang="en-US" dirty="0"/>
              <a:t>Natural Experiments</a:t>
            </a:r>
          </a:p>
        </p:txBody>
      </p:sp>
      <p:sp>
        <p:nvSpPr>
          <p:cNvPr id="3" name="Content Placeholder 2">
            <a:extLst>
              <a:ext uri="{FF2B5EF4-FFF2-40B4-BE49-F238E27FC236}">
                <a16:creationId xmlns:a16="http://schemas.microsoft.com/office/drawing/2014/main" id="{96010DD3-7735-4F4E-1D59-709F7A0C2251}"/>
              </a:ext>
            </a:extLst>
          </p:cNvPr>
          <p:cNvSpPr>
            <a:spLocks noGrp="1"/>
          </p:cNvSpPr>
          <p:nvPr>
            <p:ph idx="1"/>
          </p:nvPr>
        </p:nvSpPr>
        <p:spPr>
          <a:xfrm>
            <a:off x="1261872" y="1828800"/>
            <a:ext cx="9692640" cy="4351337"/>
          </a:xfrm>
        </p:spPr>
        <p:txBody>
          <a:bodyPr>
            <a:normAutofit lnSpcReduction="10000"/>
          </a:bodyPr>
          <a:lstStyle/>
          <a:p>
            <a:r>
              <a:rPr lang="en-US" sz="2400" dirty="0"/>
              <a:t>What does a </a:t>
            </a:r>
            <a:r>
              <a:rPr lang="en-US" sz="2400" b="1" dirty="0"/>
              <a:t>natural experiment </a:t>
            </a:r>
            <a:r>
              <a:rPr lang="en-US" sz="2400" dirty="0"/>
              <a:t>entail? How does it match this framework?</a:t>
            </a:r>
          </a:p>
          <a:p>
            <a:r>
              <a:rPr lang="en-US" sz="2400" dirty="0"/>
              <a:t>Perhaps the first natural experiment in medicine was that of the English physician </a:t>
            </a:r>
            <a:r>
              <a:rPr lang="en-US" sz="2400" b="1" dirty="0"/>
              <a:t>John Snow. </a:t>
            </a:r>
          </a:p>
          <a:p>
            <a:r>
              <a:rPr lang="en-US" sz="2400" dirty="0"/>
              <a:t>In 1854, a </a:t>
            </a:r>
            <a:r>
              <a:rPr lang="en-US" sz="2400" b="1" dirty="0"/>
              <a:t>cholera outbreak</a:t>
            </a:r>
            <a:r>
              <a:rPr lang="en-US" sz="2400" dirty="0"/>
              <a:t> struck Broad Street in London, killing hundreds.</a:t>
            </a:r>
          </a:p>
          <a:p>
            <a:r>
              <a:rPr lang="en-US" sz="2400" dirty="0"/>
              <a:t>Snow discovered that </a:t>
            </a:r>
            <a:r>
              <a:rPr lang="en-US" sz="2400" b="1" dirty="0"/>
              <a:t>neighborhoods supplied with water downstream of where sewage was discharged into the Thames River experienced high levels of disease, while neighborhoods receiving upstream water had low disease levels.</a:t>
            </a:r>
          </a:p>
          <a:p>
            <a:r>
              <a:rPr lang="en-US" sz="2400" dirty="0"/>
              <a:t>What evidence did Snow use to make this causal?  </a:t>
            </a:r>
          </a:p>
        </p:txBody>
      </p:sp>
    </p:spTree>
    <p:extLst>
      <p:ext uri="{BB962C8B-B14F-4D97-AF65-F5344CB8AC3E}">
        <p14:creationId xmlns:p14="http://schemas.microsoft.com/office/powerpoint/2010/main" val="3814886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356" y="234677"/>
            <a:ext cx="8660047" cy="701040"/>
          </a:xfrm>
        </p:spPr>
        <p:txBody>
          <a:bodyPr>
            <a:normAutofit/>
          </a:bodyPr>
          <a:lstStyle/>
          <a:p>
            <a:r>
              <a:rPr lang="en-US" dirty="0"/>
              <a:t>Average Treatment Effects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990600"/>
                <a:ext cx="10363200" cy="5638800"/>
              </a:xfrm>
            </p:spPr>
            <p:txBody>
              <a:bodyPr>
                <a:noAutofit/>
              </a:bodyPr>
              <a:lstStyle/>
              <a:p>
                <a:r>
                  <a:rPr lang="en-US" sz="2400" dirty="0">
                    <a:cs typeface="Times New Roman" panose="02020603050405020304" pitchFamily="18" charset="0"/>
                  </a:rPr>
                  <a:t>The parameter of interest is usually an </a:t>
                </a:r>
                <a:r>
                  <a:rPr lang="en-US" sz="2400" b="1" u="sng" dirty="0">
                    <a:solidFill>
                      <a:schemeClr val="accent2">
                        <a:lumMod val="75000"/>
                      </a:schemeClr>
                    </a:solidFill>
                    <a:cs typeface="Times New Roman" panose="02020603050405020304" pitchFamily="18" charset="0"/>
                  </a:rPr>
                  <a:t>average treatment effect (ATE):</a:t>
                </a:r>
                <a:endParaRPr lang="en-US" sz="2400" u="sng" dirty="0">
                  <a:solidFill>
                    <a:schemeClr val="accent2">
                      <a:lumMod val="75000"/>
                    </a:schemeClr>
                  </a:solidFill>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𝐴𝑇𝐸</m:t>
                      </m:r>
                      <m:r>
                        <a:rPr lang="en-US" sz="2400" b="0" i="1" smtClean="0">
                          <a:latin typeface="Cambria Math" panose="02040503050406030204" pitchFamily="18" charset="0"/>
                        </a:rPr>
                        <m:t>=</m:t>
                      </m:r>
                      <m:r>
                        <a:rPr lang="en-US" sz="2400" b="0" i="1" smtClean="0">
                          <a:latin typeface="Cambria Math" panose="02040503050406030204" pitchFamily="18" charset="0"/>
                        </a:rPr>
                        <m:t>𝔼</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𝛿</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r>
                        <a:rPr lang="en-US" sz="2400" b="0" i="1" smtClean="0">
                          <a:latin typeface="Cambria Math" panose="02040503050406030204" pitchFamily="18" charset="0"/>
                        </a:rPr>
                        <m:t>𝔼</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1</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𝔼</m:t>
                          </m:r>
                          <m:r>
                            <a:rPr lang="en-US" sz="2400" b="0" i="1" smtClean="0">
                              <a:latin typeface="Cambria Math" panose="02040503050406030204" pitchFamily="18" charset="0"/>
                            </a:rPr>
                            <m:t>[</m:t>
                          </m:r>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0</m:t>
                          </m:r>
                        </m:sup>
                      </m:sSubSup>
                      <m:r>
                        <a:rPr lang="en-US" sz="2400" b="0" i="1" smtClean="0">
                          <a:latin typeface="Cambria Math" panose="020405030504060302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Sometimes, we also care about the </a:t>
                </a:r>
                <a:r>
                  <a:rPr lang="en-US" sz="2400" b="1" dirty="0">
                    <a:solidFill>
                      <a:schemeClr val="accent3">
                        <a:lumMod val="75000"/>
                      </a:schemeClr>
                    </a:solidFill>
                    <a:cs typeface="Times New Roman" panose="02020603050405020304" pitchFamily="18" charset="0"/>
                  </a:rPr>
                  <a:t>average treatment effect specifically for the treated group (ATT):</a:t>
                </a:r>
                <a:endParaRPr lang="en-US" sz="2400" dirty="0">
                  <a:solidFill>
                    <a:schemeClr val="accent3">
                      <a:lumMod val="75000"/>
                    </a:schemeClr>
                  </a:solidFill>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𝐴𝑇𝑇</m:t>
                      </m:r>
                      <m:r>
                        <a:rPr lang="en-US" sz="2400" b="0" i="1" smtClean="0">
                          <a:latin typeface="Cambria Math" panose="02040503050406030204" pitchFamily="18" charset="0"/>
                        </a:rPr>
                        <m:t>=</m:t>
                      </m:r>
                      <m:r>
                        <a:rPr lang="en-US" sz="2400" b="0" i="1" smtClean="0">
                          <a:latin typeface="Cambria Math" panose="02040503050406030204" pitchFamily="18" charset="0"/>
                        </a:rPr>
                        <m:t>𝔼</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𝛿</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=1]=</m:t>
                      </m:r>
                      <m:r>
                        <a:rPr lang="en-US" sz="2400" b="0" i="1" smtClean="0">
                          <a:latin typeface="Cambria Math" panose="02040503050406030204" pitchFamily="18" charset="0"/>
                        </a:rPr>
                        <m:t>𝔼</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1</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𝑖𝑡</m:t>
                          </m:r>
                        </m:sub>
                      </m:sSub>
                      <m:r>
                        <a:rPr lang="en-US" sz="2400" i="1">
                          <a:latin typeface="Cambria Math" panose="02040503050406030204" pitchFamily="18" charset="0"/>
                        </a:rPr>
                        <m:t>=1]−</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𝔼</m:t>
                          </m:r>
                          <m:r>
                            <a:rPr lang="en-US" sz="2400" b="0" i="1" smtClean="0">
                              <a:latin typeface="Cambria Math" panose="02040503050406030204" pitchFamily="18" charset="0"/>
                            </a:rPr>
                            <m:t>[</m:t>
                          </m:r>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0</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𝑖𝑡</m:t>
                          </m:r>
                        </m:sub>
                      </m:sSub>
                      <m:r>
                        <a:rPr lang="en-US" sz="2400" i="1">
                          <a:latin typeface="Cambria Math" panose="02040503050406030204" pitchFamily="18" charset="0"/>
                        </a:rPr>
                        <m:t>=1]</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990600"/>
                <a:ext cx="10363200" cy="5638800"/>
              </a:xfrm>
              <a:blipFill>
                <a:blip r:embed="rId3"/>
                <a:stretch>
                  <a:fillRect l="-471" t="-1189"/>
                </a:stretch>
              </a:blipFill>
            </p:spPr>
            <p:txBody>
              <a:bodyPr/>
              <a:lstStyle/>
              <a:p>
                <a:r>
                  <a:rPr lang="en-US">
                    <a:noFill/>
                  </a:rPr>
                  <a:t> </a:t>
                </a:r>
              </a:p>
            </p:txBody>
          </p:sp>
        </mc:Fallback>
      </mc:AlternateContent>
    </p:spTree>
    <p:extLst>
      <p:ext uri="{BB962C8B-B14F-4D97-AF65-F5344CB8AC3E}">
        <p14:creationId xmlns:p14="http://schemas.microsoft.com/office/powerpoint/2010/main" val="8764547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002" y="234677"/>
            <a:ext cx="8787401" cy="701040"/>
          </a:xfrm>
        </p:spPr>
        <p:txBody>
          <a:bodyPr>
            <a:normAutofit/>
          </a:bodyPr>
          <a:lstStyle/>
          <a:p>
            <a:r>
              <a:rPr lang="en-US" dirty="0"/>
              <a:t>Average Treatment Effects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990600"/>
                <a:ext cx="10515600" cy="5638800"/>
              </a:xfrm>
            </p:spPr>
            <p:txBody>
              <a:bodyPr>
                <a:noAutofit/>
              </a:bodyPr>
              <a:lstStyle/>
              <a:p>
                <a:r>
                  <a:rPr lang="en-US" sz="2400" dirty="0">
                    <a:cs typeface="Times New Roman" panose="02020603050405020304" pitchFamily="18" charset="0"/>
                  </a:rPr>
                  <a:t>The parameter of interest is usually an </a:t>
                </a:r>
                <a:r>
                  <a:rPr lang="en-US" sz="2400" b="1" u="sng" dirty="0">
                    <a:solidFill>
                      <a:schemeClr val="accent2">
                        <a:lumMod val="75000"/>
                      </a:schemeClr>
                    </a:solidFill>
                    <a:cs typeface="Times New Roman" panose="02020603050405020304" pitchFamily="18" charset="0"/>
                  </a:rPr>
                  <a:t>average treatment effect (ATE):</a:t>
                </a:r>
                <a:endParaRPr lang="en-US" sz="2400" u="sng" dirty="0">
                  <a:solidFill>
                    <a:schemeClr val="accent2">
                      <a:lumMod val="75000"/>
                    </a:schemeClr>
                  </a:solidFill>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𝐴𝑇𝐸</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𝛿</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r>
                        <a:rPr lang="en-US" sz="2400" b="0" i="1" smtClean="0">
                          <a:latin typeface="Cambria Math" panose="02040503050406030204" pitchFamily="18" charset="0"/>
                        </a:rPr>
                        <m:t>𝔼</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1</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0</m:t>
                          </m:r>
                        </m:sup>
                      </m:sSubSup>
                      <m:r>
                        <a:rPr lang="en-US" sz="2400" b="0" i="1" smtClean="0">
                          <a:latin typeface="Cambria Math" panose="020405030504060302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Sometimes, we also care about the </a:t>
                </a:r>
                <a:r>
                  <a:rPr lang="en-US" sz="2400" b="1" dirty="0">
                    <a:solidFill>
                      <a:schemeClr val="accent3">
                        <a:lumMod val="75000"/>
                      </a:schemeClr>
                    </a:solidFill>
                    <a:cs typeface="Times New Roman" panose="02020603050405020304" pitchFamily="18" charset="0"/>
                  </a:rPr>
                  <a:t>average treatment effect specifically for the treated group (ATT):</a:t>
                </a:r>
                <a:endParaRPr lang="en-US" sz="2400" dirty="0">
                  <a:solidFill>
                    <a:schemeClr val="accent3">
                      <a:lumMod val="75000"/>
                    </a:schemeClr>
                  </a:solidFill>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𝐴𝑇𝑇</m:t>
                      </m:r>
                      <m:r>
                        <a:rPr lang="en-US" sz="2400" b="0" i="1" smtClean="0">
                          <a:latin typeface="Cambria Math" panose="02040503050406030204" pitchFamily="18" charset="0"/>
                        </a:rPr>
                        <m:t>=</m:t>
                      </m:r>
                      <m:r>
                        <a:rPr lang="en-US" sz="2400" b="0" i="1" smtClean="0">
                          <a:latin typeface="Cambria Math" panose="02040503050406030204" pitchFamily="18" charset="0"/>
                        </a:rPr>
                        <m:t>𝔼</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𝛿</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𝑖𝑡</m:t>
                          </m:r>
                        </m:sub>
                      </m:sSub>
                      <m:r>
                        <a:rPr lang="en-US" sz="2400" b="0" i="1" smtClean="0">
                          <a:latin typeface="Cambria Math" panose="02040503050406030204" pitchFamily="18" charset="0"/>
                        </a:rPr>
                        <m:t>=1]=</m:t>
                      </m:r>
                      <m:r>
                        <a:rPr lang="en-US" sz="2400" b="0" i="1" smtClean="0">
                          <a:latin typeface="Cambria Math" panose="02040503050406030204" pitchFamily="18" charset="0"/>
                        </a:rPr>
                        <m:t>𝔼</m:t>
                      </m:r>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1</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𝑖𝑡</m:t>
                          </m:r>
                        </m:sub>
                      </m:sSub>
                      <m:r>
                        <a:rPr lang="en-US" sz="2400" i="1">
                          <a:latin typeface="Cambria Math" panose="02040503050406030204" pitchFamily="18" charset="0"/>
                        </a:rPr>
                        <m:t>=1]−</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𝔼</m:t>
                          </m:r>
                          <m:r>
                            <a:rPr lang="en-US" sz="2400" b="0" i="1" smtClean="0">
                              <a:latin typeface="Cambria Math" panose="02040503050406030204" pitchFamily="18" charset="0"/>
                            </a:rPr>
                            <m:t>[</m:t>
                          </m:r>
                          <m:r>
                            <a:rPr lang="en-US" sz="2400" b="0" i="1" smtClean="0">
                              <a:latin typeface="Cambria Math" panose="02040503050406030204" pitchFamily="18" charset="0"/>
                            </a:rPr>
                            <m:t>𝑌</m:t>
                          </m:r>
                        </m:e>
                        <m:sub>
                          <m:r>
                            <a:rPr lang="en-US" sz="2400" b="0" i="1" smtClean="0">
                              <a:latin typeface="Cambria Math" panose="02040503050406030204" pitchFamily="18" charset="0"/>
                            </a:rPr>
                            <m:t>𝑖𝑡</m:t>
                          </m:r>
                        </m:sub>
                        <m:sup>
                          <m:r>
                            <a:rPr lang="en-US" sz="2400" b="0" i="1" smtClean="0">
                              <a:latin typeface="Cambria Math" panose="02040503050406030204" pitchFamily="18" charset="0"/>
                            </a:rPr>
                            <m:t>0</m:t>
                          </m:r>
                        </m:sup>
                      </m:sSubSup>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𝐷</m:t>
                          </m:r>
                        </m:e>
                        <m:sub>
                          <m:r>
                            <a:rPr lang="en-US" sz="2400" i="1">
                              <a:latin typeface="Cambria Math" panose="02040503050406030204" pitchFamily="18" charset="0"/>
                            </a:rPr>
                            <m:t>𝑖𝑡</m:t>
                          </m:r>
                        </m:sub>
                      </m:sSub>
                      <m:r>
                        <a:rPr lang="en-US" sz="2400" i="1">
                          <a:latin typeface="Cambria Math" panose="02040503050406030204" pitchFamily="18" charset="0"/>
                        </a:rPr>
                        <m:t>=1]</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Relies on </a:t>
                </a:r>
                <a:r>
                  <a:rPr lang="en-US" sz="2400" b="1" dirty="0">
                    <a:cs typeface="Times New Roman" panose="02020603050405020304" pitchFamily="18" charset="0"/>
                  </a:rPr>
                  <a:t>assumptions</a:t>
                </a:r>
                <a:r>
                  <a:rPr lang="en-US" sz="2400" dirty="0">
                    <a:cs typeface="Times New Roman" panose="02020603050405020304" pitchFamily="18" charset="0"/>
                  </a:rPr>
                  <a:t> about how units are assigned to </a:t>
                </a:r>
                <a:r>
                  <a:rPr lang="en-US" sz="2400" b="1" dirty="0">
                    <a:solidFill>
                      <a:schemeClr val="accent2">
                        <a:lumMod val="75000"/>
                      </a:schemeClr>
                    </a:solidFill>
                    <a:cs typeface="Times New Roman" panose="02020603050405020304" pitchFamily="18" charset="0"/>
                  </a:rPr>
                  <a:t>treated</a:t>
                </a:r>
                <a:r>
                  <a:rPr lang="en-US" sz="2400" dirty="0">
                    <a:cs typeface="Times New Roman" panose="02020603050405020304" pitchFamily="18" charset="0"/>
                  </a:rPr>
                  <a:t> and </a:t>
                </a:r>
                <a:r>
                  <a:rPr lang="en-US" sz="2400" b="1" dirty="0">
                    <a:solidFill>
                      <a:schemeClr val="accent3">
                        <a:lumMod val="75000"/>
                      </a:schemeClr>
                    </a:solidFill>
                    <a:cs typeface="Times New Roman" panose="02020603050405020304" pitchFamily="18" charset="0"/>
                  </a:rPr>
                  <a:t>control</a:t>
                </a:r>
                <a:r>
                  <a:rPr lang="en-US" sz="2400" dirty="0">
                    <a:cs typeface="Times New Roman" panose="02020603050405020304" pitchFamily="18" charset="0"/>
                  </a:rPr>
                  <a:t> groups</a:t>
                </a:r>
              </a:p>
              <a:p>
                <a:pPr marL="457200" indent="-457200">
                  <a:lnSpc>
                    <a:spcPct val="100000"/>
                  </a:lnSpc>
                  <a:buFont typeface="+mj-lt"/>
                  <a:buAutoNum type="arabicPeriod"/>
                </a:pPr>
                <a:r>
                  <a:rPr lang="en-US" sz="2400" dirty="0">
                    <a:cs typeface="Times New Roman" panose="02020603050405020304" pitchFamily="18" charset="0"/>
                  </a:rPr>
                  <a:t>Causal ordering + Independence: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sub>
                      <m:sup>
                        <m:r>
                          <a:rPr lang="en-US" sz="2400" b="0" i="1" smtClean="0">
                            <a:latin typeface="Cambria Math" panose="02040503050406030204" pitchFamily="18" charset="0"/>
                            <a:cs typeface="Times New Roman" panose="02020603050405020304" pitchFamily="18" charset="0"/>
                          </a:rPr>
                          <m:t>𝑑</m:t>
                        </m:r>
                      </m:sup>
                    </m:sSubSup>
                  </m:oMath>
                </a14:m>
                <a:r>
                  <a:rPr lang="en-US" sz="2400" dirty="0">
                    <a:cs typeface="Times New Roman" panose="02020603050405020304" pitchFamily="18" charset="0"/>
                  </a:rPr>
                  <a:t> and </a:t>
                </a: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0</m:t>
                            </m:r>
                          </m:sup>
                        </m:sSubSup>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1</m:t>
                            </m:r>
                          </m:sup>
                        </m:sSubSup>
                      </m:e>
                    </m:d>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 </m:t>
                    </m:r>
                  </m:oMath>
                </a14:m>
                <a:endParaRPr lang="en-US" sz="2400" dirty="0">
                  <a:cs typeface="Times New Roman" panose="02020603050405020304" pitchFamily="18" charset="0"/>
                </a:endParaRPr>
              </a:p>
              <a:p>
                <a:pPr lvl="1">
                  <a:lnSpc>
                    <a:spcPct val="100000"/>
                  </a:lnSpc>
                </a:pPr>
                <a:r>
                  <a:rPr lang="en-US" sz="2200" dirty="0">
                    <a:cs typeface="Times New Roman" panose="02020603050405020304" pitchFamily="18" charset="0"/>
                  </a:rPr>
                  <a:t>No reverse causality or simultaneity </a:t>
                </a:r>
              </a:p>
              <a:p>
                <a:pPr marL="514350" indent="-514350">
                  <a:lnSpc>
                    <a:spcPct val="100000"/>
                  </a:lnSpc>
                  <a:buFont typeface="+mj-lt"/>
                  <a:buAutoNum type="arabicPeriod"/>
                </a:pPr>
                <a:r>
                  <a:rPr lang="en-US" sz="2600" dirty="0">
                    <a:cs typeface="Times New Roman" panose="02020603050405020304" pitchFamily="18" charset="0"/>
                  </a:rPr>
                  <a:t>Consistency: </a:t>
                </a:r>
                <a14:m>
                  <m:oMath xmlns:m="http://schemas.openxmlformats.org/officeDocument/2006/math">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𝐷</m:t>
                        </m:r>
                      </m:e>
                      <m:sub>
                        <m:r>
                          <a:rPr lang="en-US" sz="2600" b="0" i="1" smtClean="0">
                            <a:latin typeface="Cambria Math" panose="02040503050406030204" pitchFamily="18" charset="0"/>
                            <a:cs typeface="Times New Roman" panose="02020603050405020304" pitchFamily="18" charset="0"/>
                          </a:rPr>
                          <m:t>𝑖𝑡</m:t>
                        </m:r>
                      </m:sub>
                    </m:sSub>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𝑑</m:t>
                    </m:r>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𝑌</m:t>
                        </m:r>
                      </m:e>
                      <m:sub>
                        <m:r>
                          <a:rPr lang="en-US" sz="2600" b="0" i="1" smtClean="0">
                            <a:latin typeface="Cambria Math" panose="02040503050406030204" pitchFamily="18" charset="0"/>
                            <a:cs typeface="Times New Roman" panose="02020603050405020304" pitchFamily="18" charset="0"/>
                          </a:rPr>
                          <m:t>𝑖𝑡</m:t>
                        </m:r>
                      </m:sub>
                    </m:sSub>
                    <m:r>
                      <a:rPr lang="en-US" sz="2600" b="0" i="1" smtClean="0">
                        <a:latin typeface="Cambria Math" panose="02040503050406030204" pitchFamily="18" charset="0"/>
                        <a:cs typeface="Times New Roman" panose="02020603050405020304" pitchFamily="18" charset="0"/>
                      </a:rPr>
                      <m:t>=</m:t>
                    </m:r>
                    <m:sSubSup>
                      <m:sSubSupPr>
                        <m:ctrlPr>
                          <a:rPr lang="en-US" sz="2600" b="0" i="1" smtClean="0">
                            <a:latin typeface="Cambria Math" panose="02040503050406030204" pitchFamily="18" charset="0"/>
                            <a:cs typeface="Times New Roman" panose="02020603050405020304" pitchFamily="18" charset="0"/>
                          </a:rPr>
                        </m:ctrlPr>
                      </m:sSubSupPr>
                      <m:e>
                        <m:r>
                          <a:rPr lang="en-US" sz="2600" b="0" i="1" smtClean="0">
                            <a:latin typeface="Cambria Math" panose="02040503050406030204" pitchFamily="18" charset="0"/>
                            <a:cs typeface="Times New Roman" panose="02020603050405020304" pitchFamily="18" charset="0"/>
                          </a:rPr>
                          <m:t>𝑌</m:t>
                        </m:r>
                      </m:e>
                      <m:sub>
                        <m:r>
                          <a:rPr lang="en-US" sz="2600" b="0" i="1" smtClean="0">
                            <a:latin typeface="Cambria Math" panose="02040503050406030204" pitchFamily="18" charset="0"/>
                            <a:cs typeface="Times New Roman" panose="02020603050405020304" pitchFamily="18" charset="0"/>
                          </a:rPr>
                          <m:t>𝑖𝑡</m:t>
                        </m:r>
                      </m:sub>
                      <m:sup>
                        <m:r>
                          <a:rPr lang="en-US" sz="2600" b="0" i="1" smtClean="0">
                            <a:latin typeface="Cambria Math" panose="02040503050406030204" pitchFamily="18" charset="0"/>
                            <a:cs typeface="Times New Roman" panose="02020603050405020304" pitchFamily="18" charset="0"/>
                          </a:rPr>
                          <m:t>𝑑</m:t>
                        </m:r>
                      </m:sup>
                    </m:sSubSup>
                  </m:oMath>
                </a14:m>
                <a:endParaRPr lang="en-US" sz="2600" dirty="0">
                  <a:cs typeface="Times New Roman" panose="02020603050405020304" pitchFamily="18" charset="0"/>
                </a:endParaRPr>
              </a:p>
              <a:p>
                <a:pPr lvl="1">
                  <a:lnSpc>
                    <a:spcPct val="100000"/>
                  </a:lnSpc>
                </a:pPr>
                <a:r>
                  <a:rPr lang="en-US" sz="2400" dirty="0">
                    <a:cs typeface="Times New Roman" panose="02020603050405020304" pitchFamily="18" charset="0"/>
                  </a:rPr>
                  <a:t>No hidden multiple versions, different administration, etc., of treatment</a:t>
                </a:r>
              </a:p>
              <a:p>
                <a:pPr marL="514350" indent="-514350">
                  <a:lnSpc>
                    <a:spcPct val="100000"/>
                  </a:lnSpc>
                  <a:buFont typeface="+mj-lt"/>
                  <a:buAutoNum type="arabicPeriod"/>
                </a:pPr>
                <a:r>
                  <a:rPr lang="en-US" sz="2600" dirty="0">
                    <a:cs typeface="Times New Roman" panose="02020603050405020304" pitchFamily="18" charset="0"/>
                  </a:rPr>
                  <a:t>No interference between units:</a:t>
                </a:r>
                <a14:m>
                  <m:oMath xmlns:m="http://schemas.openxmlformats.org/officeDocument/2006/math">
                    <m:sSub>
                      <m:sSubPr>
                        <m:ctrlPr>
                          <a:rPr lang="en-US" sz="2600" b="0" i="1" smtClean="0">
                            <a:latin typeface="Cambria Math" panose="02040503050406030204" pitchFamily="18" charset="0"/>
                            <a:cs typeface="Times New Roman" panose="02020603050405020304" pitchFamily="18" charset="0"/>
                          </a:rPr>
                        </m:ctrlPr>
                      </m:sSubPr>
                      <m:e>
                        <m:r>
                          <m:rPr>
                            <m:sty m:val="p"/>
                          </m:rPr>
                          <a:rPr lang="en-US" sz="2600" b="0" i="0" smtClean="0">
                            <a:latin typeface="Cambria Math" panose="02040503050406030204" pitchFamily="18" charset="0"/>
                            <a:cs typeface="Times New Roman" panose="02020603050405020304" pitchFamily="18" charset="0"/>
                          </a:rPr>
                          <m:t>Y</m:t>
                        </m:r>
                      </m:e>
                      <m:sub>
                        <m:r>
                          <m:rPr>
                            <m:sty m:val="p"/>
                          </m:rPr>
                          <a:rPr lang="en-US" sz="2600" b="0" i="0" smtClean="0">
                            <a:latin typeface="Cambria Math" panose="02040503050406030204" pitchFamily="18" charset="0"/>
                            <a:cs typeface="Times New Roman" panose="02020603050405020304" pitchFamily="18" charset="0"/>
                          </a:rPr>
                          <m:t>it</m:t>
                        </m:r>
                      </m:sub>
                    </m:sSub>
                    <m:d>
                      <m:dPr>
                        <m:ctrlPr>
                          <a:rPr lang="en-US" sz="2600" b="0" i="1" smtClean="0">
                            <a:latin typeface="Cambria Math" panose="02040503050406030204" pitchFamily="18" charset="0"/>
                            <a:cs typeface="Times New Roman" panose="02020603050405020304" pitchFamily="18" charset="0"/>
                          </a:rPr>
                        </m:ctrlPr>
                      </m:dPr>
                      <m:e>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𝐷</m:t>
                            </m:r>
                          </m:e>
                          <m:sub>
                            <m:r>
                              <a:rPr lang="en-US" sz="2600" b="0" i="1" smtClean="0">
                                <a:latin typeface="Cambria Math" panose="02040503050406030204" pitchFamily="18" charset="0"/>
                                <a:cs typeface="Times New Roman" panose="02020603050405020304" pitchFamily="18" charset="0"/>
                              </a:rPr>
                              <m:t>1</m:t>
                            </m:r>
                            <m:r>
                              <a:rPr lang="en-US" sz="2600" b="0" i="1" smtClean="0">
                                <a:latin typeface="Cambria Math" panose="02040503050406030204" pitchFamily="18" charset="0"/>
                                <a:cs typeface="Times New Roman" panose="02020603050405020304" pitchFamily="18" charset="0"/>
                              </a:rPr>
                              <m:t>𝑡</m:t>
                            </m:r>
                          </m:sub>
                        </m:sSub>
                        <m:r>
                          <a:rPr lang="en-US" sz="2600" b="0" i="1" smtClean="0">
                            <a:latin typeface="Cambria Math" panose="02040503050406030204" pitchFamily="18" charset="0"/>
                            <a:cs typeface="Times New Roman" panose="02020603050405020304" pitchFamily="18" charset="0"/>
                          </a:rPr>
                          <m:t>,…, </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𝐷</m:t>
                            </m:r>
                          </m:e>
                          <m:sub>
                            <m:r>
                              <a:rPr lang="en-US" sz="2600" b="0" i="1" smtClean="0">
                                <a:latin typeface="Cambria Math" panose="02040503050406030204" pitchFamily="18" charset="0"/>
                                <a:cs typeface="Times New Roman" panose="02020603050405020304" pitchFamily="18" charset="0"/>
                              </a:rPr>
                              <m:t>𝑁𝑡</m:t>
                            </m:r>
                          </m:sub>
                        </m:sSub>
                      </m:e>
                    </m:d>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𝑌</m:t>
                        </m:r>
                      </m:e>
                      <m:sub>
                        <m:r>
                          <a:rPr lang="en-US" sz="2600" b="0" i="1" smtClean="0">
                            <a:latin typeface="Cambria Math" panose="02040503050406030204" pitchFamily="18" charset="0"/>
                            <a:cs typeface="Times New Roman" panose="02020603050405020304" pitchFamily="18" charset="0"/>
                          </a:rPr>
                          <m:t>𝑖𝑡</m:t>
                        </m:r>
                      </m:sub>
                    </m:sSub>
                    <m:d>
                      <m:dPr>
                        <m:ctrlPr>
                          <a:rPr lang="en-US" sz="2600" b="0" i="1" smtClean="0">
                            <a:latin typeface="Cambria Math" panose="02040503050406030204" pitchFamily="18" charset="0"/>
                            <a:cs typeface="Times New Roman" panose="02020603050405020304" pitchFamily="18" charset="0"/>
                          </a:rPr>
                        </m:ctrlPr>
                      </m:dPr>
                      <m:e>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𝐷</m:t>
                            </m:r>
                          </m:e>
                          <m:sub>
                            <m:r>
                              <a:rPr lang="en-US" sz="2600" b="0" i="1" smtClean="0">
                                <a:latin typeface="Cambria Math" panose="02040503050406030204" pitchFamily="18" charset="0"/>
                                <a:cs typeface="Times New Roman" panose="02020603050405020304" pitchFamily="18" charset="0"/>
                              </a:rPr>
                              <m:t>𝑖𝑡</m:t>
                            </m:r>
                          </m:sub>
                        </m:sSub>
                      </m:e>
                    </m:d>
                  </m:oMath>
                </a14:m>
                <a:endParaRPr lang="en-US" sz="2400" dirty="0">
                  <a:cs typeface="Times New Roman" panose="02020603050405020304" pitchFamily="18" charset="0"/>
                </a:endParaRPr>
              </a:p>
              <a:p>
                <a:pPr lvl="1">
                  <a:lnSpc>
                    <a:spcPct val="100000"/>
                  </a:lnSpc>
                </a:pPr>
                <a:r>
                  <a:rPr lang="en-US" sz="2200" dirty="0">
                    <a:cs typeface="Times New Roman" panose="02020603050405020304" pitchFamily="18" charset="0"/>
                  </a:rPr>
                  <a:t>No one else’s treatments affect yours</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990600"/>
                <a:ext cx="10515600" cy="5638800"/>
              </a:xfrm>
              <a:blipFill>
                <a:blip r:embed="rId3"/>
                <a:stretch>
                  <a:fillRect l="-928" t="-1189" r="-174" b="-4649"/>
                </a:stretch>
              </a:blipFill>
            </p:spPr>
            <p:txBody>
              <a:bodyPr/>
              <a:lstStyle/>
              <a:p>
                <a:r>
                  <a:rPr lang="en-CA">
                    <a:noFill/>
                  </a:rPr>
                  <a:t> </a:t>
                </a:r>
              </a:p>
            </p:txBody>
          </p:sp>
        </mc:Fallback>
      </mc:AlternateContent>
    </p:spTree>
    <p:extLst>
      <p:ext uri="{BB962C8B-B14F-4D97-AF65-F5344CB8AC3E}">
        <p14:creationId xmlns:p14="http://schemas.microsoft.com/office/powerpoint/2010/main" val="5543486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Example: Treatment Outcomes</a:t>
            </a:r>
          </a:p>
        </p:txBody>
      </p:sp>
      <p:sp>
        <p:nvSpPr>
          <p:cNvPr id="3" name="Content Placeholder 2"/>
          <p:cNvSpPr>
            <a:spLocks noGrp="1"/>
          </p:cNvSpPr>
          <p:nvPr>
            <p:ph idx="1"/>
          </p:nvPr>
        </p:nvSpPr>
        <p:spPr>
          <a:xfrm>
            <a:off x="1066801" y="990600"/>
            <a:ext cx="8381999" cy="5638800"/>
          </a:xfrm>
        </p:spPr>
        <p:txBody>
          <a:bodyPr>
            <a:noAutofit/>
          </a:bodyPr>
          <a:lstStyle/>
          <a:p>
            <a:pPr marL="0" indent="0">
              <a:buNone/>
            </a:pPr>
            <a:r>
              <a:rPr lang="en-US" sz="2400" dirty="0"/>
              <a:t>How effective is a medical treatment? </a:t>
            </a:r>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1642692696"/>
                  </p:ext>
                </p:extLst>
              </p:nvPr>
            </p:nvGraphicFramePr>
            <p:xfrm>
              <a:off x="1143000" y="1524000"/>
              <a:ext cx="7467600" cy="5037455"/>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1382962599"/>
                        </a:ext>
                      </a:extLst>
                    </a:gridCol>
                    <a:gridCol w="1866900">
                      <a:extLst>
                        <a:ext uri="{9D8B030D-6E8A-4147-A177-3AD203B41FA5}">
                          <a16:colId xmlns:a16="http://schemas.microsoft.com/office/drawing/2014/main" val="3110937995"/>
                        </a:ext>
                      </a:extLst>
                    </a:gridCol>
                    <a:gridCol w="1866900">
                      <a:extLst>
                        <a:ext uri="{9D8B030D-6E8A-4147-A177-3AD203B41FA5}">
                          <a16:colId xmlns:a16="http://schemas.microsoft.com/office/drawing/2014/main" val="1332737986"/>
                        </a:ext>
                      </a:extLst>
                    </a:gridCol>
                    <a:gridCol w="1866900">
                      <a:extLst>
                        <a:ext uri="{9D8B030D-6E8A-4147-A177-3AD203B41FA5}">
                          <a16:colId xmlns:a16="http://schemas.microsoft.com/office/drawing/2014/main" val="3121837830"/>
                        </a:ext>
                      </a:extLst>
                    </a:gridCol>
                  </a:tblGrid>
                  <a:tr h="437573">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436303">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509417205"/>
                      </a:ext>
                    </a:extLst>
                  </a:tr>
                  <a:tr h="436303">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683507387"/>
                      </a:ext>
                    </a:extLst>
                  </a:tr>
                  <a:tr h="436303">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573450199"/>
                      </a:ext>
                    </a:extLst>
                  </a:tr>
                  <a:tr h="436303">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067848943"/>
                      </a:ext>
                    </a:extLst>
                  </a:tr>
                  <a:tr h="436303">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17705721"/>
                      </a:ext>
                    </a:extLst>
                  </a:tr>
                  <a:tr h="436303">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421316902"/>
                      </a:ext>
                    </a:extLst>
                  </a:tr>
                  <a:tr h="436303">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120335065"/>
                      </a:ext>
                    </a:extLst>
                  </a:tr>
                  <a:tr h="436303">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180700529"/>
                      </a:ext>
                    </a:extLst>
                  </a:tr>
                  <a:tr h="436303">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389079847"/>
                      </a:ext>
                    </a:extLst>
                  </a:tr>
                  <a:tr h="436303">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832426719"/>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1642692696"/>
                  </p:ext>
                </p:extLst>
              </p:nvPr>
            </p:nvGraphicFramePr>
            <p:xfrm>
              <a:off x="1143000" y="1524000"/>
              <a:ext cx="7467600" cy="5037455"/>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1382962599"/>
                        </a:ext>
                      </a:extLst>
                    </a:gridCol>
                    <a:gridCol w="1866900">
                      <a:extLst>
                        <a:ext uri="{9D8B030D-6E8A-4147-A177-3AD203B41FA5}">
                          <a16:colId xmlns:a16="http://schemas.microsoft.com/office/drawing/2014/main" val="3110937995"/>
                        </a:ext>
                      </a:extLst>
                    </a:gridCol>
                    <a:gridCol w="1866900">
                      <a:extLst>
                        <a:ext uri="{9D8B030D-6E8A-4147-A177-3AD203B41FA5}">
                          <a16:colId xmlns:a16="http://schemas.microsoft.com/office/drawing/2014/main" val="1332737986"/>
                        </a:ext>
                      </a:extLst>
                    </a:gridCol>
                    <a:gridCol w="1866900">
                      <a:extLst>
                        <a:ext uri="{9D8B030D-6E8A-4147-A177-3AD203B41FA5}">
                          <a16:colId xmlns:a16="http://schemas.microsoft.com/office/drawing/2014/main" val="3121837830"/>
                        </a:ext>
                      </a:extLst>
                    </a:gridCol>
                  </a:tblGrid>
                  <a:tr h="465455">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0654" t="-10526" r="-201634" b="-1017105"/>
                          </a:stretch>
                        </a:blipFill>
                      </a:tcPr>
                    </a:tc>
                    <a:tc>
                      <a:txBody>
                        <a:bodyPr/>
                        <a:lstStyle/>
                        <a:p>
                          <a:endParaRPr lang="en-US"/>
                        </a:p>
                      </a:txBody>
                      <a:tcPr>
                        <a:blipFill>
                          <a:blip r:embed="rId3"/>
                          <a:stretch>
                            <a:fillRect l="-200000" t="-10526" r="-100977" b="-1017105"/>
                          </a:stretch>
                        </a:blipFill>
                      </a:tcPr>
                    </a:tc>
                    <a:tc>
                      <a:txBody>
                        <a:bodyPr/>
                        <a:lstStyle/>
                        <a:p>
                          <a:endParaRPr lang="en-US"/>
                        </a:p>
                      </a:txBody>
                      <a:tcPr>
                        <a:blipFill>
                          <a:blip r:embed="rId3"/>
                          <a:stretch>
                            <a:fillRect l="-300980" t="-10526" r="-1307" b="-1017105"/>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extLst>
                      <a:ext uri="{0D108BD9-81ED-4DB2-BD59-A6C34878D82A}">
                        <a16:rowId xmlns:a16="http://schemas.microsoft.com/office/drawing/2014/main" val="1832426719"/>
                      </a:ext>
                    </a:extLst>
                  </a:tr>
                </a:tbl>
              </a:graphicData>
            </a:graphic>
          </p:graphicFrame>
        </mc:Fallback>
      </mc:AlternateContent>
    </p:spTree>
    <p:extLst>
      <p:ext uri="{BB962C8B-B14F-4D97-AF65-F5344CB8AC3E}">
        <p14:creationId xmlns:p14="http://schemas.microsoft.com/office/powerpoint/2010/main" val="20457085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34677"/>
            <a:ext cx="9677399" cy="1060723"/>
          </a:xfrm>
        </p:spPr>
        <p:txBody>
          <a:bodyPr>
            <a:noAutofit/>
          </a:bodyPr>
          <a:lstStyle/>
          <a:p>
            <a:r>
              <a:rPr lang="en-US" dirty="0"/>
              <a:t>Example: Treatment Outcomes</a:t>
            </a:r>
            <a:br>
              <a:rPr lang="en-US" dirty="0"/>
            </a:br>
            <a:r>
              <a:rPr lang="en-US" sz="2800" dirty="0">
                <a:highlight>
                  <a:srgbClr val="FFFF00"/>
                </a:highlight>
              </a:rPr>
              <a:t>(sidenote: the structure of data)</a:t>
            </a:r>
            <a:endParaRPr lang="en-US" dirty="0">
              <a:highlight>
                <a:srgbClr val="FFFF00"/>
              </a:highlight>
            </a:endParaRPr>
          </a:p>
        </p:txBody>
      </p:sp>
      <p:sp>
        <p:nvSpPr>
          <p:cNvPr id="3" name="Content Placeholder 2"/>
          <p:cNvSpPr>
            <a:spLocks noGrp="1"/>
          </p:cNvSpPr>
          <p:nvPr>
            <p:ph idx="1"/>
          </p:nvPr>
        </p:nvSpPr>
        <p:spPr>
          <a:xfrm>
            <a:off x="1981200" y="838200"/>
            <a:ext cx="7467600" cy="5257800"/>
          </a:xfrm>
        </p:spPr>
        <p:txBody>
          <a:bodyPr>
            <a:noAutofit/>
          </a:bodyPr>
          <a:lstStyle/>
          <a:p>
            <a:pPr marL="2317120" lvl="8" indent="0">
              <a:buNone/>
            </a:pPr>
            <a:r>
              <a:rPr lang="en-US" sz="2400" dirty="0">
                <a:latin typeface="Times New Roman" panose="02020603050405020304" pitchFamily="18" charset="0"/>
              </a:rPr>
              <a:t>			</a:t>
            </a:r>
            <a:r>
              <a:rPr lang="en-US" sz="2400" b="1" dirty="0">
                <a:solidFill>
                  <a:srgbClr val="002060"/>
                </a:solidFill>
                <a:latin typeface="Times New Roman" panose="02020603050405020304" pitchFamily="18" charset="0"/>
              </a:rPr>
              <a:t>Covariates</a:t>
            </a:r>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2897031708"/>
                  </p:ext>
                </p:extLst>
              </p:nvPr>
            </p:nvGraphicFramePr>
            <p:xfrm>
              <a:off x="1905001" y="1524000"/>
              <a:ext cx="7620001" cy="5394960"/>
            </p:xfrm>
            <a:graphic>
              <a:graphicData uri="http://schemas.openxmlformats.org/drawingml/2006/table">
                <a:tbl>
                  <a:tblPr firstRow="1" bandRow="1">
                    <a:tableStyleId>{5C22544A-7EE6-4342-B048-85BDC9FD1C3A}</a:tableStyleId>
                  </a:tblPr>
                  <a:tblGrid>
                    <a:gridCol w="1350380">
                      <a:extLst>
                        <a:ext uri="{9D8B030D-6E8A-4147-A177-3AD203B41FA5}">
                          <a16:colId xmlns:a16="http://schemas.microsoft.com/office/drawing/2014/main" val="1382962599"/>
                        </a:ext>
                      </a:extLst>
                    </a:gridCol>
                    <a:gridCol w="771646">
                      <a:extLst>
                        <a:ext uri="{9D8B030D-6E8A-4147-A177-3AD203B41FA5}">
                          <a16:colId xmlns:a16="http://schemas.microsoft.com/office/drawing/2014/main" val="3110937995"/>
                        </a:ext>
                      </a:extLst>
                    </a:gridCol>
                    <a:gridCol w="675190">
                      <a:extLst>
                        <a:ext uri="{9D8B030D-6E8A-4147-A177-3AD203B41FA5}">
                          <a16:colId xmlns:a16="http://schemas.microsoft.com/office/drawing/2014/main" val="1332737986"/>
                        </a:ext>
                      </a:extLst>
                    </a:gridCol>
                    <a:gridCol w="578734">
                      <a:extLst>
                        <a:ext uri="{9D8B030D-6E8A-4147-A177-3AD203B41FA5}">
                          <a16:colId xmlns:a16="http://schemas.microsoft.com/office/drawing/2014/main" val="3121837830"/>
                        </a:ext>
                      </a:extLst>
                    </a:gridCol>
                    <a:gridCol w="868101">
                      <a:extLst>
                        <a:ext uri="{9D8B030D-6E8A-4147-A177-3AD203B41FA5}">
                          <a16:colId xmlns:a16="http://schemas.microsoft.com/office/drawing/2014/main" val="1180088120"/>
                        </a:ext>
                      </a:extLst>
                    </a:gridCol>
                    <a:gridCol w="1061013">
                      <a:extLst>
                        <a:ext uri="{9D8B030D-6E8A-4147-A177-3AD203B41FA5}">
                          <a16:colId xmlns:a16="http://schemas.microsoft.com/office/drawing/2014/main" val="2701551004"/>
                        </a:ext>
                      </a:extLst>
                    </a:gridCol>
                    <a:gridCol w="2314937">
                      <a:extLst>
                        <a:ext uri="{9D8B030D-6E8A-4147-A177-3AD203B41FA5}">
                          <a16:colId xmlns:a16="http://schemas.microsoft.com/office/drawing/2014/main" val="2100593018"/>
                        </a:ext>
                      </a:extLst>
                    </a:gridCol>
                  </a:tblGrid>
                  <a:tr h="538480">
                    <a:tc>
                      <a:txBody>
                        <a:bodyPr/>
                        <a:lstStyle/>
                        <a:p>
                          <a:r>
                            <a:rPr lang="en-US" sz="2400" dirty="0">
                              <a:latin typeface="Times New Roman" panose="02020603050405020304" pitchFamily="18" charset="0"/>
                            </a:rPr>
                            <a:t>Patient </a:t>
                          </a:r>
                          <a:r>
                            <a:rPr lang="en-US" sz="2400" dirty="0">
                              <a:highlight>
                                <a:srgbClr val="000080"/>
                              </a:highlight>
                            </a:rPr>
                            <a:t>(</a:t>
                          </a:r>
                          <a:r>
                            <a:rPr lang="en-US" sz="2400" dirty="0" err="1">
                              <a:highlight>
                                <a:srgbClr val="000080"/>
                              </a:highlight>
                            </a:rPr>
                            <a:t>i</a:t>
                          </a:r>
                          <a:r>
                            <a:rPr lang="en-US" sz="2400" dirty="0">
                              <a:highlight>
                                <a:srgbClr val="000080"/>
                              </a:highlight>
                            </a:rPr>
                            <a: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Age</a:t>
                          </a:r>
                        </a:p>
                      </a:txBody>
                      <a:tcPr/>
                    </a:tc>
                    <a:tc>
                      <a:txBody>
                        <a:bodyPr/>
                        <a:lstStyle/>
                        <a:p>
                          <a:r>
                            <a:rPr lang="en-US" sz="2400" dirty="0">
                              <a:latin typeface="Times New Roman" panose="02020603050405020304" pitchFamily="18" charset="0"/>
                            </a:rPr>
                            <a:t>Sex</a:t>
                          </a:r>
                        </a:p>
                      </a:txBody>
                      <a:tcPr/>
                    </a:tc>
                    <a:tc>
                      <a:txBody>
                        <a:bodyPr/>
                        <a:lstStyle/>
                        <a:p>
                          <a:r>
                            <a:rPr lang="en-US" sz="2400" dirty="0">
                              <a:latin typeface="Times New Roman" panose="02020603050405020304" pitchFamily="18" charset="0"/>
                            </a:rPr>
                            <a:t>Comorbidities?</a:t>
                          </a:r>
                        </a:p>
                      </a:txBody>
                      <a:tcPr/>
                    </a:tc>
                    <a:extLst>
                      <a:ext uri="{0D108BD9-81ED-4DB2-BD59-A6C34878D82A}">
                        <a16:rowId xmlns:a16="http://schemas.microsoft.com/office/drawing/2014/main" val="2394106292"/>
                      </a:ext>
                    </a:extLst>
                  </a:tr>
                  <a:tr h="37084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24</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509417205"/>
                      </a:ext>
                    </a:extLst>
                  </a:tr>
                  <a:tr h="370840">
                    <a:tc>
                      <a:txBody>
                        <a:bodyPr/>
                        <a:lstStyle/>
                        <a:p>
                          <a:r>
                            <a:rPr lang="en-US" sz="2400" dirty="0">
                              <a:highlight>
                                <a:srgbClr val="FFFF00"/>
                              </a:highlight>
                              <a:latin typeface="Times New Roman" panose="02020603050405020304" pitchFamily="18" charset="0"/>
                            </a:rPr>
                            <a:t>2</a:t>
                          </a:r>
                        </a:p>
                      </a:txBody>
                      <a:tcPr/>
                    </a:tc>
                    <a:tc>
                      <a:txBody>
                        <a:bodyPr/>
                        <a:lstStyle/>
                        <a:p>
                          <a:r>
                            <a:rPr lang="en-US" sz="2400" dirty="0">
                              <a:highlight>
                                <a:srgbClr val="FFFF00"/>
                              </a:highlight>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endParaRPr lang="en-US" sz="2400" dirty="0">
                            <a:highlight>
                              <a:srgbClr val="FFFF00"/>
                            </a:highlight>
                            <a:latin typeface="Times New Roman" panose="02020603050405020304" pitchFamily="18" charset="0"/>
                          </a:endParaRPr>
                        </a:p>
                      </a:txBody>
                      <a:tcPr/>
                    </a:tc>
                    <a:tc>
                      <a:txBody>
                        <a:bodyPr/>
                        <a:lstStyle/>
                        <a:p>
                          <a:r>
                            <a:rPr lang="en-US" sz="2400" dirty="0">
                              <a:highlight>
                                <a:srgbClr val="FFFF00"/>
                              </a:highlight>
                              <a:latin typeface="Times New Roman" panose="02020603050405020304" pitchFamily="18" charset="0"/>
                            </a:rPr>
                            <a:t>50</a:t>
                          </a:r>
                        </a:p>
                      </a:txBody>
                      <a:tcPr/>
                    </a:tc>
                    <a:tc>
                      <a:txBody>
                        <a:bodyPr/>
                        <a:lstStyle/>
                        <a:p>
                          <a:r>
                            <a:rPr lang="en-US" sz="2400" dirty="0">
                              <a:highlight>
                                <a:srgbClr val="FFFF00"/>
                              </a:highlight>
                              <a:latin typeface="Times New Roman" panose="02020603050405020304" pitchFamily="18" charset="0"/>
                            </a:rPr>
                            <a:t>M</a:t>
                          </a:r>
                        </a:p>
                      </a:txBody>
                      <a:tcPr/>
                    </a:tc>
                    <a:tc>
                      <a:txBody>
                        <a:bodyPr/>
                        <a:lstStyle/>
                        <a:p>
                          <a:r>
                            <a:rPr lang="en-US" sz="2400" dirty="0">
                              <a:highlight>
                                <a:srgbClr val="FFFF00"/>
                              </a:highlight>
                              <a:latin typeface="Times New Roman" panose="02020603050405020304" pitchFamily="18" charset="0"/>
                            </a:rPr>
                            <a:t>Y</a:t>
                          </a:r>
                        </a:p>
                      </a:txBody>
                      <a:tcPr/>
                    </a:tc>
                    <a:extLst>
                      <a:ext uri="{0D108BD9-81ED-4DB2-BD59-A6C34878D82A}">
                        <a16:rowId xmlns:a16="http://schemas.microsoft.com/office/drawing/2014/main" val="3683507387"/>
                      </a:ext>
                    </a:extLst>
                  </a:tr>
                  <a:tr h="37084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46</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N</a:t>
                          </a:r>
                        </a:p>
                      </a:txBody>
                      <a:tcPr/>
                    </a:tc>
                    <a:extLst>
                      <a:ext uri="{0D108BD9-81ED-4DB2-BD59-A6C34878D82A}">
                        <a16:rowId xmlns:a16="http://schemas.microsoft.com/office/drawing/2014/main" val="1573450199"/>
                      </a:ext>
                    </a:extLst>
                  </a:tr>
                  <a:tr h="37084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37</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3067848943"/>
                      </a:ext>
                    </a:extLst>
                  </a:tr>
                  <a:tr h="37084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89</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N</a:t>
                          </a:r>
                        </a:p>
                      </a:txBody>
                      <a:tcPr/>
                    </a:tc>
                    <a:extLst>
                      <a:ext uri="{0D108BD9-81ED-4DB2-BD59-A6C34878D82A}">
                        <a16:rowId xmlns:a16="http://schemas.microsoft.com/office/drawing/2014/main" val="317705721"/>
                      </a:ext>
                    </a:extLst>
                  </a:tr>
                  <a:tr h="37084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23</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1421316902"/>
                      </a:ext>
                    </a:extLst>
                  </a:tr>
                  <a:tr h="37084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67</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N </a:t>
                          </a:r>
                        </a:p>
                      </a:txBody>
                      <a:tcPr/>
                    </a:tc>
                    <a:extLst>
                      <a:ext uri="{0D108BD9-81ED-4DB2-BD59-A6C34878D82A}">
                        <a16:rowId xmlns:a16="http://schemas.microsoft.com/office/drawing/2014/main" val="3120335065"/>
                      </a:ext>
                    </a:extLst>
                  </a:tr>
                  <a:tr h="37084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81</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N</a:t>
                          </a:r>
                        </a:p>
                      </a:txBody>
                      <a:tcPr/>
                    </a:tc>
                    <a:extLst>
                      <a:ext uri="{0D108BD9-81ED-4DB2-BD59-A6C34878D82A}">
                        <a16:rowId xmlns:a16="http://schemas.microsoft.com/office/drawing/2014/main" val="1180700529"/>
                      </a:ext>
                    </a:extLst>
                  </a:tr>
                  <a:tr h="37084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16</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1389079847"/>
                      </a:ext>
                    </a:extLst>
                  </a:tr>
                  <a:tr h="370840">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72</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1832426719"/>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2897031708"/>
                  </p:ext>
                </p:extLst>
              </p:nvPr>
            </p:nvGraphicFramePr>
            <p:xfrm>
              <a:off x="1905001" y="1524000"/>
              <a:ext cx="7620001" cy="5394960"/>
            </p:xfrm>
            <a:graphic>
              <a:graphicData uri="http://schemas.openxmlformats.org/drawingml/2006/table">
                <a:tbl>
                  <a:tblPr firstRow="1" bandRow="1">
                    <a:tableStyleId>{5C22544A-7EE6-4342-B048-85BDC9FD1C3A}</a:tableStyleId>
                  </a:tblPr>
                  <a:tblGrid>
                    <a:gridCol w="1350380">
                      <a:extLst>
                        <a:ext uri="{9D8B030D-6E8A-4147-A177-3AD203B41FA5}">
                          <a16:colId xmlns:a16="http://schemas.microsoft.com/office/drawing/2014/main" val="1382962599"/>
                        </a:ext>
                      </a:extLst>
                    </a:gridCol>
                    <a:gridCol w="771646">
                      <a:extLst>
                        <a:ext uri="{9D8B030D-6E8A-4147-A177-3AD203B41FA5}">
                          <a16:colId xmlns:a16="http://schemas.microsoft.com/office/drawing/2014/main" val="3110937995"/>
                        </a:ext>
                      </a:extLst>
                    </a:gridCol>
                    <a:gridCol w="675190">
                      <a:extLst>
                        <a:ext uri="{9D8B030D-6E8A-4147-A177-3AD203B41FA5}">
                          <a16:colId xmlns:a16="http://schemas.microsoft.com/office/drawing/2014/main" val="1332737986"/>
                        </a:ext>
                      </a:extLst>
                    </a:gridCol>
                    <a:gridCol w="578734">
                      <a:extLst>
                        <a:ext uri="{9D8B030D-6E8A-4147-A177-3AD203B41FA5}">
                          <a16:colId xmlns:a16="http://schemas.microsoft.com/office/drawing/2014/main" val="3121837830"/>
                        </a:ext>
                      </a:extLst>
                    </a:gridCol>
                    <a:gridCol w="868101">
                      <a:extLst>
                        <a:ext uri="{9D8B030D-6E8A-4147-A177-3AD203B41FA5}">
                          <a16:colId xmlns:a16="http://schemas.microsoft.com/office/drawing/2014/main" val="1180088120"/>
                        </a:ext>
                      </a:extLst>
                    </a:gridCol>
                    <a:gridCol w="1061013">
                      <a:extLst>
                        <a:ext uri="{9D8B030D-6E8A-4147-A177-3AD203B41FA5}">
                          <a16:colId xmlns:a16="http://schemas.microsoft.com/office/drawing/2014/main" val="2701551004"/>
                        </a:ext>
                      </a:extLst>
                    </a:gridCol>
                    <a:gridCol w="2314937">
                      <a:extLst>
                        <a:ext uri="{9D8B030D-6E8A-4147-A177-3AD203B41FA5}">
                          <a16:colId xmlns:a16="http://schemas.microsoft.com/office/drawing/2014/main" val="2100593018"/>
                        </a:ext>
                      </a:extLst>
                    </a:gridCol>
                  </a:tblGrid>
                  <a:tr h="822960">
                    <a:tc>
                      <a:txBody>
                        <a:bodyPr/>
                        <a:lstStyle/>
                        <a:p>
                          <a:r>
                            <a:rPr lang="en-US" sz="2400" dirty="0">
                              <a:latin typeface="Times New Roman" panose="02020603050405020304" pitchFamily="18" charset="0"/>
                            </a:rPr>
                            <a:t>Patient </a:t>
                          </a:r>
                          <a:r>
                            <a:rPr lang="en-US" sz="2400" dirty="0">
                              <a:highlight>
                                <a:srgbClr val="000080"/>
                              </a:highlight>
                            </a:rPr>
                            <a:t>(</a:t>
                          </a:r>
                          <a:r>
                            <a:rPr lang="en-US" sz="2400" dirty="0" err="1">
                              <a:highlight>
                                <a:srgbClr val="000080"/>
                              </a:highlight>
                            </a:rPr>
                            <a:t>i</a:t>
                          </a:r>
                          <a:r>
                            <a:rPr lang="en-US" sz="2400" dirty="0">
                              <a:highlight>
                                <a:srgbClr val="000080"/>
                              </a:highlight>
                            </a:rPr>
                            <a:t>)</a:t>
                          </a:r>
                        </a:p>
                      </a:txBody>
                      <a:tcPr/>
                    </a:tc>
                    <a:tc>
                      <a:txBody>
                        <a:bodyPr/>
                        <a:lstStyle/>
                        <a:p>
                          <a:endParaRPr lang="en-US"/>
                        </a:p>
                      </a:txBody>
                      <a:tcPr>
                        <a:blipFill>
                          <a:blip r:embed="rId3"/>
                          <a:stretch>
                            <a:fillRect l="-176984" t="-5926" r="-719841" b="-572593"/>
                          </a:stretch>
                        </a:blipFill>
                      </a:tcPr>
                    </a:tc>
                    <a:tc>
                      <a:txBody>
                        <a:bodyPr/>
                        <a:lstStyle/>
                        <a:p>
                          <a:endParaRPr lang="en-US"/>
                        </a:p>
                      </a:txBody>
                      <a:tcPr>
                        <a:blipFill>
                          <a:blip r:embed="rId3"/>
                          <a:stretch>
                            <a:fillRect l="-314414" t="-5926" r="-717117" b="-572593"/>
                          </a:stretch>
                        </a:blipFill>
                      </a:tcPr>
                    </a:tc>
                    <a:tc>
                      <a:txBody>
                        <a:bodyPr/>
                        <a:lstStyle/>
                        <a:p>
                          <a:endParaRPr lang="en-US"/>
                        </a:p>
                      </a:txBody>
                      <a:tcPr>
                        <a:blipFill>
                          <a:blip r:embed="rId3"/>
                          <a:stretch>
                            <a:fillRect l="-484211" t="-5926" r="-737895" b="-572593"/>
                          </a:stretch>
                        </a:blipFill>
                      </a:tcPr>
                    </a:tc>
                    <a:tc>
                      <a:txBody>
                        <a:bodyPr/>
                        <a:lstStyle/>
                        <a:p>
                          <a:r>
                            <a:rPr lang="en-US" sz="2400" dirty="0">
                              <a:latin typeface="Times New Roman" panose="02020603050405020304" pitchFamily="18" charset="0"/>
                            </a:rPr>
                            <a:t>Age</a:t>
                          </a:r>
                        </a:p>
                      </a:txBody>
                      <a:tcPr/>
                    </a:tc>
                    <a:tc>
                      <a:txBody>
                        <a:bodyPr/>
                        <a:lstStyle/>
                        <a:p>
                          <a:r>
                            <a:rPr lang="en-US" sz="2400" dirty="0">
                              <a:latin typeface="Times New Roman" panose="02020603050405020304" pitchFamily="18" charset="0"/>
                            </a:rPr>
                            <a:t>Sex</a:t>
                          </a:r>
                        </a:p>
                      </a:txBody>
                      <a:tcPr/>
                    </a:tc>
                    <a:tc>
                      <a:txBody>
                        <a:bodyPr/>
                        <a:lstStyle/>
                        <a:p>
                          <a:r>
                            <a:rPr lang="en-US" sz="2400" dirty="0">
                              <a:latin typeface="Times New Roman" panose="02020603050405020304" pitchFamily="18" charset="0"/>
                            </a:rPr>
                            <a:t>Comorbidities?</a:t>
                          </a:r>
                        </a:p>
                      </a:txBody>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24</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509417205"/>
                      </a:ext>
                    </a:extLst>
                  </a:tr>
                  <a:tr h="457200">
                    <a:tc>
                      <a:txBody>
                        <a:bodyPr/>
                        <a:lstStyle/>
                        <a:p>
                          <a:r>
                            <a:rPr lang="en-US" sz="2400" dirty="0">
                              <a:highlight>
                                <a:srgbClr val="FFFF00"/>
                              </a:highlight>
                              <a:latin typeface="Times New Roman" panose="02020603050405020304" pitchFamily="18" charset="0"/>
                            </a:rPr>
                            <a:t>2</a:t>
                          </a:r>
                        </a:p>
                      </a:txBody>
                      <a:tcPr/>
                    </a:tc>
                    <a:tc>
                      <a:txBody>
                        <a:bodyPr/>
                        <a:lstStyle/>
                        <a:p>
                          <a:r>
                            <a:rPr lang="en-US" sz="2400" dirty="0">
                              <a:highlight>
                                <a:srgbClr val="FFFF00"/>
                              </a:highlight>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endParaRPr lang="en-US" sz="2400" dirty="0">
                            <a:highlight>
                              <a:srgbClr val="FFFF00"/>
                            </a:highlight>
                            <a:latin typeface="Times New Roman" panose="02020603050405020304" pitchFamily="18" charset="0"/>
                          </a:endParaRPr>
                        </a:p>
                      </a:txBody>
                      <a:tcPr/>
                    </a:tc>
                    <a:tc>
                      <a:txBody>
                        <a:bodyPr/>
                        <a:lstStyle/>
                        <a:p>
                          <a:r>
                            <a:rPr lang="en-US" sz="2400" dirty="0">
                              <a:highlight>
                                <a:srgbClr val="FFFF00"/>
                              </a:highlight>
                              <a:latin typeface="Times New Roman" panose="02020603050405020304" pitchFamily="18" charset="0"/>
                            </a:rPr>
                            <a:t>50</a:t>
                          </a:r>
                        </a:p>
                      </a:txBody>
                      <a:tcPr/>
                    </a:tc>
                    <a:tc>
                      <a:txBody>
                        <a:bodyPr/>
                        <a:lstStyle/>
                        <a:p>
                          <a:r>
                            <a:rPr lang="en-US" sz="2400" dirty="0">
                              <a:highlight>
                                <a:srgbClr val="FFFF00"/>
                              </a:highlight>
                              <a:latin typeface="Times New Roman" panose="02020603050405020304" pitchFamily="18" charset="0"/>
                            </a:rPr>
                            <a:t>M</a:t>
                          </a:r>
                        </a:p>
                      </a:txBody>
                      <a:tcPr/>
                    </a:tc>
                    <a:tc>
                      <a:txBody>
                        <a:bodyPr/>
                        <a:lstStyle/>
                        <a:p>
                          <a:r>
                            <a:rPr lang="en-US" sz="2400" dirty="0">
                              <a:highlight>
                                <a:srgbClr val="FFFF00"/>
                              </a:highlight>
                              <a:latin typeface="Times New Roman" panose="02020603050405020304" pitchFamily="18" charset="0"/>
                            </a:rPr>
                            <a:t>Y</a:t>
                          </a: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46</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N</a:t>
                          </a: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37</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89</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N</a:t>
                          </a: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23</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67</a:t>
                          </a:r>
                        </a:p>
                      </a:txBody>
                      <a:tcPr/>
                    </a:tc>
                    <a:tc>
                      <a:txBody>
                        <a:bodyPr/>
                        <a:lstStyle/>
                        <a:p>
                          <a:r>
                            <a:rPr lang="en-US" sz="2400" dirty="0">
                              <a:latin typeface="Times New Roman" panose="02020603050405020304" pitchFamily="18" charset="0"/>
                            </a:rPr>
                            <a:t>M</a:t>
                          </a:r>
                        </a:p>
                      </a:txBody>
                      <a:tcPr/>
                    </a:tc>
                    <a:tc>
                      <a:txBody>
                        <a:bodyPr/>
                        <a:lstStyle/>
                        <a:p>
                          <a:r>
                            <a:rPr lang="en-US" sz="2400" dirty="0">
                              <a:latin typeface="Times New Roman" panose="02020603050405020304" pitchFamily="18" charset="0"/>
                            </a:rPr>
                            <a:t>N </a:t>
                          </a: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81</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N</a:t>
                          </a: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16</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72</a:t>
                          </a:r>
                        </a:p>
                      </a:txBody>
                      <a:tcPr/>
                    </a:tc>
                    <a:tc>
                      <a:txBody>
                        <a:bodyPr/>
                        <a:lstStyle/>
                        <a:p>
                          <a:r>
                            <a:rPr lang="en-US" sz="2400" dirty="0">
                              <a:latin typeface="Times New Roman" panose="02020603050405020304" pitchFamily="18" charset="0"/>
                            </a:rPr>
                            <a:t>F</a:t>
                          </a:r>
                        </a:p>
                      </a:txBody>
                      <a:tcPr/>
                    </a:tc>
                    <a:tc>
                      <a:txBody>
                        <a:bodyPr/>
                        <a:lstStyle/>
                        <a:p>
                          <a:r>
                            <a:rPr lang="en-US" sz="2400" dirty="0">
                              <a:latin typeface="Times New Roman" panose="02020603050405020304" pitchFamily="18" charset="0"/>
                            </a:rPr>
                            <a:t>Y</a:t>
                          </a:r>
                        </a:p>
                      </a:txBody>
                      <a:tcPr/>
                    </a:tc>
                    <a:extLst>
                      <a:ext uri="{0D108BD9-81ED-4DB2-BD59-A6C34878D82A}">
                        <a16:rowId xmlns:a16="http://schemas.microsoft.com/office/drawing/2014/main" val="1832426719"/>
                      </a:ext>
                    </a:extLst>
                  </a:tr>
                </a:tbl>
              </a:graphicData>
            </a:graphic>
          </p:graphicFrame>
        </mc:Fallback>
      </mc:AlternateContent>
      <p:sp>
        <p:nvSpPr>
          <p:cNvPr id="5" name="Right Brace 4">
            <a:extLst>
              <a:ext uri="{FF2B5EF4-FFF2-40B4-BE49-F238E27FC236}">
                <a16:creationId xmlns:a16="http://schemas.microsoft.com/office/drawing/2014/main" id="{FCBC76F5-30BE-4635-AD30-451AA3ED8578}"/>
              </a:ext>
            </a:extLst>
          </p:cNvPr>
          <p:cNvSpPr/>
          <p:nvPr/>
        </p:nvSpPr>
        <p:spPr>
          <a:xfrm rot="16200000">
            <a:off x="7106234" y="-629233"/>
            <a:ext cx="417933" cy="3962400"/>
          </a:xfrm>
          <a:prstGeom prst="rightBrace">
            <a:avLst/>
          </a:prstGeom>
          <a:ln w="571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Times New Roman" panose="02020603050405020304" pitchFamily="18" charset="0"/>
            </a:endParaRPr>
          </a:p>
        </p:txBody>
      </p:sp>
      <p:sp>
        <p:nvSpPr>
          <p:cNvPr id="6" name="Right Brace 5">
            <a:extLst>
              <a:ext uri="{FF2B5EF4-FFF2-40B4-BE49-F238E27FC236}">
                <a16:creationId xmlns:a16="http://schemas.microsoft.com/office/drawing/2014/main" id="{DF9D4C9E-FC2B-4E4D-9796-0AC6AF24B194}"/>
              </a:ext>
            </a:extLst>
          </p:cNvPr>
          <p:cNvSpPr/>
          <p:nvPr/>
        </p:nvSpPr>
        <p:spPr>
          <a:xfrm>
            <a:off x="7696200" y="2819400"/>
            <a:ext cx="304800" cy="417934"/>
          </a:xfrm>
          <a:prstGeom prst="righ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Times New Roman" panose="02020603050405020304" pitchFamily="18" charset="0"/>
            </a:endParaRPr>
          </a:p>
        </p:txBody>
      </p:sp>
      <p:sp>
        <p:nvSpPr>
          <p:cNvPr id="7" name="TextBox 6">
            <a:extLst>
              <a:ext uri="{FF2B5EF4-FFF2-40B4-BE49-F238E27FC236}">
                <a16:creationId xmlns:a16="http://schemas.microsoft.com/office/drawing/2014/main" id="{AC393ED3-6E99-4DD8-9F0E-58CC9C5BFA95}"/>
              </a:ext>
            </a:extLst>
          </p:cNvPr>
          <p:cNvSpPr txBox="1"/>
          <p:nvPr/>
        </p:nvSpPr>
        <p:spPr>
          <a:xfrm>
            <a:off x="8077200" y="2819400"/>
            <a:ext cx="2057400" cy="461665"/>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rPr>
              <a:t>Observation</a:t>
            </a:r>
          </a:p>
        </p:txBody>
      </p:sp>
    </p:spTree>
    <p:extLst>
      <p:ext uri="{BB962C8B-B14F-4D97-AF65-F5344CB8AC3E}">
        <p14:creationId xmlns:p14="http://schemas.microsoft.com/office/powerpoint/2010/main" val="15753549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Example: Treatment Outcomes</a:t>
            </a:r>
          </a:p>
        </p:txBody>
      </p:sp>
      <p:sp>
        <p:nvSpPr>
          <p:cNvPr id="3" name="Content Placeholder 2"/>
          <p:cNvSpPr>
            <a:spLocks noGrp="1"/>
          </p:cNvSpPr>
          <p:nvPr>
            <p:ph idx="1"/>
          </p:nvPr>
        </p:nvSpPr>
        <p:spPr>
          <a:xfrm>
            <a:off x="1066801" y="838200"/>
            <a:ext cx="8381999" cy="5562600"/>
          </a:xfrm>
        </p:spPr>
        <p:txBody>
          <a:bodyPr>
            <a:noAutofit/>
          </a:bodyPr>
          <a:lstStyle/>
          <a:p>
            <a:pPr marL="0" indent="0">
              <a:buNone/>
            </a:pPr>
            <a:r>
              <a:rPr lang="en-US" sz="2400" dirty="0"/>
              <a:t>How effective is a medical treatment? </a:t>
            </a:r>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1474216283"/>
                  </p:ext>
                </p:extLst>
              </p:nvPr>
            </p:nvGraphicFramePr>
            <p:xfrm>
              <a:off x="1142998" y="1295400"/>
              <a:ext cx="8305800" cy="5494655"/>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1382962599"/>
                        </a:ext>
                      </a:extLst>
                    </a:gridCol>
                    <a:gridCol w="2076450">
                      <a:extLst>
                        <a:ext uri="{9D8B030D-6E8A-4147-A177-3AD203B41FA5}">
                          <a16:colId xmlns:a16="http://schemas.microsoft.com/office/drawing/2014/main" val="3110937995"/>
                        </a:ext>
                      </a:extLst>
                    </a:gridCol>
                    <a:gridCol w="2076450">
                      <a:extLst>
                        <a:ext uri="{9D8B030D-6E8A-4147-A177-3AD203B41FA5}">
                          <a16:colId xmlns:a16="http://schemas.microsoft.com/office/drawing/2014/main" val="1332737986"/>
                        </a:ext>
                      </a:extLst>
                    </a:gridCol>
                    <a:gridCol w="2076450">
                      <a:extLst>
                        <a:ext uri="{9D8B030D-6E8A-4147-A177-3AD203B41FA5}">
                          <a16:colId xmlns:a16="http://schemas.microsoft.com/office/drawing/2014/main" val="3121837830"/>
                        </a:ext>
                      </a:extLst>
                    </a:gridCol>
                  </a:tblGrid>
                  <a:tr h="413852">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41265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6</a:t>
                          </a:r>
                        </a:p>
                      </a:txBody>
                      <a:tcPr/>
                    </a:tc>
                    <a:extLst>
                      <a:ext uri="{0D108BD9-81ED-4DB2-BD59-A6C34878D82A}">
                        <a16:rowId xmlns:a16="http://schemas.microsoft.com/office/drawing/2014/main" val="509417205"/>
                      </a:ext>
                    </a:extLst>
                  </a:tr>
                  <a:tr h="41265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683507387"/>
                      </a:ext>
                    </a:extLst>
                  </a:tr>
                  <a:tr h="41265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573450199"/>
                      </a:ext>
                    </a:extLst>
                  </a:tr>
                  <a:tr h="41265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067848943"/>
                      </a:ext>
                    </a:extLst>
                  </a:tr>
                  <a:tr h="41265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2</a:t>
                          </a:r>
                        </a:p>
                      </a:txBody>
                      <a:tcPr/>
                    </a:tc>
                    <a:extLst>
                      <a:ext uri="{0D108BD9-81ED-4DB2-BD59-A6C34878D82A}">
                        <a16:rowId xmlns:a16="http://schemas.microsoft.com/office/drawing/2014/main" val="317705721"/>
                      </a:ext>
                    </a:extLst>
                  </a:tr>
                  <a:tr h="41265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1421316902"/>
                      </a:ext>
                    </a:extLst>
                  </a:tr>
                  <a:tr h="41265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3120335065"/>
                      </a:ext>
                    </a:extLst>
                  </a:tr>
                  <a:tr h="41265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180700529"/>
                      </a:ext>
                    </a:extLst>
                  </a:tr>
                  <a:tr h="41265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389079847"/>
                      </a:ext>
                    </a:extLst>
                  </a:tr>
                  <a:tr h="412650">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r h="412650">
                    <a:tc>
                      <a:txBody>
                        <a:bodyPr/>
                        <a:lstStyle/>
                        <a:p>
                          <a:r>
                            <a:rPr lang="en-US" sz="2400" b="1" dirty="0">
                              <a:latin typeface="Times New Roman" panose="02020603050405020304" pitchFamily="18" charset="0"/>
                            </a:rPr>
                            <a:t>ATE</a:t>
                          </a:r>
                        </a:p>
                      </a:txBody>
                      <a:tcPr>
                        <a:solidFill>
                          <a:srgbClr val="FFC000"/>
                        </a:solidFill>
                      </a:tcPr>
                    </a:tc>
                    <a:tc>
                      <a:txBody>
                        <a:bodyPr/>
                        <a:lstStyle/>
                        <a:p>
                          <a:r>
                            <a:rPr lang="en-US" sz="2400" b="1" dirty="0">
                              <a:latin typeface="Times New Roman" panose="02020603050405020304" pitchFamily="18" charset="0"/>
                            </a:rPr>
                            <a:t>5.6</a:t>
                          </a:r>
                        </a:p>
                      </a:txBody>
                      <a:tcPr>
                        <a:solidFill>
                          <a:srgbClr val="FFC000"/>
                        </a:solidFill>
                      </a:tcPr>
                    </a:tc>
                    <a:tc>
                      <a:txBody>
                        <a:bodyPr/>
                        <a:lstStyle/>
                        <a:p>
                          <a:r>
                            <a:rPr lang="en-US" sz="2400" b="1" dirty="0">
                              <a:latin typeface="Times New Roman" panose="02020603050405020304" pitchFamily="18" charset="0"/>
                            </a:rPr>
                            <a:t>5.0</a:t>
                          </a:r>
                        </a:p>
                      </a:txBody>
                      <a:tcPr>
                        <a:solidFill>
                          <a:srgbClr val="FFC000"/>
                        </a:solidFill>
                      </a:tcPr>
                    </a:tc>
                    <a:tc>
                      <a:txBody>
                        <a:bodyPr/>
                        <a:lstStyle/>
                        <a:p>
                          <a:r>
                            <a:rPr lang="en-US" sz="2400" b="1" dirty="0">
                              <a:latin typeface="Times New Roman" panose="02020603050405020304" pitchFamily="18" charset="0"/>
                            </a:rPr>
                            <a:t>0.6</a:t>
                          </a:r>
                        </a:p>
                      </a:txBody>
                      <a:tcPr>
                        <a:solidFill>
                          <a:srgbClr val="FFC000"/>
                        </a:solidFill>
                      </a:tcPr>
                    </a:tc>
                    <a:extLst>
                      <a:ext uri="{0D108BD9-81ED-4DB2-BD59-A6C34878D82A}">
                        <a16:rowId xmlns:a16="http://schemas.microsoft.com/office/drawing/2014/main" val="3787958836"/>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1474216283"/>
                  </p:ext>
                </p:extLst>
              </p:nvPr>
            </p:nvGraphicFramePr>
            <p:xfrm>
              <a:off x="1142998" y="1295400"/>
              <a:ext cx="8305800" cy="5494655"/>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1382962599"/>
                        </a:ext>
                      </a:extLst>
                    </a:gridCol>
                    <a:gridCol w="2076450">
                      <a:extLst>
                        <a:ext uri="{9D8B030D-6E8A-4147-A177-3AD203B41FA5}">
                          <a16:colId xmlns:a16="http://schemas.microsoft.com/office/drawing/2014/main" val="3110937995"/>
                        </a:ext>
                      </a:extLst>
                    </a:gridCol>
                    <a:gridCol w="2076450">
                      <a:extLst>
                        <a:ext uri="{9D8B030D-6E8A-4147-A177-3AD203B41FA5}">
                          <a16:colId xmlns:a16="http://schemas.microsoft.com/office/drawing/2014/main" val="1332737986"/>
                        </a:ext>
                      </a:extLst>
                    </a:gridCol>
                    <a:gridCol w="2076450">
                      <a:extLst>
                        <a:ext uri="{9D8B030D-6E8A-4147-A177-3AD203B41FA5}">
                          <a16:colId xmlns:a16="http://schemas.microsoft.com/office/drawing/2014/main" val="3121837830"/>
                        </a:ext>
                      </a:extLst>
                    </a:gridCol>
                  </a:tblGrid>
                  <a:tr h="465455">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0293" t="-9211" r="-201173" b="-1117105"/>
                          </a:stretch>
                        </a:blipFill>
                      </a:tcPr>
                    </a:tc>
                    <a:tc>
                      <a:txBody>
                        <a:bodyPr/>
                        <a:lstStyle/>
                        <a:p>
                          <a:endParaRPr lang="en-US"/>
                        </a:p>
                      </a:txBody>
                      <a:tcPr>
                        <a:blipFill>
                          <a:blip r:embed="rId3"/>
                          <a:stretch>
                            <a:fillRect l="-200882" t="-9211" r="-101765" b="-1117105"/>
                          </a:stretch>
                        </a:blipFill>
                      </a:tcPr>
                    </a:tc>
                    <a:tc>
                      <a:txBody>
                        <a:bodyPr/>
                        <a:lstStyle/>
                        <a:p>
                          <a:endParaRPr lang="en-US"/>
                        </a:p>
                      </a:txBody>
                      <a:tcPr>
                        <a:blipFill>
                          <a:blip r:embed="rId3"/>
                          <a:stretch>
                            <a:fillRect l="-300000" t="-9211" r="-1466" b="-1117105"/>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6</a:t>
                          </a: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2</a:t>
                          </a: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r h="457200">
                    <a:tc>
                      <a:txBody>
                        <a:bodyPr/>
                        <a:lstStyle/>
                        <a:p>
                          <a:r>
                            <a:rPr lang="en-US" sz="2400" b="1" dirty="0">
                              <a:latin typeface="Times New Roman" panose="02020603050405020304" pitchFamily="18" charset="0"/>
                            </a:rPr>
                            <a:t>ATE</a:t>
                          </a:r>
                        </a:p>
                      </a:txBody>
                      <a:tcPr>
                        <a:solidFill>
                          <a:srgbClr val="FFC000"/>
                        </a:solidFill>
                      </a:tcPr>
                    </a:tc>
                    <a:tc>
                      <a:txBody>
                        <a:bodyPr/>
                        <a:lstStyle/>
                        <a:p>
                          <a:r>
                            <a:rPr lang="en-US" sz="2400" b="1" dirty="0">
                              <a:latin typeface="Times New Roman" panose="02020603050405020304" pitchFamily="18" charset="0"/>
                            </a:rPr>
                            <a:t>5.6</a:t>
                          </a:r>
                        </a:p>
                      </a:txBody>
                      <a:tcPr>
                        <a:solidFill>
                          <a:srgbClr val="FFC000"/>
                        </a:solidFill>
                      </a:tcPr>
                    </a:tc>
                    <a:tc>
                      <a:txBody>
                        <a:bodyPr/>
                        <a:lstStyle/>
                        <a:p>
                          <a:r>
                            <a:rPr lang="en-US" sz="2400" b="1" dirty="0">
                              <a:latin typeface="Times New Roman" panose="02020603050405020304" pitchFamily="18" charset="0"/>
                            </a:rPr>
                            <a:t>5.0</a:t>
                          </a:r>
                        </a:p>
                      </a:txBody>
                      <a:tcPr>
                        <a:solidFill>
                          <a:srgbClr val="FFC000"/>
                        </a:solidFill>
                      </a:tcPr>
                    </a:tc>
                    <a:tc>
                      <a:txBody>
                        <a:bodyPr/>
                        <a:lstStyle/>
                        <a:p>
                          <a:r>
                            <a:rPr lang="en-US" sz="2400" b="1" dirty="0">
                              <a:latin typeface="Times New Roman" panose="02020603050405020304" pitchFamily="18" charset="0"/>
                            </a:rPr>
                            <a:t>0.6</a:t>
                          </a:r>
                        </a:p>
                      </a:txBody>
                      <a:tcPr>
                        <a:solidFill>
                          <a:srgbClr val="FFC000"/>
                        </a:solidFill>
                      </a:tcPr>
                    </a:tc>
                    <a:extLst>
                      <a:ext uri="{0D108BD9-81ED-4DB2-BD59-A6C34878D82A}">
                        <a16:rowId xmlns:a16="http://schemas.microsoft.com/office/drawing/2014/main" val="3787958836"/>
                      </a:ext>
                    </a:extLst>
                  </a:tr>
                </a:tbl>
              </a:graphicData>
            </a:graphic>
          </p:graphicFrame>
        </mc:Fallback>
      </mc:AlternateContent>
    </p:spTree>
    <p:extLst>
      <p:ext uri="{BB962C8B-B14F-4D97-AF65-F5344CB8AC3E}">
        <p14:creationId xmlns:p14="http://schemas.microsoft.com/office/powerpoint/2010/main" val="10142374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834B0-83F4-5398-D2BD-4D03F2E26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6018-D22D-C886-BCB9-9BC0B903CBBA}"/>
              </a:ext>
            </a:extLst>
          </p:cNvPr>
          <p:cNvSpPr>
            <a:spLocks noGrp="1"/>
          </p:cNvSpPr>
          <p:nvPr>
            <p:ph type="title"/>
          </p:nvPr>
        </p:nvSpPr>
        <p:spPr>
          <a:xfrm>
            <a:off x="1066801" y="234677"/>
            <a:ext cx="8077200" cy="701040"/>
          </a:xfrm>
        </p:spPr>
        <p:txBody>
          <a:bodyPr>
            <a:normAutofit/>
          </a:bodyPr>
          <a:lstStyle/>
          <a:p>
            <a:r>
              <a:rPr lang="en-US" dirty="0"/>
              <a:t>But what do we actually observe?</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18F1927-7D9B-4F66-E56B-9013EE77F5C4}"/>
                  </a:ext>
                </a:extLst>
              </p:cNvPr>
              <p:cNvGraphicFramePr>
                <a:graphicFrameLocks noGrp="1"/>
              </p:cNvGraphicFramePr>
              <p:nvPr>
                <p:extLst>
                  <p:ext uri="{D42A27DB-BD31-4B8C-83A1-F6EECF244321}">
                    <p14:modId xmlns:p14="http://schemas.microsoft.com/office/powerpoint/2010/main" val="1576201476"/>
                  </p:ext>
                </p:extLst>
              </p:nvPr>
            </p:nvGraphicFramePr>
            <p:xfrm>
              <a:off x="1142998" y="1295400"/>
              <a:ext cx="8305800" cy="5494655"/>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1382962599"/>
                        </a:ext>
                      </a:extLst>
                    </a:gridCol>
                    <a:gridCol w="2076450">
                      <a:extLst>
                        <a:ext uri="{9D8B030D-6E8A-4147-A177-3AD203B41FA5}">
                          <a16:colId xmlns:a16="http://schemas.microsoft.com/office/drawing/2014/main" val="3110937995"/>
                        </a:ext>
                      </a:extLst>
                    </a:gridCol>
                    <a:gridCol w="2076450">
                      <a:extLst>
                        <a:ext uri="{9D8B030D-6E8A-4147-A177-3AD203B41FA5}">
                          <a16:colId xmlns:a16="http://schemas.microsoft.com/office/drawing/2014/main" val="1332737986"/>
                        </a:ext>
                      </a:extLst>
                    </a:gridCol>
                    <a:gridCol w="2076450">
                      <a:extLst>
                        <a:ext uri="{9D8B030D-6E8A-4147-A177-3AD203B41FA5}">
                          <a16:colId xmlns:a16="http://schemas.microsoft.com/office/drawing/2014/main" val="3121837830"/>
                        </a:ext>
                      </a:extLst>
                    </a:gridCol>
                  </a:tblGrid>
                  <a:tr h="413852">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412650">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509417205"/>
                      </a:ext>
                    </a:extLst>
                  </a:tr>
                  <a:tr h="412650">
                    <a:tc>
                      <a:txBody>
                        <a:bodyPr/>
                        <a:lstStyle/>
                        <a:p>
                          <a:r>
                            <a:rPr lang="en-US" sz="2400" dirty="0">
                              <a:latin typeface="Times New Roman" panose="02020603050405020304" pitchFamily="18" charset="0"/>
                            </a:rPr>
                            <a:t>2</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683507387"/>
                      </a:ext>
                    </a:extLst>
                  </a:tr>
                  <a:tr h="412650">
                    <a:tc>
                      <a:txBody>
                        <a:bodyPr/>
                        <a:lstStyle/>
                        <a:p>
                          <a:r>
                            <a:rPr lang="en-US" sz="2400" dirty="0">
                              <a:latin typeface="Times New Roman" panose="02020603050405020304" pitchFamily="18" charset="0"/>
                            </a:rPr>
                            <a:t>3</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573450199"/>
                      </a:ext>
                    </a:extLst>
                  </a:tr>
                  <a:tr h="41265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067848943"/>
                      </a:ext>
                    </a:extLst>
                  </a:tr>
                  <a:tr h="41265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17705721"/>
                      </a:ext>
                    </a:extLst>
                  </a:tr>
                  <a:tr h="41265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421316902"/>
                      </a:ext>
                    </a:extLst>
                  </a:tr>
                  <a:tr h="41265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120335065"/>
                      </a:ext>
                    </a:extLst>
                  </a:tr>
                  <a:tr h="412650">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180700529"/>
                      </a:ext>
                    </a:extLst>
                  </a:tr>
                  <a:tr h="412650">
                    <a:tc>
                      <a:txBody>
                        <a:bodyPr/>
                        <a:lstStyle/>
                        <a:p>
                          <a:r>
                            <a:rPr lang="en-US" sz="2400" dirty="0">
                              <a:latin typeface="Times New Roman" panose="02020603050405020304" pitchFamily="18" charset="0"/>
                            </a:rPr>
                            <a:t>9</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389079847"/>
                      </a:ext>
                    </a:extLst>
                  </a:tr>
                  <a:tr h="412650">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832426719"/>
                      </a:ext>
                    </a:extLst>
                  </a:tr>
                  <a:tr h="412650">
                    <a:tc>
                      <a:txBody>
                        <a:bodyPr/>
                        <a:lstStyle/>
                        <a:p>
                          <a:r>
                            <a:rPr lang="en-US" sz="2400" b="1" dirty="0">
                              <a:latin typeface="Times New Roman" panose="02020603050405020304" pitchFamily="18" charset="0"/>
                            </a:rPr>
                            <a:t>ATE</a:t>
                          </a:r>
                        </a:p>
                      </a:txBody>
                      <a:tcPr>
                        <a:solidFill>
                          <a:srgbClr val="FFC000"/>
                        </a:solidFill>
                      </a:tcPr>
                    </a:tc>
                    <a:tc>
                      <a:txBody>
                        <a:bodyPr/>
                        <a:lstStyle/>
                        <a:p>
                          <a:r>
                            <a:rPr lang="en-US" sz="2400" b="1" dirty="0">
                              <a:latin typeface="Times New Roman" panose="02020603050405020304" pitchFamily="18" charset="0"/>
                            </a:rPr>
                            <a:t>5.5</a:t>
                          </a:r>
                        </a:p>
                      </a:txBody>
                      <a:tcPr>
                        <a:solidFill>
                          <a:srgbClr val="FFC000"/>
                        </a:solidFill>
                      </a:tcPr>
                    </a:tc>
                    <a:tc>
                      <a:txBody>
                        <a:bodyPr/>
                        <a:lstStyle/>
                        <a:p>
                          <a:r>
                            <a:rPr lang="en-US" sz="2400" b="1" dirty="0">
                              <a:latin typeface="Times New Roman" panose="02020603050405020304" pitchFamily="18" charset="0"/>
                            </a:rPr>
                            <a:t>4.8</a:t>
                          </a:r>
                        </a:p>
                      </a:txBody>
                      <a:tcPr>
                        <a:solidFill>
                          <a:srgbClr val="FFC000"/>
                        </a:solidFill>
                      </a:tcPr>
                    </a:tc>
                    <a:tc>
                      <a:txBody>
                        <a:bodyPr/>
                        <a:lstStyle/>
                        <a:p>
                          <a:r>
                            <a:rPr lang="en-US" sz="2400" b="1" dirty="0">
                              <a:latin typeface="Times New Roman" panose="02020603050405020304" pitchFamily="18" charset="0"/>
                            </a:rPr>
                            <a:t>0.7</a:t>
                          </a:r>
                        </a:p>
                      </a:txBody>
                      <a:tcPr>
                        <a:solidFill>
                          <a:srgbClr val="FFC000"/>
                        </a:solidFill>
                      </a:tcPr>
                    </a:tc>
                    <a:extLst>
                      <a:ext uri="{0D108BD9-81ED-4DB2-BD59-A6C34878D82A}">
                        <a16:rowId xmlns:a16="http://schemas.microsoft.com/office/drawing/2014/main" val="3787958836"/>
                      </a:ext>
                    </a:extLst>
                  </a:tr>
                </a:tbl>
              </a:graphicData>
            </a:graphic>
          </p:graphicFrame>
        </mc:Choice>
        <mc:Fallback xmlns="">
          <p:graphicFrame>
            <p:nvGraphicFramePr>
              <p:cNvPr id="4" name="Table 4">
                <a:extLst>
                  <a:ext uri="{FF2B5EF4-FFF2-40B4-BE49-F238E27FC236}">
                    <a16:creationId xmlns:a16="http://schemas.microsoft.com/office/drawing/2014/main" id="{C18F1927-7D9B-4F66-E56B-9013EE77F5C4}"/>
                  </a:ext>
                </a:extLst>
              </p:cNvPr>
              <p:cNvGraphicFramePr>
                <a:graphicFrameLocks noGrp="1"/>
              </p:cNvGraphicFramePr>
              <p:nvPr>
                <p:extLst>
                  <p:ext uri="{D42A27DB-BD31-4B8C-83A1-F6EECF244321}">
                    <p14:modId xmlns:p14="http://schemas.microsoft.com/office/powerpoint/2010/main" val="1576201476"/>
                  </p:ext>
                </p:extLst>
              </p:nvPr>
            </p:nvGraphicFramePr>
            <p:xfrm>
              <a:off x="1142998" y="1295400"/>
              <a:ext cx="8305800" cy="5494655"/>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1382962599"/>
                        </a:ext>
                      </a:extLst>
                    </a:gridCol>
                    <a:gridCol w="2076450">
                      <a:extLst>
                        <a:ext uri="{9D8B030D-6E8A-4147-A177-3AD203B41FA5}">
                          <a16:colId xmlns:a16="http://schemas.microsoft.com/office/drawing/2014/main" val="3110937995"/>
                        </a:ext>
                      </a:extLst>
                    </a:gridCol>
                    <a:gridCol w="2076450">
                      <a:extLst>
                        <a:ext uri="{9D8B030D-6E8A-4147-A177-3AD203B41FA5}">
                          <a16:colId xmlns:a16="http://schemas.microsoft.com/office/drawing/2014/main" val="1332737986"/>
                        </a:ext>
                      </a:extLst>
                    </a:gridCol>
                    <a:gridCol w="2076450">
                      <a:extLst>
                        <a:ext uri="{9D8B030D-6E8A-4147-A177-3AD203B41FA5}">
                          <a16:colId xmlns:a16="http://schemas.microsoft.com/office/drawing/2014/main" val="3121837830"/>
                        </a:ext>
                      </a:extLst>
                    </a:gridCol>
                  </a:tblGrid>
                  <a:tr h="465455">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0293" t="-9211" r="-201173" b="-1117105"/>
                          </a:stretch>
                        </a:blipFill>
                      </a:tcPr>
                    </a:tc>
                    <a:tc>
                      <a:txBody>
                        <a:bodyPr/>
                        <a:lstStyle/>
                        <a:p>
                          <a:endParaRPr lang="en-US"/>
                        </a:p>
                      </a:txBody>
                      <a:tcPr>
                        <a:blipFill>
                          <a:blip r:embed="rId3"/>
                          <a:stretch>
                            <a:fillRect l="-200882" t="-9211" r="-101765" b="-1117105"/>
                          </a:stretch>
                        </a:blipFill>
                      </a:tcPr>
                    </a:tc>
                    <a:tc>
                      <a:txBody>
                        <a:bodyPr/>
                        <a:lstStyle/>
                        <a:p>
                          <a:endParaRPr lang="en-US"/>
                        </a:p>
                      </a:txBody>
                      <a:tcPr>
                        <a:blipFill>
                          <a:blip r:embed="rId3"/>
                          <a:stretch>
                            <a:fillRect l="-300000" t="-9211" r="-1466" b="-1117105"/>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1832426719"/>
                      </a:ext>
                    </a:extLst>
                  </a:tr>
                  <a:tr h="457200">
                    <a:tc>
                      <a:txBody>
                        <a:bodyPr/>
                        <a:lstStyle/>
                        <a:p>
                          <a:r>
                            <a:rPr lang="en-US" sz="2400" b="1" dirty="0">
                              <a:latin typeface="Times New Roman" panose="02020603050405020304" pitchFamily="18" charset="0"/>
                            </a:rPr>
                            <a:t>ATE</a:t>
                          </a:r>
                        </a:p>
                      </a:txBody>
                      <a:tcPr>
                        <a:solidFill>
                          <a:srgbClr val="FFC000"/>
                        </a:solidFill>
                      </a:tcPr>
                    </a:tc>
                    <a:tc>
                      <a:txBody>
                        <a:bodyPr/>
                        <a:lstStyle/>
                        <a:p>
                          <a:r>
                            <a:rPr lang="en-US" sz="2400" b="1" dirty="0">
                              <a:latin typeface="Times New Roman" panose="02020603050405020304" pitchFamily="18" charset="0"/>
                            </a:rPr>
                            <a:t>5.5</a:t>
                          </a:r>
                        </a:p>
                      </a:txBody>
                      <a:tcPr>
                        <a:solidFill>
                          <a:srgbClr val="FFC000"/>
                        </a:solidFill>
                      </a:tcPr>
                    </a:tc>
                    <a:tc>
                      <a:txBody>
                        <a:bodyPr/>
                        <a:lstStyle/>
                        <a:p>
                          <a:r>
                            <a:rPr lang="en-US" sz="2400" b="1" dirty="0">
                              <a:latin typeface="Times New Roman" panose="02020603050405020304" pitchFamily="18" charset="0"/>
                            </a:rPr>
                            <a:t>4.8</a:t>
                          </a:r>
                        </a:p>
                      </a:txBody>
                      <a:tcPr>
                        <a:solidFill>
                          <a:srgbClr val="FFC000"/>
                        </a:solidFill>
                      </a:tcPr>
                    </a:tc>
                    <a:tc>
                      <a:txBody>
                        <a:bodyPr/>
                        <a:lstStyle/>
                        <a:p>
                          <a:r>
                            <a:rPr lang="en-US" sz="2400" b="1" dirty="0">
                              <a:latin typeface="Times New Roman" panose="02020603050405020304" pitchFamily="18" charset="0"/>
                            </a:rPr>
                            <a:t>0.7</a:t>
                          </a:r>
                        </a:p>
                      </a:txBody>
                      <a:tcPr>
                        <a:solidFill>
                          <a:srgbClr val="FFC000"/>
                        </a:solidFill>
                      </a:tcPr>
                    </a:tc>
                    <a:extLst>
                      <a:ext uri="{0D108BD9-81ED-4DB2-BD59-A6C34878D82A}">
                        <a16:rowId xmlns:a16="http://schemas.microsoft.com/office/drawing/2014/main" val="3787958836"/>
                      </a:ext>
                    </a:extLst>
                  </a:tr>
                </a:tbl>
              </a:graphicData>
            </a:graphic>
          </p:graphicFrame>
        </mc:Fallback>
      </mc:AlternateContent>
    </p:spTree>
    <p:extLst>
      <p:ext uri="{BB962C8B-B14F-4D97-AF65-F5344CB8AC3E}">
        <p14:creationId xmlns:p14="http://schemas.microsoft.com/office/powerpoint/2010/main" val="26850967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92CF9-42D0-4268-167D-63494F8B6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9E382-4698-52F2-A38A-A44ABB44C7E2}"/>
              </a:ext>
            </a:extLst>
          </p:cNvPr>
          <p:cNvSpPr>
            <a:spLocks noGrp="1"/>
          </p:cNvSpPr>
          <p:nvPr>
            <p:ph type="title"/>
          </p:nvPr>
        </p:nvSpPr>
        <p:spPr>
          <a:xfrm>
            <a:off x="1066801" y="234677"/>
            <a:ext cx="8077200" cy="701040"/>
          </a:xfrm>
        </p:spPr>
        <p:txBody>
          <a:bodyPr>
            <a:normAutofit/>
          </a:bodyPr>
          <a:lstStyle/>
          <a:p>
            <a:r>
              <a:rPr lang="en-US" dirty="0"/>
              <a:t>But what do we actually observe?</a:t>
            </a:r>
          </a:p>
        </p:txBody>
      </p:sp>
      <p:sp>
        <p:nvSpPr>
          <p:cNvPr id="3" name="Content Placeholder 2">
            <a:extLst>
              <a:ext uri="{FF2B5EF4-FFF2-40B4-BE49-F238E27FC236}">
                <a16:creationId xmlns:a16="http://schemas.microsoft.com/office/drawing/2014/main" id="{393956C8-55BA-FC59-5FB3-3263DE5E2C4F}"/>
              </a:ext>
            </a:extLst>
          </p:cNvPr>
          <p:cNvSpPr>
            <a:spLocks noGrp="1"/>
          </p:cNvSpPr>
          <p:nvPr>
            <p:ph idx="1"/>
          </p:nvPr>
        </p:nvSpPr>
        <p:spPr>
          <a:xfrm>
            <a:off x="1066801" y="838200"/>
            <a:ext cx="8381999" cy="5562600"/>
          </a:xfrm>
        </p:spPr>
        <p:txBody>
          <a:bodyPr>
            <a:noAutofit/>
          </a:bodyPr>
          <a:lstStyle/>
          <a:p>
            <a:endParaRPr lang="en-US"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BC6D9540-7A21-9312-4D06-6EB06224F584}"/>
                  </a:ext>
                </a:extLst>
              </p:cNvPr>
              <p:cNvGraphicFramePr>
                <a:graphicFrameLocks noGrp="1"/>
              </p:cNvGraphicFramePr>
              <p:nvPr>
                <p:extLst>
                  <p:ext uri="{D42A27DB-BD31-4B8C-83A1-F6EECF244321}">
                    <p14:modId xmlns:p14="http://schemas.microsoft.com/office/powerpoint/2010/main" val="2693951709"/>
                  </p:ext>
                </p:extLst>
              </p:nvPr>
            </p:nvGraphicFramePr>
            <p:xfrm>
              <a:off x="1142998" y="1295400"/>
              <a:ext cx="8305800" cy="5494655"/>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1382962599"/>
                        </a:ext>
                      </a:extLst>
                    </a:gridCol>
                    <a:gridCol w="2076450">
                      <a:extLst>
                        <a:ext uri="{9D8B030D-6E8A-4147-A177-3AD203B41FA5}">
                          <a16:colId xmlns:a16="http://schemas.microsoft.com/office/drawing/2014/main" val="3110937995"/>
                        </a:ext>
                      </a:extLst>
                    </a:gridCol>
                    <a:gridCol w="2076450">
                      <a:extLst>
                        <a:ext uri="{9D8B030D-6E8A-4147-A177-3AD203B41FA5}">
                          <a16:colId xmlns:a16="http://schemas.microsoft.com/office/drawing/2014/main" val="1332737986"/>
                        </a:ext>
                      </a:extLst>
                    </a:gridCol>
                    <a:gridCol w="2076450">
                      <a:extLst>
                        <a:ext uri="{9D8B030D-6E8A-4147-A177-3AD203B41FA5}">
                          <a16:colId xmlns:a16="http://schemas.microsoft.com/office/drawing/2014/main" val="3121837830"/>
                        </a:ext>
                      </a:extLst>
                    </a:gridCol>
                  </a:tblGrid>
                  <a:tr h="413852">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41265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509417205"/>
                      </a:ext>
                    </a:extLst>
                  </a:tr>
                  <a:tr h="41265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683507387"/>
                      </a:ext>
                    </a:extLst>
                  </a:tr>
                  <a:tr h="41265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573450199"/>
                      </a:ext>
                    </a:extLst>
                  </a:tr>
                  <a:tr h="41265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067848943"/>
                      </a:ext>
                    </a:extLst>
                  </a:tr>
                  <a:tr h="41265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17705721"/>
                      </a:ext>
                    </a:extLst>
                  </a:tr>
                  <a:tr h="412650">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a:t>
                          </a: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421316902"/>
                      </a:ext>
                    </a:extLst>
                  </a:tr>
                  <a:tr h="41265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120335065"/>
                      </a:ext>
                    </a:extLst>
                  </a:tr>
                  <a:tr h="412650">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a:t>
                          </a: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180700529"/>
                      </a:ext>
                    </a:extLst>
                  </a:tr>
                  <a:tr h="412650">
                    <a:tc>
                      <a:txBody>
                        <a:bodyPr/>
                        <a:lstStyle/>
                        <a:p>
                          <a:r>
                            <a:rPr lang="en-US" sz="2400" dirty="0">
                              <a:latin typeface="Times New Roman" panose="02020603050405020304" pitchFamily="18" charset="0"/>
                            </a:rPr>
                            <a:t>9</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7</a:t>
                          </a: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389079847"/>
                      </a:ext>
                    </a:extLst>
                  </a:tr>
                  <a:tr h="412650">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a:t>
                          </a:r>
                        </a:p>
                      </a:txBody>
                      <a:tcPr/>
                    </a:tc>
                    <a:tc>
                      <a:txBody>
                        <a:bodyPr/>
                        <a:lstStyle/>
                        <a:p>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832426719"/>
                      </a:ext>
                    </a:extLst>
                  </a:tr>
                  <a:tr h="412650">
                    <a:tc>
                      <a:txBody>
                        <a:bodyPr/>
                        <a:lstStyle/>
                        <a:p>
                          <a:r>
                            <a:rPr lang="en-US" sz="2400" b="1" dirty="0">
                              <a:latin typeface="Times New Roman" panose="02020603050405020304" pitchFamily="18" charset="0"/>
                            </a:rPr>
                            <a:t>ATE</a:t>
                          </a:r>
                        </a:p>
                      </a:txBody>
                      <a:tcPr>
                        <a:solidFill>
                          <a:srgbClr val="FFC000"/>
                        </a:solidFill>
                      </a:tcPr>
                    </a:tc>
                    <a:tc>
                      <a:txBody>
                        <a:bodyPr/>
                        <a:lstStyle/>
                        <a:p>
                          <a:r>
                            <a:rPr lang="en-US" sz="2400" b="1" dirty="0">
                              <a:latin typeface="Times New Roman" panose="02020603050405020304" pitchFamily="18" charset="0"/>
                            </a:rPr>
                            <a:t>4.8</a:t>
                          </a:r>
                        </a:p>
                      </a:txBody>
                      <a:tcPr>
                        <a:solidFill>
                          <a:srgbClr val="FFC000"/>
                        </a:solidFill>
                      </a:tcPr>
                    </a:tc>
                    <a:tc>
                      <a:txBody>
                        <a:bodyPr/>
                        <a:lstStyle/>
                        <a:p>
                          <a:r>
                            <a:rPr lang="en-US" sz="2400" b="1" dirty="0">
                              <a:latin typeface="Times New Roman" panose="02020603050405020304" pitchFamily="18" charset="0"/>
                            </a:rPr>
                            <a:t>5.5</a:t>
                          </a:r>
                        </a:p>
                      </a:txBody>
                      <a:tcPr>
                        <a:solidFill>
                          <a:srgbClr val="FFC000"/>
                        </a:solidFill>
                      </a:tcPr>
                    </a:tc>
                    <a:tc>
                      <a:txBody>
                        <a:bodyPr/>
                        <a:lstStyle/>
                        <a:p>
                          <a:r>
                            <a:rPr lang="en-US" sz="2400" b="1" dirty="0">
                              <a:latin typeface="Times New Roman" panose="02020603050405020304" pitchFamily="18" charset="0"/>
                            </a:rPr>
                            <a:t>-0.7</a:t>
                          </a:r>
                        </a:p>
                      </a:txBody>
                      <a:tcPr>
                        <a:solidFill>
                          <a:srgbClr val="FFC000"/>
                        </a:solidFill>
                      </a:tcPr>
                    </a:tc>
                    <a:extLst>
                      <a:ext uri="{0D108BD9-81ED-4DB2-BD59-A6C34878D82A}">
                        <a16:rowId xmlns:a16="http://schemas.microsoft.com/office/drawing/2014/main" val="3787958836"/>
                      </a:ext>
                    </a:extLst>
                  </a:tr>
                </a:tbl>
              </a:graphicData>
            </a:graphic>
          </p:graphicFrame>
        </mc:Choice>
        <mc:Fallback xmlns="">
          <p:graphicFrame>
            <p:nvGraphicFramePr>
              <p:cNvPr id="4" name="Table 4">
                <a:extLst>
                  <a:ext uri="{FF2B5EF4-FFF2-40B4-BE49-F238E27FC236}">
                    <a16:creationId xmlns:a16="http://schemas.microsoft.com/office/drawing/2014/main" id="{BC6D9540-7A21-9312-4D06-6EB06224F584}"/>
                  </a:ext>
                </a:extLst>
              </p:cNvPr>
              <p:cNvGraphicFramePr>
                <a:graphicFrameLocks noGrp="1"/>
              </p:cNvGraphicFramePr>
              <p:nvPr>
                <p:extLst>
                  <p:ext uri="{D42A27DB-BD31-4B8C-83A1-F6EECF244321}">
                    <p14:modId xmlns:p14="http://schemas.microsoft.com/office/powerpoint/2010/main" val="2693951709"/>
                  </p:ext>
                </p:extLst>
              </p:nvPr>
            </p:nvGraphicFramePr>
            <p:xfrm>
              <a:off x="1142998" y="1295400"/>
              <a:ext cx="8305800" cy="5494655"/>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1382962599"/>
                        </a:ext>
                      </a:extLst>
                    </a:gridCol>
                    <a:gridCol w="2076450">
                      <a:extLst>
                        <a:ext uri="{9D8B030D-6E8A-4147-A177-3AD203B41FA5}">
                          <a16:colId xmlns:a16="http://schemas.microsoft.com/office/drawing/2014/main" val="3110937995"/>
                        </a:ext>
                      </a:extLst>
                    </a:gridCol>
                    <a:gridCol w="2076450">
                      <a:extLst>
                        <a:ext uri="{9D8B030D-6E8A-4147-A177-3AD203B41FA5}">
                          <a16:colId xmlns:a16="http://schemas.microsoft.com/office/drawing/2014/main" val="1332737986"/>
                        </a:ext>
                      </a:extLst>
                    </a:gridCol>
                    <a:gridCol w="2076450">
                      <a:extLst>
                        <a:ext uri="{9D8B030D-6E8A-4147-A177-3AD203B41FA5}">
                          <a16:colId xmlns:a16="http://schemas.microsoft.com/office/drawing/2014/main" val="3121837830"/>
                        </a:ext>
                      </a:extLst>
                    </a:gridCol>
                  </a:tblGrid>
                  <a:tr h="465455">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0293" t="-9211" r="-201173" b="-1117105"/>
                          </a:stretch>
                        </a:blipFill>
                      </a:tcPr>
                    </a:tc>
                    <a:tc>
                      <a:txBody>
                        <a:bodyPr/>
                        <a:lstStyle/>
                        <a:p>
                          <a:endParaRPr lang="en-US"/>
                        </a:p>
                      </a:txBody>
                      <a:tcPr>
                        <a:blipFill>
                          <a:blip r:embed="rId3"/>
                          <a:stretch>
                            <a:fillRect l="-200882" t="-9211" r="-101765" b="-1117105"/>
                          </a:stretch>
                        </a:blipFill>
                      </a:tcPr>
                    </a:tc>
                    <a:tc>
                      <a:txBody>
                        <a:bodyPr/>
                        <a:lstStyle/>
                        <a:p>
                          <a:endParaRPr lang="en-US"/>
                        </a:p>
                      </a:txBody>
                      <a:tcPr>
                        <a:blipFill>
                          <a:blip r:embed="rId3"/>
                          <a:stretch>
                            <a:fillRect l="-300000" t="-9211" r="-1466" b="-1117105"/>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a:t>
                          </a: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1</a:t>
                          </a: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endParaRPr lang="en-US" sz="2400" dirty="0">
                            <a:latin typeface="Times New Roman" panose="02020603050405020304" pitchFamily="18" charset="0"/>
                          </a:endParaRP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6</a:t>
                          </a: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7</a:t>
                          </a:r>
                        </a:p>
                      </a:txBody>
                      <a:tcPr/>
                    </a:tc>
                    <a:tc>
                      <a:txBody>
                        <a:bodyPr/>
                        <a:lstStyle/>
                        <a:p>
                          <a:r>
                            <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endParaRPr lang="en-US" sz="2400" dirty="0">
                            <a:latin typeface="Times New Roman" panose="02020603050405020304" pitchFamily="18" charset="0"/>
                          </a:endParaRPr>
                        </a:p>
                      </a:txBody>
                      <a:tcPr/>
                    </a:tc>
                    <a:tc>
                      <a:txBody>
                        <a:bodyPr/>
                        <a:lstStyle/>
                        <a:p>
                          <a:r>
                            <a:rPr lang="en-US" sz="2400" dirty="0">
                              <a:latin typeface="Times New Roman" panose="02020603050405020304" pitchFamily="18" charset="0"/>
                            </a:rPr>
                            <a:t>8</a:t>
                          </a:r>
                        </a:p>
                      </a:txBody>
                      <a:tcPr/>
                    </a:tc>
                    <a:tc>
                      <a:txBody>
                        <a:bodyPr/>
                        <a:lstStyle/>
                        <a:p>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endParaRPr lang="en-US" sz="2400" dirty="0">
                            <a:latin typeface="Times New Roman" panose="02020603050405020304" pitchFamily="18" charset="0"/>
                          </a:endParaRPr>
                        </a:p>
                      </a:txBody>
                      <a:tcPr/>
                    </a:tc>
                    <a:extLst>
                      <a:ext uri="{0D108BD9-81ED-4DB2-BD59-A6C34878D82A}">
                        <a16:rowId xmlns:a16="http://schemas.microsoft.com/office/drawing/2014/main" val="1832426719"/>
                      </a:ext>
                    </a:extLst>
                  </a:tr>
                  <a:tr h="457200">
                    <a:tc>
                      <a:txBody>
                        <a:bodyPr/>
                        <a:lstStyle/>
                        <a:p>
                          <a:r>
                            <a:rPr lang="en-US" sz="2400" b="1" dirty="0">
                              <a:latin typeface="Times New Roman" panose="02020603050405020304" pitchFamily="18" charset="0"/>
                            </a:rPr>
                            <a:t>ATE</a:t>
                          </a:r>
                        </a:p>
                      </a:txBody>
                      <a:tcPr>
                        <a:solidFill>
                          <a:srgbClr val="FFC000"/>
                        </a:solidFill>
                      </a:tcPr>
                    </a:tc>
                    <a:tc>
                      <a:txBody>
                        <a:bodyPr/>
                        <a:lstStyle/>
                        <a:p>
                          <a:r>
                            <a:rPr lang="en-US" sz="2400" b="1" dirty="0">
                              <a:latin typeface="Times New Roman" panose="02020603050405020304" pitchFamily="18" charset="0"/>
                            </a:rPr>
                            <a:t>4.8</a:t>
                          </a:r>
                        </a:p>
                      </a:txBody>
                      <a:tcPr>
                        <a:solidFill>
                          <a:srgbClr val="FFC000"/>
                        </a:solidFill>
                      </a:tcPr>
                    </a:tc>
                    <a:tc>
                      <a:txBody>
                        <a:bodyPr/>
                        <a:lstStyle/>
                        <a:p>
                          <a:r>
                            <a:rPr lang="en-US" sz="2400" b="1" dirty="0">
                              <a:latin typeface="Times New Roman" panose="02020603050405020304" pitchFamily="18" charset="0"/>
                            </a:rPr>
                            <a:t>5.5</a:t>
                          </a:r>
                        </a:p>
                      </a:txBody>
                      <a:tcPr>
                        <a:solidFill>
                          <a:srgbClr val="FFC000"/>
                        </a:solidFill>
                      </a:tcPr>
                    </a:tc>
                    <a:tc>
                      <a:txBody>
                        <a:bodyPr/>
                        <a:lstStyle/>
                        <a:p>
                          <a:r>
                            <a:rPr lang="en-US" sz="2400" b="1" dirty="0">
                              <a:latin typeface="Times New Roman" panose="02020603050405020304" pitchFamily="18" charset="0"/>
                            </a:rPr>
                            <a:t>-0.7</a:t>
                          </a:r>
                        </a:p>
                      </a:txBody>
                      <a:tcPr>
                        <a:solidFill>
                          <a:srgbClr val="FFC000"/>
                        </a:solidFill>
                      </a:tcPr>
                    </a:tc>
                    <a:extLst>
                      <a:ext uri="{0D108BD9-81ED-4DB2-BD59-A6C34878D82A}">
                        <a16:rowId xmlns:a16="http://schemas.microsoft.com/office/drawing/2014/main" val="3787958836"/>
                      </a:ext>
                    </a:extLst>
                  </a:tr>
                </a:tbl>
              </a:graphicData>
            </a:graphic>
          </p:graphicFrame>
        </mc:Fallback>
      </mc:AlternateContent>
    </p:spTree>
    <p:extLst>
      <p:ext uri="{BB962C8B-B14F-4D97-AF65-F5344CB8AC3E}">
        <p14:creationId xmlns:p14="http://schemas.microsoft.com/office/powerpoint/2010/main" val="8155984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Example: Treatment Outcomes</a:t>
            </a:r>
          </a:p>
        </p:txBody>
      </p:sp>
      <p:sp>
        <p:nvSpPr>
          <p:cNvPr id="3" name="Content Placeholder 2"/>
          <p:cNvSpPr>
            <a:spLocks noGrp="1"/>
          </p:cNvSpPr>
          <p:nvPr>
            <p:ph idx="1"/>
          </p:nvPr>
        </p:nvSpPr>
        <p:spPr>
          <a:xfrm>
            <a:off x="1143000" y="762000"/>
            <a:ext cx="8305800" cy="5638800"/>
          </a:xfrm>
        </p:spPr>
        <p:txBody>
          <a:bodyPr>
            <a:noAutofit/>
          </a:bodyPr>
          <a:lstStyle/>
          <a:p>
            <a:pPr marL="0" indent="0">
              <a:buNone/>
            </a:pPr>
            <a:r>
              <a:rPr lang="en-US" sz="2400" dirty="0"/>
              <a:t>Imagine a “perfect doctor” assigns best treatment available:</a:t>
            </a:r>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3918071207"/>
                  </p:ext>
                </p:extLst>
              </p:nvPr>
            </p:nvGraphicFramePr>
            <p:xfrm>
              <a:off x="1219200" y="1295400"/>
              <a:ext cx="7696200" cy="5494655"/>
            </p:xfrm>
            <a:graphic>
              <a:graphicData uri="http://schemas.openxmlformats.org/drawingml/2006/table">
                <a:tbl>
                  <a:tblPr firstRow="1" bandRow="1">
                    <a:tableStyleId>{5C22544A-7EE6-4342-B048-85BDC9FD1C3A}</a:tableStyleId>
                  </a:tblPr>
                  <a:tblGrid>
                    <a:gridCol w="1539240">
                      <a:extLst>
                        <a:ext uri="{9D8B030D-6E8A-4147-A177-3AD203B41FA5}">
                          <a16:colId xmlns:a16="http://schemas.microsoft.com/office/drawing/2014/main" val="1382962599"/>
                        </a:ext>
                      </a:extLst>
                    </a:gridCol>
                    <a:gridCol w="1539240">
                      <a:extLst>
                        <a:ext uri="{9D8B030D-6E8A-4147-A177-3AD203B41FA5}">
                          <a16:colId xmlns:a16="http://schemas.microsoft.com/office/drawing/2014/main" val="3110937995"/>
                        </a:ext>
                      </a:extLst>
                    </a:gridCol>
                    <a:gridCol w="1539240">
                      <a:extLst>
                        <a:ext uri="{9D8B030D-6E8A-4147-A177-3AD203B41FA5}">
                          <a16:colId xmlns:a16="http://schemas.microsoft.com/office/drawing/2014/main" val="1332737986"/>
                        </a:ext>
                      </a:extLst>
                    </a:gridCol>
                    <a:gridCol w="1539240">
                      <a:extLst>
                        <a:ext uri="{9D8B030D-6E8A-4147-A177-3AD203B41FA5}">
                          <a16:colId xmlns:a16="http://schemas.microsoft.com/office/drawing/2014/main" val="1962509106"/>
                        </a:ext>
                      </a:extLst>
                    </a:gridCol>
                    <a:gridCol w="1539240">
                      <a:extLst>
                        <a:ext uri="{9D8B030D-6E8A-4147-A177-3AD203B41FA5}">
                          <a16:colId xmlns:a16="http://schemas.microsoft.com/office/drawing/2014/main" val="3121837830"/>
                        </a:ext>
                      </a:extLst>
                    </a:gridCol>
                  </a:tblGrid>
                  <a:tr h="391021">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𝑫</m:t>
                                </m:r>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389885">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6</a:t>
                          </a:r>
                        </a:p>
                      </a:txBody>
                      <a:tcPr/>
                    </a:tc>
                    <a:extLst>
                      <a:ext uri="{0D108BD9-81ED-4DB2-BD59-A6C34878D82A}">
                        <a16:rowId xmlns:a16="http://schemas.microsoft.com/office/drawing/2014/main" val="509417205"/>
                      </a:ext>
                    </a:extLst>
                  </a:tr>
                  <a:tr h="389885">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683507387"/>
                      </a:ext>
                    </a:extLst>
                  </a:tr>
                  <a:tr h="389885">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573450199"/>
                      </a:ext>
                    </a:extLst>
                  </a:tr>
                  <a:tr h="389885">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highlight>
                                <a:srgbClr val="FFFF00"/>
                              </a:highlight>
                              <a:latin typeface="Times New Roman" panose="02020603050405020304" pitchFamily="18" charset="0"/>
                            </a:rPr>
                            <a:t>8</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067848943"/>
                      </a:ext>
                    </a:extLst>
                  </a:tr>
                  <a:tr h="389885">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2</a:t>
                          </a:r>
                        </a:p>
                      </a:txBody>
                      <a:tcPr/>
                    </a:tc>
                    <a:extLst>
                      <a:ext uri="{0D108BD9-81ED-4DB2-BD59-A6C34878D82A}">
                        <a16:rowId xmlns:a16="http://schemas.microsoft.com/office/drawing/2014/main" val="317705721"/>
                      </a:ext>
                    </a:extLst>
                  </a:tr>
                  <a:tr h="389885">
                    <a:tc>
                      <a:txBody>
                        <a:bodyPr/>
                        <a:lstStyle/>
                        <a:p>
                          <a:r>
                            <a:rPr lang="en-US" sz="2400" dirty="0">
                              <a:latin typeface="Times New Roman" panose="02020603050405020304" pitchFamily="18" charset="0"/>
                            </a:rPr>
                            <a:t>6</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1421316902"/>
                      </a:ext>
                    </a:extLst>
                  </a:tr>
                  <a:tr h="389885">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3120335065"/>
                      </a:ext>
                    </a:extLst>
                  </a:tr>
                  <a:tr h="389885">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180700529"/>
                      </a:ext>
                    </a:extLst>
                  </a:tr>
                  <a:tr h="389885">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389079847"/>
                      </a:ext>
                    </a:extLst>
                  </a:tr>
                  <a:tr h="389885">
                    <a:tc>
                      <a:txBody>
                        <a:bodyPr/>
                        <a:lstStyle/>
                        <a:p>
                          <a:r>
                            <a:rPr lang="en-US" sz="2400" dirty="0">
                              <a:latin typeface="Times New Roman" panose="02020603050405020304" pitchFamily="18" charset="0"/>
                            </a:rPr>
                            <a:t>10</a:t>
                          </a:r>
                        </a:p>
                      </a:txBody>
                      <a:tcPr/>
                    </a:tc>
                    <a:tc>
                      <a:txBody>
                        <a:bodyPr/>
                        <a:lstStyle/>
                        <a:p>
                          <a:r>
                            <a:rPr lang="en-US" sz="2400" dirty="0">
                              <a:highlight>
                                <a:srgbClr val="FFFF00"/>
                              </a:highlight>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r h="389885">
                    <a:tc>
                      <a:txBody>
                        <a:bodyPr/>
                        <a:lstStyle/>
                        <a:p>
                          <a:r>
                            <a:rPr lang="en-US" sz="2400" b="1" dirty="0">
                              <a:latin typeface="Times New Roman" panose="02020603050405020304" pitchFamily="18" charset="0"/>
                            </a:rPr>
                            <a:t>ATT/ATU</a:t>
                          </a:r>
                        </a:p>
                      </a:txBody>
                      <a:tcPr>
                        <a:solidFill>
                          <a:srgbClr val="FFC000"/>
                        </a:solidFill>
                      </a:tcPr>
                    </a:tc>
                    <a:tc>
                      <a:txBody>
                        <a:bodyPr/>
                        <a:lstStyle/>
                        <a:p>
                          <a:r>
                            <a:rPr lang="en-US" sz="2400" dirty="0">
                              <a:highlight>
                                <a:srgbClr val="FFFF00"/>
                              </a:highlight>
                              <a:latin typeface="Times New Roman" panose="02020603050405020304" pitchFamily="18" charset="0"/>
                            </a:rPr>
                            <a:t>4.4</a:t>
                          </a:r>
                        </a:p>
                      </a:txBody>
                      <a:tcPr>
                        <a:solidFill>
                          <a:srgbClr val="FFC000"/>
                        </a:solidFill>
                      </a:tcPr>
                    </a:tc>
                    <a:tc>
                      <a:txBody>
                        <a:bodyPr/>
                        <a:lstStyle/>
                        <a:p>
                          <a:r>
                            <a:rPr lang="en-US" sz="2400" dirty="0">
                              <a:highlight>
                                <a:srgbClr val="FFFF00"/>
                              </a:highlight>
                              <a:latin typeface="Times New Roman" panose="02020603050405020304" pitchFamily="18" charset="0"/>
                            </a:rPr>
                            <a:t>-3.2</a:t>
                          </a:r>
                        </a:p>
                      </a:txBody>
                      <a:tcPr>
                        <a:solidFill>
                          <a:srgbClr val="FFC000"/>
                        </a:solidFill>
                      </a:tcPr>
                    </a:tc>
                    <a:tc>
                      <a:txBody>
                        <a:bodyPr/>
                        <a:lstStyle/>
                        <a:p>
                          <a:endParaRPr lang="en-US" sz="2400" dirty="0">
                            <a:latin typeface="Times New Roman" panose="02020603050405020304" pitchFamily="18" charset="0"/>
                          </a:endParaRPr>
                        </a:p>
                      </a:txBody>
                      <a:tcPr>
                        <a:solidFill>
                          <a:srgbClr val="FFC000"/>
                        </a:solidFill>
                      </a:tcPr>
                    </a:tc>
                    <a:tc>
                      <a:txBody>
                        <a:bodyPr/>
                        <a:lstStyle/>
                        <a:p>
                          <a:r>
                            <a:rPr lang="en-US" sz="2400" dirty="0">
                              <a:latin typeface="Times New Roman" panose="02020603050405020304" pitchFamily="18" charset="0"/>
                            </a:rPr>
                            <a:t>0.6</a:t>
                          </a:r>
                        </a:p>
                      </a:txBody>
                      <a:tcPr>
                        <a:solidFill>
                          <a:srgbClr val="FFC000"/>
                        </a:solidFill>
                      </a:tcPr>
                    </a:tc>
                    <a:extLst>
                      <a:ext uri="{0D108BD9-81ED-4DB2-BD59-A6C34878D82A}">
                        <a16:rowId xmlns:a16="http://schemas.microsoft.com/office/drawing/2014/main" val="3787958836"/>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3918071207"/>
                  </p:ext>
                </p:extLst>
              </p:nvPr>
            </p:nvGraphicFramePr>
            <p:xfrm>
              <a:off x="1219200" y="1295400"/>
              <a:ext cx="7696200" cy="5494655"/>
            </p:xfrm>
            <a:graphic>
              <a:graphicData uri="http://schemas.openxmlformats.org/drawingml/2006/table">
                <a:tbl>
                  <a:tblPr firstRow="1" bandRow="1">
                    <a:tableStyleId>{5C22544A-7EE6-4342-B048-85BDC9FD1C3A}</a:tableStyleId>
                  </a:tblPr>
                  <a:tblGrid>
                    <a:gridCol w="1539240">
                      <a:extLst>
                        <a:ext uri="{9D8B030D-6E8A-4147-A177-3AD203B41FA5}">
                          <a16:colId xmlns:a16="http://schemas.microsoft.com/office/drawing/2014/main" val="1382962599"/>
                        </a:ext>
                      </a:extLst>
                    </a:gridCol>
                    <a:gridCol w="1539240">
                      <a:extLst>
                        <a:ext uri="{9D8B030D-6E8A-4147-A177-3AD203B41FA5}">
                          <a16:colId xmlns:a16="http://schemas.microsoft.com/office/drawing/2014/main" val="3110937995"/>
                        </a:ext>
                      </a:extLst>
                    </a:gridCol>
                    <a:gridCol w="1539240">
                      <a:extLst>
                        <a:ext uri="{9D8B030D-6E8A-4147-A177-3AD203B41FA5}">
                          <a16:colId xmlns:a16="http://schemas.microsoft.com/office/drawing/2014/main" val="1332737986"/>
                        </a:ext>
                      </a:extLst>
                    </a:gridCol>
                    <a:gridCol w="1539240">
                      <a:extLst>
                        <a:ext uri="{9D8B030D-6E8A-4147-A177-3AD203B41FA5}">
                          <a16:colId xmlns:a16="http://schemas.microsoft.com/office/drawing/2014/main" val="1962509106"/>
                        </a:ext>
                      </a:extLst>
                    </a:gridCol>
                    <a:gridCol w="1539240">
                      <a:extLst>
                        <a:ext uri="{9D8B030D-6E8A-4147-A177-3AD203B41FA5}">
                          <a16:colId xmlns:a16="http://schemas.microsoft.com/office/drawing/2014/main" val="3121837830"/>
                        </a:ext>
                      </a:extLst>
                    </a:gridCol>
                  </a:tblGrid>
                  <a:tr h="465455">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1190" t="-9211" r="-302381" b="-1117105"/>
                          </a:stretch>
                        </a:blipFill>
                      </a:tcPr>
                    </a:tc>
                    <a:tc>
                      <a:txBody>
                        <a:bodyPr/>
                        <a:lstStyle/>
                        <a:p>
                          <a:endParaRPr lang="en-US"/>
                        </a:p>
                      </a:txBody>
                      <a:tcPr>
                        <a:blipFill>
                          <a:blip r:embed="rId3"/>
                          <a:stretch>
                            <a:fillRect l="-200395" t="-9211" r="-201186" b="-1117105"/>
                          </a:stretch>
                        </a:blipFill>
                      </a:tcPr>
                    </a:tc>
                    <a:tc>
                      <a:txBody>
                        <a:bodyPr/>
                        <a:lstStyle/>
                        <a:p>
                          <a:endParaRPr lang="en-US"/>
                        </a:p>
                      </a:txBody>
                      <a:tcPr>
                        <a:blipFill>
                          <a:blip r:embed="rId3"/>
                          <a:stretch>
                            <a:fillRect l="-301587" t="-9211" r="-101984" b="-1117105"/>
                          </a:stretch>
                        </a:blipFill>
                      </a:tcPr>
                    </a:tc>
                    <a:tc>
                      <a:txBody>
                        <a:bodyPr/>
                        <a:lstStyle/>
                        <a:p>
                          <a:endParaRPr lang="en-US"/>
                        </a:p>
                      </a:txBody>
                      <a:tcPr>
                        <a:blipFill>
                          <a:blip r:embed="rId3"/>
                          <a:stretch>
                            <a:fillRect l="-400000" t="-9211" r="-1581" b="-1117105"/>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6</a:t>
                          </a: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highlight>
                                <a:srgbClr val="FFFF00"/>
                              </a:highlight>
                              <a:latin typeface="Times New Roman" panose="02020603050405020304" pitchFamily="18" charset="0"/>
                            </a:rPr>
                            <a:t>8</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2</a:t>
                          </a: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r>
                            <a:rPr lang="en-US" sz="2400" dirty="0">
                              <a:highlight>
                                <a:srgbClr val="FFFF00"/>
                              </a:highlight>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r h="457200">
                    <a:tc>
                      <a:txBody>
                        <a:bodyPr/>
                        <a:lstStyle/>
                        <a:p>
                          <a:r>
                            <a:rPr lang="en-US" sz="2400" b="1" dirty="0">
                              <a:latin typeface="Times New Roman" panose="02020603050405020304" pitchFamily="18" charset="0"/>
                            </a:rPr>
                            <a:t>ATT/ATU</a:t>
                          </a:r>
                        </a:p>
                      </a:txBody>
                      <a:tcPr>
                        <a:solidFill>
                          <a:srgbClr val="FFC000"/>
                        </a:solidFill>
                      </a:tcPr>
                    </a:tc>
                    <a:tc>
                      <a:txBody>
                        <a:bodyPr/>
                        <a:lstStyle/>
                        <a:p>
                          <a:r>
                            <a:rPr lang="en-US" sz="2400" dirty="0">
                              <a:highlight>
                                <a:srgbClr val="FFFF00"/>
                              </a:highlight>
                              <a:latin typeface="Times New Roman" panose="02020603050405020304" pitchFamily="18" charset="0"/>
                            </a:rPr>
                            <a:t>4.4</a:t>
                          </a:r>
                        </a:p>
                      </a:txBody>
                      <a:tcPr>
                        <a:solidFill>
                          <a:srgbClr val="FFC000"/>
                        </a:solidFill>
                      </a:tcPr>
                    </a:tc>
                    <a:tc>
                      <a:txBody>
                        <a:bodyPr/>
                        <a:lstStyle/>
                        <a:p>
                          <a:r>
                            <a:rPr lang="en-US" sz="2400" dirty="0">
                              <a:highlight>
                                <a:srgbClr val="FFFF00"/>
                              </a:highlight>
                              <a:latin typeface="Times New Roman" panose="02020603050405020304" pitchFamily="18" charset="0"/>
                            </a:rPr>
                            <a:t>-3.2</a:t>
                          </a:r>
                        </a:p>
                      </a:txBody>
                      <a:tcPr>
                        <a:solidFill>
                          <a:srgbClr val="FFC000"/>
                        </a:solidFill>
                      </a:tcPr>
                    </a:tc>
                    <a:tc>
                      <a:txBody>
                        <a:bodyPr/>
                        <a:lstStyle/>
                        <a:p>
                          <a:endParaRPr lang="en-US" sz="2400" dirty="0">
                            <a:latin typeface="Times New Roman" panose="02020603050405020304" pitchFamily="18" charset="0"/>
                          </a:endParaRPr>
                        </a:p>
                      </a:txBody>
                      <a:tcPr>
                        <a:solidFill>
                          <a:srgbClr val="FFC000"/>
                        </a:solidFill>
                      </a:tcPr>
                    </a:tc>
                    <a:tc>
                      <a:txBody>
                        <a:bodyPr/>
                        <a:lstStyle/>
                        <a:p>
                          <a:r>
                            <a:rPr lang="en-US" sz="2400" dirty="0">
                              <a:latin typeface="Times New Roman" panose="02020603050405020304" pitchFamily="18" charset="0"/>
                            </a:rPr>
                            <a:t>0.6</a:t>
                          </a:r>
                        </a:p>
                      </a:txBody>
                      <a:tcPr>
                        <a:solidFill>
                          <a:srgbClr val="FFC000"/>
                        </a:solidFill>
                      </a:tcPr>
                    </a:tc>
                    <a:extLst>
                      <a:ext uri="{0D108BD9-81ED-4DB2-BD59-A6C34878D82A}">
                        <a16:rowId xmlns:a16="http://schemas.microsoft.com/office/drawing/2014/main" val="3787958836"/>
                      </a:ext>
                    </a:extLst>
                  </a:tr>
                </a:tbl>
              </a:graphicData>
            </a:graphic>
          </p:graphicFrame>
        </mc:Fallback>
      </mc:AlternateContent>
    </p:spTree>
    <p:extLst>
      <p:ext uri="{BB962C8B-B14F-4D97-AF65-F5344CB8AC3E}">
        <p14:creationId xmlns:p14="http://schemas.microsoft.com/office/powerpoint/2010/main" val="17652136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Example: Treatment Outcomes</a:t>
            </a:r>
          </a:p>
        </p:txBody>
      </p:sp>
      <p:sp>
        <p:nvSpPr>
          <p:cNvPr id="3" name="Content Placeholder 2"/>
          <p:cNvSpPr>
            <a:spLocks noGrp="1"/>
          </p:cNvSpPr>
          <p:nvPr>
            <p:ph idx="1"/>
          </p:nvPr>
        </p:nvSpPr>
        <p:spPr>
          <a:xfrm>
            <a:off x="1143000" y="762000"/>
            <a:ext cx="8305800" cy="5638800"/>
          </a:xfrm>
        </p:spPr>
        <p:txBody>
          <a:bodyPr>
            <a:noAutofit/>
          </a:bodyPr>
          <a:lstStyle/>
          <a:p>
            <a:pPr marL="0" indent="0">
              <a:buNone/>
            </a:pPr>
            <a:r>
              <a:rPr lang="en-US" sz="2400" dirty="0"/>
              <a:t>Imagine a “perfect doctor” assigns best treatment available:</a:t>
            </a:r>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nvGraphicFramePr>
            <p:xfrm>
              <a:off x="1219200" y="1295400"/>
              <a:ext cx="7696200" cy="5494655"/>
            </p:xfrm>
            <a:graphic>
              <a:graphicData uri="http://schemas.openxmlformats.org/drawingml/2006/table">
                <a:tbl>
                  <a:tblPr firstRow="1" bandRow="1">
                    <a:tableStyleId>{5C22544A-7EE6-4342-B048-85BDC9FD1C3A}</a:tableStyleId>
                  </a:tblPr>
                  <a:tblGrid>
                    <a:gridCol w="1539240">
                      <a:extLst>
                        <a:ext uri="{9D8B030D-6E8A-4147-A177-3AD203B41FA5}">
                          <a16:colId xmlns:a16="http://schemas.microsoft.com/office/drawing/2014/main" val="1382962599"/>
                        </a:ext>
                      </a:extLst>
                    </a:gridCol>
                    <a:gridCol w="1539240">
                      <a:extLst>
                        <a:ext uri="{9D8B030D-6E8A-4147-A177-3AD203B41FA5}">
                          <a16:colId xmlns:a16="http://schemas.microsoft.com/office/drawing/2014/main" val="3110937995"/>
                        </a:ext>
                      </a:extLst>
                    </a:gridCol>
                    <a:gridCol w="1539240">
                      <a:extLst>
                        <a:ext uri="{9D8B030D-6E8A-4147-A177-3AD203B41FA5}">
                          <a16:colId xmlns:a16="http://schemas.microsoft.com/office/drawing/2014/main" val="1332737986"/>
                        </a:ext>
                      </a:extLst>
                    </a:gridCol>
                    <a:gridCol w="1539240">
                      <a:extLst>
                        <a:ext uri="{9D8B030D-6E8A-4147-A177-3AD203B41FA5}">
                          <a16:colId xmlns:a16="http://schemas.microsoft.com/office/drawing/2014/main" val="1962509106"/>
                        </a:ext>
                      </a:extLst>
                    </a:gridCol>
                    <a:gridCol w="1539240">
                      <a:extLst>
                        <a:ext uri="{9D8B030D-6E8A-4147-A177-3AD203B41FA5}">
                          <a16:colId xmlns:a16="http://schemas.microsoft.com/office/drawing/2014/main" val="3121837830"/>
                        </a:ext>
                      </a:extLst>
                    </a:gridCol>
                  </a:tblGrid>
                  <a:tr h="391021">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𝟏</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𝒀</m:t>
                                    </m:r>
                                  </m:e>
                                  <m:sup>
                                    <m:r>
                                      <a:rPr lang="en-US" sz="2400" b="1" i="1" smtClean="0">
                                        <a:latin typeface="Cambria Math" panose="02040503050406030204" pitchFamily="18" charset="0"/>
                                      </a:rPr>
                                      <m:t>𝟎</m:t>
                                    </m:r>
                                  </m:sup>
                                </m:sSup>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𝑫</m:t>
                                </m:r>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𝜹</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389885">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6</a:t>
                          </a:r>
                        </a:p>
                      </a:txBody>
                      <a:tcPr/>
                    </a:tc>
                    <a:extLst>
                      <a:ext uri="{0D108BD9-81ED-4DB2-BD59-A6C34878D82A}">
                        <a16:rowId xmlns:a16="http://schemas.microsoft.com/office/drawing/2014/main" val="509417205"/>
                      </a:ext>
                    </a:extLst>
                  </a:tr>
                  <a:tr h="389885">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683507387"/>
                      </a:ext>
                    </a:extLst>
                  </a:tr>
                  <a:tr h="389885">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573450199"/>
                      </a:ext>
                    </a:extLst>
                  </a:tr>
                  <a:tr h="389885">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highlight>
                                <a:srgbClr val="FFFF00"/>
                              </a:highlight>
                              <a:latin typeface="Times New Roman" panose="02020603050405020304" pitchFamily="18" charset="0"/>
                            </a:rPr>
                            <a:t>8</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067848943"/>
                      </a:ext>
                    </a:extLst>
                  </a:tr>
                  <a:tr h="389885">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2</a:t>
                          </a:r>
                        </a:p>
                      </a:txBody>
                      <a:tcPr/>
                    </a:tc>
                    <a:extLst>
                      <a:ext uri="{0D108BD9-81ED-4DB2-BD59-A6C34878D82A}">
                        <a16:rowId xmlns:a16="http://schemas.microsoft.com/office/drawing/2014/main" val="317705721"/>
                      </a:ext>
                    </a:extLst>
                  </a:tr>
                  <a:tr h="389885">
                    <a:tc>
                      <a:txBody>
                        <a:bodyPr/>
                        <a:lstStyle/>
                        <a:p>
                          <a:r>
                            <a:rPr lang="en-US" sz="2400" dirty="0">
                              <a:latin typeface="Times New Roman" panose="02020603050405020304" pitchFamily="18" charset="0"/>
                            </a:rPr>
                            <a:t>6</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1421316902"/>
                      </a:ext>
                    </a:extLst>
                  </a:tr>
                  <a:tr h="389885">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3120335065"/>
                      </a:ext>
                    </a:extLst>
                  </a:tr>
                  <a:tr h="389885">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180700529"/>
                      </a:ext>
                    </a:extLst>
                  </a:tr>
                  <a:tr h="389885">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389079847"/>
                      </a:ext>
                    </a:extLst>
                  </a:tr>
                  <a:tr h="389885">
                    <a:tc>
                      <a:txBody>
                        <a:bodyPr/>
                        <a:lstStyle/>
                        <a:p>
                          <a:r>
                            <a:rPr lang="en-US" sz="2400" dirty="0">
                              <a:latin typeface="Times New Roman" panose="02020603050405020304" pitchFamily="18" charset="0"/>
                            </a:rPr>
                            <a:t>10</a:t>
                          </a:r>
                        </a:p>
                      </a:txBody>
                      <a:tcPr/>
                    </a:tc>
                    <a:tc>
                      <a:txBody>
                        <a:bodyPr/>
                        <a:lstStyle/>
                        <a:p>
                          <a:r>
                            <a:rPr lang="en-US" sz="2400" dirty="0">
                              <a:highlight>
                                <a:srgbClr val="FFFF00"/>
                              </a:highlight>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r h="389885">
                    <a:tc>
                      <a:txBody>
                        <a:bodyPr/>
                        <a:lstStyle/>
                        <a:p>
                          <a:r>
                            <a:rPr lang="en-US" sz="2400" b="1" dirty="0">
                              <a:latin typeface="Times New Roman" panose="02020603050405020304" pitchFamily="18" charset="0"/>
                            </a:rPr>
                            <a:t>ATT/ATU</a:t>
                          </a:r>
                        </a:p>
                      </a:txBody>
                      <a:tcPr>
                        <a:solidFill>
                          <a:srgbClr val="FFC000"/>
                        </a:solidFill>
                      </a:tcPr>
                    </a:tc>
                    <a:tc>
                      <a:txBody>
                        <a:bodyPr/>
                        <a:lstStyle/>
                        <a:p>
                          <a:r>
                            <a:rPr lang="en-US" sz="2400" dirty="0">
                              <a:highlight>
                                <a:srgbClr val="FFFF00"/>
                              </a:highlight>
                              <a:latin typeface="Times New Roman" panose="02020603050405020304" pitchFamily="18" charset="0"/>
                            </a:rPr>
                            <a:t>4.4</a:t>
                          </a:r>
                        </a:p>
                      </a:txBody>
                      <a:tcPr>
                        <a:solidFill>
                          <a:srgbClr val="FFC000"/>
                        </a:solidFill>
                      </a:tcPr>
                    </a:tc>
                    <a:tc>
                      <a:txBody>
                        <a:bodyPr/>
                        <a:lstStyle/>
                        <a:p>
                          <a:r>
                            <a:rPr lang="en-US" sz="2400" dirty="0">
                              <a:highlight>
                                <a:srgbClr val="FFFF00"/>
                              </a:highlight>
                              <a:latin typeface="Times New Roman" panose="02020603050405020304" pitchFamily="18" charset="0"/>
                            </a:rPr>
                            <a:t>-3.2</a:t>
                          </a:r>
                        </a:p>
                      </a:txBody>
                      <a:tcPr>
                        <a:solidFill>
                          <a:srgbClr val="FFC000"/>
                        </a:solidFill>
                      </a:tcPr>
                    </a:tc>
                    <a:tc>
                      <a:txBody>
                        <a:bodyPr/>
                        <a:lstStyle/>
                        <a:p>
                          <a:endParaRPr lang="en-US" sz="2400" dirty="0">
                            <a:latin typeface="Times New Roman" panose="02020603050405020304" pitchFamily="18" charset="0"/>
                          </a:endParaRPr>
                        </a:p>
                      </a:txBody>
                      <a:tcPr>
                        <a:solidFill>
                          <a:srgbClr val="FFC000"/>
                        </a:solidFill>
                      </a:tcPr>
                    </a:tc>
                    <a:tc>
                      <a:txBody>
                        <a:bodyPr/>
                        <a:lstStyle/>
                        <a:p>
                          <a:r>
                            <a:rPr lang="en-US" sz="2400" dirty="0">
                              <a:latin typeface="Times New Roman" panose="02020603050405020304" pitchFamily="18" charset="0"/>
                            </a:rPr>
                            <a:t>0.6</a:t>
                          </a:r>
                        </a:p>
                      </a:txBody>
                      <a:tcPr>
                        <a:solidFill>
                          <a:srgbClr val="FFC000"/>
                        </a:solidFill>
                      </a:tcPr>
                    </a:tc>
                    <a:extLst>
                      <a:ext uri="{0D108BD9-81ED-4DB2-BD59-A6C34878D82A}">
                        <a16:rowId xmlns:a16="http://schemas.microsoft.com/office/drawing/2014/main" val="3787958836"/>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nvGraphicFramePr>
            <p:xfrm>
              <a:off x="1219200" y="1295400"/>
              <a:ext cx="7696200" cy="5494655"/>
            </p:xfrm>
            <a:graphic>
              <a:graphicData uri="http://schemas.openxmlformats.org/drawingml/2006/table">
                <a:tbl>
                  <a:tblPr firstRow="1" bandRow="1">
                    <a:tableStyleId>{5C22544A-7EE6-4342-B048-85BDC9FD1C3A}</a:tableStyleId>
                  </a:tblPr>
                  <a:tblGrid>
                    <a:gridCol w="1539240">
                      <a:extLst>
                        <a:ext uri="{9D8B030D-6E8A-4147-A177-3AD203B41FA5}">
                          <a16:colId xmlns:a16="http://schemas.microsoft.com/office/drawing/2014/main" val="1382962599"/>
                        </a:ext>
                      </a:extLst>
                    </a:gridCol>
                    <a:gridCol w="1539240">
                      <a:extLst>
                        <a:ext uri="{9D8B030D-6E8A-4147-A177-3AD203B41FA5}">
                          <a16:colId xmlns:a16="http://schemas.microsoft.com/office/drawing/2014/main" val="3110937995"/>
                        </a:ext>
                      </a:extLst>
                    </a:gridCol>
                    <a:gridCol w="1539240">
                      <a:extLst>
                        <a:ext uri="{9D8B030D-6E8A-4147-A177-3AD203B41FA5}">
                          <a16:colId xmlns:a16="http://schemas.microsoft.com/office/drawing/2014/main" val="1332737986"/>
                        </a:ext>
                      </a:extLst>
                    </a:gridCol>
                    <a:gridCol w="1539240">
                      <a:extLst>
                        <a:ext uri="{9D8B030D-6E8A-4147-A177-3AD203B41FA5}">
                          <a16:colId xmlns:a16="http://schemas.microsoft.com/office/drawing/2014/main" val="1962509106"/>
                        </a:ext>
                      </a:extLst>
                    </a:gridCol>
                    <a:gridCol w="1539240">
                      <a:extLst>
                        <a:ext uri="{9D8B030D-6E8A-4147-A177-3AD203B41FA5}">
                          <a16:colId xmlns:a16="http://schemas.microsoft.com/office/drawing/2014/main" val="3121837830"/>
                        </a:ext>
                      </a:extLst>
                    </a:gridCol>
                  </a:tblGrid>
                  <a:tr h="465455">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1190" t="-9211" r="-302381" b="-1117105"/>
                          </a:stretch>
                        </a:blipFill>
                      </a:tcPr>
                    </a:tc>
                    <a:tc>
                      <a:txBody>
                        <a:bodyPr/>
                        <a:lstStyle/>
                        <a:p>
                          <a:endParaRPr lang="en-US"/>
                        </a:p>
                      </a:txBody>
                      <a:tcPr>
                        <a:blipFill>
                          <a:blip r:embed="rId3"/>
                          <a:stretch>
                            <a:fillRect l="-200395" t="-9211" r="-201186" b="-1117105"/>
                          </a:stretch>
                        </a:blipFill>
                      </a:tcPr>
                    </a:tc>
                    <a:tc>
                      <a:txBody>
                        <a:bodyPr/>
                        <a:lstStyle/>
                        <a:p>
                          <a:endParaRPr lang="en-US"/>
                        </a:p>
                      </a:txBody>
                      <a:tcPr>
                        <a:blipFill>
                          <a:blip r:embed="rId3"/>
                          <a:stretch>
                            <a:fillRect l="-301587" t="-9211" r="-101984" b="-1117105"/>
                          </a:stretch>
                        </a:blipFill>
                      </a:tcPr>
                    </a:tc>
                    <a:tc>
                      <a:txBody>
                        <a:bodyPr/>
                        <a:lstStyle/>
                        <a:p>
                          <a:endParaRPr lang="en-US"/>
                        </a:p>
                      </a:txBody>
                      <a:tcPr>
                        <a:blipFill>
                          <a:blip r:embed="rId3"/>
                          <a:stretch>
                            <a:fillRect l="-400000" t="-9211" r="-1581" b="-1117105"/>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6</a:t>
                          </a: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7</a:t>
                          </a:r>
                        </a:p>
                      </a:txBody>
                      <a:tcPr/>
                    </a:tc>
                    <a:tc>
                      <a:txBody>
                        <a:bodyPr/>
                        <a:lstStyle/>
                        <a:p>
                          <a:r>
                            <a:rPr lang="en-US" sz="2400" dirty="0">
                              <a:highlight>
                                <a:srgbClr val="FFFF00"/>
                              </a:highlight>
                              <a:latin typeface="Times New Roman" panose="02020603050405020304" pitchFamily="18" charset="0"/>
                            </a:rPr>
                            <a:t>8</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4</a:t>
                          </a:r>
                        </a:p>
                      </a:txBody>
                      <a:tcPr/>
                    </a:tc>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2</a:t>
                          </a: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tc>
                      <a:txBody>
                        <a:bodyPr/>
                        <a:lstStyle/>
                        <a:p>
                          <a:r>
                            <a:rPr lang="en-US" sz="2400" dirty="0">
                              <a:highlight>
                                <a:srgbClr val="FFFF00"/>
                              </a:highlight>
                              <a:latin typeface="Times New Roman" panose="02020603050405020304" pitchFamily="18" charset="0"/>
                            </a:rPr>
                            <a:t>10</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-9</a:t>
                          </a: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5</a:t>
                          </a:r>
                        </a:p>
                      </a:txBody>
                      <a:tcPr/>
                    </a:tc>
                    <a:tc>
                      <a:txBody>
                        <a:bodyPr/>
                        <a:lstStyle/>
                        <a:p>
                          <a:r>
                            <a:rPr lang="en-US" sz="2400" dirty="0">
                              <a:highlight>
                                <a:srgbClr val="FFFF00"/>
                              </a:highlight>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3</a:t>
                          </a:r>
                        </a:p>
                      </a:txBody>
                      <a:tcPr/>
                    </a:tc>
                    <a:tc>
                      <a:txBody>
                        <a:bodyPr/>
                        <a:lstStyle/>
                        <a:p>
                          <a:r>
                            <a:rPr lang="en-US" sz="2400" dirty="0">
                              <a:highlight>
                                <a:srgbClr val="FFFF00"/>
                              </a:highlight>
                              <a:latin typeface="Times New Roman" panose="02020603050405020304" pitchFamily="18" charset="0"/>
                            </a:rPr>
                            <a:t>7</a:t>
                          </a:r>
                        </a:p>
                      </a:txBody>
                      <a:tcPr/>
                    </a:tc>
                    <a:tc>
                      <a:txBody>
                        <a:bodyPr/>
                        <a:lstStyle/>
                        <a:p>
                          <a:r>
                            <a:rPr lang="en-US" sz="2400" dirty="0">
                              <a:latin typeface="Times New Roman" panose="02020603050405020304" pitchFamily="18" charset="0"/>
                            </a:rPr>
                            <a:t>0</a:t>
                          </a:r>
                        </a:p>
                      </a:txBody>
                      <a:tcPr/>
                    </a:tc>
                    <a:tc>
                      <a:txBody>
                        <a:bodyPr/>
                        <a:lstStyle/>
                        <a:p>
                          <a:r>
                            <a:rPr lang="en-US" sz="2400" dirty="0">
                              <a:latin typeface="Times New Roman" panose="02020603050405020304" pitchFamily="18" charset="0"/>
                            </a:rPr>
                            <a:t>-4</a:t>
                          </a: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r>
                            <a:rPr lang="en-US" sz="2400" dirty="0">
                              <a:highlight>
                                <a:srgbClr val="FFFF00"/>
                              </a:highlight>
                              <a:latin typeface="Times New Roman" panose="02020603050405020304" pitchFamily="18" charset="0"/>
                            </a:rPr>
                            <a:t>9</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r h="457200">
                    <a:tc>
                      <a:txBody>
                        <a:bodyPr/>
                        <a:lstStyle/>
                        <a:p>
                          <a:r>
                            <a:rPr lang="en-US" sz="2400" b="1" dirty="0">
                              <a:latin typeface="Times New Roman" panose="02020603050405020304" pitchFamily="18" charset="0"/>
                            </a:rPr>
                            <a:t>ATT/ATU</a:t>
                          </a:r>
                        </a:p>
                      </a:txBody>
                      <a:tcPr>
                        <a:solidFill>
                          <a:srgbClr val="FFC000"/>
                        </a:solidFill>
                      </a:tcPr>
                    </a:tc>
                    <a:tc>
                      <a:txBody>
                        <a:bodyPr/>
                        <a:lstStyle/>
                        <a:p>
                          <a:r>
                            <a:rPr lang="en-US" sz="2400" dirty="0">
                              <a:highlight>
                                <a:srgbClr val="FFFF00"/>
                              </a:highlight>
                              <a:latin typeface="Times New Roman" panose="02020603050405020304" pitchFamily="18" charset="0"/>
                            </a:rPr>
                            <a:t>4.4</a:t>
                          </a:r>
                        </a:p>
                      </a:txBody>
                      <a:tcPr>
                        <a:solidFill>
                          <a:srgbClr val="FFC000"/>
                        </a:solidFill>
                      </a:tcPr>
                    </a:tc>
                    <a:tc>
                      <a:txBody>
                        <a:bodyPr/>
                        <a:lstStyle/>
                        <a:p>
                          <a:r>
                            <a:rPr lang="en-US" sz="2400" dirty="0">
                              <a:highlight>
                                <a:srgbClr val="FFFF00"/>
                              </a:highlight>
                              <a:latin typeface="Times New Roman" panose="02020603050405020304" pitchFamily="18" charset="0"/>
                            </a:rPr>
                            <a:t>-3.2</a:t>
                          </a:r>
                        </a:p>
                      </a:txBody>
                      <a:tcPr>
                        <a:solidFill>
                          <a:srgbClr val="FFC000"/>
                        </a:solidFill>
                      </a:tcPr>
                    </a:tc>
                    <a:tc>
                      <a:txBody>
                        <a:bodyPr/>
                        <a:lstStyle/>
                        <a:p>
                          <a:endParaRPr lang="en-US" sz="2400" dirty="0">
                            <a:latin typeface="Times New Roman" panose="02020603050405020304" pitchFamily="18" charset="0"/>
                          </a:endParaRPr>
                        </a:p>
                      </a:txBody>
                      <a:tcPr>
                        <a:solidFill>
                          <a:srgbClr val="FFC000"/>
                        </a:solidFill>
                      </a:tcPr>
                    </a:tc>
                    <a:tc>
                      <a:txBody>
                        <a:bodyPr/>
                        <a:lstStyle/>
                        <a:p>
                          <a:r>
                            <a:rPr lang="en-US" sz="2400" dirty="0">
                              <a:latin typeface="Times New Roman" panose="02020603050405020304" pitchFamily="18" charset="0"/>
                            </a:rPr>
                            <a:t>0.6</a:t>
                          </a:r>
                        </a:p>
                      </a:txBody>
                      <a:tcPr>
                        <a:solidFill>
                          <a:srgbClr val="FFC000"/>
                        </a:solidFill>
                      </a:tcPr>
                    </a:tc>
                    <a:extLst>
                      <a:ext uri="{0D108BD9-81ED-4DB2-BD59-A6C34878D82A}">
                        <a16:rowId xmlns:a16="http://schemas.microsoft.com/office/drawing/2014/main" val="3787958836"/>
                      </a:ext>
                    </a:extLst>
                  </a:tr>
                </a:tbl>
              </a:graphicData>
            </a:graphic>
          </p:graphicFrame>
        </mc:Fallback>
      </mc:AlternateContent>
      <p:sp>
        <p:nvSpPr>
          <p:cNvPr id="5" name="Oval 4">
            <a:extLst>
              <a:ext uri="{FF2B5EF4-FFF2-40B4-BE49-F238E27FC236}">
                <a16:creationId xmlns:a16="http://schemas.microsoft.com/office/drawing/2014/main" id="{2E9DBF4A-070B-9C35-EDBF-4C0FC7805EBC}"/>
              </a:ext>
            </a:extLst>
          </p:cNvPr>
          <p:cNvSpPr/>
          <p:nvPr/>
        </p:nvSpPr>
        <p:spPr>
          <a:xfrm>
            <a:off x="7315200" y="6172200"/>
            <a:ext cx="685800" cy="685800"/>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7" name="TextBox 6">
            <a:extLst>
              <a:ext uri="{FF2B5EF4-FFF2-40B4-BE49-F238E27FC236}">
                <a16:creationId xmlns:a16="http://schemas.microsoft.com/office/drawing/2014/main" id="{685A4932-7F0D-9041-24E8-5FBC290B6C58}"/>
              </a:ext>
            </a:extLst>
          </p:cNvPr>
          <p:cNvSpPr txBox="1"/>
          <p:nvPr/>
        </p:nvSpPr>
        <p:spPr>
          <a:xfrm>
            <a:off x="8991600" y="5004951"/>
            <a:ext cx="2133600" cy="1785104"/>
          </a:xfrm>
          <a:prstGeom prst="rect">
            <a:avLst/>
          </a:prstGeom>
          <a:solidFill>
            <a:schemeClr val="accent2">
              <a:lumMod val="20000"/>
              <a:lumOff val="80000"/>
            </a:schemeClr>
          </a:solidFill>
        </p:spPr>
        <p:txBody>
          <a:bodyPr wrap="square">
            <a:spAutoFit/>
          </a:bodyPr>
          <a:lstStyle/>
          <a:p>
            <a:pPr marL="0" indent="0">
              <a:buNone/>
            </a:pPr>
            <a:r>
              <a:rPr lang="en-US" sz="2200" dirty="0">
                <a:solidFill>
                  <a:srgbClr val="0070C0"/>
                </a:solidFill>
              </a:rPr>
              <a:t>The ATE is the </a:t>
            </a:r>
            <a:r>
              <a:rPr lang="en-US" sz="2200" b="1" dirty="0">
                <a:solidFill>
                  <a:srgbClr val="0070C0"/>
                </a:solidFill>
              </a:rPr>
              <a:t>weighted average </a:t>
            </a:r>
            <a:r>
              <a:rPr lang="en-US" sz="2200" dirty="0">
                <a:solidFill>
                  <a:srgbClr val="0070C0"/>
                </a:solidFill>
              </a:rPr>
              <a:t>of the ATT and ATU!</a:t>
            </a:r>
          </a:p>
        </p:txBody>
      </p:sp>
    </p:spTree>
    <p:extLst>
      <p:ext uri="{BB962C8B-B14F-4D97-AF65-F5344CB8AC3E}">
        <p14:creationId xmlns:p14="http://schemas.microsoft.com/office/powerpoint/2010/main" val="12876914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Example: Treatment Outcomes</a:t>
            </a:r>
          </a:p>
        </p:txBody>
      </p:sp>
      <p:sp>
        <p:nvSpPr>
          <p:cNvPr id="3" name="Content Placeholder 2"/>
          <p:cNvSpPr>
            <a:spLocks noGrp="1"/>
          </p:cNvSpPr>
          <p:nvPr>
            <p:ph idx="1"/>
          </p:nvPr>
        </p:nvSpPr>
        <p:spPr>
          <a:xfrm>
            <a:off x="1143000" y="1026160"/>
            <a:ext cx="8305800" cy="5603240"/>
          </a:xfrm>
        </p:spPr>
        <p:txBody>
          <a:bodyPr>
            <a:noAutofit/>
          </a:bodyPr>
          <a:lstStyle/>
          <a:p>
            <a:pPr marL="0" indent="0">
              <a:buNone/>
            </a:pPr>
            <a:r>
              <a:rPr lang="en-US" sz="2400" dirty="0"/>
              <a:t>Problem: We don’t observe two states for each individual!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b="1" dirty="0"/>
              <a:t>Can we estimate the ATE? </a:t>
            </a:r>
            <a:r>
              <a:rPr lang="en-US" sz="2400" dirty="0"/>
              <a:t> </a:t>
            </a:r>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2350089932"/>
                  </p:ext>
                </p:extLst>
              </p:nvPr>
            </p:nvGraphicFramePr>
            <p:xfrm>
              <a:off x="1219200" y="1447800"/>
              <a:ext cx="6096000" cy="5029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82962599"/>
                        </a:ext>
                      </a:extLst>
                    </a:gridCol>
                    <a:gridCol w="2032000">
                      <a:extLst>
                        <a:ext uri="{9D8B030D-6E8A-4147-A177-3AD203B41FA5}">
                          <a16:colId xmlns:a16="http://schemas.microsoft.com/office/drawing/2014/main" val="3110937995"/>
                        </a:ext>
                      </a:extLst>
                    </a:gridCol>
                    <a:gridCol w="2032000">
                      <a:extLst>
                        <a:ext uri="{9D8B030D-6E8A-4147-A177-3AD203B41FA5}">
                          <a16:colId xmlns:a16="http://schemas.microsoft.com/office/drawing/2014/main" val="1332737986"/>
                        </a:ext>
                      </a:extLst>
                    </a:gridCol>
                  </a:tblGrid>
                  <a:tr h="398549">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𝒀</m:t>
                                </m:r>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𝑫</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398549">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509417205"/>
                      </a:ext>
                    </a:extLst>
                  </a:tr>
                  <a:tr h="398549">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3683507387"/>
                      </a:ext>
                    </a:extLst>
                  </a:tr>
                  <a:tr h="398549">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573450199"/>
                      </a:ext>
                    </a:extLst>
                  </a:tr>
                  <a:tr h="398549">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3067848943"/>
                      </a:ext>
                    </a:extLst>
                  </a:tr>
                  <a:tr h="398549">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17705721"/>
                      </a:ext>
                    </a:extLst>
                  </a:tr>
                  <a:tr h="398549">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421316902"/>
                      </a:ext>
                    </a:extLst>
                  </a:tr>
                  <a:tr h="398549">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3120335065"/>
                      </a:ext>
                    </a:extLst>
                  </a:tr>
                  <a:tr h="398549">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1180700529"/>
                      </a:ext>
                    </a:extLst>
                  </a:tr>
                  <a:tr h="398549">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1389079847"/>
                      </a:ext>
                    </a:extLst>
                  </a:tr>
                  <a:tr h="398549">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2350089932"/>
                  </p:ext>
                </p:extLst>
              </p:nvPr>
            </p:nvGraphicFramePr>
            <p:xfrm>
              <a:off x="1219200" y="1447800"/>
              <a:ext cx="6096000" cy="5029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82962599"/>
                        </a:ext>
                      </a:extLst>
                    </a:gridCol>
                    <a:gridCol w="2032000">
                      <a:extLst>
                        <a:ext uri="{9D8B030D-6E8A-4147-A177-3AD203B41FA5}">
                          <a16:colId xmlns:a16="http://schemas.microsoft.com/office/drawing/2014/main" val="3110937995"/>
                        </a:ext>
                      </a:extLst>
                    </a:gridCol>
                    <a:gridCol w="2032000">
                      <a:extLst>
                        <a:ext uri="{9D8B030D-6E8A-4147-A177-3AD203B41FA5}">
                          <a16:colId xmlns:a16="http://schemas.microsoft.com/office/drawing/2014/main" val="1332737986"/>
                        </a:ext>
                      </a:extLst>
                    </a:gridCol>
                  </a:tblGrid>
                  <a:tr h="457200">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3"/>
                          <a:stretch>
                            <a:fillRect l="-100299" t="-9333" r="-101198" b="-1030667"/>
                          </a:stretch>
                        </a:blipFill>
                      </a:tcPr>
                    </a:tc>
                    <a:tc>
                      <a:txBody>
                        <a:bodyPr/>
                        <a:lstStyle/>
                        <a:p>
                          <a:endParaRPr lang="en-US"/>
                        </a:p>
                      </a:txBody>
                      <a:tcPr>
                        <a:blipFill>
                          <a:blip r:embed="rId3"/>
                          <a:stretch>
                            <a:fillRect l="-200901" t="-9333" r="-1502" b="-1030667"/>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tc>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tc>
                    <a:tc>
                      <a:txBody>
                        <a:bodyPr/>
                        <a:lstStyle/>
                        <a:p>
                          <a:r>
                            <a:rPr lang="en-US" sz="2400" dirty="0">
                              <a:latin typeface="Times New Roman" panose="02020603050405020304" pitchFamily="18" charset="0"/>
                            </a:rPr>
                            <a:t>4</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tc>
                    <a:tc>
                      <a:txBody>
                        <a:bodyPr/>
                        <a:lstStyle/>
                        <a:p>
                          <a:r>
                            <a:rPr lang="en-US" sz="2400" dirty="0">
                              <a:latin typeface="Times New Roman" panose="02020603050405020304" pitchFamily="18" charset="0"/>
                            </a:rPr>
                            <a:t>6</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7</a:t>
                          </a:r>
                        </a:p>
                      </a:txBody>
                      <a:tcPr/>
                    </a:tc>
                    <a:tc>
                      <a:txBody>
                        <a:bodyPr/>
                        <a:lstStyle/>
                        <a:p>
                          <a:r>
                            <a:rPr lang="en-US" sz="2400" dirty="0">
                              <a:latin typeface="Times New Roman" panose="02020603050405020304" pitchFamily="18" charset="0"/>
                            </a:rPr>
                            <a:t>0</a:t>
                          </a:r>
                        </a:p>
                      </a:txBody>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tc>
                    <a:tc>
                      <a:txBody>
                        <a:bodyPr/>
                        <a:lstStyle/>
                        <a:p>
                          <a:r>
                            <a:rPr lang="en-US" sz="2400" dirty="0">
                              <a:latin typeface="Times New Roman" panose="02020603050405020304" pitchFamily="18" charset="0"/>
                            </a:rPr>
                            <a:t>9</a:t>
                          </a:r>
                        </a:p>
                      </a:txBody>
                      <a:tcPr/>
                    </a:tc>
                    <a:tc>
                      <a:txBody>
                        <a:bodyPr/>
                        <a:lstStyle/>
                        <a:p>
                          <a:r>
                            <a:rPr lang="en-US" sz="2400" dirty="0">
                              <a:latin typeface="Times New Roman" panose="02020603050405020304" pitchFamily="18" charset="0"/>
                            </a:rPr>
                            <a:t>1</a:t>
                          </a:r>
                        </a:p>
                      </a:txBody>
                      <a:tcPr/>
                    </a:tc>
                    <a:extLst>
                      <a:ext uri="{0D108BD9-81ED-4DB2-BD59-A6C34878D82A}">
                        <a16:rowId xmlns:a16="http://schemas.microsoft.com/office/drawing/2014/main" val="1832426719"/>
                      </a:ext>
                    </a:extLst>
                  </a:tr>
                </a:tbl>
              </a:graphicData>
            </a:graphic>
          </p:graphicFrame>
        </mc:Fallback>
      </mc:AlternateContent>
      <p:sp>
        <p:nvSpPr>
          <p:cNvPr id="5" name="TextBox 4">
            <a:extLst>
              <a:ext uri="{FF2B5EF4-FFF2-40B4-BE49-F238E27FC236}">
                <a16:creationId xmlns:a16="http://schemas.microsoft.com/office/drawing/2014/main" id="{B1F82646-88E8-1E1C-A96F-E988007683A5}"/>
              </a:ext>
            </a:extLst>
          </p:cNvPr>
          <p:cNvSpPr txBox="1"/>
          <p:nvPr/>
        </p:nvSpPr>
        <p:spPr>
          <a:xfrm>
            <a:off x="7543800" y="5105400"/>
            <a:ext cx="2133600" cy="1107996"/>
          </a:xfrm>
          <a:prstGeom prst="rect">
            <a:avLst/>
          </a:prstGeom>
          <a:solidFill>
            <a:schemeClr val="accent2">
              <a:lumMod val="20000"/>
              <a:lumOff val="80000"/>
            </a:schemeClr>
          </a:solidFill>
        </p:spPr>
        <p:txBody>
          <a:bodyPr wrap="square">
            <a:spAutoFit/>
          </a:bodyPr>
          <a:lstStyle/>
          <a:p>
            <a:pPr marL="0" indent="0">
              <a:buNone/>
            </a:pPr>
            <a:r>
              <a:rPr lang="en-US" sz="2200" dirty="0">
                <a:solidFill>
                  <a:srgbClr val="0070C0"/>
                </a:solidFill>
              </a:rPr>
              <a:t>How can we </a:t>
            </a:r>
            <a:r>
              <a:rPr lang="en-US" sz="2200" b="1" dirty="0">
                <a:solidFill>
                  <a:srgbClr val="0070C0"/>
                </a:solidFill>
              </a:rPr>
              <a:t>estimate</a:t>
            </a:r>
            <a:r>
              <a:rPr lang="en-US" sz="2200" dirty="0">
                <a:solidFill>
                  <a:srgbClr val="0070C0"/>
                </a:solidFill>
              </a:rPr>
              <a:t> the ATE?</a:t>
            </a:r>
          </a:p>
        </p:txBody>
      </p:sp>
    </p:spTree>
    <p:extLst>
      <p:ext uri="{BB962C8B-B14F-4D97-AF65-F5344CB8AC3E}">
        <p14:creationId xmlns:p14="http://schemas.microsoft.com/office/powerpoint/2010/main" val="13723953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Example: Treatment Outcomes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90600"/>
                <a:ext cx="8458200" cy="5638800"/>
              </a:xfrm>
            </p:spPr>
            <p:txBody>
              <a:bodyPr>
                <a:noAutofit/>
              </a:bodyPr>
              <a:lstStyle/>
              <a:p>
                <a:pPr marL="0" indent="0">
                  <a:buNone/>
                </a:pPr>
                <a:r>
                  <a:rPr lang="en-US" sz="2400" dirty="0"/>
                  <a:t>Estimate ATE as </a:t>
                </a:r>
                <a14:m>
                  <m:oMath xmlns:m="http://schemas.openxmlformats.org/officeDocument/2006/math">
                    <m:r>
                      <a:rPr lang="en-US" sz="2400" b="0" i="1" smtClean="0">
                        <a:latin typeface="Cambria Math" panose="02040503050406030204" pitchFamily="18" charset="0"/>
                      </a:rPr>
                      <m:t>𝔼</m:t>
                    </m:r>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𝑌</m:t>
                            </m:r>
                          </m:e>
                          <m:sup>
                            <m:r>
                              <a:rPr lang="en-US" sz="2400" b="0" i="1" smtClean="0">
                                <a:latin typeface="Cambria Math" panose="02040503050406030204" pitchFamily="18" charset="0"/>
                              </a:rPr>
                              <m:t>1</m:t>
                            </m:r>
                          </m:sup>
                        </m:sSup>
                      </m:e>
                      <m:e>
                        <m:r>
                          <a:rPr lang="en-US" sz="2400" b="0" i="1" smtClean="0">
                            <a:latin typeface="Cambria Math" panose="02040503050406030204" pitchFamily="18" charset="0"/>
                          </a:rPr>
                          <m:t>𝐷</m:t>
                        </m:r>
                        <m:r>
                          <a:rPr lang="en-US" sz="2400" b="0" i="1" smtClean="0">
                            <a:latin typeface="Cambria Math" panose="02040503050406030204" pitchFamily="18" charset="0"/>
                          </a:rPr>
                          <m:t>=1</m:t>
                        </m:r>
                      </m:e>
                    </m:d>
                    <m:r>
                      <a:rPr lang="en-US" sz="2400" i="1">
                        <a:latin typeface="Cambria Math" panose="02040503050406030204" pitchFamily="18" charset="0"/>
                      </a:rPr>
                      <m:t>−</m:t>
                    </m:r>
                    <m:r>
                      <a:rPr lang="en-US" sz="2400" i="1">
                        <a:latin typeface="Cambria Math" panose="02040503050406030204" pitchFamily="18" charset="0"/>
                      </a:rPr>
                      <m:t>𝔼</m:t>
                    </m:r>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𝑌</m:t>
                            </m:r>
                          </m:e>
                          <m:sup>
                            <m:r>
                              <a:rPr lang="en-US" sz="2400" b="0" i="1" smtClean="0">
                                <a:latin typeface="Cambria Math" panose="02040503050406030204" pitchFamily="18" charset="0"/>
                              </a:rPr>
                              <m:t>0</m:t>
                            </m:r>
                          </m:sup>
                        </m:sSup>
                      </m:e>
                      <m:e>
                        <m:r>
                          <a:rPr lang="en-US" sz="2400" b="0" i="1" smtClean="0">
                            <a:latin typeface="Cambria Math" panose="02040503050406030204" pitchFamily="18" charset="0"/>
                          </a:rPr>
                          <m:t>𝐷</m:t>
                        </m:r>
                        <m:r>
                          <a:rPr lang="en-US" sz="2400" b="0" i="1" smtClean="0">
                            <a:latin typeface="Cambria Math" panose="02040503050406030204" pitchFamily="18" charset="0"/>
                          </a:rPr>
                          <m:t>=0</m:t>
                        </m:r>
                      </m:e>
                    </m:d>
                  </m:oMath>
                </a14:m>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i="1" dirty="0">
                  <a:solidFill>
                    <a:srgbClr val="0070C0"/>
                  </a:solidFill>
                  <a:latin typeface="Cambria Math" panose="02040503050406030204" pitchFamily="18" charset="0"/>
                </a:endParaRP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90600"/>
                <a:ext cx="8458200" cy="5638800"/>
              </a:xfrm>
              <a:blipFill>
                <a:blip r:embed="rId3"/>
                <a:stretch>
                  <a:fillRect l="-1154" t="-11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1622320565"/>
                  </p:ext>
                </p:extLst>
              </p:nvPr>
            </p:nvGraphicFramePr>
            <p:xfrm>
              <a:off x="1143000" y="1524000"/>
              <a:ext cx="6248400" cy="502920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1382962599"/>
                        </a:ext>
                      </a:extLst>
                    </a:gridCol>
                    <a:gridCol w="2082800">
                      <a:extLst>
                        <a:ext uri="{9D8B030D-6E8A-4147-A177-3AD203B41FA5}">
                          <a16:colId xmlns:a16="http://schemas.microsoft.com/office/drawing/2014/main" val="3110937995"/>
                        </a:ext>
                      </a:extLst>
                    </a:gridCol>
                    <a:gridCol w="2082800">
                      <a:extLst>
                        <a:ext uri="{9D8B030D-6E8A-4147-A177-3AD203B41FA5}">
                          <a16:colId xmlns:a16="http://schemas.microsoft.com/office/drawing/2014/main" val="1332737986"/>
                        </a:ext>
                      </a:extLst>
                    </a:gridCol>
                  </a:tblGrid>
                  <a:tr h="391622">
                    <a:tc>
                      <a:txBody>
                        <a:bodyPr/>
                        <a:lstStyle/>
                        <a:p>
                          <a:r>
                            <a:rPr lang="en-US" sz="2400" dirty="0">
                              <a:latin typeface="Times New Roman" panose="02020603050405020304" pitchFamily="18" charset="0"/>
                            </a:rPr>
                            <a:t>Patient</a:t>
                          </a: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𝒀</m:t>
                                </m:r>
                              </m:oMath>
                            </m:oMathPara>
                          </a14:m>
                          <a:endParaRPr lang="en-US" sz="2400" dirty="0">
                            <a:latin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𝑫</m:t>
                                </m:r>
                              </m:oMath>
                            </m:oMathPara>
                          </a14:m>
                          <a:endParaRPr lang="en-US" sz="2400" dirty="0">
                            <a:latin typeface="Times New Roman" panose="02020603050405020304" pitchFamily="18" charset="0"/>
                          </a:endParaRPr>
                        </a:p>
                      </a:txBody>
                      <a:tcPr/>
                    </a:tc>
                    <a:extLst>
                      <a:ext uri="{0D108BD9-81ED-4DB2-BD59-A6C34878D82A}">
                        <a16:rowId xmlns:a16="http://schemas.microsoft.com/office/drawing/2014/main" val="2394106292"/>
                      </a:ext>
                    </a:extLst>
                  </a:tr>
                  <a:tr h="391622">
                    <a:tc>
                      <a:txBody>
                        <a:bodyPr/>
                        <a:lstStyle/>
                        <a:p>
                          <a:r>
                            <a:rPr lang="en-US" sz="2400" dirty="0">
                              <a:latin typeface="Times New Roman" panose="02020603050405020304" pitchFamily="18" charset="0"/>
                            </a:rPr>
                            <a:t>1</a:t>
                          </a:r>
                        </a:p>
                      </a:txBody>
                      <a:tcPr>
                        <a:solidFill>
                          <a:schemeClr val="accent2">
                            <a:lumMod val="75000"/>
                          </a:schemeClr>
                        </a:solidFill>
                      </a:tcPr>
                    </a:tc>
                    <a:tc>
                      <a:txBody>
                        <a:bodyPr/>
                        <a:lstStyle/>
                        <a:p>
                          <a:r>
                            <a:rPr lang="en-US" sz="2400" dirty="0">
                              <a:latin typeface="Times New Roman" panose="02020603050405020304" pitchFamily="18" charset="0"/>
                            </a:rPr>
                            <a:t>7</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509417205"/>
                      </a:ext>
                    </a:extLst>
                  </a:tr>
                  <a:tr h="391622">
                    <a:tc>
                      <a:txBody>
                        <a:bodyPr/>
                        <a:lstStyle/>
                        <a:p>
                          <a:r>
                            <a:rPr lang="en-US" sz="2400" dirty="0">
                              <a:latin typeface="Times New Roman" panose="02020603050405020304" pitchFamily="18" charset="0"/>
                            </a:rPr>
                            <a:t>2</a:t>
                          </a:r>
                        </a:p>
                      </a:txBody>
                      <a:tcPr>
                        <a:solidFill>
                          <a:schemeClr val="accent3">
                            <a:lumMod val="20000"/>
                            <a:lumOff val="80000"/>
                          </a:schemeClr>
                        </a:solidFill>
                      </a:tcPr>
                    </a:tc>
                    <a:tc>
                      <a:txBody>
                        <a:bodyPr/>
                        <a:lstStyle/>
                        <a:p>
                          <a:r>
                            <a:rPr lang="en-US" sz="2400" dirty="0">
                              <a:latin typeface="Times New Roman" panose="02020603050405020304" pitchFamily="18" charset="0"/>
                            </a:rPr>
                            <a:t>6</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3683507387"/>
                      </a:ext>
                    </a:extLst>
                  </a:tr>
                  <a:tr h="391622">
                    <a:tc>
                      <a:txBody>
                        <a:bodyPr/>
                        <a:lstStyle/>
                        <a:p>
                          <a:r>
                            <a:rPr lang="en-US" sz="2400" dirty="0">
                              <a:latin typeface="Times New Roman" panose="02020603050405020304" pitchFamily="18" charset="0"/>
                            </a:rPr>
                            <a:t>3</a:t>
                          </a:r>
                        </a:p>
                      </a:txBody>
                      <a:tcPr>
                        <a:solidFill>
                          <a:schemeClr val="accent2">
                            <a:lumMod val="75000"/>
                          </a:schemeClr>
                        </a:solidFill>
                      </a:tcPr>
                    </a:tc>
                    <a:tc>
                      <a:txBody>
                        <a:bodyPr/>
                        <a:lstStyle/>
                        <a:p>
                          <a:r>
                            <a:rPr lang="en-US" sz="2400" dirty="0">
                              <a:latin typeface="Times New Roman" panose="02020603050405020304" pitchFamily="18" charset="0"/>
                            </a:rPr>
                            <a:t>5</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1573450199"/>
                      </a:ext>
                    </a:extLst>
                  </a:tr>
                  <a:tr h="391622">
                    <a:tc>
                      <a:txBody>
                        <a:bodyPr/>
                        <a:lstStyle/>
                        <a:p>
                          <a:r>
                            <a:rPr lang="en-US" sz="2400" dirty="0">
                              <a:latin typeface="Times New Roman" panose="02020603050405020304" pitchFamily="18" charset="0"/>
                            </a:rPr>
                            <a:t>4</a:t>
                          </a:r>
                        </a:p>
                      </a:txBody>
                      <a:tcPr>
                        <a:solidFill>
                          <a:schemeClr val="accent3">
                            <a:lumMod val="20000"/>
                            <a:lumOff val="80000"/>
                          </a:schemeClr>
                        </a:solidFill>
                      </a:tcPr>
                    </a:tc>
                    <a:tc>
                      <a:txBody>
                        <a:bodyPr/>
                        <a:lstStyle/>
                        <a:p>
                          <a:r>
                            <a:rPr lang="en-US" sz="2400" dirty="0">
                              <a:latin typeface="Times New Roman" panose="02020603050405020304" pitchFamily="18" charset="0"/>
                            </a:rPr>
                            <a:t>8</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3067848943"/>
                      </a:ext>
                    </a:extLst>
                  </a:tr>
                  <a:tr h="391622">
                    <a:tc>
                      <a:txBody>
                        <a:bodyPr/>
                        <a:lstStyle/>
                        <a:p>
                          <a:r>
                            <a:rPr lang="en-US" sz="2400" dirty="0">
                              <a:latin typeface="Times New Roman" panose="02020603050405020304" pitchFamily="18" charset="0"/>
                            </a:rPr>
                            <a:t>5</a:t>
                          </a:r>
                        </a:p>
                      </a:txBody>
                      <a:tcPr>
                        <a:solidFill>
                          <a:schemeClr val="accent2">
                            <a:lumMod val="75000"/>
                          </a:schemeClr>
                        </a:solidFill>
                      </a:tcPr>
                    </a:tc>
                    <a:tc>
                      <a:txBody>
                        <a:bodyPr/>
                        <a:lstStyle/>
                        <a:p>
                          <a:r>
                            <a:rPr lang="en-US" sz="2400" dirty="0">
                              <a:latin typeface="Times New Roman" panose="02020603050405020304" pitchFamily="18" charset="0"/>
                            </a:rPr>
                            <a:t>4</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317705721"/>
                      </a:ext>
                    </a:extLst>
                  </a:tr>
                  <a:tr h="391622">
                    <a:tc>
                      <a:txBody>
                        <a:bodyPr/>
                        <a:lstStyle/>
                        <a:p>
                          <a:r>
                            <a:rPr lang="en-US" sz="2400" dirty="0">
                              <a:latin typeface="Times New Roman" panose="02020603050405020304" pitchFamily="18" charset="0"/>
                            </a:rPr>
                            <a:t>6</a:t>
                          </a:r>
                        </a:p>
                      </a:txBody>
                      <a:tcPr>
                        <a:solidFill>
                          <a:schemeClr val="accent2">
                            <a:lumMod val="75000"/>
                          </a:schemeClr>
                        </a:solidFill>
                      </a:tcPr>
                    </a:tc>
                    <a:tc>
                      <a:txBody>
                        <a:bodyPr/>
                        <a:lstStyle/>
                        <a:p>
                          <a:r>
                            <a:rPr lang="en-US" sz="2400" dirty="0">
                              <a:latin typeface="Times New Roman" panose="02020603050405020304" pitchFamily="18" charset="0"/>
                            </a:rPr>
                            <a:t>10</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1421316902"/>
                      </a:ext>
                    </a:extLst>
                  </a:tr>
                  <a:tr h="391622">
                    <a:tc>
                      <a:txBody>
                        <a:bodyPr/>
                        <a:lstStyle/>
                        <a:p>
                          <a:r>
                            <a:rPr lang="en-US" sz="2400" dirty="0">
                              <a:latin typeface="Times New Roman" panose="02020603050405020304" pitchFamily="18" charset="0"/>
                            </a:rPr>
                            <a:t>7</a:t>
                          </a:r>
                        </a:p>
                      </a:txBody>
                      <a:tcPr>
                        <a:solidFill>
                          <a:schemeClr val="accent3">
                            <a:lumMod val="20000"/>
                            <a:lumOff val="80000"/>
                          </a:schemeClr>
                        </a:solidFill>
                      </a:tcPr>
                    </a:tc>
                    <a:tc>
                      <a:txBody>
                        <a:bodyPr/>
                        <a:lstStyle/>
                        <a:p>
                          <a:r>
                            <a:rPr lang="en-US" sz="2400" dirty="0">
                              <a:latin typeface="Times New Roman" panose="02020603050405020304" pitchFamily="18" charset="0"/>
                            </a:rPr>
                            <a:t>10</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3120335065"/>
                      </a:ext>
                    </a:extLst>
                  </a:tr>
                  <a:tr h="391622">
                    <a:tc>
                      <a:txBody>
                        <a:bodyPr/>
                        <a:lstStyle/>
                        <a:p>
                          <a:r>
                            <a:rPr lang="en-US" sz="2400" dirty="0">
                              <a:latin typeface="Times New Roman" panose="02020603050405020304" pitchFamily="18" charset="0"/>
                            </a:rPr>
                            <a:t>8</a:t>
                          </a:r>
                        </a:p>
                      </a:txBody>
                      <a:tcPr>
                        <a:solidFill>
                          <a:schemeClr val="accent3">
                            <a:lumMod val="20000"/>
                            <a:lumOff val="80000"/>
                          </a:schemeClr>
                        </a:solidFill>
                      </a:tcPr>
                    </a:tc>
                    <a:tc>
                      <a:txBody>
                        <a:bodyPr/>
                        <a:lstStyle/>
                        <a:p>
                          <a:r>
                            <a:rPr lang="en-US" sz="2400" dirty="0">
                              <a:latin typeface="Times New Roman" panose="02020603050405020304" pitchFamily="18" charset="0"/>
                            </a:rPr>
                            <a:t>6</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1180700529"/>
                      </a:ext>
                    </a:extLst>
                  </a:tr>
                  <a:tr h="391622">
                    <a:tc>
                      <a:txBody>
                        <a:bodyPr/>
                        <a:lstStyle/>
                        <a:p>
                          <a:r>
                            <a:rPr lang="en-US" sz="2400" dirty="0">
                              <a:latin typeface="Times New Roman" panose="02020603050405020304" pitchFamily="18" charset="0"/>
                            </a:rPr>
                            <a:t>9</a:t>
                          </a:r>
                        </a:p>
                      </a:txBody>
                      <a:tcPr>
                        <a:solidFill>
                          <a:schemeClr val="accent3">
                            <a:lumMod val="20000"/>
                            <a:lumOff val="80000"/>
                          </a:schemeClr>
                        </a:solidFill>
                      </a:tcPr>
                    </a:tc>
                    <a:tc>
                      <a:txBody>
                        <a:bodyPr/>
                        <a:lstStyle/>
                        <a:p>
                          <a:r>
                            <a:rPr lang="en-US" sz="2400" dirty="0">
                              <a:latin typeface="Times New Roman" panose="02020603050405020304" pitchFamily="18" charset="0"/>
                            </a:rPr>
                            <a:t>7</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1389079847"/>
                      </a:ext>
                    </a:extLst>
                  </a:tr>
                  <a:tr h="391622">
                    <a:tc>
                      <a:txBody>
                        <a:bodyPr/>
                        <a:lstStyle/>
                        <a:p>
                          <a:r>
                            <a:rPr lang="en-US" sz="2400" dirty="0">
                              <a:latin typeface="Times New Roman" panose="02020603050405020304" pitchFamily="18" charset="0"/>
                            </a:rPr>
                            <a:t>10</a:t>
                          </a:r>
                        </a:p>
                      </a:txBody>
                      <a:tcPr>
                        <a:solidFill>
                          <a:schemeClr val="accent2">
                            <a:lumMod val="75000"/>
                          </a:schemeClr>
                        </a:solidFill>
                      </a:tcPr>
                    </a:tc>
                    <a:tc>
                      <a:txBody>
                        <a:bodyPr/>
                        <a:lstStyle/>
                        <a:p>
                          <a:r>
                            <a:rPr lang="en-US" sz="2400" dirty="0">
                              <a:latin typeface="Times New Roman" panose="02020603050405020304" pitchFamily="18" charset="0"/>
                            </a:rPr>
                            <a:t>9</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1832426719"/>
                      </a:ext>
                    </a:extLst>
                  </a:tr>
                </a:tbl>
              </a:graphicData>
            </a:graphic>
          </p:graphicFrame>
        </mc:Choice>
        <mc:Fallback xmlns="">
          <p:graphicFrame>
            <p:nvGraphicFramePr>
              <p:cNvPr id="4" name="Table 4">
                <a:extLst>
                  <a:ext uri="{FF2B5EF4-FFF2-40B4-BE49-F238E27FC236}">
                    <a16:creationId xmlns:a16="http://schemas.microsoft.com/office/drawing/2014/main" id="{CC0291DC-F40F-4B2E-A973-28B773907203}"/>
                  </a:ext>
                </a:extLst>
              </p:cNvPr>
              <p:cNvGraphicFramePr>
                <a:graphicFrameLocks noGrp="1"/>
              </p:cNvGraphicFramePr>
              <p:nvPr>
                <p:extLst>
                  <p:ext uri="{D42A27DB-BD31-4B8C-83A1-F6EECF244321}">
                    <p14:modId xmlns:p14="http://schemas.microsoft.com/office/powerpoint/2010/main" val="1622320565"/>
                  </p:ext>
                </p:extLst>
              </p:nvPr>
            </p:nvGraphicFramePr>
            <p:xfrm>
              <a:off x="1143000" y="1524000"/>
              <a:ext cx="6248400" cy="502920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1382962599"/>
                        </a:ext>
                      </a:extLst>
                    </a:gridCol>
                    <a:gridCol w="2082800">
                      <a:extLst>
                        <a:ext uri="{9D8B030D-6E8A-4147-A177-3AD203B41FA5}">
                          <a16:colId xmlns:a16="http://schemas.microsoft.com/office/drawing/2014/main" val="3110937995"/>
                        </a:ext>
                      </a:extLst>
                    </a:gridCol>
                    <a:gridCol w="2082800">
                      <a:extLst>
                        <a:ext uri="{9D8B030D-6E8A-4147-A177-3AD203B41FA5}">
                          <a16:colId xmlns:a16="http://schemas.microsoft.com/office/drawing/2014/main" val="1332737986"/>
                        </a:ext>
                      </a:extLst>
                    </a:gridCol>
                  </a:tblGrid>
                  <a:tr h="457200">
                    <a:tc>
                      <a:txBody>
                        <a:bodyPr/>
                        <a:lstStyle/>
                        <a:p>
                          <a:r>
                            <a:rPr lang="en-US" sz="2400" dirty="0">
                              <a:latin typeface="Times New Roman" panose="02020603050405020304" pitchFamily="18" charset="0"/>
                            </a:rPr>
                            <a:t>Patient</a:t>
                          </a:r>
                        </a:p>
                      </a:txBody>
                      <a:tcPr/>
                    </a:tc>
                    <a:tc>
                      <a:txBody>
                        <a:bodyPr/>
                        <a:lstStyle/>
                        <a:p>
                          <a:endParaRPr lang="en-US"/>
                        </a:p>
                      </a:txBody>
                      <a:tcPr>
                        <a:blipFill>
                          <a:blip r:embed="rId4"/>
                          <a:stretch>
                            <a:fillRect l="-100292" t="-10667" r="-101170" b="-1030667"/>
                          </a:stretch>
                        </a:blipFill>
                      </a:tcPr>
                    </a:tc>
                    <a:tc>
                      <a:txBody>
                        <a:bodyPr/>
                        <a:lstStyle/>
                        <a:p>
                          <a:endParaRPr lang="en-US"/>
                        </a:p>
                      </a:txBody>
                      <a:tcPr>
                        <a:blipFill>
                          <a:blip r:embed="rId4"/>
                          <a:stretch>
                            <a:fillRect l="-200292" t="-10667" r="-1170" b="-1030667"/>
                          </a:stretch>
                        </a:blipFill>
                      </a:tcPr>
                    </a:tc>
                    <a:extLst>
                      <a:ext uri="{0D108BD9-81ED-4DB2-BD59-A6C34878D82A}">
                        <a16:rowId xmlns:a16="http://schemas.microsoft.com/office/drawing/2014/main" val="2394106292"/>
                      </a:ext>
                    </a:extLst>
                  </a:tr>
                  <a:tr h="457200">
                    <a:tc>
                      <a:txBody>
                        <a:bodyPr/>
                        <a:lstStyle/>
                        <a:p>
                          <a:r>
                            <a:rPr lang="en-US" sz="2400" dirty="0">
                              <a:latin typeface="Times New Roman" panose="02020603050405020304" pitchFamily="18" charset="0"/>
                            </a:rPr>
                            <a:t>1</a:t>
                          </a:r>
                        </a:p>
                      </a:txBody>
                      <a:tcPr>
                        <a:solidFill>
                          <a:schemeClr val="accent2">
                            <a:lumMod val="75000"/>
                          </a:schemeClr>
                        </a:solidFill>
                      </a:tcPr>
                    </a:tc>
                    <a:tc>
                      <a:txBody>
                        <a:bodyPr/>
                        <a:lstStyle/>
                        <a:p>
                          <a:r>
                            <a:rPr lang="en-US" sz="2400" dirty="0">
                              <a:latin typeface="Times New Roman" panose="02020603050405020304" pitchFamily="18" charset="0"/>
                            </a:rPr>
                            <a:t>7</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509417205"/>
                      </a:ext>
                    </a:extLst>
                  </a:tr>
                  <a:tr h="457200">
                    <a:tc>
                      <a:txBody>
                        <a:bodyPr/>
                        <a:lstStyle/>
                        <a:p>
                          <a:r>
                            <a:rPr lang="en-US" sz="2400" dirty="0">
                              <a:latin typeface="Times New Roman" panose="02020603050405020304" pitchFamily="18" charset="0"/>
                            </a:rPr>
                            <a:t>2</a:t>
                          </a:r>
                        </a:p>
                      </a:txBody>
                      <a:tcPr>
                        <a:solidFill>
                          <a:schemeClr val="accent3">
                            <a:lumMod val="20000"/>
                            <a:lumOff val="80000"/>
                          </a:schemeClr>
                        </a:solidFill>
                      </a:tcPr>
                    </a:tc>
                    <a:tc>
                      <a:txBody>
                        <a:bodyPr/>
                        <a:lstStyle/>
                        <a:p>
                          <a:r>
                            <a:rPr lang="en-US" sz="2400" dirty="0">
                              <a:latin typeface="Times New Roman" panose="02020603050405020304" pitchFamily="18" charset="0"/>
                            </a:rPr>
                            <a:t>6</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3683507387"/>
                      </a:ext>
                    </a:extLst>
                  </a:tr>
                  <a:tr h="457200">
                    <a:tc>
                      <a:txBody>
                        <a:bodyPr/>
                        <a:lstStyle/>
                        <a:p>
                          <a:r>
                            <a:rPr lang="en-US" sz="2400" dirty="0">
                              <a:latin typeface="Times New Roman" panose="02020603050405020304" pitchFamily="18" charset="0"/>
                            </a:rPr>
                            <a:t>3</a:t>
                          </a:r>
                        </a:p>
                      </a:txBody>
                      <a:tcPr>
                        <a:solidFill>
                          <a:schemeClr val="accent2">
                            <a:lumMod val="75000"/>
                          </a:schemeClr>
                        </a:solidFill>
                      </a:tcPr>
                    </a:tc>
                    <a:tc>
                      <a:txBody>
                        <a:bodyPr/>
                        <a:lstStyle/>
                        <a:p>
                          <a:r>
                            <a:rPr lang="en-US" sz="2400" dirty="0">
                              <a:latin typeface="Times New Roman" panose="02020603050405020304" pitchFamily="18" charset="0"/>
                            </a:rPr>
                            <a:t>5</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1573450199"/>
                      </a:ext>
                    </a:extLst>
                  </a:tr>
                  <a:tr h="457200">
                    <a:tc>
                      <a:txBody>
                        <a:bodyPr/>
                        <a:lstStyle/>
                        <a:p>
                          <a:r>
                            <a:rPr lang="en-US" sz="2400" dirty="0">
                              <a:latin typeface="Times New Roman" panose="02020603050405020304" pitchFamily="18" charset="0"/>
                            </a:rPr>
                            <a:t>4</a:t>
                          </a:r>
                        </a:p>
                      </a:txBody>
                      <a:tcPr>
                        <a:solidFill>
                          <a:schemeClr val="accent3">
                            <a:lumMod val="20000"/>
                            <a:lumOff val="80000"/>
                          </a:schemeClr>
                        </a:solidFill>
                      </a:tcPr>
                    </a:tc>
                    <a:tc>
                      <a:txBody>
                        <a:bodyPr/>
                        <a:lstStyle/>
                        <a:p>
                          <a:r>
                            <a:rPr lang="en-US" sz="2400" dirty="0">
                              <a:latin typeface="Times New Roman" panose="02020603050405020304" pitchFamily="18" charset="0"/>
                            </a:rPr>
                            <a:t>8</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3067848943"/>
                      </a:ext>
                    </a:extLst>
                  </a:tr>
                  <a:tr h="457200">
                    <a:tc>
                      <a:txBody>
                        <a:bodyPr/>
                        <a:lstStyle/>
                        <a:p>
                          <a:r>
                            <a:rPr lang="en-US" sz="2400" dirty="0">
                              <a:latin typeface="Times New Roman" panose="02020603050405020304" pitchFamily="18" charset="0"/>
                            </a:rPr>
                            <a:t>5</a:t>
                          </a:r>
                        </a:p>
                      </a:txBody>
                      <a:tcPr>
                        <a:solidFill>
                          <a:schemeClr val="accent2">
                            <a:lumMod val="75000"/>
                          </a:schemeClr>
                        </a:solidFill>
                      </a:tcPr>
                    </a:tc>
                    <a:tc>
                      <a:txBody>
                        <a:bodyPr/>
                        <a:lstStyle/>
                        <a:p>
                          <a:r>
                            <a:rPr lang="en-US" sz="2400" dirty="0">
                              <a:latin typeface="Times New Roman" panose="02020603050405020304" pitchFamily="18" charset="0"/>
                            </a:rPr>
                            <a:t>4</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317705721"/>
                      </a:ext>
                    </a:extLst>
                  </a:tr>
                  <a:tr h="457200">
                    <a:tc>
                      <a:txBody>
                        <a:bodyPr/>
                        <a:lstStyle/>
                        <a:p>
                          <a:r>
                            <a:rPr lang="en-US" sz="2400" dirty="0">
                              <a:latin typeface="Times New Roman" panose="02020603050405020304" pitchFamily="18" charset="0"/>
                            </a:rPr>
                            <a:t>6</a:t>
                          </a:r>
                        </a:p>
                      </a:txBody>
                      <a:tcPr>
                        <a:solidFill>
                          <a:schemeClr val="accent2">
                            <a:lumMod val="75000"/>
                          </a:schemeClr>
                        </a:solidFill>
                      </a:tcPr>
                    </a:tc>
                    <a:tc>
                      <a:txBody>
                        <a:bodyPr/>
                        <a:lstStyle/>
                        <a:p>
                          <a:r>
                            <a:rPr lang="en-US" sz="2400" dirty="0">
                              <a:latin typeface="Times New Roman" panose="02020603050405020304" pitchFamily="18" charset="0"/>
                            </a:rPr>
                            <a:t>10</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1421316902"/>
                      </a:ext>
                    </a:extLst>
                  </a:tr>
                  <a:tr h="457200">
                    <a:tc>
                      <a:txBody>
                        <a:bodyPr/>
                        <a:lstStyle/>
                        <a:p>
                          <a:r>
                            <a:rPr lang="en-US" sz="2400" dirty="0">
                              <a:latin typeface="Times New Roman" panose="02020603050405020304" pitchFamily="18" charset="0"/>
                            </a:rPr>
                            <a:t>7</a:t>
                          </a:r>
                        </a:p>
                      </a:txBody>
                      <a:tcPr>
                        <a:solidFill>
                          <a:schemeClr val="accent3">
                            <a:lumMod val="20000"/>
                            <a:lumOff val="80000"/>
                          </a:schemeClr>
                        </a:solidFill>
                      </a:tcPr>
                    </a:tc>
                    <a:tc>
                      <a:txBody>
                        <a:bodyPr/>
                        <a:lstStyle/>
                        <a:p>
                          <a:r>
                            <a:rPr lang="en-US" sz="2400" dirty="0">
                              <a:latin typeface="Times New Roman" panose="02020603050405020304" pitchFamily="18" charset="0"/>
                            </a:rPr>
                            <a:t>10</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3120335065"/>
                      </a:ext>
                    </a:extLst>
                  </a:tr>
                  <a:tr h="457200">
                    <a:tc>
                      <a:txBody>
                        <a:bodyPr/>
                        <a:lstStyle/>
                        <a:p>
                          <a:r>
                            <a:rPr lang="en-US" sz="2400" dirty="0">
                              <a:latin typeface="Times New Roman" panose="02020603050405020304" pitchFamily="18" charset="0"/>
                            </a:rPr>
                            <a:t>8</a:t>
                          </a:r>
                        </a:p>
                      </a:txBody>
                      <a:tcPr>
                        <a:solidFill>
                          <a:schemeClr val="accent3">
                            <a:lumMod val="20000"/>
                            <a:lumOff val="80000"/>
                          </a:schemeClr>
                        </a:solidFill>
                      </a:tcPr>
                    </a:tc>
                    <a:tc>
                      <a:txBody>
                        <a:bodyPr/>
                        <a:lstStyle/>
                        <a:p>
                          <a:r>
                            <a:rPr lang="en-US" sz="2400" dirty="0">
                              <a:latin typeface="Times New Roman" panose="02020603050405020304" pitchFamily="18" charset="0"/>
                            </a:rPr>
                            <a:t>6</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1180700529"/>
                      </a:ext>
                    </a:extLst>
                  </a:tr>
                  <a:tr h="457200">
                    <a:tc>
                      <a:txBody>
                        <a:bodyPr/>
                        <a:lstStyle/>
                        <a:p>
                          <a:r>
                            <a:rPr lang="en-US" sz="2400" dirty="0">
                              <a:latin typeface="Times New Roman" panose="02020603050405020304" pitchFamily="18" charset="0"/>
                            </a:rPr>
                            <a:t>9</a:t>
                          </a:r>
                        </a:p>
                      </a:txBody>
                      <a:tcPr>
                        <a:solidFill>
                          <a:schemeClr val="accent3">
                            <a:lumMod val="20000"/>
                            <a:lumOff val="80000"/>
                          </a:schemeClr>
                        </a:solidFill>
                      </a:tcPr>
                    </a:tc>
                    <a:tc>
                      <a:txBody>
                        <a:bodyPr/>
                        <a:lstStyle/>
                        <a:p>
                          <a:r>
                            <a:rPr lang="en-US" sz="2400" dirty="0">
                              <a:latin typeface="Times New Roman" panose="02020603050405020304" pitchFamily="18" charset="0"/>
                            </a:rPr>
                            <a:t>7</a:t>
                          </a:r>
                        </a:p>
                      </a:txBody>
                      <a:tcPr>
                        <a:solidFill>
                          <a:schemeClr val="accent3">
                            <a:lumMod val="20000"/>
                            <a:lumOff val="80000"/>
                          </a:schemeClr>
                        </a:solidFill>
                      </a:tcPr>
                    </a:tc>
                    <a:tc>
                      <a:txBody>
                        <a:bodyPr/>
                        <a:lstStyle/>
                        <a:p>
                          <a:r>
                            <a:rPr lang="en-US" sz="2400" dirty="0">
                              <a:latin typeface="Times New Roman" panose="02020603050405020304" pitchFamily="18" charset="0"/>
                            </a:rPr>
                            <a:t>0</a:t>
                          </a:r>
                        </a:p>
                      </a:txBody>
                      <a:tcPr>
                        <a:solidFill>
                          <a:schemeClr val="accent3">
                            <a:lumMod val="20000"/>
                            <a:lumOff val="80000"/>
                          </a:schemeClr>
                        </a:solidFill>
                      </a:tcPr>
                    </a:tc>
                    <a:extLst>
                      <a:ext uri="{0D108BD9-81ED-4DB2-BD59-A6C34878D82A}">
                        <a16:rowId xmlns:a16="http://schemas.microsoft.com/office/drawing/2014/main" val="1389079847"/>
                      </a:ext>
                    </a:extLst>
                  </a:tr>
                  <a:tr h="457200">
                    <a:tc>
                      <a:txBody>
                        <a:bodyPr/>
                        <a:lstStyle/>
                        <a:p>
                          <a:r>
                            <a:rPr lang="en-US" sz="2400" dirty="0">
                              <a:latin typeface="Times New Roman" panose="02020603050405020304" pitchFamily="18" charset="0"/>
                            </a:rPr>
                            <a:t>10</a:t>
                          </a:r>
                        </a:p>
                      </a:txBody>
                      <a:tcPr>
                        <a:solidFill>
                          <a:schemeClr val="accent2">
                            <a:lumMod val="75000"/>
                          </a:schemeClr>
                        </a:solidFill>
                      </a:tcPr>
                    </a:tc>
                    <a:tc>
                      <a:txBody>
                        <a:bodyPr/>
                        <a:lstStyle/>
                        <a:p>
                          <a:r>
                            <a:rPr lang="en-US" sz="2400" dirty="0">
                              <a:latin typeface="Times New Roman" panose="02020603050405020304" pitchFamily="18" charset="0"/>
                            </a:rPr>
                            <a:t>9</a:t>
                          </a:r>
                        </a:p>
                      </a:txBody>
                      <a:tcPr>
                        <a:solidFill>
                          <a:schemeClr val="accent2">
                            <a:lumMod val="75000"/>
                          </a:schemeClr>
                        </a:solidFill>
                      </a:tcPr>
                    </a:tc>
                    <a:tc>
                      <a:txBody>
                        <a:bodyPr/>
                        <a:lstStyle/>
                        <a:p>
                          <a:r>
                            <a:rPr lang="en-US" sz="2400" dirty="0">
                              <a:latin typeface="Times New Roman" panose="02020603050405020304" pitchFamily="18" charset="0"/>
                            </a:rPr>
                            <a:t>1</a:t>
                          </a:r>
                        </a:p>
                      </a:txBody>
                      <a:tcPr>
                        <a:solidFill>
                          <a:schemeClr val="accent2">
                            <a:lumMod val="75000"/>
                          </a:schemeClr>
                        </a:solidFill>
                      </a:tcPr>
                    </a:tc>
                    <a:extLst>
                      <a:ext uri="{0D108BD9-81ED-4DB2-BD59-A6C34878D82A}">
                        <a16:rowId xmlns:a16="http://schemas.microsoft.com/office/drawing/2014/main" val="1832426719"/>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392BEE3-6F19-9718-82FE-4C2F2BB24851}"/>
                  </a:ext>
                </a:extLst>
              </p:cNvPr>
              <p:cNvSpPr txBox="1"/>
              <p:nvPr/>
            </p:nvSpPr>
            <p:spPr>
              <a:xfrm>
                <a:off x="7543800" y="5105400"/>
                <a:ext cx="3505200" cy="472630"/>
              </a:xfrm>
              <a:prstGeom prst="rect">
                <a:avLst/>
              </a:prstGeom>
              <a:solidFill>
                <a:schemeClr val="accent2">
                  <a:lumMod val="20000"/>
                  <a:lumOff val="80000"/>
                </a:schemeClr>
              </a:solid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sz="2400" b="1" i="1" dirty="0" smtClean="0">
                              <a:solidFill>
                                <a:srgbClr val="0070C0"/>
                              </a:solidFill>
                              <a:latin typeface="Cambria Math" panose="02040503050406030204" pitchFamily="18" charset="0"/>
                            </a:rPr>
                          </m:ctrlPr>
                        </m:accPr>
                        <m:e>
                          <m:r>
                            <a:rPr lang="en-US" sz="2400" b="1" i="1" dirty="0" smtClean="0">
                              <a:solidFill>
                                <a:srgbClr val="0070C0"/>
                              </a:solidFill>
                              <a:latin typeface="Cambria Math" panose="02040503050406030204" pitchFamily="18" charset="0"/>
                            </a:rPr>
                            <m:t>𝑨𝑻𝑬</m:t>
                          </m:r>
                        </m:e>
                      </m:acc>
                      <m:r>
                        <a:rPr lang="en-US" sz="2400" b="1" i="1" dirty="0" smtClean="0">
                          <a:solidFill>
                            <a:srgbClr val="0070C0"/>
                          </a:solidFill>
                          <a:latin typeface="Cambria Math" panose="02040503050406030204" pitchFamily="18" charset="0"/>
                        </a:rPr>
                        <m:t>=</m:t>
                      </m:r>
                      <m:r>
                        <a:rPr lang="en-US" sz="2400" b="1" i="1" dirty="0" smtClean="0">
                          <a:solidFill>
                            <a:srgbClr val="0070C0"/>
                          </a:solidFill>
                          <a:latin typeface="Cambria Math" panose="02040503050406030204" pitchFamily="18" charset="0"/>
                        </a:rPr>
                        <m:t>𝟕</m:t>
                      </m:r>
                      <m:r>
                        <a:rPr lang="en-US" sz="2400" b="1" i="1" dirty="0" smtClean="0">
                          <a:solidFill>
                            <a:srgbClr val="0070C0"/>
                          </a:solidFill>
                          <a:latin typeface="Cambria Math" panose="02040503050406030204" pitchFamily="18" charset="0"/>
                        </a:rPr>
                        <m:t>−</m:t>
                      </m:r>
                      <m:r>
                        <a:rPr lang="en-US" sz="2400" b="1" i="1" dirty="0" smtClean="0">
                          <a:solidFill>
                            <a:srgbClr val="0070C0"/>
                          </a:solidFill>
                          <a:latin typeface="Cambria Math" panose="02040503050406030204" pitchFamily="18" charset="0"/>
                        </a:rPr>
                        <m:t>𝟕</m:t>
                      </m:r>
                      <m:r>
                        <a:rPr lang="en-US" sz="2400" b="1" i="1" dirty="0" smtClean="0">
                          <a:solidFill>
                            <a:srgbClr val="0070C0"/>
                          </a:solidFill>
                          <a:latin typeface="Cambria Math" panose="02040503050406030204" pitchFamily="18" charset="0"/>
                        </a:rPr>
                        <m:t>.</m:t>
                      </m:r>
                      <m:r>
                        <a:rPr lang="en-US" sz="2400" b="1" i="1" dirty="0" smtClean="0">
                          <a:solidFill>
                            <a:srgbClr val="0070C0"/>
                          </a:solidFill>
                          <a:latin typeface="Cambria Math" panose="02040503050406030204" pitchFamily="18" charset="0"/>
                        </a:rPr>
                        <m:t>𝟒</m:t>
                      </m:r>
                      <m:r>
                        <a:rPr lang="en-US" sz="2400" b="1" i="1" dirty="0" smtClean="0">
                          <a:solidFill>
                            <a:srgbClr val="0070C0"/>
                          </a:solidFill>
                          <a:latin typeface="Cambria Math" panose="02040503050406030204" pitchFamily="18" charset="0"/>
                        </a:rPr>
                        <m:t>=−</m:t>
                      </m:r>
                      <m:r>
                        <a:rPr lang="en-US" sz="2400" b="1" i="1" dirty="0" smtClean="0">
                          <a:solidFill>
                            <a:srgbClr val="0070C0"/>
                          </a:solidFill>
                          <a:latin typeface="Cambria Math" panose="02040503050406030204" pitchFamily="18" charset="0"/>
                        </a:rPr>
                        <m:t>𝟎</m:t>
                      </m:r>
                      <m:r>
                        <a:rPr lang="en-US" sz="2400" b="1" i="1" dirty="0" smtClean="0">
                          <a:solidFill>
                            <a:srgbClr val="0070C0"/>
                          </a:solidFill>
                          <a:latin typeface="Cambria Math" panose="02040503050406030204" pitchFamily="18" charset="0"/>
                        </a:rPr>
                        <m:t>.</m:t>
                      </m:r>
                      <m:r>
                        <a:rPr lang="en-US" sz="2400" b="1" i="1" dirty="0" smtClean="0">
                          <a:solidFill>
                            <a:srgbClr val="0070C0"/>
                          </a:solidFill>
                          <a:latin typeface="Cambria Math" panose="02040503050406030204" pitchFamily="18" charset="0"/>
                        </a:rPr>
                        <m:t>𝟒</m:t>
                      </m:r>
                    </m:oMath>
                  </m:oMathPara>
                </a14:m>
                <a:endParaRPr lang="en-US" sz="2400" b="1" dirty="0">
                  <a:solidFill>
                    <a:srgbClr val="0070C0"/>
                  </a:solidFill>
                </a:endParaRPr>
              </a:p>
            </p:txBody>
          </p:sp>
        </mc:Choice>
        <mc:Fallback xmlns="">
          <p:sp>
            <p:nvSpPr>
              <p:cNvPr id="5" name="TextBox 4">
                <a:extLst>
                  <a:ext uri="{FF2B5EF4-FFF2-40B4-BE49-F238E27FC236}">
                    <a16:creationId xmlns:a16="http://schemas.microsoft.com/office/drawing/2014/main" id="{5392BEE3-6F19-9718-82FE-4C2F2BB24851}"/>
                  </a:ext>
                </a:extLst>
              </p:cNvPr>
              <p:cNvSpPr txBox="1">
                <a:spLocks noRot="1" noChangeAspect="1" noMove="1" noResize="1" noEditPoints="1" noAdjustHandles="1" noChangeArrowheads="1" noChangeShapeType="1" noTextEdit="1"/>
              </p:cNvSpPr>
              <p:nvPr/>
            </p:nvSpPr>
            <p:spPr>
              <a:xfrm>
                <a:off x="7543800" y="5105400"/>
                <a:ext cx="3505200" cy="47263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783983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Estimating an ATE</a:t>
            </a:r>
          </a:p>
        </p:txBody>
      </p:sp>
      <p:sp>
        <p:nvSpPr>
          <p:cNvPr id="3" name="Content Placeholder 2"/>
          <p:cNvSpPr>
            <a:spLocks noGrp="1"/>
          </p:cNvSpPr>
          <p:nvPr>
            <p:ph idx="1"/>
          </p:nvPr>
        </p:nvSpPr>
        <p:spPr>
          <a:xfrm>
            <a:off x="1066801" y="990600"/>
            <a:ext cx="8381999" cy="5638800"/>
          </a:xfrm>
        </p:spPr>
        <p:txBody>
          <a:bodyPr>
            <a:noAutofit/>
          </a:bodyPr>
          <a:lstStyle/>
          <a:p>
            <a:pPr marL="0" indent="0">
              <a:buNone/>
            </a:pPr>
            <a:r>
              <a:rPr lang="en-US" sz="2400" dirty="0"/>
              <a:t>What does the estimated ATE mean?</a:t>
            </a:r>
          </a:p>
          <a:p>
            <a:r>
              <a:rPr lang="en-US" sz="2400" dirty="0"/>
              <a:t>Does this mean surgery has a negative effect?  </a:t>
            </a:r>
          </a:p>
          <a:p>
            <a:pPr marL="0" indent="0">
              <a:buNone/>
            </a:pPr>
            <a:endParaRPr lang="en-US" sz="2400" dirty="0">
              <a:solidFill>
                <a:srgbClr val="0070C0"/>
              </a:solidFill>
            </a:endParaRP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688071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Estimating an ATE</a:t>
            </a:r>
          </a:p>
        </p:txBody>
      </p:sp>
      <p:sp>
        <p:nvSpPr>
          <p:cNvPr id="3" name="Content Placeholder 2"/>
          <p:cNvSpPr>
            <a:spLocks noGrp="1"/>
          </p:cNvSpPr>
          <p:nvPr>
            <p:ph idx="1"/>
          </p:nvPr>
        </p:nvSpPr>
        <p:spPr>
          <a:xfrm>
            <a:off x="1066801" y="990600"/>
            <a:ext cx="9982199" cy="5638800"/>
          </a:xfrm>
        </p:spPr>
        <p:txBody>
          <a:bodyPr>
            <a:noAutofit/>
          </a:bodyPr>
          <a:lstStyle/>
          <a:p>
            <a:pPr marL="0" indent="0">
              <a:buNone/>
            </a:pPr>
            <a:r>
              <a:rPr lang="en-US" sz="2400" dirty="0"/>
              <a:t>What does the estimated ATE mean?</a:t>
            </a:r>
          </a:p>
          <a:p>
            <a:r>
              <a:rPr lang="en-US" sz="2400" dirty="0"/>
              <a:t>Does this mean surgery has a negative effect?</a:t>
            </a:r>
          </a:p>
          <a:p>
            <a:r>
              <a:rPr lang="en-US" sz="2400" dirty="0"/>
              <a:t>This statistic is itself a random variable – need sufficient data/power to say that something is strongly different from 0 (noise)</a:t>
            </a:r>
          </a:p>
          <a:p>
            <a:r>
              <a:rPr lang="en-US" sz="2400" dirty="0"/>
              <a:t>This statistic might also suffer from “selection bias” (how?)</a:t>
            </a:r>
            <a:endParaRPr lang="en-US" sz="2400" b="1" dirty="0"/>
          </a:p>
          <a:p>
            <a:endParaRPr lang="en-US" sz="2400" b="1" dirty="0"/>
          </a:p>
          <a:p>
            <a:pPr marL="0" indent="0">
              <a:buNone/>
            </a:pPr>
            <a:r>
              <a:rPr lang="en-US" sz="2400" b="1" dirty="0">
                <a:solidFill>
                  <a:schemeClr val="accent3">
                    <a:lumMod val="50000"/>
                  </a:schemeClr>
                </a:solidFill>
              </a:rPr>
              <a:t>This is why assumptions are so important for econometrics!</a:t>
            </a:r>
          </a:p>
          <a:p>
            <a:pPr marL="0" indent="0">
              <a:buNone/>
            </a:pPr>
            <a:r>
              <a:rPr lang="en-US" sz="2400" dirty="0"/>
              <a:t>  </a:t>
            </a:r>
          </a:p>
          <a:p>
            <a:pPr marL="0" indent="0">
              <a:buNone/>
            </a:pPr>
            <a:endParaRPr lang="en-US" sz="2400" dirty="0">
              <a:solidFill>
                <a:srgbClr val="0070C0"/>
              </a:solidFill>
            </a:endParaRP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4550260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234677"/>
            <a:ext cx="8077200" cy="701040"/>
          </a:xfrm>
        </p:spPr>
        <p:txBody>
          <a:bodyPr>
            <a:normAutofit/>
          </a:bodyPr>
          <a:lstStyle/>
          <a:p>
            <a:r>
              <a:rPr lang="en-US" dirty="0"/>
              <a:t>Estimating an ATE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66801" y="990600"/>
                <a:ext cx="9753599" cy="5638800"/>
              </a:xfrm>
            </p:spPr>
            <p:txBody>
              <a:bodyPr>
                <a:noAutofit/>
              </a:bodyPr>
              <a:lstStyle/>
              <a:p>
                <a:pPr marL="0" indent="0">
                  <a:buNone/>
                </a:pPr>
                <a:r>
                  <a:rPr lang="en-US" sz="2400" dirty="0"/>
                  <a:t>What does the estimated ATE mean?</a:t>
                </a:r>
              </a:p>
              <a:p>
                <a:r>
                  <a:rPr lang="en-US" sz="2400" dirty="0"/>
                  <a:t>Does this mean surgery has a negative effect?</a:t>
                </a:r>
              </a:p>
              <a:p>
                <a:r>
                  <a:rPr lang="en-US" sz="2400" dirty="0"/>
                  <a:t>This statistic is itself a random variable – need sufficient data/power to say that something is strongly different from 0 (noise)</a:t>
                </a:r>
              </a:p>
              <a:p>
                <a:r>
                  <a:rPr lang="en-US" sz="2400" dirty="0"/>
                  <a:t>This statistic might also suffer from “selection bias” (how?)</a:t>
                </a:r>
                <a:endParaRPr lang="en-US" sz="2400" b="1" dirty="0"/>
              </a:p>
              <a:p>
                <a:endParaRPr lang="en-US" sz="2400" b="1" dirty="0"/>
              </a:p>
              <a:p>
                <a:pPr marL="0" indent="0">
                  <a:buNone/>
                </a:pPr>
                <a:r>
                  <a:rPr lang="en-US" sz="2400" b="1" dirty="0">
                    <a:solidFill>
                      <a:schemeClr val="accent3">
                        <a:lumMod val="50000"/>
                      </a:schemeClr>
                    </a:solidFill>
                  </a:rPr>
                  <a:t>This is why assumptions are so important for econometrics!</a:t>
                </a:r>
              </a:p>
              <a:p>
                <a:pPr marL="0" indent="0">
                  <a:buNone/>
                </a:pPr>
                <a:r>
                  <a:rPr lang="en-US" sz="2400" b="1" u="sng" dirty="0">
                    <a:solidFill>
                      <a:schemeClr val="accent3">
                        <a:lumMod val="75000"/>
                      </a:schemeClr>
                    </a:solidFill>
                  </a:rPr>
                  <a:t>Example: </a:t>
                </a:r>
                <a:r>
                  <a:rPr lang="en-US" sz="2400" dirty="0"/>
                  <a:t>Independence assumption </a:t>
                </a:r>
                <a14:m>
                  <m:oMath xmlns:m="http://schemas.openxmlformats.org/officeDocument/2006/math">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𝑌</m:t>
                            </m:r>
                          </m:e>
                          <m:sup>
                            <m:r>
                              <a:rPr lang="en-US" sz="2400" b="0" i="1" smtClean="0">
                                <a:latin typeface="Cambria Math" panose="02040503050406030204" pitchFamily="18" charset="0"/>
                              </a:rPr>
                              <m:t>1</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𝑌</m:t>
                            </m:r>
                          </m:e>
                          <m:sup>
                            <m:r>
                              <a:rPr lang="en-US" sz="2400" b="0" i="1" smtClean="0">
                                <a:latin typeface="Cambria Math" panose="02040503050406030204" pitchFamily="18" charset="0"/>
                              </a:rPr>
                              <m:t>0</m:t>
                            </m:r>
                          </m:sup>
                        </m:sSup>
                      </m:e>
                    </m:d>
                    <m:r>
                      <a:rPr lang="en-US" sz="2400" b="0" i="1" smtClean="0">
                        <a:latin typeface="Cambria Math" panose="02040503050406030204" pitchFamily="18" charset="0"/>
                      </a:rPr>
                      <m:t>⊥</m:t>
                    </m:r>
                    <m:r>
                      <a:rPr lang="en-US" sz="2400" b="0" i="1" smtClean="0">
                        <a:latin typeface="Cambria Math" panose="02040503050406030204" pitchFamily="18" charset="0"/>
                      </a:rPr>
                      <m:t>𝐷</m:t>
                    </m:r>
                  </m:oMath>
                </a14:m>
                <a:endParaRPr lang="en-US" sz="2400" dirty="0"/>
              </a:p>
              <a:p>
                <a:r>
                  <a:rPr lang="en-US" sz="2400" dirty="0"/>
                  <a:t>Surgery assigned to an individual </a:t>
                </a:r>
                <a:r>
                  <a:rPr lang="en-US" sz="2400" i="1" dirty="0"/>
                  <a:t>not based </a:t>
                </a:r>
                <a:r>
                  <a:rPr lang="en-US" sz="2400" dirty="0"/>
                  <a:t>on potential outcome</a:t>
                </a:r>
              </a:p>
              <a:p>
                <a:r>
                  <a:rPr lang="en-US" sz="2400" b="1" u="sng" dirty="0"/>
                  <a:t>Quasi-randomness</a:t>
                </a:r>
                <a:r>
                  <a:rPr lang="en-US" sz="2400" dirty="0"/>
                  <a:t> of data/setting </a:t>
                </a:r>
                <a14:m>
                  <m:oMath xmlns:m="http://schemas.openxmlformats.org/officeDocument/2006/math">
                    <m:r>
                      <a:rPr lang="en-US" sz="2400" b="0" i="1" smtClean="0">
                        <a:latin typeface="Cambria Math" panose="02040503050406030204" pitchFamily="18" charset="0"/>
                      </a:rPr>
                      <m:t>⇒</m:t>
                    </m:r>
                  </m:oMath>
                </a14:m>
                <a:r>
                  <a:rPr lang="en-US" sz="2400" b="1" dirty="0">
                    <a:solidFill>
                      <a:schemeClr val="accent2">
                        <a:lumMod val="75000"/>
                      </a:schemeClr>
                    </a:solidFill>
                  </a:rPr>
                  <a:t> then </a:t>
                </a:r>
                <a14:m>
                  <m:oMath xmlns:m="http://schemas.openxmlformats.org/officeDocument/2006/math">
                    <m:acc>
                      <m:accPr>
                        <m:chr m:val="̂"/>
                        <m:ctrlPr>
                          <a:rPr lang="en-US" sz="2400" b="1" i="1" smtClean="0">
                            <a:solidFill>
                              <a:schemeClr val="accent2">
                                <a:lumMod val="75000"/>
                              </a:schemeClr>
                            </a:solidFill>
                            <a:latin typeface="Cambria Math" panose="02040503050406030204" pitchFamily="18" charset="0"/>
                          </a:rPr>
                        </m:ctrlPr>
                      </m:accPr>
                      <m:e>
                        <m:r>
                          <a:rPr lang="en-US" sz="2400" b="1" i="1" smtClean="0">
                            <a:solidFill>
                              <a:schemeClr val="accent2">
                                <a:lumMod val="75000"/>
                              </a:schemeClr>
                            </a:solidFill>
                            <a:latin typeface="Cambria Math" panose="02040503050406030204" pitchFamily="18" charset="0"/>
                          </a:rPr>
                          <m:t>𝑨𝑻𝑬</m:t>
                        </m:r>
                      </m:e>
                    </m:acc>
                    <m:r>
                      <a:rPr lang="en-US" sz="2400" b="1" i="1" dirty="0" smtClean="0">
                        <a:solidFill>
                          <a:schemeClr val="accent2">
                            <a:lumMod val="75000"/>
                          </a:schemeClr>
                        </a:solidFill>
                        <a:latin typeface="Cambria Math" panose="02040503050406030204" pitchFamily="18" charset="0"/>
                      </a:rPr>
                      <m:t>=</m:t>
                    </m:r>
                    <m:r>
                      <a:rPr lang="en-US" sz="2400" b="1" i="1" dirty="0" smtClean="0">
                        <a:solidFill>
                          <a:schemeClr val="accent2">
                            <a:lumMod val="75000"/>
                          </a:schemeClr>
                        </a:solidFill>
                        <a:latin typeface="Cambria Math" panose="02040503050406030204" pitchFamily="18" charset="0"/>
                      </a:rPr>
                      <m:t>𝑨𝑻𝑬</m:t>
                    </m:r>
                  </m:oMath>
                </a14:m>
                <a:endParaRPr lang="en-US" sz="2400" dirty="0">
                  <a:solidFill>
                    <a:schemeClr val="accent2">
                      <a:lumMod val="75000"/>
                    </a:schemeClr>
                  </a:solidFill>
                </a:endParaRPr>
              </a:p>
              <a:p>
                <a:pPr marL="0" indent="0">
                  <a:buNone/>
                </a:pPr>
                <a:endParaRPr lang="en-US" sz="2400" b="1" dirty="0"/>
              </a:p>
              <a:p>
                <a:pPr marL="0" indent="0">
                  <a:buNone/>
                </a:pPr>
                <a:r>
                  <a:rPr lang="en-US" sz="2400" dirty="0"/>
                  <a:t>  </a:t>
                </a:r>
              </a:p>
              <a:p>
                <a:pPr marL="0" indent="0">
                  <a:buNone/>
                </a:pPr>
                <a:endParaRPr lang="en-US" sz="2400" dirty="0">
                  <a:solidFill>
                    <a:srgbClr val="0070C0"/>
                  </a:solidFill>
                </a:endParaRP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66801" y="990600"/>
                <a:ext cx="9753599" cy="5638800"/>
              </a:xfrm>
              <a:blipFill>
                <a:blip r:embed="rId3"/>
                <a:stretch>
                  <a:fillRect l="-938" t="-1189"/>
                </a:stretch>
              </a:blipFill>
            </p:spPr>
            <p:txBody>
              <a:bodyPr/>
              <a:lstStyle/>
              <a:p>
                <a:r>
                  <a:rPr lang="en-US">
                    <a:noFill/>
                  </a:rPr>
                  <a:t> </a:t>
                </a:r>
              </a:p>
            </p:txBody>
          </p:sp>
        </mc:Fallback>
      </mc:AlternateContent>
    </p:spTree>
    <p:extLst>
      <p:ext uri="{BB962C8B-B14F-4D97-AF65-F5344CB8AC3E}">
        <p14:creationId xmlns:p14="http://schemas.microsoft.com/office/powerpoint/2010/main" val="17127079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A57F-2B55-0932-DC22-69639DD5E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2969F-6BBE-D13E-2044-06723048832E}"/>
              </a:ext>
            </a:extLst>
          </p:cNvPr>
          <p:cNvSpPr>
            <a:spLocks noGrp="1"/>
          </p:cNvSpPr>
          <p:nvPr>
            <p:ph type="title"/>
          </p:nvPr>
        </p:nvSpPr>
        <p:spPr>
          <a:xfrm>
            <a:off x="1066800" y="234677"/>
            <a:ext cx="8686799" cy="701040"/>
          </a:xfrm>
        </p:spPr>
        <p:txBody>
          <a:bodyPr>
            <a:normAutofit/>
          </a:bodyPr>
          <a:lstStyle/>
          <a:p>
            <a:r>
              <a:rPr lang="en-US" dirty="0"/>
              <a:t>Some Types of Natural Experiments</a:t>
            </a:r>
          </a:p>
        </p:txBody>
      </p:sp>
      <p:sp>
        <p:nvSpPr>
          <p:cNvPr id="3" name="Content Placeholder 2">
            <a:extLst>
              <a:ext uri="{FF2B5EF4-FFF2-40B4-BE49-F238E27FC236}">
                <a16:creationId xmlns:a16="http://schemas.microsoft.com/office/drawing/2014/main" id="{F698A3F8-1520-2FAD-2350-EC1407A8B0D8}"/>
              </a:ext>
            </a:extLst>
          </p:cNvPr>
          <p:cNvSpPr>
            <a:spLocks noGrp="1"/>
          </p:cNvSpPr>
          <p:nvPr>
            <p:ph idx="1"/>
          </p:nvPr>
        </p:nvSpPr>
        <p:spPr>
          <a:xfrm>
            <a:off x="1066801" y="990600"/>
            <a:ext cx="9753599" cy="5638800"/>
          </a:xfrm>
        </p:spPr>
        <p:txBody>
          <a:bodyPr>
            <a:noAutofit/>
          </a:bodyPr>
          <a:lstStyle/>
          <a:p>
            <a:pPr marL="0" indent="0">
              <a:buNone/>
            </a:pPr>
            <a:endParaRPr lang="en-US" sz="2400" b="1" dirty="0"/>
          </a:p>
          <a:p>
            <a:pPr marL="0" indent="0">
              <a:buNone/>
            </a:pPr>
            <a:r>
              <a:rPr lang="en-US" sz="2400" dirty="0"/>
              <a:t>  </a:t>
            </a:r>
          </a:p>
          <a:p>
            <a:pPr marL="0" indent="0">
              <a:buNone/>
            </a:pPr>
            <a:endParaRPr lang="en-US" sz="2400" dirty="0">
              <a:solidFill>
                <a:srgbClr val="0070C0"/>
              </a:solidFill>
            </a:endParaRP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pic>
        <p:nvPicPr>
          <p:cNvPr id="5" name="Picture 4">
            <a:extLst>
              <a:ext uri="{FF2B5EF4-FFF2-40B4-BE49-F238E27FC236}">
                <a16:creationId xmlns:a16="http://schemas.microsoft.com/office/drawing/2014/main" id="{F69E5A4E-E9DD-D5C8-D380-FF892E7CE981}"/>
              </a:ext>
            </a:extLst>
          </p:cNvPr>
          <p:cNvPicPr>
            <a:picLocks noChangeAspect="1"/>
          </p:cNvPicPr>
          <p:nvPr/>
        </p:nvPicPr>
        <p:blipFill>
          <a:blip r:embed="rId3"/>
          <a:stretch>
            <a:fillRect/>
          </a:stretch>
        </p:blipFill>
        <p:spPr>
          <a:xfrm>
            <a:off x="457200" y="986971"/>
            <a:ext cx="9526329" cy="5591955"/>
          </a:xfrm>
          <a:prstGeom prst="rect">
            <a:avLst/>
          </a:prstGeom>
        </p:spPr>
      </p:pic>
    </p:spTree>
    <p:extLst>
      <p:ext uri="{BB962C8B-B14F-4D97-AF65-F5344CB8AC3E}">
        <p14:creationId xmlns:p14="http://schemas.microsoft.com/office/powerpoint/2010/main" val="4347641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971" y="457200"/>
            <a:ext cx="9096829" cy="563562"/>
          </a:xfrm>
        </p:spPr>
        <p:txBody>
          <a:bodyPr>
            <a:noAutofit/>
          </a:bodyPr>
          <a:lstStyle/>
          <a:p>
            <a:r>
              <a:rPr lang="en-US" dirty="0"/>
              <a:t>Why DAGs </a:t>
            </a:r>
            <a:r>
              <a:rPr lang="en-US" i="1" dirty="0"/>
              <a:t>and </a:t>
            </a:r>
            <a:r>
              <a:rPr lang="en-US" dirty="0"/>
              <a:t>PO?</a:t>
            </a:r>
          </a:p>
        </p:txBody>
      </p:sp>
      <p:sp>
        <p:nvSpPr>
          <p:cNvPr id="3" name="Content Placeholder 2"/>
          <p:cNvSpPr>
            <a:spLocks noGrp="1"/>
          </p:cNvSpPr>
          <p:nvPr>
            <p:ph idx="1"/>
          </p:nvPr>
        </p:nvSpPr>
        <p:spPr>
          <a:xfrm>
            <a:off x="685800" y="1017490"/>
            <a:ext cx="10058400" cy="5635752"/>
          </a:xfrm>
        </p:spPr>
        <p:txBody>
          <a:bodyPr>
            <a:normAutofit/>
          </a:bodyPr>
          <a:lstStyle/>
          <a:p>
            <a:pPr marL="0" indent="0">
              <a:buNone/>
            </a:pPr>
            <a:r>
              <a:rPr lang="en-US" sz="2400" dirty="0"/>
              <a:t>DAGs are much more common in fields like epidemiology. PO frameworks are much more common in fields like economics. Why? </a:t>
            </a:r>
          </a:p>
          <a:p>
            <a:r>
              <a:rPr lang="en-US" sz="2400" dirty="0"/>
              <a:t>Some (Pearl) have argued that the two fields study similar problems in terms of number of variables, types of data, and nature of research questions. This is definitely truer if you look at health economists!</a:t>
            </a:r>
          </a:p>
          <a:p>
            <a:r>
              <a:rPr lang="en-US" sz="2400" dirty="0"/>
              <a:t>But the two fields have one huge difference: </a:t>
            </a:r>
            <a:r>
              <a:rPr lang="en-US" sz="2400" u="sng" dirty="0"/>
              <a:t>human behavior.</a:t>
            </a:r>
            <a:r>
              <a:rPr lang="en-US" sz="2400" dirty="0"/>
              <a:t> What does this mean for data structures? </a:t>
            </a:r>
          </a:p>
          <a:p>
            <a:pPr marL="0" indent="0">
              <a:buNone/>
            </a:pPr>
            <a:endParaRPr lang="en-US" sz="2400" u="sng"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1C1E-44A2-180D-246A-F41B45C16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1F212-5364-40D0-6C9D-1C82DC5147D2}"/>
              </a:ext>
            </a:extLst>
          </p:cNvPr>
          <p:cNvSpPr>
            <a:spLocks noGrp="1"/>
          </p:cNvSpPr>
          <p:nvPr>
            <p:ph type="title"/>
          </p:nvPr>
        </p:nvSpPr>
        <p:spPr>
          <a:xfrm>
            <a:off x="351971" y="457200"/>
            <a:ext cx="9096829" cy="563562"/>
          </a:xfrm>
        </p:spPr>
        <p:txBody>
          <a:bodyPr>
            <a:noAutofit/>
          </a:bodyPr>
          <a:lstStyle/>
          <a:p>
            <a:r>
              <a:rPr lang="en-US" dirty="0"/>
              <a:t>Why DAGs </a:t>
            </a:r>
            <a:r>
              <a:rPr lang="en-US" i="1" dirty="0"/>
              <a:t>and </a:t>
            </a:r>
            <a:r>
              <a:rPr lang="en-US" dirty="0"/>
              <a:t>PO?</a:t>
            </a:r>
          </a:p>
        </p:txBody>
      </p:sp>
      <p:sp>
        <p:nvSpPr>
          <p:cNvPr id="3" name="Content Placeholder 2">
            <a:extLst>
              <a:ext uri="{FF2B5EF4-FFF2-40B4-BE49-F238E27FC236}">
                <a16:creationId xmlns:a16="http://schemas.microsoft.com/office/drawing/2014/main" id="{181A9C05-4869-C4BC-7110-541CECB91E6D}"/>
              </a:ext>
            </a:extLst>
          </p:cNvPr>
          <p:cNvSpPr>
            <a:spLocks noGrp="1"/>
          </p:cNvSpPr>
          <p:nvPr>
            <p:ph idx="1"/>
          </p:nvPr>
        </p:nvSpPr>
        <p:spPr>
          <a:xfrm>
            <a:off x="685800" y="1017490"/>
            <a:ext cx="10058400" cy="5635752"/>
          </a:xfrm>
        </p:spPr>
        <p:txBody>
          <a:bodyPr>
            <a:normAutofit/>
          </a:bodyPr>
          <a:lstStyle/>
          <a:p>
            <a:pPr marL="0" indent="0">
              <a:buNone/>
            </a:pPr>
            <a:r>
              <a:rPr lang="en-US" sz="2400" dirty="0"/>
              <a:t>DAGs are much more common in fields like epidemiology. PO frameworks are much more common in fields like economics. Why? </a:t>
            </a:r>
          </a:p>
          <a:p>
            <a:r>
              <a:rPr lang="en-US" sz="2400" dirty="0"/>
              <a:t>Some (Pearl) have argued that the two fields study similar problems in terms of number of variables, types of data, and nature of research questions. This is definitely truer if you look at health economists!</a:t>
            </a:r>
          </a:p>
          <a:p>
            <a:r>
              <a:rPr lang="en-US" sz="2400" dirty="0"/>
              <a:t>But the two fields have one huge difference: </a:t>
            </a:r>
            <a:r>
              <a:rPr lang="en-US" sz="2400" u="sng" dirty="0"/>
              <a:t>human behavior.</a:t>
            </a:r>
            <a:r>
              <a:rPr lang="en-US" sz="2400" dirty="0"/>
              <a:t> What does this mean for data structures? </a:t>
            </a:r>
            <a:endParaRPr lang="en-US" sz="2400" u="sng" dirty="0"/>
          </a:p>
          <a:p>
            <a:r>
              <a:rPr lang="en-US" sz="2400" dirty="0"/>
              <a:t>DAGs might be useful for you if you are doing: prediction, multiple causal pathways affecting a single static outcome, or have a strong sense of how the DGP is structured.</a:t>
            </a:r>
          </a:p>
          <a:p>
            <a:r>
              <a:rPr lang="en-US" sz="2400" dirty="0"/>
              <a:t>POs are likely more useful if you care about policy manipulation (pre-/post-treatment differences), general equilibrium effects (simultaneity) or if you are worried about selection/endogeneity affecting your identification.</a:t>
            </a:r>
          </a:p>
        </p:txBody>
      </p:sp>
    </p:spTree>
    <p:extLst>
      <p:ext uri="{BB962C8B-B14F-4D97-AF65-F5344CB8AC3E}">
        <p14:creationId xmlns:p14="http://schemas.microsoft.com/office/powerpoint/2010/main" val="8797717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C8E5D-AA5F-8D48-6F42-AA5B94E8D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53AA1-9D9F-5BA0-5F00-A8F715BE7FC5}"/>
              </a:ext>
            </a:extLst>
          </p:cNvPr>
          <p:cNvSpPr>
            <a:spLocks noGrp="1"/>
          </p:cNvSpPr>
          <p:nvPr>
            <p:ph type="title"/>
          </p:nvPr>
        </p:nvSpPr>
        <p:spPr>
          <a:xfrm>
            <a:off x="351971" y="457200"/>
            <a:ext cx="9096829" cy="563562"/>
          </a:xfrm>
        </p:spPr>
        <p:txBody>
          <a:bodyPr>
            <a:noAutofit/>
          </a:bodyPr>
          <a:lstStyle/>
          <a:p>
            <a:r>
              <a:rPr lang="en-US" dirty="0"/>
              <a:t>A final example</a:t>
            </a:r>
          </a:p>
        </p:txBody>
      </p:sp>
      <p:sp>
        <p:nvSpPr>
          <p:cNvPr id="3" name="Content Placeholder 2">
            <a:extLst>
              <a:ext uri="{FF2B5EF4-FFF2-40B4-BE49-F238E27FC236}">
                <a16:creationId xmlns:a16="http://schemas.microsoft.com/office/drawing/2014/main" id="{A980215A-C1F0-E4FB-43FF-1C2DEF322A1D}"/>
              </a:ext>
            </a:extLst>
          </p:cNvPr>
          <p:cNvSpPr>
            <a:spLocks noGrp="1"/>
          </p:cNvSpPr>
          <p:nvPr>
            <p:ph idx="1"/>
          </p:nvPr>
        </p:nvSpPr>
        <p:spPr>
          <a:xfrm>
            <a:off x="533400" y="1017490"/>
            <a:ext cx="10210800" cy="5635752"/>
          </a:xfrm>
        </p:spPr>
        <p:txBody>
          <a:bodyPr>
            <a:normAutofit/>
          </a:bodyPr>
          <a:lstStyle/>
          <a:p>
            <a:pPr marL="0" indent="0">
              <a:buNone/>
            </a:pPr>
            <a:r>
              <a:rPr lang="en-US" sz="2400" dirty="0"/>
              <a:t>Consider a sort of prototypical question (we will come back to this one): how does education affect your earnings? </a:t>
            </a:r>
          </a:p>
        </p:txBody>
      </p:sp>
      <p:sp>
        <p:nvSpPr>
          <p:cNvPr id="4" name="Oval 3">
            <a:extLst>
              <a:ext uri="{FF2B5EF4-FFF2-40B4-BE49-F238E27FC236}">
                <a16:creationId xmlns:a16="http://schemas.microsoft.com/office/drawing/2014/main" id="{2AF40C7D-4AC0-E37E-08B2-4A02FABDCE60}"/>
              </a:ext>
            </a:extLst>
          </p:cNvPr>
          <p:cNvSpPr/>
          <p:nvPr/>
        </p:nvSpPr>
        <p:spPr>
          <a:xfrm>
            <a:off x="1447800" y="2362200"/>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EB140AB4-D3A6-7CFA-F720-13021B47D67C}"/>
              </a:ext>
            </a:extLst>
          </p:cNvPr>
          <p:cNvSpPr/>
          <p:nvPr/>
        </p:nvSpPr>
        <p:spPr>
          <a:xfrm>
            <a:off x="5181600" y="2290200"/>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 name="Straight Arrow Connector 6">
            <a:extLst>
              <a:ext uri="{FF2B5EF4-FFF2-40B4-BE49-F238E27FC236}">
                <a16:creationId xmlns:a16="http://schemas.microsoft.com/office/drawing/2014/main" id="{72011CEB-C6F6-2B39-8975-DAB2A91DDABF}"/>
              </a:ext>
            </a:extLst>
          </p:cNvPr>
          <p:cNvCxnSpPr>
            <a:stCxn id="4" idx="6"/>
          </p:cNvCxnSpPr>
          <p:nvPr/>
        </p:nvCxnSpPr>
        <p:spPr>
          <a:xfrm flipV="1">
            <a:off x="1591800" y="2362200"/>
            <a:ext cx="3513600" cy="7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451C13E-CC1B-7184-98F2-7FD253C0198B}"/>
              </a:ext>
            </a:extLst>
          </p:cNvPr>
          <p:cNvSpPr txBox="1"/>
          <p:nvPr/>
        </p:nvSpPr>
        <p:spPr>
          <a:xfrm>
            <a:off x="954446" y="2594006"/>
            <a:ext cx="1274708" cy="369332"/>
          </a:xfrm>
          <a:prstGeom prst="rect">
            <a:avLst/>
          </a:prstGeom>
          <a:noFill/>
        </p:spPr>
        <p:txBody>
          <a:bodyPr wrap="none" rtlCol="0">
            <a:spAutoFit/>
          </a:bodyPr>
          <a:lstStyle/>
          <a:p>
            <a:r>
              <a:rPr lang="en-US" dirty="0"/>
              <a:t>Education</a:t>
            </a:r>
            <a:endParaRPr lang="en-CA" dirty="0"/>
          </a:p>
        </p:txBody>
      </p:sp>
      <p:sp>
        <p:nvSpPr>
          <p:cNvPr id="9" name="TextBox 8">
            <a:extLst>
              <a:ext uri="{FF2B5EF4-FFF2-40B4-BE49-F238E27FC236}">
                <a16:creationId xmlns:a16="http://schemas.microsoft.com/office/drawing/2014/main" id="{563C0229-25B1-6FAF-21FC-0A971B1D2E79}"/>
              </a:ext>
            </a:extLst>
          </p:cNvPr>
          <p:cNvSpPr txBox="1"/>
          <p:nvPr/>
        </p:nvSpPr>
        <p:spPr>
          <a:xfrm>
            <a:off x="4785691" y="2506200"/>
            <a:ext cx="1167307" cy="369332"/>
          </a:xfrm>
          <a:prstGeom prst="rect">
            <a:avLst/>
          </a:prstGeom>
          <a:noFill/>
        </p:spPr>
        <p:txBody>
          <a:bodyPr wrap="none" rtlCol="0">
            <a:spAutoFit/>
          </a:bodyPr>
          <a:lstStyle/>
          <a:p>
            <a:r>
              <a:rPr lang="en-US" dirty="0"/>
              <a:t>Earnings</a:t>
            </a:r>
            <a:endParaRPr lang="en-CA" dirty="0"/>
          </a:p>
        </p:txBody>
      </p:sp>
    </p:spTree>
    <p:extLst>
      <p:ext uri="{BB962C8B-B14F-4D97-AF65-F5344CB8AC3E}">
        <p14:creationId xmlns:p14="http://schemas.microsoft.com/office/powerpoint/2010/main" val="16500592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73F2-F74C-2411-F471-4ED7606D8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FD2B5-6B24-2C30-7301-E4255A3714B4}"/>
              </a:ext>
            </a:extLst>
          </p:cNvPr>
          <p:cNvSpPr>
            <a:spLocks noGrp="1"/>
          </p:cNvSpPr>
          <p:nvPr>
            <p:ph type="title"/>
          </p:nvPr>
        </p:nvSpPr>
        <p:spPr>
          <a:xfrm>
            <a:off x="351971" y="457200"/>
            <a:ext cx="9096829" cy="563562"/>
          </a:xfrm>
        </p:spPr>
        <p:txBody>
          <a:bodyPr>
            <a:noAutofit/>
          </a:bodyPr>
          <a:lstStyle/>
          <a:p>
            <a:r>
              <a:rPr lang="en-US" dirty="0"/>
              <a:t>A final example</a:t>
            </a:r>
          </a:p>
        </p:txBody>
      </p:sp>
      <p:sp>
        <p:nvSpPr>
          <p:cNvPr id="3" name="Content Placeholder 2">
            <a:extLst>
              <a:ext uri="{FF2B5EF4-FFF2-40B4-BE49-F238E27FC236}">
                <a16:creationId xmlns:a16="http://schemas.microsoft.com/office/drawing/2014/main" id="{650849A9-1182-B3A3-E9B9-07E2F55FA481}"/>
              </a:ext>
            </a:extLst>
          </p:cNvPr>
          <p:cNvSpPr>
            <a:spLocks noGrp="1"/>
          </p:cNvSpPr>
          <p:nvPr>
            <p:ph idx="1"/>
          </p:nvPr>
        </p:nvSpPr>
        <p:spPr>
          <a:xfrm>
            <a:off x="533400" y="1017490"/>
            <a:ext cx="10210800" cy="5635752"/>
          </a:xfrm>
        </p:spPr>
        <p:txBody>
          <a:bodyPr>
            <a:normAutofit/>
          </a:bodyPr>
          <a:lstStyle/>
          <a:p>
            <a:pPr marL="0" indent="0">
              <a:buNone/>
            </a:pPr>
            <a:r>
              <a:rPr lang="en-US" sz="2400" dirty="0"/>
              <a:t>Consider a sort of prototypical question (we will come back to this one): how does education affect your earnings? </a:t>
            </a:r>
          </a:p>
        </p:txBody>
      </p:sp>
      <p:sp>
        <p:nvSpPr>
          <p:cNvPr id="4" name="Oval 3">
            <a:extLst>
              <a:ext uri="{FF2B5EF4-FFF2-40B4-BE49-F238E27FC236}">
                <a16:creationId xmlns:a16="http://schemas.microsoft.com/office/drawing/2014/main" id="{C2BA3B92-FBCC-B6E0-533A-174C35969A66}"/>
              </a:ext>
            </a:extLst>
          </p:cNvPr>
          <p:cNvSpPr/>
          <p:nvPr/>
        </p:nvSpPr>
        <p:spPr>
          <a:xfrm>
            <a:off x="1447800" y="2362200"/>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916A910E-8349-33F2-E124-AFA96674FB2D}"/>
              </a:ext>
            </a:extLst>
          </p:cNvPr>
          <p:cNvSpPr/>
          <p:nvPr/>
        </p:nvSpPr>
        <p:spPr>
          <a:xfrm>
            <a:off x="5181600" y="2290200"/>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 name="Straight Arrow Connector 6">
            <a:extLst>
              <a:ext uri="{FF2B5EF4-FFF2-40B4-BE49-F238E27FC236}">
                <a16:creationId xmlns:a16="http://schemas.microsoft.com/office/drawing/2014/main" id="{C9E89D4E-B80B-AB81-1691-3105A17461C2}"/>
              </a:ext>
            </a:extLst>
          </p:cNvPr>
          <p:cNvCxnSpPr>
            <a:stCxn id="4" idx="6"/>
          </p:cNvCxnSpPr>
          <p:nvPr/>
        </p:nvCxnSpPr>
        <p:spPr>
          <a:xfrm flipV="1">
            <a:off x="1591800" y="2362200"/>
            <a:ext cx="3513600" cy="7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19B1C16-BCCD-888C-C481-8D07CAC2FC73}"/>
              </a:ext>
            </a:extLst>
          </p:cNvPr>
          <p:cNvSpPr txBox="1"/>
          <p:nvPr/>
        </p:nvSpPr>
        <p:spPr>
          <a:xfrm>
            <a:off x="954446" y="2594006"/>
            <a:ext cx="1274708" cy="369332"/>
          </a:xfrm>
          <a:prstGeom prst="rect">
            <a:avLst/>
          </a:prstGeom>
          <a:noFill/>
        </p:spPr>
        <p:txBody>
          <a:bodyPr wrap="none" rtlCol="0">
            <a:spAutoFit/>
          </a:bodyPr>
          <a:lstStyle/>
          <a:p>
            <a:r>
              <a:rPr lang="en-US" dirty="0"/>
              <a:t>Education</a:t>
            </a:r>
            <a:endParaRPr lang="en-CA" dirty="0"/>
          </a:p>
        </p:txBody>
      </p:sp>
      <p:sp>
        <p:nvSpPr>
          <p:cNvPr id="9" name="TextBox 8">
            <a:extLst>
              <a:ext uri="{FF2B5EF4-FFF2-40B4-BE49-F238E27FC236}">
                <a16:creationId xmlns:a16="http://schemas.microsoft.com/office/drawing/2014/main" id="{81F1AB2A-4F0C-42C2-A2E0-B12A60A9E862}"/>
              </a:ext>
            </a:extLst>
          </p:cNvPr>
          <p:cNvSpPr txBox="1"/>
          <p:nvPr/>
        </p:nvSpPr>
        <p:spPr>
          <a:xfrm>
            <a:off x="4785691" y="2506200"/>
            <a:ext cx="1167307" cy="369332"/>
          </a:xfrm>
          <a:prstGeom prst="rect">
            <a:avLst/>
          </a:prstGeom>
          <a:noFill/>
        </p:spPr>
        <p:txBody>
          <a:bodyPr wrap="none" rtlCol="0">
            <a:spAutoFit/>
          </a:bodyPr>
          <a:lstStyle/>
          <a:p>
            <a:r>
              <a:rPr lang="en-US" dirty="0"/>
              <a:t>Earnings</a:t>
            </a:r>
            <a:endParaRPr lang="en-CA" dirty="0"/>
          </a:p>
        </p:txBody>
      </p:sp>
      <p:sp>
        <p:nvSpPr>
          <p:cNvPr id="6" name="Oval 5">
            <a:extLst>
              <a:ext uri="{FF2B5EF4-FFF2-40B4-BE49-F238E27FC236}">
                <a16:creationId xmlns:a16="http://schemas.microsoft.com/office/drawing/2014/main" id="{F5C306BE-E00E-4F94-F91B-9358FEE1FC9A}"/>
              </a:ext>
            </a:extLst>
          </p:cNvPr>
          <p:cNvSpPr/>
          <p:nvPr/>
        </p:nvSpPr>
        <p:spPr>
          <a:xfrm>
            <a:off x="3276600" y="3429000"/>
            <a:ext cx="216000" cy="21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Arrow Connector 10">
            <a:extLst>
              <a:ext uri="{FF2B5EF4-FFF2-40B4-BE49-F238E27FC236}">
                <a16:creationId xmlns:a16="http://schemas.microsoft.com/office/drawing/2014/main" id="{9AD82D77-9765-642A-D0E0-65D27BA4E8DD}"/>
              </a:ext>
            </a:extLst>
          </p:cNvPr>
          <p:cNvCxnSpPr>
            <a:stCxn id="6" idx="2"/>
            <a:endCxn id="8" idx="2"/>
          </p:cNvCxnSpPr>
          <p:nvPr/>
        </p:nvCxnSpPr>
        <p:spPr>
          <a:xfrm flipH="1" flipV="1">
            <a:off x="1591800" y="2963338"/>
            <a:ext cx="1684800" cy="57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EE72D11-9FEA-F20C-6958-5E625F49302F}"/>
              </a:ext>
            </a:extLst>
          </p:cNvPr>
          <p:cNvCxnSpPr>
            <a:stCxn id="6" idx="6"/>
            <a:endCxn id="9" idx="2"/>
          </p:cNvCxnSpPr>
          <p:nvPr/>
        </p:nvCxnSpPr>
        <p:spPr>
          <a:xfrm flipV="1">
            <a:off x="3492600" y="2875532"/>
            <a:ext cx="1876745" cy="66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76ADE0F-A761-1D36-2E57-187F61E43F5A}"/>
              </a:ext>
            </a:extLst>
          </p:cNvPr>
          <p:cNvSpPr txBox="1"/>
          <p:nvPr/>
        </p:nvSpPr>
        <p:spPr>
          <a:xfrm>
            <a:off x="3048000" y="3733800"/>
            <a:ext cx="909223" cy="369332"/>
          </a:xfrm>
          <a:prstGeom prst="rect">
            <a:avLst/>
          </a:prstGeom>
          <a:noFill/>
        </p:spPr>
        <p:txBody>
          <a:bodyPr wrap="none" rtlCol="0">
            <a:spAutoFit/>
          </a:bodyPr>
          <a:lstStyle/>
          <a:p>
            <a:r>
              <a:rPr lang="en-US" dirty="0"/>
              <a:t>Ability</a:t>
            </a:r>
            <a:endParaRPr lang="en-CA" dirty="0"/>
          </a:p>
        </p:txBody>
      </p:sp>
    </p:spTree>
    <p:extLst>
      <p:ext uri="{BB962C8B-B14F-4D97-AF65-F5344CB8AC3E}">
        <p14:creationId xmlns:p14="http://schemas.microsoft.com/office/powerpoint/2010/main" val="31309393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C3619-095A-74E4-B9B9-86A4B847B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BCB54-702E-727B-A2DB-3935C30A51CE}"/>
              </a:ext>
            </a:extLst>
          </p:cNvPr>
          <p:cNvSpPr>
            <a:spLocks noGrp="1"/>
          </p:cNvSpPr>
          <p:nvPr>
            <p:ph type="title"/>
          </p:nvPr>
        </p:nvSpPr>
        <p:spPr>
          <a:xfrm>
            <a:off x="351971" y="457200"/>
            <a:ext cx="9096829" cy="563562"/>
          </a:xfrm>
        </p:spPr>
        <p:txBody>
          <a:bodyPr>
            <a:noAutofit/>
          </a:bodyPr>
          <a:lstStyle/>
          <a:p>
            <a:r>
              <a:rPr lang="en-US" dirty="0"/>
              <a:t>A final example</a:t>
            </a:r>
          </a:p>
        </p:txBody>
      </p:sp>
      <p:sp>
        <p:nvSpPr>
          <p:cNvPr id="3" name="Content Placeholder 2">
            <a:extLst>
              <a:ext uri="{FF2B5EF4-FFF2-40B4-BE49-F238E27FC236}">
                <a16:creationId xmlns:a16="http://schemas.microsoft.com/office/drawing/2014/main" id="{3A0F9830-D581-C306-45EA-B709A9D57EED}"/>
              </a:ext>
            </a:extLst>
          </p:cNvPr>
          <p:cNvSpPr>
            <a:spLocks noGrp="1"/>
          </p:cNvSpPr>
          <p:nvPr>
            <p:ph idx="1"/>
          </p:nvPr>
        </p:nvSpPr>
        <p:spPr>
          <a:xfrm>
            <a:off x="533400" y="1017490"/>
            <a:ext cx="10210800" cy="5635752"/>
          </a:xfrm>
        </p:spPr>
        <p:txBody>
          <a:bodyPr>
            <a:normAutofit/>
          </a:bodyPr>
          <a:lstStyle/>
          <a:p>
            <a:pPr marL="0" indent="0">
              <a:buNone/>
            </a:pPr>
            <a:r>
              <a:rPr lang="en-US" sz="2400" dirty="0"/>
              <a:t>Consider a sort of prototypical question (we will come back to this one): how does education affect your earnings? </a:t>
            </a:r>
          </a:p>
        </p:txBody>
      </p:sp>
      <p:sp>
        <p:nvSpPr>
          <p:cNvPr id="4" name="Oval 3">
            <a:extLst>
              <a:ext uri="{FF2B5EF4-FFF2-40B4-BE49-F238E27FC236}">
                <a16:creationId xmlns:a16="http://schemas.microsoft.com/office/drawing/2014/main" id="{D6E0998C-366E-A54B-5B62-922FB0350D77}"/>
              </a:ext>
            </a:extLst>
          </p:cNvPr>
          <p:cNvSpPr/>
          <p:nvPr/>
        </p:nvSpPr>
        <p:spPr>
          <a:xfrm>
            <a:off x="5418600" y="2286000"/>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53265BAB-8856-676E-03E1-8FF6DEDB8B20}"/>
              </a:ext>
            </a:extLst>
          </p:cNvPr>
          <p:cNvSpPr/>
          <p:nvPr/>
        </p:nvSpPr>
        <p:spPr>
          <a:xfrm>
            <a:off x="9152400" y="2214000"/>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 name="Straight Arrow Connector 6">
            <a:extLst>
              <a:ext uri="{FF2B5EF4-FFF2-40B4-BE49-F238E27FC236}">
                <a16:creationId xmlns:a16="http://schemas.microsoft.com/office/drawing/2014/main" id="{F71314CF-B89E-6BD1-70ED-FCC24E09E452}"/>
              </a:ext>
            </a:extLst>
          </p:cNvPr>
          <p:cNvCxnSpPr>
            <a:stCxn id="4" idx="6"/>
          </p:cNvCxnSpPr>
          <p:nvPr/>
        </p:nvCxnSpPr>
        <p:spPr>
          <a:xfrm flipV="1">
            <a:off x="5562600" y="2286000"/>
            <a:ext cx="3513600" cy="7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AA24594-447A-9401-F824-3AC91F9DD0FA}"/>
              </a:ext>
            </a:extLst>
          </p:cNvPr>
          <p:cNvSpPr txBox="1"/>
          <p:nvPr/>
        </p:nvSpPr>
        <p:spPr>
          <a:xfrm>
            <a:off x="4925246" y="2517806"/>
            <a:ext cx="1274708" cy="369332"/>
          </a:xfrm>
          <a:prstGeom prst="rect">
            <a:avLst/>
          </a:prstGeom>
          <a:noFill/>
        </p:spPr>
        <p:txBody>
          <a:bodyPr wrap="none" rtlCol="0">
            <a:spAutoFit/>
          </a:bodyPr>
          <a:lstStyle/>
          <a:p>
            <a:r>
              <a:rPr lang="en-US" dirty="0"/>
              <a:t>Education</a:t>
            </a:r>
            <a:endParaRPr lang="en-CA" dirty="0"/>
          </a:p>
        </p:txBody>
      </p:sp>
      <p:sp>
        <p:nvSpPr>
          <p:cNvPr id="9" name="TextBox 8">
            <a:extLst>
              <a:ext uri="{FF2B5EF4-FFF2-40B4-BE49-F238E27FC236}">
                <a16:creationId xmlns:a16="http://schemas.microsoft.com/office/drawing/2014/main" id="{E8559B8B-D3BD-035E-39E8-8FB9A5AF4C69}"/>
              </a:ext>
            </a:extLst>
          </p:cNvPr>
          <p:cNvSpPr txBox="1"/>
          <p:nvPr/>
        </p:nvSpPr>
        <p:spPr>
          <a:xfrm>
            <a:off x="8756491" y="2430000"/>
            <a:ext cx="1167307" cy="369332"/>
          </a:xfrm>
          <a:prstGeom prst="rect">
            <a:avLst/>
          </a:prstGeom>
          <a:noFill/>
        </p:spPr>
        <p:txBody>
          <a:bodyPr wrap="none" rtlCol="0">
            <a:spAutoFit/>
          </a:bodyPr>
          <a:lstStyle/>
          <a:p>
            <a:r>
              <a:rPr lang="en-US" dirty="0"/>
              <a:t>Earnings</a:t>
            </a:r>
            <a:endParaRPr lang="en-CA" dirty="0"/>
          </a:p>
        </p:txBody>
      </p:sp>
      <p:sp>
        <p:nvSpPr>
          <p:cNvPr id="6" name="Oval 5">
            <a:extLst>
              <a:ext uri="{FF2B5EF4-FFF2-40B4-BE49-F238E27FC236}">
                <a16:creationId xmlns:a16="http://schemas.microsoft.com/office/drawing/2014/main" id="{B23285D2-FBA5-4318-CE93-F7D601273F99}"/>
              </a:ext>
            </a:extLst>
          </p:cNvPr>
          <p:cNvSpPr/>
          <p:nvPr/>
        </p:nvSpPr>
        <p:spPr>
          <a:xfrm>
            <a:off x="7247400" y="3352800"/>
            <a:ext cx="216000" cy="21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Arrow Connector 10">
            <a:extLst>
              <a:ext uri="{FF2B5EF4-FFF2-40B4-BE49-F238E27FC236}">
                <a16:creationId xmlns:a16="http://schemas.microsoft.com/office/drawing/2014/main" id="{5E093C02-8BF7-9D75-A3DD-13760972622B}"/>
              </a:ext>
            </a:extLst>
          </p:cNvPr>
          <p:cNvCxnSpPr>
            <a:stCxn id="6" idx="2"/>
            <a:endCxn id="8" idx="2"/>
          </p:cNvCxnSpPr>
          <p:nvPr/>
        </p:nvCxnSpPr>
        <p:spPr>
          <a:xfrm flipH="1" flipV="1">
            <a:off x="5562600" y="2887138"/>
            <a:ext cx="1684800" cy="57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53BED47-0B6A-F867-3CBA-B7E3C06D2087}"/>
              </a:ext>
            </a:extLst>
          </p:cNvPr>
          <p:cNvCxnSpPr>
            <a:stCxn id="6" idx="6"/>
            <a:endCxn id="9" idx="2"/>
          </p:cNvCxnSpPr>
          <p:nvPr/>
        </p:nvCxnSpPr>
        <p:spPr>
          <a:xfrm flipV="1">
            <a:off x="7463400" y="2799332"/>
            <a:ext cx="1876745" cy="66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BB6FBC4-0DA1-E810-D59C-EE752287F4C5}"/>
              </a:ext>
            </a:extLst>
          </p:cNvPr>
          <p:cNvSpPr txBox="1"/>
          <p:nvPr/>
        </p:nvSpPr>
        <p:spPr>
          <a:xfrm>
            <a:off x="7018800" y="3657600"/>
            <a:ext cx="909223" cy="369332"/>
          </a:xfrm>
          <a:prstGeom prst="rect">
            <a:avLst/>
          </a:prstGeom>
          <a:noFill/>
        </p:spPr>
        <p:txBody>
          <a:bodyPr wrap="none" rtlCol="0">
            <a:spAutoFit/>
          </a:bodyPr>
          <a:lstStyle/>
          <a:p>
            <a:r>
              <a:rPr lang="en-US" dirty="0"/>
              <a:t>Ability</a:t>
            </a:r>
            <a:endParaRPr lang="en-CA" dirty="0"/>
          </a:p>
        </p:txBody>
      </p:sp>
      <p:cxnSp>
        <p:nvCxnSpPr>
          <p:cNvPr id="10" name="Straight Arrow Connector 9">
            <a:extLst>
              <a:ext uri="{FF2B5EF4-FFF2-40B4-BE49-F238E27FC236}">
                <a16:creationId xmlns:a16="http://schemas.microsoft.com/office/drawing/2014/main" id="{B2828B0C-28A6-7657-8694-DFB1A03BE3AC}"/>
              </a:ext>
            </a:extLst>
          </p:cNvPr>
          <p:cNvCxnSpPr/>
          <p:nvPr/>
        </p:nvCxnSpPr>
        <p:spPr>
          <a:xfrm flipV="1">
            <a:off x="1678710" y="2365903"/>
            <a:ext cx="3513600" cy="7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634346A-6C5A-1897-5831-7C6527B53F8E}"/>
              </a:ext>
            </a:extLst>
          </p:cNvPr>
          <p:cNvSpPr txBox="1"/>
          <p:nvPr/>
        </p:nvSpPr>
        <p:spPr>
          <a:xfrm>
            <a:off x="137681" y="2060668"/>
            <a:ext cx="1936749" cy="369332"/>
          </a:xfrm>
          <a:prstGeom prst="rect">
            <a:avLst/>
          </a:prstGeom>
          <a:noFill/>
        </p:spPr>
        <p:txBody>
          <a:bodyPr wrap="none" rtlCol="0">
            <a:spAutoFit/>
          </a:bodyPr>
          <a:lstStyle/>
          <a:p>
            <a:r>
              <a:rPr lang="en-US" dirty="0"/>
              <a:t>Quarter of Birth</a:t>
            </a:r>
            <a:endParaRPr lang="en-CA" dirty="0"/>
          </a:p>
        </p:txBody>
      </p:sp>
      <p:sp>
        <p:nvSpPr>
          <p:cNvPr id="15" name="Oval 14">
            <a:extLst>
              <a:ext uri="{FF2B5EF4-FFF2-40B4-BE49-F238E27FC236}">
                <a16:creationId xmlns:a16="http://schemas.microsoft.com/office/drawing/2014/main" id="{02B8D349-CAD2-5BCA-A159-BC98D0DE7A53}"/>
              </a:ext>
            </a:extLst>
          </p:cNvPr>
          <p:cNvSpPr/>
          <p:nvPr/>
        </p:nvSpPr>
        <p:spPr>
          <a:xfrm>
            <a:off x="1371996" y="2382328"/>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Oval 15">
            <a:extLst>
              <a:ext uri="{FF2B5EF4-FFF2-40B4-BE49-F238E27FC236}">
                <a16:creationId xmlns:a16="http://schemas.microsoft.com/office/drawing/2014/main" id="{D8A12CBF-FD60-BB58-4649-3F5B9E2D7906}"/>
              </a:ext>
            </a:extLst>
          </p:cNvPr>
          <p:cNvSpPr/>
          <p:nvPr/>
        </p:nvSpPr>
        <p:spPr>
          <a:xfrm>
            <a:off x="5571000" y="4583668"/>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56AEEBCB-35F1-6CE8-CEC5-F0989CCCD726}"/>
              </a:ext>
            </a:extLst>
          </p:cNvPr>
          <p:cNvSpPr/>
          <p:nvPr/>
        </p:nvSpPr>
        <p:spPr>
          <a:xfrm>
            <a:off x="9304800" y="4511668"/>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Arrow Connector 17">
            <a:extLst>
              <a:ext uri="{FF2B5EF4-FFF2-40B4-BE49-F238E27FC236}">
                <a16:creationId xmlns:a16="http://schemas.microsoft.com/office/drawing/2014/main" id="{981E791A-2AE4-8EE4-E32C-22986856A799}"/>
              </a:ext>
            </a:extLst>
          </p:cNvPr>
          <p:cNvCxnSpPr>
            <a:stCxn id="16" idx="6"/>
          </p:cNvCxnSpPr>
          <p:nvPr/>
        </p:nvCxnSpPr>
        <p:spPr>
          <a:xfrm flipV="1">
            <a:off x="5715000" y="4583668"/>
            <a:ext cx="3513600" cy="7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B066491-AE9D-3E80-4731-15450D83E995}"/>
              </a:ext>
            </a:extLst>
          </p:cNvPr>
          <p:cNvSpPr txBox="1"/>
          <p:nvPr/>
        </p:nvSpPr>
        <p:spPr>
          <a:xfrm>
            <a:off x="5077646" y="4815474"/>
            <a:ext cx="1274708" cy="369332"/>
          </a:xfrm>
          <a:prstGeom prst="rect">
            <a:avLst/>
          </a:prstGeom>
          <a:noFill/>
        </p:spPr>
        <p:txBody>
          <a:bodyPr wrap="none" rtlCol="0">
            <a:spAutoFit/>
          </a:bodyPr>
          <a:lstStyle/>
          <a:p>
            <a:r>
              <a:rPr lang="en-US" dirty="0"/>
              <a:t>Education</a:t>
            </a:r>
            <a:endParaRPr lang="en-CA" dirty="0"/>
          </a:p>
        </p:txBody>
      </p:sp>
      <p:sp>
        <p:nvSpPr>
          <p:cNvPr id="20" name="TextBox 19">
            <a:extLst>
              <a:ext uri="{FF2B5EF4-FFF2-40B4-BE49-F238E27FC236}">
                <a16:creationId xmlns:a16="http://schemas.microsoft.com/office/drawing/2014/main" id="{3E294164-7580-5BF7-AD55-5D97574B3D83}"/>
              </a:ext>
            </a:extLst>
          </p:cNvPr>
          <p:cNvSpPr txBox="1"/>
          <p:nvPr/>
        </p:nvSpPr>
        <p:spPr>
          <a:xfrm>
            <a:off x="8908891" y="4727668"/>
            <a:ext cx="1167307" cy="369332"/>
          </a:xfrm>
          <a:prstGeom prst="rect">
            <a:avLst/>
          </a:prstGeom>
          <a:noFill/>
        </p:spPr>
        <p:txBody>
          <a:bodyPr wrap="none" rtlCol="0">
            <a:spAutoFit/>
          </a:bodyPr>
          <a:lstStyle/>
          <a:p>
            <a:r>
              <a:rPr lang="en-US" dirty="0"/>
              <a:t>Earnings</a:t>
            </a:r>
            <a:endParaRPr lang="en-CA" dirty="0"/>
          </a:p>
        </p:txBody>
      </p:sp>
      <p:sp>
        <p:nvSpPr>
          <p:cNvPr id="21" name="Oval 20">
            <a:extLst>
              <a:ext uri="{FF2B5EF4-FFF2-40B4-BE49-F238E27FC236}">
                <a16:creationId xmlns:a16="http://schemas.microsoft.com/office/drawing/2014/main" id="{6684A492-AEFB-208C-3415-98004999901F}"/>
              </a:ext>
            </a:extLst>
          </p:cNvPr>
          <p:cNvSpPr/>
          <p:nvPr/>
        </p:nvSpPr>
        <p:spPr>
          <a:xfrm>
            <a:off x="7399800" y="5650468"/>
            <a:ext cx="216000" cy="21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2" name="Straight Arrow Connector 21">
            <a:extLst>
              <a:ext uri="{FF2B5EF4-FFF2-40B4-BE49-F238E27FC236}">
                <a16:creationId xmlns:a16="http://schemas.microsoft.com/office/drawing/2014/main" id="{AED2D55B-0BAD-ED8C-05B7-695E35914EA9}"/>
              </a:ext>
            </a:extLst>
          </p:cNvPr>
          <p:cNvCxnSpPr>
            <a:stCxn id="21" idx="2"/>
            <a:endCxn id="19" idx="2"/>
          </p:cNvCxnSpPr>
          <p:nvPr/>
        </p:nvCxnSpPr>
        <p:spPr>
          <a:xfrm flipH="1" flipV="1">
            <a:off x="5715000" y="5184806"/>
            <a:ext cx="1684800" cy="57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1BF0B2B-1035-7E5C-ED4B-029EC7456A36}"/>
              </a:ext>
            </a:extLst>
          </p:cNvPr>
          <p:cNvCxnSpPr>
            <a:stCxn id="21" idx="6"/>
            <a:endCxn id="20" idx="2"/>
          </p:cNvCxnSpPr>
          <p:nvPr/>
        </p:nvCxnSpPr>
        <p:spPr>
          <a:xfrm flipV="1">
            <a:off x="7615800" y="5097000"/>
            <a:ext cx="1876745" cy="66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29DAF0-46EA-30B4-FFE7-F88197FD3538}"/>
              </a:ext>
            </a:extLst>
          </p:cNvPr>
          <p:cNvSpPr txBox="1"/>
          <p:nvPr/>
        </p:nvSpPr>
        <p:spPr>
          <a:xfrm>
            <a:off x="7171200" y="5955268"/>
            <a:ext cx="909223" cy="369332"/>
          </a:xfrm>
          <a:prstGeom prst="rect">
            <a:avLst/>
          </a:prstGeom>
          <a:noFill/>
        </p:spPr>
        <p:txBody>
          <a:bodyPr wrap="none" rtlCol="0">
            <a:spAutoFit/>
          </a:bodyPr>
          <a:lstStyle/>
          <a:p>
            <a:r>
              <a:rPr lang="en-US" dirty="0"/>
              <a:t>Ability</a:t>
            </a:r>
            <a:endParaRPr lang="en-CA" dirty="0"/>
          </a:p>
        </p:txBody>
      </p:sp>
      <p:cxnSp>
        <p:nvCxnSpPr>
          <p:cNvPr id="25" name="Straight Arrow Connector 24">
            <a:extLst>
              <a:ext uri="{FF2B5EF4-FFF2-40B4-BE49-F238E27FC236}">
                <a16:creationId xmlns:a16="http://schemas.microsoft.com/office/drawing/2014/main" id="{8C6A42BD-2FF1-C19F-B31F-A06962D69778}"/>
              </a:ext>
            </a:extLst>
          </p:cNvPr>
          <p:cNvCxnSpPr/>
          <p:nvPr/>
        </p:nvCxnSpPr>
        <p:spPr>
          <a:xfrm flipV="1">
            <a:off x="1831110" y="4663571"/>
            <a:ext cx="3513600" cy="7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91E9490-08DB-758E-ACC4-BFE92641DB24}"/>
              </a:ext>
            </a:extLst>
          </p:cNvPr>
          <p:cNvSpPr txBox="1"/>
          <p:nvPr/>
        </p:nvSpPr>
        <p:spPr>
          <a:xfrm>
            <a:off x="290081" y="4358336"/>
            <a:ext cx="2234907" cy="369332"/>
          </a:xfrm>
          <a:prstGeom prst="rect">
            <a:avLst/>
          </a:prstGeom>
          <a:noFill/>
        </p:spPr>
        <p:txBody>
          <a:bodyPr wrap="none" rtlCol="0">
            <a:spAutoFit/>
          </a:bodyPr>
          <a:lstStyle/>
          <a:p>
            <a:r>
              <a:rPr lang="en-US" dirty="0"/>
              <a:t>Distance to College</a:t>
            </a:r>
            <a:endParaRPr lang="en-CA" dirty="0"/>
          </a:p>
        </p:txBody>
      </p:sp>
      <p:sp>
        <p:nvSpPr>
          <p:cNvPr id="27" name="Oval 26">
            <a:extLst>
              <a:ext uri="{FF2B5EF4-FFF2-40B4-BE49-F238E27FC236}">
                <a16:creationId xmlns:a16="http://schemas.microsoft.com/office/drawing/2014/main" id="{E2191535-3A21-D5DA-2816-6B742CC55DCE}"/>
              </a:ext>
            </a:extLst>
          </p:cNvPr>
          <p:cNvSpPr/>
          <p:nvPr/>
        </p:nvSpPr>
        <p:spPr>
          <a:xfrm>
            <a:off x="1524396" y="4679996"/>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764510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277100" cy="701040"/>
          </a:xfrm>
        </p:spPr>
        <p:txBody>
          <a:bodyPr>
            <a:normAutofit/>
          </a:bodyPr>
          <a:lstStyle/>
          <a:p>
            <a:r>
              <a:rPr lang="en-US" dirty="0"/>
              <a:t>Model Testing</a:t>
            </a:r>
          </a:p>
        </p:txBody>
      </p:sp>
      <p:sp>
        <p:nvSpPr>
          <p:cNvPr id="3" name="Content Placeholder 2"/>
          <p:cNvSpPr>
            <a:spLocks noGrp="1"/>
          </p:cNvSpPr>
          <p:nvPr>
            <p:ph idx="1"/>
          </p:nvPr>
        </p:nvSpPr>
        <p:spPr>
          <a:xfrm>
            <a:off x="533401" y="1066800"/>
            <a:ext cx="10439400" cy="5407152"/>
          </a:xfrm>
        </p:spPr>
        <p:txBody>
          <a:bodyPr>
            <a:noAutofit/>
          </a:bodyPr>
          <a:lstStyle/>
          <a:p>
            <a:r>
              <a:rPr lang="en-US" sz="2400" dirty="0"/>
              <a:t>Model testing is </a:t>
            </a:r>
            <a:r>
              <a:rPr lang="en-US" sz="2400" i="1" dirty="0"/>
              <a:t>not </a:t>
            </a:r>
            <a:r>
              <a:rPr lang="en-US" sz="2400" dirty="0"/>
              <a:t>looking for evidence for your preferred model</a:t>
            </a:r>
          </a:p>
          <a:p>
            <a:r>
              <a:rPr lang="en-US" sz="2400" dirty="0"/>
              <a:t>It is easy to find evidence in support of your model</a:t>
            </a:r>
          </a:p>
          <a:p>
            <a:pPr lvl="1"/>
            <a:r>
              <a:rPr lang="en-US" sz="2400" dirty="0"/>
              <a:t>Especially when you developed the model after looking at the data </a:t>
            </a:r>
          </a:p>
          <a:p>
            <a:r>
              <a:rPr lang="en-US" sz="2400" dirty="0"/>
              <a:t>You should report tests that </a:t>
            </a:r>
            <a:r>
              <a:rPr lang="en-US" sz="2400" b="1" u="sng" dirty="0">
                <a:solidFill>
                  <a:schemeClr val="accent2">
                    <a:lumMod val="75000"/>
                  </a:schemeClr>
                </a:solidFill>
              </a:rPr>
              <a:t>try to prove that your model is wrong</a:t>
            </a:r>
            <a:r>
              <a:rPr lang="en-US" sz="2400" b="1" dirty="0"/>
              <a:t>.  </a:t>
            </a:r>
            <a:r>
              <a:rPr lang="en-US" sz="2400" dirty="0"/>
              <a:t> </a:t>
            </a:r>
          </a:p>
          <a:p>
            <a:r>
              <a:rPr lang="en-US" sz="2400" dirty="0">
                <a:hlinkClick r:id="rId3"/>
              </a:rPr>
              <a:t>https://projects.fivethirtyeight.com/p-hacking/</a:t>
            </a:r>
            <a:r>
              <a:rPr lang="en-US" sz="2400" dirty="0"/>
              <a:t>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6C683-5DA8-0C7F-17CA-571E62873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532E5-19B3-DD2B-9D92-3BF3CA6D4AF3}"/>
              </a:ext>
            </a:extLst>
          </p:cNvPr>
          <p:cNvSpPr>
            <a:spLocks noGrp="1"/>
          </p:cNvSpPr>
          <p:nvPr>
            <p:ph type="title"/>
          </p:nvPr>
        </p:nvSpPr>
        <p:spPr>
          <a:xfrm>
            <a:off x="351971" y="457200"/>
            <a:ext cx="9096829" cy="563562"/>
          </a:xfrm>
        </p:spPr>
        <p:txBody>
          <a:bodyPr>
            <a:noAutofit/>
          </a:bodyPr>
          <a:lstStyle/>
          <a:p>
            <a:r>
              <a:rPr lang="en-US" dirty="0"/>
              <a:t>Concluding thoughts</a:t>
            </a:r>
          </a:p>
        </p:txBody>
      </p:sp>
      <p:sp>
        <p:nvSpPr>
          <p:cNvPr id="3" name="Content Placeholder 2">
            <a:extLst>
              <a:ext uri="{FF2B5EF4-FFF2-40B4-BE49-F238E27FC236}">
                <a16:creationId xmlns:a16="http://schemas.microsoft.com/office/drawing/2014/main" id="{906A2F31-2DE8-A95F-7D7F-AD5EEA4838AE}"/>
              </a:ext>
            </a:extLst>
          </p:cNvPr>
          <p:cNvSpPr>
            <a:spLocks noGrp="1"/>
          </p:cNvSpPr>
          <p:nvPr>
            <p:ph idx="1"/>
          </p:nvPr>
        </p:nvSpPr>
        <p:spPr>
          <a:xfrm>
            <a:off x="228600" y="1017490"/>
            <a:ext cx="10515600" cy="5635752"/>
          </a:xfrm>
        </p:spPr>
        <p:txBody>
          <a:bodyPr>
            <a:normAutofit/>
          </a:bodyPr>
          <a:lstStyle/>
          <a:p>
            <a:r>
              <a:rPr lang="en-US" sz="2400" dirty="0"/>
              <a:t>Econometrics is powerful, but must be applied </a:t>
            </a:r>
            <a:r>
              <a:rPr lang="en-US" sz="2400" u="sng" dirty="0"/>
              <a:t>carefully</a:t>
            </a:r>
          </a:p>
          <a:p>
            <a:r>
              <a:rPr lang="en-US" sz="2400" b="1" dirty="0">
                <a:solidFill>
                  <a:srgbClr val="0070C0"/>
                </a:solidFill>
              </a:rPr>
              <a:t>There are no shortcuts to analyzing health data.  </a:t>
            </a:r>
          </a:p>
          <a:p>
            <a:r>
              <a:rPr lang="en-US" sz="2400" dirty="0"/>
              <a:t>We must:</a:t>
            </a:r>
          </a:p>
          <a:p>
            <a:pPr lvl="1"/>
            <a:r>
              <a:rPr lang="en-US" sz="2400" dirty="0"/>
              <a:t>Consider all reasonable DGPs</a:t>
            </a:r>
          </a:p>
          <a:p>
            <a:pPr lvl="1"/>
            <a:r>
              <a:rPr lang="en-US" sz="2400" dirty="0"/>
              <a:t>Formulate as many models as we can</a:t>
            </a:r>
          </a:p>
          <a:p>
            <a:pPr lvl="1"/>
            <a:r>
              <a:rPr lang="en-US" sz="2400" dirty="0"/>
              <a:t>Make sure that we understand the implications of the structure </a:t>
            </a:r>
          </a:p>
          <a:p>
            <a:pPr lvl="1"/>
            <a:r>
              <a:rPr lang="en-US" sz="2400" dirty="0"/>
              <a:t>Test the model against the data</a:t>
            </a:r>
          </a:p>
          <a:p>
            <a:pPr lvl="1"/>
            <a:r>
              <a:rPr lang="en-US" sz="2400" dirty="0"/>
              <a:t>Hunt for flaws in it.  </a:t>
            </a:r>
          </a:p>
          <a:p>
            <a:r>
              <a:rPr lang="en-US" sz="2400" dirty="0"/>
              <a:t>Only when we have done </a:t>
            </a:r>
            <a:r>
              <a:rPr lang="en-US" sz="2400" b="1" dirty="0"/>
              <a:t>all of that </a:t>
            </a:r>
            <a:r>
              <a:rPr lang="en-US" sz="2400" dirty="0"/>
              <a:t>can we gain confidence in our findings</a:t>
            </a:r>
          </a:p>
        </p:txBody>
      </p:sp>
    </p:spTree>
    <p:extLst>
      <p:ext uri="{BB962C8B-B14F-4D97-AF65-F5344CB8AC3E}">
        <p14:creationId xmlns:p14="http://schemas.microsoft.com/office/powerpoint/2010/main" val="4955586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890" y="457200"/>
            <a:ext cx="9030910" cy="563562"/>
          </a:xfrm>
        </p:spPr>
        <p:txBody>
          <a:bodyPr>
            <a:noAutofit/>
          </a:bodyPr>
          <a:lstStyle/>
          <a:p>
            <a:r>
              <a:rPr lang="en-US" dirty="0"/>
              <a:t>Concluding thoughts</a:t>
            </a:r>
          </a:p>
        </p:txBody>
      </p:sp>
      <p:sp>
        <p:nvSpPr>
          <p:cNvPr id="3" name="Content Placeholder 2"/>
          <p:cNvSpPr>
            <a:spLocks noGrp="1"/>
          </p:cNvSpPr>
          <p:nvPr>
            <p:ph idx="1"/>
          </p:nvPr>
        </p:nvSpPr>
        <p:spPr>
          <a:xfrm>
            <a:off x="304800" y="1017490"/>
            <a:ext cx="10439400" cy="5635752"/>
          </a:xfrm>
        </p:spPr>
        <p:txBody>
          <a:bodyPr>
            <a:normAutofit/>
          </a:bodyPr>
          <a:lstStyle/>
          <a:p>
            <a:r>
              <a:rPr lang="en-US" sz="2400" dirty="0"/>
              <a:t>Econometrics is powerful, but must be applied </a:t>
            </a:r>
            <a:r>
              <a:rPr lang="en-US" sz="2400" u="sng" dirty="0"/>
              <a:t>carefully</a:t>
            </a:r>
          </a:p>
          <a:p>
            <a:r>
              <a:rPr lang="en-US" sz="2400" b="1" dirty="0">
                <a:solidFill>
                  <a:srgbClr val="0070C0"/>
                </a:solidFill>
              </a:rPr>
              <a:t>There are no shortcuts to analyzing health data.  </a:t>
            </a:r>
          </a:p>
          <a:p>
            <a:r>
              <a:rPr lang="en-US" sz="2400" dirty="0"/>
              <a:t>We must:</a:t>
            </a:r>
          </a:p>
          <a:p>
            <a:pPr lvl="1"/>
            <a:r>
              <a:rPr lang="en-US" sz="2400" dirty="0"/>
              <a:t>Consider all reasonable DGPs</a:t>
            </a:r>
          </a:p>
          <a:p>
            <a:pPr lvl="1"/>
            <a:r>
              <a:rPr lang="en-US" sz="2400" dirty="0"/>
              <a:t>Formulate as many models as we can</a:t>
            </a:r>
          </a:p>
          <a:p>
            <a:pPr lvl="1"/>
            <a:r>
              <a:rPr lang="en-US" sz="2400" dirty="0"/>
              <a:t>Make sure that we understand the implications of the structure </a:t>
            </a:r>
          </a:p>
          <a:p>
            <a:pPr lvl="1"/>
            <a:r>
              <a:rPr lang="en-US" sz="2400" dirty="0"/>
              <a:t>Test the model against the data</a:t>
            </a:r>
          </a:p>
          <a:p>
            <a:pPr lvl="1"/>
            <a:r>
              <a:rPr lang="en-US" sz="2400" dirty="0"/>
              <a:t>Hunt for flaws in it.  </a:t>
            </a:r>
          </a:p>
          <a:p>
            <a:r>
              <a:rPr lang="en-US" sz="2400" dirty="0"/>
              <a:t>Only when we have done </a:t>
            </a:r>
            <a:r>
              <a:rPr lang="en-US" sz="2400" b="1" dirty="0"/>
              <a:t>all of that </a:t>
            </a:r>
            <a:r>
              <a:rPr lang="en-US" sz="2400" dirty="0"/>
              <a:t>can we gain confidence in our findings</a:t>
            </a:r>
          </a:p>
          <a:p>
            <a:pPr marL="0" indent="0">
              <a:buNone/>
            </a:pPr>
            <a:r>
              <a:rPr lang="en-US" sz="2800" dirty="0"/>
              <a:t>Next time: </a:t>
            </a:r>
            <a:r>
              <a:rPr lang="en-US" sz="2800" b="1" dirty="0">
                <a:solidFill>
                  <a:srgbClr val="0070C0"/>
                </a:solidFill>
              </a:rPr>
              <a:t>intro to regression and associations</a:t>
            </a:r>
            <a:endParaRPr lang="en-US" sz="2400" dirty="0">
              <a:solidFill>
                <a:srgbClr val="0070C0"/>
              </a:solidFill>
            </a:endParaRPr>
          </a:p>
        </p:txBody>
      </p:sp>
    </p:spTree>
    <p:extLst>
      <p:ext uri="{BB962C8B-B14F-4D97-AF65-F5344CB8AC3E}">
        <p14:creationId xmlns:p14="http://schemas.microsoft.com/office/powerpoint/2010/main" val="172673349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1816</TotalTime>
  <Words>10092</Words>
  <Application>Microsoft Office PowerPoint</Application>
  <PresentationFormat>Widescreen</PresentationFormat>
  <Paragraphs>1308</Paragraphs>
  <Slides>89</Slides>
  <Notes>89</Notes>
  <HiddenSlides>6</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89</vt:i4>
      </vt:variant>
    </vt:vector>
  </HeadingPairs>
  <TitlesOfParts>
    <vt:vector size="101" baseType="lpstr">
      <vt:lpstr>Aptos</vt:lpstr>
      <vt:lpstr>Arial</vt:lpstr>
      <vt:lpstr>Calibri</vt:lpstr>
      <vt:lpstr>Calibri Light</vt:lpstr>
      <vt:lpstr>Cambria Math</vt:lpstr>
      <vt:lpstr>Century Schoolbook</vt:lpstr>
      <vt:lpstr>Symbol</vt:lpstr>
      <vt:lpstr>Times New Roman</vt:lpstr>
      <vt:lpstr>Wingdings</vt:lpstr>
      <vt:lpstr>Wingdings 2</vt:lpstr>
      <vt:lpstr>View</vt:lpstr>
      <vt:lpstr>Celestial</vt:lpstr>
      <vt:lpstr>Quantitative Methods in HSR I </vt:lpstr>
      <vt:lpstr>Introductions</vt:lpstr>
      <vt:lpstr>Introductions: Backgrounds</vt:lpstr>
      <vt:lpstr>Introductions: Goals from Course</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Quantitative Frameworks</vt:lpstr>
      <vt:lpstr>What are we aiming to do?</vt:lpstr>
      <vt:lpstr>What are we aiming to do?</vt:lpstr>
      <vt:lpstr>3 Types of Quantitative questions</vt:lpstr>
      <vt:lpstr>3 Types of Quantitative questions</vt:lpstr>
      <vt:lpstr>Descriptive Questions</vt:lpstr>
      <vt:lpstr>Descriptive papers are storytelling</vt:lpstr>
      <vt:lpstr>Descriptive papers are storytelling</vt:lpstr>
      <vt:lpstr>Predictive Questions</vt:lpstr>
      <vt:lpstr>Causal Questions</vt:lpstr>
      <vt:lpstr>Choosing the Right Method</vt:lpstr>
      <vt:lpstr>All that glitters is an RCT?</vt:lpstr>
      <vt:lpstr>All that glitters is an RCT?</vt:lpstr>
      <vt:lpstr>All that glitters is an RCT?</vt:lpstr>
      <vt:lpstr>All that glitters is an RCT?</vt:lpstr>
      <vt:lpstr>All that glitters is an RCT?</vt:lpstr>
      <vt:lpstr>All that glitters is an RCT?</vt:lpstr>
      <vt:lpstr>The rise of causal inference</vt:lpstr>
      <vt:lpstr>Econometric approach</vt:lpstr>
      <vt:lpstr>What’s a model?</vt:lpstr>
      <vt:lpstr>DAGs</vt:lpstr>
      <vt:lpstr>A Ladder of Causality</vt:lpstr>
      <vt:lpstr>DGPs as DAGs</vt:lpstr>
      <vt:lpstr>DGPs as DAGs</vt:lpstr>
      <vt:lpstr>DGPs as DAGs</vt:lpstr>
      <vt:lpstr>How do we define a causal relationship?</vt:lpstr>
      <vt:lpstr>A More Involved DAG</vt:lpstr>
      <vt:lpstr>Introduction to Identification</vt:lpstr>
      <vt:lpstr>Introduction to Identification</vt:lpstr>
      <vt:lpstr>Let’s take the Con out of Econometrics (Edward Leamer, 1983)</vt:lpstr>
      <vt:lpstr>Why do we need DAGs?</vt:lpstr>
      <vt:lpstr>Why do we need DAGs?</vt:lpstr>
      <vt:lpstr>Associations in DAGs</vt:lpstr>
      <vt:lpstr>Associations in DAGs</vt:lpstr>
      <vt:lpstr>Associations in DAGs</vt:lpstr>
      <vt:lpstr>Some Drawbacks of DAGs</vt:lpstr>
      <vt:lpstr>Potential Outcomes</vt:lpstr>
      <vt:lpstr>Another approach: Potential Outcomes</vt:lpstr>
      <vt:lpstr>Another approach: Potential Outcomes</vt:lpstr>
      <vt:lpstr>Another approach: Potential Outcomes</vt:lpstr>
      <vt:lpstr>Another approach: Potential Outcomes</vt:lpstr>
      <vt:lpstr>Natural Experiments</vt:lpstr>
      <vt:lpstr>Average Treatment Effects</vt:lpstr>
      <vt:lpstr>Average Treatment Effects</vt:lpstr>
      <vt:lpstr>Example: Treatment Outcomes</vt:lpstr>
      <vt:lpstr>Example: Treatment Outcomes (sidenote: the structure of data)</vt:lpstr>
      <vt:lpstr>Example: Treatment Outcomes</vt:lpstr>
      <vt:lpstr>But what do we actually observe?</vt:lpstr>
      <vt:lpstr>But what do we actually observe?</vt:lpstr>
      <vt:lpstr>Example: Treatment Outcomes</vt:lpstr>
      <vt:lpstr>Example: Treatment Outcomes</vt:lpstr>
      <vt:lpstr>Example: Treatment Outcomes</vt:lpstr>
      <vt:lpstr>Example: Treatment Outcomes</vt:lpstr>
      <vt:lpstr>Estimating an ATE</vt:lpstr>
      <vt:lpstr>Estimating an ATE</vt:lpstr>
      <vt:lpstr>Estimating an ATE</vt:lpstr>
      <vt:lpstr>Some Types of Natural Experiments</vt:lpstr>
      <vt:lpstr>Why DAGs and PO?</vt:lpstr>
      <vt:lpstr>Why DAGs and PO?</vt:lpstr>
      <vt:lpstr>A final example</vt:lpstr>
      <vt:lpstr>A final example</vt:lpstr>
      <vt:lpstr>A final example</vt:lpstr>
      <vt:lpstr>Model Testing</vt:lpstr>
      <vt:lpstr>Concluding thoughts</vt:lpstr>
      <vt:lpstr>Concluding thoughts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206</cp:revision>
  <dcterms:created xsi:type="dcterms:W3CDTF">2011-01-10T00:42:42Z</dcterms:created>
  <dcterms:modified xsi:type="dcterms:W3CDTF">2026-07-23T00:05:02Z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