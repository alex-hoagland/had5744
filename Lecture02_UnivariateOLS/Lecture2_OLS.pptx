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91"/>
  </p:notesMasterIdLst>
  <p:sldIdLst>
    <p:sldId id="256" r:id="rId2"/>
    <p:sldId id="329" r:id="rId3"/>
    <p:sldId id="357" r:id="rId4"/>
    <p:sldId id="257" r:id="rId5"/>
    <p:sldId id="366" r:id="rId6"/>
    <p:sldId id="376" r:id="rId7"/>
    <p:sldId id="367" r:id="rId8"/>
    <p:sldId id="330" r:id="rId9"/>
    <p:sldId id="358" r:id="rId10"/>
    <p:sldId id="331" r:id="rId11"/>
    <p:sldId id="359" r:id="rId12"/>
    <p:sldId id="360" r:id="rId13"/>
    <p:sldId id="336" r:id="rId14"/>
    <p:sldId id="338" r:id="rId15"/>
    <p:sldId id="337" r:id="rId16"/>
    <p:sldId id="339" r:id="rId17"/>
    <p:sldId id="341" r:id="rId18"/>
    <p:sldId id="368" r:id="rId19"/>
    <p:sldId id="369" r:id="rId20"/>
    <p:sldId id="370" r:id="rId21"/>
    <p:sldId id="371" r:id="rId22"/>
    <p:sldId id="372" r:id="rId23"/>
    <p:sldId id="373" r:id="rId24"/>
    <p:sldId id="340" r:id="rId25"/>
    <p:sldId id="345" r:id="rId26"/>
    <p:sldId id="342" r:id="rId27"/>
    <p:sldId id="344" r:id="rId28"/>
    <p:sldId id="343" r:id="rId29"/>
    <p:sldId id="349" r:id="rId30"/>
    <p:sldId id="346" r:id="rId31"/>
    <p:sldId id="347" r:id="rId32"/>
    <p:sldId id="348" r:id="rId33"/>
    <p:sldId id="351" r:id="rId34"/>
    <p:sldId id="380" r:id="rId35"/>
    <p:sldId id="379" r:id="rId36"/>
    <p:sldId id="352" r:id="rId37"/>
    <p:sldId id="361" r:id="rId38"/>
    <p:sldId id="362" r:id="rId39"/>
    <p:sldId id="355" r:id="rId40"/>
    <p:sldId id="363" r:id="rId41"/>
    <p:sldId id="377" r:id="rId42"/>
    <p:sldId id="354" r:id="rId43"/>
    <p:sldId id="717" r:id="rId44"/>
    <p:sldId id="721" r:id="rId45"/>
    <p:sldId id="725" r:id="rId46"/>
    <p:sldId id="722" r:id="rId47"/>
    <p:sldId id="724" r:id="rId48"/>
    <p:sldId id="726" r:id="rId49"/>
    <p:sldId id="712" r:id="rId50"/>
    <p:sldId id="713" r:id="rId51"/>
    <p:sldId id="714" r:id="rId52"/>
    <p:sldId id="715" r:id="rId53"/>
    <p:sldId id="716" r:id="rId54"/>
    <p:sldId id="383" r:id="rId55"/>
    <p:sldId id="459" r:id="rId56"/>
    <p:sldId id="719" r:id="rId57"/>
    <p:sldId id="382" r:id="rId58"/>
    <p:sldId id="356" r:id="rId59"/>
    <p:sldId id="374" r:id="rId60"/>
    <p:sldId id="375" r:id="rId61"/>
    <p:sldId id="378" r:id="rId62"/>
    <p:sldId id="353" r:id="rId63"/>
    <p:sldId id="455" r:id="rId64"/>
    <p:sldId id="456" r:id="rId65"/>
    <p:sldId id="457" r:id="rId66"/>
    <p:sldId id="408" r:id="rId67"/>
    <p:sldId id="407" r:id="rId68"/>
    <p:sldId id="458" r:id="rId69"/>
    <p:sldId id="447" r:id="rId70"/>
    <p:sldId id="384" r:id="rId71"/>
    <p:sldId id="391" r:id="rId72"/>
    <p:sldId id="390" r:id="rId73"/>
    <p:sldId id="385" r:id="rId74"/>
    <p:sldId id="392" r:id="rId75"/>
    <p:sldId id="409" r:id="rId76"/>
    <p:sldId id="395" r:id="rId77"/>
    <p:sldId id="412" r:id="rId78"/>
    <p:sldId id="727" r:id="rId79"/>
    <p:sldId id="728" r:id="rId80"/>
    <p:sldId id="729" r:id="rId81"/>
    <p:sldId id="730" r:id="rId82"/>
    <p:sldId id="733" r:id="rId83"/>
    <p:sldId id="718" r:id="rId84"/>
    <p:sldId id="381" r:id="rId85"/>
    <p:sldId id="332" r:id="rId86"/>
    <p:sldId id="328" r:id="rId87"/>
    <p:sldId id="333" r:id="rId88"/>
    <p:sldId id="335" r:id="rId89"/>
    <p:sldId id="334" r:id="rId90"/>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77350" autoAdjust="0"/>
  </p:normalViewPr>
  <p:slideViewPr>
    <p:cSldViewPr>
      <p:cViewPr varScale="1">
        <p:scale>
          <a:sx n="85" d="100"/>
          <a:sy n="85" d="100"/>
        </p:scale>
        <p:origin x="1554" y="9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17T15:12:28.578"/>
    </inkml:context>
    <inkml:brush xml:id="br0">
      <inkml:brushProperty name="width" value="0.05" units="cm"/>
      <inkml:brushProperty name="height" value="0.05" units="cm"/>
      <inkml:brushProperty name="ignorePressure" value="1"/>
    </inkml:brush>
  </inkml:definitions>
  <inkml:trace contextRef="#ctx0" brushRef="#br0">0 35,'0'-28,"0"21,0 20,0 15216,0-15245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17T15:12:34.589"/>
    </inkml:context>
    <inkml:brush xml:id="br0">
      <inkml:brushProperty name="width" value="0.05" units="cm"/>
      <inkml:brushProperty name="height" value="0.05" units="cm"/>
      <inkml:brushProperty name="ignorePressure" value="1"/>
    </inkml:brush>
  </inkml:definitions>
  <inkml:trace contextRef="#ctx0" brushRef="#br0">0 1,'25649'0,"-25645"0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17T15:13:01.792"/>
    </inkml:context>
    <inkml:brush xml:id="br0">
      <inkml:brushProperty name="width" value="0.2" units="cm"/>
      <inkml:brushProperty name="height" value="0.2" units="cm"/>
      <inkml:brushProperty name="color" value="#5B2D90"/>
      <inkml:brushProperty name="ignorePressure" value="1"/>
    </inkml:brush>
  </inkml:definitions>
  <inkml:trace contextRef="#ctx0" brushRef="#br0">46 7346,'-34'12,"22"-8,20-7,21339-7347,-21324 7342</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3:13.447"/>
    </inkml:context>
    <inkml:brush xml:id="br0">
      <inkml:brushProperty name="width" value="0.05" units="cm"/>
      <inkml:brushProperty name="height" value="0.05" units="cm"/>
      <inkml:brushProperty name="color" value="#00A0D7"/>
    </inkml:brush>
  </inkml:definitions>
  <inkml:trace contextRef="#ctx0" brushRef="#br0">586 32 3409,'-1'-2'317,"0"0"0,0 0 1,0 1-1,0-1 0,-1 0 1,1 0-1,-1 0 0,1 1 0,-1-1 1,0 1-1,1-1 0,-1 1 1,0 0-1,0 0 0,0 0 1,0 0-1,0 0 0,0 0 0,0 0 1,-1 1-1,1-1 0,0 1 1,0-1-1,-5 1 0,-1 0 137,-1 1 0,1 1 0,0-1 0,0 1 0,-11 4 0,-5 1-616,16-4 213,0 0-1,0 0 1,1 1 0,-1 0-1,1 0 1,0 1 0,0 0-1,-8 8 1,11-11-19,1 0 0,-1 0 0,0 0 0,1 0-1,-1 0 1,-4 0 0,4-1-9,0 1-1,1-1 1,0 0-1,-1 1 1,1 0-1,0 0 1,0 0-1,-6 5 0,9-6-18,-1 0-1,1 0 1,0 0-1,-1 0 1,1 0-1,0 0 1,-1 0-1,1 0 1,0 0-1,0 0 1,0 0-1,0 1 1,0-1-1,0 0 1,0 0-1,1 0 1,-1 0-1,0 0 1,1 0-1,-1 0 1,0 0-1,1 0 1,0 0-1,-1 0 0,1 0 1,-1 0-1,1 0 1,0-1-1,1 2 1,9 20 22,-9-8 12,0 0 0,-1 0 0,0 0 0,-1 15-1,1 22 128,17 42 405,-18-91-563,0-1-1,0 0 0,-1 1 0,1-1 1,0 1-1,0-1 0,-1 0 1,1 1-1,-1-1 0,1 0 0,-1 1 1,0-1-1,0 0 0,1 0 0,-1 0 1,0 0-1,-2 2 0,2-2-4,0 0 0,0 0 0,1 0-1,-1 0 1,0 0 0,0 0 0,1 0 0,-1 0 0,1 0-1,-1 1 1,1-1 0,-1 0 0,1 0 0,0 1 0,-1-1-1,1 0 1,0 0 0,0 1 0,0-1 0,0 0-1,0 1 1,1 1 0,3 17 5,0-9 5,-2 0-1,1 1 1,-2 0-1,0-1 1,0 1-1,-1 0 0,-1 13 1,0-10 58,1 0 0,0 0 0,1 0 0,0 0 0,5 15 0,-3-17-5,2 0 0,-1 0 0,10 16 0,-9-18-6,1 0 0,-2 1 1,0 0-1,4 15 0,-1 14-31,2 14 85,24 75-1,-29-120-95,-1 0 0,-1-1 0,1 1 0,-1 1 0,-1-1 0,0 0 0,0 0 0,-1 0 0,0 1 0,-1-1 0,-2 12 0,2-20-6,0 1-1,0-1 1,-1 1-1,1-1 0,0 1 1,-1-1-1,0 0 1,1 1-1,-1-1 0,-3 3 1,-10 12 34,11-11-38,0 1 0,0-1-1,0 1 1,1 0-1,0 0 1,0 0 0,1 0-1,0 0 1,0 1-1,1-1 1,-1 1-1,2-1 1,-1 1 0,1 0-1,2 12 1,-1-9 2,0 0 0,0 0 1,-1 0-1,-1 0 0,0 0 1,0 0-1,-1 0 0,-5 17 1,-3-7-3,0 0 0,-1 0 0,-28 38 0,8-12 3,27-42-8,1 0 0,-1-1 0,0 1 0,0-1 0,-1 0-1,1 0 1,-1 0 0,0 0 0,-7 3 0,-4 1 1,-29 11 1,-4 1 20,34-13-20,1 0 1,-23 6 0,32-11-2,1-1 1,-1 0-1,0 0 1,0-1-1,0 1 1,0-1-1,0 0 1,0-1-1,0 1 1,0-1-1,-8-2 1,13 3-4,0 0-1,0 0 1,0 0 0,0 0 0,0 0-1,0 0 1,0 0 0,0 0 0,0 0-1,0 0 1,0 0 0,0 1 0,0-1-1,0 0 1,0 0 0,0 0 0,0 0-1,0 0 1,0 0 0,0 0 0,0 0-1,0 0 1,0 0 0,0 0 0,0 0-1,0 0 1,0 0 0,0 0 0,0 0-1,0 0 1,0 0 0,-1 1 0,1-1-1,0 0 1,0 0 0,0 0 0,0 0-1,0 0 1,0 0 0,0 0 0,0 0 0,0 0-1,0 0 1,0 0 0,0 0 0,0 0-1,0 0 1,0 0 0,0 0 0,0 0-1,0 0 1,0 0 0,-1 0 0,1 0-1,7 7-3,15 9-33,7-5-5,-5-3 28,30 16 0,-46-19 21,0-1 0,0 1-1,-1 1 1,0-1 0,0 1 0,0 1-1,8 10 1,-6-6 29,-5-7-13,0 0 0,-1 1 1,0-1-1,0 1 0,-1-1 0,1 1 1,-1 0-1,0 0 0,2 8 0,10 33 153,24 56-1,-34-93-143,0 0 1,-1 1-1,4 18 0,0 0 95,3 12 81,-6-26-122,0 1 0,1-1 0,0 0 0,1 0 0,10 18 0,0-8-4,-11-18-63,0 0 0,-1 1 0,0 0 0,0 0-1,-1 0 1,0 0 0,0 0 0,-1 0 0,0 1 0,0 0-1,1 8 1,14 88 80,-6-46-66,12 49 78,-13-64-2,9 72-1,-11-29-2,-1-25-32,-2 73 1,-15-49-27,6-62-21,1 1-1,1 35 1,7 32-33,1 46 0,-6-115 11,-1 0-1,-1 0 0,-2 0 0,-6 24 0,-19 60 20,27-100-21,1 0-1,-1 1 1,1-1-1,1 1 0,-1-1 1,1 0-1,0 1 0,0-1 1,1 1-1,2 9 1,2 3 3,1 0 1,10 20 0,-11-28-3,0 1 1,-1 0 0,0 0-1,0 0 1,-1 0 0,-1 1-1,0-1 1,0 14-1,-3-17 2,0 10 8,1 1 0,3 33 0,-2-47-9,0 1 1,1-1-1,0 0 1,0 0-1,0 0 1,1 0-1,0 0 1,0 0-1,1-1 1,-1 1-1,10 9 1,-7-10 7,0-1 1,1 0 0,-1 0-1,1 0 1,0-1-1,0 0 1,1 0-1,-1-1 1,1 0 0,12 2-1,-20-4-24,0 0 0,1 0-1,-1 1 1,0-1 0,0 0 0,1 0-1,-1 0 1,0 0 0,0 0-1,1 0 1,-1 1 0,0-1 0,1 0-1,-1 0 1,0 0 0,0 0-1,1 0 1,-1 0 0,0 0 0,1 0-1,-1 0 1,0 0 0,1-1 0,-1 1-1,0 0 1,0 0 0,1 0-1,-1 0 1,0 0 0,0 0 0,1-1-1,-1 1 1,0 0 0,0 0 0,1 0-1,-1-1 1,0 1 0,0 0-1,0 0 1,0-1 0,1 1 0,-1 0-1,0 0 1,0-1 0,0 1 0,0 0-1,0 0 1,0-1 0,0 1-1,0 0 1,0-1 0,0 1 0,0 0-1,0-1 1,0 1 0,0 0-1,0 0 1,0-1 0,0 1 0,0 0-1,0-1 1,0 1 0,0 0 0,0 0-1,-1-1 1,-12-19-2620,11 17 1891,-10-12-689</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3:14.590"/>
    </inkml:context>
    <inkml:brush xml:id="br0">
      <inkml:brushProperty name="width" value="0.05" units="cm"/>
      <inkml:brushProperty name="height" value="0.05" units="cm"/>
      <inkml:brushProperty name="color" value="#00A0D7"/>
    </inkml:brush>
  </inkml:definitions>
  <inkml:trace contextRef="#ctx0" brushRef="#br0">312 1913 5745,'-5'-1'845,"1"0"-1,-1 0 1,1-1-1,0 1 1,-1-1-1,1 0 1,0 0-1,0 0 1,0-1-1,1 0 1,-1 1-1,-4-6 1,2 3-723,2 0 1,-1 0-1,0-1 1,1 0 0,0 1-1,1-1 1,-1-1 0,1 1-1,0-1 1,1 1 0,-3-9-1,-3-14 24,-5-38 0,10 48-57,-34-278 529,-6-31-78,35 284-493,-56-338 100,53 287-149,5 0 0,5-101 1,2 175-3,1 1 1,1 0-1,1 0 1,8-24-1,-9 34-2,1 0 0,0 1 0,1-1-1,0 1 1,0 0 0,1 1 0,0-1-1,0 1 1,15-13 0,-19 18 0,1 1 0,0 0 0,0 0 0,0 0 0,0 0 0,0 0 0,1 1 0,-1-1 0,1 1 0,-1 0 0,1 0 0,-1 0 0,1 0 0,-1 1 0,1 0 0,0 0 0,-1 0 0,1 0 0,0 0-1,-1 0 1,1 1 0,-1 0 0,1 0 0,-1 0 0,1 0 0,-1 1 0,0-1 0,1 1 0,-1 0 0,0 0 0,0 0 0,3 3 0,2 0-2,-1 1 0,0 1-1,0-1 1,-1 1 0,1 0 0,-2 1-1,1 0 1,-1 0 0,0 0 0,4 10-1,-6-10 11,-1-1 0,0 0 0,0 1-1,-1 0 1,0-1 0,0 1-1,-1 0 1,1 0 0,-2-1 0,1 1-1,-1 0 1,-1-1 0,-2 10 0,-1 0 16,-1 0 0,-1 0 1,-1 0-1,0-1 1,-18 26-1,-63 72 102,58-78-33,-37 57 1,28-19 204,40-74-290,0 0-1,0 0 1,0 0 0,0 0-1,0 0 1,0 0 0,0-1-1,0 1 1,0 0 0,0 0-1,0 0 1,0 0 0,0 0-1,0 0 1,1 0 0,-1 0-1,0 0 1,0 0 0,0 0-1,0 0 1,0 0 0,0 0-1,0 0 1,0 0 0,0 0-1,1 0 1,-1 0 0,0 0-1,0 0 1,0 0 0,0 0-1,0 0 1,0 0 0,0 0-1,0 0 1,0 0 0,1 0-1,-1 0 1,0 0 0,0 0-1,0 0 1,0 0 0,0 0-1,0 0 1,0 1 0,0-1-1,0 0 1,0 0 0,0 0-1,0 0 1,0 0 0,0 0-1,1 0 1,-1 0 0,0 0-1,0 0 1,0 1 0,0-1-1,0 0 1,0 0 0,0 0-1,0 0 1,0 0 0,0 0-1,0 0 1,0 0 0,0 1-1,13-8 32,4 0-15,-6 4-19,0 0-1,0 1 1,0 0 0,0 0-1,0 2 1,0-1 0,1 1-1,-1 1 1,0 0 0,0 0-1,0 1 1,19 6 0,-16-1-2,0 0 1,-1 0 0,0 2 0,-1-1-1,1 2 1,-2-1 0,1 2-1,-2-1 1,1 2 0,-1-1 0,-1 1-1,0 1 1,8 14 0,-15-20 3,0-1 1,-1 0-1,1 0 1,-1 0 0,0 1-1,0-1 1,-1 1-1,0-1 1,0 1 0,-1-1-1,0 0 1,0 1-1,0-1 1,-1 0 0,0 0-1,0 0 1,0 0-1,-7 12 1,3-8 2,0 0 0,-1 0 0,0 0 0,0-1 0,-1 0 0,0 0 0,-1-1 0,0 0 0,-13 8 0,-17 7-319,-83 33-1,90-42-730,15-6-413,9 1 498</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3:15.234"/>
    </inkml:context>
    <inkml:brush xml:id="br0">
      <inkml:brushProperty name="width" value="0.05" units="cm"/>
      <inkml:brushProperty name="height" value="0.05" units="cm"/>
      <inkml:brushProperty name="color" value="#00A0D7"/>
    </inkml:brush>
  </inkml:definitions>
  <inkml:trace contextRef="#ctx0" brushRef="#br0">124 64 7082,'3'-24'3138,"-2"19"-2473,0-1 0,-1 1 1,2 0-1,-1 0 0,3-6 0,-4 11-627,0 0 0,0-1-1,0 1 1,1 0 0,-1 0 0,0 0 0,0 0-1,1-1 1,-1 1 0,0 0 0,1 0 0,-1 0 0,0 0-1,0 0 1,1 0 0,-1 0 0,0 0 0,1 0-1,-1 0 1,0 0 0,1 0 0,-1 0 0,0 0-1,0 0 1,1 0 0,-1 0 0,0 0 0,0 1-1,1-1 1,-1 0 0,0 0 0,0 0 0,1 0-1,-1 1 1,0-1 0,1 0 0,13 11 266,-7-5-61,1-1-106,8 6 171,0 1 0,17 17 0,-28-25-262,-1 1 0,0-1 0,-1 1 0,1 0 0,-1 0 1,0 0-1,0 0 0,-1 1 0,0-1 0,1 1 0,-2-1 0,2 8 0,-1 2 62,0 0 0,-2-1 0,0 1 0,0 0 1,-1 0-1,-1-1 0,-1 1 0,0-1 0,-9 26 0,8-29-70,-1 0-1,0-1 1,0 1-1,-1-1 1,-1 0 0,0-1-1,0 1 1,-1-1-1,0-1 1,0 0 0,-1 0-1,-16 11 1,23-17-32,0-1-1,0 0 1,0 0 0,0 0 0,0 0-1,0 0 1,0 0 0,0 0-1,-1-1 1,1 1 0,0-1 0,0 0-1,-1 1 1,1-1 0,0 0 0,-1-1-1,1 1 1,0 0 0,0-1 0,-1 1-1,1-1 1,0 0 0,0 1 0,0-1-1,0 0 1,0 0 0,0-1 0,0 1-1,0 0 1,0-1 0,0 1 0,-1-3-1,-5-4 19,2-1-1,-1 0 0,1 0 0,0 0 0,-6-15 0,6 13-4,0-1 17,0 0 0,1-1 0,0 1 0,1-1 0,1 0 1,-3-15-1,5 20-14,0-1 0,1 0 0,0 1 0,1-1 0,-1 0 0,2 1-1,-1-1 1,1 1 0,1 0 0,3-11 0,-1 7 16,1 1 0,0-1 1,1 1-1,13-17 0,-16 23-263,0 0 1,1 0-1,0 1 1,-1 0-1,1 0 1,1 0-1,-1 0 1,0 1 0,1 0-1,0 0 1,7-2-1,-2 4-2505,-1 3 994</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3:30.171"/>
    </inkml:context>
    <inkml:brush xml:id="br0">
      <inkml:brushProperty name="width" value="0.05" units="cm"/>
      <inkml:brushProperty name="height" value="0.05" units="cm"/>
      <inkml:brushProperty name="color" value="#00A0D7"/>
    </inkml:brush>
  </inkml:definitions>
  <inkml:trace contextRef="#ctx0" brushRef="#br0">15 4 768,'-9'-2'-112,"3"0"160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3:30.801"/>
    </inkml:context>
    <inkml:brush xml:id="br0">
      <inkml:brushProperty name="width" value="0.05" units="cm"/>
      <inkml:brushProperty name="height" value="0.05" units="cm"/>
      <inkml:brushProperty name="color" value="#00A0D7"/>
    </inkml:brush>
  </inkml:definitions>
  <inkml:trace contextRef="#ctx0" brushRef="#br0">1018 14 8434,'0'-1'54,"-1"0"0,1 0 1,-1 1-1,1-1 0,0 0 1,-1 0-1,0 0 0,1 1 1,-1-1-1,1 0 0,-1 1 0,0-1 1,1 1-1,-1-1 0,0 0 1,0 1-1,0-1 0,1 1 1,-1 0-1,-1-1 0,1 1-20,0 1 0,1-1 0,-1 1 0,0-1 0,1 1 0,-1-1-1,0 1 1,1-1 0,-1 1 0,1-1 0,-1 1 0,1 0 0,-1-1 0,1 1 0,-1 1 0,-15 17-12,10-15-14,-1 0 0,-1 0 0,1 0 0,-1-1 0,1 0 0,-1-1 0,0 1-1,-10 0 1,-11 1 52,-30 1-1,4-2 102,-112 18 650,-59 6-123,-41 9-593,267-36-95,-9 1 5,1 1-1,-1 0 1,1 0 0,0 1-1,0-1 1,0 2 0,0-1-1,0 1 1,-9 7 0,16-10-3,1 0 1,-1 0-1,0 1 1,0-1-1,1 0 1,-1 0 0,1 1-1,0-1 1,-1 0-1,1 0 1,0 1-1,0-1 1,-1 1 0,1-1-1,0 0 1,0 1-1,1-1 1,-1 0-1,0 1 1,0-1-1,1 0 1,-1 1 0,1-1-1,-1 0 1,1 0-1,0 2 1,2 2 7,0 0 1,0 0-1,0 0 1,6 7-1,1-1 33,-2 1-1,1 0 1,-2 0-1,0 1 1,0 0-1,-1 1 1,-1-1-1,0 1 1,-1 0 0,0 0-1,2 22 1,35 225 139,-31-187-161,-6-41-9,11 46 0,-12-69-8,0-1 1,0 1-1,1-1 1,0 0-1,1 0 1,0-1-1,0 1 1,1-1-1,7 9 1,-3-8 3,0 1 1,1-2 0,0 1-1,0-1 1,1-1 0,0 0-1,0-1 1,1 0 0,0-1-1,0 0 1,0-1 0,0-1-1,1 0 1,-1 0 0,1-2-1,18 1 1,19-2-11,0-3 1,0-2-1,55-13 0,1 0-166,40-4-2201,-86 11 1397</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3:31.320"/>
    </inkml:context>
    <inkml:brush xml:id="br0">
      <inkml:brushProperty name="width" value="0.05" units="cm"/>
      <inkml:brushProperty name="height" value="0.05" units="cm"/>
      <inkml:brushProperty name="color" value="#00A0D7"/>
    </inkml:brush>
  </inkml:definitions>
  <inkml:trace contextRef="#ctx0" brushRef="#br0">0 7 6201,'1'-1'68,"0"1"-1,-1-1 0,1 1 1,0-1-1,0 0 0,0 1 1,0 0-1,0-1 0,0 1 1,0 0-1,0-1 0,0 1 1,0 0-1,0 0 0,0 0 1,0 0-1,0 0 0,0 0 1,0 0-1,0 0 0,0 0 0,0 0 1,0 1-1,0-1 0,0 0 1,0 1-1,-1-1 0,1 1 1,0-1-1,0 1 0,0-1 1,0 1-1,-1 0 0,1-1 1,0 1-1,0 0 0,-1 0 1,2 0-1,4 6 124,0 1 1,-1-1-1,7 12 0,-7-12-57,11 21 223,-2 0 1,0 1-1,-2 1 0,-1 0 1,8 37-1,25 161 1132,-44-228-1489,16 230 956,-10-93-1009,-6-137 32,0 1 0,0-1 0,0 0 0,0 1 0,0-1 0,0 0 0,1 1 0,-1-1 0,0 0 0,0 0 0,0 1 0,0-1 0,0 0 1,0 1-1,1-1 0,-1 0 0,0 0 0,0 1 0,0-1 0,1 0 0,-1 0 0,0 0 0,0 1 0,1-1 0,-1 0 0,1 0 0,13 9-328</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3:31.651"/>
    </inkml:context>
    <inkml:brush xml:id="br0">
      <inkml:brushProperty name="width" value="0.05" units="cm"/>
      <inkml:brushProperty name="height" value="0.05" units="cm"/>
      <inkml:brushProperty name="color" value="#00A0D7"/>
    </inkml:brush>
  </inkml:definitions>
  <inkml:trace contextRef="#ctx0" brushRef="#br0">295 9 6281,'0'-6'696,"-6"4"665,-9 2-809,-22 2-432,-4 2-24,-15 2-24,0 2-64,16 3-944,-3-1 680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3:32.343"/>
    </inkml:context>
    <inkml:brush xml:id="br0">
      <inkml:brushProperty name="width" value="0.05" units="cm"/>
      <inkml:brushProperty name="height" value="0.05" units="cm"/>
      <inkml:brushProperty name="color" value="#00A0D7"/>
    </inkml:brush>
  </inkml:definitions>
  <inkml:trace contextRef="#ctx0" brushRef="#br0">559 6 5553,'-11'-2'415,"0"0"-1,0 1 1,0 1-1,-1-1 1,1 2-1,-11 1 1,-67 16-481,19-3-115,-90 2 146,97-12 405,57-5-289,0 1-1,0 0 1,1 0 0,-1 0-1,0 1 1,1-1 0,-1 1-1,-9 6 1,13-6-64,-1-1 0,1 1 0,1 0 0,-1 0 0,0 0 0,0 0 0,1 0 0,-1 0 0,1 0 0,0 1 0,-1-1 0,1 0 0,0 1 0,1-1 0,-1 1 0,0-1 0,1 1 0,-1 0 0,1-1-1,0 1 1,0 0 0,0 2 0,2 24 232,1 0 0,2 0-1,1 0 1,14 42 0,11 52 620,-13 53-77,-14-109-287,17 83 0,-20-144-488,35 138 256,-35-141-265,0 0-1,0 0 1,0 0-1,0 0 1,0-1-1,1 1 1,-1 0 0,1-1-1,0 1 1,0-1-1,0 0 1,0 1-1,0-1 1,0 0-1,1 0 1,3 2-1,-2-2 15,0-1 0,0 0 0,1 0-1,-1 0 1,0 0 0,0-1 0,0 1 0,1-1-1,-1 0 1,0 0 0,7-2 0,249-10 319,-246 12-1177,0-1-1,1 0 1,-1-1-1,19-5 1,-13 2-583</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3:32.830"/>
    </inkml:context>
    <inkml:brush xml:id="br0">
      <inkml:brushProperty name="width" value="0.05" units="cm"/>
      <inkml:brushProperty name="height" value="0.05" units="cm"/>
      <inkml:brushProperty name="color" value="#00A0D7"/>
    </inkml:brush>
  </inkml:definitions>
  <inkml:trace contextRef="#ctx0" brushRef="#br0">1 27 6017,'1'9'451,"0"1"-1,1 0 1,0-1-1,1 1 1,0-1-1,0 0 1,1 0-1,8 14 1,-1-4-522,0-1 0,1-1 0,17 19-1,-19-26 90,0 0 0,1 0 0,0-1 0,1 0-1,0-1 1,1 0 0,-1-1 0,1-1 0,1 0-1,13 4 1,-20-8 2,1 0 1,-1 0-1,0-1 0,1 0 0,-1-1 0,1 0 0,-1 0 1,1 0-1,9-3 0,-12 2-7,0 0 0,0-1-1,0 0 1,0 0 0,0 0 0,0-1 0,0 0-1,-1 0 1,1 0 0,-1 0 0,0-1 0,0 0-1,0 0 1,3-4 0,4-7-23,-1-1 0,0-1-1,-1 0 1,0 0 0,-2-1 0,0 0 0,8-35 0,-13 47-8,-1 0 0,0 0 0,-1 0 0,0-1 0,0 1 0,0 0 0,-2-9 0,2 13 16,0 1-1,0-1 0,-1 0 1,1 0-1,-1 0 0,1 1 1,-1-1-1,0 0 1,0 1-1,0-1 0,0 0 1,0 1-1,0 0 0,0-1 1,0 1-1,-1-1 0,1 1 1,-1 0-1,1 0 0,-1 0 1,1 0-1,-1 0 0,1 0 1,-1 0-1,0 1 0,0-1 1,-2 0-1,3 1 8,0-1 0,0 1 0,0 0 0,0 0 0,0 1-1,0-1 1,0 0 0,0 0 0,0 0 0,0 1 0,0-1 0,0 0-1,0 1 1,1-1 0,-1 1 0,0-1 0,0 1 0,0-1 0,1 1 0,-1 0-1,0-1 1,1 1 0,-1 0 0,0 0 0,1-1 0,-1 1 0,1 0 0,-1 0-1,1 0 1,0 0 0,-1 0 0,1-1 0,-1 2 0,0 5 52,-1-1 0,1 0 0,0 0 0,0 10 0,3 31 165,1 0 0,3 0 1,17 73-1,-11-65-164,-12-54-57,41 228 101,-35-176-65,-1 1 0,-4 73 0,-2-120-42,1 0 0,-1-1 0,0 1 0,-1-1 0,0 1 0,0-1 0,0 0-1,0 0 1,-1 0 0,0 0 0,-1 0 0,1 0 0,-1-1 0,0 0 0,-8 8-1,8-9-476,-1 0 0,0 0 0,0-1 1,-1 1-1,-10 4 0,10-7-713</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3:33.197"/>
    </inkml:context>
    <inkml:brush xml:id="br0">
      <inkml:brushProperty name="width" value="0.05" units="cm"/>
      <inkml:brushProperty name="height" value="0.05" units="cm"/>
      <inkml:brushProperty name="color" value="#00A0D7"/>
    </inkml:brush>
  </inkml:definitions>
  <inkml:trace contextRef="#ctx0" brushRef="#br0">4 13 11851,'0'-13'496,"-4"17"112,4 15-448,11 37-144,1 15 24,9 20 40,-3 6 16,-3-1 24,-3 1-8,-3-1-8,1-3-8,-2-16-8,3-9-8,1-24-8,3-13-72,5-12-1304,1-17-2121,-4-15 1977</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3:33.575"/>
    </inkml:context>
    <inkml:brush xml:id="br0">
      <inkml:brushProperty name="width" value="0.05" units="cm"/>
      <inkml:brushProperty name="height" value="0.05" units="cm"/>
      <inkml:brushProperty name="color" value="#00A0D7"/>
    </inkml:brush>
  </inkml:definitions>
  <inkml:trace contextRef="#ctx0" brushRef="#br0">0 1 10154,'21'18'360,"12"11"0,7 11-224,16 10 16,-4 3 0,14 12 0,-4-1-8,-2 0-80,7-3-7,-16-14-9,1-1 0,-8-15-625,-3-10-855,-7-32 832</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3:33.937"/>
    </inkml:context>
    <inkml:brush xml:id="br0">
      <inkml:brushProperty name="width" value="0.05" units="cm"/>
      <inkml:brushProperty name="height" value="0.05" units="cm"/>
      <inkml:brushProperty name="color" value="#00A0D7"/>
    </inkml:brush>
  </inkml:definitions>
  <inkml:trace contextRef="#ctx0" brushRef="#br0">270 0 11410,'-31'15'329,"2"12"-81,8 14-232,4 19-32,-3 13 8,-3 18-8,0 7 8,-4 3 8,4-5 8,0-17 16,9-17 0,-3-25-288,15-12-369,2-23 361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3:34.290"/>
    </inkml:context>
    <inkml:brush xml:id="br0">
      <inkml:brushProperty name="width" value="0.05" units="cm"/>
      <inkml:brushProperty name="height" value="0.05" units="cm"/>
      <inkml:brushProperty name="color" value="#00A0D7"/>
    </inkml:brush>
  </inkml:definitions>
  <inkml:trace contextRef="#ctx0" brushRef="#br0">1 31 7290,'32'-9'670,"1"2"1,59-6-1,-75 12-625,0 1-1,-1 0 1,1 1 0,-1 1-1,1 1 1,-1 0-1,28 9 1,-38-9 37,0 0 1,1 0-1,-1 1 0,0 0 0,-1 0 1,1 0-1,-1 1 0,0 0 0,0 0 1,0 0-1,-1 0 0,1 1 0,-1 0 0,-1 0 1,1 0-1,4 11 0,1 8 114,-1-1 0,-2 1-1,6 32 1,-9-39-192,19 105 128,45 191 146,28 19 506,-80-292-558,1-2-1,1 1 1,41 63-1,-58-102-221,1-1 0,0 1 0,-1 0-1,1-1 1,-1 1 0,1 0 0,-1 0 0,0-1 0,1 1 0,-1 0-1,0 0 1,0 0 0,1-1 0,-1 1 0,0 0 0,0 0-1,0 0 1,0-1 0,0 1 0,0 0 0,0 0 0,0 0 0,0 0-1,0-1 1,-1 1 0,1 0 0,0 0 0,-1 0 0,1-1 0,0 1-1,-1 0 1,1 0 0,-1-1 0,1 1 0,-1 0 0,1-1 0,-1 1-1,0-1 1,1 1 0,-1-1 0,-1 2 0,-3 0 6,0-1 1,0 1 0,0-1-1,-1 0 1,-9 1-1,1 0 4,-220 33-178,132-24-2378,83-9 1632</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3:34.671"/>
    </inkml:context>
    <inkml:brush xml:id="br0">
      <inkml:brushProperty name="width" value="0.05" units="cm"/>
      <inkml:brushProperty name="height" value="0.05" units="cm"/>
      <inkml:brushProperty name="color" value="#00A0D7"/>
    </inkml:brush>
  </inkml:definitions>
  <inkml:trace contextRef="#ctx0" brushRef="#br0">386 0 10610,'-4'2'416,"-6"0"96,-5 7-360,-22 1-103,-9-2-1,5 3-361,-5-1-167,11 1-568,4 1-560,2 0 952</inkml:trace>
  <inkml:trace contextRef="#ctx0" brushRef="#br0" timeOffset="1">436 231 8706,'-23'0'760,"-6"2"728,-16 2-671,-11-2-409,-4 2-96,-5 0-232,16 2-248,-5-1-993,12 1-935,30 0 1064</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3:35.270"/>
    </inkml:context>
    <inkml:brush xml:id="br0">
      <inkml:brushProperty name="width" value="0.05" units="cm"/>
      <inkml:brushProperty name="height" value="0.05" units="cm"/>
      <inkml:brushProperty name="color" value="#00A0D7"/>
    </inkml:brush>
  </inkml:definitions>
  <inkml:trace contextRef="#ctx0" brushRef="#br0">304 1302 4953,'1'4'3004,"-8"-5"-2380,-10-4-734,7-1 162,1 0 0,0 0 0,0-1-1,0-1 1,1 0 0,0 0 0,1 0 0,0-1-1,0 0 1,1 0 0,0-1 0,0 0 0,-4-13 0,-4-13 261,2-1 0,-11-61 0,14 61-139,-66-319 1209,64 307-1156,1-1 0,3 0 0,-2-81 0,9 112-189,1 0 0,1 0 1,1 1-1,0-1 0,1 1 0,1 0 0,1 0 0,1 0 1,0 1-1,1 0 0,1 0 0,21-30 0,-26 42-33,0 0-1,1 0 0,-1 0 1,1 0-1,0 1 0,0 0 0,1 0 1,-1 0-1,1 1 0,0-1 1,0 1-1,0 1 0,0-1 0,0 1 1,1 0-1,-1 1 0,1-1 0,-1 1 1,1 1-1,-1-1 0,1 1 1,0 0-1,9 2 0,-2 0-10,-1 0 0,0 1 0,0 0-1,0 1 1,0 1 0,-1 0 0,0 0 0,1 2 0,-2-1-1,16 12 1,-22-14 9,0 0-1,0 0 0,0 1 1,-1 0-1,1 0 1,-1 0-1,0 0 0,-1 1 1,1-1-1,-1 1 0,0 0 1,-1 0-1,1 0 1,-1 0-1,0 1 0,-1-1 1,0 1-1,0-1 1,0 1-1,0-1 0,-1 1 1,0-1-1,-2 9 0,0-3 28,-1-1 0,0 1-1,-1-1 1,-1 0-1,1 0 1,-2 0 0,0 0-1,0-1 1,0 0-1,-1-1 1,-16 17 0,9-12 12,-1 0 1,0-2-1,0 0 0,-2 0 1,1-2-1,-26 13 1,29-14 17,13-9-60,0 0 0,0 0 1,0 0-1,0 0 0,0 1 0,0-1 0,0 0 0,0 0 0,0 0 0,0 0 0,0 1 0,-1-1 0,1 0 0,0 0 0,1 0 1,-1 0-1,0 1 0,0-1 0,0 0 0,0 0 0,0 0 0,0 0 0,0 1 0,0-1 0,0 0 0,0 0 0,0 0 0,0 0 0,0 0 1,1 0-1,-1 1 0,0-1 0,0 0 0,0 0 0,0 0 0,0 0 0,0 0 0,1 0 0,-1 0 0,0 0 0,0 1 0,29 5-115,-11-3-4,-9 0 97,0 0 0,0 0 0,0 1 0,-1 0 0,0 0 0,0 1 0,0 0 0,0 1 0,-1 0 0,0 0 0,0 1 0,-1-1 0,0 1 0,0 1 0,7 10 0,-9-12 31,-1 0 0,0 1 0,0-1-1,0 1 1,-1 0 0,0 0 0,0 0 0,-1 0-1,0 0 1,0 0 0,0 1 0,-1-1 0,0 0 0,-1 0-1,1 1 1,-1-1 0,-1 0 0,0 0 0,0 0-1,-4 10 1,2-9-10,1-1-1,-2 1 1,1-1 0,-1 0-1,0 0 1,-1 0-1,1-1 1,-1 0 0,-1 0-1,1 0 1,-1-1-1,0 0 1,0 0 0,-14 6-1,13-7-367,0-1 0,0-1 0,-1 0 0,1 0 0,0 0 0,-1-1 0,1 0 0,-1-1 0,-12 0 0,-7-5-862</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3:35.645"/>
    </inkml:context>
    <inkml:brush xml:id="br0">
      <inkml:brushProperty name="width" value="0.05" units="cm"/>
      <inkml:brushProperty name="height" value="0.05" units="cm"/>
      <inkml:brushProperty name="color" value="#00A0D7"/>
    </inkml:brush>
  </inkml:definitions>
  <inkml:trace contextRef="#ctx0" brushRef="#br0">78 0 3969,'12'2'275,"0"0"-1,0 1 1,0 0-1,0 1 1,-1 0 0,1 1-1,-1 0 1,17 11 0,-21-11-136,0 1 1,0-1-1,0 1 1,-1 1-1,0-1 1,-1 1-1,1 0 0,-1 0 1,-1 1-1,1-1 1,-1 1-1,4 12 1,-5-12-42,-1-1-1,1 1 1,-2 0 0,1 0 0,-1 1-1,0-1 1,-1 0 0,0 0 0,0 0-1,-1 1 1,0-1 0,0 0 0,-1 0-1,0 0 1,0 0 0,-4 7 0,3-10-29,0 1 1,0-2-1,0 1 1,0 0-1,-1 0 1,0-1 0,0 0-1,0 0 1,0 0-1,-1 0 1,1-1-1,-1 0 1,0 0 0,0 0-1,0 0 1,-1-1-1,1 0 1,-1 0-1,1 0 1,-1-1 0,1 0-1,-11 1 1,11-1-34,0-1 0,0 0 0,0 0 0,1-1 0,-1 1 0,0-1 0,0 0 0,0 0 0,1-1 0,-1 1 0,1-1 0,-1 0 0,1 0 0,-1-1 0,1 1 0,0-1 0,0 0 0,1 0 0,-1 0 0,0 0 0,1-1 0,0 0 0,0 0 0,0 1 0,0-2 0,1 1 0,-1 0 0,-1-7 0,-5-10-55,1 0 1,2 0-1,0-1 0,1 0 1,1 0-1,1 0 0,0-32 1,4 52-163,-1 0 0,0 0 0,1 0 0,-1 0 0,1 0 0,0 0 0,-1 0 1,1 0-1,0 1 0,0-1 0,0 0 0,0 1 0,1-1 0,-1 0 0,0 1 0,1 0 1,-1-1-1,1 1 0,-1 0 0,1 0 0,2-2 0,14-7-1200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3:36.022"/>
    </inkml:context>
    <inkml:brush xml:id="br0">
      <inkml:brushProperty name="width" value="0.05" units="cm"/>
      <inkml:brushProperty name="height" value="0.05" units="cm"/>
      <inkml:brushProperty name="color" value="#00A0D7"/>
    </inkml:brush>
  </inkml:definitions>
  <inkml:trace contextRef="#ctx0" brushRef="#br0">1 0 8610,'4'15'296,"0"12"64,-2 4-264,0 15 72,0 6 40,-2 12 32,0 0-16,0 3-56,-2-1-16,2-10-24,0-4-24,4-19-256,2-8-504,3-13 408</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3:36.369"/>
    </inkml:context>
    <inkml:brush xml:id="br0">
      <inkml:brushProperty name="width" value="0.05" units="cm"/>
      <inkml:brushProperty name="height" value="0.05" units="cm"/>
      <inkml:brushProperty name="color" value="#00A0D7"/>
    </inkml:brush>
  </inkml:definitions>
  <inkml:trace contextRef="#ctx0" brushRef="#br0">332 19 9130,'-39'-6'448,"-3"0"168,-8 2-400,0 4-512,-1-2-336,11 4-1024,3 0-641,14 0 1201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3:36.809"/>
    </inkml:context>
    <inkml:brush xml:id="br0">
      <inkml:brushProperty name="width" value="0.05" units="cm"/>
      <inkml:brushProperty name="height" value="0.05" units="cm"/>
      <inkml:brushProperty name="color" value="#00A0D7"/>
    </inkml:brush>
  </inkml:definitions>
  <inkml:trace contextRef="#ctx0" brushRef="#br0">230 1356 4865,'-1'4'189,"1"-2"-46,0 0-1,0 0 0,-1 0 1,1 0-1,-1 0 0,1 0 1,-1 0-1,0-1 0,0 1 1,-1 3-1,-6-20 37,-21-80 865,-32-116 1702,23 66-2201,-36-178-196,69 284-325,1 1-1,2-1 0,1 0 1,2 1-1,2-1 0,12-57 0,-8 63 38,2 0-1,14-33 0,-18 55-35,0 0 0,1 0 0,0 0 0,0 1 0,1 0 0,1 0 0,0 1 0,0 0 0,11-9 0,-15 15-22,1 0-1,-1 0 1,1 1 0,-1-1-1,1 1 1,0 0 0,0 1-1,0-1 1,0 1-1,0 0 1,0 0 0,0 1-1,1-1 1,-1 1 0,0 0-1,0 1 1,0-1-1,0 1 1,1 0 0,-1 0-1,0 1 1,-1-1 0,1 1-1,0 0 1,0 1-1,6 3 1,-7-4 9,0 1 0,0 0 1,0 0-1,0 0 0,0 1 0,-1-1 0,0 1 0,1 0 0,-1 0 0,-1 0 1,1 0-1,-1 1 0,1-1 0,-1 1 0,0-1 0,-1 1 0,1 0 1,-1-1-1,0 1 0,0 0 0,-1 0 0,1 0 0,-1 0 0,0 0 1,0 0-1,-1 0 0,-1 9 0,-6 5 98,0 1-1,-1-2 1,-1 1-1,-1-1 1,0-1-1,-16 19 1,0 2 1,16-23-75,1 1 1,1 0-1,1 1 1,-10 25-1,17-41-32,1 1 0,0-1 0,-1 1 1,1-1-1,0 1 0,0-1 0,0 0 0,0 1 0,0-1 0,0 1 0,0-1 0,0 1 0,1-1 0,-1 1 1,1-1-1,-1 0 0,1 1 0,-1-1 0,1 0 0,0 1 0,0-1 0,0 0 0,-1 0 0,1 0 0,0 0 0,0 1 1,1-2-1,-1 1 0,0 0 0,0 0 0,0 0 0,1 0 0,-1-1 0,0 1 0,1-1 0,-1 1 0,3 0 1,7 3-7,0-1 1,1-1 0,22 3-1,-15-2-33,-7-1 8,1 0 1,-1 1-1,0 1 0,0 0 1,-1 1-1,22 11 0,-29-13 26,0 0 0,0 0-1,0 0 1,-1 1-1,1 0 1,-1-1 0,1 1-1,-1 0 1,-1 1-1,1-1 1,-1 0-1,1 1 1,-1 0 0,0-1-1,-1 1 1,1 0-1,-1 0 1,0 0 0,0 7-1,0 1 15,-1-1 0,-1 1 0,0-1 0,-1 0 0,0 0 0,-1 1 0,0-1 0,-1-1 0,0 1 0,-1 0 0,0-1 1,-1 0-1,0 0 0,-1-1 0,0 0 0,-1 0 0,-13 13 0,12-14-14,0 0 1,0 0 0,-1-1-1,0-1 1,0 0 0,-1 0-1,0-1 1,0 0-1,-1-1 1,0 0 0,0-1-1,0 0 1,0-1 0,0-1-1,-1 0 1,1 0 0,-17-1-1,24-1-117,1 0 0,-1 0-1,0 0 1,0-1-1,1 0 1,-1 0 0,1 0-1,-1-1 1,1 0 0,-1 1-1,1-2 1,0 1 0,0 0-1,0-1 1,0 0 0,0 0-1,1 0 1,-1 0-1,-4-6 1,8 9 12,-1-1-1,1 0 1,0 1 0,-1-1-1,1 1 1,0-1 0,-1 0-1,1 1 1,0-1 0,0 0-1,-1 1 1,1-1 0,0 0-1,0 1 1,0-1 0,0 0-1,0 0 1,0 0 0,8-14-1189</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3:37.172"/>
    </inkml:context>
    <inkml:brush xml:id="br0">
      <inkml:brushProperty name="width" value="0.05" units="cm"/>
      <inkml:brushProperty name="height" value="0.05" units="cm"/>
      <inkml:brushProperty name="color" value="#00A0D7"/>
    </inkml:brush>
  </inkml:definitions>
  <inkml:trace contextRef="#ctx0" brushRef="#br0">0 1 8570,'17'19'744,"6"16"1152,-15 25-1784,2 6-48,-4 5-16,1-7-8,1-12-160,2-10-232,5-13-1096,-3-13 880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3:37.518"/>
    </inkml:context>
    <inkml:brush xml:id="br0">
      <inkml:brushProperty name="width" value="0.05" units="cm"/>
      <inkml:brushProperty name="height" value="0.05" units="cm"/>
      <inkml:brushProperty name="color" value="#00A0D7"/>
    </inkml:brush>
  </inkml:definitions>
  <inkml:trace contextRef="#ctx0" brushRef="#br0">1 1 9266,'31'29'288,"2"10"56,0 7 40,7 10 48,7 8-32,3 11-176,2 4-112,4 2-56,-13-13 0,3-18 8,2-11-8,-13-20-504,7-9-696,-1-10 656</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3:37.897"/>
    </inkml:context>
    <inkml:brush xml:id="br0">
      <inkml:brushProperty name="width" value="0.05" units="cm"/>
      <inkml:brushProperty name="height" value="0.05" units="cm"/>
      <inkml:brushProperty name="color" value="#00A0D7"/>
    </inkml:brush>
  </inkml:definitions>
  <inkml:trace contextRef="#ctx0" brushRef="#br0">607 29 7338,'-9'-23'888,"-3"17"1032,-13 16-1384,-14 34-216,-7 10 88,-29 14 153,-4 7 39,-6 8-216,0 6-96,23 11-136,10-1-272,27-1-1617,13-3 1217</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17T15:16:33.872"/>
    </inkml:context>
    <inkml:brush xml:id="br0">
      <inkml:brushProperty name="width" value="0.05" units="cm"/>
      <inkml:brushProperty name="height" value="0.05" units="cm"/>
      <inkml:brushProperty name="ignorePressure" value="1"/>
    </inkml:brush>
  </inkml:definitions>
  <inkml:trace contextRef="#ctx0" brushRef="#br0">0 1,'527'0,"-483"0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17T15:16:34.218"/>
    </inkml:context>
    <inkml:brush xml:id="br0">
      <inkml:brushProperty name="width" value="0.05" units="cm"/>
      <inkml:brushProperty name="height" value="0.05" units="cm"/>
      <inkml:brushProperty name="ignorePressure" value="1"/>
    </inkml:brush>
  </inkml:definitions>
  <inkml:trace contextRef="#ctx0" brushRef="#br0">1 1,'23'0,"6"0,2 0,6 0,5 0,-5 0,11 0,14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17T15:16:35.271"/>
    </inkml:context>
    <inkml:brush xml:id="br0">
      <inkml:brushProperty name="width" value="0.05" units="cm"/>
      <inkml:brushProperty name="height" value="0.05" units="cm"/>
      <inkml:brushProperty name="ignorePressure" value="1"/>
    </inkml:brush>
  </inkml:definitions>
  <inkml:trace contextRef="#ctx0" brushRef="#br0">3 1,'-2'0,"4"0,14 0,9 0,8 0,5 0,7 0,-1 0,-5 0,15 0,0 0,4 0,-4 0,0 0,0 0,-12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17T15:16:35.696"/>
    </inkml:context>
    <inkml:brush xml:id="br0">
      <inkml:brushProperty name="width" value="0.05" units="cm"/>
      <inkml:brushProperty name="height" value="0.05" units="cm"/>
      <inkml:brushProperty name="ignorePressure" value="1"/>
    </inkml:brush>
  </inkml:definitions>
  <inkml:trace contextRef="#ctx0" brushRef="#br0">1 1,'16'0,"3"0,10 0,-2 0,10 0,1 0,-1 0,-2 0,1 0,-3 0,0 0,4 0,7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17T15:16:36.152"/>
    </inkml:context>
    <inkml:brush xml:id="br0">
      <inkml:brushProperty name="width" value="0.05" units="cm"/>
      <inkml:brushProperty name="height" value="0.05" units="cm"/>
      <inkml:brushProperty name="ignorePressure" value="1"/>
    </inkml:brush>
  </inkml:definitions>
  <inkml:trace contextRef="#ctx0" brushRef="#br0">1 1,'0'0,"10"0,9 0,16 0,4 0,3 0,10 0,4 0,2 0,-11 0,-9 0,-5 0,0 0,15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17T15:16:36.561"/>
    </inkml:context>
    <inkml:brush xml:id="br0">
      <inkml:brushProperty name="width" value="0.05" units="cm"/>
      <inkml:brushProperty name="height" value="0.05" units="cm"/>
      <inkml:brushProperty name="ignorePressure" value="1"/>
    </inkml:brush>
  </inkml:definitions>
  <inkml:trace contextRef="#ctx0" brushRef="#br0">0 1,'19'0,"14"0,11 0,10 0,0 0,6 0,-2 0,-2 0,-9 0,-13 0,1 0,-8 0,-2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17T15:16:41.038"/>
    </inkml:context>
    <inkml:brush xml:id="br0">
      <inkml:brushProperty name="width" value="0.05" units="cm"/>
      <inkml:brushProperty name="height" value="0.05" units="cm"/>
      <inkml:brushProperty name="ignorePressure" value="1"/>
    </inkml:brush>
  </inkml:definitions>
  <inkml:trace contextRef="#ctx0" brushRef="#br0">1 521,'0'-492,"0"464</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17T15:16:41.495"/>
    </inkml:context>
    <inkml:brush xml:id="br0">
      <inkml:brushProperty name="width" value="0.05" units="cm"/>
      <inkml:brushProperty name="height" value="0.05" units="cm"/>
      <inkml:brushProperty name="ignorePressure" value="1"/>
    </inkml:brush>
  </inkml:definitions>
  <inkml:trace contextRef="#ctx0" brushRef="#br0">1 461,'0'-4,"0"-2,0 4,0-4,0-15,0-2,0-18,0-9,0-10,0-9,0-14,0-12</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6:44.422"/>
    </inkml:context>
    <inkml:brush xml:id="br0">
      <inkml:brushProperty name="width" value="0.05" units="cm"/>
      <inkml:brushProperty name="height" value="0.05" units="cm"/>
    </inkml:brush>
  </inkml:definitions>
  <inkml:trace contextRef="#ctx0" brushRef="#br0">98 203 3993,'-12'-12'1160,"-3"-3"1113,-1-1-873,10-1-200,4-4-392,-9-8-152,3-2-327,-5 0-522,-1 0 121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6:50.362"/>
    </inkml:context>
    <inkml:brush xml:id="br0">
      <inkml:brushProperty name="width" value="0.05" units="cm"/>
      <inkml:brushProperty name="height" value="0.05" units="cm"/>
    </inkml:brush>
  </inkml:definitions>
  <inkml:trace contextRef="#ctx0" brushRef="#br0">310 177 10986,'0'-1'31,"0"1"0,0-1 0,0 1 0,-1 0 0,1-1 0,0 1 0,0 0 0,0-1 0,-1 1 0,1 0 0,0-1 0,0 1 0,-1 0 0,1 0 0,0-1 0,-1 1 0,1 0 0,0 0-1,-1-1 1,1 1 0,0 0 0,-1 0 0,1 0 0,-1 0 0,1 0 0,0 0 0,-1 0 0,1 0 0,-1 0 0,1 0 0,0 0 0,-1 0 0,1 0 0,-1 0 0,1 0 0,0 0 0,-1 0 0,1 0 0,0 0 0,-1 0 0,1 1-1,-1-1 1,1 0 0,0 0 0,0 1 0,-1-1 0,1 0 0,0 0 0,-1 1 0,1-1 0,0 0 0,0 1 0,-1-1 0,1 0 0,0 1 0,-15 23 721,13-20-577,-9 15 292,-1 0 1,-1-1-1,-25 29 1,-53 44 890,6-6-309,64-60-938,17-17-75,13-12 9,17-17-45,-1-2 0,-1 0 0,-1-1 0,-1-2 0,-2 0 0,33-53 0,-43 59 3,-1 0-1,0-1 1,-2 1 0,-1-2 0,6-27 0,11-39 4,-22 85-10,0 0 0,1 0 1,-1 0-1,1 0 0,-1 0 0,1 0 1,0 1-1,0-1 0,0 0 0,0 1 1,1-1-1,-1 1 0,6-4 1,-6 5 0,0 0 0,0 0 0,0 1 0,0-1 0,0 0 1,0 1-1,1-1 0,-1 1 0,0 0 0,0 0 0,1 0 1,-1 0-1,0 0 0,0 0 0,0 1 0,1-1 0,-1 1 1,0-1-1,0 1 0,0 0 0,3 1 0,-4-1 5,1 1 0,0-1-1,0 0 1,0 1 0,-1-1-1,1 1 1,-1-1 0,1 1-1,-1 0 1,0 0 0,0 0-1,0 0 1,0 0 0,0 0-1,0 0 1,0 0 0,-1 0-1,2 3 1,4 45 153,-3-26-47,3 5-46,0-2 1,3 1-1,0-1 0,1-1 0,2 1 1,1-2-1,1 0 0,22 31 0,-5-15-51,1-1 1,2-1-1,67 57 0,-27-42 24,-74-54-35,1 0 0,-1 0 0,0 0 0,0 1 1,0-1-1,0 0 0,1 0 0,-1 1 0,0-1 1,0 0-1,0 0 0,0 1 0,0-1 0,0 0 0,0 0 1,0 1-1,0-1 0,0 0 0,0 0 0,0 1 1,0-1-1,0 0 0,0 0 0,0 1 0,0-1 1,0 0-1,0 0 0,0 1 0,0-1 0,-1 0 0,1 0 1,0 0-1,0 1 0,0-1 0,0 0 0,-1 1 1,-11 10 14,-18 5-15,15-12-1,-1 0 0,0-1 0,1 0 0,-1-2 0,0 0 0,-27-1 0,-1-5 9,-48-11 0,54 8 5,6 2 29,0 2 0,-59-2 0,77 7-290,0 0 0,0 0 0,0 1 0,0 1 0,0 0 0,1 1 0,-1 1 0,-24 11 0,37-16-3,0 1 1,-1 0-1,1 0 0,0-1 0,0 1 0,0 0 0,0 0 1,0 0-1,0 0 0,0 0 0,0 0 0,0 0 0,1 0 0,-1 0 1,0 1-1,1-1 0,-1 0 0,0 0 0,1 1 0,0-1 0,-1 0 1,1 3-1,6-2-1816</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6:51.511"/>
    </inkml:context>
    <inkml:brush xml:id="br0">
      <inkml:brushProperty name="width" value="0.05" units="cm"/>
      <inkml:brushProperty name="height" value="0.05" units="cm"/>
    </inkml:brush>
  </inkml:definitions>
  <inkml:trace contextRef="#ctx0" brushRef="#br0">613 23 7026,'2'-2'343,"12"-12"918,-12 8-230,-10 6 498,-43 9-380,-79 3-1,57-7-565,40-2-320,-123 14 1261,129-12-1283,-1 1 0,1 1 0,-40 17 0,57-20-222,-8 5 95,17-9-110,1 0 0,0 1 1,0-1-1,-1 1 0,1-1 0,0 0 0,0 1 1,0-1-1,0 1 0,-1-1 0,1 0 0,0 1 0,0-1 1,0 1-1,0-1 0,0 1 0,0-1 0,0 1 0,0-1 1,0 0-1,1 1 0,-1-1 0,0 1 0,0-1 1,0 0-1,0 1 0,0-1 0,1 1 0,-1-1 0,0 0 1,0 1-1,1-1 0,-1 0 0,0 1 0,1-1 0,-1 0 1,0 0-1,1 1 0,7 8 48,-1 1 0,0 0 0,0 0 0,-1 1 0,-1 0 0,0 0 0,0 0-1,-1 1 1,0-1 0,-1 1 0,-1 0 0,2 14 0,-1 15 36,-2 1 0,-4 51 0,-1 2-67,1-31-5,1-45-5,1 1-1,0-1 1,2 0-1,0 1 0,7 36 1,-7-54-7,0 1-1,0-1 1,0 0 0,0 1-1,0-1 1,1 0 0,-1 0 0,1 1-1,-1-1 1,1 0 0,0-1-1,0 1 1,0 0 0,0 0 0,0-1-1,0 1 1,0-1 0,1 0-1,-1 0 1,1 0 0,-1 0 0,0 0-1,1 0 1,0-1 0,3 1-1,5 0 16,0 0-1,1-2 1,-1 1 0,20-5-1,-4 1-3,174-11 5,-122 4-57,-16 1-190,1 3-1,0 2 0,70 5 0,-98 6-1240,-17 4-2545</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6:51.889"/>
    </inkml:context>
    <inkml:brush xml:id="br0">
      <inkml:brushProperty name="width" value="0.05" units="cm"/>
      <inkml:brushProperty name="height" value="0.05" units="cm"/>
    </inkml:brush>
  </inkml:definitions>
  <inkml:trace contextRef="#ctx0" brushRef="#br0">49 5 11859,'-7'-4'536,"-1"8"536,4 19-624,2 6 112,0 18 128,0 9-24,0 23-216,-5 6-87,1 0-49,2-2-32,0-18-72,4-5-40,2-27-40,4-6-8,0-17-256,1-12-392,-1-2-1913,0-13 1529</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6:52.234"/>
    </inkml:context>
    <inkml:brush xml:id="br0">
      <inkml:brushProperty name="width" value="0.05" units="cm"/>
      <inkml:brushProperty name="height" value="0.05" units="cm"/>
    </inkml:brush>
  </inkml:definitions>
  <inkml:trace contextRef="#ctx0" brushRef="#br0">137 1 13755,'-2'2'384,"-2"2"-144,0 4-192,-11-2-40,-1 1-32,-5 1-208,-6-4-280,2-2-1416,2 0 1199</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6:52.724"/>
    </inkml:context>
    <inkml:brush xml:id="br0">
      <inkml:brushProperty name="width" value="0.05" units="cm"/>
      <inkml:brushProperty name="height" value="0.05" units="cm"/>
    </inkml:brush>
  </inkml:definitions>
  <inkml:trace contextRef="#ctx0" brushRef="#br0">351 4 7178,'0'0'50,"0"0"0,0 0 1,0 0-1,0 0 1,0 0-1,0 0 1,0 0-1,0-1 1,0 1-1,0 0 1,0 0-1,0 0 0,0 0 1,0 0-1,0 0 1,0-1-1,0 1 1,0 0-1,0 0 1,0 0-1,0 0 1,0 0-1,0 0 0,0 0 1,0 0-1,-1 0 1,1-1-1,0 1 1,0 0-1,0 0 1,0 0-1,0 0 1,0 0-1,0 0 0,0 0 1,0 0-1,-1 0 1,1 0-1,0 0 1,0 0-1,0 0 1,0 0-1,0 0 0,0 0 1,0 0-1,-1 0 1,1 0-1,0 0 1,0 0-1,0 0 1,0 0-1,0 0 1,0 0-1,0 0 0,0 0 1,-1 0-1,1 0 1,0 0-1,0 0 1,-17-1 1397,-32 4-701,31-2-227,-50 1 145,35-2 6,1 1 1,-51 9-1,80-9-655,1 0 0,-1 0-1,1 0 1,0 0-1,-1 0 1,1 0-1,0 1 1,0-1 0,-1 1-1,1 0 1,1 0-1,-1-1 1,0 1 0,0 0-1,1 1 1,-1-1-1,1 0 1,-1 0 0,1 1-1,0-1 1,0 1-1,0-1 1,0 1 0,1-1-1,-1 1 1,1-1-1,0 1 1,-1 0 0,1 3-1,0 8 4,0 0 1,1 0-1,1 1 0,3 13 0,12 66 459,71 466 407,-86-545-876,-2-5 8,1 0 0,0 0 1,1 0-1,0 0 0,6 14 0,-7-22-10,0 0 0,0 0-1,1 0 1,-1 0 0,0 0-1,1 0 1,0 0 0,-1 0-1,1-1 1,0 1 0,0-1-1,0 1 1,0-1 0,0 0-1,0 0 1,0 0 0,0 0-1,1 0 1,-1 0 0,0-1-1,1 1 1,-1-1 0,0 1-1,1-1 1,-1 0 0,0 0-1,5-1 1,42-2 55,-20 1-202,1 1 1,34 3 0,-53-1-816,-1 1 0,1 0-1,17 5 1,-18-4-314</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6:53.166"/>
    </inkml:context>
    <inkml:brush xml:id="br0">
      <inkml:brushProperty name="width" value="0.05" units="cm"/>
      <inkml:brushProperty name="height" value="0.05" units="cm"/>
    </inkml:brush>
  </inkml:definitions>
  <inkml:trace contextRef="#ctx0" brushRef="#br0">1 12 8514,'2'-12'2774,"3"18"-1648,9 29-1152,-7-18 302,49 132 224,-50-137-472,-1 0 101,1 0 0,0 0 0,1-1 1,11 16-1,-16-25-67,1 1 0,0 0 0,0 0 0,0-1 0,0 1 0,0-1 0,0 0 0,0 0 0,1 0 1,-1-1-1,1 1 0,0-1 0,-1 0 0,1 0 0,0 0 0,0 0 0,0-1 0,0 1 0,7-1 0,-7 0-45,0-1 0,-1 1 0,1-1-1,0 0 1,0 0 0,-1 0 0,1 0 0,-1-1-1,1 0 1,-1 1 0,1-1 0,-1-1-1,0 1 1,0 0 0,3-4 0,-1 1-6,-1 0-1,0 0 1,0 0 0,0-1 0,-1 1-1,0-1 1,0 0 0,3-9 0,-2 3-7,-1-1 0,0 1 0,-1-1 0,0 0 0,-1 0 1,0 0-1,-1 0 0,-2-21 0,-5 5-12,7 28 7,-1-1 1,1 1-1,-1-1 0,1 1 1,-1-1-1,0 1 0,0-1 1,1 1-1,-1 0 0,0 0 1,0-1-1,0 1 0,-1 0 1,1 0-1,-2-1 0,2 1 4,1 1 0,-1 0 0,1 0 0,-1 0 0,1 0-1,-1 0 1,1 0 0,-1 0 0,1 0 0,-1 0 0,1 1 0,-1-1-1,1 0 1,-1 0 0,1 0 0,-1 1 0,1-1 0,-1 0-1,1 0 1,-1 1 0,1-1 0,0 0 0,-1 1 0,1-1 0,-1 1-1,1-1 1,0 0 0,0 1 0,-1-1 0,1 1 0,0-1 0,0 1-1,-1-1 1,1 1 0,0-1 0,0 1 0,0-1 0,0 1-1,0-1 1,0 1 0,0-1 0,0 1 0,0 0 0,-3 32 139,3-32-139,6 122 240,0-38-202,-6-65-37,3 153 23,-4-131-10,-2 0-1,-9 44 1,10-73 39,-2 1 1,1-1-1,-7 13 0,9-23-257,0-1 0,0 1 0,0 0 1,-1-1-1,1 1 0,-1-1 0,0 0 1,0 1-1,0-1 0,0 0 0,0 0 1,0 0-1,0 0 0,-1-1 0,1 1 1,-1-1-1,1 1 0,-1-1 0,0 0 1,-3 2-1,-6-3-1393</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6:53.542"/>
    </inkml:context>
    <inkml:brush xml:id="br0">
      <inkml:brushProperty name="width" value="0.05" units="cm"/>
      <inkml:brushProperty name="height" value="0.05" units="cm"/>
    </inkml:brush>
  </inkml:definitions>
  <inkml:trace contextRef="#ctx0" brushRef="#br0">47 40 9618,'-1'-5'477,"-1"1"0,1 0-1,-1 0 1,0 0 0,0 0-1,-5-7 1,7 11-422,0 0 0,-1-1 0,1 1 0,0 0 0,0 0 0,0 0 0,-1-1 0,1 1 0,0 0 0,-1 0-1,1 0 1,0-1 0,0 1 0,-1 0 0,1 0 0,0 0 0,-1 0 0,1 0 0,0 0 0,-1 0 0,1 0 0,0 0 0,0 0 0,-1 0 0,1 0 0,0 0 0,-1 0-1,1 0 1,0 0 0,-1 0 0,1 0 0,0 1 0,-1-1 0,1 0 0,-1 1-27,0 1 1,0-1-1,0 0 1,0 1-1,0-1 1,0 1-1,0-1 1,1 1-1,-1-1 0,1 1 1,-1 2-1,-2 9 140,0 1 0,1 0 1,1-1-1,1 25 0,8 59 86,-3-54-211,12 237 58,-1-32 29,-15-234-243,4 36 367,-4-48-391,-1 0-1,1 1 0,-1-1 1,1 0-1,0 1 1,0-1-1,0 0 0,0 0 1,0 0-1,0 0 0,1 0 1,-1 0-1,1 0 0,-1 0 1,5 3-1,4-2-738</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6:53.906"/>
    </inkml:context>
    <inkml:brush xml:id="br0">
      <inkml:brushProperty name="width" value="0.05" units="cm"/>
      <inkml:brushProperty name="height" value="0.05" units="cm"/>
    </inkml:brush>
  </inkml:definitions>
  <inkml:trace contextRef="#ctx0" brushRef="#br0">1 0 12395,'6'0'688,"2"11"520,7 12-1024,20 24-80,-10 7 8,12 23 8,9 8 8,-15-2-96,7-2-8,-16-23 0,-1-8 0,-6-23-112,1-9-168,-1-18-896,-9-10-793,6-17 1025</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6:54.251"/>
    </inkml:context>
    <inkml:brush xml:id="br0">
      <inkml:brushProperty name="width" value="0.05" units="cm"/>
      <inkml:brushProperty name="height" value="0.05" units="cm"/>
    </inkml:brush>
  </inkml:definitions>
  <inkml:trace contextRef="#ctx0" brushRef="#br0">270 1 10602,'-22'0'696,"-7"10"657,-5 7-441,7 18-200,0 10-40,1 26-288,1 2-128,2 16-136,-4-10-40,12-17-80,5-4-160,6-25-832,4-6-808,14-13 920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6:54.613"/>
    </inkml:context>
    <inkml:brush xml:id="br0">
      <inkml:brushProperty name="width" value="0.05" units="cm"/>
      <inkml:brushProperty name="height" value="0.05" units="cm"/>
    </inkml:brush>
  </inkml:definitions>
  <inkml:trace contextRef="#ctx0" brushRef="#br0">1 33 11418,'1'-2'76,"0"0"-1,0 0 0,0 0 1,0 0-1,0 0 0,0 1 1,0-1-1,1 0 0,-1 1 1,1-1-1,0 1 0,-1-1 0,1 1 1,0 0-1,0 0 0,0 0 1,0 0-1,0 0 0,2-1 1,0 1-33,0 1 1,0 0 0,0-1-1,0 1 1,0 1 0,0-1-1,1 1 1,-1-1 0,7 3 0,43 11-58,-19-6 108,0 1 0,34 15 0,-58-19 18,0 0 0,0 1 0,-1 0 0,1 1 0,-1 0 0,-1 1 0,1 0 0,-1 0 0,-1 1 0,8 10 0,-3-1-10,-2 1 1,0 0-1,-1 1 1,0 0 0,-2 1-1,-1 0 1,6 23-1,23 158-55,-30-157-21,51 460 86,-56-500-116,0 5 39,0 1 0,0 0 0,-1-1 0,-3 21 0,2-28-3,1-1 0,-1 1 0,0-1 0,0 0 0,0 1-1,0-1 1,0 0 0,0 0 0,-1 0 0,1 0 0,-1 0 0,1 0-1,-1 0 1,0 0 0,0 0 0,0-1 0,0 1 0,0-1-1,0 0 1,0 1 0,-1-1 0,1 0 0,0 0 0,-1-1-1,-3 2 1,-15 2 102,0 0-1,0-2 1,0-1-1,-30-1 1,-80-12-969,116 10 598,-10 1-166</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7:09.891"/>
    </inkml:context>
    <inkml:brush xml:id="br0">
      <inkml:brushProperty name="width" value="0.05" units="cm"/>
      <inkml:brushProperty name="height" value="0.05" units="cm"/>
      <inkml:brushProperty name="color" value="#00A0D7"/>
    </inkml:brush>
  </inkml:definitions>
  <inkml:trace contextRef="#ctx0" brushRef="#br0">365 1835 8450,'10'14'2814,"-10"-13"-2741,0 0 0,0-1 0,0 1 0,1-1 0,-1 1 0,0 0 0,0-1 0,1 1 0,-1-1 0,0 1 0,1-1 0,-1 1 0,0-1 0,1 1 0,-1-1 0,1 0 0,-1 1 0,1-1 0,-1 1 0,1-1 0,-1 0 0,1 0 0,-1 1 0,1-1 0,0 0 0,-1 0 0,1 1 0,-1-1 0,1 0 0,0 0 0,-1 0 0,1 0 0,-1 0 0,1 0 0,0 0 0,-1 0 0,1 0 0,-1-1 0,2 1 0,-2-1-12,0 1-1,0-1 0,0 0 1,0 1-1,0-1 0,0 1 0,0-1 1,0 0-1,0 1 0,0-1 1,0 0-1,0 1 0,0-1 1,-1 0-1,1 1 0,0-1 0,0 1 1,-1-1-1,1 0 0,-1 1 1,1-1-1,-1 0 0,-9-15 434,-18-30-54,3 0 0,1-1 0,-22-67 0,-40-158-46,70 219-296,-36-149-361,-25-214-1,75 408 254,-7-52-56,-5-115-1,14 157 95,0 0 1,2 0-1,0 0 1,1 0-1,1 0 0,1 1 1,0 0-1,2 0 1,-1 0-1,2 1 0,10-17 1,-9 19 4,2 0 1,0 1-1,0 0 1,1 1-1,0 0 0,1 1 1,1 0-1,0 1 1,0 0-1,1 2 1,22-11-1,-29 15-34,0 1 0,0 0-1,0 1 1,0 0 0,1 0 0,-1 1-1,1 0 1,-1 1 0,1-1 0,-1 2 0,1-1-1,-1 1 1,1 0 0,-1 1 0,1 0 0,-1 1-1,0-1 1,0 1 0,0 1 0,-1 0-1,1 0 1,-1 0 0,0 1 0,11 9 0,-9-6 11,-1 1 0,0 0 0,-1 0 0,1 0 1,-2 1-1,1 0 0,-2 1 0,1-1 1,-1 1-1,-1 0 0,0 1 0,0-1 0,-2 1 1,1-1-1,-1 1 0,-1 0 0,0 0 0,-1 0 1,0 0-1,0-1 0,-3 14 0,-1-2 27,-1 0 0,-1 0 0,-1 0 0,-1-1 0,0 0 0,-2-1-1,-1 0 1,0-1 0,-27 36 0,35-52-34,-20 26 13,-48 49 1,60-69-20,-28 29-40,37-37 41,1-1-1,0 0 0,0 1 0,-1 0 0,1-1 1,0 1-1,1-1 0,-1 1 0,0 0 1,0 0-1,1 0 0,-1-1 0,1 1 1,-1 0-1,1 0 0,0 0 0,0 0 1,0 0-1,0 0 0,0 0 0,0 0 0,1 2 1,1 0-9,0-1 0,0 0-1,0 0 1,0 0 0,1 0 0,-1 0 0,1-1 0,0 1 0,-1-1 0,7 4 0,36 18-51,-31-17 47,8 4 3,0-1 11,0 1 0,-1 1 0,20 15 0,-35-23 9,0 1 0,-1 0-1,1 1 1,-1-1 0,0 1-1,-1 0 1,1 1-1,-1-1 1,-1 1 0,1-1-1,-1 1 1,0 0-1,0 1 1,1 7 0,-3-12-7,-1 0 1,1 0 0,-1 0-1,0 0 1,0 0 0,0 0-1,0 0 1,-1 0-1,1 0 1,-1-1 0,0 1-1,1 0 1,-1 0 0,-1 0-1,1-1 1,0 1 0,-1-1-1,1 1 1,-1-1-1,0 1 1,0-1 0,0 0-1,0 0 1,0 0 0,0 0-1,0 0 1,-1 0 0,1-1-1,-1 1 1,0-1 0,1 1-1,-1-1 1,-4 1-1,-6 3-80,-1-1-1,0-1 1,0 0-1,-1-1 1,-23 1-1,6-3-845,-1-1-1,-43-9 0,-2 1-4081,43 8 3068</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7:10.237"/>
    </inkml:context>
    <inkml:brush xml:id="br0">
      <inkml:brushProperty name="width" value="0.05" units="cm"/>
      <inkml:brushProperty name="height" value="0.05" units="cm"/>
      <inkml:brushProperty name="color" value="#00A0D7"/>
    </inkml:brush>
  </inkml:definitions>
  <inkml:trace contextRef="#ctx0" brushRef="#br0">5 0 14547,'0'21'672,"-2"10"505,0 0-913,2 11 8,2 4-64,2-1-72,4 1-120,-4-7-16,4-12-240,-3-8-400,-5-17 383</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7:10.929"/>
    </inkml:context>
    <inkml:brush xml:id="br0">
      <inkml:brushProperty name="width" value="0.05" units="cm"/>
      <inkml:brushProperty name="height" value="0.05" units="cm"/>
      <inkml:brushProperty name="color" value="#00A0D7"/>
    </inkml:brush>
  </inkml:definitions>
  <inkml:trace contextRef="#ctx0" brushRef="#br0">362 1 12291,'10'0'608,"-10"2"344,-8-2-320,-23 0-88,-9 2-88,-6-2-216,1 4-136,-1 0-120,-1 0-136,11 3-592,-9 1-616,18 0 712</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7:11.290"/>
    </inkml:context>
    <inkml:brush xml:id="br0">
      <inkml:brushProperty name="width" value="0.05" units="cm"/>
      <inkml:brushProperty name="height" value="0.05" units="cm"/>
      <inkml:brushProperty name="color" value="#00A0D7"/>
    </inkml:brush>
  </inkml:definitions>
  <inkml:trace contextRef="#ctx0" brushRef="#br0">387 5 12283,'-5'-3'704,"-13"3"392,-15-2-560,-17 4-240,-2 3-104,-2 1-256,2-2-176,4 2-512,7-2-632,8 0 768</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7:12.864"/>
    </inkml:context>
    <inkml:brush xml:id="br0">
      <inkml:brushProperty name="width" value="0.05" units="cm"/>
      <inkml:brushProperty name="height" value="0.05" units="cm"/>
      <inkml:brushProperty name="color" value="#00A0D7"/>
    </inkml:brush>
  </inkml:definitions>
  <inkml:trace contextRef="#ctx0" brushRef="#br0">550 680 8170,'-7'-7'232,"0"-1"0,0 1 0,0 0 1,-1 1-1,0-1 0,0 2 0,-1-1 1,0 1-1,1 0 0,-2 1 0,1 0 0,-1 1 1,-15-4-1,5 2 237,-1 2 0,0 0 0,0 1 0,0 2 0,-30 1 0,38 1-388,0 0 1,-1 1-1,1 1 1,1-1-1,-1 2 1,1 0-1,-1 1 0,1 0 1,1 0-1,-1 1 1,1 1-1,-12 10 0,15-11-66,0 0-1,1 1 0,-1 0 1,2 0-1,-1 0 0,1 1 0,0 0 1,1 1-1,0-1 0,0 1 1,1 0-1,1 0 0,-1 0 0,2 0 1,-3 15-1,4-23-20,1 1-1,0-1 1,0 1 0,0-1 0,0 1-1,0 0 1,0-1 0,1 1-1,-1-1 1,1 1 0,0-1 0,0 0-1,0 1 1,0-1 0,0 0 0,0 0-1,1 1 1,-1-1 0,1 0-1,-1 0 1,1 0 0,0-1 0,0 1-1,0 0 1,0-1 0,0 1-1,0-1 1,0 0 0,1 1 0,-1-1-1,0 0 1,1-1 0,-1 1 0,0 0-1,1-1 1,-1 1 0,1-1-1,3 1 1,6-1-32,0 1-1,1-2 0,-1 0 1,0 0-1,0-1 1,19-5-1,-13 2 42,0-1 0,-1 0-1,1-1 1,24-15 0,-35 17 17,0 1 0,0-1 0,0-1-1,-1 1 1,0-1 0,0 0 0,-1 0 0,0-1 0,0 0 0,0 1 0,-1-2-1,7-13 1,0-11 57,-1-1 1,-1 0-1,-2-1 0,-1 0 0,-2 0 1,-1 0-1,-2 0 0,-1 0 0,-8-55 0,5 67 6,-2 1-1,0 1 0,-1-1 0,-2 1 1,0 0-1,-1 0 0,-1 1 0,0 0 1,-2 1-1,0 0 0,-1 1 0,-1 1 1,0 0-1,-23-20 0,28 30-117,0 0 0,-1 0 0,0 1 0,0 0 0,-14-4 0,17 7-497,1 0 0,-1 0-1,-1 0 1,1 1 0,-8 0 0,11 7-3204</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7:13.640"/>
    </inkml:context>
    <inkml:brush xml:id="br0">
      <inkml:brushProperty name="width" value="0.05" units="cm"/>
      <inkml:brushProperty name="height" value="0.05" units="cm"/>
      <inkml:brushProperty name="color" value="#00A0D7"/>
    </inkml:brush>
  </inkml:definitions>
  <inkml:trace contextRef="#ctx0" brushRef="#br0">595 0 10514,'-3'2'122,"1"-1"0,0 1-1,0-1 1,-1 1 0,1-1-1,0 0 1,-1 0 0,0 0 0,1 0-1,-1 0 1,1-1 0,-5 1-1,-34 1 373,30-2-311,-70-2 667,-71 2 1148,126 2-1752,1 0 1,0 2-1,-44 11 0,62-12-242,0-1 0,0 1 0,0 0 0,1 0 0,-1 1 0,1 0 0,0 0 0,0 0 0,0 1-1,1 0 1,-1 0 0,1 0 0,1 1 0,-1 0 0,1 0 0,0 0 0,0 0 0,0 1 0,-2 7 0,2-2 9,1 0 0,0 0 0,0 1 0,1-1 0,1 1 0,0-1 1,1 1-1,1-1 0,-1 1 0,5 17 0,3 20-9,26 131-21,-27-155 11,1-1 1,0 0 0,2 0-1,24 42 1,-32-64 9,1 1 0,-1-1 0,1 0 0,0 0 1,1 0-1,-1 0 0,0 0 0,1-1 0,-1 0 0,1 1 0,0-1 1,0-1-1,0 1 0,0 0 0,0-1 0,0 0 0,7 1 0,7 1 5,0-2 0,0 0-1,18-2 1,-8 0-74,109-5-1003,-46-2-2677,-66 4 2527</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7:13.986"/>
    </inkml:context>
    <inkml:brush xml:id="br0">
      <inkml:brushProperty name="width" value="0.05" units="cm"/>
      <inkml:brushProperty name="height" value="0.05" units="cm"/>
      <inkml:brushProperty name="color" value="#00A0D7"/>
    </inkml:brush>
  </inkml:definitions>
  <inkml:trace contextRef="#ctx0" brushRef="#br0">9 1 9082,'-5'2'1256,"1"10"1945,6 11-2593,5 25-392,-1 8 16,15 23-72,-1 8-48,-1-2 24,4-4 24,-15-17 0,0-8 0,9-15-64,-7-5-32,1-20-224,-7-14-360,12-2-1984,-7-8 1583</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7:14.332"/>
    </inkml:context>
    <inkml:brush xml:id="br0">
      <inkml:brushProperty name="width" value="0.05" units="cm"/>
      <inkml:brushProperty name="height" value="0.05" units="cm"/>
      <inkml:brushProperty name="color" value="#00A0D7"/>
    </inkml:brush>
  </inkml:definitions>
  <inkml:trace contextRef="#ctx0" brushRef="#br0">349 1 14939,'-31'6'384,"-4"2"-160,-11-6-224,-6 9-200,0 1-272,3-4-968,3 3-1041,9-1 1337</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7:14.741"/>
    </inkml:context>
    <inkml:brush xml:id="br0">
      <inkml:brushProperty name="width" value="0.05" units="cm"/>
      <inkml:brushProperty name="height" value="0.05" units="cm"/>
      <inkml:brushProperty name="color" value="#00A0D7"/>
    </inkml:brush>
  </inkml:definitions>
  <inkml:trace contextRef="#ctx0" brushRef="#br0">331 0 9386,'-11'4'341,"1"0"0,-1-2 0,0 1 0,0-1 0,0-1-1,0 0 1,-12-1 0,-19 3 13,39-3-343,-17 2 233,1 1 0,-1 0 1,0 2-1,1 0 0,0 1 0,-24 11 0,41-16-218,0 0-1,0 1 1,0 0-1,0-1 1,0 1-1,1 0 1,-1 0 0,0 0-1,1 0 1,0 0-1,0 0 1,-1 1 0,1-1-1,1 0 1,-1 1-1,0-1 1,0 1-1,1-1 1,0 0 0,-1 1-1,1-1 1,0 1-1,0-1 1,1 5-1,0 8-6,2-1-1,0 1 0,5 16 1,0-1 52,31 296 317,-26-177 110,-12-134-401,0-3 27,0-1 0,1 0 0,4 18 0,-5-27-103,0 1 0,0 0 0,0-1 0,1 1 0,-1-1 0,1 1 0,-1-1 0,1 0 0,0 0 0,-1 0 0,1 0 0,0 0 0,1 0 0,-1 0 0,0 0 0,0-1 0,1 1 0,-1-1 0,5 2 0,16 3-41,0-1 0,0-1 0,0-2 0,0 0 0,41-2 0,-31-6-2168,-27 2 1309</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7:15.213"/>
    </inkml:context>
    <inkml:brush xml:id="br0">
      <inkml:brushProperty name="width" value="0.05" units="cm"/>
      <inkml:brushProperty name="height" value="0.05" units="cm"/>
      <inkml:brushProperty name="color" value="#00A0D7"/>
    </inkml:brush>
  </inkml:definitions>
  <inkml:trace contextRef="#ctx0" brushRef="#br0">1 0 9266,'7'14'819,"-5"-10"-626,0 0 0,0 0 0,0 0 0,-1 0 0,0 1 1,1-1-1,-1 0 0,-1 1 0,1 4 0,2 12-65,1 1 1,1-1 0,1 0-1,10 26 1,-13-40-110,0 0 0,0 0 0,0 0 0,1 0 0,1 0 0,-1-1 0,1 0 0,0 0 0,0 0 0,0 0 0,1-1 0,0 0 0,0 0 0,1-1 0,9 6 0,-13-9-14,1 1 1,-1-1 0,0 0 0,1 0-1,-1-1 1,1 1 0,0-1-1,-1 0 1,1 0 0,-1 0 0,1 0-1,-1 0 1,1-1 0,-1 0-1,1 1 1,-1-1 0,1-1-1,2 0 1,-1-1-2,-1 0 0,1 0-1,-1 0 1,0 0 0,0-1-1,-1 0 1,1 1 0,-1-1-1,1 0 1,-1-1 0,3-5-1,-1 1 5,-1-1-1,1 0 0,-2 0 0,1 0 0,-1 0 0,-1 0 1,0-1-1,0 1 0,-1-1 0,-1 1 0,0-19 0,-1 22 17,0 0-1,-1-1 0,1 1 1,-1 0-1,-1 0 0,1 0 0,-1 1 1,-1-1-1,1 0 0,-7-8 1,10 15-17,-1-1 1,1 1 0,0-1-1,0 1 1,-1-1 0,1 1-1,0-1 1,-1 1 0,1 0-1,0-1 1,-1 1 0,1 0 0,-1-1-1,1 1 1,-1 0 0,1-1-1,0 1 1,-1 0 0,1 0-1,-1 0 1,1-1 0,-1 1-1,0 0 1,1 0 0,-1 0-1,1 0 1,-1 0 0,1 0 0,-1 0-1,1 0 1,-1 0 0,1 0-1,-1 0 1,1 0 0,-1 1-1,1-1 1,-1 0 0,1 0-1,-1 1 1,1-1 0,-1 0 0,0 1-1,0 0 10,0 1 0,0-1 0,1 0 0,-1 1 0,0-1 0,1 1 0,-1-1-1,1 1 1,-1-1 0,1 1 0,0 3 0,-1 10 50,1 0-1,1 1 1,1-1 0,4 21 0,20 62 66,-16-63-107,-3-12-18,33 139 26,-35-138-30,-2 0 1,-1 0-1,0 0 0,-4 43 0,1-59-18,-1-1 0,1 0 0,-1 0 0,-1 0 0,1 0 0,-1 0 1,0 0-1,-1-1 0,1 1 0,-1-1 0,-1 0 0,-6 8 0,9-12-89,0 1 1,-1-1-1,1 0 1,-1 0 0,0 0-1,0 0 1,0 0-1,0-1 1,0 1-1,0-1 1,0 0-1,0 0 1,-1 0-1,1 0 1,0 0-1,-1-1 1,1 1 0,0-1-1,-1 0 1,1 0-1,-1-1 1,1 1-1,0-1 1,-1 1-1,1-1 1,0 0-1,0 0 1,-4-2-1,-27-16-985</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7:15.607"/>
    </inkml:context>
    <inkml:brush xml:id="br0">
      <inkml:brushProperty name="width" value="0.05" units="cm"/>
      <inkml:brushProperty name="height" value="0.05" units="cm"/>
      <inkml:brushProperty name="color" value="#00A0D7"/>
    </inkml:brush>
  </inkml:definitions>
  <inkml:trace contextRef="#ctx0" brushRef="#br0">1 10 10522,'2'-10'2681,"2"23"-2065,6 24-104,3 13 32,-1 31-144,5 12-136,-5 15-208,-2-7-16,1-11-8,-3-16 8,0-22 0,1-4-8,-1-17-136,7-4-200,1-11-768,7-1-616,0-7 872</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7:15.953"/>
    </inkml:context>
    <inkml:brush xml:id="br0">
      <inkml:brushProperty name="width" value="0.05" units="cm"/>
      <inkml:brushProperty name="height" value="0.05" units="cm"/>
      <inkml:brushProperty name="color" value="#00A0D7"/>
    </inkml:brush>
  </inkml:definitions>
  <inkml:trace contextRef="#ctx0" brushRef="#br0">9 0 13683,'-8'7'400,"12"9"-80,15 26-240,12 7 32,-2 7 32,6 7 8,0-5-24,1 2-48,-1-6-32,-8-9-16,0-9-40,-6-14-544,-9-9-504,7-11-1673,-3-2 1473</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7:16.284"/>
    </inkml:context>
    <inkml:brush xml:id="br0">
      <inkml:brushProperty name="width" value="0.05" units="cm"/>
      <inkml:brushProperty name="height" value="0.05" units="cm"/>
      <inkml:brushProperty name="color" value="#00A0D7"/>
    </inkml:brush>
  </inkml:definitions>
  <inkml:trace contextRef="#ctx0" brushRef="#br0">282 0 8970,'-27'6'936,"4"13"1073,-4 16-881,2 21-272,1 9-120,-1 9-376,8 5-104,-2-6-184,-1-3-56,-3-18-152,4-6-136,5-23-672,-1-11-944,11-12 1095</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7:16.646"/>
    </inkml:context>
    <inkml:brush xml:id="br0">
      <inkml:brushProperty name="width" value="0.05" units="cm"/>
      <inkml:brushProperty name="height" value="0.05" units="cm"/>
      <inkml:brushProperty name="color" value="#00A0D7"/>
    </inkml:brush>
  </inkml:definitions>
  <inkml:trace contextRef="#ctx0" brushRef="#br0">1 1 11658,'9'-1'99,"0"1"0,0 1 0,0-1 0,0 2 0,0-1 0,0 1 0,0 0 0,-1 1 0,1 0 0,-1 1 0,0 0 0,11 6 0,-7-2-69,0 0-1,-1 0 1,0 1-1,-1 0 1,1 1-1,-2 1 1,12 15-1,-9-9 41,-1 2 0,-1 0 0,-1 0-1,0 0 1,-2 1 0,7 24-1,20 129 439,-25-115-313,21 72 0,32 31 30,-39-108-197,24 85 1,-46-134 33,0 1 1,0-1-1,0 1 1,0-1-1,-1 1 1,0-1-1,0 1 1,0-1-1,-1 1 1,-1 5-1,2-9-14,-1 1 0,0-1 0,1 0 0,-1 1 0,0-1 0,0 0 1,0 1-1,0-1 0,0 0 0,0 0 0,-1 0 0,1 0 0,0 0 0,-1 0 0,1 0 0,0 0 0,-1-1 0,1 1 0,-1-1 0,1 1 0,-1-1 1,1 1-1,-1-1 0,0 0 0,1 0 0,-1 0 0,1 1 0,-1-2 0,0 1 0,1 0 0,-1 0 0,-1-1 0,-59-8 292,49 6-369,-1 1 1,1 0-1,-1 0 0,1 2 1,-1 0-1,0 0 0,1 1 0,-19 4 1,10 1-452,3-1 168</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7:17.353"/>
    </inkml:context>
    <inkml:brush xml:id="br0">
      <inkml:brushProperty name="width" value="0.05" units="cm"/>
      <inkml:brushProperty name="height" value="0.05" units="cm"/>
      <inkml:brushProperty name="color" value="#00A0D7"/>
    </inkml:brush>
  </inkml:definitions>
  <inkml:trace contextRef="#ctx0" brushRef="#br0">4115 51 10930,'-5'-3'241,"-1"0"0,0 1 1,0 0-1,0 0 0,0 0 0,0 1 0,0 0 0,-11 0 0,-8-3 293,-64-9 561,-146-3 0,-95 20-949,173 0-115,-492 25 758,-70-19-594,477-11 174,-161 4 65,-177 0 651,393-3-560,-123-5-289,195-5-2026,106 7 487,22 4-459,21 8 650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7:18.251"/>
    </inkml:context>
    <inkml:brush xml:id="br0">
      <inkml:brushProperty name="width" value="0.05" units="cm"/>
      <inkml:brushProperty name="height" value="0.05" units="cm"/>
      <inkml:brushProperty name="color" value="#00A0D7"/>
    </inkml:brush>
  </inkml:definitions>
  <inkml:trace contextRef="#ctx0" brushRef="#br0">403 715 8314,'-10'-5'453,"0"-1"0,-1 2 0,1-1 0,-1 2 0,1-1 0,-1 1 0,0 1 0,-1 0 0,1 1 0,-19-1 0,21 3-358,0-1 0,-1 2 0,1-1 0,0 1 0,0 1 0,0-1 1,1 2-1,-1-1 0,1 1 0,-1 0 0,1 1 0,1 0 0,-12 9 0,4-1-86,0 1-1,0 1 0,1 0 1,1 1-1,1 0 0,0 1 1,-14 27-1,24-40-1,1-1 0,-1 1 0,1 0 0,-1 0 0,1 0 0,0 0 0,1 1 0,-1-1 0,1 0 0,-1 0 0,1 0 0,1 6 0,-1-8-1,1 0 0,0 0 0,-1 0 0,1-1 0,0 1 0,0 0 1,0 0-1,0 0 0,0-1 0,0 1 0,0 0 0,1-1 0,-1 1 0,1-1 1,-1 0-1,1 1 0,-1-1 0,1 0 0,0 0 0,0 0 0,-1 0 1,1 0-1,0 0 0,0-1 0,0 1 0,3 0 0,4 0-3,-1 0 1,1 0-1,0-1 0,-1 0 0,1-1 0,0 1 0,-1-2 1,1 1-1,-1-1 0,0-1 0,13-4 0,11-7 137,46-27-1,-73 38-113,20-11 175,-1-1-1,45-37 1,-62 46-153,-1 0-1,0 0 1,0-1 0,0 0-1,0 0 1,-1 0-1,-1-1 1,1 0 0,-1 0-1,0 0 1,-1 0-1,0-1 1,0 1 0,1-13-1,-3 5 76,0-1-1,-2 1 0,0 0 1,0-1-1,-2 1 1,0 0-1,-9-28 1,-51-109 1171,53 131-1081,-20-38 523,-4 1-1,-49-69 0,71 111-979,0 1 0,-1 0-1,0 1 1,-1 0 0,-30-23 0,43 38 117,-3-1-1185,4 13 389</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7:18.598"/>
    </inkml:context>
    <inkml:brush xml:id="br0">
      <inkml:brushProperty name="width" value="0.05" units="cm"/>
      <inkml:brushProperty name="height" value="0.05" units="cm"/>
      <inkml:brushProperty name="color" value="#00A0D7"/>
    </inkml:brush>
  </inkml:definitions>
  <inkml:trace contextRef="#ctx0" brushRef="#br0">1 0 11058,'29'27'1017,"-4"6"1783,2 19-2296,4 12 16,4 5 17,15 1-105,-4 1-304,-1-9-80,-5-12-40,-7-9-8,-6-18-136,-4-12-248,-5-16-1641,-1-5 1313</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7:18.914"/>
    </inkml:context>
    <inkml:brush xml:id="br0">
      <inkml:brushProperty name="width" value="0.05" units="cm"/>
      <inkml:brushProperty name="height" value="0.05" units="cm"/>
      <inkml:brushProperty name="color" value="#00A0D7"/>
    </inkml:brush>
  </inkml:definitions>
  <inkml:trace contextRef="#ctx0" brushRef="#br0">592 0 10970,'-19'0'1345,"-3"11"2535,-14 26-2999,-16 13 63,-14 18 128,-9 5-192,-3 10-456,-1-2-216,23-13-424,8-4-328,13-16-1264,10-4 1064</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6:48.123"/>
    </inkml:context>
    <inkml:brush xml:id="br0">
      <inkml:brushProperty name="width" value="0.05" units="cm"/>
      <inkml:brushProperty name="height" value="0.05" units="cm"/>
    </inkml:brush>
  </inkml:definitions>
  <inkml:trace contextRef="#ctx0" brushRef="#br0">459 104 2761,'-7'-8'384,"0"1"0,1-1 0,0 0 1,0 0-1,1-1 0,0 0 0,0 0 0,-4-14 1,8 22-190,1 0 1,-1 0-1,1 0 1,-1 0 0,1 0-1,-1 0 1,0 1-1,0-1 1,1 0 0,-1 0-1,0 1 1,0-1-1,0 1 1,0-1 0,1 1-1,-1-1 1,0 1-1,0-1 1,0 1 0,-2-1-1,3 1-166,0 1 0,0-1 0,0 0-1,0 0 1,0 0 0,-1 0 0,1 0 0,0 0 0,0 0-1,0 0 1,0 0 0,0 1 0,0-1 0,0 0-1,0 0 1,-1 0 0,1 0 0,0 0 0,0 0 0,0 1-1,0-1 1,0 0 0,0 0 0,0 0 0,0 0-1,0 1 1,0-1 0,0 0 0,0 0 0,0 0 0,0 0-1,0 0 1,0 1 0,0-1 0,0 0 0,0 0-1,0 0 1,0 0 0,1 0 0,-1 1 0,0-1-1,0 0 1,0 0 0,0 0 0,0 0 0,0 0 0,0 0-1,0 1 1,1-1 0,3 8 309,72 129 1861,-11-20-1758,-41-71-285,38 55 0,-60-97-141,1 0 1,-1 0-1,1 0 1,-1 0 0,-1 0-1,3 7 1,-4-11-11,0 1-1,0-1 1,1 0 0,-1 1 0,0-1-1,0 1 1,0-1 0,0 1-1,0-1 1,0 1 0,0-1-1,0 1 1,-1-1 0,1 1-1,0-1 1,0 0 0,0 1 0,0-1-1,-1 1 1,1-1 0,0 1-1,0-1 1,-1 0 0,1 1-1,0-1 1,-1 1 0,0-1 6,0 0 1,0 1-1,0-1 0,0 0 1,0 0-1,0 0 1,0 0-1,0 0 0,-1 0 1,1 0-1,0 0 1,0-1-1,0 1 0,0 0 1,0 0-1,0-1 1,-1 0-1,-2-1 37,-1 0 0,1 0 0,0 0 0,0-1 0,0 0 1,0 0-1,0 0 0,0 0 0,1 0 0,0-1 0,-1 0 0,2 1 0,-5-7 0,-2-6 55,1 0 0,-9-23 0,-9-18-23,-19-19 276,-71-93 0,114 166-228,0 1 0,0-1 0,0 1 0,-1-1 1,1 1-1,-1 0 0,1 0 0,-6-3 0,-52 122 928,40-74-876,-33 52-1,37-69-58,1 1 0,2 1-1,-16 47 1,19-45-54,-2-1 0,-30 55 0,29-67-45,10-15-16,1 0 0,-1 1 0,1-1 0,0 1 0,0 0 0,0-1 0,1 1 0,-1 0 0,1 0 0,-2 5 0,7-7 6,0 0-1,1-1 0,-1 1 0,0-1 0,9-1 1,-10 1-8,197-17 11,-98 5-14,-75 8-58,0-1 0,-1-1 0,1-1 0,-1-1 0,34-17 0,-56 23-161,1-1 0,-1 1 0,1 0 0,0 1 0,0-1 0,-1 1 0,1 0 0,0 0 0,0 1 0,0-1 0,0 1 0,7 1 0,5 7-662</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6:48.691"/>
    </inkml:context>
    <inkml:brush xml:id="br0">
      <inkml:brushProperty name="width" value="0.05" units="cm"/>
      <inkml:brushProperty name="height" value="0.05" units="cm"/>
    </inkml:brush>
  </inkml:definitions>
  <inkml:trace contextRef="#ctx0" brushRef="#br0">1 5 8178,'2'-4'3312,"0"10"-2207,8 15-545,1 2-88,16 22-168,-2 3-88,12 10-160,-6 4-24,2-10-8,7 0 0,-11-17 0,8-2-8,-10-12-56,-6-6-264,2-3-1080,-15-12-873,2-8 1121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7T15:16:49.039"/>
    </inkml:context>
    <inkml:brush xml:id="br0">
      <inkml:brushProperty name="width" value="0.05" units="cm"/>
      <inkml:brushProperty name="height" value="0.05" units="cm"/>
    </inkml:brush>
  </inkml:definitions>
  <inkml:trace contextRef="#ctx0" brushRef="#br0">405 1 13651,'-4'12'560,"-9"15"296,-5 8-232,-9 23 73,-2 13 7,-23 10-200,2 0-120,-8-11-176,4-14-72,15-12-280,10-11-520,12-6-3585,3-2 2817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EF911157-0FC2-4F06-8D61-FD647FE4E19D}" type="datetimeFigureOut">
              <a:rPr lang="en-US" smtClean="0"/>
              <a:t>9/21/2026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4AF79E1B-2C51-4B9B-8EA4-26DE9E345AFF}" type="slidenum">
              <a:rPr lang="en-US" smtClean="0"/>
              <a:t>‹#›</a:t>
            </a:fld>
            <a:endParaRPr lang="en-US"/>
          </a:p>
        </p:txBody>
      </p:sp>
    </p:spTree>
    <p:extLst>
      <p:ext uri="{BB962C8B-B14F-4D97-AF65-F5344CB8AC3E}">
        <p14:creationId xmlns:p14="http://schemas.microsoft.com/office/powerpoint/2010/main" val="836726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Discuss homework groups on Quercus</a:t>
            </a:r>
          </a:p>
        </p:txBody>
      </p:sp>
      <p:sp>
        <p:nvSpPr>
          <p:cNvPr id="4" name="Slide Number Placeholder 3"/>
          <p:cNvSpPr>
            <a:spLocks noGrp="1"/>
          </p:cNvSpPr>
          <p:nvPr>
            <p:ph type="sldNum" sz="quarter" idx="5"/>
          </p:nvPr>
        </p:nvSpPr>
        <p:spPr/>
        <p:txBody>
          <a:bodyPr/>
          <a:lstStyle/>
          <a:p>
            <a:fld id="{4AF79E1B-2C51-4B9B-8EA4-26DE9E345AFF}" type="slidenum">
              <a:rPr lang="en-US" smtClean="0"/>
              <a:t>1</a:t>
            </a:fld>
            <a:endParaRPr lang="en-US"/>
          </a:p>
        </p:txBody>
      </p:sp>
    </p:spTree>
    <p:extLst>
      <p:ext uri="{BB962C8B-B14F-4D97-AF65-F5344CB8AC3E}">
        <p14:creationId xmlns:p14="http://schemas.microsoft.com/office/powerpoint/2010/main" val="3611709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a:t>
            </a:fld>
            <a:endParaRPr lang="en-US"/>
          </a:p>
        </p:txBody>
      </p:sp>
    </p:spTree>
    <p:extLst>
      <p:ext uri="{BB962C8B-B14F-4D97-AF65-F5344CB8AC3E}">
        <p14:creationId xmlns:p14="http://schemas.microsoft.com/office/powerpoint/2010/main" val="38859289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Apparently folders are going out of vogue – I will fight to save these till my dying breath! Urge you to start your shared projects using a structure like this (and </a:t>
            </a:r>
            <a:r>
              <a:rPr lang="en-US" dirty="0" err="1"/>
              <a:t>Github</a:t>
            </a:r>
            <a:r>
              <a:rPr lang="en-US" dirty="0"/>
              <a:t> and/or Dropbox and/or Overleaf and/or Trello – the dream team). Also have your </a:t>
            </a:r>
            <a:r>
              <a:rPr lang="en-US" dirty="0" err="1"/>
              <a:t>Rproject</a:t>
            </a:r>
            <a:r>
              <a:rPr lang="en-US" dirty="0"/>
              <a:t> here, so that you can have raw data (which you don’t touch), analytical data, code, and outputs all in separate places. Then draft can either be </a:t>
            </a:r>
            <a:r>
              <a:rPr lang="en-US" dirty="0" err="1"/>
              <a:t>Rmd</a:t>
            </a:r>
            <a:r>
              <a:rPr lang="en-US" dirty="0"/>
              <a:t> or Latex, Word, etc. </a:t>
            </a:r>
          </a:p>
        </p:txBody>
      </p:sp>
      <p:sp>
        <p:nvSpPr>
          <p:cNvPr id="4" name="Slide Number Placeholder 3"/>
          <p:cNvSpPr>
            <a:spLocks noGrp="1"/>
          </p:cNvSpPr>
          <p:nvPr>
            <p:ph type="sldNum" sz="quarter" idx="5"/>
          </p:nvPr>
        </p:nvSpPr>
        <p:spPr/>
        <p:txBody>
          <a:bodyPr/>
          <a:lstStyle/>
          <a:p>
            <a:fld id="{4AF79E1B-2C51-4B9B-8EA4-26DE9E345AFF}" type="slidenum">
              <a:rPr lang="en-US" smtClean="0"/>
              <a:t>4</a:t>
            </a:fld>
            <a:endParaRPr lang="en-US"/>
          </a:p>
        </p:txBody>
      </p:sp>
    </p:spTree>
    <p:extLst>
      <p:ext uri="{BB962C8B-B14F-4D97-AF65-F5344CB8AC3E}">
        <p14:creationId xmlns:p14="http://schemas.microsoft.com/office/powerpoint/2010/main" val="34288597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all seriousness your projects may go on for years, and then you’ll get requests for replication code pulls years after publication – you want to be able to explain your own reasoning years from now (and you want others to follow it as well)</a:t>
            </a:r>
          </a:p>
        </p:txBody>
      </p:sp>
      <p:sp>
        <p:nvSpPr>
          <p:cNvPr id="4" name="Slide Number Placeholder 3"/>
          <p:cNvSpPr>
            <a:spLocks noGrp="1"/>
          </p:cNvSpPr>
          <p:nvPr>
            <p:ph type="sldNum" sz="quarter" idx="5"/>
          </p:nvPr>
        </p:nvSpPr>
        <p:spPr/>
        <p:txBody>
          <a:bodyPr/>
          <a:lstStyle/>
          <a:p>
            <a:fld id="{4AF79E1B-2C51-4B9B-8EA4-26DE9E345AFF}" type="slidenum">
              <a:rPr lang="en-US" smtClean="0"/>
              <a:t>5</a:t>
            </a:fld>
            <a:endParaRPr lang="en-US"/>
          </a:p>
        </p:txBody>
      </p:sp>
    </p:spTree>
    <p:extLst>
      <p:ext uri="{BB962C8B-B14F-4D97-AF65-F5344CB8AC3E}">
        <p14:creationId xmlns:p14="http://schemas.microsoft.com/office/powerpoint/2010/main" val="38259284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over the “visual” option for R studio, makes it much easier. Other things to go over: </a:t>
            </a:r>
          </a:p>
          <a:p>
            <a:pPr marL="171450" indent="-171450">
              <a:buFontTx/>
              <a:buChar char="-"/>
            </a:pPr>
            <a:r>
              <a:rPr lang="en-US" dirty="0"/>
              <a:t>Panes</a:t>
            </a:r>
          </a:p>
          <a:p>
            <a:pPr marL="171450" indent="-171450">
              <a:buFontTx/>
              <a:buChar char="-"/>
            </a:pPr>
            <a:r>
              <a:rPr lang="en-US" dirty="0"/>
              <a:t>Code chunks</a:t>
            </a:r>
          </a:p>
          <a:p>
            <a:pPr marL="171450" indent="-171450">
              <a:buFontTx/>
              <a:buChar char="-"/>
            </a:pPr>
            <a:r>
              <a:rPr lang="en-US" dirty="0"/>
              <a:t>Text</a:t>
            </a:r>
          </a:p>
          <a:p>
            <a:pPr marL="171450" indent="-171450">
              <a:buFontTx/>
              <a:buChar char="-"/>
            </a:pPr>
            <a:r>
              <a:rPr lang="en-US" dirty="0"/>
              <a:t>Knitting (don’t forget you can edit this output after you knit)</a:t>
            </a:r>
          </a:p>
          <a:p>
            <a:pPr marL="171450" indent="-171450">
              <a:buFontTx/>
              <a:buChar char="-"/>
            </a:pPr>
            <a:r>
              <a:rPr lang="en-US" dirty="0"/>
              <a:t>Running code in real time for debugging</a:t>
            </a:r>
          </a:p>
          <a:p>
            <a:pPr marL="171450" indent="-171450">
              <a:buFontTx/>
              <a:buChar char="-"/>
            </a:pPr>
            <a:r>
              <a:rPr lang="en-US" dirty="0"/>
              <a:t>Questions from audience: problems 5-7</a:t>
            </a:r>
          </a:p>
        </p:txBody>
      </p:sp>
      <p:sp>
        <p:nvSpPr>
          <p:cNvPr id="4" name="Slide Number Placeholder 3"/>
          <p:cNvSpPr>
            <a:spLocks noGrp="1"/>
          </p:cNvSpPr>
          <p:nvPr>
            <p:ph type="sldNum" sz="quarter" idx="5"/>
          </p:nvPr>
        </p:nvSpPr>
        <p:spPr/>
        <p:txBody>
          <a:bodyPr/>
          <a:lstStyle/>
          <a:p>
            <a:fld id="{4AF79E1B-2C51-4B9B-8EA4-26DE9E345AFF}" type="slidenum">
              <a:rPr lang="en-US" smtClean="0"/>
              <a:t>6</a:t>
            </a:fld>
            <a:endParaRPr lang="en-US"/>
          </a:p>
        </p:txBody>
      </p:sp>
    </p:spTree>
    <p:extLst>
      <p:ext uri="{BB962C8B-B14F-4D97-AF65-F5344CB8AC3E}">
        <p14:creationId xmlns:p14="http://schemas.microsoft.com/office/powerpoint/2010/main" val="12616974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be light here – just want to lay a framework/common language for talking about the objects we’re after in causal inference. We can actually </a:t>
            </a:r>
            <a:r>
              <a:rPr lang="en-US" dirty="0" err="1"/>
              <a:t>evn</a:t>
            </a:r>
            <a:r>
              <a:rPr lang="en-US" dirty="0"/>
              <a:t> skip this for time. </a:t>
            </a:r>
          </a:p>
        </p:txBody>
      </p:sp>
      <p:sp>
        <p:nvSpPr>
          <p:cNvPr id="4" name="Slide Number Placeholder 3"/>
          <p:cNvSpPr>
            <a:spLocks noGrp="1"/>
          </p:cNvSpPr>
          <p:nvPr>
            <p:ph type="sldNum" sz="quarter" idx="5"/>
          </p:nvPr>
        </p:nvSpPr>
        <p:spPr/>
        <p:txBody>
          <a:bodyPr/>
          <a:lstStyle/>
          <a:p>
            <a:fld id="{4AF79E1B-2C51-4B9B-8EA4-26DE9E345AFF}" type="slidenum">
              <a:rPr lang="en-US" smtClean="0"/>
              <a:t>7</a:t>
            </a:fld>
            <a:endParaRPr lang="en-US"/>
          </a:p>
        </p:txBody>
      </p:sp>
    </p:spTree>
    <p:extLst>
      <p:ext uri="{BB962C8B-B14F-4D97-AF65-F5344CB8AC3E}">
        <p14:creationId xmlns:p14="http://schemas.microsoft.com/office/powerpoint/2010/main" val="32965542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talking about probabilities because that’s what we’re after in causal inference – what is the probability of an association? We don’t deal with definitive things, the whole class is in the space of probabilities. (If probabilities were 1, we wouldn’t study “why are there clouds when it rains”?)</a:t>
            </a:r>
          </a:p>
        </p:txBody>
      </p:sp>
      <p:sp>
        <p:nvSpPr>
          <p:cNvPr id="4" name="Slide Number Placeholder 3"/>
          <p:cNvSpPr>
            <a:spLocks noGrp="1"/>
          </p:cNvSpPr>
          <p:nvPr>
            <p:ph type="sldNum" sz="quarter" idx="5"/>
          </p:nvPr>
        </p:nvSpPr>
        <p:spPr/>
        <p:txBody>
          <a:bodyPr/>
          <a:lstStyle/>
          <a:p>
            <a:fld id="{4AF79E1B-2C51-4B9B-8EA4-26DE9E345AFF}" type="slidenum">
              <a:rPr lang="en-US" smtClean="0"/>
              <a:t>8</a:t>
            </a:fld>
            <a:endParaRPr lang="en-US"/>
          </a:p>
        </p:txBody>
      </p:sp>
    </p:spTree>
    <p:extLst>
      <p:ext uri="{BB962C8B-B14F-4D97-AF65-F5344CB8AC3E}">
        <p14:creationId xmlns:p14="http://schemas.microsoft.com/office/powerpoint/2010/main" val="3220208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Venn diagram, talk about probabilities of union and intersection</a:t>
            </a:r>
          </a:p>
        </p:txBody>
      </p:sp>
      <p:sp>
        <p:nvSpPr>
          <p:cNvPr id="4" name="Slide Number Placeholder 3"/>
          <p:cNvSpPr>
            <a:spLocks noGrp="1"/>
          </p:cNvSpPr>
          <p:nvPr>
            <p:ph type="sldNum" sz="quarter" idx="5"/>
          </p:nvPr>
        </p:nvSpPr>
        <p:spPr/>
        <p:txBody>
          <a:bodyPr/>
          <a:lstStyle/>
          <a:p>
            <a:fld id="{4AF79E1B-2C51-4B9B-8EA4-26DE9E345AFF}" type="slidenum">
              <a:rPr lang="en-US" smtClean="0"/>
              <a:t>10</a:t>
            </a:fld>
            <a:endParaRPr lang="en-US"/>
          </a:p>
        </p:txBody>
      </p:sp>
    </p:spTree>
    <p:extLst>
      <p:ext uri="{BB962C8B-B14F-4D97-AF65-F5344CB8AC3E}">
        <p14:creationId xmlns:p14="http://schemas.microsoft.com/office/powerpoint/2010/main" val="17315324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tend to care more about conditional probabilities than we do joint ones (why? Because joint things are less policy relevant – harder to pin down, and because conditional probabilities have a clear DAG structure – draw on board with VD</a:t>
            </a:r>
          </a:p>
        </p:txBody>
      </p:sp>
      <p:sp>
        <p:nvSpPr>
          <p:cNvPr id="4" name="Slide Number Placeholder 3"/>
          <p:cNvSpPr>
            <a:spLocks noGrp="1"/>
          </p:cNvSpPr>
          <p:nvPr>
            <p:ph type="sldNum" sz="quarter" idx="5"/>
          </p:nvPr>
        </p:nvSpPr>
        <p:spPr/>
        <p:txBody>
          <a:bodyPr/>
          <a:lstStyle/>
          <a:p>
            <a:fld id="{4AF79E1B-2C51-4B9B-8EA4-26DE9E345AFF}" type="slidenum">
              <a:rPr lang="en-US" smtClean="0"/>
              <a:t>11</a:t>
            </a:fld>
            <a:endParaRPr lang="en-US"/>
          </a:p>
        </p:txBody>
      </p:sp>
    </p:spTree>
    <p:extLst>
      <p:ext uri="{BB962C8B-B14F-4D97-AF65-F5344CB8AC3E}">
        <p14:creationId xmlns:p14="http://schemas.microsoft.com/office/powerpoint/2010/main" val="22400968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Independence and DAGs (no arrows).</a:t>
            </a:r>
          </a:p>
        </p:txBody>
      </p:sp>
      <p:sp>
        <p:nvSpPr>
          <p:cNvPr id="4" name="Slide Number Placeholder 3"/>
          <p:cNvSpPr>
            <a:spLocks noGrp="1"/>
          </p:cNvSpPr>
          <p:nvPr>
            <p:ph type="sldNum" sz="quarter" idx="5"/>
          </p:nvPr>
        </p:nvSpPr>
        <p:spPr/>
        <p:txBody>
          <a:bodyPr/>
          <a:lstStyle/>
          <a:p>
            <a:fld id="{4AF79E1B-2C51-4B9B-8EA4-26DE9E345AFF}" type="slidenum">
              <a:rPr lang="en-US" smtClean="0"/>
              <a:t>12</a:t>
            </a:fld>
            <a:endParaRPr lang="en-US"/>
          </a:p>
        </p:txBody>
      </p:sp>
    </p:spTree>
    <p:extLst>
      <p:ext uri="{BB962C8B-B14F-4D97-AF65-F5344CB8AC3E}">
        <p14:creationId xmlns:p14="http://schemas.microsoft.com/office/powerpoint/2010/main" val="15022339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introduced this notation last time – remember that expectations are </a:t>
            </a:r>
            <a:r>
              <a:rPr lang="en-US" b="1" dirty="0"/>
              <a:t>weighted averages, </a:t>
            </a:r>
            <a:r>
              <a:rPr lang="en-US" b="0" dirty="0"/>
              <a:t>where weights are probabilities. If data is </a:t>
            </a:r>
            <a:r>
              <a:rPr lang="en-US" b="0" dirty="0" err="1"/>
              <a:t>i.i.d.</a:t>
            </a:r>
            <a:r>
              <a:rPr lang="en-US" b="0" dirty="0"/>
              <a:t>, then simple averages. </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13</a:t>
            </a:fld>
            <a:endParaRPr lang="en-US"/>
          </a:p>
        </p:txBody>
      </p:sp>
    </p:spTree>
    <p:extLst>
      <p:ext uri="{BB962C8B-B14F-4D97-AF65-F5344CB8AC3E}">
        <p14:creationId xmlns:p14="http://schemas.microsoft.com/office/powerpoint/2010/main" val="12408250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don’t be doing a ton of math, so we won’t be using the linearity of the expectation operator to derive proofs, etc. But it’s important to know what we’re talking about</a:t>
            </a:r>
          </a:p>
        </p:txBody>
      </p:sp>
      <p:sp>
        <p:nvSpPr>
          <p:cNvPr id="4" name="Slide Number Placeholder 3"/>
          <p:cNvSpPr>
            <a:spLocks noGrp="1"/>
          </p:cNvSpPr>
          <p:nvPr>
            <p:ph type="sldNum" sz="quarter" idx="5"/>
          </p:nvPr>
        </p:nvSpPr>
        <p:spPr/>
        <p:txBody>
          <a:bodyPr/>
          <a:lstStyle/>
          <a:p>
            <a:fld id="{4AF79E1B-2C51-4B9B-8EA4-26DE9E345AFF}" type="slidenum">
              <a:rPr lang="en-US" smtClean="0"/>
              <a:t>14</a:t>
            </a:fld>
            <a:endParaRPr lang="en-US"/>
          </a:p>
        </p:txBody>
      </p:sp>
    </p:spTree>
    <p:extLst>
      <p:ext uri="{BB962C8B-B14F-4D97-AF65-F5344CB8AC3E}">
        <p14:creationId xmlns:p14="http://schemas.microsoft.com/office/powerpoint/2010/main" val="11530230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Variance will be important to us as a measure of how informative our estimates are. If a random process always returns something close to truth (e.g. testing for disease with high specificity – </a:t>
            </a:r>
            <a:r>
              <a:rPr lang="en-US" dirty="0" err="1"/>
              <a:t>huntington’s</a:t>
            </a:r>
            <a:r>
              <a:rPr lang="en-US" dirty="0"/>
              <a:t> disease), that’s helpful. Less helpful is. E.g., newborn hearing tests, with low specificity. Higher variance = less updating of prior. </a:t>
            </a:r>
          </a:p>
        </p:txBody>
      </p:sp>
      <p:sp>
        <p:nvSpPr>
          <p:cNvPr id="4" name="Slide Number Placeholder 3"/>
          <p:cNvSpPr>
            <a:spLocks noGrp="1"/>
          </p:cNvSpPr>
          <p:nvPr>
            <p:ph type="sldNum" sz="quarter" idx="5"/>
          </p:nvPr>
        </p:nvSpPr>
        <p:spPr/>
        <p:txBody>
          <a:bodyPr/>
          <a:lstStyle/>
          <a:p>
            <a:fld id="{4AF79E1B-2C51-4B9B-8EA4-26DE9E345AFF}" type="slidenum">
              <a:rPr lang="en-US" smtClean="0"/>
              <a:t>15</a:t>
            </a:fld>
            <a:endParaRPr lang="en-US"/>
          </a:p>
        </p:txBody>
      </p:sp>
    </p:spTree>
    <p:extLst>
      <p:ext uri="{BB962C8B-B14F-4D97-AF65-F5344CB8AC3E}">
        <p14:creationId xmlns:p14="http://schemas.microsoft.com/office/powerpoint/2010/main" val="13297454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estimated variance ultimately gives us standard errors, Cis, p-values, etc. </a:t>
            </a:r>
          </a:p>
        </p:txBody>
      </p:sp>
      <p:sp>
        <p:nvSpPr>
          <p:cNvPr id="4" name="Slide Number Placeholder 3"/>
          <p:cNvSpPr>
            <a:spLocks noGrp="1"/>
          </p:cNvSpPr>
          <p:nvPr>
            <p:ph type="sldNum" sz="quarter" idx="5"/>
          </p:nvPr>
        </p:nvSpPr>
        <p:spPr/>
        <p:txBody>
          <a:bodyPr/>
          <a:lstStyle/>
          <a:p>
            <a:fld id="{4AF79E1B-2C51-4B9B-8EA4-26DE9E345AFF}" type="slidenum">
              <a:rPr lang="en-US" smtClean="0"/>
              <a:t>16</a:t>
            </a:fld>
            <a:endParaRPr lang="en-US"/>
          </a:p>
        </p:txBody>
      </p:sp>
    </p:spTree>
    <p:extLst>
      <p:ext uri="{BB962C8B-B14F-4D97-AF65-F5344CB8AC3E}">
        <p14:creationId xmlns:p14="http://schemas.microsoft.com/office/powerpoint/2010/main" val="41408794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is the thing we want to explain or predict; x is the thing we use to explain. Draw the DAG – note that we are using a simple </a:t>
            </a:r>
            <a:r>
              <a:rPr lang="en-US" dirty="0" err="1"/>
              <a:t>simple</a:t>
            </a:r>
            <a:r>
              <a:rPr lang="en-US" dirty="0"/>
              <a:t> DAG for now with only two bubbles</a:t>
            </a:r>
          </a:p>
        </p:txBody>
      </p:sp>
      <p:sp>
        <p:nvSpPr>
          <p:cNvPr id="4" name="Slide Number Placeholder 3"/>
          <p:cNvSpPr>
            <a:spLocks noGrp="1"/>
          </p:cNvSpPr>
          <p:nvPr>
            <p:ph type="sldNum" sz="quarter" idx="5"/>
          </p:nvPr>
        </p:nvSpPr>
        <p:spPr/>
        <p:txBody>
          <a:bodyPr/>
          <a:lstStyle/>
          <a:p>
            <a:fld id="{4AF79E1B-2C51-4B9B-8EA4-26DE9E345AFF}" type="slidenum">
              <a:rPr lang="en-US" smtClean="0"/>
              <a:t>18</a:t>
            </a:fld>
            <a:endParaRPr lang="en-US"/>
          </a:p>
        </p:txBody>
      </p:sp>
    </p:spTree>
    <p:extLst>
      <p:ext uri="{BB962C8B-B14F-4D97-AF65-F5344CB8AC3E}">
        <p14:creationId xmlns:p14="http://schemas.microsoft.com/office/powerpoint/2010/main" val="14821976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Deterministic relationships aren’t interesting – if I click the clicker and the slide advances every single time with no variation, I don’t need to do any causal inference.</a:t>
            </a:r>
          </a:p>
        </p:txBody>
      </p:sp>
      <p:sp>
        <p:nvSpPr>
          <p:cNvPr id="4" name="Slide Number Placeholder 3"/>
          <p:cNvSpPr>
            <a:spLocks noGrp="1"/>
          </p:cNvSpPr>
          <p:nvPr>
            <p:ph type="sldNum" sz="quarter" idx="5"/>
          </p:nvPr>
        </p:nvSpPr>
        <p:spPr/>
        <p:txBody>
          <a:bodyPr/>
          <a:lstStyle/>
          <a:p>
            <a:fld id="{4AF79E1B-2C51-4B9B-8EA4-26DE9E345AFF}" type="slidenum">
              <a:rPr lang="en-US" smtClean="0"/>
              <a:t>19</a:t>
            </a:fld>
            <a:endParaRPr lang="en-US"/>
          </a:p>
        </p:txBody>
      </p:sp>
    </p:spTree>
    <p:extLst>
      <p:ext uri="{BB962C8B-B14F-4D97-AF65-F5344CB8AC3E}">
        <p14:creationId xmlns:p14="http://schemas.microsoft.com/office/powerpoint/2010/main" val="28038388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some data: cookies eaten and happiness – what’s the simplest relationship? </a:t>
            </a:r>
          </a:p>
        </p:txBody>
      </p:sp>
      <p:sp>
        <p:nvSpPr>
          <p:cNvPr id="4" name="Slide Number Placeholder 3"/>
          <p:cNvSpPr>
            <a:spLocks noGrp="1"/>
          </p:cNvSpPr>
          <p:nvPr>
            <p:ph type="sldNum" sz="quarter" idx="5"/>
          </p:nvPr>
        </p:nvSpPr>
        <p:spPr/>
        <p:txBody>
          <a:bodyPr/>
          <a:lstStyle/>
          <a:p>
            <a:fld id="{4AF79E1B-2C51-4B9B-8EA4-26DE9E345AFF}" type="slidenum">
              <a:rPr lang="en-US" smtClean="0"/>
              <a:t>20</a:t>
            </a:fld>
            <a:endParaRPr lang="en-US"/>
          </a:p>
        </p:txBody>
      </p:sp>
    </p:spTree>
    <p:extLst>
      <p:ext uri="{BB962C8B-B14F-4D97-AF65-F5344CB8AC3E}">
        <p14:creationId xmlns:p14="http://schemas.microsoft.com/office/powerpoint/2010/main" val="17831571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could make a very complicated relationship – is this interesting or policy relevant? Why or why not? </a:t>
            </a:r>
          </a:p>
        </p:txBody>
      </p:sp>
      <p:sp>
        <p:nvSpPr>
          <p:cNvPr id="4" name="Slide Number Placeholder 3"/>
          <p:cNvSpPr>
            <a:spLocks noGrp="1"/>
          </p:cNvSpPr>
          <p:nvPr>
            <p:ph type="sldNum" sz="quarter" idx="5"/>
          </p:nvPr>
        </p:nvSpPr>
        <p:spPr/>
        <p:txBody>
          <a:bodyPr/>
          <a:lstStyle/>
          <a:p>
            <a:fld id="{4AF79E1B-2C51-4B9B-8EA4-26DE9E345AFF}" type="slidenum">
              <a:rPr lang="en-US" smtClean="0"/>
              <a:t>21</a:t>
            </a:fld>
            <a:endParaRPr lang="en-US"/>
          </a:p>
        </p:txBody>
      </p:sp>
    </p:spTree>
    <p:extLst>
      <p:ext uri="{BB962C8B-B14F-4D97-AF65-F5344CB8AC3E}">
        <p14:creationId xmlns:p14="http://schemas.microsoft.com/office/powerpoint/2010/main" val="8875225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instead you smooth it out a little bit</a:t>
            </a:r>
          </a:p>
        </p:txBody>
      </p:sp>
      <p:sp>
        <p:nvSpPr>
          <p:cNvPr id="4" name="Slide Number Placeholder 3"/>
          <p:cNvSpPr>
            <a:spLocks noGrp="1"/>
          </p:cNvSpPr>
          <p:nvPr>
            <p:ph type="sldNum" sz="quarter" idx="5"/>
          </p:nvPr>
        </p:nvSpPr>
        <p:spPr/>
        <p:txBody>
          <a:bodyPr/>
          <a:lstStyle/>
          <a:p>
            <a:fld id="{4AF79E1B-2C51-4B9B-8EA4-26DE9E345AFF}" type="slidenum">
              <a:rPr lang="en-US" smtClean="0"/>
              <a:t>22</a:t>
            </a:fld>
            <a:endParaRPr lang="en-US"/>
          </a:p>
        </p:txBody>
      </p:sp>
    </p:spTree>
    <p:extLst>
      <p:ext uri="{BB962C8B-B14F-4D97-AF65-F5344CB8AC3E}">
        <p14:creationId xmlns:p14="http://schemas.microsoft.com/office/powerpoint/2010/main" val="37050054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Smooth until you get to simplest relationship – a line. What’s the practical (earlier, was philosophical) role of epsilon here? Explaining why our data aren’t perfect. </a:t>
            </a:r>
          </a:p>
        </p:txBody>
      </p:sp>
      <p:sp>
        <p:nvSpPr>
          <p:cNvPr id="4" name="Slide Number Placeholder 3"/>
          <p:cNvSpPr>
            <a:spLocks noGrp="1"/>
          </p:cNvSpPr>
          <p:nvPr>
            <p:ph type="sldNum" sz="quarter" idx="5"/>
          </p:nvPr>
        </p:nvSpPr>
        <p:spPr/>
        <p:txBody>
          <a:bodyPr/>
          <a:lstStyle/>
          <a:p>
            <a:fld id="{4AF79E1B-2C51-4B9B-8EA4-26DE9E345AFF}" type="slidenum">
              <a:rPr lang="en-US" smtClean="0"/>
              <a:t>23</a:t>
            </a:fld>
            <a:endParaRPr lang="en-US"/>
          </a:p>
        </p:txBody>
      </p:sp>
    </p:spTree>
    <p:extLst>
      <p:ext uri="{BB962C8B-B14F-4D97-AF65-F5344CB8AC3E}">
        <p14:creationId xmlns:p14="http://schemas.microsoft.com/office/powerpoint/2010/main" val="27116809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Simplest relationship is linear (hence the plus and not a multiplication sign, or an integral, or anything else) (the intercept looks like we’re adding complexity, but you’ll see why this is actually simpler – taking all randomness out). Talk about the hat as estimated value and ultimately, predicted values of happiness (depending on question)</a:t>
            </a:r>
          </a:p>
          <a:p>
            <a:endParaRPr lang="en-US" dirty="0"/>
          </a:p>
          <a:p>
            <a:r>
              <a:rPr lang="en-US" dirty="0"/>
              <a:t>Can show conditional expectation in previous figure. </a:t>
            </a:r>
          </a:p>
        </p:txBody>
      </p:sp>
      <p:sp>
        <p:nvSpPr>
          <p:cNvPr id="4" name="Slide Number Placeholder 3"/>
          <p:cNvSpPr>
            <a:spLocks noGrp="1"/>
          </p:cNvSpPr>
          <p:nvPr>
            <p:ph type="sldNum" sz="quarter" idx="5"/>
          </p:nvPr>
        </p:nvSpPr>
        <p:spPr/>
        <p:txBody>
          <a:bodyPr/>
          <a:lstStyle/>
          <a:p>
            <a:fld id="{4AF79E1B-2C51-4B9B-8EA4-26DE9E345AFF}" type="slidenum">
              <a:rPr lang="en-US" smtClean="0"/>
              <a:t>24</a:t>
            </a:fld>
            <a:endParaRPr lang="en-US"/>
          </a:p>
        </p:txBody>
      </p:sp>
    </p:spTree>
    <p:extLst>
      <p:ext uri="{BB962C8B-B14F-4D97-AF65-F5344CB8AC3E}">
        <p14:creationId xmlns:p14="http://schemas.microsoft.com/office/powerpoint/2010/main" val="20569808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25</a:t>
            </a:fld>
            <a:endParaRPr lang="en-US"/>
          </a:p>
        </p:txBody>
      </p:sp>
    </p:spTree>
    <p:extLst>
      <p:ext uri="{BB962C8B-B14F-4D97-AF65-F5344CB8AC3E}">
        <p14:creationId xmlns:p14="http://schemas.microsoft.com/office/powerpoint/2010/main" val="37376199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on the board – can shift line until you get to </a:t>
            </a:r>
            <a:r>
              <a:rPr lang="en-US" i="1" dirty="0"/>
              <a:t>unconditional</a:t>
            </a:r>
            <a:r>
              <a:rPr lang="en-US" dirty="0"/>
              <a:t> mean zero error. More interesting is </a:t>
            </a:r>
            <a:r>
              <a:rPr lang="en-US" i="1" dirty="0"/>
              <a:t>conditional </a:t>
            </a:r>
            <a:r>
              <a:rPr lang="en-US" i="0" dirty="0"/>
              <a:t>average error—are there things our model is missing?</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26</a:t>
            </a:fld>
            <a:endParaRPr lang="en-US"/>
          </a:p>
        </p:txBody>
      </p:sp>
    </p:spTree>
    <p:extLst>
      <p:ext uri="{BB962C8B-B14F-4D97-AF65-F5344CB8AC3E}">
        <p14:creationId xmlns:p14="http://schemas.microsoft.com/office/powerpoint/2010/main" val="32277148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backdoor!</a:t>
            </a:r>
          </a:p>
        </p:txBody>
      </p:sp>
      <p:sp>
        <p:nvSpPr>
          <p:cNvPr id="4" name="Slide Number Placeholder 3"/>
          <p:cNvSpPr>
            <a:spLocks noGrp="1"/>
          </p:cNvSpPr>
          <p:nvPr>
            <p:ph type="sldNum" sz="quarter" idx="5"/>
          </p:nvPr>
        </p:nvSpPr>
        <p:spPr/>
        <p:txBody>
          <a:bodyPr/>
          <a:lstStyle/>
          <a:p>
            <a:fld id="{4AF79E1B-2C51-4B9B-8EA4-26DE9E345AFF}" type="slidenum">
              <a:rPr lang="en-US" smtClean="0"/>
              <a:t>27</a:t>
            </a:fld>
            <a:endParaRPr lang="en-US"/>
          </a:p>
        </p:txBody>
      </p:sp>
    </p:spTree>
    <p:extLst>
      <p:ext uri="{BB962C8B-B14F-4D97-AF65-F5344CB8AC3E}">
        <p14:creationId xmlns:p14="http://schemas.microsoft.com/office/powerpoint/2010/main" val="4681818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our DAG, epsilon should not have a line from or to x – the consequence is that there’s no other randomness left in the pathway between x and y</a:t>
            </a:r>
          </a:p>
        </p:txBody>
      </p:sp>
      <p:sp>
        <p:nvSpPr>
          <p:cNvPr id="4" name="Slide Number Placeholder 3"/>
          <p:cNvSpPr>
            <a:spLocks noGrp="1"/>
          </p:cNvSpPr>
          <p:nvPr>
            <p:ph type="sldNum" sz="quarter" idx="5"/>
          </p:nvPr>
        </p:nvSpPr>
        <p:spPr/>
        <p:txBody>
          <a:bodyPr/>
          <a:lstStyle/>
          <a:p>
            <a:fld id="{4AF79E1B-2C51-4B9B-8EA4-26DE9E345AFF}" type="slidenum">
              <a:rPr lang="en-US" smtClean="0"/>
              <a:t>28</a:t>
            </a:fld>
            <a:endParaRPr lang="en-US"/>
          </a:p>
        </p:txBody>
      </p:sp>
    </p:spTree>
    <p:extLst>
      <p:ext uri="{BB962C8B-B14F-4D97-AF65-F5344CB8AC3E}">
        <p14:creationId xmlns:p14="http://schemas.microsoft.com/office/powerpoint/2010/main" val="6338668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go through these in more detail later. First two are enough to pin down the coefficients and say something about bias/consistency.</a:t>
            </a:r>
          </a:p>
        </p:txBody>
      </p:sp>
      <p:sp>
        <p:nvSpPr>
          <p:cNvPr id="4" name="Slide Number Placeholder 3"/>
          <p:cNvSpPr>
            <a:spLocks noGrp="1"/>
          </p:cNvSpPr>
          <p:nvPr>
            <p:ph type="sldNum" sz="quarter" idx="5"/>
          </p:nvPr>
        </p:nvSpPr>
        <p:spPr/>
        <p:txBody>
          <a:bodyPr/>
          <a:lstStyle/>
          <a:p>
            <a:fld id="{4AF79E1B-2C51-4B9B-8EA4-26DE9E345AFF}" type="slidenum">
              <a:rPr lang="en-US" smtClean="0"/>
              <a:t>29</a:t>
            </a:fld>
            <a:endParaRPr lang="en-US"/>
          </a:p>
        </p:txBody>
      </p:sp>
    </p:spTree>
    <p:extLst>
      <p:ext uri="{BB962C8B-B14F-4D97-AF65-F5344CB8AC3E}">
        <p14:creationId xmlns:p14="http://schemas.microsoft.com/office/powerpoint/2010/main" val="28035023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you would use linear properties of expectations, etc. </a:t>
            </a:r>
          </a:p>
        </p:txBody>
      </p:sp>
      <p:sp>
        <p:nvSpPr>
          <p:cNvPr id="4" name="Slide Number Placeholder 3"/>
          <p:cNvSpPr>
            <a:spLocks noGrp="1"/>
          </p:cNvSpPr>
          <p:nvPr>
            <p:ph type="sldNum" sz="quarter" idx="5"/>
          </p:nvPr>
        </p:nvSpPr>
        <p:spPr/>
        <p:txBody>
          <a:bodyPr/>
          <a:lstStyle/>
          <a:p>
            <a:fld id="{4AF79E1B-2C51-4B9B-8EA4-26DE9E345AFF}" type="slidenum">
              <a:rPr lang="en-US" smtClean="0"/>
              <a:t>30</a:t>
            </a:fld>
            <a:endParaRPr lang="en-US"/>
          </a:p>
        </p:txBody>
      </p:sp>
    </p:spTree>
    <p:extLst>
      <p:ext uri="{BB962C8B-B14F-4D97-AF65-F5344CB8AC3E}">
        <p14:creationId xmlns:p14="http://schemas.microsoft.com/office/powerpoint/2010/main" val="409656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Residual and error term are different – you don’t pin down or estimate the value of real randomness; you take it as given in the data and create the residual to be minimized. Go to R just for the model and the summary, then come back for next slide to talk about interpretation</a:t>
            </a:r>
          </a:p>
        </p:txBody>
      </p:sp>
      <p:sp>
        <p:nvSpPr>
          <p:cNvPr id="4" name="Slide Number Placeholder 3"/>
          <p:cNvSpPr>
            <a:spLocks noGrp="1"/>
          </p:cNvSpPr>
          <p:nvPr>
            <p:ph type="sldNum" sz="quarter" idx="5"/>
          </p:nvPr>
        </p:nvSpPr>
        <p:spPr/>
        <p:txBody>
          <a:bodyPr/>
          <a:lstStyle/>
          <a:p>
            <a:fld id="{4AF79E1B-2C51-4B9B-8EA4-26DE9E345AFF}" type="slidenum">
              <a:rPr lang="en-US" smtClean="0"/>
              <a:t>32</a:t>
            </a:fld>
            <a:endParaRPr lang="en-US"/>
          </a:p>
        </p:txBody>
      </p:sp>
    </p:spTree>
    <p:extLst>
      <p:ext uri="{BB962C8B-B14F-4D97-AF65-F5344CB8AC3E}">
        <p14:creationId xmlns:p14="http://schemas.microsoft.com/office/powerpoint/2010/main" val="35662037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3737"/>
                </a:solidFill>
                <a:effectLst/>
                <a:latin typeface="Georgia" panose="02040502050405020303" pitchFamily="18" charset="0"/>
              </a:rPr>
              <a:t>**Suppose for a minute that we just want to look at associations, not causality**.  Rather than saying “if you increase x_1 by 1 with all the other x’s held constant, then E(y) will change by 0.3.” Instead say, “Comparing two people that differ by 1 in x_1 and who are identical in all the other x’s, you’d predict y to differ by 0.3, on average.” It’s a mouthful but it’s good practice, cos that’s what the regression actually says. (https://statmodeling.stat.columbia.edu/2017/03/07/descriptive-analysis-using-regression-models/#:~:text=From%20a%20descriptive%20standpoint%2C%20regression,given%20the%20input%20variables%2C%20x.)</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33</a:t>
            </a:fld>
            <a:endParaRPr lang="en-US"/>
          </a:p>
        </p:txBody>
      </p:sp>
    </p:spTree>
    <p:extLst>
      <p:ext uri="{BB962C8B-B14F-4D97-AF65-F5344CB8AC3E}">
        <p14:creationId xmlns:p14="http://schemas.microsoft.com/office/powerpoint/2010/main" val="37346031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shouldn’t we predict outside the sample? Look at our figure here and talk about extrapolation</a:t>
            </a:r>
          </a:p>
        </p:txBody>
      </p:sp>
      <p:sp>
        <p:nvSpPr>
          <p:cNvPr id="4" name="Slide Number Placeholder 3"/>
          <p:cNvSpPr>
            <a:spLocks noGrp="1"/>
          </p:cNvSpPr>
          <p:nvPr>
            <p:ph type="sldNum" sz="quarter" idx="5"/>
          </p:nvPr>
        </p:nvSpPr>
        <p:spPr/>
        <p:txBody>
          <a:bodyPr/>
          <a:lstStyle/>
          <a:p>
            <a:fld id="{4AF79E1B-2C51-4B9B-8EA4-26DE9E345AFF}" type="slidenum">
              <a:rPr lang="en-US" smtClean="0"/>
              <a:t>34</a:t>
            </a:fld>
            <a:endParaRPr lang="en-US"/>
          </a:p>
        </p:txBody>
      </p:sp>
    </p:spTree>
    <p:extLst>
      <p:ext uri="{BB962C8B-B14F-4D97-AF65-F5344CB8AC3E}">
        <p14:creationId xmlns:p14="http://schemas.microsoft.com/office/powerpoint/2010/main" val="2607032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what do we need for this to become causal</a:t>
            </a:r>
            <a:r>
              <a:rPr lang="en-US"/>
              <a:t>?** Independence </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35</a:t>
            </a:fld>
            <a:endParaRPr lang="en-US"/>
          </a:p>
        </p:txBody>
      </p:sp>
    </p:spTree>
    <p:extLst>
      <p:ext uri="{BB962C8B-B14F-4D97-AF65-F5344CB8AC3E}">
        <p14:creationId xmlns:p14="http://schemas.microsoft.com/office/powerpoint/2010/main" val="13861785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and 2 are very commonly conflated but they are </a:t>
            </a:r>
            <a:r>
              <a:rPr lang="en-US" b="1" dirty="0"/>
              <a:t>not </a:t>
            </a:r>
            <a:r>
              <a:rPr lang="en-US" b="0" dirty="0"/>
              <a:t>the same. SST is the total variation in outcome variable</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36</a:t>
            </a:fld>
            <a:endParaRPr lang="en-US"/>
          </a:p>
        </p:txBody>
      </p:sp>
    </p:spTree>
    <p:extLst>
      <p:ext uri="{BB962C8B-B14F-4D97-AF65-F5344CB8AC3E}">
        <p14:creationId xmlns:p14="http://schemas.microsoft.com/office/powerpoint/2010/main" val="30835678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SSE is the fraction of the variation in y we capture in the regression</a:t>
            </a:r>
          </a:p>
        </p:txBody>
      </p:sp>
      <p:sp>
        <p:nvSpPr>
          <p:cNvPr id="4" name="Slide Number Placeholder 3"/>
          <p:cNvSpPr>
            <a:spLocks noGrp="1"/>
          </p:cNvSpPr>
          <p:nvPr>
            <p:ph type="sldNum" sz="quarter" idx="5"/>
          </p:nvPr>
        </p:nvSpPr>
        <p:spPr/>
        <p:txBody>
          <a:bodyPr/>
          <a:lstStyle/>
          <a:p>
            <a:fld id="{4AF79E1B-2C51-4B9B-8EA4-26DE9E345AFF}" type="slidenum">
              <a:rPr lang="en-US" smtClean="0"/>
              <a:t>37</a:t>
            </a:fld>
            <a:endParaRPr lang="en-US"/>
          </a:p>
        </p:txBody>
      </p:sp>
    </p:spTree>
    <p:extLst>
      <p:ext uri="{BB962C8B-B14F-4D97-AF65-F5344CB8AC3E}">
        <p14:creationId xmlns:p14="http://schemas.microsoft.com/office/powerpoint/2010/main" val="24205059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SSR is what’s left over </a:t>
            </a:r>
          </a:p>
        </p:txBody>
      </p:sp>
      <p:sp>
        <p:nvSpPr>
          <p:cNvPr id="4" name="Slide Number Placeholder 3"/>
          <p:cNvSpPr>
            <a:spLocks noGrp="1"/>
          </p:cNvSpPr>
          <p:nvPr>
            <p:ph type="sldNum" sz="quarter" idx="5"/>
          </p:nvPr>
        </p:nvSpPr>
        <p:spPr/>
        <p:txBody>
          <a:bodyPr/>
          <a:lstStyle/>
          <a:p>
            <a:fld id="{4AF79E1B-2C51-4B9B-8EA4-26DE9E345AFF}" type="slidenum">
              <a:rPr lang="en-US" smtClean="0"/>
              <a:t>38</a:t>
            </a:fld>
            <a:endParaRPr lang="en-US"/>
          </a:p>
        </p:txBody>
      </p:sp>
    </p:spTree>
    <p:extLst>
      <p:ext uri="{BB962C8B-B14F-4D97-AF65-F5344CB8AC3E}">
        <p14:creationId xmlns:p14="http://schemas.microsoft.com/office/powerpoint/2010/main" val="171373293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 is measuring something different than the strength of the causal relationship, it’s measuring predictive power or how much variation you are utilizing. These aren’t the same. </a:t>
            </a:r>
          </a:p>
        </p:txBody>
      </p:sp>
      <p:sp>
        <p:nvSpPr>
          <p:cNvPr id="4" name="Slide Number Placeholder 3"/>
          <p:cNvSpPr>
            <a:spLocks noGrp="1"/>
          </p:cNvSpPr>
          <p:nvPr>
            <p:ph type="sldNum" sz="quarter" idx="5"/>
          </p:nvPr>
        </p:nvSpPr>
        <p:spPr/>
        <p:txBody>
          <a:bodyPr/>
          <a:lstStyle/>
          <a:p>
            <a:fld id="{4AF79E1B-2C51-4B9B-8EA4-26DE9E345AFF}" type="slidenum">
              <a:rPr lang="en-US" smtClean="0"/>
              <a:t>40</a:t>
            </a:fld>
            <a:endParaRPr lang="en-US"/>
          </a:p>
        </p:txBody>
      </p:sp>
    </p:spTree>
    <p:extLst>
      <p:ext uri="{BB962C8B-B14F-4D97-AF65-F5344CB8AC3E}">
        <p14:creationId xmlns:p14="http://schemas.microsoft.com/office/powerpoint/2010/main" val="3156844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Let’s think about this in the context of our case study! Note that this one might have seemed a bit advanced, but we are working up to this level over the course of the semester!</a:t>
                </a:r>
              </a:p>
            </p:txBody>
          </p:sp>
        </mc:Choice>
        <mc:Fallback xmlns="">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i="0" dirty="0"/>
                  <a:t>Here are two examples</a:t>
                </a:r>
                <a:r>
                  <a:rPr lang="en-CA" i="0" baseline="0" dirty="0"/>
                  <a:t> where assumption </a:t>
                </a:r>
                <a:r>
                  <a:rPr lang="en-CA" sz="1200"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𝐸(𝜖</a:t>
                </a:r>
                <a:r>
                  <a:rPr lang="en-US" sz="1200" b="0" i="0">
                    <a:solidFill>
                      <a:schemeClr val="tx1">
                        <a:lumMod val="75000"/>
                        <a:lumOff val="25000"/>
                      </a:schemeClr>
                    </a:solidFill>
                    <a:latin typeface="Cambria Math"/>
                    <a:ea typeface="Open Sans" panose="020B0606030504020204" pitchFamily="34" charset="0"/>
                    <a:cs typeface="Open Sans" panose="020B0606030504020204" pitchFamily="34" charset="0"/>
                  </a:rPr>
                  <a:t>|𝑥</a:t>
                </a:r>
                <a:r>
                  <a:rPr lang="en-US" sz="1200" b="0"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a:t>
                </a:r>
                <a:r>
                  <a:rPr lang="en-CA" sz="1200"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=0</a:t>
                </a:r>
                <a:r>
                  <a:rPr lang="en-US" sz="1200" dirty="0"/>
                  <a:t>, is violated.</a:t>
                </a:r>
              </a:p>
              <a:p>
                <a:endParaRPr lang="en-CA" i="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CA" i="0" dirty="0"/>
                  <a:t>Effect of Addiction on health (confounding): </a:t>
                </a:r>
                <a:r>
                  <a:rPr lang="en-CA" i="0" dirty="0">
                    <a:latin typeface="+mn-lt"/>
                  </a:rPr>
                  <a:t>Here</a:t>
                </a:r>
                <a:r>
                  <a:rPr lang="en-US" b="0" i="0">
                    <a:solidFill>
                      <a:schemeClr val="tx1">
                        <a:lumMod val="75000"/>
                        <a:lumOff val="25000"/>
                      </a:schemeClr>
                    </a:solidFill>
                    <a:latin typeface="Cambria Math"/>
                    <a:ea typeface="Open Sans" panose="020B0606030504020204" pitchFamily="34" charset="0"/>
                    <a:cs typeface="Open Sans" panose="020B0606030504020204" pitchFamily="34" charset="0"/>
                  </a:rPr>
                  <a:t> </a:t>
                </a:r>
                <a:r>
                  <a:rPr lang="en-CA"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𝐸(𝜖</a:t>
                </a:r>
                <a:r>
                  <a:rPr lang="en-US" i="0">
                    <a:solidFill>
                      <a:schemeClr val="tx1">
                        <a:lumMod val="75000"/>
                        <a:lumOff val="25000"/>
                      </a:schemeClr>
                    </a:solidFill>
                    <a:latin typeface="Cambria Math"/>
                    <a:ea typeface="Open Sans" panose="020B0606030504020204" pitchFamily="34" charset="0"/>
                    <a:cs typeface="Open Sans" panose="020B0606030504020204" pitchFamily="34" charset="0"/>
                  </a:rPr>
                  <a:t>|𝑥</a:t>
                </a:r>
                <a:r>
                  <a:rPr lang="en-US"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a:t>
                </a:r>
                <a:r>
                  <a:rPr lang="en-US" i="0">
                    <a:solidFill>
                      <a:schemeClr val="tx1">
                        <a:lumMod val="75000"/>
                        <a:lumOff val="25000"/>
                      </a:schemeClr>
                    </a:solidFill>
                    <a:latin typeface="Cambria Math"/>
                    <a:ea typeface="Open Sans" panose="020B0606030504020204" pitchFamily="34" charset="0"/>
                    <a:cs typeface="Open Sans" panose="020B0606030504020204" pitchFamily="34" charset="0"/>
                  </a:rPr>
                  <a:t>≠</a:t>
                </a:r>
                <a:r>
                  <a:rPr lang="en-CA"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0</a:t>
                </a:r>
                <a:r>
                  <a:rPr lang="en-US" b="0" i="0">
                    <a:solidFill>
                      <a:schemeClr val="tx1">
                        <a:lumMod val="75000"/>
                        <a:lumOff val="25000"/>
                      </a:schemeClr>
                    </a:solidFill>
                    <a:latin typeface="Cambria Math"/>
                    <a:ea typeface="Open Sans" panose="020B0606030504020204" pitchFamily="34" charset="0"/>
                    <a:cs typeface="Open Sans" panose="020B0606030504020204" pitchFamily="34" charset="0"/>
                  </a:rPr>
                  <a:t> </a:t>
                </a:r>
                <a:r>
                  <a:rPr lang="en-CA" i="0" dirty="0">
                    <a:latin typeface="+mn-lt"/>
                  </a:rPr>
                  <a:t>where there may be factors that are omitted that correlate with the included</a:t>
                </a:r>
                <a:r>
                  <a:rPr lang="en-CA" i="0" baseline="0" dirty="0">
                    <a:latin typeface="+mn-lt"/>
                  </a:rPr>
                  <a:t> explanatory variables.</a:t>
                </a:r>
                <a:endParaRPr lang="en-CA" i="0" dirty="0">
                  <a:latin typeface="+mn-lt"/>
                </a:endParaRPr>
              </a:p>
              <a:p>
                <a:endParaRPr lang="en-CA" dirty="0"/>
              </a:p>
              <a:p>
                <a:r>
                  <a:rPr lang="en-CA" dirty="0"/>
                  <a:t>Censored data: Treatment effectiveness, Number of physician</a:t>
                </a:r>
                <a:r>
                  <a:rPr lang="en-CA" baseline="0" dirty="0"/>
                  <a:t> v</a:t>
                </a:r>
                <a:r>
                  <a:rPr lang="en-CA" dirty="0"/>
                  <a:t>isits in claims data (sample selection):</a:t>
                </a:r>
                <a:r>
                  <a:rPr lang="en-CA" baseline="0" dirty="0"/>
                  <a:t> Wherein the observations on the explanatory variables may be correlated with the error term as a selection rule must be satisfied for observations to be observed. </a:t>
                </a:r>
                <a:endParaRPr lang="en-CA" dirty="0"/>
              </a:p>
              <a:p>
                <a:endParaRPr lang="en-CA" dirty="0"/>
              </a:p>
              <a:p>
                <a:endParaRPr lang="en-CA" dirty="0"/>
              </a:p>
              <a:p>
                <a:endParaRPr lang="en-US" dirty="0"/>
              </a:p>
            </p:txBody>
          </p:sp>
        </mc:Fallback>
      </mc:AlternateContent>
      <p:sp>
        <p:nvSpPr>
          <p:cNvPr id="4" name="Slide Number Placeholder 3"/>
          <p:cNvSpPr>
            <a:spLocks noGrp="1"/>
          </p:cNvSpPr>
          <p:nvPr>
            <p:ph type="sldNum" sz="quarter" idx="5"/>
          </p:nvPr>
        </p:nvSpPr>
        <p:spPr/>
        <p:txBody>
          <a:bodyPr/>
          <a:lstStyle/>
          <a:p>
            <a:fld id="{4AF79E1B-2C51-4B9B-8EA4-26DE9E345AFF}" type="slidenum">
              <a:rPr lang="en-US" smtClean="0"/>
              <a:t>41</a:t>
            </a:fld>
            <a:endParaRPr lang="en-US"/>
          </a:p>
        </p:txBody>
      </p:sp>
    </p:spTree>
    <p:extLst>
      <p:ext uri="{BB962C8B-B14F-4D97-AF65-F5344CB8AC3E}">
        <p14:creationId xmlns:p14="http://schemas.microsoft.com/office/powerpoint/2010/main" val="185358138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Descriptive work on correlations (exploratory analysis)</a:t>
            </a:r>
          </a:p>
        </p:txBody>
      </p:sp>
      <p:sp>
        <p:nvSpPr>
          <p:cNvPr id="4" name="Slide Number Placeholder 3"/>
          <p:cNvSpPr>
            <a:spLocks noGrp="1"/>
          </p:cNvSpPr>
          <p:nvPr>
            <p:ph type="sldNum" sz="quarter" idx="5"/>
          </p:nvPr>
        </p:nvSpPr>
        <p:spPr/>
        <p:txBody>
          <a:bodyPr/>
          <a:lstStyle/>
          <a:p>
            <a:fld id="{4AF79E1B-2C51-4B9B-8EA4-26DE9E345AFF}" type="slidenum">
              <a:rPr lang="en-US" smtClean="0"/>
              <a:t>42</a:t>
            </a:fld>
            <a:endParaRPr lang="en-US"/>
          </a:p>
        </p:txBody>
      </p:sp>
    </p:spTree>
    <p:extLst>
      <p:ext uri="{BB962C8B-B14F-4D97-AF65-F5344CB8AC3E}">
        <p14:creationId xmlns:p14="http://schemas.microsoft.com/office/powerpoint/2010/main" val="409816108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CB131-A1D9-EA2A-81F0-F5CE74FE1D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57DDBA-B59E-6C6E-B758-DE8D8D8ECC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6EE77E-D478-FD1D-D2BA-FEF117A6F4F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Descriptive work on correlations (exploratory analysis)</a:t>
            </a:r>
          </a:p>
        </p:txBody>
      </p:sp>
      <p:sp>
        <p:nvSpPr>
          <p:cNvPr id="4" name="Slide Number Placeholder 3">
            <a:extLst>
              <a:ext uri="{FF2B5EF4-FFF2-40B4-BE49-F238E27FC236}">
                <a16:creationId xmlns:a16="http://schemas.microsoft.com/office/drawing/2014/main" id="{A9292D01-B725-3B60-2E55-F086BC4AEC2B}"/>
              </a:ext>
            </a:extLst>
          </p:cNvPr>
          <p:cNvSpPr>
            <a:spLocks noGrp="1"/>
          </p:cNvSpPr>
          <p:nvPr>
            <p:ph type="sldNum" sz="quarter" idx="5"/>
          </p:nvPr>
        </p:nvSpPr>
        <p:spPr/>
        <p:txBody>
          <a:bodyPr/>
          <a:lstStyle/>
          <a:p>
            <a:fld id="{4AF79E1B-2C51-4B9B-8EA4-26DE9E345AFF}" type="slidenum">
              <a:rPr lang="en-US" smtClean="0"/>
              <a:t>43</a:t>
            </a:fld>
            <a:endParaRPr lang="en-US"/>
          </a:p>
        </p:txBody>
      </p:sp>
    </p:spTree>
    <p:extLst>
      <p:ext uri="{BB962C8B-B14F-4D97-AF65-F5344CB8AC3E}">
        <p14:creationId xmlns:p14="http://schemas.microsoft.com/office/powerpoint/2010/main" val="103339020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15BCA-DE5B-4E19-4C06-E74B5512C9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D3C78C-6B49-A464-02D6-3EAA1A21C9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B4FFB6-6223-0CEC-05D9-76B25E23B23F}"/>
              </a:ext>
            </a:extLst>
          </p:cNvPr>
          <p:cNvSpPr>
            <a:spLocks noGrp="1"/>
          </p:cNvSpPr>
          <p:nvPr>
            <p:ph type="body" idx="1"/>
          </p:nvPr>
        </p:nvSpPr>
        <p:spPr/>
        <p:txBody>
          <a:bodyPr/>
          <a:lstStyle/>
          <a:p>
            <a:r>
              <a:rPr lang="en-US" dirty="0"/>
              <a:t>Let’s start here with the case study. Let’s talk about </a:t>
            </a:r>
            <a:r>
              <a:rPr lang="en-US" b="1" dirty="0"/>
              <a:t>motivation: </a:t>
            </a:r>
            <a:r>
              <a:rPr lang="en-US" b="0" dirty="0"/>
              <a:t>why do we care about diagnostic error? Did you think the paper was well motivated? What are its central contributions? Then, let’s talk about </a:t>
            </a:r>
            <a:r>
              <a:rPr lang="en-US" b="1" dirty="0"/>
              <a:t>data: </a:t>
            </a:r>
            <a:r>
              <a:rPr lang="en-US" b="0" dirty="0"/>
              <a:t>what kind of data do they have? Could you replicate this in Canada? Would you want to/expect to? Why use this data (similar to use in other papers)? Why exclude 2015? Finally, let’s talk about the </a:t>
            </a:r>
            <a:r>
              <a:rPr lang="en-US" b="1" dirty="0"/>
              <a:t>design</a:t>
            </a:r>
            <a:r>
              <a:rPr lang="en-US" b="0" dirty="0"/>
              <a:t>: what is the natural experiment? What is the variation they’re leaning on, and why is it compelling? What does balance mean in this situation? Should we need controls in our regression? </a:t>
            </a:r>
            <a:endParaRPr lang="en-US" dirty="0"/>
          </a:p>
        </p:txBody>
      </p:sp>
      <p:sp>
        <p:nvSpPr>
          <p:cNvPr id="4" name="Slide Number Placeholder 3">
            <a:extLst>
              <a:ext uri="{FF2B5EF4-FFF2-40B4-BE49-F238E27FC236}">
                <a16:creationId xmlns:a16="http://schemas.microsoft.com/office/drawing/2014/main" id="{4F1D6C20-F8BE-469D-3287-875C727B9846}"/>
              </a:ext>
            </a:extLst>
          </p:cNvPr>
          <p:cNvSpPr>
            <a:spLocks noGrp="1"/>
          </p:cNvSpPr>
          <p:nvPr>
            <p:ph type="sldNum" sz="quarter" idx="5"/>
          </p:nvPr>
        </p:nvSpPr>
        <p:spPr/>
        <p:txBody>
          <a:bodyPr/>
          <a:lstStyle/>
          <a:p>
            <a:fld id="{4AF79E1B-2C51-4B9B-8EA4-26DE9E345AFF}" type="slidenum">
              <a:rPr lang="en-US" smtClean="0"/>
              <a:t>44</a:t>
            </a:fld>
            <a:endParaRPr lang="en-US"/>
          </a:p>
        </p:txBody>
      </p:sp>
    </p:spTree>
    <p:extLst>
      <p:ext uri="{BB962C8B-B14F-4D97-AF65-F5344CB8AC3E}">
        <p14:creationId xmlns:p14="http://schemas.microsoft.com/office/powerpoint/2010/main" val="384980447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61120-9413-C5A7-5BAC-D4272CA4A0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582EF0-5F63-AE7D-2878-07F9E3F12F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B7FCB4-659D-7C36-541A-DC9C6433C15A}"/>
              </a:ext>
            </a:extLst>
          </p:cNvPr>
          <p:cNvSpPr>
            <a:spLocks noGrp="1"/>
          </p:cNvSpPr>
          <p:nvPr>
            <p:ph type="body" idx="1"/>
          </p:nvPr>
        </p:nvSpPr>
        <p:spPr/>
        <p:txBody>
          <a:bodyPr/>
          <a:lstStyle/>
          <a:p>
            <a:r>
              <a:rPr lang="en-US" dirty="0"/>
              <a:t>Do we even need a regression with these two figures? What is the story? </a:t>
            </a:r>
          </a:p>
          <a:p>
            <a:r>
              <a:rPr lang="en-US" dirty="0"/>
              <a:t>- With a good design, you can basically just go home now!</a:t>
            </a:r>
          </a:p>
        </p:txBody>
      </p:sp>
      <p:sp>
        <p:nvSpPr>
          <p:cNvPr id="4" name="Slide Number Placeholder 3">
            <a:extLst>
              <a:ext uri="{FF2B5EF4-FFF2-40B4-BE49-F238E27FC236}">
                <a16:creationId xmlns:a16="http://schemas.microsoft.com/office/drawing/2014/main" id="{96958870-396C-54CF-B849-C9BE3278CF74}"/>
              </a:ext>
            </a:extLst>
          </p:cNvPr>
          <p:cNvSpPr>
            <a:spLocks noGrp="1"/>
          </p:cNvSpPr>
          <p:nvPr>
            <p:ph type="sldNum" sz="quarter" idx="5"/>
          </p:nvPr>
        </p:nvSpPr>
        <p:spPr/>
        <p:txBody>
          <a:bodyPr/>
          <a:lstStyle/>
          <a:p>
            <a:fld id="{4AF79E1B-2C51-4B9B-8EA4-26DE9E345AFF}" type="slidenum">
              <a:rPr lang="en-US" smtClean="0"/>
              <a:t>45</a:t>
            </a:fld>
            <a:endParaRPr lang="en-US"/>
          </a:p>
        </p:txBody>
      </p:sp>
    </p:spTree>
    <p:extLst>
      <p:ext uri="{BB962C8B-B14F-4D97-AF65-F5344CB8AC3E}">
        <p14:creationId xmlns:p14="http://schemas.microsoft.com/office/powerpoint/2010/main" val="123179001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CEA93-92CB-81EB-E343-F450554EB0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9B2763-53CB-1E15-8D3A-1081EC8F0B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8A4E4F-B8A2-22E0-A877-4103CEA2D3D1}"/>
              </a:ext>
            </a:extLst>
          </p:cNvPr>
          <p:cNvSpPr>
            <a:spLocks noGrp="1"/>
          </p:cNvSpPr>
          <p:nvPr>
            <p:ph type="body" idx="1"/>
          </p:nvPr>
        </p:nvSpPr>
        <p:spPr/>
        <p:txBody>
          <a:bodyPr/>
          <a:lstStyle/>
          <a:p>
            <a:r>
              <a:rPr lang="en-US" dirty="0"/>
              <a:t>In this case, the variation is ??? And it has nothing to do with imbalance across groups! </a:t>
            </a:r>
          </a:p>
        </p:txBody>
      </p:sp>
      <p:sp>
        <p:nvSpPr>
          <p:cNvPr id="4" name="Slide Number Placeholder 3">
            <a:extLst>
              <a:ext uri="{FF2B5EF4-FFF2-40B4-BE49-F238E27FC236}">
                <a16:creationId xmlns:a16="http://schemas.microsoft.com/office/drawing/2014/main" id="{4A200FF0-0AEF-B25B-0401-A17B8AF987B6}"/>
              </a:ext>
            </a:extLst>
          </p:cNvPr>
          <p:cNvSpPr>
            <a:spLocks noGrp="1"/>
          </p:cNvSpPr>
          <p:nvPr>
            <p:ph type="sldNum" sz="quarter" idx="5"/>
          </p:nvPr>
        </p:nvSpPr>
        <p:spPr/>
        <p:txBody>
          <a:bodyPr/>
          <a:lstStyle/>
          <a:p>
            <a:fld id="{4AF79E1B-2C51-4B9B-8EA4-26DE9E345AFF}" type="slidenum">
              <a:rPr lang="en-US" smtClean="0"/>
              <a:t>46</a:t>
            </a:fld>
            <a:endParaRPr lang="en-US"/>
          </a:p>
        </p:txBody>
      </p:sp>
    </p:spTree>
    <p:extLst>
      <p:ext uri="{BB962C8B-B14F-4D97-AF65-F5344CB8AC3E}">
        <p14:creationId xmlns:p14="http://schemas.microsoft.com/office/powerpoint/2010/main" val="112374879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C44E1-BB9D-11DF-2702-95C840FBC1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47-70AA-A921-CCE8-E3E13EF446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73B265-0AD3-D6EC-B85A-C414F740E6DA}"/>
              </a:ext>
            </a:extLst>
          </p:cNvPr>
          <p:cNvSpPr>
            <a:spLocks noGrp="1"/>
          </p:cNvSpPr>
          <p:nvPr>
            <p:ph type="body" idx="1"/>
          </p:nvPr>
        </p:nvSpPr>
        <p:spPr/>
        <p:txBody>
          <a:bodyPr/>
          <a:lstStyle/>
          <a:p>
            <a:r>
              <a:rPr lang="en-US" dirty="0"/>
              <a:t>Anyone remember some of the robustness checks? What do we mean when we say robustness check (in this example and more broadly)? </a:t>
            </a:r>
          </a:p>
        </p:txBody>
      </p:sp>
      <p:sp>
        <p:nvSpPr>
          <p:cNvPr id="4" name="Slide Number Placeholder 3">
            <a:extLst>
              <a:ext uri="{FF2B5EF4-FFF2-40B4-BE49-F238E27FC236}">
                <a16:creationId xmlns:a16="http://schemas.microsoft.com/office/drawing/2014/main" id="{65920741-614B-5A17-B5D0-C639CCA34E28}"/>
              </a:ext>
            </a:extLst>
          </p:cNvPr>
          <p:cNvSpPr>
            <a:spLocks noGrp="1"/>
          </p:cNvSpPr>
          <p:nvPr>
            <p:ph type="sldNum" sz="quarter" idx="5"/>
          </p:nvPr>
        </p:nvSpPr>
        <p:spPr/>
        <p:txBody>
          <a:bodyPr/>
          <a:lstStyle/>
          <a:p>
            <a:fld id="{4AF79E1B-2C51-4B9B-8EA4-26DE9E345AFF}" type="slidenum">
              <a:rPr lang="en-US" smtClean="0"/>
              <a:t>47</a:t>
            </a:fld>
            <a:endParaRPr lang="en-US"/>
          </a:p>
        </p:txBody>
      </p:sp>
    </p:spTree>
    <p:extLst>
      <p:ext uri="{BB962C8B-B14F-4D97-AF65-F5344CB8AC3E}">
        <p14:creationId xmlns:p14="http://schemas.microsoft.com/office/powerpoint/2010/main" val="323090228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CEA62-D268-9DD3-0C5F-D520A64AF2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A6BE5E-20CB-CE62-30E1-0259F4F3F1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B0564E-FEE3-7EBB-5CC8-974A94374E8F}"/>
              </a:ext>
            </a:extLst>
          </p:cNvPr>
          <p:cNvSpPr>
            <a:spLocks noGrp="1"/>
          </p:cNvSpPr>
          <p:nvPr>
            <p:ph type="body" idx="1"/>
          </p:nvPr>
        </p:nvSpPr>
        <p:spPr/>
        <p:txBody>
          <a:bodyPr/>
          <a:lstStyle/>
          <a:p>
            <a:r>
              <a:rPr lang="en-US" dirty="0"/>
              <a:t>What did you think about this robustness check? Why was it useful? </a:t>
            </a:r>
          </a:p>
        </p:txBody>
      </p:sp>
      <p:sp>
        <p:nvSpPr>
          <p:cNvPr id="4" name="Slide Number Placeholder 3">
            <a:extLst>
              <a:ext uri="{FF2B5EF4-FFF2-40B4-BE49-F238E27FC236}">
                <a16:creationId xmlns:a16="http://schemas.microsoft.com/office/drawing/2014/main" id="{E7095DA3-4495-10FE-A6C7-441B2A8B2E1D}"/>
              </a:ext>
            </a:extLst>
          </p:cNvPr>
          <p:cNvSpPr>
            <a:spLocks noGrp="1"/>
          </p:cNvSpPr>
          <p:nvPr>
            <p:ph type="sldNum" sz="quarter" idx="5"/>
          </p:nvPr>
        </p:nvSpPr>
        <p:spPr/>
        <p:txBody>
          <a:bodyPr/>
          <a:lstStyle/>
          <a:p>
            <a:fld id="{4AF79E1B-2C51-4B9B-8EA4-26DE9E345AFF}" type="slidenum">
              <a:rPr lang="en-US" smtClean="0"/>
              <a:t>48</a:t>
            </a:fld>
            <a:endParaRPr lang="en-US"/>
          </a:p>
        </p:txBody>
      </p:sp>
    </p:spTree>
    <p:extLst>
      <p:ext uri="{BB962C8B-B14F-4D97-AF65-F5344CB8AC3E}">
        <p14:creationId xmlns:p14="http://schemas.microsoft.com/office/powerpoint/2010/main" val="305598292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 “Mere description” in the folder. Even though we’re after a causal pathway, a solid set of descriptive stats (or better, a single descriptive figure that tells your story) helps you to sell your work before it begins. By </a:t>
            </a:r>
            <a:r>
              <a:rPr lang="en-US" dirty="0" err="1"/>
              <a:t>descriptives</a:t>
            </a:r>
            <a:r>
              <a:rPr lang="en-US" dirty="0"/>
              <a:t> we mean just looking at patterns in the data, not trying to recover causal pathways. </a:t>
            </a:r>
          </a:p>
          <a:p>
            <a:endParaRPr lang="en-US" dirty="0"/>
          </a:p>
          <a:p>
            <a:r>
              <a:rPr lang="en-US" dirty="0"/>
              <a:t>Example: donut hole in Medicare (subsidies before/after a region, but a middle part where you have to pay 100% of expenses) (</a:t>
            </a:r>
            <a:r>
              <a:rPr lang="en-US" dirty="0" err="1"/>
              <a:t>Einav</a:t>
            </a:r>
            <a:r>
              <a:rPr lang="en-US" dirty="0"/>
              <a:t>, Finkelstein, and </a:t>
            </a:r>
            <a:r>
              <a:rPr lang="en-US" dirty="0" err="1"/>
              <a:t>Schrimpf</a:t>
            </a:r>
            <a:r>
              <a:rPr lang="en-US" dirty="0"/>
              <a:t> 2015)</a:t>
            </a:r>
          </a:p>
        </p:txBody>
      </p:sp>
      <p:sp>
        <p:nvSpPr>
          <p:cNvPr id="4" name="Slide Number Placeholder 3"/>
          <p:cNvSpPr>
            <a:spLocks noGrp="1"/>
          </p:cNvSpPr>
          <p:nvPr>
            <p:ph type="sldNum" sz="quarter" idx="5"/>
          </p:nvPr>
        </p:nvSpPr>
        <p:spPr/>
        <p:txBody>
          <a:bodyPr/>
          <a:lstStyle/>
          <a:p>
            <a:fld id="{4AF79E1B-2C51-4B9B-8EA4-26DE9E345AFF}" type="slidenum">
              <a:rPr lang="en-US" smtClean="0"/>
              <a:t>49</a:t>
            </a:fld>
            <a:endParaRPr lang="en-US"/>
          </a:p>
        </p:txBody>
      </p:sp>
    </p:spTree>
    <p:extLst>
      <p:ext uri="{BB962C8B-B14F-4D97-AF65-F5344CB8AC3E}">
        <p14:creationId xmlns:p14="http://schemas.microsoft.com/office/powerpoint/2010/main" val="175347481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the variation is bunching at the kink of the donut hole. Here we’re trying to move beyond </a:t>
            </a:r>
            <a:r>
              <a:rPr lang="en-US"/>
              <a:t>just summary stats and into the </a:t>
            </a:r>
            <a:r>
              <a:rPr lang="en-US" dirty="0"/>
              <a:t>key variation in your data (is it over time? Over geography? Over people?)</a:t>
            </a:r>
          </a:p>
        </p:txBody>
      </p:sp>
      <p:sp>
        <p:nvSpPr>
          <p:cNvPr id="4" name="Slide Number Placeholder 3"/>
          <p:cNvSpPr>
            <a:spLocks noGrp="1"/>
          </p:cNvSpPr>
          <p:nvPr>
            <p:ph type="sldNum" sz="quarter" idx="5"/>
          </p:nvPr>
        </p:nvSpPr>
        <p:spPr/>
        <p:txBody>
          <a:bodyPr/>
          <a:lstStyle/>
          <a:p>
            <a:fld id="{4AF79E1B-2C51-4B9B-8EA4-26DE9E345AFF}" type="slidenum">
              <a:rPr lang="en-US" smtClean="0"/>
              <a:t>50</a:t>
            </a:fld>
            <a:endParaRPr lang="en-US"/>
          </a:p>
        </p:txBody>
      </p:sp>
    </p:spTree>
    <p:extLst>
      <p:ext uri="{BB962C8B-B14F-4D97-AF65-F5344CB8AC3E}">
        <p14:creationId xmlns:p14="http://schemas.microsoft.com/office/powerpoint/2010/main" val="151588284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the variation is bunching at the kink of the donut hole – and here goes the univariate regression! What do we have here? What does the univariate regression show (two things: negative correlation and significant deviations at a particular spot).</a:t>
            </a:r>
          </a:p>
        </p:txBody>
      </p:sp>
      <p:sp>
        <p:nvSpPr>
          <p:cNvPr id="4" name="Slide Number Placeholder 3"/>
          <p:cNvSpPr>
            <a:spLocks noGrp="1"/>
          </p:cNvSpPr>
          <p:nvPr>
            <p:ph type="sldNum" sz="quarter" idx="5"/>
          </p:nvPr>
        </p:nvSpPr>
        <p:spPr/>
        <p:txBody>
          <a:bodyPr/>
          <a:lstStyle/>
          <a:p>
            <a:fld id="{4AF79E1B-2C51-4B9B-8EA4-26DE9E345AFF}" type="slidenum">
              <a:rPr lang="en-US" smtClean="0"/>
              <a:t>51</a:t>
            </a:fld>
            <a:endParaRPr lang="en-US"/>
          </a:p>
        </p:txBody>
      </p:sp>
    </p:spTree>
    <p:extLst>
      <p:ext uri="{BB962C8B-B14F-4D97-AF65-F5344CB8AC3E}">
        <p14:creationId xmlns:p14="http://schemas.microsoft.com/office/powerpoint/2010/main" val="120527554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show that consumers respond before the end of the year, but less than they do at the end of the year (so consumers aren’t fully forward looking). Note the predicted lines again here: “The fitted lines illustrates the difference between actual purchase probabilities and what would be predicted in the absence of the kink. To fit the line, we run a simple regression of the log of the share of individuals with no claim(during the corresponding month) in each $20 spending bin on the midpoint of the spending amount of the bin, weighting each bin by the number of beneficiaries in that bin. We fit this regression using all bins between -$2,000 and -$500.” (extrapolation)</a:t>
            </a:r>
          </a:p>
          <a:p>
            <a:endParaRPr lang="en-US" dirty="0"/>
          </a:p>
          <a:p>
            <a:r>
              <a:rPr lang="en-US" dirty="0"/>
              <a:t> The descriptives provide evidence of a kink, but don’t allow you to quantify it without a causal model – ding </a:t>
            </a:r>
            <a:r>
              <a:rPr lang="en-US" dirty="0" err="1"/>
              <a:t>ding</a:t>
            </a:r>
            <a:r>
              <a:rPr lang="en-US" dirty="0"/>
              <a:t> </a:t>
            </a:r>
            <a:r>
              <a:rPr lang="en-US" dirty="0" err="1"/>
              <a:t>ding</a:t>
            </a:r>
            <a:r>
              <a:rPr lang="en-US" dirty="0"/>
              <a:t> you have a paper!</a:t>
            </a:r>
          </a:p>
        </p:txBody>
      </p:sp>
      <p:sp>
        <p:nvSpPr>
          <p:cNvPr id="4" name="Slide Number Placeholder 3"/>
          <p:cNvSpPr>
            <a:spLocks noGrp="1"/>
          </p:cNvSpPr>
          <p:nvPr>
            <p:ph type="sldNum" sz="quarter" idx="5"/>
          </p:nvPr>
        </p:nvSpPr>
        <p:spPr/>
        <p:txBody>
          <a:bodyPr/>
          <a:lstStyle/>
          <a:p>
            <a:fld id="{4AF79E1B-2C51-4B9B-8EA4-26DE9E345AFF}" type="slidenum">
              <a:rPr lang="en-US" smtClean="0"/>
              <a:t>52</a:t>
            </a:fld>
            <a:endParaRPr lang="en-US"/>
          </a:p>
        </p:txBody>
      </p:sp>
    </p:spTree>
    <p:extLst>
      <p:ext uri="{BB962C8B-B14F-4D97-AF65-F5344CB8AC3E}">
        <p14:creationId xmlns:p14="http://schemas.microsoft.com/office/powerpoint/2010/main" val="140834872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are we looking at in this case? Seniors with Part D coverage – does that expand to other populations? Maybe, maybe not. </a:t>
            </a:r>
          </a:p>
        </p:txBody>
      </p:sp>
      <p:sp>
        <p:nvSpPr>
          <p:cNvPr id="4" name="Slide Number Placeholder 3"/>
          <p:cNvSpPr>
            <a:spLocks noGrp="1"/>
          </p:cNvSpPr>
          <p:nvPr>
            <p:ph type="sldNum" sz="quarter" idx="5"/>
          </p:nvPr>
        </p:nvSpPr>
        <p:spPr/>
        <p:txBody>
          <a:bodyPr/>
          <a:lstStyle/>
          <a:p>
            <a:fld id="{4AF79E1B-2C51-4B9B-8EA4-26DE9E345AFF}" type="slidenum">
              <a:rPr lang="en-US" smtClean="0"/>
              <a:t>53</a:t>
            </a:fld>
            <a:endParaRPr lang="en-US"/>
          </a:p>
        </p:txBody>
      </p:sp>
    </p:spTree>
    <p:extLst>
      <p:ext uri="{BB962C8B-B14F-4D97-AF65-F5344CB8AC3E}">
        <p14:creationId xmlns:p14="http://schemas.microsoft.com/office/powerpoint/2010/main" val="38486539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2DFC4-BD40-3E9D-3BFE-CEA86D7652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6DB5A6-9777-3EC6-D9F2-6E4DB5F7A0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6DFA81-2D80-EE0C-CBAB-214DDC2BBD7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 Basis for model comparisons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We’re talking about inference and controls next week. But what does this do for us? Source: Dobkin et al., 2010 “</a:t>
            </a:r>
            <a:r>
              <a:rPr lang="en-US" sz="1200" b="0" i="0" kern="1200" dirty="0">
                <a:solidFill>
                  <a:schemeClr val="tx1"/>
                </a:solidFill>
                <a:effectLst/>
                <a:latin typeface="+mn-lt"/>
                <a:ea typeface="+mn-ea"/>
                <a:cs typeface="+mn-cs"/>
              </a:rPr>
              <a:t>Skipping class in college and exam performance: Evidence from a regression discontinuity classroom experiment”. </a:t>
            </a:r>
            <a:r>
              <a:rPr lang="en-US" dirty="0"/>
              <a:t>https://www.sciencedirect.com/science/article/pii/S0272775709001095?casa_token=01EHj9cWJAAAAAAA:8LPqIHUg9dYj-Y_uo4lMRf0UsxmOH4DM__2e-ynA003DERoJx72o1a7IJKBuJMi4B5GWL2HmTA#tbl1. Table truncated for brevity by me. </a:t>
            </a:r>
          </a:p>
        </p:txBody>
      </p:sp>
      <p:sp>
        <p:nvSpPr>
          <p:cNvPr id="4" name="Slide Number Placeholder 3">
            <a:extLst>
              <a:ext uri="{FF2B5EF4-FFF2-40B4-BE49-F238E27FC236}">
                <a16:creationId xmlns:a16="http://schemas.microsoft.com/office/drawing/2014/main" id="{F0D0F994-E307-B093-0601-F2C08FBCCEDF}"/>
              </a:ext>
            </a:extLst>
          </p:cNvPr>
          <p:cNvSpPr>
            <a:spLocks noGrp="1"/>
          </p:cNvSpPr>
          <p:nvPr>
            <p:ph type="sldNum" sz="quarter" idx="5"/>
          </p:nvPr>
        </p:nvSpPr>
        <p:spPr/>
        <p:txBody>
          <a:bodyPr/>
          <a:lstStyle/>
          <a:p>
            <a:fld id="{4AF79E1B-2C51-4B9B-8EA4-26DE9E345AFF}" type="slidenum">
              <a:rPr lang="en-US" smtClean="0"/>
              <a:t>54</a:t>
            </a:fld>
            <a:endParaRPr lang="en-US"/>
          </a:p>
        </p:txBody>
      </p:sp>
    </p:spTree>
    <p:extLst>
      <p:ext uri="{BB962C8B-B14F-4D97-AF65-F5344CB8AC3E}">
        <p14:creationId xmlns:p14="http://schemas.microsoft.com/office/powerpoint/2010/main" val="213784732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DB045-42B5-4CBB-4B69-E310FD509E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DDCD06-77D6-DE0A-AB1F-BC66BB5648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3DADC8-3611-6EEC-1166-F9F7B4BC0CB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3. What about R2? If we were running prediction models, then a univariate regression (or an incremental “buildout” of regression models) may be informative</a:t>
            </a:r>
          </a:p>
        </p:txBody>
      </p:sp>
      <p:sp>
        <p:nvSpPr>
          <p:cNvPr id="4" name="Slide Number Placeholder 3">
            <a:extLst>
              <a:ext uri="{FF2B5EF4-FFF2-40B4-BE49-F238E27FC236}">
                <a16:creationId xmlns:a16="http://schemas.microsoft.com/office/drawing/2014/main" id="{D8AA4785-CEA6-FB1B-8FC4-CDC5C2DB0F5E}"/>
              </a:ext>
            </a:extLst>
          </p:cNvPr>
          <p:cNvSpPr>
            <a:spLocks noGrp="1"/>
          </p:cNvSpPr>
          <p:nvPr>
            <p:ph type="sldNum" sz="quarter" idx="5"/>
          </p:nvPr>
        </p:nvSpPr>
        <p:spPr/>
        <p:txBody>
          <a:bodyPr/>
          <a:lstStyle/>
          <a:p>
            <a:fld id="{4AF79E1B-2C51-4B9B-8EA4-26DE9E345AFF}" type="slidenum">
              <a:rPr lang="en-US" smtClean="0"/>
              <a:t>55</a:t>
            </a:fld>
            <a:endParaRPr lang="en-US"/>
          </a:p>
        </p:txBody>
      </p:sp>
    </p:spTree>
    <p:extLst>
      <p:ext uri="{BB962C8B-B14F-4D97-AF65-F5344CB8AC3E}">
        <p14:creationId xmlns:p14="http://schemas.microsoft.com/office/powerpoint/2010/main" val="227699316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1BCF3-81A0-A224-5EB1-014767E4B9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339DF3-F557-3BB5-9A72-9EFBD303E7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778C40-1371-9A9E-7DC2-15E35EBD43D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 they included controls (did they need to)? You could have a version of this that shows both adjusted and unadjusted models. Note: we haven’t gone over odds ratios yet, but we will. Simple regressions let you easily do subgroup analyses as well!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“The overall adjusted rate of new ADHD diagnosis associated with a visit on </a:t>
            </a:r>
            <a:r>
              <a:rPr lang="en-US" dirty="0" err="1"/>
              <a:t>Halloweenwas</a:t>
            </a:r>
            <a:r>
              <a:rPr lang="en-US" dirty="0"/>
              <a:t> 62.7 per 10,000 child-visits compared to 55.1 per 10,000 child-visits in the ±10 surrounding weekdays, corresponding to a 14% increase”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Let’s write the simplest version of this regression equation (specification, estimating equation)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So taking this as given, suppose the regression were run at the rate level and the coefficient was 7.6***. How would we interpret it? </a:t>
            </a:r>
          </a:p>
        </p:txBody>
      </p:sp>
      <p:sp>
        <p:nvSpPr>
          <p:cNvPr id="4" name="Slide Number Placeholder 3">
            <a:extLst>
              <a:ext uri="{FF2B5EF4-FFF2-40B4-BE49-F238E27FC236}">
                <a16:creationId xmlns:a16="http://schemas.microsoft.com/office/drawing/2014/main" id="{D92D3F59-4AFD-7D7B-E0B7-4A177A9641AB}"/>
              </a:ext>
            </a:extLst>
          </p:cNvPr>
          <p:cNvSpPr>
            <a:spLocks noGrp="1"/>
          </p:cNvSpPr>
          <p:nvPr>
            <p:ph type="sldNum" sz="quarter" idx="5"/>
          </p:nvPr>
        </p:nvSpPr>
        <p:spPr/>
        <p:txBody>
          <a:bodyPr/>
          <a:lstStyle/>
          <a:p>
            <a:fld id="{4AF79E1B-2C51-4B9B-8EA4-26DE9E345AFF}" type="slidenum">
              <a:rPr lang="en-US" smtClean="0"/>
              <a:t>56</a:t>
            </a:fld>
            <a:endParaRPr lang="en-US"/>
          </a:p>
        </p:txBody>
      </p:sp>
    </p:spTree>
    <p:extLst>
      <p:ext uri="{BB962C8B-B14F-4D97-AF65-F5344CB8AC3E}">
        <p14:creationId xmlns:p14="http://schemas.microsoft.com/office/powerpoint/2010/main" val="367464461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A485F-99AD-ABAE-44E3-DA9B3F091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C17579-815B-1911-F706-C584480EF5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9E640-E4D8-D156-A50C-ADFACCD301C3}"/>
              </a:ext>
            </a:extLst>
          </p:cNvPr>
          <p:cNvSpPr>
            <a:spLocks noGrp="1"/>
          </p:cNvSpPr>
          <p:nvPr>
            <p:ph type="body" idx="1"/>
          </p:nvPr>
        </p:nvSpPr>
        <p:spPr/>
        <p:txBody>
          <a:bodyPr/>
          <a:lstStyle/>
          <a:p>
            <a:r>
              <a:rPr lang="en-US" dirty="0"/>
              <a:t>We could do a MC simulation like we did last time to show this is true under certain assumptions. Try coding it up if you are curious!</a:t>
            </a:r>
          </a:p>
        </p:txBody>
      </p:sp>
      <p:sp>
        <p:nvSpPr>
          <p:cNvPr id="4" name="Slide Number Placeholder 3">
            <a:extLst>
              <a:ext uri="{FF2B5EF4-FFF2-40B4-BE49-F238E27FC236}">
                <a16:creationId xmlns:a16="http://schemas.microsoft.com/office/drawing/2014/main" id="{CFB17B63-5EDF-8B80-993B-BA6906831A70}"/>
              </a:ext>
            </a:extLst>
          </p:cNvPr>
          <p:cNvSpPr>
            <a:spLocks noGrp="1"/>
          </p:cNvSpPr>
          <p:nvPr>
            <p:ph type="sldNum" sz="quarter" idx="5"/>
          </p:nvPr>
        </p:nvSpPr>
        <p:spPr/>
        <p:txBody>
          <a:bodyPr/>
          <a:lstStyle/>
          <a:p>
            <a:fld id="{4AF79E1B-2C51-4B9B-8EA4-26DE9E345AFF}" type="slidenum">
              <a:rPr lang="en-US" smtClean="0"/>
              <a:t>57</a:t>
            </a:fld>
            <a:endParaRPr lang="en-US"/>
          </a:p>
        </p:txBody>
      </p:sp>
    </p:spTree>
    <p:extLst>
      <p:ext uri="{BB962C8B-B14F-4D97-AF65-F5344CB8AC3E}">
        <p14:creationId xmlns:p14="http://schemas.microsoft.com/office/powerpoint/2010/main" val="329527365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Are these assumptions testable? </a:t>
            </a:r>
          </a:p>
        </p:txBody>
      </p:sp>
      <p:sp>
        <p:nvSpPr>
          <p:cNvPr id="4" name="Slide Number Placeholder 3"/>
          <p:cNvSpPr>
            <a:spLocks noGrp="1"/>
          </p:cNvSpPr>
          <p:nvPr>
            <p:ph type="sldNum" sz="quarter" idx="5"/>
          </p:nvPr>
        </p:nvSpPr>
        <p:spPr/>
        <p:txBody>
          <a:bodyPr/>
          <a:lstStyle/>
          <a:p>
            <a:fld id="{4AF79E1B-2C51-4B9B-8EA4-26DE9E345AFF}" type="slidenum">
              <a:rPr lang="en-US" smtClean="0"/>
              <a:t>58</a:t>
            </a:fld>
            <a:endParaRPr lang="en-US"/>
          </a:p>
        </p:txBody>
      </p:sp>
    </p:spTree>
    <p:extLst>
      <p:ext uri="{BB962C8B-B14F-4D97-AF65-F5344CB8AC3E}">
        <p14:creationId xmlns:p14="http://schemas.microsoft.com/office/powerpoint/2010/main" val="57288997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Are these assumptions testable? </a:t>
            </a:r>
          </a:p>
        </p:txBody>
      </p:sp>
      <p:sp>
        <p:nvSpPr>
          <p:cNvPr id="4" name="Slide Number Placeholder 3"/>
          <p:cNvSpPr>
            <a:spLocks noGrp="1"/>
          </p:cNvSpPr>
          <p:nvPr>
            <p:ph type="sldNum" sz="quarter" idx="5"/>
          </p:nvPr>
        </p:nvSpPr>
        <p:spPr/>
        <p:txBody>
          <a:bodyPr/>
          <a:lstStyle/>
          <a:p>
            <a:fld id="{4AF79E1B-2C51-4B9B-8EA4-26DE9E345AFF}" type="slidenum">
              <a:rPr lang="en-US" smtClean="0"/>
              <a:t>59</a:t>
            </a:fld>
            <a:endParaRPr lang="en-US"/>
          </a:p>
        </p:txBody>
      </p:sp>
    </p:spTree>
    <p:extLst>
      <p:ext uri="{BB962C8B-B14F-4D97-AF65-F5344CB8AC3E}">
        <p14:creationId xmlns:p14="http://schemas.microsoft.com/office/powerpoint/2010/main" val="308814448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Are these assumptions testable? </a:t>
            </a:r>
          </a:p>
        </p:txBody>
      </p:sp>
      <p:sp>
        <p:nvSpPr>
          <p:cNvPr id="4" name="Slide Number Placeholder 3"/>
          <p:cNvSpPr>
            <a:spLocks noGrp="1"/>
          </p:cNvSpPr>
          <p:nvPr>
            <p:ph type="sldNum" sz="quarter" idx="5"/>
          </p:nvPr>
        </p:nvSpPr>
        <p:spPr/>
        <p:txBody>
          <a:bodyPr/>
          <a:lstStyle/>
          <a:p>
            <a:fld id="{4AF79E1B-2C51-4B9B-8EA4-26DE9E345AFF}" type="slidenum">
              <a:rPr lang="en-US" smtClean="0"/>
              <a:t>60</a:t>
            </a:fld>
            <a:endParaRPr lang="en-US"/>
          </a:p>
        </p:txBody>
      </p:sp>
    </p:spTree>
    <p:extLst>
      <p:ext uri="{BB962C8B-B14F-4D97-AF65-F5344CB8AC3E}">
        <p14:creationId xmlns:p14="http://schemas.microsoft.com/office/powerpoint/2010/main" val="328593699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care about consistency (this comes from the law of large numbers)</a:t>
            </a:r>
          </a:p>
        </p:txBody>
      </p:sp>
      <p:sp>
        <p:nvSpPr>
          <p:cNvPr id="4" name="Slide Number Placeholder 3"/>
          <p:cNvSpPr>
            <a:spLocks noGrp="1"/>
          </p:cNvSpPr>
          <p:nvPr>
            <p:ph type="sldNum" sz="quarter" idx="5"/>
          </p:nvPr>
        </p:nvSpPr>
        <p:spPr/>
        <p:txBody>
          <a:bodyPr/>
          <a:lstStyle/>
          <a:p>
            <a:fld id="{4AF79E1B-2C51-4B9B-8EA4-26DE9E345AFF}" type="slidenum">
              <a:rPr lang="en-US" smtClean="0"/>
              <a:t>61</a:t>
            </a:fld>
            <a:endParaRPr lang="en-US"/>
          </a:p>
        </p:txBody>
      </p:sp>
    </p:spTree>
    <p:extLst>
      <p:ext uri="{BB962C8B-B14F-4D97-AF65-F5344CB8AC3E}">
        <p14:creationId xmlns:p14="http://schemas.microsoft.com/office/powerpoint/2010/main" val="227526810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May need to do this in lecture 3 if needed.</a:t>
                </a:r>
              </a:p>
            </p:txBody>
          </p:sp>
        </mc:Choice>
        <mc:Fallback xmlns="">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i="0" dirty="0"/>
                  <a:t>Here are two examples</a:t>
                </a:r>
                <a:r>
                  <a:rPr lang="en-CA" i="0" baseline="0" dirty="0"/>
                  <a:t> where assumption </a:t>
                </a:r>
                <a:r>
                  <a:rPr lang="en-CA" sz="1200"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𝐸(𝜖</a:t>
                </a:r>
                <a:r>
                  <a:rPr lang="en-US" sz="1200" b="0" i="0">
                    <a:solidFill>
                      <a:schemeClr val="tx1">
                        <a:lumMod val="75000"/>
                        <a:lumOff val="25000"/>
                      </a:schemeClr>
                    </a:solidFill>
                    <a:latin typeface="Cambria Math"/>
                    <a:ea typeface="Open Sans" panose="020B0606030504020204" pitchFamily="34" charset="0"/>
                    <a:cs typeface="Open Sans" panose="020B0606030504020204" pitchFamily="34" charset="0"/>
                  </a:rPr>
                  <a:t>|𝑥</a:t>
                </a:r>
                <a:r>
                  <a:rPr lang="en-US" sz="1200" b="0"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a:t>
                </a:r>
                <a:r>
                  <a:rPr lang="en-CA" sz="1200"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=0</a:t>
                </a:r>
                <a:r>
                  <a:rPr lang="en-US" sz="1200" dirty="0"/>
                  <a:t>, is violated.</a:t>
                </a:r>
              </a:p>
              <a:p>
                <a:endParaRPr lang="en-CA" i="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CA" i="0" dirty="0"/>
                  <a:t>Effect of Addiction on health (confounding): </a:t>
                </a:r>
                <a:r>
                  <a:rPr lang="en-CA" i="0" dirty="0">
                    <a:latin typeface="+mn-lt"/>
                  </a:rPr>
                  <a:t>Here</a:t>
                </a:r>
                <a:r>
                  <a:rPr lang="en-US" b="0" i="0">
                    <a:solidFill>
                      <a:schemeClr val="tx1">
                        <a:lumMod val="75000"/>
                        <a:lumOff val="25000"/>
                      </a:schemeClr>
                    </a:solidFill>
                    <a:latin typeface="Cambria Math"/>
                    <a:ea typeface="Open Sans" panose="020B0606030504020204" pitchFamily="34" charset="0"/>
                    <a:cs typeface="Open Sans" panose="020B0606030504020204" pitchFamily="34" charset="0"/>
                  </a:rPr>
                  <a:t> </a:t>
                </a:r>
                <a:r>
                  <a:rPr lang="en-CA"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𝐸(𝜖</a:t>
                </a:r>
                <a:r>
                  <a:rPr lang="en-US" i="0">
                    <a:solidFill>
                      <a:schemeClr val="tx1">
                        <a:lumMod val="75000"/>
                        <a:lumOff val="25000"/>
                      </a:schemeClr>
                    </a:solidFill>
                    <a:latin typeface="Cambria Math"/>
                    <a:ea typeface="Open Sans" panose="020B0606030504020204" pitchFamily="34" charset="0"/>
                    <a:cs typeface="Open Sans" panose="020B0606030504020204" pitchFamily="34" charset="0"/>
                  </a:rPr>
                  <a:t>|𝑥</a:t>
                </a:r>
                <a:r>
                  <a:rPr lang="en-US"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a:t>
                </a:r>
                <a:r>
                  <a:rPr lang="en-US" i="0">
                    <a:solidFill>
                      <a:schemeClr val="tx1">
                        <a:lumMod val="75000"/>
                        <a:lumOff val="25000"/>
                      </a:schemeClr>
                    </a:solidFill>
                    <a:latin typeface="Cambria Math"/>
                    <a:ea typeface="Open Sans" panose="020B0606030504020204" pitchFamily="34" charset="0"/>
                    <a:cs typeface="Open Sans" panose="020B0606030504020204" pitchFamily="34" charset="0"/>
                  </a:rPr>
                  <a:t>≠</a:t>
                </a:r>
                <a:r>
                  <a:rPr lang="en-CA"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0</a:t>
                </a:r>
                <a:r>
                  <a:rPr lang="en-US" b="0" i="0">
                    <a:solidFill>
                      <a:schemeClr val="tx1">
                        <a:lumMod val="75000"/>
                        <a:lumOff val="25000"/>
                      </a:schemeClr>
                    </a:solidFill>
                    <a:latin typeface="Cambria Math"/>
                    <a:ea typeface="Open Sans" panose="020B0606030504020204" pitchFamily="34" charset="0"/>
                    <a:cs typeface="Open Sans" panose="020B0606030504020204" pitchFamily="34" charset="0"/>
                  </a:rPr>
                  <a:t> </a:t>
                </a:r>
                <a:r>
                  <a:rPr lang="en-CA" i="0" dirty="0">
                    <a:latin typeface="+mn-lt"/>
                  </a:rPr>
                  <a:t>where there may be factors that are omitted that correlate with the included</a:t>
                </a:r>
                <a:r>
                  <a:rPr lang="en-CA" i="0" baseline="0" dirty="0">
                    <a:latin typeface="+mn-lt"/>
                  </a:rPr>
                  <a:t> explanatory variables.</a:t>
                </a:r>
                <a:endParaRPr lang="en-CA" i="0" dirty="0">
                  <a:latin typeface="+mn-lt"/>
                </a:endParaRPr>
              </a:p>
              <a:p>
                <a:endParaRPr lang="en-CA" dirty="0"/>
              </a:p>
              <a:p>
                <a:r>
                  <a:rPr lang="en-CA" dirty="0"/>
                  <a:t>Censored data: Treatment effectiveness, Number of physician</a:t>
                </a:r>
                <a:r>
                  <a:rPr lang="en-CA" baseline="0" dirty="0"/>
                  <a:t> v</a:t>
                </a:r>
                <a:r>
                  <a:rPr lang="en-CA" dirty="0"/>
                  <a:t>isits in claims data (sample selection):</a:t>
                </a:r>
                <a:r>
                  <a:rPr lang="en-CA" baseline="0" dirty="0"/>
                  <a:t> Wherein the observations on the explanatory variables may be correlated with the error term as a selection rule must be satisfied for observations to be observed. </a:t>
                </a:r>
                <a:endParaRPr lang="en-CA" dirty="0"/>
              </a:p>
              <a:p>
                <a:endParaRPr lang="en-CA" dirty="0"/>
              </a:p>
              <a:p>
                <a:endParaRPr lang="en-CA" dirty="0"/>
              </a:p>
              <a:p>
                <a:endParaRPr lang="en-US" dirty="0"/>
              </a:p>
            </p:txBody>
          </p:sp>
        </mc:Fallback>
      </mc:AlternateContent>
      <p:sp>
        <p:nvSpPr>
          <p:cNvPr id="4" name="Slide Number Placeholder 3"/>
          <p:cNvSpPr>
            <a:spLocks noGrp="1"/>
          </p:cNvSpPr>
          <p:nvPr>
            <p:ph type="sldNum" sz="quarter" idx="5"/>
          </p:nvPr>
        </p:nvSpPr>
        <p:spPr/>
        <p:txBody>
          <a:bodyPr/>
          <a:lstStyle/>
          <a:p>
            <a:fld id="{4AF79E1B-2C51-4B9B-8EA4-26DE9E345AFF}" type="slidenum">
              <a:rPr lang="en-US" smtClean="0"/>
              <a:t>62</a:t>
            </a:fld>
            <a:endParaRPr lang="en-US"/>
          </a:p>
        </p:txBody>
      </p:sp>
    </p:spTree>
    <p:extLst>
      <p:ext uri="{BB962C8B-B14F-4D97-AF65-F5344CB8AC3E}">
        <p14:creationId xmlns:p14="http://schemas.microsoft.com/office/powerpoint/2010/main" val="153807443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Adding in controls next time, but the principles hold. Hopefully, the law of large numbers kicks in – how do we know it does? Think back to our MC simulation from last time. </a:t>
            </a:r>
          </a:p>
        </p:txBody>
      </p:sp>
      <p:sp>
        <p:nvSpPr>
          <p:cNvPr id="4" name="Slide Number Placeholder 3"/>
          <p:cNvSpPr>
            <a:spLocks noGrp="1"/>
          </p:cNvSpPr>
          <p:nvPr>
            <p:ph type="sldNum" sz="quarter" idx="5"/>
          </p:nvPr>
        </p:nvSpPr>
        <p:spPr/>
        <p:txBody>
          <a:bodyPr/>
          <a:lstStyle/>
          <a:p>
            <a:fld id="{4AF79E1B-2C51-4B9B-8EA4-26DE9E345AFF}" type="slidenum">
              <a:rPr lang="en-US" smtClean="0"/>
              <a:t>63</a:t>
            </a:fld>
            <a:endParaRPr lang="en-US"/>
          </a:p>
        </p:txBody>
      </p:sp>
    </p:spTree>
    <p:extLst>
      <p:ext uri="{BB962C8B-B14F-4D97-AF65-F5344CB8AC3E}">
        <p14:creationId xmlns:p14="http://schemas.microsoft.com/office/powerpoint/2010/main" val="59662794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time, we’ll talk about what occurs if homoskedasticity is violated. This is illustrative of the simple case, but not prohibitive. </a:t>
            </a:r>
          </a:p>
        </p:txBody>
      </p:sp>
      <p:sp>
        <p:nvSpPr>
          <p:cNvPr id="4" name="Slide Number Placeholder 3"/>
          <p:cNvSpPr>
            <a:spLocks noGrp="1"/>
          </p:cNvSpPr>
          <p:nvPr>
            <p:ph type="sldNum" sz="quarter" idx="5"/>
          </p:nvPr>
        </p:nvSpPr>
        <p:spPr/>
        <p:txBody>
          <a:bodyPr/>
          <a:lstStyle/>
          <a:p>
            <a:fld id="{4AF79E1B-2C51-4B9B-8EA4-26DE9E345AFF}" type="slidenum">
              <a:rPr lang="en-US" smtClean="0"/>
              <a:t>64</a:t>
            </a:fld>
            <a:endParaRPr lang="en-US"/>
          </a:p>
        </p:txBody>
      </p:sp>
    </p:spTree>
    <p:extLst>
      <p:ext uri="{BB962C8B-B14F-4D97-AF65-F5344CB8AC3E}">
        <p14:creationId xmlns:p14="http://schemas.microsoft.com/office/powerpoint/2010/main" val="17494892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a null world like in our example? Attendance doesn’t affect exam scores at all. Each simulation is a random draw of data in a null world – no effect exists. </a:t>
            </a:r>
          </a:p>
        </p:txBody>
      </p:sp>
      <p:sp>
        <p:nvSpPr>
          <p:cNvPr id="4" name="Slide Number Placeholder 3"/>
          <p:cNvSpPr>
            <a:spLocks noGrp="1"/>
          </p:cNvSpPr>
          <p:nvPr>
            <p:ph type="sldNum" sz="quarter" idx="5"/>
          </p:nvPr>
        </p:nvSpPr>
        <p:spPr/>
        <p:txBody>
          <a:bodyPr/>
          <a:lstStyle/>
          <a:p>
            <a:fld id="{4AF79E1B-2C51-4B9B-8EA4-26DE9E345AFF}" type="slidenum">
              <a:rPr lang="en-US" smtClean="0"/>
              <a:t>65</a:t>
            </a:fld>
            <a:endParaRPr lang="en-US"/>
          </a:p>
        </p:txBody>
      </p:sp>
    </p:spTree>
    <p:extLst>
      <p:ext uri="{BB962C8B-B14F-4D97-AF65-F5344CB8AC3E}">
        <p14:creationId xmlns:p14="http://schemas.microsoft.com/office/powerpoint/2010/main" val="339601018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is our estimated slope (after controlling) – this is unlikely given a bunch of random null worlds (the exact level of unlikeliness is the p-value)</a:t>
            </a:r>
          </a:p>
        </p:txBody>
      </p:sp>
      <p:sp>
        <p:nvSpPr>
          <p:cNvPr id="4" name="Slide Number Placeholder 3"/>
          <p:cNvSpPr>
            <a:spLocks noGrp="1"/>
          </p:cNvSpPr>
          <p:nvPr>
            <p:ph type="sldNum" sz="quarter" idx="5"/>
          </p:nvPr>
        </p:nvSpPr>
        <p:spPr/>
        <p:txBody>
          <a:bodyPr/>
          <a:lstStyle/>
          <a:p>
            <a:fld id="{4AF79E1B-2C51-4B9B-8EA4-26DE9E345AFF}" type="slidenum">
              <a:rPr lang="en-US" smtClean="0"/>
              <a:t>66</a:t>
            </a:fld>
            <a:endParaRPr lang="en-US"/>
          </a:p>
        </p:txBody>
      </p:sp>
    </p:spTree>
    <p:extLst>
      <p:ext uri="{BB962C8B-B14F-4D97-AF65-F5344CB8AC3E}">
        <p14:creationId xmlns:p14="http://schemas.microsoft.com/office/powerpoint/2010/main" val="397519054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Language here – normally distributed with a mean and variance. Note that variance diminishes with N, and that true sigma^2 is a population parameter that is unknown to us (just like true beta)</a:t>
            </a:r>
          </a:p>
        </p:txBody>
      </p:sp>
      <p:sp>
        <p:nvSpPr>
          <p:cNvPr id="4" name="Slide Number Placeholder 3"/>
          <p:cNvSpPr>
            <a:spLocks noGrp="1"/>
          </p:cNvSpPr>
          <p:nvPr>
            <p:ph type="sldNum" sz="quarter" idx="5"/>
          </p:nvPr>
        </p:nvSpPr>
        <p:spPr/>
        <p:txBody>
          <a:bodyPr/>
          <a:lstStyle/>
          <a:p>
            <a:fld id="{4AF79E1B-2C51-4B9B-8EA4-26DE9E345AFF}" type="slidenum">
              <a:rPr lang="en-US" smtClean="0"/>
              <a:t>67</a:t>
            </a:fld>
            <a:endParaRPr lang="en-US"/>
          </a:p>
        </p:txBody>
      </p:sp>
    </p:spTree>
    <p:extLst>
      <p:ext uri="{BB962C8B-B14F-4D97-AF65-F5344CB8AC3E}">
        <p14:creationId xmlns:p14="http://schemas.microsoft.com/office/powerpoint/2010/main" val="192330142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our data grows, our estimate is centered around the truth – the more data, the more </a:t>
            </a:r>
            <a:r>
              <a:rPr lang="en-US" b="1" dirty="0"/>
              <a:t>precise </a:t>
            </a:r>
            <a:r>
              <a:rPr lang="en-US" b="0" dirty="0"/>
              <a:t>that estimate is. </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68</a:t>
            </a:fld>
            <a:endParaRPr lang="en-US"/>
          </a:p>
        </p:txBody>
      </p:sp>
    </p:spTree>
    <p:extLst>
      <p:ext uri="{BB962C8B-B14F-4D97-AF65-F5344CB8AC3E}">
        <p14:creationId xmlns:p14="http://schemas.microsoft.com/office/powerpoint/2010/main" val="93379581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our data grows, our estimate is centered around the truth – the more data, the more </a:t>
            </a:r>
            <a:r>
              <a:rPr lang="en-US" b="1" dirty="0"/>
              <a:t>precise </a:t>
            </a:r>
            <a:r>
              <a:rPr lang="en-US" b="0" dirty="0"/>
              <a:t>that estimate is. We won’t go over the VCE because we don’t want to get bogged down in linear algebra, but the matrix contains estimated variance and covariance parameters for each coefficient; standard error is the square root of the diagonal. </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69</a:t>
            </a:fld>
            <a:endParaRPr lang="en-US"/>
          </a:p>
        </p:txBody>
      </p:sp>
    </p:spTree>
    <p:extLst>
      <p:ext uri="{BB962C8B-B14F-4D97-AF65-F5344CB8AC3E}">
        <p14:creationId xmlns:p14="http://schemas.microsoft.com/office/powerpoint/2010/main" val="67298087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Is unknown</a:t>
            </a:r>
          </a:p>
        </p:txBody>
      </p:sp>
      <p:sp>
        <p:nvSpPr>
          <p:cNvPr id="4" name="Slide Number Placeholder 3"/>
          <p:cNvSpPr>
            <a:spLocks noGrp="1"/>
          </p:cNvSpPr>
          <p:nvPr>
            <p:ph type="sldNum" sz="quarter" idx="5"/>
          </p:nvPr>
        </p:nvSpPr>
        <p:spPr/>
        <p:txBody>
          <a:bodyPr/>
          <a:lstStyle/>
          <a:p>
            <a:fld id="{4AF79E1B-2C51-4B9B-8EA4-26DE9E345AFF}" type="slidenum">
              <a:rPr lang="en-US" smtClean="0"/>
              <a:t>70</a:t>
            </a:fld>
            <a:endParaRPr lang="en-US"/>
          </a:p>
        </p:txBody>
      </p:sp>
    </p:spTree>
    <p:extLst>
      <p:ext uri="{BB962C8B-B14F-4D97-AF65-F5344CB8AC3E}">
        <p14:creationId xmlns:p14="http://schemas.microsoft.com/office/powerpoint/2010/main" val="300056161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null hypothesis is our simulated world. </a:t>
            </a:r>
          </a:p>
        </p:txBody>
      </p:sp>
      <p:sp>
        <p:nvSpPr>
          <p:cNvPr id="4" name="Slide Number Placeholder 3"/>
          <p:cNvSpPr>
            <a:spLocks noGrp="1"/>
          </p:cNvSpPr>
          <p:nvPr>
            <p:ph type="sldNum" sz="quarter" idx="5"/>
          </p:nvPr>
        </p:nvSpPr>
        <p:spPr/>
        <p:txBody>
          <a:bodyPr/>
          <a:lstStyle/>
          <a:p>
            <a:fld id="{4AF79E1B-2C51-4B9B-8EA4-26DE9E345AFF}" type="slidenum">
              <a:rPr lang="en-US" smtClean="0"/>
              <a:t>73</a:t>
            </a:fld>
            <a:endParaRPr lang="en-US"/>
          </a:p>
        </p:txBody>
      </p:sp>
    </p:spTree>
    <p:extLst>
      <p:ext uri="{BB962C8B-B14F-4D97-AF65-F5344CB8AC3E}">
        <p14:creationId xmlns:p14="http://schemas.microsoft.com/office/powerpoint/2010/main" val="156399070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74</a:t>
            </a:fld>
            <a:endParaRPr lang="en-US"/>
          </a:p>
        </p:txBody>
      </p:sp>
    </p:spTree>
    <p:extLst>
      <p:ext uri="{BB962C8B-B14F-4D97-AF65-F5344CB8AC3E}">
        <p14:creationId xmlns:p14="http://schemas.microsoft.com/office/powerpoint/2010/main" val="302789869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talk more about this in a minute after regression tables. </a:t>
            </a:r>
          </a:p>
        </p:txBody>
      </p:sp>
      <p:sp>
        <p:nvSpPr>
          <p:cNvPr id="4" name="Slide Number Placeholder 3"/>
          <p:cNvSpPr>
            <a:spLocks noGrp="1"/>
          </p:cNvSpPr>
          <p:nvPr>
            <p:ph type="sldNum" sz="quarter" idx="5"/>
          </p:nvPr>
        </p:nvSpPr>
        <p:spPr/>
        <p:txBody>
          <a:bodyPr/>
          <a:lstStyle/>
          <a:p>
            <a:fld id="{4AF79E1B-2C51-4B9B-8EA4-26DE9E345AFF}" type="slidenum">
              <a:rPr lang="en-US" smtClean="0"/>
              <a:t>75</a:t>
            </a:fld>
            <a:endParaRPr lang="en-US"/>
          </a:p>
        </p:txBody>
      </p:sp>
    </p:spTree>
    <p:extLst>
      <p:ext uri="{BB962C8B-B14F-4D97-AF65-F5344CB8AC3E}">
        <p14:creationId xmlns:p14="http://schemas.microsoft.com/office/powerpoint/2010/main" val="59890959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thing to hit here: economic versus statistical significance – a p-value is all well and good, but what is the takeaway? What’s the story? </a:t>
            </a:r>
          </a:p>
        </p:txBody>
      </p:sp>
      <p:sp>
        <p:nvSpPr>
          <p:cNvPr id="4" name="Slide Number Placeholder 3"/>
          <p:cNvSpPr>
            <a:spLocks noGrp="1"/>
          </p:cNvSpPr>
          <p:nvPr>
            <p:ph type="sldNum" sz="quarter" idx="5"/>
          </p:nvPr>
        </p:nvSpPr>
        <p:spPr/>
        <p:txBody>
          <a:bodyPr/>
          <a:lstStyle/>
          <a:p>
            <a:fld id="{4AF79E1B-2C51-4B9B-8EA4-26DE9E345AFF}" type="slidenum">
              <a:rPr lang="en-US" smtClean="0"/>
              <a:t>76</a:t>
            </a:fld>
            <a:endParaRPr lang="en-US"/>
          </a:p>
        </p:txBody>
      </p:sp>
    </p:spTree>
    <p:extLst>
      <p:ext uri="{BB962C8B-B14F-4D97-AF65-F5344CB8AC3E}">
        <p14:creationId xmlns:p14="http://schemas.microsoft.com/office/powerpoint/2010/main" val="249901666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thing to hit here: economic versus statistical significance – a p-value is all well and good, but what is the takeaway? What’s the story? </a:t>
            </a:r>
          </a:p>
        </p:txBody>
      </p:sp>
      <p:sp>
        <p:nvSpPr>
          <p:cNvPr id="4" name="Slide Number Placeholder 3"/>
          <p:cNvSpPr>
            <a:spLocks noGrp="1"/>
          </p:cNvSpPr>
          <p:nvPr>
            <p:ph type="sldNum" sz="quarter" idx="5"/>
          </p:nvPr>
        </p:nvSpPr>
        <p:spPr/>
        <p:txBody>
          <a:bodyPr/>
          <a:lstStyle/>
          <a:p>
            <a:fld id="{4AF79E1B-2C51-4B9B-8EA4-26DE9E345AFF}" type="slidenum">
              <a:rPr lang="en-US" smtClean="0"/>
              <a:t>77</a:t>
            </a:fld>
            <a:endParaRPr lang="en-US"/>
          </a:p>
        </p:txBody>
      </p:sp>
    </p:spTree>
    <p:extLst>
      <p:ext uri="{BB962C8B-B14F-4D97-AF65-F5344CB8AC3E}">
        <p14:creationId xmlns:p14="http://schemas.microsoft.com/office/powerpoint/2010/main" val="412963706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Motivating question for the move to multivariate regression: what does a univariate regression give you when a confounder is left out?</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them sit with the uncomfortable, obviously-wrong conclusion before explaining it.</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backdoor path they will formalize with DAGs next lecture; here it is just intuition.</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estimate is not just noisy, it is systematically wrong — and you can sign the direction in advance.</a:t>
            </a:r>
            <a:r>
              <a:rPr lang="en-US" dirty="0"/>
              <a:t> See R code here for an example. Which case are we in? </a:t>
            </a:r>
            <a:r>
              <a:rPr lang="en-US" u="sng" dirty="0"/>
              <a:t>The top left</a:t>
            </a:r>
            <a:endParaRPr u="sng" dirty="0"/>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531FD-1532-EBC0-DCD0-E6B48342EA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FD2A6F-C5D9-027B-3232-DBFC175635F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BC0CF28-52FB-F8F8-3EA2-61EBCE3792FB}"/>
              </a:ext>
            </a:extLst>
          </p:cNvPr>
          <p:cNvSpPr>
            <a:spLocks noGrp="1"/>
          </p:cNvSpPr>
          <p:nvPr>
            <p:ph type="body" sz="quarter" idx="3"/>
          </p:nvPr>
        </p:nvSpPr>
        <p:spPr/>
        <p:txBody>
          <a:bodyPr/>
          <a:lstStyle/>
          <a:p>
            <a:r>
              <a:rPr lang="en-US" dirty="0"/>
              <a:t>Code is in R</a:t>
            </a:r>
            <a:endParaRPr dirty="0"/>
          </a:p>
        </p:txBody>
      </p:sp>
      <p:sp>
        <p:nvSpPr>
          <p:cNvPr id="4" name="Slide Number Placeholder 3">
            <a:extLst>
              <a:ext uri="{FF2B5EF4-FFF2-40B4-BE49-F238E27FC236}">
                <a16:creationId xmlns:a16="http://schemas.microsoft.com/office/drawing/2014/main" id="{E403F659-A7DD-AFED-F2CE-9EF945FC4463}"/>
              </a:ext>
            </a:extLst>
          </p:cNvPr>
          <p:cNvSpPr>
            <a:spLocks noGrp="1"/>
          </p:cNvSpPr>
          <p:nvPr>
            <p:ph type="sldNum" sz="quarter" idx="5"/>
          </p:nvPr>
        </p:nvSpPr>
        <p:spPr/>
      </p:sp>
    </p:spTree>
    <p:extLst>
      <p:ext uri="{BB962C8B-B14F-4D97-AF65-F5344CB8AC3E}">
        <p14:creationId xmlns:p14="http://schemas.microsoft.com/office/powerpoint/2010/main" val="216494371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don’t finish today will be covered next time as well</a:t>
            </a:r>
          </a:p>
        </p:txBody>
      </p:sp>
      <p:sp>
        <p:nvSpPr>
          <p:cNvPr id="4" name="Slide Number Placeholder 3"/>
          <p:cNvSpPr>
            <a:spLocks noGrp="1"/>
          </p:cNvSpPr>
          <p:nvPr>
            <p:ph type="sldNum" sz="quarter" idx="5"/>
          </p:nvPr>
        </p:nvSpPr>
        <p:spPr/>
        <p:txBody>
          <a:bodyPr/>
          <a:lstStyle/>
          <a:p>
            <a:fld id="{4AF79E1B-2C51-4B9B-8EA4-26DE9E345AFF}" type="slidenum">
              <a:rPr lang="en-US" smtClean="0"/>
              <a:t>83</a:t>
            </a:fld>
            <a:endParaRPr lang="en-US"/>
          </a:p>
        </p:txBody>
      </p:sp>
    </p:spTree>
    <p:extLst>
      <p:ext uri="{BB962C8B-B14F-4D97-AF65-F5344CB8AC3E}">
        <p14:creationId xmlns:p14="http://schemas.microsoft.com/office/powerpoint/2010/main" val="342895651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9CC39-1527-5AAF-819E-ADCB82785E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7A05F0-876C-E5B7-1E91-12A20A0D8277}"/>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921C6E54-4D4A-3AFA-B445-263C7D048B65}"/>
                  </a:ext>
                </a:extLst>
              </p:cNvPr>
              <p:cNvSpPr>
                <a:spLocks noGrp="1"/>
              </p:cNvSpPr>
              <p:nvPr>
                <p:ph type="body" idx="1"/>
              </p:nvPr>
            </p:nvSpPr>
            <p:spPr/>
            <p:txBody>
              <a:bodyPr/>
              <a:lstStyle/>
              <a:p>
                <a:endParaRPr lang="en-US" dirty="0"/>
              </a:p>
            </p:txBody>
          </p:sp>
        </mc:Choice>
        <mc:Fallback xmlns="">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i="0" dirty="0"/>
                  <a:t>Here are two examples</a:t>
                </a:r>
                <a:r>
                  <a:rPr lang="en-CA" i="0" baseline="0" dirty="0"/>
                  <a:t> where assumption </a:t>
                </a:r>
                <a:r>
                  <a:rPr lang="en-CA" sz="1200"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𝐸(𝜖</a:t>
                </a:r>
                <a:r>
                  <a:rPr lang="en-US" sz="1200" b="0" i="0">
                    <a:solidFill>
                      <a:schemeClr val="tx1">
                        <a:lumMod val="75000"/>
                        <a:lumOff val="25000"/>
                      </a:schemeClr>
                    </a:solidFill>
                    <a:latin typeface="Cambria Math"/>
                    <a:ea typeface="Open Sans" panose="020B0606030504020204" pitchFamily="34" charset="0"/>
                    <a:cs typeface="Open Sans" panose="020B0606030504020204" pitchFamily="34" charset="0"/>
                  </a:rPr>
                  <a:t>|𝑥</a:t>
                </a:r>
                <a:r>
                  <a:rPr lang="en-US" sz="1200" b="0"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a:t>
                </a:r>
                <a:r>
                  <a:rPr lang="en-CA" sz="1200"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=0</a:t>
                </a:r>
                <a:r>
                  <a:rPr lang="en-US" sz="1200" dirty="0"/>
                  <a:t>, is violated.</a:t>
                </a:r>
              </a:p>
              <a:p>
                <a:endParaRPr lang="en-CA" i="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CA" i="0" dirty="0"/>
                  <a:t>Effect of Addiction on health (confounding): </a:t>
                </a:r>
                <a:r>
                  <a:rPr lang="en-CA" i="0" dirty="0">
                    <a:latin typeface="+mn-lt"/>
                  </a:rPr>
                  <a:t>Here</a:t>
                </a:r>
                <a:r>
                  <a:rPr lang="en-US" b="0" i="0">
                    <a:solidFill>
                      <a:schemeClr val="tx1">
                        <a:lumMod val="75000"/>
                        <a:lumOff val="25000"/>
                      </a:schemeClr>
                    </a:solidFill>
                    <a:latin typeface="Cambria Math"/>
                    <a:ea typeface="Open Sans" panose="020B0606030504020204" pitchFamily="34" charset="0"/>
                    <a:cs typeface="Open Sans" panose="020B0606030504020204" pitchFamily="34" charset="0"/>
                  </a:rPr>
                  <a:t> </a:t>
                </a:r>
                <a:r>
                  <a:rPr lang="en-CA"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𝐸(𝜖</a:t>
                </a:r>
                <a:r>
                  <a:rPr lang="en-US" i="0">
                    <a:solidFill>
                      <a:schemeClr val="tx1">
                        <a:lumMod val="75000"/>
                        <a:lumOff val="25000"/>
                      </a:schemeClr>
                    </a:solidFill>
                    <a:latin typeface="Cambria Math"/>
                    <a:ea typeface="Open Sans" panose="020B0606030504020204" pitchFamily="34" charset="0"/>
                    <a:cs typeface="Open Sans" panose="020B0606030504020204" pitchFamily="34" charset="0"/>
                  </a:rPr>
                  <a:t>|𝑥</a:t>
                </a:r>
                <a:r>
                  <a:rPr lang="en-US"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a:t>
                </a:r>
                <a:r>
                  <a:rPr lang="en-US" i="0">
                    <a:solidFill>
                      <a:schemeClr val="tx1">
                        <a:lumMod val="75000"/>
                        <a:lumOff val="25000"/>
                      </a:schemeClr>
                    </a:solidFill>
                    <a:latin typeface="Cambria Math"/>
                    <a:ea typeface="Open Sans" panose="020B0606030504020204" pitchFamily="34" charset="0"/>
                    <a:cs typeface="Open Sans" panose="020B0606030504020204" pitchFamily="34" charset="0"/>
                  </a:rPr>
                  <a:t>≠</a:t>
                </a:r>
                <a:r>
                  <a:rPr lang="en-CA"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0</a:t>
                </a:r>
                <a:r>
                  <a:rPr lang="en-US" b="0" i="0">
                    <a:solidFill>
                      <a:schemeClr val="tx1">
                        <a:lumMod val="75000"/>
                        <a:lumOff val="25000"/>
                      </a:schemeClr>
                    </a:solidFill>
                    <a:latin typeface="Cambria Math"/>
                    <a:ea typeface="Open Sans" panose="020B0606030504020204" pitchFamily="34" charset="0"/>
                    <a:cs typeface="Open Sans" panose="020B0606030504020204" pitchFamily="34" charset="0"/>
                  </a:rPr>
                  <a:t> </a:t>
                </a:r>
                <a:r>
                  <a:rPr lang="en-CA" i="0" dirty="0">
                    <a:latin typeface="+mn-lt"/>
                  </a:rPr>
                  <a:t>where there may be factors that are omitted that correlate with the included</a:t>
                </a:r>
                <a:r>
                  <a:rPr lang="en-CA" i="0" baseline="0" dirty="0">
                    <a:latin typeface="+mn-lt"/>
                  </a:rPr>
                  <a:t> explanatory variables.</a:t>
                </a:r>
                <a:endParaRPr lang="en-CA" i="0" dirty="0">
                  <a:latin typeface="+mn-lt"/>
                </a:endParaRPr>
              </a:p>
              <a:p>
                <a:endParaRPr lang="en-CA" dirty="0"/>
              </a:p>
              <a:p>
                <a:r>
                  <a:rPr lang="en-CA" dirty="0"/>
                  <a:t>Censored data: Treatment effectiveness, Number of physician</a:t>
                </a:r>
                <a:r>
                  <a:rPr lang="en-CA" baseline="0" dirty="0"/>
                  <a:t> v</a:t>
                </a:r>
                <a:r>
                  <a:rPr lang="en-CA" dirty="0"/>
                  <a:t>isits in claims data (sample selection):</a:t>
                </a:r>
                <a:r>
                  <a:rPr lang="en-CA" baseline="0" dirty="0"/>
                  <a:t> Wherein the observations on the explanatory variables may be correlated with the error term as a selection rule must be satisfied for observations to be observed. </a:t>
                </a:r>
                <a:endParaRPr lang="en-CA" dirty="0"/>
              </a:p>
              <a:p>
                <a:endParaRPr lang="en-CA" dirty="0"/>
              </a:p>
              <a:p>
                <a:endParaRPr lang="en-CA" dirty="0"/>
              </a:p>
              <a:p>
                <a:endParaRPr lang="en-US" dirty="0"/>
              </a:p>
            </p:txBody>
          </p:sp>
        </mc:Fallback>
      </mc:AlternateContent>
      <p:sp>
        <p:nvSpPr>
          <p:cNvPr id="4" name="Slide Number Placeholder 3">
            <a:extLst>
              <a:ext uri="{FF2B5EF4-FFF2-40B4-BE49-F238E27FC236}">
                <a16:creationId xmlns:a16="http://schemas.microsoft.com/office/drawing/2014/main" id="{BB45A3FA-DEFD-29AF-4914-40CFA8C3E278}"/>
              </a:ext>
            </a:extLst>
          </p:cNvPr>
          <p:cNvSpPr>
            <a:spLocks noGrp="1"/>
          </p:cNvSpPr>
          <p:nvPr>
            <p:ph type="sldNum" sz="quarter" idx="5"/>
          </p:nvPr>
        </p:nvSpPr>
        <p:spPr/>
        <p:txBody>
          <a:bodyPr/>
          <a:lstStyle/>
          <a:p>
            <a:fld id="{4AF79E1B-2C51-4B9B-8EA4-26DE9E345AFF}" type="slidenum">
              <a:rPr lang="en-US" smtClean="0"/>
              <a:t>84</a:t>
            </a:fld>
            <a:endParaRPr lang="en-US"/>
          </a:p>
        </p:txBody>
      </p:sp>
    </p:spTree>
    <p:extLst>
      <p:ext uri="{BB962C8B-B14F-4D97-AF65-F5344CB8AC3E}">
        <p14:creationId xmlns:p14="http://schemas.microsoft.com/office/powerpoint/2010/main" val="26097195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Skip this one in future iterations</a:t>
            </a:r>
          </a:p>
        </p:txBody>
      </p:sp>
      <p:sp>
        <p:nvSpPr>
          <p:cNvPr id="4" name="Slide Number Placeholder 3"/>
          <p:cNvSpPr>
            <a:spLocks noGrp="1"/>
          </p:cNvSpPr>
          <p:nvPr>
            <p:ph type="sldNum" sz="quarter" idx="5"/>
          </p:nvPr>
        </p:nvSpPr>
        <p:spPr/>
        <p:txBody>
          <a:bodyPr/>
          <a:lstStyle/>
          <a:p>
            <a:fld id="{4AF79E1B-2C51-4B9B-8EA4-26DE9E345AFF}" type="slidenum">
              <a:rPr lang="en-US" smtClean="0"/>
              <a:t>85</a:t>
            </a:fld>
            <a:endParaRPr lang="en-US"/>
          </a:p>
        </p:txBody>
      </p:sp>
    </p:spTree>
    <p:extLst>
      <p:ext uri="{BB962C8B-B14F-4D97-AF65-F5344CB8AC3E}">
        <p14:creationId xmlns:p14="http://schemas.microsoft.com/office/powerpoint/2010/main" val="347842421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Make a better example that has some information</a:t>
            </a:r>
          </a:p>
        </p:txBody>
      </p:sp>
      <p:sp>
        <p:nvSpPr>
          <p:cNvPr id="4" name="Slide Number Placeholder 3"/>
          <p:cNvSpPr>
            <a:spLocks noGrp="1"/>
          </p:cNvSpPr>
          <p:nvPr>
            <p:ph type="sldNum" sz="quarter" idx="5"/>
          </p:nvPr>
        </p:nvSpPr>
        <p:spPr/>
        <p:txBody>
          <a:bodyPr/>
          <a:lstStyle/>
          <a:p>
            <a:fld id="{4AF79E1B-2C51-4B9B-8EA4-26DE9E345AFF}" type="slidenum">
              <a:rPr lang="en-US" smtClean="0"/>
              <a:t>86</a:t>
            </a:fld>
            <a:endParaRPr lang="en-US"/>
          </a:p>
        </p:txBody>
      </p:sp>
    </p:spTree>
    <p:extLst>
      <p:ext uri="{BB962C8B-B14F-4D97-AF65-F5344CB8AC3E}">
        <p14:creationId xmlns:p14="http://schemas.microsoft.com/office/powerpoint/2010/main" val="4588448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P(B|A) is the data you observe. This is literally a data generating process! Albeit one of many</a:t>
            </a:r>
          </a:p>
        </p:txBody>
      </p:sp>
      <p:sp>
        <p:nvSpPr>
          <p:cNvPr id="4" name="Slide Number Placeholder 3"/>
          <p:cNvSpPr>
            <a:spLocks noGrp="1"/>
          </p:cNvSpPr>
          <p:nvPr>
            <p:ph type="sldNum" sz="quarter" idx="5"/>
          </p:nvPr>
        </p:nvSpPr>
        <p:spPr/>
        <p:txBody>
          <a:bodyPr/>
          <a:lstStyle/>
          <a:p>
            <a:fld id="{4AF79E1B-2C51-4B9B-8EA4-26DE9E345AFF}" type="slidenum">
              <a:rPr lang="en-US" smtClean="0"/>
              <a:t>88</a:t>
            </a:fld>
            <a:endParaRPr lang="en-US"/>
          </a:p>
        </p:txBody>
      </p:sp>
    </p:spTree>
    <p:extLst>
      <p:ext uri="{BB962C8B-B14F-4D97-AF65-F5344CB8AC3E}">
        <p14:creationId xmlns:p14="http://schemas.microsoft.com/office/powerpoint/2010/main" val="23298174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 whole suite of methods built around Bayes’ rule; we probably won’t get into them much in this class unless there’s a lot of interest. Instead, we more implicitly rely on this assumption of how conditional probabilities inform both directions of the DAG</a:t>
            </a:r>
          </a:p>
        </p:txBody>
      </p:sp>
      <p:sp>
        <p:nvSpPr>
          <p:cNvPr id="4" name="Slide Number Placeholder 3"/>
          <p:cNvSpPr>
            <a:spLocks noGrp="1"/>
          </p:cNvSpPr>
          <p:nvPr>
            <p:ph type="sldNum" sz="quarter" idx="5"/>
          </p:nvPr>
        </p:nvSpPr>
        <p:spPr/>
        <p:txBody>
          <a:bodyPr/>
          <a:lstStyle/>
          <a:p>
            <a:fld id="{4AF79E1B-2C51-4B9B-8EA4-26DE9E345AFF}" type="slidenum">
              <a:rPr lang="en-US" smtClean="0"/>
              <a:t>89</a:t>
            </a:fld>
            <a:endParaRPr lang="en-US"/>
          </a:p>
        </p:txBody>
      </p:sp>
    </p:spTree>
    <p:extLst>
      <p:ext uri="{BB962C8B-B14F-4D97-AF65-F5344CB8AC3E}">
        <p14:creationId xmlns:p14="http://schemas.microsoft.com/office/powerpoint/2010/main" val="5365966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0972D05C-DCFB-4BB6-B49C-AC126BF3ED2C}" type="datetimeFigureOut">
              <a:rPr lang="en-US" smtClean="0"/>
              <a:pPr/>
              <a:t>9/21/2026</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5694125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242221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72D05C-DCFB-4BB6-B49C-AC126BF3ED2C}" type="datetimeFigureOut">
              <a:rPr lang="en-US" smtClean="0"/>
              <a:pPr/>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6479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72D05C-DCFB-4BB6-B49C-AC126BF3ED2C}" type="datetimeFigureOut">
              <a:rPr lang="en-US" smtClean="0"/>
              <a:pPr/>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046844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Times New Roman" panose="02020603050405020304" pitchFamily="18"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dirty="0"/>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72D05C-DCFB-4BB6-B49C-AC126BF3ED2C}" type="datetimeFigureOut">
              <a:rPr lang="en-US" smtClean="0"/>
              <a:pPr/>
              <a:t>9/21/2026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1598161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72D05C-DCFB-4BB6-B49C-AC126BF3ED2C}" type="datetimeFigureOut">
              <a:rPr lang="en-US" smtClean="0"/>
              <a:pPr/>
              <a:t>9/21/2026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81016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72D05C-DCFB-4BB6-B49C-AC126BF3ED2C}" type="datetimeFigureOut">
              <a:rPr lang="en-US" smtClean="0"/>
              <a:pPr/>
              <a:t>9/21/2026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64512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162882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964433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3810766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390804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latin typeface="Times New Roman" panose="02020603050405020304" pitchFamily="18" charset="0"/>
              </a:defRPr>
            </a:lvl1pPr>
          </a:lstStyle>
          <a:p>
            <a:fld id="{0972D05C-DCFB-4BB6-B49C-AC126BF3ED2C}" type="datetimeFigureOut">
              <a:rPr lang="en-US" smtClean="0"/>
              <a:pPr/>
              <a:t>9/21/2026</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latin typeface="Times New Roman" panose="02020603050405020304" pitchFamily="18" charset="0"/>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latin typeface="Times New Roman" panose="02020603050405020304" pitchFamily="18" charset="0"/>
              </a:defRPr>
            </a:lvl1pPr>
          </a:lstStyle>
          <a:p>
            <a:fld id="{D55C3209-28DC-43DB-92C2-2AB8D1DA00B1}" type="slidenum">
              <a:rPr lang="en-US" smtClean="0"/>
              <a:pPr/>
              <a:t>‹#›</a:t>
            </a:fld>
            <a:endParaRPr lang="en-US" dirty="0"/>
          </a:p>
        </p:txBody>
      </p:sp>
    </p:spTree>
    <p:extLst>
      <p:ext uri="{BB962C8B-B14F-4D97-AF65-F5344CB8AC3E}">
        <p14:creationId xmlns:p14="http://schemas.microsoft.com/office/powerpoint/2010/main" val="3753244356"/>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17" Type="http://schemas.openxmlformats.org/officeDocument/2006/relationships/customXml" Target="../ink/ink57.xml"/><Relationship Id="rId21" Type="http://schemas.openxmlformats.org/officeDocument/2006/relationships/customXml" Target="../ink/ink9.xml"/><Relationship Id="rId42" Type="http://schemas.openxmlformats.org/officeDocument/2006/relationships/image" Target="../media/image38.png"/><Relationship Id="rId63" Type="http://schemas.openxmlformats.org/officeDocument/2006/relationships/customXml" Target="../ink/ink30.xml"/><Relationship Id="rId84" Type="http://schemas.openxmlformats.org/officeDocument/2006/relationships/image" Target="../media/image62.png"/><Relationship Id="rId16" Type="http://schemas.openxmlformats.org/officeDocument/2006/relationships/image" Target="../media/image25.png"/><Relationship Id="rId107" Type="http://schemas.openxmlformats.org/officeDocument/2006/relationships/customXml" Target="../ink/ink52.xml"/><Relationship Id="rId11" Type="http://schemas.openxmlformats.org/officeDocument/2006/relationships/customXml" Target="../ink/ink5.xml"/><Relationship Id="rId32" Type="http://schemas.openxmlformats.org/officeDocument/2006/relationships/image" Target="../media/image33.png"/><Relationship Id="rId37" Type="http://schemas.openxmlformats.org/officeDocument/2006/relationships/customXml" Target="../ink/ink17.xml"/><Relationship Id="rId53" Type="http://schemas.openxmlformats.org/officeDocument/2006/relationships/customXml" Target="../ink/ink25.xml"/><Relationship Id="rId58" Type="http://schemas.openxmlformats.org/officeDocument/2006/relationships/image" Target="../media/image48.png"/><Relationship Id="rId74" Type="http://schemas.openxmlformats.org/officeDocument/2006/relationships/image" Target="../media/image57.png"/><Relationship Id="rId79" Type="http://schemas.openxmlformats.org/officeDocument/2006/relationships/customXml" Target="../ink/ink38.xml"/><Relationship Id="rId102" Type="http://schemas.openxmlformats.org/officeDocument/2006/relationships/image" Target="../media/image71.png"/><Relationship Id="rId123" Type="http://schemas.openxmlformats.org/officeDocument/2006/relationships/customXml" Target="../ink/ink60.xml"/><Relationship Id="rId128" Type="http://schemas.openxmlformats.org/officeDocument/2006/relationships/image" Target="../media/image84.png"/><Relationship Id="rId5" Type="http://schemas.openxmlformats.org/officeDocument/2006/relationships/customXml" Target="../ink/ink2.xml"/><Relationship Id="rId90" Type="http://schemas.openxmlformats.org/officeDocument/2006/relationships/image" Target="../media/image65.png"/><Relationship Id="rId95" Type="http://schemas.openxmlformats.org/officeDocument/2006/relationships/customXml" Target="../ink/ink46.xml"/><Relationship Id="rId22" Type="http://schemas.openxmlformats.org/officeDocument/2006/relationships/image" Target="../media/image28.png"/><Relationship Id="rId27" Type="http://schemas.openxmlformats.org/officeDocument/2006/relationships/customXml" Target="../ink/ink12.xml"/><Relationship Id="rId43" Type="http://schemas.openxmlformats.org/officeDocument/2006/relationships/customXml" Target="../ink/ink20.xml"/><Relationship Id="rId48" Type="http://schemas.openxmlformats.org/officeDocument/2006/relationships/image" Target="../media/image41.png"/><Relationship Id="rId64" Type="http://schemas.openxmlformats.org/officeDocument/2006/relationships/image" Target="../media/image52.png"/><Relationship Id="rId69" Type="http://schemas.openxmlformats.org/officeDocument/2006/relationships/customXml" Target="../ink/ink33.xml"/><Relationship Id="rId113" Type="http://schemas.openxmlformats.org/officeDocument/2006/relationships/customXml" Target="../ink/ink55.xml"/><Relationship Id="rId118" Type="http://schemas.openxmlformats.org/officeDocument/2006/relationships/image" Target="../media/image79.png"/><Relationship Id="rId134" Type="http://schemas.openxmlformats.org/officeDocument/2006/relationships/image" Target="../media/image87.png"/><Relationship Id="rId80" Type="http://schemas.openxmlformats.org/officeDocument/2006/relationships/image" Target="../media/image60.png"/><Relationship Id="rId85" Type="http://schemas.openxmlformats.org/officeDocument/2006/relationships/customXml" Target="../ink/ink41.xml"/><Relationship Id="rId12" Type="http://schemas.openxmlformats.org/officeDocument/2006/relationships/image" Target="../media/image22.png"/><Relationship Id="rId17" Type="http://schemas.openxmlformats.org/officeDocument/2006/relationships/customXml" Target="../ink/ink7.xml"/><Relationship Id="rId33" Type="http://schemas.openxmlformats.org/officeDocument/2006/relationships/customXml" Target="../ink/ink15.xml"/><Relationship Id="rId38" Type="http://schemas.openxmlformats.org/officeDocument/2006/relationships/image" Target="../media/image36.png"/><Relationship Id="rId59" Type="http://schemas.openxmlformats.org/officeDocument/2006/relationships/customXml" Target="../ink/ink28.xml"/><Relationship Id="rId103" Type="http://schemas.openxmlformats.org/officeDocument/2006/relationships/customXml" Target="../ink/ink50.xml"/><Relationship Id="rId108" Type="http://schemas.openxmlformats.org/officeDocument/2006/relationships/image" Target="../media/image74.png"/><Relationship Id="rId124" Type="http://schemas.openxmlformats.org/officeDocument/2006/relationships/image" Target="../media/image82.png"/><Relationship Id="rId129" Type="http://schemas.openxmlformats.org/officeDocument/2006/relationships/customXml" Target="../ink/ink63.xml"/><Relationship Id="rId54" Type="http://schemas.openxmlformats.org/officeDocument/2006/relationships/image" Target="../media/image46.png"/><Relationship Id="rId70" Type="http://schemas.openxmlformats.org/officeDocument/2006/relationships/image" Target="../media/image55.png"/><Relationship Id="rId75" Type="http://schemas.openxmlformats.org/officeDocument/2006/relationships/customXml" Target="../ink/ink36.xml"/><Relationship Id="rId91" Type="http://schemas.openxmlformats.org/officeDocument/2006/relationships/customXml" Target="../ink/ink44.xml"/><Relationship Id="rId96"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140.png"/><Relationship Id="rId23" Type="http://schemas.openxmlformats.org/officeDocument/2006/relationships/customXml" Target="../ink/ink10.xml"/><Relationship Id="rId28" Type="http://schemas.openxmlformats.org/officeDocument/2006/relationships/image" Target="../media/image31.png"/><Relationship Id="rId49" Type="http://schemas.openxmlformats.org/officeDocument/2006/relationships/customXml" Target="../ink/ink23.xml"/><Relationship Id="rId114" Type="http://schemas.openxmlformats.org/officeDocument/2006/relationships/image" Target="../media/image77.png"/><Relationship Id="rId119" Type="http://schemas.openxmlformats.org/officeDocument/2006/relationships/customXml" Target="../ink/ink58.xml"/><Relationship Id="rId44" Type="http://schemas.openxmlformats.org/officeDocument/2006/relationships/image" Target="../media/image39.png"/><Relationship Id="rId60" Type="http://schemas.openxmlformats.org/officeDocument/2006/relationships/image" Target="../media/image49.png"/><Relationship Id="rId65" Type="http://schemas.openxmlformats.org/officeDocument/2006/relationships/customXml" Target="../ink/ink31.xml"/><Relationship Id="rId81" Type="http://schemas.openxmlformats.org/officeDocument/2006/relationships/customXml" Target="../ink/ink39.xml"/><Relationship Id="rId86" Type="http://schemas.openxmlformats.org/officeDocument/2006/relationships/image" Target="../media/image63.png"/><Relationship Id="rId130" Type="http://schemas.openxmlformats.org/officeDocument/2006/relationships/image" Target="../media/image85.png"/><Relationship Id="rId13" Type="http://schemas.openxmlformats.org/officeDocument/2006/relationships/customXml" Target="../ink/ink6.xml"/><Relationship Id="rId18" Type="http://schemas.openxmlformats.org/officeDocument/2006/relationships/image" Target="../media/image26.png"/><Relationship Id="rId39" Type="http://schemas.openxmlformats.org/officeDocument/2006/relationships/customXml" Target="../ink/ink18.xml"/><Relationship Id="rId109" Type="http://schemas.openxmlformats.org/officeDocument/2006/relationships/customXml" Target="../ink/ink53.xml"/><Relationship Id="rId34" Type="http://schemas.openxmlformats.org/officeDocument/2006/relationships/image" Target="../media/image34.png"/><Relationship Id="rId50" Type="http://schemas.openxmlformats.org/officeDocument/2006/relationships/image" Target="../media/image42.png"/><Relationship Id="rId55" Type="http://schemas.openxmlformats.org/officeDocument/2006/relationships/customXml" Target="../ink/ink26.xml"/><Relationship Id="rId76" Type="http://schemas.openxmlformats.org/officeDocument/2006/relationships/image" Target="../media/image58.png"/><Relationship Id="rId97" Type="http://schemas.openxmlformats.org/officeDocument/2006/relationships/customXml" Target="../ink/ink47.xml"/><Relationship Id="rId104" Type="http://schemas.openxmlformats.org/officeDocument/2006/relationships/image" Target="../media/image72.png"/><Relationship Id="rId120" Type="http://schemas.openxmlformats.org/officeDocument/2006/relationships/image" Target="../media/image80.png"/><Relationship Id="rId125" Type="http://schemas.openxmlformats.org/officeDocument/2006/relationships/customXml" Target="../ink/ink61.xml"/><Relationship Id="rId7" Type="http://schemas.openxmlformats.org/officeDocument/2006/relationships/customXml" Target="../ink/ink3.xml"/><Relationship Id="rId71" Type="http://schemas.openxmlformats.org/officeDocument/2006/relationships/customXml" Target="../ink/ink34.xml"/><Relationship Id="rId92" Type="http://schemas.openxmlformats.org/officeDocument/2006/relationships/image" Target="../media/image66.png"/><Relationship Id="rId2" Type="http://schemas.openxmlformats.org/officeDocument/2006/relationships/notesSlide" Target="../notesSlides/notesSlide22.xml"/><Relationship Id="rId29" Type="http://schemas.openxmlformats.org/officeDocument/2006/relationships/customXml" Target="../ink/ink13.xml"/><Relationship Id="rId24" Type="http://schemas.openxmlformats.org/officeDocument/2006/relationships/image" Target="../media/image29.png"/><Relationship Id="rId40" Type="http://schemas.openxmlformats.org/officeDocument/2006/relationships/image" Target="../media/image37.png"/><Relationship Id="rId45" Type="http://schemas.openxmlformats.org/officeDocument/2006/relationships/customXml" Target="../ink/ink21.xml"/><Relationship Id="rId66" Type="http://schemas.openxmlformats.org/officeDocument/2006/relationships/image" Target="../media/image53.png"/><Relationship Id="rId87" Type="http://schemas.openxmlformats.org/officeDocument/2006/relationships/customXml" Target="../ink/ink42.xml"/><Relationship Id="rId110" Type="http://schemas.openxmlformats.org/officeDocument/2006/relationships/image" Target="../media/image75.png"/><Relationship Id="rId115" Type="http://schemas.openxmlformats.org/officeDocument/2006/relationships/customXml" Target="../ink/ink56.xml"/><Relationship Id="rId131" Type="http://schemas.openxmlformats.org/officeDocument/2006/relationships/customXml" Target="../ink/ink64.xml"/><Relationship Id="rId61" Type="http://schemas.openxmlformats.org/officeDocument/2006/relationships/customXml" Target="../ink/ink29.xml"/><Relationship Id="rId82" Type="http://schemas.openxmlformats.org/officeDocument/2006/relationships/image" Target="../media/image61.png"/><Relationship Id="rId19" Type="http://schemas.openxmlformats.org/officeDocument/2006/relationships/customXml" Target="../ink/ink8.xml"/><Relationship Id="rId14" Type="http://schemas.openxmlformats.org/officeDocument/2006/relationships/image" Target="../media/image23.png"/><Relationship Id="rId30" Type="http://schemas.openxmlformats.org/officeDocument/2006/relationships/image" Target="../media/image32.png"/><Relationship Id="rId35" Type="http://schemas.openxmlformats.org/officeDocument/2006/relationships/customXml" Target="../ink/ink16.xml"/><Relationship Id="rId56" Type="http://schemas.openxmlformats.org/officeDocument/2006/relationships/image" Target="../media/image47.png"/><Relationship Id="rId77" Type="http://schemas.openxmlformats.org/officeDocument/2006/relationships/customXml" Target="../ink/ink37.xml"/><Relationship Id="rId100" Type="http://schemas.openxmlformats.org/officeDocument/2006/relationships/image" Target="../media/image70.png"/><Relationship Id="rId105" Type="http://schemas.openxmlformats.org/officeDocument/2006/relationships/customXml" Target="../ink/ink51.xml"/><Relationship Id="rId126" Type="http://schemas.openxmlformats.org/officeDocument/2006/relationships/image" Target="../media/image83.png"/><Relationship Id="rId8" Type="http://schemas.openxmlformats.org/officeDocument/2006/relationships/image" Target="../media/image150.png"/><Relationship Id="rId51" Type="http://schemas.openxmlformats.org/officeDocument/2006/relationships/customXml" Target="../ink/ink24.xml"/><Relationship Id="rId72" Type="http://schemas.openxmlformats.org/officeDocument/2006/relationships/image" Target="../media/image56.png"/><Relationship Id="rId93" Type="http://schemas.openxmlformats.org/officeDocument/2006/relationships/customXml" Target="../ink/ink45.xml"/><Relationship Id="rId98" Type="http://schemas.openxmlformats.org/officeDocument/2006/relationships/image" Target="../media/image69.png"/><Relationship Id="rId121" Type="http://schemas.openxmlformats.org/officeDocument/2006/relationships/customXml" Target="../ink/ink59.xml"/><Relationship Id="rId3" Type="http://schemas.openxmlformats.org/officeDocument/2006/relationships/customXml" Target="../ink/ink1.xml"/><Relationship Id="rId25" Type="http://schemas.openxmlformats.org/officeDocument/2006/relationships/customXml" Target="../ink/ink11.xml"/><Relationship Id="rId46" Type="http://schemas.openxmlformats.org/officeDocument/2006/relationships/image" Target="../media/image40.png"/><Relationship Id="rId67" Type="http://schemas.openxmlformats.org/officeDocument/2006/relationships/customXml" Target="../ink/ink32.xml"/><Relationship Id="rId116" Type="http://schemas.openxmlformats.org/officeDocument/2006/relationships/image" Target="../media/image78.png"/><Relationship Id="rId20" Type="http://schemas.openxmlformats.org/officeDocument/2006/relationships/image" Target="../media/image27.png"/><Relationship Id="rId41" Type="http://schemas.openxmlformats.org/officeDocument/2006/relationships/customXml" Target="../ink/ink19.xml"/><Relationship Id="rId62" Type="http://schemas.openxmlformats.org/officeDocument/2006/relationships/image" Target="../media/image50.png"/><Relationship Id="rId83" Type="http://schemas.openxmlformats.org/officeDocument/2006/relationships/customXml" Target="../ink/ink40.xml"/><Relationship Id="rId88" Type="http://schemas.openxmlformats.org/officeDocument/2006/relationships/image" Target="../media/image64.png"/><Relationship Id="rId111" Type="http://schemas.openxmlformats.org/officeDocument/2006/relationships/customXml" Target="../ink/ink54.xml"/><Relationship Id="rId132" Type="http://schemas.openxmlformats.org/officeDocument/2006/relationships/image" Target="../media/image86.png"/><Relationship Id="rId15" Type="http://schemas.openxmlformats.org/officeDocument/2006/relationships/image" Target="../media/image24.png"/><Relationship Id="rId36" Type="http://schemas.openxmlformats.org/officeDocument/2006/relationships/image" Target="../media/image35.png"/><Relationship Id="rId57" Type="http://schemas.openxmlformats.org/officeDocument/2006/relationships/customXml" Target="../ink/ink27.xml"/><Relationship Id="rId106" Type="http://schemas.openxmlformats.org/officeDocument/2006/relationships/image" Target="../media/image73.png"/><Relationship Id="rId127" Type="http://schemas.openxmlformats.org/officeDocument/2006/relationships/customXml" Target="../ink/ink62.xml"/><Relationship Id="rId10" Type="http://schemas.openxmlformats.org/officeDocument/2006/relationships/image" Target="../media/image21.png"/><Relationship Id="rId31" Type="http://schemas.openxmlformats.org/officeDocument/2006/relationships/customXml" Target="../ink/ink14.xml"/><Relationship Id="rId52" Type="http://schemas.openxmlformats.org/officeDocument/2006/relationships/image" Target="../media/image43.png"/><Relationship Id="rId73" Type="http://schemas.openxmlformats.org/officeDocument/2006/relationships/customXml" Target="../ink/ink35.xml"/><Relationship Id="rId78" Type="http://schemas.openxmlformats.org/officeDocument/2006/relationships/image" Target="../media/image59.png"/><Relationship Id="rId94" Type="http://schemas.openxmlformats.org/officeDocument/2006/relationships/image" Target="../media/image67.png"/><Relationship Id="rId99" Type="http://schemas.openxmlformats.org/officeDocument/2006/relationships/customXml" Target="../ink/ink48.xml"/><Relationship Id="rId101" Type="http://schemas.openxmlformats.org/officeDocument/2006/relationships/customXml" Target="../ink/ink49.xml"/><Relationship Id="rId122" Type="http://schemas.openxmlformats.org/officeDocument/2006/relationships/image" Target="../media/image81.png"/><Relationship Id="rId4" Type="http://schemas.openxmlformats.org/officeDocument/2006/relationships/image" Target="../media/image120.png"/><Relationship Id="rId9" Type="http://schemas.openxmlformats.org/officeDocument/2006/relationships/customXml" Target="../ink/ink4.xml"/><Relationship Id="rId26" Type="http://schemas.openxmlformats.org/officeDocument/2006/relationships/image" Target="../media/image30.png"/><Relationship Id="rId47" Type="http://schemas.openxmlformats.org/officeDocument/2006/relationships/customXml" Target="../ink/ink22.xml"/><Relationship Id="rId68" Type="http://schemas.openxmlformats.org/officeDocument/2006/relationships/image" Target="../media/image54.png"/><Relationship Id="rId89" Type="http://schemas.openxmlformats.org/officeDocument/2006/relationships/customXml" Target="../ink/ink43.xml"/><Relationship Id="rId112" Type="http://schemas.openxmlformats.org/officeDocument/2006/relationships/image" Target="../media/image76.png"/><Relationship Id="rId133" Type="http://schemas.openxmlformats.org/officeDocument/2006/relationships/customXml" Target="../ink/ink65.xml"/></Relationships>
</file>

<file path=ppt/slides/_rels/slide26.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hyperlink" Target="https://sophieehill.shinyapps.io/eyeball-regression/"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45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5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7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4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46.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880.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890.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900.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910.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1.xml.rels><?xml version="1.0" encoding="UTF-8" standalone="yes"?>
<Relationships xmlns="http://schemas.openxmlformats.org/package/2006/relationships"><Relationship Id="rId3" Type="http://schemas.openxmlformats.org/officeDocument/2006/relationships/image" Target="../media/image920.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931.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99.png"/></Relationships>
</file>

<file path=ppt/slides/_rels/slide64.xml.rels><?xml version="1.0" encoding="UTF-8" standalone="yes"?>
<Relationships xmlns="http://schemas.openxmlformats.org/package/2006/relationships"><Relationship Id="rId3" Type="http://schemas.openxmlformats.org/officeDocument/2006/relationships/image" Target="../media/image950.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960.png"/><Relationship Id="rId2" Type="http://schemas.openxmlformats.org/officeDocument/2006/relationships/notesSlide" Target="../notesSlides/notesSlide60.xml"/><Relationship Id="rId1" Type="http://schemas.openxmlformats.org/officeDocument/2006/relationships/slideLayout" Target="../slideLayouts/slideLayout2.xml"/><Relationship Id="rId5" Type="http://schemas.openxmlformats.org/officeDocument/2006/relationships/image" Target="../media/image241.png"/><Relationship Id="rId4" Type="http://schemas.openxmlformats.org/officeDocument/2006/relationships/image" Target="../media/image100.png"/></Relationships>
</file>

<file path=ppt/slides/_rels/slide66.xml.rels><?xml version="1.0" encoding="UTF-8" standalone="yes"?>
<Relationships xmlns="http://schemas.openxmlformats.org/package/2006/relationships"><Relationship Id="rId3" Type="http://schemas.openxmlformats.org/officeDocument/2006/relationships/image" Target="../media/image980.png"/><Relationship Id="rId2" Type="http://schemas.openxmlformats.org/officeDocument/2006/relationships/notesSlide" Target="../notesSlides/notesSlide61.xml"/><Relationship Id="rId1" Type="http://schemas.openxmlformats.org/officeDocument/2006/relationships/slideLayout" Target="../slideLayouts/slideLayout2.xml"/><Relationship Id="rId5" Type="http://schemas.openxmlformats.org/officeDocument/2006/relationships/image" Target="../media/image251.png"/><Relationship Id="rId4" Type="http://schemas.openxmlformats.org/officeDocument/2006/relationships/image" Target="../media/image100.png"/></Relationships>
</file>

<file path=ppt/slides/_rels/slide67.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990.png"/></Relationships>
</file>

<file path=ppt/slides/_rels/slide68.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990.png"/></Relationships>
</file>

<file path=ppt/slides/_rels/slide69.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64.xml"/><Relationship Id="rId1" Type="http://schemas.openxmlformats.org/officeDocument/2006/relationships/slideLayout" Target="../slideLayouts/slideLayout2.xml"/><Relationship Id="rId5" Type="http://schemas.openxmlformats.org/officeDocument/2006/relationships/image" Target="../media/image2600.png"/><Relationship Id="rId4" Type="http://schemas.openxmlformats.org/officeDocument/2006/relationships/image" Target="../media/image1001.png"/></Relationships>
</file>

<file path=ppt/slides/_rels/slide70.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101.png"/></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4.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5.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8" Type="http://schemas.openxmlformats.org/officeDocument/2006/relationships/image" Target="../media/image930.png"/><Relationship Id="rId3" Type="http://schemas.openxmlformats.org/officeDocument/2006/relationships/image" Target="../media/image710.png"/><Relationship Id="rId7" Type="http://schemas.openxmlformats.org/officeDocument/2006/relationships/image" Target="../media/image800.png"/><Relationship Id="rId2" Type="http://schemas.openxmlformats.org/officeDocument/2006/relationships/notesSlide" Target="../notesSlides/notesSlide78.xml"/><Relationship Id="rId1" Type="http://schemas.openxmlformats.org/officeDocument/2006/relationships/slideLayout" Target="../slideLayouts/slideLayout2.xml"/><Relationship Id="rId6" Type="http://schemas.openxmlformats.org/officeDocument/2006/relationships/image" Target="../media/image700.png"/><Relationship Id="rId11" Type="http://schemas.openxmlformats.org/officeDocument/2006/relationships/image" Target="../media/image2.png"/><Relationship Id="rId5" Type="http://schemas.openxmlformats.org/officeDocument/2006/relationships/image" Target="../media/image600.png"/><Relationship Id="rId10" Type="http://schemas.openxmlformats.org/officeDocument/2006/relationships/image" Target="../media/image110.png"/><Relationship Id="rId4" Type="http://schemas.openxmlformats.org/officeDocument/2006/relationships/image" Target="../media/image500.png"/><Relationship Id="rId9" Type="http://schemas.openxmlformats.org/officeDocument/2006/relationships/image" Target="../media/image1000.png"/></Relationships>
</file>

<file path=ppt/slides/_rels/slide86.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81.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53946" y="2209800"/>
            <a:ext cx="10852254" cy="1894362"/>
          </a:xfrm>
        </p:spPr>
        <p:txBody>
          <a:bodyPr>
            <a:normAutofit fontScale="90000"/>
          </a:bodyPr>
          <a:lstStyle/>
          <a:p>
            <a:r>
              <a:rPr lang="en-US" dirty="0"/>
              <a:t>Quantitative Methods for HSR I </a:t>
            </a:r>
          </a:p>
        </p:txBody>
      </p:sp>
      <p:sp>
        <p:nvSpPr>
          <p:cNvPr id="3" name="Subtitle 2"/>
          <p:cNvSpPr>
            <a:spLocks noGrp="1"/>
          </p:cNvSpPr>
          <p:nvPr>
            <p:ph type="subTitle" idx="1"/>
          </p:nvPr>
        </p:nvSpPr>
        <p:spPr>
          <a:xfrm>
            <a:off x="762000" y="4191000"/>
            <a:ext cx="10591800" cy="1981200"/>
          </a:xfrm>
        </p:spPr>
        <p:txBody>
          <a:bodyPr>
            <a:noAutofit/>
          </a:bodyPr>
          <a:lstStyle/>
          <a:p>
            <a:r>
              <a:rPr lang="en-US" sz="2400" dirty="0"/>
              <a:t>Lecture 2: Reviews and Regression</a:t>
            </a:r>
          </a:p>
          <a:p>
            <a:r>
              <a:rPr lang="en-US" sz="2400" dirty="0"/>
              <a:t>September 21, 2026</a:t>
            </a:r>
          </a:p>
          <a:p>
            <a:endParaRPr lang="en-US" sz="2400" dirty="0"/>
          </a:p>
          <a:p>
            <a:r>
              <a:rPr lang="en-US" sz="2400" dirty="0"/>
              <a:t>HAD5744 </a:t>
            </a:r>
            <a:r>
              <a:rPr lang="en-US" sz="2400" dirty="0">
                <a:sym typeface="Symbol" panose="05050102010706020507" pitchFamily="18" charset="2"/>
              </a:rPr>
              <a:t> </a:t>
            </a:r>
            <a:r>
              <a:rPr lang="en-US" sz="2400" dirty="0"/>
              <a:t>Alex Hoagland, Ph.D.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7269480" cy="624840"/>
          </a:xfrm>
        </p:spPr>
        <p:txBody>
          <a:bodyPr>
            <a:noAutofit/>
          </a:bodyPr>
          <a:lstStyle/>
          <a:p>
            <a:r>
              <a:rPr lang="en-US" sz="3600" b="1" dirty="0">
                <a:solidFill>
                  <a:schemeClr val="accent2">
                    <a:lumMod val="75000"/>
                  </a:schemeClr>
                </a:solidFill>
                <a:cs typeface="Times New Roman" panose="02020603050405020304" pitchFamily="18" charset="0"/>
              </a:rPr>
              <a:t>Last time:</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1066801"/>
            <a:ext cx="10363200" cy="5141388"/>
          </a:xfrm>
        </p:spPr>
        <p:txBody>
          <a:bodyPr>
            <a:normAutofit/>
          </a:bodyPr>
          <a:lstStyle/>
          <a:p>
            <a:r>
              <a:rPr lang="en-US" sz="2400" dirty="0">
                <a:latin typeface="Times New Roman" panose="02020603050405020304" pitchFamily="18" charset="0"/>
                <a:cs typeface="Times New Roman" panose="02020603050405020304" pitchFamily="18" charset="0"/>
              </a:rPr>
              <a:t>Quantitative methods provide tools to examine real-world relationships</a:t>
            </a:r>
          </a:p>
          <a:p>
            <a:r>
              <a:rPr lang="en-US" sz="2400" dirty="0">
                <a:cs typeface="Times New Roman" panose="02020603050405020304" pitchFamily="18" charset="0"/>
              </a:rPr>
              <a:t>Modeling requires thoughtful consideration of all variables</a:t>
            </a:r>
          </a:p>
          <a:p>
            <a:pPr lvl="1"/>
            <a:r>
              <a:rPr lang="en-US" sz="2400" dirty="0">
                <a:latin typeface="Times New Roman" panose="02020603050405020304" pitchFamily="18" charset="0"/>
                <a:cs typeface="Times New Roman" panose="02020603050405020304" pitchFamily="18" charset="0"/>
              </a:rPr>
              <a:t>DAGs</a:t>
            </a:r>
          </a:p>
          <a:p>
            <a:pPr lvl="1"/>
            <a:r>
              <a:rPr lang="en-US" sz="2400" dirty="0">
                <a:cs typeface="Times New Roman" panose="02020603050405020304" pitchFamily="18" charset="0"/>
              </a:rPr>
              <a:t>Potential outcome frameworks</a:t>
            </a:r>
          </a:p>
          <a:p>
            <a:r>
              <a:rPr lang="en-US" sz="2400" dirty="0">
                <a:latin typeface="Times New Roman" panose="02020603050405020304" pitchFamily="18" charset="0"/>
                <a:cs typeface="Times New Roman" panose="02020603050405020304" pitchFamily="18" charset="0"/>
              </a:rPr>
              <a:t>Model testing typically requires </a:t>
            </a:r>
            <a:r>
              <a:rPr lang="en-US" sz="2400" b="1" dirty="0">
                <a:solidFill>
                  <a:schemeClr val="accent2">
                    <a:lumMod val="75000"/>
                  </a:schemeClr>
                </a:solidFill>
                <a:latin typeface="Times New Roman" panose="02020603050405020304" pitchFamily="18" charset="0"/>
                <a:cs typeface="Times New Roman" panose="02020603050405020304" pitchFamily="18" charset="0"/>
              </a:rPr>
              <a:t>assumptions:</a:t>
            </a:r>
          </a:p>
          <a:p>
            <a:pPr lvl="1"/>
            <a:r>
              <a:rPr lang="en-US" sz="2200" dirty="0">
                <a:cs typeface="Times New Roman" panose="02020603050405020304" pitchFamily="18" charset="0"/>
              </a:rPr>
              <a:t>Go</a:t>
            </a:r>
            <a:r>
              <a:rPr lang="en-US" sz="2200" dirty="0">
                <a:latin typeface="Times New Roman" panose="02020603050405020304" pitchFamily="18" charset="0"/>
                <a:cs typeface="Times New Roman" panose="02020603050405020304" pitchFamily="18" charset="0"/>
              </a:rPr>
              <a:t>al is to test whether those are plausible and </a:t>
            </a:r>
          </a:p>
          <a:p>
            <a:pPr lvl="1"/>
            <a:r>
              <a:rPr lang="en-US" sz="2200" dirty="0">
                <a:cs typeface="Times New Roman" panose="02020603050405020304" pitchFamily="18" charset="0"/>
              </a:rPr>
              <a:t>E</a:t>
            </a:r>
            <a:r>
              <a:rPr lang="en-US" sz="2200" dirty="0">
                <a:latin typeface="Times New Roman" panose="02020603050405020304" pitchFamily="18" charset="0"/>
                <a:cs typeface="Times New Roman" panose="02020603050405020304" pitchFamily="18" charset="0"/>
              </a:rPr>
              <a:t>xamine many possible DGPs</a:t>
            </a:r>
          </a:p>
          <a:p>
            <a:r>
              <a:rPr lang="en-US" sz="2400" dirty="0">
                <a:cs typeface="Times New Roman" panose="02020603050405020304" pitchFamily="18" charset="0"/>
              </a:rPr>
              <a:t>This opens the door to</a:t>
            </a:r>
            <a:r>
              <a:rPr lang="en-US" sz="2400" dirty="0">
                <a:solidFill>
                  <a:schemeClr val="accent2">
                    <a:lumMod val="75000"/>
                  </a:schemeClr>
                </a:solidFill>
                <a:cs typeface="Times New Roman" panose="02020603050405020304" pitchFamily="18" charset="0"/>
              </a:rPr>
              <a:t> </a:t>
            </a:r>
            <a:r>
              <a:rPr lang="en-US" sz="2400" b="1" dirty="0">
                <a:solidFill>
                  <a:schemeClr val="accent2">
                    <a:lumMod val="75000"/>
                  </a:schemeClr>
                </a:solidFill>
                <a:cs typeface="Times New Roman" panose="02020603050405020304" pitchFamily="18" charset="0"/>
              </a:rPr>
              <a:t>causal statements</a:t>
            </a:r>
            <a:endParaRPr lang="en-US" sz="2400" dirty="0">
              <a:solidFill>
                <a:schemeClr val="accent2">
                  <a:lumMod val="75000"/>
                </a:schemeClr>
              </a:solidFill>
              <a:cs typeface="Times New Roman" panose="02020603050405020304" pitchFamily="18" charset="0"/>
            </a:endParaRPr>
          </a:p>
        </p:txBody>
      </p:sp>
    </p:spTree>
    <p:extLst>
      <p:ext uri="{BB962C8B-B14F-4D97-AF65-F5344CB8AC3E}">
        <p14:creationId xmlns:p14="http://schemas.microsoft.com/office/powerpoint/2010/main" val="13734471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7269480" cy="624840"/>
          </a:xfrm>
        </p:spPr>
        <p:txBody>
          <a:bodyPr>
            <a:noAutofit/>
          </a:bodyPr>
          <a:lstStyle/>
          <a:p>
            <a:r>
              <a:rPr lang="en-US" sz="3600" b="1" dirty="0">
                <a:solidFill>
                  <a:schemeClr val="accent2">
                    <a:lumMod val="75000"/>
                  </a:schemeClr>
                </a:solidFill>
                <a:cs typeface="Times New Roman" panose="02020603050405020304" pitchFamily="18" charset="0"/>
              </a:rPr>
              <a:t>Last time:</a:t>
            </a:r>
            <a:endParaRPr lang="en-US" sz="36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1066801"/>
            <a:ext cx="10363200" cy="5141388"/>
          </a:xfrm>
        </p:spPr>
        <p:txBody>
          <a:bodyPr>
            <a:normAutofit/>
          </a:bodyPr>
          <a:lstStyle/>
          <a:p>
            <a:r>
              <a:rPr lang="en-US" sz="2400" dirty="0">
                <a:cs typeface="Times New Roman" panose="02020603050405020304" pitchFamily="18" charset="0"/>
              </a:rPr>
              <a:t>Quantitative methods provide tools to examine real-world relationships</a:t>
            </a:r>
          </a:p>
          <a:p>
            <a:r>
              <a:rPr lang="en-US" sz="2400" dirty="0">
                <a:cs typeface="Times New Roman" panose="02020603050405020304" pitchFamily="18" charset="0"/>
              </a:rPr>
              <a:t>Modeling requires thoughtful consideration of all variables</a:t>
            </a:r>
          </a:p>
          <a:p>
            <a:pPr lvl="1"/>
            <a:r>
              <a:rPr lang="en-US" sz="2400" dirty="0">
                <a:cs typeface="Times New Roman" panose="02020603050405020304" pitchFamily="18" charset="0"/>
              </a:rPr>
              <a:t>DAGs</a:t>
            </a:r>
          </a:p>
          <a:p>
            <a:pPr lvl="1"/>
            <a:r>
              <a:rPr lang="en-US" sz="2400" dirty="0">
                <a:cs typeface="Times New Roman" panose="02020603050405020304" pitchFamily="18" charset="0"/>
              </a:rPr>
              <a:t>Potential outcome frameworks</a:t>
            </a:r>
          </a:p>
          <a:p>
            <a:r>
              <a:rPr lang="en-US" sz="2400" dirty="0">
                <a:cs typeface="Times New Roman" panose="02020603050405020304" pitchFamily="18" charset="0"/>
              </a:rPr>
              <a:t>Model testing typically requires </a:t>
            </a:r>
            <a:r>
              <a:rPr lang="en-US" sz="2400" b="1" dirty="0">
                <a:solidFill>
                  <a:schemeClr val="accent2">
                    <a:lumMod val="75000"/>
                  </a:schemeClr>
                </a:solidFill>
                <a:cs typeface="Times New Roman" panose="02020603050405020304" pitchFamily="18" charset="0"/>
              </a:rPr>
              <a:t>assumptions:</a:t>
            </a:r>
          </a:p>
          <a:p>
            <a:endParaRPr lang="en-US" sz="2400" dirty="0">
              <a:cs typeface="Times New Roman" panose="02020603050405020304" pitchFamily="18" charset="0"/>
            </a:endParaRPr>
          </a:p>
          <a:p>
            <a:endParaRPr lang="en-US" sz="2400" dirty="0">
              <a:cs typeface="Times New Roman" panose="02020603050405020304" pitchFamily="18" charset="0"/>
            </a:endParaRPr>
          </a:p>
          <a:p>
            <a:r>
              <a:rPr lang="en-US" sz="2400" dirty="0">
                <a:cs typeface="Times New Roman" panose="02020603050405020304" pitchFamily="18" charset="0"/>
              </a:rPr>
              <a:t>Review of some probability facts/coding best practices</a:t>
            </a:r>
          </a:p>
          <a:p>
            <a:r>
              <a:rPr lang="en-US" sz="2400" dirty="0">
                <a:cs typeface="Times New Roman" panose="02020603050405020304" pitchFamily="18" charset="0"/>
              </a:rPr>
              <a:t>Univariate OLS regression</a:t>
            </a:r>
          </a:p>
        </p:txBody>
      </p:sp>
      <p:sp>
        <p:nvSpPr>
          <p:cNvPr id="4" name="Title 1">
            <a:extLst>
              <a:ext uri="{FF2B5EF4-FFF2-40B4-BE49-F238E27FC236}">
                <a16:creationId xmlns:a16="http://schemas.microsoft.com/office/drawing/2014/main" id="{0406560D-4DB1-46F7-AACB-59231F198015}"/>
              </a:ext>
            </a:extLst>
          </p:cNvPr>
          <p:cNvSpPr txBox="1">
            <a:spLocks/>
          </p:cNvSpPr>
          <p:nvPr/>
        </p:nvSpPr>
        <p:spPr>
          <a:xfrm>
            <a:off x="609600" y="3733800"/>
            <a:ext cx="7269480" cy="624840"/>
          </a:xfrm>
          <a:prstGeom prst="rect">
            <a:avLst/>
          </a:prstGeom>
        </p:spPr>
        <p:txBody>
          <a:bodyPr vert="horz" lIns="91440" tIns="45720" rIns="91440" bIns="45720" rtlCol="0" anchor="b">
            <a:normAutofit fontScale="97500"/>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b="1" dirty="0">
                <a:solidFill>
                  <a:schemeClr val="accent3">
                    <a:lumMod val="75000"/>
                  </a:schemeClr>
                </a:solidFill>
                <a:cs typeface="Times New Roman" panose="02020603050405020304" pitchFamily="18" charset="0"/>
              </a:rPr>
              <a:t>This time:</a:t>
            </a:r>
          </a:p>
        </p:txBody>
      </p:sp>
    </p:spTree>
    <p:extLst>
      <p:ext uri="{BB962C8B-B14F-4D97-AF65-F5344CB8AC3E}">
        <p14:creationId xmlns:p14="http://schemas.microsoft.com/office/powerpoint/2010/main" val="3746653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601200" cy="624840"/>
          </a:xfrm>
        </p:spPr>
        <p:txBody>
          <a:bodyPr>
            <a:normAutofit fontScale="90000"/>
          </a:bodyPr>
          <a:lstStyle/>
          <a:p>
            <a:r>
              <a:rPr lang="en-US" dirty="0">
                <a:latin typeface="Times New Roman" panose="02020603050405020304" pitchFamily="18" charset="0"/>
                <a:cs typeface="Times New Roman" panose="02020603050405020304" pitchFamily="18" charset="0"/>
              </a:rPr>
              <a:t>Prelude: Some Coding Organization</a:t>
            </a:r>
          </a:p>
        </p:txBody>
      </p:sp>
      <p:sp>
        <p:nvSpPr>
          <p:cNvPr id="3" name="Content Placeholder 2"/>
          <p:cNvSpPr>
            <a:spLocks noGrp="1"/>
          </p:cNvSpPr>
          <p:nvPr>
            <p:ph idx="1"/>
          </p:nvPr>
        </p:nvSpPr>
        <p:spPr>
          <a:xfrm>
            <a:off x="1219200" y="1066801"/>
            <a:ext cx="8520684" cy="5141388"/>
          </a:xfrm>
        </p:spPr>
        <p:txBody>
          <a:bodyPr>
            <a:noAutofit/>
          </a:bodyPr>
          <a:lstStyle/>
          <a:p>
            <a:r>
              <a:rPr lang="en-US" sz="2200" dirty="0">
                <a:latin typeface="Times New Roman" panose="02020603050405020304" pitchFamily="18" charset="0"/>
                <a:cs typeface="Times New Roman" panose="02020603050405020304" pitchFamily="18" charset="0"/>
              </a:rPr>
              <a:t>Project file structure</a:t>
            </a:r>
          </a:p>
          <a:p>
            <a:endParaRPr lang="en-US" sz="2200" dirty="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endParaRPr lang="en-US" sz="2200" dirty="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pPr marL="0" indent="0">
              <a:buNone/>
            </a:pPr>
            <a:endParaRPr lang="en-US" sz="2200" dirty="0">
              <a:cs typeface="Times New Roman" panose="02020603050405020304" pitchFamily="18" charset="0"/>
            </a:endParaRPr>
          </a:p>
          <a:p>
            <a:pPr marL="0" indent="0">
              <a:buNone/>
            </a:pPr>
            <a:endParaRPr lang="en-US" sz="9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File template</a:t>
            </a:r>
          </a:p>
          <a:p>
            <a:pPr lvl="1"/>
            <a:r>
              <a:rPr lang="en-US" sz="2200" dirty="0">
                <a:cs typeface="Times New Roman" panose="02020603050405020304" pitchFamily="18" charset="0"/>
              </a:rPr>
              <a:t>Headers</a:t>
            </a:r>
          </a:p>
          <a:p>
            <a:pPr lvl="1"/>
            <a:r>
              <a:rPr lang="en-US" sz="2200" dirty="0">
                <a:latin typeface="Times New Roman" panose="02020603050405020304" pitchFamily="18" charset="0"/>
                <a:cs typeface="Times New Roman" panose="02020603050405020304" pitchFamily="18" charset="0"/>
              </a:rPr>
              <a:t>Comment, comment, comment! </a:t>
            </a:r>
          </a:p>
        </p:txBody>
      </p:sp>
      <p:pic>
        <p:nvPicPr>
          <p:cNvPr id="5" name="Picture 4">
            <a:extLst>
              <a:ext uri="{FF2B5EF4-FFF2-40B4-BE49-F238E27FC236}">
                <a16:creationId xmlns:a16="http://schemas.microsoft.com/office/drawing/2014/main" id="{861E4066-6E02-48CA-8A39-B2151A67AA50}"/>
              </a:ext>
            </a:extLst>
          </p:cNvPr>
          <p:cNvPicPr>
            <a:picLocks noChangeAspect="1"/>
          </p:cNvPicPr>
          <p:nvPr/>
        </p:nvPicPr>
        <p:blipFill rotWithShape="1">
          <a:blip r:embed="rId3"/>
          <a:srcRect l="3008"/>
          <a:stretch/>
        </p:blipFill>
        <p:spPr>
          <a:xfrm>
            <a:off x="1295400" y="1524000"/>
            <a:ext cx="7985918" cy="3124200"/>
          </a:xfrm>
          <a:prstGeom prst="rect">
            <a:avLst/>
          </a:prstGeom>
        </p:spPr>
      </p:pic>
      <p:pic>
        <p:nvPicPr>
          <p:cNvPr id="6" name="Picture 2" descr="RStudio - RStudio">
            <a:extLst>
              <a:ext uri="{FF2B5EF4-FFF2-40B4-BE49-F238E27FC236}">
                <a16:creationId xmlns:a16="http://schemas.microsoft.com/office/drawing/2014/main" id="{59FB3826-1290-26A4-BD72-3C5A2C188D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77400" y="525780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601200" cy="624840"/>
          </a:xfrm>
        </p:spPr>
        <p:txBody>
          <a:bodyPr>
            <a:normAutofit fontScale="90000"/>
          </a:bodyPr>
          <a:lstStyle/>
          <a:p>
            <a:r>
              <a:rPr lang="en-US" dirty="0">
                <a:cs typeface="Times New Roman" panose="02020603050405020304" pitchFamily="18" charset="0"/>
              </a:rPr>
              <a:t>Comments are your Friend!</a:t>
            </a:r>
            <a:endParaRPr lang="en-US" dirty="0">
              <a:latin typeface="Times New Roman" panose="02020603050405020304" pitchFamily="18" charset="0"/>
              <a:cs typeface="Times New Roman" panose="02020603050405020304" pitchFamily="18" charset="0"/>
            </a:endParaRPr>
          </a:p>
        </p:txBody>
      </p:sp>
      <p:pic>
        <p:nvPicPr>
          <p:cNvPr id="4" name="Picture 2" descr="I regret not commenting enough in my early years of CS, it's just a habit  of mine now : r/ProgrammerHumor">
            <a:extLst>
              <a:ext uri="{FF2B5EF4-FFF2-40B4-BE49-F238E27FC236}">
                <a16:creationId xmlns:a16="http://schemas.microsoft.com/office/drawing/2014/main" id="{C703BF8C-2AF0-6012-DA8A-211A58807A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897" y="962232"/>
            <a:ext cx="4875001" cy="55626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omments : r/ProgrammerHumor">
            <a:extLst>
              <a:ext uri="{FF2B5EF4-FFF2-40B4-BE49-F238E27FC236}">
                <a16:creationId xmlns:a16="http://schemas.microsoft.com/office/drawing/2014/main" id="{29448E45-48A0-9DB6-588D-DEC86FBB9F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0200" y="962232"/>
            <a:ext cx="4038600" cy="446436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FB420987-4E4C-E816-724E-440FD352A971}"/>
              </a:ext>
            </a:extLst>
          </p:cNvPr>
          <p:cNvPicPr>
            <a:picLocks noChangeAspect="1"/>
          </p:cNvPicPr>
          <p:nvPr/>
        </p:nvPicPr>
        <p:blipFill>
          <a:blip r:embed="rId5"/>
          <a:stretch>
            <a:fillRect/>
          </a:stretch>
        </p:blipFill>
        <p:spPr>
          <a:xfrm>
            <a:off x="6172200" y="4724400"/>
            <a:ext cx="5753903" cy="1981477"/>
          </a:xfrm>
          <a:prstGeom prst="rect">
            <a:avLst/>
          </a:prstGeom>
        </p:spPr>
      </p:pic>
    </p:spTree>
    <p:extLst>
      <p:ext uri="{BB962C8B-B14F-4D97-AF65-F5344CB8AC3E}">
        <p14:creationId xmlns:p14="http://schemas.microsoft.com/office/powerpoint/2010/main" val="2747779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601200" cy="624840"/>
          </a:xfrm>
        </p:spPr>
        <p:txBody>
          <a:bodyPr>
            <a:normAutofit fontScale="90000"/>
          </a:bodyPr>
          <a:lstStyle/>
          <a:p>
            <a:r>
              <a:rPr lang="en-US" dirty="0">
                <a:latin typeface="Aptos" panose="020B0004020202020204" pitchFamily="34" charset="0"/>
                <a:cs typeface="Times New Roman" panose="02020603050405020304" pitchFamily="18" charset="0"/>
              </a:rPr>
              <a:t>Assignment 0: Review and Questions</a:t>
            </a:r>
          </a:p>
        </p:txBody>
      </p:sp>
      <p:sp>
        <p:nvSpPr>
          <p:cNvPr id="3" name="Content Placeholder 2"/>
          <p:cNvSpPr>
            <a:spLocks noGrp="1"/>
          </p:cNvSpPr>
          <p:nvPr>
            <p:ph idx="1"/>
          </p:nvPr>
        </p:nvSpPr>
        <p:spPr>
          <a:xfrm>
            <a:off x="609600" y="1066801"/>
            <a:ext cx="10210800" cy="5141388"/>
          </a:xfrm>
        </p:spPr>
        <p:txBody>
          <a:bodyPr>
            <a:noAutofit/>
          </a:bodyPr>
          <a:lstStyle/>
          <a:p>
            <a:pPr marL="0" indent="0">
              <a:buNone/>
            </a:pPr>
            <a:r>
              <a:rPr lang="en-US" sz="2200" dirty="0">
                <a:latin typeface="Aptos" panose="020B0004020202020204" pitchFamily="34" charset="0"/>
                <a:cs typeface="Aparajita" panose="02020603050405020304" pitchFamily="18" charset="0"/>
              </a:rPr>
              <a:t>What questions do you have? </a:t>
            </a:r>
          </a:p>
          <a:p>
            <a:r>
              <a:rPr lang="en-US" sz="2200" dirty="0">
                <a:latin typeface="Aptos" panose="020B0004020202020204" pitchFamily="34" charset="0"/>
                <a:cs typeface="Aparajita" panose="02020603050405020304" pitchFamily="18" charset="0"/>
              </a:rPr>
              <a:t>Do you have GitHub Copilot installed? </a:t>
            </a:r>
          </a:p>
          <a:p>
            <a:r>
              <a:rPr lang="en-US" sz="2200" dirty="0">
                <a:latin typeface="Aptos" panose="020B0004020202020204" pitchFamily="34" charset="0"/>
                <a:cs typeface="Aparajita" panose="02020603050405020304" pitchFamily="18" charset="0"/>
              </a:rPr>
              <a:t>Are you using the “visual” option for RStudio (makes things simpler)</a:t>
            </a:r>
          </a:p>
          <a:p>
            <a:r>
              <a:rPr lang="en-US" sz="2200" dirty="0">
                <a:latin typeface="Aptos" panose="020B0004020202020204" pitchFamily="34" charset="0"/>
                <a:cs typeface="Aparajita" panose="02020603050405020304" pitchFamily="18" charset="0"/>
              </a:rPr>
              <a:t>What does it look like to run a code chunk (use your sample solution as a guide)</a:t>
            </a:r>
          </a:p>
          <a:p>
            <a:r>
              <a:rPr lang="en-US" sz="2200" dirty="0">
                <a:latin typeface="Aptos" panose="020B0004020202020204" pitchFamily="34" charset="0"/>
                <a:cs typeface="Aparajita" panose="02020603050405020304" pitchFamily="18" charset="0"/>
              </a:rPr>
              <a:t>Anything in particular you’d like to review?</a:t>
            </a:r>
          </a:p>
        </p:txBody>
      </p:sp>
      <p:pic>
        <p:nvPicPr>
          <p:cNvPr id="4" name="Picture 2" descr="RStudio - RStudio">
            <a:extLst>
              <a:ext uri="{FF2B5EF4-FFF2-40B4-BE49-F238E27FC236}">
                <a16:creationId xmlns:a16="http://schemas.microsoft.com/office/drawing/2014/main" id="{2E3F4A3E-70C1-315C-D024-7578AA88E8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77400" y="525780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9553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59A64B-5C9A-4A9B-BA45-ADECED2E51D9}"/>
              </a:ext>
            </a:extLst>
          </p:cNvPr>
          <p:cNvSpPr>
            <a:spLocks noGrp="1"/>
          </p:cNvSpPr>
          <p:nvPr>
            <p:ph type="ctrTitle"/>
          </p:nvPr>
        </p:nvSpPr>
        <p:spPr/>
        <p:txBody>
          <a:bodyPr/>
          <a:lstStyle/>
          <a:p>
            <a:r>
              <a:rPr lang="en-US" dirty="0"/>
              <a:t>Probability/Math Review</a:t>
            </a:r>
          </a:p>
        </p:txBody>
      </p:sp>
      <p:sp>
        <p:nvSpPr>
          <p:cNvPr id="5" name="Subtitle 4">
            <a:extLst>
              <a:ext uri="{FF2B5EF4-FFF2-40B4-BE49-F238E27FC236}">
                <a16:creationId xmlns:a16="http://schemas.microsoft.com/office/drawing/2014/main" id="{D52D9252-3DD8-4D35-8070-32332FBE25E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899033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7269480" cy="624840"/>
          </a:xfrm>
        </p:spPr>
        <p:txBody>
          <a:bodyPr>
            <a:normAutofit fontScale="90000"/>
          </a:bodyPr>
          <a:lstStyle/>
          <a:p>
            <a:r>
              <a:rPr lang="en-US" dirty="0">
                <a:latin typeface="Times New Roman" panose="02020603050405020304" pitchFamily="18" charset="0"/>
                <a:cs typeface="Times New Roman" panose="02020603050405020304" pitchFamily="18" charset="0"/>
              </a:rPr>
              <a:t>Probability Review</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066800"/>
                <a:ext cx="10210800" cy="5410199"/>
              </a:xfrm>
            </p:spPr>
            <p:txBody>
              <a:bodyPr>
                <a:noAutofit/>
              </a:bodyPr>
              <a:lstStyle/>
              <a:p>
                <a:r>
                  <a:rPr lang="en-US" sz="2400" dirty="0">
                    <a:latin typeface="Times New Roman" panose="02020603050405020304" pitchFamily="18" charset="0"/>
                    <a:cs typeface="Times New Roman" panose="02020603050405020304" pitchFamily="18" charset="0"/>
                  </a:rPr>
                  <a:t>A random process is one whose outcome is not the same every time</a:t>
                </a:r>
              </a:p>
              <a:p>
                <a:r>
                  <a:rPr lang="en-US" sz="2400" dirty="0">
                    <a:cs typeface="Times New Roman" panose="02020603050405020304" pitchFamily="18" charset="0"/>
                  </a:rPr>
                  <a:t>A random variable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latin typeface="Times New Roman" panose="02020603050405020304" pitchFamily="18" charset="0"/>
                    <a:cs typeface="Times New Roman" panose="02020603050405020304" pitchFamily="18" charset="0"/>
                  </a:rPr>
                  <a:t> has a </a:t>
                </a:r>
                <a:r>
                  <a:rPr lang="en-US" sz="2400" b="1" dirty="0">
                    <a:latin typeface="Times New Roman" panose="02020603050405020304" pitchFamily="18" charset="0"/>
                    <a:cs typeface="Times New Roman" panose="02020603050405020304" pitchFamily="18" charset="0"/>
                  </a:rPr>
                  <a:t>sample space </a:t>
                </a:r>
                <a:r>
                  <a:rPr lang="en-US" sz="2400" dirty="0">
                    <a:latin typeface="Times New Roman" panose="02020603050405020304" pitchFamily="18" charset="0"/>
                    <a:cs typeface="Times New Roman" panose="02020603050405020304" pitchFamily="18" charset="0"/>
                  </a:rPr>
                  <a:t>of possible outcomes</a:t>
                </a:r>
              </a:p>
              <a:p>
                <a:pPr lvl="1"/>
                <a:r>
                  <a:rPr lang="en-US" sz="2400" dirty="0">
                    <a:cs typeface="Times New Roman" panose="02020603050405020304" pitchFamily="18" charset="0"/>
                  </a:rPr>
                  <a:t>Discrete:</a:t>
                </a:r>
                <a:r>
                  <a:rPr lang="en-US" sz="2400" dirty="0">
                    <a:latin typeface="Times New Roman" panose="02020603050405020304" pitchFamily="18" charset="0"/>
                    <a:cs typeface="Times New Roman" panose="02020603050405020304" pitchFamily="18" charset="0"/>
                  </a:rPr>
                  <a:t> </a:t>
                </a:r>
                <a14:m>
                  <m:oMath xmlns:m="http://schemas.openxmlformats.org/officeDocument/2006/math">
                    <m:r>
                      <m:rPr>
                        <m:lit/>
                      </m:rP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2</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3</m:t>
                        </m:r>
                      </m:sub>
                    </m:sSub>
                    <m:r>
                      <a:rPr lang="en-US" sz="2400" b="0" i="1" smtClean="0">
                        <a:latin typeface="Cambria Math" panose="02040503050406030204" pitchFamily="18" charset="0"/>
                        <a:cs typeface="Times New Roman" panose="02020603050405020304" pitchFamily="18" charset="0"/>
                      </a:rPr>
                      <m:t>}</m:t>
                    </m:r>
                  </m:oMath>
                </a14:m>
                <a:r>
                  <a:rPr lang="en-US" sz="2400" dirty="0">
                    <a:latin typeface="Times New Roman" panose="02020603050405020304" pitchFamily="18" charset="0"/>
                    <a:cs typeface="Times New Roman" panose="02020603050405020304" pitchFamily="18" charset="0"/>
                  </a:rPr>
                  <a:t> or </a:t>
                </a:r>
                <a:r>
                  <a:rPr lang="en-US" sz="2400" dirty="0">
                    <a:cs typeface="Times New Roman" panose="02020603050405020304" pitchFamily="18" charset="0"/>
                  </a:rPr>
                  <a:t>C</a:t>
                </a:r>
                <a14:m>
                  <m:oMath xmlns:m="http://schemas.openxmlformats.org/officeDocument/2006/math">
                    <m:r>
                      <m:rPr>
                        <m:sty m:val="p"/>
                      </m:rPr>
                      <a:rPr lang="en-US" sz="2400" b="0" i="0" smtClean="0">
                        <a:latin typeface="Cambria Math" panose="02040503050406030204" pitchFamily="18" charset="0"/>
                        <a:cs typeface="Times New Roman" panose="02020603050405020304" pitchFamily="18" charset="0"/>
                      </a:rPr>
                      <m:t>ontinuous</m:t>
                    </m:r>
                    <m:r>
                      <a:rPr lang="en-US" sz="2400" b="0" i="0" smtClean="0">
                        <a:latin typeface="Cambria Math" panose="02040503050406030204" pitchFamily="18" charset="0"/>
                        <a:cs typeface="Times New Roman" panose="02020603050405020304" pitchFamily="18" charset="0"/>
                      </a:rPr>
                      <m:t>: [</m:t>
                    </m:r>
                    <m:f>
                      <m:fPr>
                        <m:ctrlPr>
                          <a:rPr lang="en-US" sz="2400" i="0" dirty="0">
                            <a:latin typeface="Cambria Math" panose="02040503050406030204" pitchFamily="18" charset="0"/>
                          </a:rPr>
                        </m:ctrlPr>
                      </m:fPr>
                      <m:num>
                        <m:r>
                          <a:rPr lang="en-US" sz="2400" i="0" dirty="0">
                            <a:latin typeface="Cambria Math" panose="02040503050406030204" pitchFamily="18" charset="0"/>
                          </a:rPr>
                          <m:t>𝑥</m:t>
                        </m:r>
                      </m:num>
                      <m:den/>
                    </m:f>
                    <m:r>
                      <a:rPr lang="en-US" sz="2400" i="0" dirty="0">
                        <a:latin typeface="Cambria Math" panose="02040503050406030204" pitchFamily="18" charset="0"/>
                      </a:rPr>
                      <m:t>,</m:t>
                    </m:r>
                    <m:acc>
                      <m:accPr>
                        <m:chr m:val="̅"/>
                        <m:ctrlPr>
                          <a:rPr lang="en-US" sz="2400" i="1" dirty="0">
                            <a:latin typeface="Cambria Math" panose="02040503050406030204" pitchFamily="18" charset="0"/>
                          </a:rPr>
                        </m:ctrlPr>
                      </m:accPr>
                      <m:e>
                        <m:r>
                          <a:rPr lang="en-US" sz="2400" i="1" dirty="0">
                            <a:latin typeface="Cambria Math" panose="02040503050406030204" pitchFamily="18" charset="0"/>
                          </a:rPr>
                          <m:t>𝑥</m:t>
                        </m:r>
                      </m:e>
                    </m:acc>
                    <m:r>
                      <a:rPr lang="en-US" sz="2400" b="0" i="1" dirty="0" smtClean="0">
                        <a:latin typeface="Cambria Math" panose="02040503050406030204" pitchFamily="18" charset="0"/>
                      </a:rPr>
                      <m:t>]</m:t>
                    </m:r>
                  </m:oMath>
                </a14:m>
                <a:endParaRPr lang="en-US" sz="2400" dirty="0">
                  <a:latin typeface="Times New Roman" panose="02020603050405020304" pitchFamily="18" charset="0"/>
                  <a:cs typeface="Times New Roman" panose="02020603050405020304" pitchFamily="18" charset="0"/>
                </a:endParaRPr>
              </a:p>
              <a:p>
                <a:r>
                  <a:rPr lang="en-US" sz="2400" b="1" dirty="0">
                    <a:solidFill>
                      <a:schemeClr val="accent3">
                        <a:lumMod val="75000"/>
                      </a:schemeClr>
                    </a:solidFill>
                    <a:cs typeface="Times New Roman" panose="02020603050405020304" pitchFamily="18" charset="0"/>
                  </a:rPr>
                  <a:t>Example</a:t>
                </a:r>
                <a:r>
                  <a:rPr lang="en-US" sz="2400" dirty="0">
                    <a:cs typeface="Times New Roman" panose="02020603050405020304" pitchFamily="18" charset="0"/>
                  </a:rPr>
                  <a:t>: Let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 </m:t>
                    </m:r>
                  </m:oMath>
                </a14:m>
                <a:r>
                  <a:rPr lang="en-US" sz="2400" dirty="0">
                    <a:cs typeface="Times New Roman" panose="02020603050405020304" pitchFamily="18" charset="0"/>
                  </a:rPr>
                  <a:t>be your health state</a:t>
                </a:r>
              </a:p>
              <a:p>
                <a:pPr lvl="1"/>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 </m:t>
                    </m:r>
                  </m:oMath>
                </a14:m>
                <a:r>
                  <a:rPr lang="en-US" sz="2400" dirty="0">
                    <a:cs typeface="Times New Roman" panose="02020603050405020304" pitchFamily="18" charset="0"/>
                  </a:rPr>
                  <a:t>healthy</a:t>
                </a:r>
              </a:p>
              <a:p>
                <a:pPr lvl="1"/>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2</m:t>
                        </m:r>
                      </m:sub>
                    </m:sSub>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acute condition </a:t>
                </a:r>
              </a:p>
              <a:p>
                <a:pPr lvl="1"/>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3</m:t>
                        </m:r>
                      </m:sub>
                    </m:sSub>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chronic condition</a:t>
                </a:r>
              </a:p>
              <a:p>
                <a:pPr lvl="1"/>
                <a:endParaRPr lang="en-US" sz="2400" dirty="0">
                  <a:cs typeface="Times New Roman" panose="02020603050405020304" pitchFamily="18" charset="0"/>
                </a:endParaRPr>
              </a:p>
              <a:p>
                <a:pPr lvl="1"/>
                <a:endParaRPr lang="en-US" sz="2400" dirty="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066800"/>
                <a:ext cx="10210800" cy="5410199"/>
              </a:xfrm>
              <a:blipFill>
                <a:blip r:embed="rId3"/>
                <a:stretch>
                  <a:fillRect l="-418" t="-1240"/>
                </a:stretch>
              </a:blipFill>
            </p:spPr>
            <p:txBody>
              <a:bodyPr/>
              <a:lstStyle/>
              <a:p>
                <a:r>
                  <a:rPr lang="en-CA">
                    <a:noFill/>
                  </a:rPr>
                  <a:t> </a:t>
                </a:r>
              </a:p>
            </p:txBody>
          </p:sp>
        </mc:Fallback>
      </mc:AlternateContent>
    </p:spTree>
    <p:extLst>
      <p:ext uri="{BB962C8B-B14F-4D97-AF65-F5344CB8AC3E}">
        <p14:creationId xmlns:p14="http://schemas.microsoft.com/office/powerpoint/2010/main" val="661878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7269480" cy="624840"/>
          </a:xfrm>
        </p:spPr>
        <p:txBody>
          <a:bodyPr>
            <a:normAutofit fontScale="90000"/>
          </a:bodyPr>
          <a:lstStyle/>
          <a:p>
            <a:r>
              <a:rPr lang="en-US" dirty="0">
                <a:latin typeface="Times New Roman" panose="02020603050405020304" pitchFamily="18" charset="0"/>
                <a:cs typeface="Times New Roman" panose="02020603050405020304" pitchFamily="18" charset="0"/>
              </a:rPr>
              <a:t>Probability Review</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066800"/>
                <a:ext cx="10210800" cy="5410199"/>
              </a:xfrm>
            </p:spPr>
            <p:txBody>
              <a:bodyPr>
                <a:noAutofit/>
              </a:bodyPr>
              <a:lstStyle/>
              <a:p>
                <a:r>
                  <a:rPr lang="en-US" sz="2400" dirty="0">
                    <a:latin typeface="Times New Roman" panose="02020603050405020304" pitchFamily="18" charset="0"/>
                    <a:cs typeface="Times New Roman" panose="02020603050405020304" pitchFamily="18" charset="0"/>
                  </a:rPr>
                  <a:t>A random process is one whose outcome is not the same every time</a:t>
                </a:r>
              </a:p>
              <a:p>
                <a:r>
                  <a:rPr lang="en-US" sz="2400" dirty="0">
                    <a:cs typeface="Times New Roman" panose="02020603050405020304" pitchFamily="18" charset="0"/>
                  </a:rPr>
                  <a:t>A random variable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latin typeface="Times New Roman" panose="02020603050405020304" pitchFamily="18" charset="0"/>
                    <a:cs typeface="Times New Roman" panose="02020603050405020304" pitchFamily="18" charset="0"/>
                  </a:rPr>
                  <a:t> has a </a:t>
                </a:r>
                <a:r>
                  <a:rPr lang="en-US" sz="2400" b="1" dirty="0">
                    <a:latin typeface="Times New Roman" panose="02020603050405020304" pitchFamily="18" charset="0"/>
                    <a:cs typeface="Times New Roman" panose="02020603050405020304" pitchFamily="18" charset="0"/>
                  </a:rPr>
                  <a:t>sample space </a:t>
                </a:r>
                <a:r>
                  <a:rPr lang="en-US" sz="2400" dirty="0">
                    <a:latin typeface="Times New Roman" panose="02020603050405020304" pitchFamily="18" charset="0"/>
                    <a:cs typeface="Times New Roman" panose="02020603050405020304" pitchFamily="18" charset="0"/>
                  </a:rPr>
                  <a:t>of possible outcomes</a:t>
                </a:r>
              </a:p>
              <a:p>
                <a:r>
                  <a:rPr lang="en-US" sz="2400" b="1" dirty="0">
                    <a:solidFill>
                      <a:schemeClr val="accent3">
                        <a:lumMod val="75000"/>
                      </a:schemeClr>
                    </a:solidFill>
                    <a:cs typeface="Times New Roman" panose="02020603050405020304" pitchFamily="18" charset="0"/>
                  </a:rPr>
                  <a:t>Example</a:t>
                </a:r>
                <a:r>
                  <a:rPr lang="en-US" sz="2400" dirty="0">
                    <a:cs typeface="Times New Roman" panose="02020603050405020304" pitchFamily="18" charset="0"/>
                  </a:rPr>
                  <a:t>: Let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 </m:t>
                    </m:r>
                  </m:oMath>
                </a14:m>
                <a:r>
                  <a:rPr lang="en-US" sz="2400" dirty="0">
                    <a:cs typeface="Times New Roman" panose="02020603050405020304" pitchFamily="18" charset="0"/>
                  </a:rPr>
                  <a:t>be your health state</a:t>
                </a:r>
              </a:p>
              <a:p>
                <a:pPr lvl="1"/>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 </m:t>
                    </m:r>
                  </m:oMath>
                </a14:m>
                <a:r>
                  <a:rPr lang="en-US" sz="2400" dirty="0">
                    <a:cs typeface="Times New Roman" panose="02020603050405020304" pitchFamily="18" charset="0"/>
                  </a:rPr>
                  <a:t>healthy</a:t>
                </a:r>
              </a:p>
              <a:p>
                <a:pPr lvl="1"/>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2</m:t>
                        </m:r>
                      </m:sub>
                    </m:sSub>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acute condition </a:t>
                </a:r>
              </a:p>
              <a:p>
                <a:pPr lvl="1"/>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3</m:t>
                        </m:r>
                      </m:sub>
                    </m:sSub>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chronic condition</a:t>
                </a:r>
              </a:p>
              <a:p>
                <a:r>
                  <a:rPr lang="en-US" sz="2400" dirty="0">
                    <a:cs typeface="Times New Roman" panose="02020603050405020304" pitchFamily="18" charset="0"/>
                  </a:rPr>
                  <a:t>A </a:t>
                </a:r>
                <a:r>
                  <a:rPr lang="en-US" sz="2400" b="1" dirty="0">
                    <a:cs typeface="Times New Roman" panose="02020603050405020304" pitchFamily="18" charset="0"/>
                  </a:rPr>
                  <a:t>probability </a:t>
                </a:r>
                <a:r>
                  <a:rPr lang="en-US" sz="2400" dirty="0">
                    <a:cs typeface="Times New Roman" panose="02020603050405020304" pitchFamily="18" charset="0"/>
                  </a:rPr>
                  <a:t>expresses the likelihood of an outcome as a fraction of all possible outcomes:</a:t>
                </a:r>
              </a:p>
              <a:p>
                <a:pPr lvl="1"/>
                <a14:m>
                  <m:oMath xmlns:m="http://schemas.openxmlformats.org/officeDocument/2006/math">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e>
                    </m:d>
                    <m:r>
                      <a:rPr lang="en-US" sz="2400" b="0" i="1" smtClean="0">
                        <a:latin typeface="Cambria Math" panose="02040503050406030204" pitchFamily="18" charset="0"/>
                        <a:cs typeface="Times New Roman" panose="02020603050405020304" pitchFamily="18" charset="0"/>
                      </a:rPr>
                      <m:t>=0.75</m:t>
                    </m:r>
                  </m:oMath>
                </a14:m>
                <a:endParaRPr lang="en-US" sz="2400" dirty="0">
                  <a:cs typeface="Times New Roman" panose="02020603050405020304" pitchFamily="18" charset="0"/>
                </a:endParaRPr>
              </a:p>
              <a:p>
                <a:pPr lvl="1"/>
                <a14:m>
                  <m:oMath xmlns:m="http://schemas.openxmlformats.org/officeDocument/2006/math">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2</m:t>
                            </m:r>
                          </m:sub>
                        </m:sSub>
                      </m:e>
                    </m:d>
                    <m:r>
                      <a:rPr lang="en-US" sz="2400" b="0" i="1" smtClean="0">
                        <a:latin typeface="Cambria Math" panose="02040503050406030204" pitchFamily="18" charset="0"/>
                        <a:cs typeface="Times New Roman" panose="02020603050405020304" pitchFamily="18" charset="0"/>
                      </a:rPr>
                      <m:t>=0.2</m:t>
                    </m:r>
                  </m:oMath>
                </a14:m>
                <a:endParaRPr lang="en-US" sz="2400" dirty="0">
                  <a:cs typeface="Times New Roman" panose="02020603050405020304" pitchFamily="18" charset="0"/>
                </a:endParaRPr>
              </a:p>
              <a:p>
                <a:pPr lvl="1"/>
                <a14:m>
                  <m:oMath xmlns:m="http://schemas.openxmlformats.org/officeDocument/2006/math">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3</m:t>
                            </m:r>
                          </m:sub>
                        </m:sSub>
                      </m:e>
                    </m:d>
                    <m:r>
                      <a:rPr lang="en-US" sz="2400" b="0" i="1" smtClean="0">
                        <a:latin typeface="Cambria Math" panose="02040503050406030204" pitchFamily="18" charset="0"/>
                        <a:cs typeface="Times New Roman" panose="02020603050405020304" pitchFamily="18" charset="0"/>
                      </a:rPr>
                      <m:t>=0.05</m:t>
                    </m:r>
                  </m:oMath>
                </a14:m>
                <a:endParaRPr lang="en-US" sz="2400" dirty="0">
                  <a:cs typeface="Times New Roman" panose="02020603050405020304" pitchFamily="18" charset="0"/>
                </a:endParaRPr>
              </a:p>
              <a:p>
                <a:r>
                  <a:rPr lang="en-US" sz="2400" dirty="0">
                    <a:cs typeface="Times New Roman" panose="02020603050405020304" pitchFamily="18" charset="0"/>
                  </a:rPr>
                  <a:t>Probabilities </a:t>
                </a:r>
                <a:r>
                  <a:rPr lang="en-US" sz="2400" b="1" dirty="0">
                    <a:cs typeface="Times New Roman" panose="02020603050405020304" pitchFamily="18" charset="0"/>
                  </a:rPr>
                  <a:t>must sum to 1</a:t>
                </a:r>
                <a:endParaRPr lang="en-US" sz="2400" dirty="0">
                  <a:cs typeface="Times New Roman" panose="02020603050405020304" pitchFamily="18" charset="0"/>
                </a:endParaRPr>
              </a:p>
              <a:p>
                <a:pPr lvl="1"/>
                <a:endParaRPr lang="en-US" sz="2400" dirty="0">
                  <a:cs typeface="Times New Roman" panose="02020603050405020304" pitchFamily="18" charset="0"/>
                </a:endParaRPr>
              </a:p>
              <a:p>
                <a:pPr lvl="1"/>
                <a:endParaRPr lang="en-US" sz="2400" dirty="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066800"/>
                <a:ext cx="10210800" cy="5410199"/>
              </a:xfrm>
              <a:blipFill>
                <a:blip r:embed="rId2"/>
                <a:stretch>
                  <a:fillRect l="-418" t="-1240" b="-2931"/>
                </a:stretch>
              </a:blipFill>
            </p:spPr>
            <p:txBody>
              <a:bodyPr/>
              <a:lstStyle/>
              <a:p>
                <a:r>
                  <a:rPr lang="en-CA">
                    <a:noFill/>
                  </a:rPr>
                  <a:t> </a:t>
                </a:r>
              </a:p>
            </p:txBody>
          </p:sp>
        </mc:Fallback>
      </mc:AlternateContent>
    </p:spTree>
    <p:extLst>
      <p:ext uri="{BB962C8B-B14F-4D97-AF65-F5344CB8AC3E}">
        <p14:creationId xmlns:p14="http://schemas.microsoft.com/office/powerpoint/2010/main" val="36872158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7269480" cy="624840"/>
          </a:xfrm>
        </p:spPr>
        <p:txBody>
          <a:bodyPr>
            <a:normAutofit fontScale="90000"/>
          </a:bodyPr>
          <a:lstStyle/>
          <a:p>
            <a:r>
              <a:rPr lang="en-US" dirty="0">
                <a:latin typeface="Times New Roman" panose="02020603050405020304" pitchFamily="18" charset="0"/>
                <a:cs typeface="Times New Roman" panose="02020603050405020304" pitchFamily="18" charset="0"/>
              </a:rPr>
              <a:t>Joint and Conditional Probabilities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066800"/>
                <a:ext cx="10668000" cy="5410199"/>
              </a:xfrm>
            </p:spPr>
            <p:txBody>
              <a:bodyPr>
                <a:normAutofit/>
              </a:bodyPr>
              <a:lstStyle/>
              <a:p>
                <a:r>
                  <a:rPr lang="en-US" sz="2400" b="1" dirty="0">
                    <a:cs typeface="Times New Roman" panose="02020603050405020304" pitchFamily="18" charset="0"/>
                  </a:rPr>
                  <a:t>Joint probabilities </a:t>
                </a:r>
                <a:r>
                  <a:rPr lang="en-US" sz="2400" dirty="0">
                    <a:cs typeface="Times New Roman" panose="02020603050405020304" pitchFamily="18" charset="0"/>
                  </a:rPr>
                  <a:t>represent the probability of multiple events happening simultaneously: </a:t>
                </a:r>
              </a:p>
              <a:p>
                <a:pPr lvl="1"/>
                <a:r>
                  <a:rPr lang="en-US" sz="2400" dirty="0">
                    <a:cs typeface="Times New Roman" panose="02020603050405020304" pitchFamily="18" charset="0"/>
                  </a:rPr>
                  <a:t>e.g.,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2</m:t>
                            </m:r>
                          </m:sub>
                        </m:sSub>
                      </m:e>
                    </m:d>
                    <m:r>
                      <a:rPr lang="en-US" sz="2400" b="0" i="1" smtClean="0">
                        <a:latin typeface="Cambria Math" panose="02040503050406030204" pitchFamily="18" charset="0"/>
                        <a:cs typeface="Times New Roman" panose="02020603050405020304" pitchFamily="18" charset="0"/>
                      </a:rPr>
                      <m:t>=.02</m:t>
                    </m:r>
                  </m:oMath>
                </a14:m>
                <a:r>
                  <a:rPr lang="en-US" sz="2400" dirty="0">
                    <a:cs typeface="Times New Roman" panose="02020603050405020304" pitchFamily="18" charset="0"/>
                  </a:rPr>
                  <a:t> – develop both acute and chronic condition</a:t>
                </a:r>
              </a:p>
              <a:p>
                <a:pPr lvl="1"/>
                <a:r>
                  <a:rPr lang="en-US" sz="2400" dirty="0">
                    <a:cs typeface="Times New Roman" panose="02020603050405020304" pitchFamily="18" charset="0"/>
                  </a:rPr>
                  <a:t>Most easily seen in a </a:t>
                </a:r>
                <a:r>
                  <a:rPr lang="en-US" sz="2400" u="sng" dirty="0">
                    <a:cs typeface="Times New Roman" panose="02020603050405020304" pitchFamily="18" charset="0"/>
                  </a:rPr>
                  <a:t>Venn diagram</a:t>
                </a:r>
              </a:p>
              <a:p>
                <a:pPr lvl="1"/>
                <a:endParaRPr lang="en-US" sz="2400" dirty="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066800"/>
                <a:ext cx="10668000" cy="5410199"/>
              </a:xfrm>
              <a:blipFill>
                <a:blip r:embed="rId3"/>
                <a:stretch>
                  <a:fillRect l="-400" t="-1240"/>
                </a:stretch>
              </a:blipFill>
            </p:spPr>
            <p:txBody>
              <a:bodyPr/>
              <a:lstStyle/>
              <a:p>
                <a:r>
                  <a:rPr lang="en-US">
                    <a:noFill/>
                  </a:rPr>
                  <a:t> </a:t>
                </a:r>
              </a:p>
            </p:txBody>
          </p:sp>
        </mc:Fallback>
      </mc:AlternateContent>
    </p:spTree>
    <p:extLst>
      <p:ext uri="{BB962C8B-B14F-4D97-AF65-F5344CB8AC3E}">
        <p14:creationId xmlns:p14="http://schemas.microsoft.com/office/powerpoint/2010/main" val="11735185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7269480" cy="624840"/>
          </a:xfrm>
        </p:spPr>
        <p:txBody>
          <a:bodyPr>
            <a:normAutofit fontScale="90000"/>
          </a:bodyPr>
          <a:lstStyle/>
          <a:p>
            <a:r>
              <a:rPr lang="en-US" dirty="0">
                <a:latin typeface="Times New Roman" panose="02020603050405020304" pitchFamily="18" charset="0"/>
                <a:cs typeface="Times New Roman" panose="02020603050405020304" pitchFamily="18" charset="0"/>
              </a:rPr>
              <a:t>Joint and Conditional Probabilities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066800"/>
                <a:ext cx="10668000" cy="5410199"/>
              </a:xfrm>
            </p:spPr>
            <p:txBody>
              <a:bodyPr>
                <a:normAutofit/>
              </a:bodyPr>
              <a:lstStyle/>
              <a:p>
                <a:r>
                  <a:rPr lang="en-US" sz="2400" b="1" dirty="0">
                    <a:cs typeface="Times New Roman" panose="02020603050405020304" pitchFamily="18" charset="0"/>
                  </a:rPr>
                  <a:t>Joint probabilities </a:t>
                </a:r>
                <a:r>
                  <a:rPr lang="en-US" sz="2400" dirty="0">
                    <a:cs typeface="Times New Roman" panose="02020603050405020304" pitchFamily="18" charset="0"/>
                  </a:rPr>
                  <a:t>represent the probability of multiple events happening simultaneously: </a:t>
                </a:r>
              </a:p>
              <a:p>
                <a:pPr lvl="1"/>
                <a:r>
                  <a:rPr lang="en-US" sz="2400" dirty="0">
                    <a:cs typeface="Times New Roman" panose="02020603050405020304" pitchFamily="18" charset="0"/>
                  </a:rPr>
                  <a:t>e.g.,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2</m:t>
                            </m:r>
                          </m:sub>
                        </m:sSub>
                      </m:e>
                    </m:d>
                    <m:r>
                      <a:rPr lang="en-US" sz="2400" b="0" i="1" smtClean="0">
                        <a:latin typeface="Cambria Math" panose="02040503050406030204" pitchFamily="18" charset="0"/>
                        <a:cs typeface="Times New Roman" panose="02020603050405020304" pitchFamily="18" charset="0"/>
                      </a:rPr>
                      <m:t>=.02</m:t>
                    </m:r>
                  </m:oMath>
                </a14:m>
                <a:r>
                  <a:rPr lang="en-US" sz="2400" dirty="0">
                    <a:cs typeface="Times New Roman" panose="02020603050405020304" pitchFamily="18" charset="0"/>
                  </a:rPr>
                  <a:t> – develop both acute and chronic condition</a:t>
                </a:r>
              </a:p>
              <a:p>
                <a:pPr lvl="1"/>
                <a:r>
                  <a:rPr lang="en-US" sz="2400" dirty="0">
                    <a:cs typeface="Times New Roman" panose="02020603050405020304" pitchFamily="18" charset="0"/>
                  </a:rPr>
                  <a:t>Most easily seen in a </a:t>
                </a:r>
                <a:r>
                  <a:rPr lang="en-US" sz="2400" u="sng" dirty="0">
                    <a:cs typeface="Times New Roman" panose="02020603050405020304" pitchFamily="18" charset="0"/>
                  </a:rPr>
                  <a:t>Venn diagram</a:t>
                </a:r>
              </a:p>
              <a:p>
                <a:r>
                  <a:rPr lang="en-US" sz="2400" dirty="0">
                    <a:cs typeface="Times New Roman" panose="02020603050405020304" pitchFamily="18" charset="0"/>
                  </a:rPr>
                  <a:t>Joint probabilities are closely related to </a:t>
                </a:r>
                <a:r>
                  <a:rPr lang="en-US" sz="2400" b="1" dirty="0">
                    <a:cs typeface="Times New Roman" panose="02020603050405020304" pitchFamily="18" charset="0"/>
                  </a:rPr>
                  <a:t>conditional probabilities: </a:t>
                </a:r>
              </a:p>
              <a:p>
                <a:pPr marL="274320" lvl="1" indent="0">
                  <a:buNone/>
                </a:pPr>
                <a:endParaRPr lang="en-US" sz="2400" b="0" i="1" dirty="0">
                  <a:latin typeface="Cambria Math" panose="02040503050406030204" pitchFamily="18" charset="0"/>
                  <a:cs typeface="Times New Roman" panose="02020603050405020304" pitchFamily="18" charset="0"/>
                </a:endParaRPr>
              </a:p>
              <a:p>
                <a:pPr marL="274320" lvl="1" indent="0">
                  <a:buNone/>
                </a:pPr>
                <a14:m>
                  <m:oMathPara xmlns:m="http://schemas.openxmlformats.org/officeDocument/2006/math">
                    <m:oMath>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𝐴</m:t>
                          </m:r>
                        </m:e>
                        <m:e>
                          <m:r>
                            <a:rPr lang="en-US" sz="2400" b="0" i="1" smtClean="0">
                              <a:latin typeface="Cambria Math" panose="02040503050406030204" pitchFamily="18" charset="0"/>
                              <a:cs typeface="Times New Roman" panose="02020603050405020304" pitchFamily="18" charset="0"/>
                            </a:rPr>
                            <m:t>𝐵</m:t>
                          </m:r>
                        </m:e>
                      </m:d>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𝐴</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𝐵</m:t>
                              </m:r>
                            </m:e>
                          </m:d>
                        </m:num>
                        <m:den>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𝐵</m:t>
                              </m:r>
                            </m:e>
                          </m:d>
                        </m:den>
                      </m:f>
                    </m:oMath>
                  </m:oMathPara>
                </a14:m>
                <a:endParaRPr lang="en-US" sz="2400" b="0" dirty="0">
                  <a:cs typeface="Times New Roman" panose="02020603050405020304" pitchFamily="18" charset="0"/>
                </a:endParaRPr>
              </a:p>
              <a:p>
                <a:pPr lvl="1"/>
                <a:r>
                  <a:rPr lang="en-US" sz="2400" dirty="0">
                    <a:cs typeface="Times New Roman" panose="02020603050405020304" pitchFamily="18" charset="0"/>
                  </a:rPr>
                  <a:t>Once I know that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𝐵</m:t>
                    </m:r>
                  </m:oMath>
                </a14:m>
                <a:r>
                  <a:rPr lang="en-US" sz="2400" dirty="0">
                    <a:cs typeface="Times New Roman" panose="02020603050405020304" pitchFamily="18" charset="0"/>
                  </a:rPr>
                  <a:t> has happened, how do my beliefs that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𝐴</m:t>
                    </m:r>
                  </m:oMath>
                </a14:m>
                <a:r>
                  <a:rPr lang="en-US" sz="2400" dirty="0">
                    <a:cs typeface="Times New Roman" panose="02020603050405020304" pitchFamily="18" charset="0"/>
                  </a:rPr>
                  <a:t> will happen change? </a:t>
                </a:r>
              </a:p>
              <a:p>
                <a:pPr lvl="1"/>
                <a:endParaRPr lang="en-US" sz="2400" dirty="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066800"/>
                <a:ext cx="10668000" cy="5410199"/>
              </a:xfrm>
              <a:blipFill>
                <a:blip r:embed="rId3"/>
                <a:stretch>
                  <a:fillRect l="-400" t="-1240" r="-457"/>
                </a:stretch>
              </a:blipFill>
            </p:spPr>
            <p:txBody>
              <a:bodyPr/>
              <a:lstStyle/>
              <a:p>
                <a:r>
                  <a:rPr lang="en-US">
                    <a:noFill/>
                  </a:rPr>
                  <a:t> </a:t>
                </a:r>
              </a:p>
            </p:txBody>
          </p:sp>
        </mc:Fallback>
      </mc:AlternateContent>
    </p:spTree>
    <p:extLst>
      <p:ext uri="{BB962C8B-B14F-4D97-AF65-F5344CB8AC3E}">
        <p14:creationId xmlns:p14="http://schemas.microsoft.com/office/powerpoint/2010/main" val="3176871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7269480" cy="624840"/>
          </a:xfrm>
        </p:spPr>
        <p:txBody>
          <a:bodyPr>
            <a:normAutofit fontScale="90000"/>
          </a:bodyPr>
          <a:lstStyle/>
          <a:p>
            <a:r>
              <a:rPr lang="en-US" dirty="0">
                <a:latin typeface="Times New Roman" panose="02020603050405020304" pitchFamily="18" charset="0"/>
                <a:cs typeface="Times New Roman" panose="02020603050405020304" pitchFamily="18" charset="0"/>
              </a:rPr>
              <a:t>Joint and Conditional Probabilities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066800"/>
                <a:ext cx="10668000" cy="5410199"/>
              </a:xfrm>
            </p:spPr>
            <p:txBody>
              <a:bodyPr>
                <a:noAutofit/>
              </a:bodyPr>
              <a:lstStyle/>
              <a:p>
                <a:r>
                  <a:rPr lang="en-US" sz="2400" b="1" dirty="0">
                    <a:cs typeface="Times New Roman" panose="02020603050405020304" pitchFamily="18" charset="0"/>
                  </a:rPr>
                  <a:t>Joint probabilities </a:t>
                </a:r>
                <a:r>
                  <a:rPr lang="en-US" sz="2400" dirty="0">
                    <a:cs typeface="Times New Roman" panose="02020603050405020304" pitchFamily="18" charset="0"/>
                  </a:rPr>
                  <a:t>represent the probability of multiple events happening: </a:t>
                </a:r>
              </a:p>
              <a:p>
                <a:pPr lvl="1"/>
                <a:r>
                  <a:rPr lang="en-US" sz="2400" dirty="0">
                    <a:cs typeface="Times New Roman" panose="02020603050405020304" pitchFamily="18" charset="0"/>
                  </a:rPr>
                  <a:t>e.g.,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2</m:t>
                            </m:r>
                          </m:sub>
                        </m:sSub>
                      </m:e>
                    </m:d>
                    <m:r>
                      <a:rPr lang="en-US" sz="2400" b="0" i="1" smtClean="0">
                        <a:latin typeface="Cambria Math" panose="02040503050406030204" pitchFamily="18" charset="0"/>
                        <a:cs typeface="Times New Roman" panose="02020603050405020304" pitchFamily="18" charset="0"/>
                      </a:rPr>
                      <m:t>=.02</m:t>
                    </m:r>
                  </m:oMath>
                </a14:m>
                <a:r>
                  <a:rPr lang="en-US" sz="2400" dirty="0">
                    <a:cs typeface="Times New Roman" panose="02020603050405020304" pitchFamily="18" charset="0"/>
                  </a:rPr>
                  <a:t> – develop both acute and chronic condition</a:t>
                </a:r>
              </a:p>
              <a:p>
                <a:pPr lvl="1"/>
                <a:r>
                  <a:rPr lang="en-US" sz="2400" dirty="0">
                    <a:cs typeface="Times New Roman" panose="02020603050405020304" pitchFamily="18" charset="0"/>
                  </a:rPr>
                  <a:t>Most easily seen in a </a:t>
                </a:r>
                <a:r>
                  <a:rPr lang="en-US" sz="2400" u="sng" dirty="0">
                    <a:cs typeface="Times New Roman" panose="02020603050405020304" pitchFamily="18" charset="0"/>
                  </a:rPr>
                  <a:t>Venn diagram</a:t>
                </a:r>
              </a:p>
              <a:p>
                <a:r>
                  <a:rPr lang="en-US" sz="2400" dirty="0">
                    <a:cs typeface="Times New Roman" panose="02020603050405020304" pitchFamily="18" charset="0"/>
                  </a:rPr>
                  <a:t>Joint probabilities are closely related to </a:t>
                </a:r>
                <a:r>
                  <a:rPr lang="en-US" sz="2400" b="1" dirty="0">
                    <a:cs typeface="Times New Roman" panose="02020603050405020304" pitchFamily="18" charset="0"/>
                  </a:rPr>
                  <a:t>conditional probabilities: </a:t>
                </a:r>
              </a:p>
              <a:p>
                <a:pPr marL="274320" lvl="1" indent="0">
                  <a:buNone/>
                </a:pPr>
                <a:endParaRPr lang="en-US" sz="2400" b="0" i="1" dirty="0">
                  <a:latin typeface="Cambria Math" panose="02040503050406030204" pitchFamily="18" charset="0"/>
                  <a:cs typeface="Times New Roman" panose="02020603050405020304" pitchFamily="18" charset="0"/>
                </a:endParaRPr>
              </a:p>
              <a:p>
                <a:pPr marL="274320" lvl="1" indent="0">
                  <a:buNone/>
                </a:pPr>
                <a14:m>
                  <m:oMathPara xmlns:m="http://schemas.openxmlformats.org/officeDocument/2006/math">
                    <m:oMath>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𝐴</m:t>
                          </m:r>
                        </m:e>
                        <m:e>
                          <m:r>
                            <a:rPr lang="en-US" sz="2400" b="0" i="1" smtClean="0">
                              <a:latin typeface="Cambria Math" panose="02040503050406030204" pitchFamily="18" charset="0"/>
                              <a:cs typeface="Times New Roman" panose="02020603050405020304" pitchFamily="18" charset="0"/>
                            </a:rPr>
                            <m:t>𝐵</m:t>
                          </m:r>
                        </m:e>
                      </m:d>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𝐴</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𝐵</m:t>
                              </m:r>
                            </m:e>
                          </m:d>
                        </m:num>
                        <m:den>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𝐵</m:t>
                              </m:r>
                            </m:e>
                          </m:d>
                        </m:den>
                      </m:f>
                    </m:oMath>
                  </m:oMathPara>
                </a14:m>
                <a:endParaRPr lang="en-US" sz="2400" b="0" dirty="0">
                  <a:cs typeface="Times New Roman" panose="02020603050405020304" pitchFamily="18" charset="0"/>
                </a:endParaRPr>
              </a:p>
              <a:p>
                <a:pPr lvl="1"/>
                <a:r>
                  <a:rPr lang="en-US" sz="2400" dirty="0">
                    <a:cs typeface="Times New Roman" panose="02020603050405020304" pitchFamily="18" charset="0"/>
                  </a:rPr>
                  <a:t>Once I know that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𝐵</m:t>
                    </m:r>
                  </m:oMath>
                </a14:m>
                <a:r>
                  <a:rPr lang="en-US" sz="2400" dirty="0">
                    <a:cs typeface="Times New Roman" panose="02020603050405020304" pitchFamily="18" charset="0"/>
                  </a:rPr>
                  <a:t> has happened, how do my beliefs that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𝐴</m:t>
                    </m:r>
                  </m:oMath>
                </a14:m>
                <a:r>
                  <a:rPr lang="en-US" sz="2400" dirty="0">
                    <a:cs typeface="Times New Roman" panose="02020603050405020304" pitchFamily="18" charset="0"/>
                  </a:rPr>
                  <a:t> will happen change? </a:t>
                </a:r>
              </a:p>
              <a:p>
                <a:r>
                  <a:rPr lang="en-US" sz="2400" dirty="0">
                    <a:cs typeface="Times New Roman" panose="02020603050405020304" pitchFamily="18" charset="0"/>
                  </a:rPr>
                  <a:t>Two events are </a:t>
                </a:r>
                <a:r>
                  <a:rPr lang="en-US" sz="2400" b="1" dirty="0">
                    <a:cs typeface="Times New Roman" panose="02020603050405020304" pitchFamily="18" charset="0"/>
                  </a:rPr>
                  <a:t>independent </a:t>
                </a:r>
                <a:r>
                  <a:rPr lang="en-US" sz="2400" dirty="0">
                    <a:cs typeface="Times New Roman" panose="02020603050405020304" pitchFamily="18" charset="0"/>
                  </a:rPr>
                  <a:t>if the incidence of one does not change probability of the other:</a:t>
                </a:r>
              </a:p>
              <a:p>
                <a:pPr marL="0" indent="0">
                  <a:buNone/>
                </a:pPr>
                <a:endParaRPr lang="en-US" sz="2400" b="0" i="1" dirty="0">
                  <a:latin typeface="Cambria Math" panose="02040503050406030204" pitchFamily="18" charset="0"/>
                  <a:cs typeface="Times New Roman" panose="02020603050405020304" pitchFamily="18" charset="0"/>
                </a:endParaRPr>
              </a:p>
              <a:p>
                <a:pPr marL="0" indent="0">
                  <a:buNone/>
                </a:pPr>
                <a14:m>
                  <m:oMathPara xmlns:m="http://schemas.openxmlformats.org/officeDocument/2006/math">
                    <m:oMath>
                      <m:r>
                        <a:rPr lang="en-US" sz="2400" b="0" i="1" smtClean="0">
                          <a:latin typeface="Cambria Math" panose="02040503050406030204" pitchFamily="18" charset="0"/>
                          <a:cs typeface="Times New Roman" panose="02020603050405020304" pitchFamily="18" charset="0"/>
                        </a:rPr>
                        <m:t>𝐴</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𝑎𝑛𝑑</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𝐵</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𝑎𝑟𝑒</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𝑖𝑛𝑑𝑒𝑝𝑒𝑛𝑑𝑒𝑛𝑡</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𝐴</m:t>
                          </m:r>
                        </m:e>
                        <m:e>
                          <m:r>
                            <a:rPr lang="en-US" sz="2400" b="0" i="1" smtClean="0">
                              <a:latin typeface="Cambria Math" panose="02040503050406030204" pitchFamily="18" charset="0"/>
                              <a:cs typeface="Times New Roman" panose="02020603050405020304" pitchFamily="18" charset="0"/>
                            </a:rPr>
                            <m:t>𝐵</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𝐴</m:t>
                          </m:r>
                        </m:e>
                      </m:d>
                      <m:r>
                        <a:rPr lang="en-US" sz="2400" b="0" i="1" smtClean="0">
                          <a:latin typeface="Cambria Math" panose="02040503050406030204" pitchFamily="18" charset="0"/>
                          <a:cs typeface="Times New Roman" panose="02020603050405020304" pitchFamily="18" charset="0"/>
                        </a:rPr>
                        <m:t>𝑃</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𝐵</m:t>
                      </m:r>
                      <m:r>
                        <a:rPr lang="en-US" sz="2400" b="0" i="1" smtClean="0">
                          <a:latin typeface="Cambria Math" panose="02040503050406030204" pitchFamily="18" charset="0"/>
                          <a:cs typeface="Times New Roman" panose="02020603050405020304" pitchFamily="18" charset="0"/>
                        </a:rPr>
                        <m:t>)</m:t>
                      </m:r>
                    </m:oMath>
                  </m:oMathPara>
                </a14:m>
                <a:endParaRPr lang="en-US" sz="2400" dirty="0">
                  <a:cs typeface="Times New Roman" panose="02020603050405020304" pitchFamily="18" charset="0"/>
                </a:endParaRPr>
              </a:p>
              <a:p>
                <a:pPr lvl="1"/>
                <a:endParaRPr lang="en-US" sz="2400" dirty="0">
                  <a:cs typeface="Times New Roman" panose="02020603050405020304" pitchFamily="18" charset="0"/>
                </a:endParaRPr>
              </a:p>
              <a:p>
                <a:pPr lvl="1"/>
                <a:endParaRPr lang="en-US" sz="2400" dirty="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066800"/>
                <a:ext cx="10668000" cy="5410199"/>
              </a:xfrm>
              <a:blipFill>
                <a:blip r:embed="rId3"/>
                <a:stretch>
                  <a:fillRect l="-400" t="-1240" r="-686"/>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F93BA624-D7C9-499B-9CFC-FF63D18B58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77400" y="525780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94847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7269480" cy="624840"/>
          </a:xfrm>
        </p:spPr>
        <p:txBody>
          <a:bodyPr>
            <a:normAutofit fontScale="90000"/>
          </a:bodyPr>
          <a:lstStyle/>
          <a:p>
            <a:r>
              <a:rPr lang="en-US" dirty="0">
                <a:latin typeface="Times New Roman" panose="02020603050405020304" pitchFamily="18" charset="0"/>
                <a:cs typeface="Times New Roman" panose="02020603050405020304" pitchFamily="18" charset="0"/>
              </a:rPr>
              <a:t>Expectations of Random Variables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066801"/>
                <a:ext cx="10439400" cy="5141388"/>
              </a:xfrm>
            </p:spPr>
            <p:txBody>
              <a:bodyPr>
                <a:normAutofit/>
              </a:bodyPr>
              <a:lstStyle/>
              <a:p>
                <a:r>
                  <a:rPr lang="en-US" sz="2400" dirty="0">
                    <a:cs typeface="Times New Roman" panose="02020603050405020304" pitchFamily="18" charset="0"/>
                  </a:rPr>
                  <a:t>A random variable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b="0" dirty="0">
                    <a:cs typeface="Times New Roman" panose="02020603050405020304" pitchFamily="18" charset="0"/>
                  </a:rPr>
                  <a:t> has an </a:t>
                </a:r>
                <a:r>
                  <a:rPr lang="en-US" sz="2400" b="1" dirty="0">
                    <a:cs typeface="Times New Roman" panose="02020603050405020304" pitchFamily="18" charset="0"/>
                  </a:rPr>
                  <a:t>expected value </a:t>
                </a:r>
                <a:r>
                  <a:rPr lang="en-US" sz="2400" dirty="0">
                    <a:cs typeface="Times New Roman" panose="02020603050405020304" pitchFamily="18" charset="0"/>
                  </a:rPr>
                  <a:t>based on its average output: </a:t>
                </a:r>
              </a:p>
              <a:p>
                <a:pPr marL="0" indent="0">
                  <a:buNone/>
                </a:pPr>
                <a14:m>
                  <m:oMathPara xmlns:m="http://schemas.openxmlformats.org/officeDocument/2006/math">
                    <m:oMath>
                      <m:r>
                        <a:rPr lang="en-US" sz="2400" b="0" i="1" smtClean="0">
                          <a:latin typeface="Cambria Math" panose="02040503050406030204" pitchFamily="18" charset="0"/>
                          <a:cs typeface="Times New Roman" panose="02020603050405020304" pitchFamily="18" charset="0"/>
                        </a:rPr>
                        <m:t>𝔼</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𝑋</m:t>
                          </m:r>
                        </m:e>
                      </m:d>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e>
                      </m:d>
                      <m:r>
                        <a:rPr lang="en-US" sz="2400" b="0" i="1" smtClean="0">
                          <a:latin typeface="Cambria Math" panose="02040503050406030204" pitchFamily="18" charset="0"/>
                          <a:cs typeface="Times New Roman" panose="02020603050405020304" pitchFamily="18" charset="0"/>
                        </a:rPr>
                        <m:t>+</m:t>
                      </m:r>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2</m:t>
                          </m:r>
                        </m:sub>
                      </m:sSub>
                      <m:r>
                        <a:rPr lang="en-US" sz="2400" i="1">
                          <a:latin typeface="Cambria Math" panose="02040503050406030204" pitchFamily="18" charset="0"/>
                          <a:cs typeface="Times New Roman" panose="02020603050405020304" pitchFamily="18" charset="0"/>
                        </a:rPr>
                        <m:t>𝑃</m:t>
                      </m:r>
                      <m:d>
                        <m:dPr>
                          <m:ctrlPr>
                            <a:rPr lang="en-US" sz="2400" i="1">
                              <a:latin typeface="Cambria Math" panose="02040503050406030204" pitchFamily="18" charset="0"/>
                              <a:cs typeface="Times New Roman" panose="02020603050405020304" pitchFamily="18" charset="0"/>
                            </a:rPr>
                          </m:ctrlPr>
                        </m:dPr>
                        <m:e>
                          <m:r>
                            <a:rPr lang="en-US" sz="2400" i="1">
                              <a:latin typeface="Cambria Math" panose="02040503050406030204" pitchFamily="18" charset="0"/>
                              <a:cs typeface="Times New Roman" panose="02020603050405020304" pitchFamily="18" charset="0"/>
                            </a:rPr>
                            <m:t>𝑋</m:t>
                          </m:r>
                          <m:r>
                            <a:rPr lang="en-US" sz="2400" i="1">
                              <a:latin typeface="Cambria Math" panose="02040503050406030204" pitchFamily="18" charset="0"/>
                              <a:cs typeface="Times New Roman" panose="02020603050405020304" pitchFamily="18" charset="0"/>
                            </a:rPr>
                            <m:t>=</m:t>
                          </m:r>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2</m:t>
                              </m:r>
                            </m:sub>
                          </m:sSub>
                        </m:e>
                      </m:d>
                      <m:r>
                        <a:rPr lang="en-US" sz="2400" b="0" i="1" smtClean="0">
                          <a:latin typeface="Cambria Math" panose="02040503050406030204" pitchFamily="18" charset="0"/>
                          <a:cs typeface="Times New Roman" panose="02020603050405020304" pitchFamily="18" charset="0"/>
                        </a:rPr>
                        <m:t>+ …+</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𝑛</m:t>
                          </m:r>
                        </m:sub>
                      </m:sSub>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𝑛</m:t>
                              </m:r>
                            </m:sub>
                          </m:sSub>
                        </m:e>
                      </m:d>
                    </m:oMath>
                  </m:oMathPara>
                </a14:m>
                <a:endParaRPr lang="en-US" sz="2400" b="0" i="1" dirty="0">
                  <a:latin typeface="Cambria Math" panose="02040503050406030204" pitchFamily="18" charset="0"/>
                  <a:cs typeface="Times New Roman" panose="02020603050405020304" pitchFamily="18" charset="0"/>
                </a:endParaRPr>
              </a:p>
              <a:p>
                <a:pPr marL="0" indent="0">
                  <a:buNone/>
                </a:pPr>
                <a14:m>
                  <m:oMathPara xmlns:m="http://schemas.openxmlformats.org/officeDocument/2006/math">
                    <m:oMath>
                      <m:r>
                        <a:rPr lang="en-US" sz="2400" b="0" i="1" smtClean="0">
                          <a:latin typeface="Cambria Math" panose="02040503050406030204" pitchFamily="18" charset="0"/>
                          <a:cs typeface="Times New Roman" panose="02020603050405020304" pitchFamily="18" charset="0"/>
                        </a:rPr>
                        <m:t>=</m:t>
                      </m:r>
                      <m:nary>
                        <m:naryPr>
                          <m:chr m:val="∑"/>
                          <m:ctrlPr>
                            <a:rPr lang="en-US" sz="2400" b="0" i="1" smtClean="0">
                              <a:latin typeface="Cambria Math" panose="02040503050406030204" pitchFamily="18" charset="0"/>
                              <a:cs typeface="Times New Roman" panose="02020603050405020304" pitchFamily="18" charset="0"/>
                            </a:rPr>
                          </m:ctrlPr>
                        </m:naryPr>
                        <m:sub>
                          <m:r>
                            <a:rPr lang="en-US" sz="2400" b="0" i="1" smtClean="0">
                              <a:latin typeface="Cambria Math" panose="02040503050406030204" pitchFamily="18" charset="0"/>
                              <a:cs typeface="Times New Roman" panose="02020603050405020304" pitchFamily="18" charset="0"/>
                            </a:rPr>
                            <m:t>𝑖</m:t>
                          </m:r>
                          <m:r>
                            <a:rPr lang="en-US" sz="2400" b="0" i="1" smtClean="0">
                              <a:latin typeface="Cambria Math" panose="02040503050406030204" pitchFamily="18" charset="0"/>
                              <a:cs typeface="Times New Roman" panose="02020603050405020304" pitchFamily="18" charset="0"/>
                            </a:rPr>
                            <m:t>=1</m:t>
                          </m:r>
                        </m:sub>
                        <m:sup>
                          <m:r>
                            <a:rPr lang="en-US" sz="2400" b="0" i="1" smtClean="0">
                              <a:latin typeface="Cambria Math" panose="02040503050406030204" pitchFamily="18" charset="0"/>
                              <a:cs typeface="Times New Roman" panose="02020603050405020304" pitchFamily="18" charset="0"/>
                            </a:rPr>
                            <m:t>𝑛</m:t>
                          </m:r>
                        </m:sup>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𝑃</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e>
                      </m:nary>
                    </m:oMath>
                  </m:oMathPara>
                </a14:m>
                <a:endParaRPr lang="en-US" sz="2400" b="0" dirty="0">
                  <a:cs typeface="Times New Roman" panose="02020603050405020304" pitchFamily="18" charset="0"/>
                </a:endParaRPr>
              </a:p>
              <a:p>
                <a:pPr lvl="1"/>
                <a:r>
                  <a:rPr lang="en-US" sz="2400" dirty="0">
                    <a:cs typeface="Times New Roman" panose="02020603050405020304" pitchFamily="18" charset="0"/>
                  </a:rPr>
                  <a:t>Example: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 </m:t>
                    </m:r>
                    <m:r>
                      <m:rPr>
                        <m:lit/>
                      </m:rP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−1, 0, 1</m:t>
                    </m:r>
                    <m:r>
                      <m:rPr>
                        <m:lit/>
                      </m:rP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with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𝑝</m:t>
                    </m:r>
                    <m:r>
                      <a:rPr lang="en-US" sz="2400" b="0" i="1" smtClean="0">
                        <a:latin typeface="Cambria Math" panose="02040503050406030204" pitchFamily="18" charset="0"/>
                        <a:cs typeface="Times New Roman" panose="02020603050405020304" pitchFamily="18" charset="0"/>
                      </a:rPr>
                      <m:t>= </m:t>
                    </m:r>
                    <m:r>
                      <m:rPr>
                        <m:lit/>
                      </m:rP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.2, .5, .3</m:t>
                    </m:r>
                    <m:r>
                      <m:rPr>
                        <m:lit/>
                      </m:rP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what is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a:t>
                </a:r>
              </a:p>
              <a:p>
                <a:pPr lvl="1"/>
                <a:endParaRPr lang="en-US" sz="2400" dirty="0">
                  <a:cs typeface="Times New Roman" panose="02020603050405020304" pitchFamily="18" charset="0"/>
                </a:endParaRPr>
              </a:p>
              <a:p>
                <a:pPr lvl="1"/>
                <a:endParaRPr lang="en-US" sz="2400" dirty="0">
                  <a:cs typeface="Times New Roman" panose="02020603050405020304" pitchFamily="18" charset="0"/>
                </a:endParaRPr>
              </a:p>
              <a:p>
                <a:pPr marL="731520" lvl="1" indent="-457200">
                  <a:buFont typeface="+mj-lt"/>
                  <a:buAutoNum type="arabicPeriod"/>
                </a:pPr>
                <a:endParaRPr lang="en-US" sz="2400" dirty="0">
                  <a:cs typeface="Times New Roman" panose="02020603050405020304" pitchFamily="18" charset="0"/>
                </a:endParaRPr>
              </a:p>
              <a:p>
                <a:pPr marL="274320" lvl="1" indent="0">
                  <a:buNone/>
                </a:pPr>
                <a:endParaRPr lang="en-US" sz="240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066801"/>
                <a:ext cx="10439400" cy="5141388"/>
              </a:xfrm>
              <a:blipFill>
                <a:blip r:embed="rId3"/>
                <a:stretch>
                  <a:fillRect l="-409" t="-1305"/>
                </a:stretch>
              </a:blipFill>
            </p:spPr>
            <p:txBody>
              <a:bodyPr/>
              <a:lstStyle/>
              <a:p>
                <a:r>
                  <a:rPr lang="en-US">
                    <a:noFill/>
                  </a:rPr>
                  <a:t> </a:t>
                </a:r>
              </a:p>
            </p:txBody>
          </p:sp>
        </mc:Fallback>
      </mc:AlternateContent>
    </p:spTree>
    <p:extLst>
      <p:ext uri="{BB962C8B-B14F-4D97-AF65-F5344CB8AC3E}">
        <p14:creationId xmlns:p14="http://schemas.microsoft.com/office/powerpoint/2010/main" val="37229450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7269480" cy="624840"/>
          </a:xfrm>
        </p:spPr>
        <p:txBody>
          <a:bodyPr>
            <a:normAutofit fontScale="90000"/>
          </a:bodyPr>
          <a:lstStyle/>
          <a:p>
            <a:r>
              <a:rPr lang="en-US" dirty="0">
                <a:latin typeface="Times New Roman" panose="02020603050405020304" pitchFamily="18" charset="0"/>
                <a:cs typeface="Times New Roman" panose="02020603050405020304" pitchFamily="18" charset="0"/>
              </a:rPr>
              <a:t>Expectations of Random Variables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066801"/>
                <a:ext cx="10591800" cy="5141388"/>
              </a:xfrm>
            </p:spPr>
            <p:txBody>
              <a:bodyPr>
                <a:normAutofit/>
              </a:bodyPr>
              <a:lstStyle/>
              <a:p>
                <a:r>
                  <a:rPr lang="en-US" sz="2400" dirty="0">
                    <a:cs typeface="Times New Roman" panose="02020603050405020304" pitchFamily="18" charset="0"/>
                  </a:rPr>
                  <a:t>A random variable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b="0" dirty="0">
                    <a:cs typeface="Times New Roman" panose="02020603050405020304" pitchFamily="18" charset="0"/>
                  </a:rPr>
                  <a:t> has an </a:t>
                </a:r>
                <a:r>
                  <a:rPr lang="en-US" sz="2400" b="1" dirty="0">
                    <a:cs typeface="Times New Roman" panose="02020603050405020304" pitchFamily="18" charset="0"/>
                  </a:rPr>
                  <a:t>expected value </a:t>
                </a:r>
                <a:r>
                  <a:rPr lang="en-US" sz="2400" dirty="0">
                    <a:cs typeface="Times New Roman" panose="02020603050405020304" pitchFamily="18" charset="0"/>
                  </a:rPr>
                  <a:t>based on its average output: </a:t>
                </a:r>
              </a:p>
              <a:p>
                <a:pPr marL="0" indent="0">
                  <a:buNone/>
                </a:pPr>
                <a14:m>
                  <m:oMathPara xmlns:m="http://schemas.openxmlformats.org/officeDocument/2006/math">
                    <m:oMath>
                      <m:r>
                        <a:rPr lang="en-US" sz="2400" b="0" i="1" smtClean="0">
                          <a:latin typeface="Cambria Math" panose="02040503050406030204" pitchFamily="18" charset="0"/>
                          <a:cs typeface="Times New Roman" panose="02020603050405020304" pitchFamily="18" charset="0"/>
                        </a:rPr>
                        <m:t>𝔼</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𝑋</m:t>
                          </m:r>
                        </m:e>
                      </m:d>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e>
                      </m:d>
                      <m:r>
                        <a:rPr lang="en-US" sz="2400" b="0" i="1" smtClean="0">
                          <a:latin typeface="Cambria Math" panose="02040503050406030204" pitchFamily="18" charset="0"/>
                          <a:cs typeface="Times New Roman" panose="02020603050405020304" pitchFamily="18" charset="0"/>
                        </a:rPr>
                        <m:t>+</m:t>
                      </m:r>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2</m:t>
                          </m:r>
                        </m:sub>
                      </m:sSub>
                      <m:r>
                        <a:rPr lang="en-US" sz="2400" i="1">
                          <a:latin typeface="Cambria Math" panose="02040503050406030204" pitchFamily="18" charset="0"/>
                          <a:cs typeface="Times New Roman" panose="02020603050405020304" pitchFamily="18" charset="0"/>
                        </a:rPr>
                        <m:t>𝑃</m:t>
                      </m:r>
                      <m:d>
                        <m:dPr>
                          <m:ctrlPr>
                            <a:rPr lang="en-US" sz="2400" i="1">
                              <a:latin typeface="Cambria Math" panose="02040503050406030204" pitchFamily="18" charset="0"/>
                              <a:cs typeface="Times New Roman" panose="02020603050405020304" pitchFamily="18" charset="0"/>
                            </a:rPr>
                          </m:ctrlPr>
                        </m:dPr>
                        <m:e>
                          <m:r>
                            <a:rPr lang="en-US" sz="2400" i="1">
                              <a:latin typeface="Cambria Math" panose="02040503050406030204" pitchFamily="18" charset="0"/>
                              <a:cs typeface="Times New Roman" panose="02020603050405020304" pitchFamily="18" charset="0"/>
                            </a:rPr>
                            <m:t>𝑋</m:t>
                          </m:r>
                          <m:r>
                            <a:rPr lang="en-US" sz="2400" i="1">
                              <a:latin typeface="Cambria Math" panose="02040503050406030204" pitchFamily="18" charset="0"/>
                              <a:cs typeface="Times New Roman" panose="02020603050405020304" pitchFamily="18" charset="0"/>
                            </a:rPr>
                            <m:t>=</m:t>
                          </m:r>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2</m:t>
                              </m:r>
                            </m:sub>
                          </m:sSub>
                        </m:e>
                      </m:d>
                      <m:r>
                        <a:rPr lang="en-US" sz="2400" b="0" i="1" smtClean="0">
                          <a:latin typeface="Cambria Math" panose="02040503050406030204" pitchFamily="18" charset="0"/>
                          <a:cs typeface="Times New Roman" panose="02020603050405020304" pitchFamily="18" charset="0"/>
                        </a:rPr>
                        <m:t>+ …+</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𝑛</m:t>
                          </m:r>
                        </m:sub>
                      </m:sSub>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𝑛</m:t>
                              </m:r>
                            </m:sub>
                          </m:sSub>
                        </m:e>
                      </m:d>
                    </m:oMath>
                  </m:oMathPara>
                </a14:m>
                <a:endParaRPr lang="en-US" sz="2400" b="0" i="1" dirty="0">
                  <a:latin typeface="Cambria Math" panose="02040503050406030204" pitchFamily="18" charset="0"/>
                  <a:cs typeface="Times New Roman" panose="02020603050405020304" pitchFamily="18" charset="0"/>
                </a:endParaRPr>
              </a:p>
              <a:p>
                <a:pPr marL="0" indent="0">
                  <a:buNone/>
                </a:pPr>
                <a14:m>
                  <m:oMathPara xmlns:m="http://schemas.openxmlformats.org/officeDocument/2006/math">
                    <m:oMath>
                      <m:r>
                        <a:rPr lang="en-US" sz="2400" b="0" i="1" smtClean="0">
                          <a:latin typeface="Cambria Math" panose="02040503050406030204" pitchFamily="18" charset="0"/>
                          <a:cs typeface="Times New Roman" panose="02020603050405020304" pitchFamily="18" charset="0"/>
                        </a:rPr>
                        <m:t>=</m:t>
                      </m:r>
                      <m:nary>
                        <m:naryPr>
                          <m:chr m:val="∑"/>
                          <m:ctrlPr>
                            <a:rPr lang="en-US" sz="2400" b="0" i="1" smtClean="0">
                              <a:latin typeface="Cambria Math" panose="02040503050406030204" pitchFamily="18" charset="0"/>
                              <a:cs typeface="Times New Roman" panose="02020603050405020304" pitchFamily="18" charset="0"/>
                            </a:rPr>
                          </m:ctrlPr>
                        </m:naryPr>
                        <m:sub>
                          <m:r>
                            <a:rPr lang="en-US" sz="2400" b="0" i="1" smtClean="0">
                              <a:latin typeface="Cambria Math" panose="02040503050406030204" pitchFamily="18" charset="0"/>
                              <a:cs typeface="Times New Roman" panose="02020603050405020304" pitchFamily="18" charset="0"/>
                            </a:rPr>
                            <m:t>𝑖</m:t>
                          </m:r>
                          <m:r>
                            <a:rPr lang="en-US" sz="2400" b="0" i="1" smtClean="0">
                              <a:latin typeface="Cambria Math" panose="02040503050406030204" pitchFamily="18" charset="0"/>
                              <a:cs typeface="Times New Roman" panose="02020603050405020304" pitchFamily="18" charset="0"/>
                            </a:rPr>
                            <m:t>=1</m:t>
                          </m:r>
                        </m:sub>
                        <m:sup>
                          <m:r>
                            <a:rPr lang="en-US" sz="2400" b="0" i="1" smtClean="0">
                              <a:latin typeface="Cambria Math" panose="02040503050406030204" pitchFamily="18" charset="0"/>
                              <a:cs typeface="Times New Roman" panose="02020603050405020304" pitchFamily="18" charset="0"/>
                            </a:rPr>
                            <m:t>𝑛</m:t>
                          </m:r>
                        </m:sup>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𝑃</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e>
                      </m:nary>
                    </m:oMath>
                  </m:oMathPara>
                </a14:m>
                <a:endParaRPr lang="en-US" sz="2400" b="0" dirty="0">
                  <a:cs typeface="Times New Roman" panose="02020603050405020304" pitchFamily="18" charset="0"/>
                </a:endParaRPr>
              </a:p>
              <a:p>
                <a:pPr lvl="1"/>
                <a:r>
                  <a:rPr lang="en-US" sz="2400" dirty="0">
                    <a:cs typeface="Times New Roman" panose="02020603050405020304" pitchFamily="18" charset="0"/>
                  </a:rPr>
                  <a:t>Example: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 </m:t>
                    </m:r>
                    <m:r>
                      <m:rPr>
                        <m:lit/>
                      </m:rP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−1, 0, 1</m:t>
                    </m:r>
                    <m:r>
                      <m:rPr>
                        <m:lit/>
                      </m:rP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with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𝑝</m:t>
                    </m:r>
                    <m:r>
                      <a:rPr lang="en-US" sz="2400" b="0" i="1" smtClean="0">
                        <a:latin typeface="Cambria Math" panose="02040503050406030204" pitchFamily="18" charset="0"/>
                        <a:cs typeface="Times New Roman" panose="02020603050405020304" pitchFamily="18" charset="0"/>
                      </a:rPr>
                      <m:t>= </m:t>
                    </m:r>
                    <m:r>
                      <m:rPr>
                        <m:lit/>
                      </m:rP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.2, .5, .3</m:t>
                    </m:r>
                    <m:r>
                      <m:rPr>
                        <m:lit/>
                      </m:rP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what is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a:t>
                </a:r>
              </a:p>
              <a:p>
                <a:pPr lvl="1"/>
                <a:endParaRPr lang="en-US" sz="2400" dirty="0">
                  <a:cs typeface="Times New Roman" panose="02020603050405020304" pitchFamily="18" charset="0"/>
                </a:endParaRPr>
              </a:p>
              <a:p>
                <a:r>
                  <a:rPr lang="en-US" sz="2400" dirty="0">
                    <a:cs typeface="Times New Roman" panose="02020603050405020304" pitchFamily="18" charset="0"/>
                  </a:rPr>
                  <a:t>Properties of the expectation operator: </a:t>
                </a:r>
              </a:p>
              <a:p>
                <a:pPr marL="731520" lvl="1" indent="-457200">
                  <a:buFont typeface="+mj-lt"/>
                  <a:buAutoNum type="arabicPeriod"/>
                </a:pPr>
                <a:r>
                  <a:rPr lang="en-US" sz="2400" dirty="0">
                    <a:cs typeface="Times New Roman" panose="02020603050405020304" pitchFamily="18" charset="0"/>
                  </a:rPr>
                  <a:t>Expectation of a constant: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𝑐</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𝑐</m:t>
                    </m:r>
                  </m:oMath>
                </a14:m>
                <a:endParaRPr lang="en-US" sz="2400" dirty="0">
                  <a:cs typeface="Times New Roman" panose="02020603050405020304" pitchFamily="18" charset="0"/>
                </a:endParaRPr>
              </a:p>
              <a:p>
                <a:pPr marL="731520" lvl="1" indent="-457200">
                  <a:buFont typeface="+mj-lt"/>
                  <a:buAutoNum type="arabicPeriod"/>
                </a:pPr>
                <a:r>
                  <a:rPr lang="en-US" sz="2400" dirty="0">
                    <a:cs typeface="Times New Roman" panose="02020603050405020304" pitchFamily="18" charset="0"/>
                  </a:rPr>
                  <a:t>Expectation is a linear operator: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𝑎𝑋</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𝑏𝑌</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𝑎</m:t>
                    </m:r>
                    <m:r>
                      <a:rPr lang="en-US" sz="2400" b="0" i="1" smtClean="0">
                        <a:latin typeface="Cambria Math" panose="02040503050406030204" pitchFamily="18" charset="0"/>
                        <a:cs typeface="Times New Roman" panose="02020603050405020304" pitchFamily="18" charset="0"/>
                      </a:rPr>
                      <m:t>𝔼</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𝑋</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𝑏</m:t>
                    </m:r>
                    <m:r>
                      <a:rPr lang="en-US" sz="2400" b="0" i="1" smtClean="0">
                        <a:latin typeface="Cambria Math" panose="02040503050406030204" pitchFamily="18" charset="0"/>
                        <a:cs typeface="Times New Roman" panose="02020603050405020304" pitchFamily="18" charset="0"/>
                      </a:rPr>
                      <m:t>𝔼</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𝑌</m:t>
                    </m:r>
                    <m:r>
                      <a:rPr lang="en-US" sz="2400" b="0" i="1" smtClean="0">
                        <a:latin typeface="Cambria Math" panose="02040503050406030204" pitchFamily="18" charset="0"/>
                        <a:cs typeface="Times New Roman" panose="02020603050405020304" pitchFamily="18" charset="0"/>
                      </a:rPr>
                      <m:t>]</m:t>
                    </m:r>
                  </m:oMath>
                </a14:m>
                <a:endParaRPr lang="en-US" sz="2400" dirty="0">
                  <a:cs typeface="Times New Roman" panose="02020603050405020304" pitchFamily="18" charset="0"/>
                </a:endParaRPr>
              </a:p>
              <a:p>
                <a:pPr marL="274320" lvl="1" indent="0">
                  <a:buNone/>
                </a:pPr>
                <a:endParaRPr lang="en-US" sz="240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066801"/>
                <a:ext cx="10591800" cy="5141388"/>
              </a:xfrm>
              <a:blipFill>
                <a:blip r:embed="rId3"/>
                <a:stretch>
                  <a:fillRect l="-403" t="-1305"/>
                </a:stretch>
              </a:blipFill>
            </p:spPr>
            <p:txBody>
              <a:bodyPr/>
              <a:lstStyle/>
              <a:p>
                <a:r>
                  <a:rPr lang="en-US">
                    <a:noFill/>
                  </a:rPr>
                  <a:t> </a:t>
                </a:r>
              </a:p>
            </p:txBody>
          </p:sp>
        </mc:Fallback>
      </mc:AlternateContent>
    </p:spTree>
    <p:extLst>
      <p:ext uri="{BB962C8B-B14F-4D97-AF65-F5344CB8AC3E}">
        <p14:creationId xmlns:p14="http://schemas.microsoft.com/office/powerpoint/2010/main" val="40954639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7269480" cy="624840"/>
          </a:xfrm>
        </p:spPr>
        <p:txBody>
          <a:bodyPr>
            <a:normAutofit fontScale="90000"/>
          </a:bodyPr>
          <a:lstStyle/>
          <a:p>
            <a:r>
              <a:rPr lang="en-US" dirty="0">
                <a:latin typeface="Times New Roman" panose="02020603050405020304" pitchFamily="18" charset="0"/>
                <a:cs typeface="Times New Roman" panose="02020603050405020304" pitchFamily="18" charset="0"/>
              </a:rPr>
              <a:t>Variance of Random Variables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0" y="1066801"/>
                <a:ext cx="10210800" cy="5141388"/>
              </a:xfrm>
            </p:spPr>
            <p:txBody>
              <a:bodyPr>
                <a:normAutofit/>
              </a:bodyPr>
              <a:lstStyle/>
              <a:p>
                <a:r>
                  <a:rPr lang="en-US" sz="2400" dirty="0">
                    <a:cs typeface="Times New Roman" panose="02020603050405020304" pitchFamily="18" charset="0"/>
                  </a:rPr>
                  <a:t>A random variable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b="0" dirty="0">
                    <a:cs typeface="Times New Roman" panose="02020603050405020304" pitchFamily="18" charset="0"/>
                  </a:rPr>
                  <a:t> has </a:t>
                </a:r>
                <a:r>
                  <a:rPr lang="en-US" sz="2400" dirty="0">
                    <a:cs typeface="Times New Roman" panose="02020603050405020304" pitchFamily="18" charset="0"/>
                  </a:rPr>
                  <a:t>a </a:t>
                </a:r>
                <a:r>
                  <a:rPr lang="en-US" sz="2400" b="1" dirty="0">
                    <a:cs typeface="Times New Roman" panose="02020603050405020304" pitchFamily="18" charset="0"/>
                  </a:rPr>
                  <a:t>variance </a:t>
                </a:r>
                <a:r>
                  <a:rPr lang="en-US" sz="2400" dirty="0">
                    <a:cs typeface="Times New Roman" panose="02020603050405020304" pitchFamily="18" charset="0"/>
                  </a:rPr>
                  <a:t>to describe how much “spread” there is from the average: </a:t>
                </a:r>
              </a:p>
              <a:p>
                <a:pPr marL="0" indent="0">
                  <a:buNone/>
                </a:pPr>
                <a14:m>
                  <m:oMathPara xmlns:m="http://schemas.openxmlformats.org/officeDocument/2006/math">
                    <m:oMath>
                      <m:r>
                        <a:rPr lang="en-US" sz="2400" b="0" i="1" smtClean="0">
                          <a:latin typeface="Cambria Math" panose="02040503050406030204" pitchFamily="18" charset="0"/>
                          <a:cs typeface="Times New Roman" panose="02020603050405020304" pitchFamily="18" charset="0"/>
                        </a:rPr>
                        <m:t>𝕍</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𝑋</m:t>
                          </m:r>
                        </m:e>
                      </m:d>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𝔼</m:t>
                          </m:r>
                          <m:r>
                            <a:rPr lang="en-US" sz="2400" b="0" i="1" smtClean="0">
                              <a:latin typeface="Cambria Math" panose="02040503050406030204" pitchFamily="18" charset="0"/>
                              <a:cs typeface="Times New Roman" panose="02020603050405020304" pitchFamily="18" charset="0"/>
                            </a:rPr>
                            <m:t>[</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𝔼</m:t>
                              </m:r>
                              <m:sSup>
                                <m:sSupPr>
                                  <m:ctrlPr>
                                    <a:rPr lang="en-US" sz="2400" b="0" i="1" smtClean="0">
                                      <a:latin typeface="Cambria Math" panose="02040503050406030204" pitchFamily="18" charset="0"/>
                                      <a:cs typeface="Times New Roman" panose="02020603050405020304" pitchFamily="18" charset="0"/>
                                    </a:rPr>
                                  </m:ctrlPr>
                                </m:sSupPr>
                                <m:e>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𝑋</m:t>
                                      </m:r>
                                    </m:e>
                                  </m:d>
                                </m:e>
                                <m:sup>
                                  <m:r>
                                    <a:rPr lang="en-US" sz="2400" b="0" i="1" smtClean="0">
                                      <a:latin typeface="Cambria Math" panose="02040503050406030204" pitchFamily="18" charset="0"/>
                                      <a:cs typeface="Times New Roman" panose="02020603050405020304" pitchFamily="18" charset="0"/>
                                    </a:rPr>
                                    <m:t>2</m:t>
                                  </m:r>
                                </m:sup>
                              </m:sSup>
                            </m:e>
                          </m:d>
                          <m:r>
                            <a:rPr lang="en-US" sz="2400" b="0" i="1" smtClean="0">
                              <a:latin typeface="Cambria Math" panose="02040503050406030204" pitchFamily="18" charset="0"/>
                              <a:cs typeface="Times New Roman" panose="02020603050405020304" pitchFamily="18" charset="0"/>
                            </a:rPr>
                            <m:t>]</m:t>
                          </m:r>
                        </m:e>
                        <m:sub/>
                      </m:sSub>
                    </m:oMath>
                  </m:oMathPara>
                </a14:m>
                <a:endParaRPr lang="en-US" sz="2400" b="0" i="1" dirty="0">
                  <a:latin typeface="Cambria Math" panose="02040503050406030204" pitchFamily="18" charset="0"/>
                  <a:cs typeface="Times New Roman" panose="02020603050405020304" pitchFamily="18" charset="0"/>
                </a:endParaRPr>
              </a:p>
              <a:p>
                <a:pPr marL="0" indent="0">
                  <a:buNone/>
                </a:pPr>
                <a14:m>
                  <m:oMathPara xmlns:m="http://schemas.openxmlformats.org/officeDocument/2006/math">
                    <m:oMath>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𝔼</m:t>
                      </m:r>
                      <m:d>
                        <m:dPr>
                          <m:begChr m:val="["/>
                          <m:endChr m:val="]"/>
                          <m:ctrlPr>
                            <a:rPr lang="en-US" sz="2400" b="0" i="1" smtClean="0">
                              <a:latin typeface="Cambria Math" panose="02040503050406030204" pitchFamily="18" charset="0"/>
                              <a:cs typeface="Times New Roman" panose="02020603050405020304" pitchFamily="18" charset="0"/>
                            </a:rPr>
                          </m:ctrlPr>
                        </m:dPr>
                        <m:e>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𝑋</m:t>
                              </m:r>
                            </m:e>
                            <m:sup>
                              <m:r>
                                <a:rPr lang="en-US" sz="2400" b="0" i="1" smtClean="0">
                                  <a:latin typeface="Cambria Math" panose="02040503050406030204" pitchFamily="18" charset="0"/>
                                  <a:cs typeface="Times New Roman" panose="02020603050405020304" pitchFamily="18" charset="0"/>
                                </a:rPr>
                                <m:t>2</m:t>
                              </m:r>
                            </m:sup>
                          </m:sSup>
                        </m:e>
                      </m:d>
                      <m:r>
                        <a:rPr lang="en-US" sz="2400" b="0" i="1" smtClean="0">
                          <a:latin typeface="Cambria Math" panose="02040503050406030204" pitchFamily="18" charset="0"/>
                          <a:cs typeface="Times New Roman" panose="02020603050405020304" pitchFamily="18" charset="0"/>
                        </a:rPr>
                        <m:t>−</m:t>
                      </m:r>
                      <m:sSup>
                        <m:sSupPr>
                          <m:ctrlPr>
                            <a:rPr lang="en-US" sz="2400" b="0" i="1" smtClean="0">
                              <a:latin typeface="Cambria Math" panose="02040503050406030204" pitchFamily="18" charset="0"/>
                              <a:cs typeface="Times New Roman" panose="02020603050405020304" pitchFamily="18" charset="0"/>
                            </a:rPr>
                          </m:ctrlPr>
                        </m:sSupPr>
                        <m:e>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𝔼</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𝑋</m:t>
                                  </m:r>
                                </m:e>
                              </m:d>
                            </m:e>
                          </m:d>
                        </m:e>
                        <m:sup>
                          <m:r>
                            <a:rPr lang="en-US" sz="2400" b="0" i="1" smtClean="0">
                              <a:latin typeface="Cambria Math" panose="02040503050406030204" pitchFamily="18" charset="0"/>
                              <a:cs typeface="Times New Roman" panose="02020603050405020304" pitchFamily="18" charset="0"/>
                            </a:rPr>
                            <m:t>2</m:t>
                          </m:r>
                        </m:sup>
                      </m:sSup>
                    </m:oMath>
                  </m:oMathPara>
                </a14:m>
                <a:endParaRPr lang="en-US" sz="2400" b="0" dirty="0">
                  <a:cs typeface="Times New Roman" panose="02020603050405020304" pitchFamily="18" charset="0"/>
                </a:endParaRPr>
              </a:p>
              <a:p>
                <a:pPr lvl="1"/>
                <a:r>
                  <a:rPr lang="en-US" sz="2400" dirty="0">
                    <a:cs typeface="Times New Roman" panose="02020603050405020304" pitchFamily="18" charset="0"/>
                  </a:rPr>
                  <a:t>Example: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 </m:t>
                    </m:r>
                    <m:r>
                      <m:rPr>
                        <m:lit/>
                      </m:rP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−1, 0, 1</m:t>
                    </m:r>
                    <m:r>
                      <m:rPr>
                        <m:lit/>
                      </m:rP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with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𝑝</m:t>
                    </m:r>
                    <m:r>
                      <a:rPr lang="en-US" sz="2400" b="0" i="1" smtClean="0">
                        <a:latin typeface="Cambria Math" panose="02040503050406030204" pitchFamily="18" charset="0"/>
                        <a:cs typeface="Times New Roman" panose="02020603050405020304" pitchFamily="18" charset="0"/>
                      </a:rPr>
                      <m:t>= </m:t>
                    </m:r>
                    <m:r>
                      <m:rPr>
                        <m:lit/>
                      </m:rP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.2, .5, .3</m:t>
                    </m:r>
                    <m:r>
                      <m:rPr>
                        <m:lit/>
                      </m:rP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what is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𝕍</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a:t>
                </a:r>
              </a:p>
              <a:p>
                <a:pPr lvl="1"/>
                <a:endParaRPr lang="en-US" sz="2400" dirty="0">
                  <a:cs typeface="Times New Roman" panose="02020603050405020304" pitchFamily="18" charset="0"/>
                </a:endParaRPr>
              </a:p>
              <a:p>
                <a:pPr lvl="1"/>
                <a:endParaRPr lang="en-US" sz="2400" dirty="0">
                  <a:cs typeface="Times New Roman" panose="02020603050405020304" pitchFamily="18" charset="0"/>
                </a:endParaRPr>
              </a:p>
              <a:p>
                <a:pPr marL="274320" lvl="1" indent="0">
                  <a:buNone/>
                </a:pPr>
                <a:endParaRPr lang="en-US" sz="240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0" y="1066801"/>
                <a:ext cx="10210800" cy="5141388"/>
              </a:xfrm>
              <a:blipFill>
                <a:blip r:embed="rId3"/>
                <a:stretch>
                  <a:fillRect l="-478" t="-1305"/>
                </a:stretch>
              </a:blipFill>
            </p:spPr>
            <p:txBody>
              <a:bodyPr/>
              <a:lstStyle/>
              <a:p>
                <a:r>
                  <a:rPr lang="en-US">
                    <a:noFill/>
                  </a:rPr>
                  <a:t> </a:t>
                </a:r>
              </a:p>
            </p:txBody>
          </p:sp>
        </mc:Fallback>
      </mc:AlternateContent>
    </p:spTree>
    <p:extLst>
      <p:ext uri="{BB962C8B-B14F-4D97-AF65-F5344CB8AC3E}">
        <p14:creationId xmlns:p14="http://schemas.microsoft.com/office/powerpoint/2010/main" val="41276286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7269480" cy="624840"/>
          </a:xfrm>
        </p:spPr>
        <p:txBody>
          <a:bodyPr>
            <a:normAutofit fontScale="90000"/>
          </a:bodyPr>
          <a:lstStyle/>
          <a:p>
            <a:r>
              <a:rPr lang="en-US" dirty="0">
                <a:latin typeface="Times New Roman" panose="02020603050405020304" pitchFamily="18" charset="0"/>
                <a:cs typeface="Times New Roman" panose="02020603050405020304" pitchFamily="18" charset="0"/>
              </a:rPr>
              <a:t>Variance of Random Variables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1" y="1066801"/>
                <a:ext cx="10363200" cy="5141388"/>
              </a:xfrm>
            </p:spPr>
            <p:txBody>
              <a:bodyPr>
                <a:noAutofit/>
              </a:bodyPr>
              <a:lstStyle/>
              <a:p>
                <a:r>
                  <a:rPr lang="en-US" sz="2400" dirty="0">
                    <a:cs typeface="Times New Roman" panose="02020603050405020304" pitchFamily="18" charset="0"/>
                  </a:rPr>
                  <a:t>A random variable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b="0" dirty="0">
                    <a:cs typeface="Times New Roman" panose="02020603050405020304" pitchFamily="18" charset="0"/>
                  </a:rPr>
                  <a:t> has </a:t>
                </a:r>
                <a:r>
                  <a:rPr lang="en-US" sz="2400" dirty="0">
                    <a:cs typeface="Times New Roman" panose="02020603050405020304" pitchFamily="18" charset="0"/>
                  </a:rPr>
                  <a:t>a </a:t>
                </a:r>
                <a:r>
                  <a:rPr lang="en-US" sz="2400" b="1" dirty="0">
                    <a:cs typeface="Times New Roman" panose="02020603050405020304" pitchFamily="18" charset="0"/>
                  </a:rPr>
                  <a:t>variance </a:t>
                </a:r>
                <a:r>
                  <a:rPr lang="en-US" sz="2400" dirty="0">
                    <a:cs typeface="Times New Roman" panose="02020603050405020304" pitchFamily="18" charset="0"/>
                  </a:rPr>
                  <a:t>to describe how much “spread” there is from the average: </a:t>
                </a:r>
              </a:p>
              <a:p>
                <a:pPr marL="0" indent="0">
                  <a:buNone/>
                </a:pPr>
                <a14:m>
                  <m:oMathPara xmlns:m="http://schemas.openxmlformats.org/officeDocument/2006/math">
                    <m:oMath>
                      <m:r>
                        <a:rPr lang="en-US" sz="2400" b="0" i="1" smtClean="0">
                          <a:latin typeface="Cambria Math" panose="02040503050406030204" pitchFamily="18" charset="0"/>
                          <a:cs typeface="Times New Roman" panose="02020603050405020304" pitchFamily="18" charset="0"/>
                        </a:rPr>
                        <m:t>𝕍</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𝑋</m:t>
                          </m:r>
                        </m:e>
                      </m:d>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𝔼</m:t>
                          </m:r>
                          <m:r>
                            <a:rPr lang="en-US" sz="2400" b="0" i="1" smtClean="0">
                              <a:latin typeface="Cambria Math" panose="02040503050406030204" pitchFamily="18" charset="0"/>
                              <a:cs typeface="Times New Roman" panose="02020603050405020304" pitchFamily="18" charset="0"/>
                            </a:rPr>
                            <m:t>[</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𝔼</m:t>
                              </m:r>
                              <m:sSup>
                                <m:sSupPr>
                                  <m:ctrlPr>
                                    <a:rPr lang="en-US" sz="2400" b="0" i="1" smtClean="0">
                                      <a:latin typeface="Cambria Math" panose="02040503050406030204" pitchFamily="18" charset="0"/>
                                      <a:cs typeface="Times New Roman" panose="02020603050405020304" pitchFamily="18" charset="0"/>
                                    </a:rPr>
                                  </m:ctrlPr>
                                </m:sSupPr>
                                <m:e>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𝑋</m:t>
                                      </m:r>
                                    </m:e>
                                  </m:d>
                                </m:e>
                                <m:sup>
                                  <m:r>
                                    <a:rPr lang="en-US" sz="2400" b="0" i="1" smtClean="0">
                                      <a:latin typeface="Cambria Math" panose="02040503050406030204" pitchFamily="18" charset="0"/>
                                      <a:cs typeface="Times New Roman" panose="02020603050405020304" pitchFamily="18" charset="0"/>
                                    </a:rPr>
                                    <m:t>2</m:t>
                                  </m:r>
                                </m:sup>
                              </m:sSup>
                            </m:e>
                          </m:d>
                          <m:r>
                            <a:rPr lang="en-US" sz="2400" b="0" i="1" smtClean="0">
                              <a:latin typeface="Cambria Math" panose="02040503050406030204" pitchFamily="18" charset="0"/>
                              <a:cs typeface="Times New Roman" panose="02020603050405020304" pitchFamily="18" charset="0"/>
                            </a:rPr>
                            <m:t>]</m:t>
                          </m:r>
                        </m:e>
                        <m:sub/>
                      </m:sSub>
                    </m:oMath>
                  </m:oMathPara>
                </a14:m>
                <a:endParaRPr lang="en-US" sz="2400" b="0" i="1" dirty="0">
                  <a:latin typeface="Cambria Math" panose="02040503050406030204" pitchFamily="18" charset="0"/>
                  <a:cs typeface="Times New Roman" panose="02020603050405020304" pitchFamily="18" charset="0"/>
                </a:endParaRPr>
              </a:p>
              <a:p>
                <a:pPr marL="0" indent="0">
                  <a:buNone/>
                </a:pPr>
                <a14:m>
                  <m:oMathPara xmlns:m="http://schemas.openxmlformats.org/officeDocument/2006/math">
                    <m:oMath>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𝔼</m:t>
                      </m:r>
                      <m:d>
                        <m:dPr>
                          <m:begChr m:val="["/>
                          <m:endChr m:val="]"/>
                          <m:ctrlPr>
                            <a:rPr lang="en-US" sz="2400" b="0" i="1" smtClean="0">
                              <a:latin typeface="Cambria Math" panose="02040503050406030204" pitchFamily="18" charset="0"/>
                              <a:cs typeface="Times New Roman" panose="02020603050405020304" pitchFamily="18" charset="0"/>
                            </a:rPr>
                          </m:ctrlPr>
                        </m:dPr>
                        <m:e>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𝑋</m:t>
                              </m:r>
                            </m:e>
                            <m:sup>
                              <m:r>
                                <a:rPr lang="en-US" sz="2400" b="0" i="1" smtClean="0">
                                  <a:latin typeface="Cambria Math" panose="02040503050406030204" pitchFamily="18" charset="0"/>
                                  <a:cs typeface="Times New Roman" panose="02020603050405020304" pitchFamily="18" charset="0"/>
                                </a:rPr>
                                <m:t>2</m:t>
                              </m:r>
                            </m:sup>
                          </m:sSup>
                        </m:e>
                      </m:d>
                      <m:r>
                        <a:rPr lang="en-US" sz="2400" b="0" i="1" smtClean="0">
                          <a:latin typeface="Cambria Math" panose="02040503050406030204" pitchFamily="18" charset="0"/>
                          <a:cs typeface="Times New Roman" panose="02020603050405020304" pitchFamily="18" charset="0"/>
                        </a:rPr>
                        <m:t>−</m:t>
                      </m:r>
                      <m:sSup>
                        <m:sSupPr>
                          <m:ctrlPr>
                            <a:rPr lang="en-US" sz="2400" b="0" i="1" smtClean="0">
                              <a:latin typeface="Cambria Math" panose="02040503050406030204" pitchFamily="18" charset="0"/>
                              <a:cs typeface="Times New Roman" panose="02020603050405020304" pitchFamily="18" charset="0"/>
                            </a:rPr>
                          </m:ctrlPr>
                        </m:sSupPr>
                        <m:e>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𝔼</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𝑋</m:t>
                                  </m:r>
                                </m:e>
                              </m:d>
                            </m:e>
                          </m:d>
                        </m:e>
                        <m:sup>
                          <m:r>
                            <a:rPr lang="en-US" sz="2400" b="0" i="1" smtClean="0">
                              <a:latin typeface="Cambria Math" panose="02040503050406030204" pitchFamily="18" charset="0"/>
                              <a:cs typeface="Times New Roman" panose="02020603050405020304" pitchFamily="18" charset="0"/>
                            </a:rPr>
                            <m:t>2</m:t>
                          </m:r>
                        </m:sup>
                      </m:sSup>
                    </m:oMath>
                  </m:oMathPara>
                </a14:m>
                <a:endParaRPr lang="en-US" sz="2400" b="0" dirty="0">
                  <a:cs typeface="Times New Roman" panose="02020603050405020304" pitchFamily="18" charset="0"/>
                </a:endParaRPr>
              </a:p>
              <a:p>
                <a:pPr lvl="1"/>
                <a:r>
                  <a:rPr lang="en-US" sz="2400" dirty="0">
                    <a:cs typeface="Times New Roman" panose="02020603050405020304" pitchFamily="18" charset="0"/>
                  </a:rPr>
                  <a:t>Example: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 </m:t>
                    </m:r>
                    <m:r>
                      <m:rPr>
                        <m:lit/>
                      </m:rP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−1, 0, 1</m:t>
                    </m:r>
                    <m:r>
                      <m:rPr>
                        <m:lit/>
                      </m:rP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with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𝑝</m:t>
                    </m:r>
                    <m:r>
                      <a:rPr lang="en-US" sz="2400" b="0" i="1" smtClean="0">
                        <a:latin typeface="Cambria Math" panose="02040503050406030204" pitchFamily="18" charset="0"/>
                        <a:cs typeface="Times New Roman" panose="02020603050405020304" pitchFamily="18" charset="0"/>
                      </a:rPr>
                      <m:t>= </m:t>
                    </m:r>
                    <m:r>
                      <m:rPr>
                        <m:lit/>
                      </m:rP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.2, .5, .3</m:t>
                    </m:r>
                    <m:r>
                      <m:rPr>
                        <m:lit/>
                      </m:rP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what is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𝕍</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a:t>
                </a:r>
              </a:p>
              <a:p>
                <a:pPr lvl="1"/>
                <a:endParaRPr lang="en-US" sz="2400" dirty="0">
                  <a:cs typeface="Times New Roman" panose="02020603050405020304" pitchFamily="18" charset="0"/>
                </a:endParaRPr>
              </a:p>
              <a:p>
                <a:pPr lvl="1"/>
                <a:endParaRPr lang="en-US" sz="2400" dirty="0">
                  <a:cs typeface="Times New Roman" panose="02020603050405020304" pitchFamily="18" charset="0"/>
                </a:endParaRPr>
              </a:p>
              <a:p>
                <a:r>
                  <a:rPr lang="en-US" sz="2400" dirty="0">
                    <a:cs typeface="Times New Roman" panose="02020603050405020304" pitchFamily="18" charset="0"/>
                  </a:rPr>
                  <a:t>In practice, estimated as </a:t>
                </a:r>
                <a14:m>
                  <m:oMath xmlns:m="http://schemas.openxmlformats.org/officeDocument/2006/math">
                    <m:acc>
                      <m:accPr>
                        <m:chr m:val="̂"/>
                        <m:ctrlPr>
                          <a:rPr lang="en-US" sz="2400" b="0" i="1" smtClean="0">
                            <a:latin typeface="Cambria Math" panose="02040503050406030204" pitchFamily="18" charset="0"/>
                            <a:cs typeface="Times New Roman" panose="02020603050405020304" pitchFamily="18" charset="0"/>
                          </a:rPr>
                        </m:ctrlPr>
                      </m:accPr>
                      <m:e>
                        <m:r>
                          <a:rPr lang="en-US" sz="2400" b="0" i="1" smtClean="0">
                            <a:latin typeface="Cambria Math" panose="02040503050406030204" pitchFamily="18" charset="0"/>
                            <a:cs typeface="Times New Roman" panose="02020603050405020304" pitchFamily="18" charset="0"/>
                          </a:rPr>
                          <m:t>𝑆</m:t>
                        </m:r>
                      </m:e>
                    </m:acc>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1</m:t>
                        </m:r>
                      </m:num>
                      <m:den>
                        <m:r>
                          <a:rPr lang="en-US" sz="2400" b="0" i="1" smtClean="0">
                            <a:latin typeface="Cambria Math" panose="02040503050406030204" pitchFamily="18" charset="0"/>
                            <a:cs typeface="Times New Roman" panose="02020603050405020304" pitchFamily="18" charset="0"/>
                          </a:rPr>
                          <m:t>𝑛</m:t>
                        </m:r>
                        <m:r>
                          <a:rPr lang="en-US" sz="2400" b="0" i="1" smtClean="0">
                            <a:latin typeface="Cambria Math" panose="02040503050406030204" pitchFamily="18" charset="0"/>
                            <a:cs typeface="Times New Roman" panose="02020603050405020304" pitchFamily="18" charset="0"/>
                          </a:rPr>
                          <m:t>−1</m:t>
                        </m:r>
                      </m:den>
                    </m:f>
                    <m:nary>
                      <m:naryPr>
                        <m:chr m:val="∑"/>
                        <m:ctrlPr>
                          <a:rPr lang="en-US" sz="2400" b="0" i="1" smtClean="0">
                            <a:latin typeface="Cambria Math" panose="02040503050406030204" pitchFamily="18" charset="0"/>
                            <a:cs typeface="Times New Roman" panose="02020603050405020304" pitchFamily="18" charset="0"/>
                          </a:rPr>
                        </m:ctrlPr>
                      </m:naryPr>
                      <m:sub>
                        <m:r>
                          <a:rPr lang="en-US" sz="2400" b="0" i="1" smtClean="0">
                            <a:latin typeface="Cambria Math" panose="02040503050406030204" pitchFamily="18" charset="0"/>
                            <a:cs typeface="Times New Roman" panose="02020603050405020304" pitchFamily="18" charset="0"/>
                          </a:rPr>
                          <m:t>𝑖</m:t>
                        </m:r>
                      </m:sub>
                      <m:sup>
                        <m:r>
                          <a:rPr lang="en-US" sz="2400" b="0" i="1" smtClean="0">
                            <a:latin typeface="Cambria Math" panose="02040503050406030204" pitchFamily="18" charset="0"/>
                            <a:cs typeface="Times New Roman" panose="02020603050405020304" pitchFamily="18" charset="0"/>
                          </a:rPr>
                          <m:t>𝑛</m:t>
                        </m:r>
                      </m:sup>
                      <m:e>
                        <m:sSup>
                          <m:sSupPr>
                            <m:ctrlPr>
                              <a:rPr lang="en-US" sz="2400" b="0" i="1" smtClean="0">
                                <a:latin typeface="Cambria Math" panose="02040503050406030204" pitchFamily="18" charset="0"/>
                                <a:cs typeface="Times New Roman" panose="02020603050405020304" pitchFamily="18" charset="0"/>
                              </a:rPr>
                            </m:ctrlPr>
                          </m:sSupPr>
                          <m:e>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bar>
                                  <m:barPr>
                                    <m:pos m:val="top"/>
                                    <m:ctrlPr>
                                      <a:rPr lang="en-US" sz="2400" b="0" i="1" smtClean="0">
                                        <a:latin typeface="Cambria Math" panose="02040503050406030204" pitchFamily="18" charset="0"/>
                                        <a:cs typeface="Times New Roman" panose="02020603050405020304" pitchFamily="18" charset="0"/>
                                      </a:rPr>
                                    </m:ctrlPr>
                                  </m:barPr>
                                  <m:e>
                                    <m:r>
                                      <a:rPr lang="en-US" sz="2400" b="0" i="1" smtClean="0">
                                        <a:latin typeface="Cambria Math" panose="02040503050406030204" pitchFamily="18" charset="0"/>
                                        <a:cs typeface="Times New Roman" panose="02020603050405020304" pitchFamily="18" charset="0"/>
                                      </a:rPr>
                                      <m:t>𝑥</m:t>
                                    </m:r>
                                  </m:e>
                                </m:bar>
                              </m:e>
                            </m:d>
                          </m:e>
                          <m:sup>
                            <m:r>
                              <a:rPr lang="en-US" sz="2400" b="0" i="1" smtClean="0">
                                <a:latin typeface="Cambria Math" panose="02040503050406030204" pitchFamily="18" charset="0"/>
                                <a:cs typeface="Times New Roman" panose="02020603050405020304" pitchFamily="18" charset="0"/>
                              </a:rPr>
                              <m:t>2</m:t>
                            </m:r>
                          </m:sup>
                        </m:sSup>
                      </m:e>
                    </m:nary>
                  </m:oMath>
                </a14:m>
                <a:endParaRPr lang="en-US" sz="2400" dirty="0">
                  <a:cs typeface="Times New Roman" panose="02020603050405020304" pitchFamily="18" charset="0"/>
                </a:endParaRPr>
              </a:p>
              <a:p>
                <a:r>
                  <a:rPr lang="en-US" sz="2400" dirty="0">
                    <a:cs typeface="Times New Roman" panose="02020603050405020304" pitchFamily="18" charset="0"/>
                  </a:rPr>
                  <a:t>Properties of the variance operator: </a:t>
                </a:r>
              </a:p>
              <a:p>
                <a:pPr marL="731520" lvl="1" indent="-457200">
                  <a:buFont typeface="+mj-lt"/>
                  <a:buAutoNum type="arabicPeriod"/>
                </a:pPr>
                <a:r>
                  <a:rPr lang="en-US" sz="2400" dirty="0">
                    <a:cs typeface="Times New Roman" panose="02020603050405020304" pitchFamily="18" charset="0"/>
                  </a:rPr>
                  <a:t>Variance of a constant: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𝕍</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𝑐</m:t>
                        </m:r>
                      </m:e>
                    </m:d>
                    <m:r>
                      <a:rPr lang="en-US" sz="2400" b="0" i="1" smtClean="0">
                        <a:latin typeface="Cambria Math" panose="02040503050406030204" pitchFamily="18" charset="0"/>
                        <a:cs typeface="Times New Roman" panose="02020603050405020304" pitchFamily="18" charset="0"/>
                      </a:rPr>
                      <m:t>=0</m:t>
                    </m:r>
                  </m:oMath>
                </a14:m>
                <a:endParaRPr lang="en-US" sz="2400" dirty="0">
                  <a:cs typeface="Times New Roman" panose="02020603050405020304" pitchFamily="18" charset="0"/>
                </a:endParaRPr>
              </a:p>
              <a:p>
                <a:pPr marL="731520" lvl="1" indent="-457200">
                  <a:buFont typeface="+mj-lt"/>
                  <a:buAutoNum type="arabicPeriod"/>
                </a:pPr>
                <a:r>
                  <a:rPr lang="en-US" sz="2400" dirty="0">
                    <a:cs typeface="Times New Roman" panose="02020603050405020304" pitchFamily="18" charset="0"/>
                  </a:rPr>
                  <a:t>Variance of a line: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𝕍</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𝑎𝑋</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𝑏</m:t>
                        </m:r>
                      </m:e>
                    </m:d>
                    <m:r>
                      <a:rPr lang="en-US" sz="2400" b="0" i="1" smtClean="0">
                        <a:latin typeface="Cambria Math" panose="02040503050406030204" pitchFamily="18" charset="0"/>
                        <a:cs typeface="Times New Roman" panose="02020603050405020304" pitchFamily="18" charset="0"/>
                      </a:rPr>
                      <m:t>=</m:t>
                    </m:r>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𝑎</m:t>
                        </m:r>
                      </m:e>
                      <m:sup>
                        <m:r>
                          <a:rPr lang="en-US" sz="2400" b="0" i="1" smtClean="0">
                            <a:latin typeface="Cambria Math" panose="02040503050406030204" pitchFamily="18" charset="0"/>
                            <a:cs typeface="Times New Roman" panose="02020603050405020304" pitchFamily="18" charset="0"/>
                          </a:rPr>
                          <m:t>2</m:t>
                        </m:r>
                      </m:sup>
                    </m:sSup>
                    <m:r>
                      <a:rPr lang="en-US" sz="2400" b="0" i="1" smtClean="0">
                        <a:latin typeface="Cambria Math" panose="02040503050406030204" pitchFamily="18" charset="0"/>
                        <a:cs typeface="Times New Roman" panose="02020603050405020304" pitchFamily="18" charset="0"/>
                      </a:rPr>
                      <m:t>𝕍</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𝑋</m:t>
                        </m:r>
                      </m:e>
                    </m:d>
                  </m:oMath>
                </a14:m>
                <a:endParaRPr lang="en-US" sz="2400" b="0" dirty="0">
                  <a:cs typeface="Times New Roman" panose="02020603050405020304" pitchFamily="18" charset="0"/>
                </a:endParaRPr>
              </a:p>
              <a:p>
                <a:pPr marL="731520" lvl="1" indent="-457200">
                  <a:buFont typeface="+mj-lt"/>
                  <a:buAutoNum type="arabicPeriod"/>
                </a:pPr>
                <a:r>
                  <a:rPr lang="en-US" sz="2400" dirty="0">
                    <a:cs typeface="Times New Roman" panose="02020603050405020304" pitchFamily="18" charset="0"/>
                  </a:rPr>
                  <a:t>Variance is </a:t>
                </a:r>
                <a:r>
                  <a:rPr lang="en-US" sz="2400" i="1" dirty="0">
                    <a:cs typeface="Times New Roman" panose="02020603050405020304" pitchFamily="18" charset="0"/>
                  </a:rPr>
                  <a:t>not </a:t>
                </a:r>
                <a:r>
                  <a:rPr lang="en-US" sz="2400" dirty="0">
                    <a:cs typeface="Times New Roman" panose="02020603050405020304" pitchFamily="18" charset="0"/>
                  </a:rPr>
                  <a:t>linear: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𝕍</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𝑎𝑋</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𝑏𝑌</m:t>
                        </m:r>
                      </m:e>
                    </m:d>
                    <m:r>
                      <a:rPr lang="en-US" sz="2400" b="0" i="1" smtClean="0">
                        <a:latin typeface="Cambria Math" panose="02040503050406030204" pitchFamily="18" charset="0"/>
                        <a:cs typeface="Times New Roman" panose="02020603050405020304" pitchFamily="18" charset="0"/>
                      </a:rPr>
                      <m:t>=</m:t>
                    </m:r>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𝑎</m:t>
                        </m:r>
                      </m:e>
                      <m:sup>
                        <m:r>
                          <a:rPr lang="en-US" sz="2400" b="0" i="1" smtClean="0">
                            <a:latin typeface="Cambria Math" panose="02040503050406030204" pitchFamily="18" charset="0"/>
                            <a:cs typeface="Times New Roman" panose="02020603050405020304" pitchFamily="18" charset="0"/>
                          </a:rPr>
                          <m:t>2</m:t>
                        </m:r>
                      </m:sup>
                    </m:sSup>
                    <m:r>
                      <a:rPr lang="en-US" sz="2400" b="0" i="1" smtClean="0">
                        <a:latin typeface="Cambria Math" panose="02040503050406030204" pitchFamily="18" charset="0"/>
                        <a:cs typeface="Times New Roman" panose="02020603050405020304" pitchFamily="18" charset="0"/>
                      </a:rPr>
                      <m:t>𝕍</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𝑋</m:t>
                        </m:r>
                      </m:e>
                    </m:d>
                    <m:r>
                      <a:rPr lang="en-US" sz="2400" b="0" i="1" smtClean="0">
                        <a:latin typeface="Cambria Math" panose="02040503050406030204" pitchFamily="18" charset="0"/>
                        <a:cs typeface="Times New Roman" panose="02020603050405020304" pitchFamily="18" charset="0"/>
                      </a:rPr>
                      <m:t>+</m:t>
                    </m:r>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𝑏</m:t>
                        </m:r>
                      </m:e>
                      <m:sup>
                        <m:r>
                          <a:rPr lang="en-US" sz="2400" b="0" i="1" smtClean="0">
                            <a:latin typeface="Cambria Math" panose="02040503050406030204" pitchFamily="18" charset="0"/>
                            <a:cs typeface="Times New Roman" panose="02020603050405020304" pitchFamily="18" charset="0"/>
                          </a:rPr>
                          <m:t>2</m:t>
                        </m:r>
                      </m:sup>
                    </m:sSup>
                    <m:r>
                      <a:rPr lang="en-US" sz="2400" b="0" i="1" smtClean="0">
                        <a:latin typeface="Cambria Math" panose="02040503050406030204" pitchFamily="18" charset="0"/>
                        <a:cs typeface="Times New Roman" panose="02020603050405020304" pitchFamily="18" charset="0"/>
                      </a:rPr>
                      <m:t>𝕍</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𝑌</m:t>
                        </m:r>
                      </m:e>
                    </m:d>
                    <m:r>
                      <a:rPr lang="en-US" sz="2400" b="0" i="1" smtClean="0">
                        <a:latin typeface="Cambria Math" panose="02040503050406030204" pitchFamily="18" charset="0"/>
                        <a:cs typeface="Times New Roman" panose="02020603050405020304" pitchFamily="18" charset="0"/>
                      </a:rPr>
                      <m:t>+2</m:t>
                    </m:r>
                    <m:r>
                      <a:rPr lang="en-US" sz="2400" b="0" i="1" smtClean="0">
                        <a:latin typeface="Cambria Math" panose="02040503050406030204" pitchFamily="18" charset="0"/>
                        <a:cs typeface="Times New Roman" panose="02020603050405020304" pitchFamily="18" charset="0"/>
                      </a:rPr>
                      <m:t>𝑎𝑏</m:t>
                    </m:r>
                    <m:r>
                      <a:rPr lang="en-US" sz="2400" b="0" i="1" smtClean="0">
                        <a:latin typeface="Cambria Math" panose="02040503050406030204" pitchFamily="18" charset="0"/>
                        <a:cs typeface="Times New Roman" panose="02020603050405020304" pitchFamily="18" charset="0"/>
                      </a:rPr>
                      <m:t>∗</m:t>
                    </m:r>
                    <m:r>
                      <a:rPr lang="en-US" sz="2400" b="0" i="1" smtClean="0">
                        <a:solidFill>
                          <a:srgbClr val="0070C0"/>
                        </a:solidFill>
                        <a:latin typeface="Cambria Math" panose="02040503050406030204" pitchFamily="18" charset="0"/>
                        <a:cs typeface="Times New Roman" panose="02020603050405020304" pitchFamily="18" charset="0"/>
                      </a:rPr>
                      <m:t>𝐶𝑜𝑣</m:t>
                    </m:r>
                    <m:r>
                      <a:rPr lang="en-US" sz="2400" b="0" i="1" smtClean="0">
                        <a:solidFill>
                          <a:srgbClr val="0070C0"/>
                        </a:solidFill>
                        <a:latin typeface="Cambria Math" panose="02040503050406030204" pitchFamily="18" charset="0"/>
                        <a:cs typeface="Times New Roman" panose="02020603050405020304" pitchFamily="18" charset="0"/>
                      </a:rPr>
                      <m:t>(</m:t>
                    </m:r>
                    <m:r>
                      <a:rPr lang="en-US" sz="2400" b="0" i="1" smtClean="0">
                        <a:solidFill>
                          <a:srgbClr val="0070C0"/>
                        </a:solidFill>
                        <a:latin typeface="Cambria Math" panose="02040503050406030204" pitchFamily="18" charset="0"/>
                        <a:cs typeface="Times New Roman" panose="02020603050405020304" pitchFamily="18" charset="0"/>
                      </a:rPr>
                      <m:t>𝑋</m:t>
                    </m:r>
                    <m:r>
                      <a:rPr lang="en-US" sz="2400" b="0" i="1" smtClean="0">
                        <a:solidFill>
                          <a:srgbClr val="0070C0"/>
                        </a:solidFill>
                        <a:latin typeface="Cambria Math" panose="02040503050406030204" pitchFamily="18" charset="0"/>
                        <a:cs typeface="Times New Roman" panose="02020603050405020304" pitchFamily="18" charset="0"/>
                      </a:rPr>
                      <m:t>,</m:t>
                    </m:r>
                    <m:r>
                      <a:rPr lang="en-US" sz="2400" b="0" i="1" smtClean="0">
                        <a:solidFill>
                          <a:srgbClr val="0070C0"/>
                        </a:solidFill>
                        <a:latin typeface="Cambria Math" panose="02040503050406030204" pitchFamily="18" charset="0"/>
                        <a:cs typeface="Times New Roman" panose="02020603050405020304" pitchFamily="18" charset="0"/>
                      </a:rPr>
                      <m:t>𝑌</m:t>
                    </m:r>
                    <m:r>
                      <a:rPr lang="en-US" sz="2400" b="0" i="1" smtClean="0">
                        <a:solidFill>
                          <a:srgbClr val="0070C0"/>
                        </a:solidFill>
                        <a:latin typeface="Cambria Math" panose="02040503050406030204" pitchFamily="18" charset="0"/>
                        <a:cs typeface="Times New Roman" panose="02020603050405020304" pitchFamily="18" charset="0"/>
                      </a:rPr>
                      <m:t>)</m:t>
                    </m:r>
                  </m:oMath>
                </a14:m>
                <a:endParaRPr lang="en-US" sz="2400" dirty="0">
                  <a:solidFill>
                    <a:srgbClr val="0070C0"/>
                  </a:solidFill>
                  <a:cs typeface="Times New Roman" panose="02020603050405020304" pitchFamily="18" charset="0"/>
                </a:endParaRPr>
              </a:p>
              <a:p>
                <a:pPr marL="274320" lvl="1" indent="0">
                  <a:buNone/>
                </a:pPr>
                <a:endParaRPr lang="en-US" sz="240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1" y="1066801"/>
                <a:ext cx="10363200" cy="5141388"/>
              </a:xfrm>
              <a:blipFill>
                <a:blip r:embed="rId3"/>
                <a:stretch>
                  <a:fillRect l="-471" t="-1305" b="-3915"/>
                </a:stretch>
              </a:blipFill>
            </p:spPr>
            <p:txBody>
              <a:bodyPr/>
              <a:lstStyle/>
              <a:p>
                <a:r>
                  <a:rPr lang="en-US">
                    <a:noFill/>
                  </a:rPr>
                  <a:t> </a:t>
                </a:r>
              </a:p>
            </p:txBody>
          </p:sp>
        </mc:Fallback>
      </mc:AlternateContent>
    </p:spTree>
    <p:extLst>
      <p:ext uri="{BB962C8B-B14F-4D97-AF65-F5344CB8AC3E}">
        <p14:creationId xmlns:p14="http://schemas.microsoft.com/office/powerpoint/2010/main" val="12314972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59A64B-5C9A-4A9B-BA45-ADECED2E51D9}"/>
              </a:ext>
            </a:extLst>
          </p:cNvPr>
          <p:cNvSpPr>
            <a:spLocks noGrp="1"/>
          </p:cNvSpPr>
          <p:nvPr>
            <p:ph type="ctrTitle"/>
          </p:nvPr>
        </p:nvSpPr>
        <p:spPr/>
        <p:txBody>
          <a:bodyPr/>
          <a:lstStyle/>
          <a:p>
            <a:r>
              <a:rPr lang="en-US" dirty="0"/>
              <a:t>Regression</a:t>
            </a:r>
          </a:p>
        </p:txBody>
      </p:sp>
      <p:sp>
        <p:nvSpPr>
          <p:cNvPr id="5" name="Subtitle 4">
            <a:extLst>
              <a:ext uri="{FF2B5EF4-FFF2-40B4-BE49-F238E27FC236}">
                <a16:creationId xmlns:a16="http://schemas.microsoft.com/office/drawing/2014/main" id="{D52D9252-3DD8-4D35-8070-32332FBE25E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0575259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7269480" cy="624840"/>
          </a:xfrm>
        </p:spPr>
        <p:txBody>
          <a:bodyPr>
            <a:normAutofit fontScale="90000"/>
          </a:bodyPr>
          <a:lstStyle/>
          <a:p>
            <a:r>
              <a:rPr lang="en-US" dirty="0">
                <a:cs typeface="Times New Roman" panose="02020603050405020304" pitchFamily="18" charset="0"/>
              </a:rPr>
              <a:t>Population Model </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0"/>
                <a:ext cx="10363200" cy="5141388"/>
              </a:xfrm>
            </p:spPr>
            <p:txBody>
              <a:bodyPr>
                <a:normAutofit/>
              </a:bodyPr>
              <a:lstStyle/>
              <a:p>
                <a:pPr marL="0" indent="0">
                  <a:buNone/>
                </a:pPr>
                <a:r>
                  <a:rPr lang="en-US" sz="2400" b="0" dirty="0">
                    <a:cs typeface="Times New Roman" panose="02020603050405020304" pitchFamily="18" charset="0"/>
                  </a:rPr>
                  <a:t>We have a set of </a:t>
                </a:r>
                <a:r>
                  <a:rPr lang="en-US" sz="2400" b="1" dirty="0">
                    <a:cs typeface="Times New Roman" panose="02020603050405020304" pitchFamily="18" charset="0"/>
                  </a:rPr>
                  <a:t>data </a:t>
                </a:r>
                <a:r>
                  <a:rPr lang="en-US" sz="2400" dirty="0">
                    <a:cs typeface="Times New Roman" panose="02020603050405020304" pitchFamily="18" charset="0"/>
                  </a:rPr>
                  <a:t>that we want to model:</a:t>
                </a:r>
              </a:p>
              <a:p>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oMath>
                </a14:m>
                <a:r>
                  <a:rPr lang="en-US" sz="2400" dirty="0">
                    <a:cs typeface="Times New Roman" panose="02020603050405020304" pitchFamily="18" charset="0"/>
                  </a:rPr>
                  <a:t> is the dependent variable (outcome)</a:t>
                </a:r>
              </a:p>
              <a:p>
                <a14:m>
                  <m:oMath xmlns:m="http://schemas.openxmlformats.org/officeDocument/2006/math">
                    <m:r>
                      <a:rPr lang="en-US" sz="2400" b="0" i="1" smtClean="0">
                        <a:latin typeface="Cambria Math" panose="02040503050406030204" pitchFamily="18" charset="0"/>
                        <a:cs typeface="Times New Roman" panose="02020603050405020304" pitchFamily="18" charset="0"/>
                      </a:rPr>
                      <m:t>𝑥</m:t>
                    </m:r>
                  </m:oMath>
                </a14:m>
                <a:r>
                  <a:rPr lang="en-US" sz="2400" dirty="0">
                    <a:cs typeface="Times New Roman" panose="02020603050405020304" pitchFamily="18" charset="0"/>
                  </a:rPr>
                  <a:t> is the independent variable (treatment, demographics, etc.)</a:t>
                </a:r>
              </a:p>
              <a:p>
                <a:endParaRPr lang="en-US" sz="240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0"/>
                <a:ext cx="10363200" cy="5141388"/>
              </a:xfrm>
              <a:blipFill>
                <a:blip r:embed="rId3"/>
                <a:stretch>
                  <a:fillRect l="-882" t="-1305"/>
                </a:stretch>
              </a:blipFill>
            </p:spPr>
            <p:txBody>
              <a:bodyPr/>
              <a:lstStyle/>
              <a:p>
                <a:r>
                  <a:rPr lang="en-US">
                    <a:noFill/>
                  </a:rPr>
                  <a:t> </a:t>
                </a:r>
              </a:p>
            </p:txBody>
          </p:sp>
        </mc:Fallback>
      </mc:AlternateContent>
    </p:spTree>
    <p:extLst>
      <p:ext uri="{BB962C8B-B14F-4D97-AF65-F5344CB8AC3E}">
        <p14:creationId xmlns:p14="http://schemas.microsoft.com/office/powerpoint/2010/main" val="11963260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7269480" cy="624840"/>
          </a:xfrm>
        </p:spPr>
        <p:txBody>
          <a:bodyPr>
            <a:normAutofit fontScale="90000"/>
          </a:bodyPr>
          <a:lstStyle/>
          <a:p>
            <a:r>
              <a:rPr lang="en-US" dirty="0">
                <a:cs typeface="Times New Roman" panose="02020603050405020304" pitchFamily="18" charset="0"/>
              </a:rPr>
              <a:t>Population Model </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363200" cy="5141388"/>
              </a:xfrm>
            </p:spPr>
            <p:txBody>
              <a:bodyPr>
                <a:normAutofit/>
              </a:bodyPr>
              <a:lstStyle/>
              <a:p>
                <a:pPr marL="0" indent="0">
                  <a:buNone/>
                </a:pPr>
                <a:r>
                  <a:rPr lang="en-US" sz="2400" b="0" dirty="0">
                    <a:cs typeface="Times New Roman" panose="02020603050405020304" pitchFamily="18" charset="0"/>
                  </a:rPr>
                  <a:t>We have a set of </a:t>
                </a:r>
                <a:r>
                  <a:rPr lang="en-US" sz="2400" b="1" dirty="0">
                    <a:cs typeface="Times New Roman" panose="02020603050405020304" pitchFamily="18" charset="0"/>
                  </a:rPr>
                  <a:t>data </a:t>
                </a:r>
                <a:r>
                  <a:rPr lang="en-US" sz="2400" dirty="0">
                    <a:cs typeface="Times New Roman" panose="02020603050405020304" pitchFamily="18" charset="0"/>
                  </a:rPr>
                  <a:t>that we want to model:</a:t>
                </a:r>
              </a:p>
              <a:p>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oMath>
                </a14:m>
                <a:r>
                  <a:rPr lang="en-US" sz="2400" dirty="0">
                    <a:cs typeface="Times New Roman" panose="02020603050405020304" pitchFamily="18" charset="0"/>
                  </a:rPr>
                  <a:t> is the dependent variable (outcome)</a:t>
                </a:r>
              </a:p>
              <a:p>
                <a14:m>
                  <m:oMath xmlns:m="http://schemas.openxmlformats.org/officeDocument/2006/math">
                    <m:r>
                      <a:rPr lang="en-US" sz="2400" b="0" i="1" smtClean="0">
                        <a:latin typeface="Cambria Math" panose="02040503050406030204" pitchFamily="18" charset="0"/>
                        <a:cs typeface="Times New Roman" panose="02020603050405020304" pitchFamily="18" charset="0"/>
                      </a:rPr>
                      <m:t>𝑥</m:t>
                    </m:r>
                  </m:oMath>
                </a14:m>
                <a:r>
                  <a:rPr lang="en-US" sz="2400" dirty="0">
                    <a:cs typeface="Times New Roman" panose="02020603050405020304" pitchFamily="18" charset="0"/>
                  </a:rPr>
                  <a:t> is the independent variable (treatment, demographics, etc.)</a:t>
                </a:r>
              </a:p>
              <a:p>
                <a:r>
                  <a:rPr lang="en-US" sz="2400" dirty="0">
                    <a:cs typeface="Times New Roman" panose="02020603050405020304" pitchFamily="18" charset="0"/>
                  </a:rPr>
                  <a:t>We don’t believe the relationship is </a:t>
                </a:r>
                <a:r>
                  <a:rPr lang="en-US" sz="2400" b="1" dirty="0">
                    <a:cs typeface="Times New Roman" panose="02020603050405020304" pitchFamily="18" charset="0"/>
                  </a:rPr>
                  <a:t>deterministic </a:t>
                </a:r>
                <a:r>
                  <a:rPr lang="en-US" sz="2400" dirty="0">
                    <a:cs typeface="Times New Roman" panose="02020603050405020304" pitchFamily="18" charset="0"/>
                  </a:rPr>
                  <a:t>(why would we care otherwise?) so we assume there is some randomness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𝜀</m:t>
                    </m:r>
                  </m:oMath>
                </a14:m>
                <a:endParaRPr lang="en-US" sz="2400" dirty="0">
                  <a:cs typeface="Times New Roman" panose="02020603050405020304" pitchFamily="18" charset="0"/>
                </a:endParaRPr>
              </a:p>
              <a:p>
                <a:pPr marL="0" indent="0">
                  <a:buNone/>
                </a:pPr>
                <a:r>
                  <a:rPr lang="en-US" sz="2400" b="1" dirty="0">
                    <a:solidFill>
                      <a:schemeClr val="accent2">
                        <a:lumMod val="75000"/>
                      </a:schemeClr>
                    </a:solidFill>
                    <a:cs typeface="Times New Roman" panose="02020603050405020304" pitchFamily="18" charset="0"/>
                  </a:rPr>
                  <a:t>What’s the simplest mathematical relationship between these two variables that could exist?</a:t>
                </a:r>
              </a:p>
              <a:p>
                <a:endParaRPr lang="en-US" sz="240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363200" cy="5141388"/>
              </a:xfrm>
              <a:blipFill>
                <a:blip r:embed="rId3"/>
                <a:stretch>
                  <a:fillRect l="-882" t="-1305"/>
                </a:stretch>
              </a:blipFill>
            </p:spPr>
            <p:txBody>
              <a:bodyPr/>
              <a:lstStyle/>
              <a:p>
                <a:r>
                  <a:rPr lang="en-US">
                    <a:noFill/>
                  </a:rPr>
                  <a:t> </a:t>
                </a:r>
              </a:p>
            </p:txBody>
          </p:sp>
        </mc:Fallback>
      </mc:AlternateContent>
    </p:spTree>
    <p:extLst>
      <p:ext uri="{BB962C8B-B14F-4D97-AF65-F5344CB8AC3E}">
        <p14:creationId xmlns:p14="http://schemas.microsoft.com/office/powerpoint/2010/main" val="9526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7269480" cy="624840"/>
          </a:xfrm>
        </p:spPr>
        <p:txBody>
          <a:bodyPr>
            <a:normAutofit fontScale="90000"/>
          </a:bodyPr>
          <a:lstStyle/>
          <a:p>
            <a:r>
              <a:rPr lang="en-US" dirty="0">
                <a:cs typeface="Times New Roman" panose="02020603050405020304" pitchFamily="18" charset="0"/>
              </a:rPr>
              <a:t>Population Model </a:t>
            </a:r>
            <a:endParaRPr lang="en-US"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F10DB988-8E40-D738-13E8-6F1A57B0D5E1}"/>
              </a:ext>
            </a:extLst>
          </p:cNvPr>
          <p:cNvPicPr>
            <a:picLocks noGrp="1" noChangeAspect="1"/>
          </p:cNvPicPr>
          <p:nvPr>
            <p:ph idx="1"/>
          </p:nvPr>
        </p:nvPicPr>
        <p:blipFill>
          <a:blip r:embed="rId3"/>
          <a:stretch>
            <a:fillRect/>
          </a:stretch>
        </p:blipFill>
        <p:spPr>
          <a:xfrm>
            <a:off x="615537" y="962232"/>
            <a:ext cx="10541475" cy="5362368"/>
          </a:xfrm>
        </p:spPr>
      </p:pic>
    </p:spTree>
    <p:extLst>
      <p:ext uri="{BB962C8B-B14F-4D97-AF65-F5344CB8AC3E}">
        <p14:creationId xmlns:p14="http://schemas.microsoft.com/office/powerpoint/2010/main" val="13767421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7269480" cy="624840"/>
          </a:xfrm>
        </p:spPr>
        <p:txBody>
          <a:bodyPr>
            <a:normAutofit fontScale="90000"/>
          </a:bodyPr>
          <a:lstStyle/>
          <a:p>
            <a:r>
              <a:rPr lang="en-US" dirty="0">
                <a:cs typeface="Times New Roman" panose="02020603050405020304" pitchFamily="18" charset="0"/>
              </a:rPr>
              <a:t>Population Model </a:t>
            </a:r>
            <a:endParaRPr lang="en-US"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F10DB988-8E40-D738-13E8-6F1A57B0D5E1}"/>
              </a:ext>
            </a:extLst>
          </p:cNvPr>
          <p:cNvPicPr>
            <a:picLocks noGrp="1" noChangeAspect="1"/>
          </p:cNvPicPr>
          <p:nvPr>
            <p:ph idx="1"/>
          </p:nvPr>
        </p:nvPicPr>
        <p:blipFill>
          <a:blip r:embed="rId3"/>
          <a:stretch>
            <a:fillRect/>
          </a:stretch>
        </p:blipFill>
        <p:spPr>
          <a:xfrm>
            <a:off x="615537" y="962232"/>
            <a:ext cx="10541475" cy="5362368"/>
          </a:xfrm>
        </p:spPr>
      </p:pic>
      <p:pic>
        <p:nvPicPr>
          <p:cNvPr id="4" name="Picture 3">
            <a:extLst>
              <a:ext uri="{FF2B5EF4-FFF2-40B4-BE49-F238E27FC236}">
                <a16:creationId xmlns:a16="http://schemas.microsoft.com/office/drawing/2014/main" id="{AAE19422-D5A9-07E1-A9A3-5A52AC380DF6}"/>
              </a:ext>
            </a:extLst>
          </p:cNvPr>
          <p:cNvPicPr>
            <a:picLocks noChangeAspect="1"/>
          </p:cNvPicPr>
          <p:nvPr/>
        </p:nvPicPr>
        <p:blipFill>
          <a:blip r:embed="rId4"/>
          <a:stretch>
            <a:fillRect/>
          </a:stretch>
        </p:blipFill>
        <p:spPr>
          <a:xfrm>
            <a:off x="628403" y="962232"/>
            <a:ext cx="10499628" cy="5362368"/>
          </a:xfrm>
          <a:prstGeom prst="rect">
            <a:avLst/>
          </a:prstGeom>
        </p:spPr>
      </p:pic>
    </p:spTree>
    <p:extLst>
      <p:ext uri="{BB962C8B-B14F-4D97-AF65-F5344CB8AC3E}">
        <p14:creationId xmlns:p14="http://schemas.microsoft.com/office/powerpoint/2010/main" val="33979545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7269480" cy="624840"/>
          </a:xfrm>
        </p:spPr>
        <p:txBody>
          <a:bodyPr>
            <a:normAutofit fontScale="90000"/>
          </a:bodyPr>
          <a:lstStyle/>
          <a:p>
            <a:r>
              <a:rPr lang="en-US" dirty="0">
                <a:cs typeface="Times New Roman" panose="02020603050405020304" pitchFamily="18" charset="0"/>
              </a:rPr>
              <a:t>Population Model </a:t>
            </a:r>
            <a:endParaRPr lang="en-US"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F10DB988-8E40-D738-13E8-6F1A57B0D5E1}"/>
              </a:ext>
            </a:extLst>
          </p:cNvPr>
          <p:cNvPicPr>
            <a:picLocks noGrp="1" noChangeAspect="1"/>
          </p:cNvPicPr>
          <p:nvPr>
            <p:ph idx="1"/>
          </p:nvPr>
        </p:nvPicPr>
        <p:blipFill>
          <a:blip r:embed="rId3"/>
          <a:stretch>
            <a:fillRect/>
          </a:stretch>
        </p:blipFill>
        <p:spPr>
          <a:xfrm>
            <a:off x="615537" y="962232"/>
            <a:ext cx="10541475" cy="5362368"/>
          </a:xfrm>
        </p:spPr>
      </p:pic>
      <p:pic>
        <p:nvPicPr>
          <p:cNvPr id="6" name="Picture 5">
            <a:extLst>
              <a:ext uri="{FF2B5EF4-FFF2-40B4-BE49-F238E27FC236}">
                <a16:creationId xmlns:a16="http://schemas.microsoft.com/office/drawing/2014/main" id="{7428D2AB-5CBE-A529-971A-E6255C80C950}"/>
              </a:ext>
            </a:extLst>
          </p:cNvPr>
          <p:cNvPicPr>
            <a:picLocks noChangeAspect="1"/>
          </p:cNvPicPr>
          <p:nvPr/>
        </p:nvPicPr>
        <p:blipFill>
          <a:blip r:embed="rId4"/>
          <a:stretch>
            <a:fillRect/>
          </a:stretch>
        </p:blipFill>
        <p:spPr>
          <a:xfrm>
            <a:off x="762000" y="962232"/>
            <a:ext cx="10428169" cy="5286168"/>
          </a:xfrm>
          <a:prstGeom prst="rect">
            <a:avLst/>
          </a:prstGeom>
        </p:spPr>
      </p:pic>
    </p:spTree>
    <p:extLst>
      <p:ext uri="{BB962C8B-B14F-4D97-AF65-F5344CB8AC3E}">
        <p14:creationId xmlns:p14="http://schemas.microsoft.com/office/powerpoint/2010/main" val="2278031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7269480" cy="624840"/>
          </a:xfrm>
        </p:spPr>
        <p:txBody>
          <a:bodyPr>
            <a:normAutofit fontScale="90000"/>
          </a:bodyPr>
          <a:lstStyle/>
          <a:p>
            <a:r>
              <a:rPr lang="en-US" dirty="0">
                <a:cs typeface="Times New Roman" panose="02020603050405020304" pitchFamily="18" charset="0"/>
              </a:rPr>
              <a:t>Population Model </a:t>
            </a:r>
            <a:endParaRPr lang="en-US"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F10DB988-8E40-D738-13E8-6F1A57B0D5E1}"/>
              </a:ext>
            </a:extLst>
          </p:cNvPr>
          <p:cNvPicPr>
            <a:picLocks noGrp="1" noChangeAspect="1"/>
          </p:cNvPicPr>
          <p:nvPr>
            <p:ph idx="1"/>
          </p:nvPr>
        </p:nvPicPr>
        <p:blipFill>
          <a:blip r:embed="rId3"/>
          <a:stretch>
            <a:fillRect/>
          </a:stretch>
        </p:blipFill>
        <p:spPr>
          <a:xfrm>
            <a:off x="615537" y="962232"/>
            <a:ext cx="10541475" cy="5362368"/>
          </a:xfrm>
        </p:spPr>
      </p:pic>
      <p:pic>
        <p:nvPicPr>
          <p:cNvPr id="4" name="Picture 3">
            <a:extLst>
              <a:ext uri="{FF2B5EF4-FFF2-40B4-BE49-F238E27FC236}">
                <a16:creationId xmlns:a16="http://schemas.microsoft.com/office/drawing/2014/main" id="{B1BF7466-8FF3-39D6-0E55-9A3DCCFD510E}"/>
              </a:ext>
            </a:extLst>
          </p:cNvPr>
          <p:cNvPicPr>
            <a:picLocks noChangeAspect="1"/>
          </p:cNvPicPr>
          <p:nvPr/>
        </p:nvPicPr>
        <p:blipFill>
          <a:blip r:embed="rId4"/>
          <a:stretch>
            <a:fillRect/>
          </a:stretch>
        </p:blipFill>
        <p:spPr>
          <a:xfrm>
            <a:off x="762000" y="1059214"/>
            <a:ext cx="10322659" cy="5189186"/>
          </a:xfrm>
          <a:prstGeom prst="rect">
            <a:avLst/>
          </a:prstGeom>
        </p:spPr>
      </p:pic>
    </p:spTree>
    <p:extLst>
      <p:ext uri="{BB962C8B-B14F-4D97-AF65-F5344CB8AC3E}">
        <p14:creationId xmlns:p14="http://schemas.microsoft.com/office/powerpoint/2010/main" val="38505177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7269480" cy="624840"/>
          </a:xfrm>
        </p:spPr>
        <p:txBody>
          <a:bodyPr>
            <a:normAutofit fontScale="90000"/>
          </a:bodyPr>
          <a:lstStyle/>
          <a:p>
            <a:r>
              <a:rPr lang="en-US" dirty="0">
                <a:cs typeface="Times New Roman" panose="02020603050405020304" pitchFamily="18" charset="0"/>
              </a:rPr>
              <a:t>Population Model </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09601" y="1066801"/>
                <a:ext cx="10363200" cy="5141388"/>
              </a:xfrm>
            </p:spPr>
            <p:txBody>
              <a:bodyPr>
                <a:normAutofit/>
              </a:bodyPr>
              <a:lstStyle/>
              <a:p>
                <a:pPr marL="274320" lvl="1" indent="0">
                  <a:buNone/>
                </a:pPr>
                <a14:m>
                  <m:oMathPara xmlns:m="http://schemas.openxmlformats.org/officeDocument/2006/math">
                    <m:oMath>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𝑦</m:t>
                      </m:r>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0</m:t>
                          </m:r>
                        </m:sub>
                      </m:sSub>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1</m:t>
                          </m:r>
                        </m:sub>
                      </m:sSub>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𝑥</m:t>
                      </m:r>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𝜀</m:t>
                      </m:r>
                    </m:oMath>
                  </m:oMathPara>
                </a14:m>
                <a:endParaRPr lang="en-CA" sz="2400" dirty="0">
                  <a:solidFill>
                    <a:schemeClr val="tx1"/>
                  </a:solidFill>
                  <a:latin typeface="Open Sans"/>
                  <a:ea typeface="Open Sans" panose="020B0606030504020204" pitchFamily="34" charset="0"/>
                  <a:cs typeface="Open Sans" panose="020B0606030504020204" pitchFamily="34" charset="0"/>
                </a:endParaRPr>
              </a:p>
              <a:p>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oMath>
                </a14:m>
                <a:r>
                  <a:rPr lang="en-US" sz="2400" dirty="0">
                    <a:cs typeface="Times New Roman" panose="02020603050405020304" pitchFamily="18" charset="0"/>
                  </a:rPr>
                  <a:t> is the dependent variable (outcome)</a:t>
                </a:r>
              </a:p>
              <a:p>
                <a14:m>
                  <m:oMath xmlns:m="http://schemas.openxmlformats.org/officeDocument/2006/math">
                    <m:r>
                      <a:rPr lang="en-US" sz="2400" b="0" i="1" smtClean="0">
                        <a:latin typeface="Cambria Math" panose="02040503050406030204" pitchFamily="18" charset="0"/>
                        <a:cs typeface="Times New Roman" panose="02020603050405020304" pitchFamily="18" charset="0"/>
                      </a:rPr>
                      <m:t>𝑥</m:t>
                    </m:r>
                  </m:oMath>
                </a14:m>
                <a:r>
                  <a:rPr lang="en-US" sz="2400" dirty="0">
                    <a:cs typeface="Times New Roman" panose="02020603050405020304" pitchFamily="18" charset="0"/>
                  </a:rPr>
                  <a:t> is the independent variable (treatment, demographics, etc.)</a:t>
                </a:r>
              </a:p>
              <a:p>
                <a14:m>
                  <m:oMath xmlns:m="http://schemas.openxmlformats.org/officeDocument/2006/math">
                    <m:r>
                      <a:rPr lang="en-US" sz="2400" b="0" i="1" smtClean="0">
                        <a:latin typeface="Cambria Math" panose="02040503050406030204" pitchFamily="18" charset="0"/>
                        <a:cs typeface="Times New Roman" panose="02020603050405020304" pitchFamily="18" charset="0"/>
                      </a:rPr>
                      <m:t>𝜀</m:t>
                    </m:r>
                  </m:oMath>
                </a14:m>
                <a:r>
                  <a:rPr lang="en-US" sz="2400" dirty="0">
                    <a:cs typeface="Times New Roman" panose="02020603050405020304" pitchFamily="18" charset="0"/>
                  </a:rPr>
                  <a:t> is a term to allow for random variation in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oMath>
                </a14:m>
                <a:r>
                  <a:rPr lang="en-US" sz="2400" dirty="0">
                    <a:cs typeface="Times New Roman" panose="02020603050405020304" pitchFamily="18" charset="0"/>
                  </a:rPr>
                  <a:t> not captured by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𝑥</m:t>
                    </m:r>
                  </m:oMath>
                </a14:m>
                <a:endParaRPr lang="en-US" sz="2400" b="0" dirty="0">
                  <a:cs typeface="Times New Roman" panose="02020603050405020304" pitchFamily="18" charset="0"/>
                </a:endParaRPr>
              </a:p>
              <a:p>
                <a14:m>
                  <m:oMath xmlns:m="http://schemas.openxmlformats.org/officeDocument/2006/math">
                    <m:r>
                      <a:rPr lang="en-US" sz="2400" b="0" i="1" smtClean="0">
                        <a:latin typeface="Cambria Math" panose="02040503050406030204" pitchFamily="18" charset="0"/>
                        <a:cs typeface="Times New Roman" panose="02020603050405020304" pitchFamily="18" charset="0"/>
                      </a:rPr>
                      <m:t>𝛽</m:t>
                    </m:r>
                  </m:oMath>
                </a14:m>
                <a:r>
                  <a:rPr lang="en-US" sz="2400" dirty="0">
                    <a:cs typeface="Times New Roman" panose="02020603050405020304" pitchFamily="18" charset="0"/>
                  </a:rPr>
                  <a:t>’s are called </a:t>
                </a:r>
                <a:r>
                  <a:rPr lang="en-US" sz="2400" b="1" dirty="0">
                    <a:solidFill>
                      <a:schemeClr val="accent2">
                        <a:lumMod val="75000"/>
                      </a:schemeClr>
                    </a:solidFill>
                    <a:cs typeface="Times New Roman" panose="02020603050405020304" pitchFamily="18" charset="0"/>
                  </a:rPr>
                  <a:t>coefficients</a:t>
                </a:r>
                <a:r>
                  <a:rPr lang="en-US" sz="2400" dirty="0">
                    <a:cs typeface="Times New Roman" panose="02020603050405020304" pitchFamily="18" charset="0"/>
                  </a:rPr>
                  <a:t>, and are the parameters of interest in the model</a:t>
                </a:r>
              </a:p>
              <a:p>
                <a:pPr lvl="1"/>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oMath>
                </a14:m>
                <a:r>
                  <a:rPr lang="en-US" sz="2400" dirty="0">
                    <a:cs typeface="Times New Roman" panose="02020603050405020304" pitchFamily="18" charset="0"/>
                  </a:rPr>
                  <a:t>: intercept parameter</a:t>
                </a:r>
              </a:p>
              <a:p>
                <a:pPr lvl="1"/>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slope parameter – literally, this is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𝑦</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cs typeface="Times New Roman" panose="02020603050405020304" pitchFamily="18" charset="0"/>
                      </a:rPr>
                      <m:t>]</m:t>
                    </m:r>
                  </m:oMath>
                </a14:m>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In our example, our goal is to recover: </a:t>
                </a:r>
              </a:p>
              <a:p>
                <a:pPr marL="0" indent="0">
                  <a:buNone/>
                </a:pPr>
                <a14:m>
                  <m:oMathPara xmlns:m="http://schemas.openxmlformats.org/officeDocument/2006/math">
                    <m:oMath>
                      <m:acc>
                        <m:accPr>
                          <m:chr m:val="̂"/>
                          <m:ctrlPr>
                            <a:rPr lang="en-US" sz="2400" b="0" i="1" smtClean="0">
                              <a:solidFill>
                                <a:schemeClr val="tx1"/>
                              </a:solidFill>
                              <a:latin typeface="Cambria Math" panose="02040503050406030204" pitchFamily="18" charset="0"/>
                              <a:ea typeface="Open Sans" panose="020B0606030504020204" pitchFamily="34" charset="0"/>
                              <a:cs typeface="Times New Roman" panose="02020603050405020304" pitchFamily="18" charset="0"/>
                            </a:rPr>
                          </m:ctrlPr>
                        </m:accPr>
                        <m:e>
                          <m:r>
                            <a:rPr lang="en-US" sz="2400" b="0" i="1" smtClean="0">
                              <a:solidFill>
                                <a:schemeClr val="tx1"/>
                              </a:solidFill>
                              <a:latin typeface="Cambria Math" panose="02040503050406030204" pitchFamily="18" charset="0"/>
                              <a:ea typeface="Open Sans" panose="020B0606030504020204" pitchFamily="34" charset="0"/>
                              <a:cs typeface="Times New Roman" panose="02020603050405020304" pitchFamily="18" charset="0"/>
                            </a:rPr>
                            <m:t>ℎ𝑎𝑝𝑝𝑖𝑛𝑒𝑠𝑠</m:t>
                          </m:r>
                        </m:e>
                      </m:acc>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acc>
                        <m:accPr>
                          <m:chr m:val="̂"/>
                          <m:ctrlP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accPr>
                        <m:e>
                          <m:sSub>
                            <m:sSubPr>
                              <m:ctrlP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0</m:t>
                              </m:r>
                            </m:sub>
                          </m:sSub>
                        </m:e>
                      </m:acc>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acc>
                        <m:accPr>
                          <m:chr m:val="̂"/>
                          <m:ctrlP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accPr>
                        <m:e>
                          <m:sSub>
                            <m:sSubPr>
                              <m:ctrlP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1</m:t>
                              </m:r>
                            </m:sub>
                          </m:sSub>
                        </m:e>
                      </m:acc>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𝑐𝑜𝑜𝑘𝑖𝑒𝑠</m:t>
                      </m:r>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𝜀</m:t>
                      </m:r>
                    </m:oMath>
                  </m:oMathPara>
                </a14:m>
                <a:endParaRPr lang="en-US" sz="2400" b="0" dirty="0">
                  <a:solidFill>
                    <a:schemeClr val="tx1"/>
                  </a:solidFill>
                  <a:ea typeface="Open Sans" panose="020B0606030504020204" pitchFamily="34" charset="0"/>
                  <a:cs typeface="Open Sans" panose="020B0606030504020204" pitchFamily="34" charset="0"/>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609601" y="1066801"/>
                <a:ext cx="10363200" cy="5141388"/>
              </a:xfrm>
              <a:blipFill>
                <a:blip r:embed="rId3"/>
                <a:stretch>
                  <a:fillRect l="-882"/>
                </a:stretch>
              </a:blipFill>
            </p:spPr>
            <p:txBody>
              <a:bodyPr/>
              <a:lstStyle/>
              <a:p>
                <a:r>
                  <a:rPr lang="en-CA">
                    <a:noFill/>
                  </a:rPr>
                  <a:t> </a:t>
                </a:r>
              </a:p>
            </p:txBody>
          </p:sp>
        </mc:Fallback>
      </mc:AlternateContent>
    </p:spTree>
    <p:extLst>
      <p:ext uri="{BB962C8B-B14F-4D97-AF65-F5344CB8AC3E}">
        <p14:creationId xmlns:p14="http://schemas.microsoft.com/office/powerpoint/2010/main" val="3561514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7269480" cy="624840"/>
          </a:xfrm>
        </p:spPr>
        <p:txBody>
          <a:bodyPr>
            <a:normAutofit fontScale="90000"/>
          </a:bodyPr>
          <a:lstStyle/>
          <a:p>
            <a:r>
              <a:rPr lang="en-US" dirty="0">
                <a:cs typeface="Times New Roman" panose="02020603050405020304" pitchFamily="18" charset="0"/>
              </a:rPr>
              <a:t>Population Model</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A9C6ABB6-EB8E-6F10-15F1-1E36B042850B}"/>
                  </a:ext>
                </a:extLst>
              </p14:cNvPr>
              <p14:cNvContentPartPr/>
              <p14:nvPr/>
            </p14:nvContentPartPr>
            <p14:xfrm>
              <a:off x="904585" y="924461"/>
              <a:ext cx="360" cy="5487480"/>
            </p14:xfrm>
          </p:contentPart>
        </mc:Choice>
        <mc:Fallback xmlns="">
          <p:pic>
            <p:nvPicPr>
              <p:cNvPr id="7" name="Ink 6">
                <a:extLst>
                  <a:ext uri="{FF2B5EF4-FFF2-40B4-BE49-F238E27FC236}">
                    <a16:creationId xmlns:a16="http://schemas.microsoft.com/office/drawing/2014/main" id="{A9C6ABB6-EB8E-6F10-15F1-1E36B042850B}"/>
                  </a:ext>
                </a:extLst>
              </p:cNvPr>
              <p:cNvPicPr/>
              <p:nvPr/>
            </p:nvPicPr>
            <p:blipFill>
              <a:blip r:embed="rId4"/>
              <a:stretch>
                <a:fillRect/>
              </a:stretch>
            </p:blipFill>
            <p:spPr>
              <a:xfrm>
                <a:off x="895585" y="915461"/>
                <a:ext cx="18000" cy="55051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C1C89F1E-30CB-F0E6-2D33-00260CD0BE5B}"/>
                  </a:ext>
                </a:extLst>
              </p14:cNvPr>
              <p14:cNvContentPartPr/>
              <p14:nvPr/>
            </p14:nvContentPartPr>
            <p14:xfrm>
              <a:off x="498505" y="5885981"/>
              <a:ext cx="9235080" cy="360"/>
            </p14:xfrm>
          </p:contentPart>
        </mc:Choice>
        <mc:Fallback xmlns="">
          <p:pic>
            <p:nvPicPr>
              <p:cNvPr id="8" name="Ink 7">
                <a:extLst>
                  <a:ext uri="{FF2B5EF4-FFF2-40B4-BE49-F238E27FC236}">
                    <a16:creationId xmlns:a16="http://schemas.microsoft.com/office/drawing/2014/main" id="{C1C89F1E-30CB-F0E6-2D33-00260CD0BE5B}"/>
                  </a:ext>
                </a:extLst>
              </p:cNvPr>
              <p:cNvPicPr/>
              <p:nvPr/>
            </p:nvPicPr>
            <p:blipFill>
              <a:blip r:embed="rId6"/>
              <a:stretch>
                <a:fillRect/>
              </a:stretch>
            </p:blipFill>
            <p:spPr>
              <a:xfrm>
                <a:off x="489505" y="5877341"/>
                <a:ext cx="92527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271C59A3-3A12-55F4-E5FB-9F5EC6D3FA3B}"/>
                  </a:ext>
                </a:extLst>
              </p14:cNvPr>
              <p14:cNvContentPartPr/>
              <p14:nvPr/>
            </p14:nvContentPartPr>
            <p14:xfrm>
              <a:off x="753745" y="1307501"/>
              <a:ext cx="7696080" cy="2650320"/>
            </p14:xfrm>
          </p:contentPart>
        </mc:Choice>
        <mc:Fallback xmlns="">
          <p:pic>
            <p:nvPicPr>
              <p:cNvPr id="11" name="Ink 10">
                <a:extLst>
                  <a:ext uri="{FF2B5EF4-FFF2-40B4-BE49-F238E27FC236}">
                    <a16:creationId xmlns:a16="http://schemas.microsoft.com/office/drawing/2014/main" id="{271C59A3-3A12-55F4-E5FB-9F5EC6D3FA3B}"/>
                  </a:ext>
                </a:extLst>
              </p:cNvPr>
              <p:cNvPicPr/>
              <p:nvPr/>
            </p:nvPicPr>
            <p:blipFill>
              <a:blip r:embed="rId8"/>
              <a:stretch>
                <a:fillRect/>
              </a:stretch>
            </p:blipFill>
            <p:spPr>
              <a:xfrm>
                <a:off x="717745" y="1271861"/>
                <a:ext cx="7767720" cy="2721960"/>
              </a:xfrm>
              <a:prstGeom prst="rect">
                <a:avLst/>
              </a:prstGeom>
            </p:spPr>
          </p:pic>
        </mc:Fallback>
      </mc:AlternateContent>
      <p:grpSp>
        <p:nvGrpSpPr>
          <p:cNvPr id="15" name="Group 14">
            <a:extLst>
              <a:ext uri="{FF2B5EF4-FFF2-40B4-BE49-F238E27FC236}">
                <a16:creationId xmlns:a16="http://schemas.microsoft.com/office/drawing/2014/main" id="{08F0F73F-95B8-4DE4-089A-8E2E8C42901C}"/>
              </a:ext>
            </a:extLst>
          </p:cNvPr>
          <p:cNvGrpSpPr/>
          <p:nvPr/>
        </p:nvGrpSpPr>
        <p:grpSpPr>
          <a:xfrm>
            <a:off x="200425" y="4062941"/>
            <a:ext cx="589320" cy="1545120"/>
            <a:chOff x="200425" y="4062941"/>
            <a:chExt cx="589320" cy="1545120"/>
          </a:xfrm>
        </p:grpSpPr>
        <mc:AlternateContent xmlns:mc="http://schemas.openxmlformats.org/markup-compatibility/2006" xmlns:p14="http://schemas.microsoft.com/office/powerpoint/2010/main">
          <mc:Choice Requires="p14">
            <p:contentPart p14:bwMode="auto" r:id="rId9">
              <p14:nvContentPartPr>
                <p14:cNvPr id="12" name="Ink 11">
                  <a:extLst>
                    <a:ext uri="{FF2B5EF4-FFF2-40B4-BE49-F238E27FC236}">
                      <a16:creationId xmlns:a16="http://schemas.microsoft.com/office/drawing/2014/main" id="{6FE9EEE3-437B-5C61-D46B-CA02A824F640}"/>
                    </a:ext>
                  </a:extLst>
                </p14:cNvPr>
                <p14:cNvContentPartPr/>
                <p14:nvPr/>
              </p14:nvContentPartPr>
              <p14:xfrm>
                <a:off x="549625" y="4062941"/>
                <a:ext cx="240120" cy="1545120"/>
              </p14:xfrm>
            </p:contentPart>
          </mc:Choice>
          <mc:Fallback xmlns="">
            <p:pic>
              <p:nvPicPr>
                <p:cNvPr id="12" name="Ink 11">
                  <a:extLst>
                    <a:ext uri="{FF2B5EF4-FFF2-40B4-BE49-F238E27FC236}">
                      <a16:creationId xmlns:a16="http://schemas.microsoft.com/office/drawing/2014/main" id="{6FE9EEE3-437B-5C61-D46B-CA02A824F640}"/>
                    </a:ext>
                  </a:extLst>
                </p:cNvPr>
                <p:cNvPicPr/>
                <p:nvPr/>
              </p:nvPicPr>
              <p:blipFill>
                <a:blip r:embed="rId10"/>
                <a:stretch>
                  <a:fillRect/>
                </a:stretch>
              </p:blipFill>
              <p:spPr>
                <a:xfrm>
                  <a:off x="540625" y="4054301"/>
                  <a:ext cx="257760" cy="15627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3" name="Ink 12">
                  <a:extLst>
                    <a:ext uri="{FF2B5EF4-FFF2-40B4-BE49-F238E27FC236}">
                      <a16:creationId xmlns:a16="http://schemas.microsoft.com/office/drawing/2014/main" id="{E10D7187-16CD-A89A-6A9A-6167EE35E8A1}"/>
                    </a:ext>
                  </a:extLst>
                </p14:cNvPr>
                <p14:cNvContentPartPr/>
                <p14:nvPr/>
              </p14:nvContentPartPr>
              <p14:xfrm>
                <a:off x="200425" y="4529141"/>
                <a:ext cx="135360" cy="688680"/>
              </p14:xfrm>
            </p:contentPart>
          </mc:Choice>
          <mc:Fallback xmlns="">
            <p:pic>
              <p:nvPicPr>
                <p:cNvPr id="13" name="Ink 12">
                  <a:extLst>
                    <a:ext uri="{FF2B5EF4-FFF2-40B4-BE49-F238E27FC236}">
                      <a16:creationId xmlns:a16="http://schemas.microsoft.com/office/drawing/2014/main" id="{E10D7187-16CD-A89A-6A9A-6167EE35E8A1}"/>
                    </a:ext>
                  </a:extLst>
                </p:cNvPr>
                <p:cNvPicPr/>
                <p:nvPr/>
              </p:nvPicPr>
              <p:blipFill>
                <a:blip r:embed="rId12"/>
                <a:stretch>
                  <a:fillRect/>
                </a:stretch>
              </p:blipFill>
              <p:spPr>
                <a:xfrm>
                  <a:off x="191785" y="4520141"/>
                  <a:ext cx="153000" cy="7063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4" name="Ink 13">
                  <a:extLst>
                    <a:ext uri="{FF2B5EF4-FFF2-40B4-BE49-F238E27FC236}">
                      <a16:creationId xmlns:a16="http://schemas.microsoft.com/office/drawing/2014/main" id="{635C2DFF-FA36-C203-1F54-1B9F3EA46384}"/>
                    </a:ext>
                  </a:extLst>
                </p14:cNvPr>
                <p14:cNvContentPartPr/>
                <p14:nvPr/>
              </p14:nvContentPartPr>
              <p14:xfrm>
                <a:off x="357745" y="4928741"/>
                <a:ext cx="102600" cy="168480"/>
              </p14:xfrm>
            </p:contentPart>
          </mc:Choice>
          <mc:Fallback xmlns="">
            <p:pic>
              <p:nvPicPr>
                <p:cNvPr id="14" name="Ink 13">
                  <a:extLst>
                    <a:ext uri="{FF2B5EF4-FFF2-40B4-BE49-F238E27FC236}">
                      <a16:creationId xmlns:a16="http://schemas.microsoft.com/office/drawing/2014/main" id="{635C2DFF-FA36-C203-1F54-1B9F3EA46384}"/>
                    </a:ext>
                  </a:extLst>
                </p:cNvPr>
                <p:cNvPicPr/>
                <p:nvPr/>
              </p:nvPicPr>
              <p:blipFill>
                <a:blip r:embed="rId14"/>
                <a:stretch>
                  <a:fillRect/>
                </a:stretch>
              </p:blipFill>
              <p:spPr>
                <a:xfrm>
                  <a:off x="348745" y="4920101"/>
                  <a:ext cx="120240" cy="186120"/>
                </a:xfrm>
                <a:prstGeom prst="rect">
                  <a:avLst/>
                </a:prstGeom>
              </p:spPr>
            </p:pic>
          </mc:Fallback>
        </mc:AlternateContent>
      </p:gr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F312472D-80AF-4760-B6BF-85BC7D1461A5}"/>
                  </a:ext>
                </a:extLst>
              </p:cNvPr>
              <p:cNvSpPr txBox="1"/>
              <p:nvPr/>
            </p:nvSpPr>
            <p:spPr>
              <a:xfrm>
                <a:off x="9975254" y="5859718"/>
                <a:ext cx="422423" cy="430887"/>
              </a:xfrm>
              <a:prstGeom prst="rect">
                <a:avLst/>
              </a:prstGeom>
              <a:noFill/>
            </p:spPr>
            <p:txBody>
              <a:bodyPr wrap="none" rtlCol="0" anchor="ctr" anchorCtr="1">
                <a:spAutoFit/>
              </a:bodyPr>
              <a:lstStyle/>
              <a:p>
                <a:pPr algn="ctr"/>
                <a14:m>
                  <m:oMathPara xmlns:m="http://schemas.openxmlformats.org/officeDocument/2006/math">
                    <m:oMath>
                      <m:r>
                        <a:rPr lang="en-US" sz="2200" i="1">
                          <a:solidFill>
                            <a:srgbClr val="000000"/>
                          </a:solidFill>
                          <a:latin typeface="Cambria Math" panose="02040503050406030204" pitchFamily="18" charset="0"/>
                        </a:rPr>
                        <m:t>𝑥</m:t>
                      </m:r>
                    </m:oMath>
                  </m:oMathPara>
                </a14:m>
                <a:endParaRPr lang="en-US" sz="2200">
                  <a:solidFill>
                    <a:srgbClr val="000000"/>
                  </a:solidFill>
                </a:endParaRPr>
              </a:p>
            </p:txBody>
          </p:sp>
        </mc:Choice>
        <mc:Fallback xmlns="">
          <p:sp>
            <p:nvSpPr>
              <p:cNvPr id="38" name="TextBox 37">
                <a:extLst>
                  <a:ext uri="{FF2B5EF4-FFF2-40B4-BE49-F238E27FC236}">
                    <a16:creationId xmlns:a16="http://schemas.microsoft.com/office/drawing/2014/main" id="{F312472D-80AF-4760-B6BF-85BC7D1461A5}"/>
                  </a:ext>
                </a:extLst>
              </p:cNvPr>
              <p:cNvSpPr txBox="1">
                <a:spLocks noRot="1" noChangeAspect="1" noMove="1" noResize="1" noEditPoints="1" noAdjustHandles="1" noChangeArrowheads="1" noChangeShapeType="1" noTextEdit="1"/>
              </p:cNvSpPr>
              <p:nvPr/>
            </p:nvSpPr>
            <p:spPr>
              <a:xfrm>
                <a:off x="9975254" y="5859718"/>
                <a:ext cx="422423" cy="430887"/>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200C151-414A-4F01-B7EF-35D0F77B55EB}"/>
                  </a:ext>
                </a:extLst>
              </p:cNvPr>
              <p:cNvSpPr txBox="1"/>
              <p:nvPr/>
            </p:nvSpPr>
            <p:spPr>
              <a:xfrm>
                <a:off x="158256" y="1055433"/>
                <a:ext cx="534698" cy="584775"/>
              </a:xfrm>
              <a:prstGeom prst="rect">
                <a:avLst/>
              </a:prstGeom>
              <a:noFill/>
            </p:spPr>
            <p:txBody>
              <a:bodyPr wrap="none" rtlCol="0" anchor="ctr" anchorCtr="1">
                <a:spAutoFit/>
              </a:bodyPr>
              <a:lstStyle/>
              <a:p>
                <a:pPr algn="ctr"/>
                <a14:m>
                  <m:oMathPara xmlns:m="http://schemas.openxmlformats.org/officeDocument/2006/math">
                    <m:oMath>
                      <m:r>
                        <a:rPr lang="en-US" sz="3200" i="1">
                          <a:solidFill>
                            <a:srgbClr val="000000"/>
                          </a:solidFill>
                          <a:latin typeface="Cambria Math" panose="02040503050406030204" pitchFamily="18" charset="0"/>
                        </a:rPr>
                        <m:t>𝑦</m:t>
                      </m:r>
                    </m:oMath>
                  </m:oMathPara>
                </a14:m>
                <a:endParaRPr lang="en-US" sz="3200">
                  <a:solidFill>
                    <a:srgbClr val="000000"/>
                  </a:solidFill>
                </a:endParaRPr>
              </a:p>
            </p:txBody>
          </p:sp>
        </mc:Choice>
        <mc:Fallback xmlns="">
          <p:sp>
            <p:nvSpPr>
              <p:cNvPr id="9" name="TextBox 8">
                <a:extLst>
                  <a:ext uri="{FF2B5EF4-FFF2-40B4-BE49-F238E27FC236}">
                    <a16:creationId xmlns:a16="http://schemas.microsoft.com/office/drawing/2014/main" id="{4200C151-414A-4F01-B7EF-35D0F77B55EB}"/>
                  </a:ext>
                </a:extLst>
              </p:cNvPr>
              <p:cNvSpPr txBox="1">
                <a:spLocks noRot="1" noChangeAspect="1" noMove="1" noResize="1" noEditPoints="1" noAdjustHandles="1" noChangeArrowheads="1" noChangeShapeType="1" noTextEdit="1"/>
              </p:cNvSpPr>
              <p:nvPr/>
            </p:nvSpPr>
            <p:spPr>
              <a:xfrm>
                <a:off x="158256" y="1055433"/>
                <a:ext cx="534698" cy="584775"/>
              </a:xfrm>
              <a:prstGeom prst="rect">
                <a:avLst/>
              </a:prstGeom>
              <a:blipFill>
                <a:blip r:embed="rId16"/>
                <a:stretch>
                  <a:fillRect/>
                </a:stretch>
              </a:blipFill>
            </p:spPr>
            <p:txBody>
              <a:bodyPr/>
              <a:lstStyle/>
              <a:p>
                <a:r>
                  <a:rPr lang="en-US">
                    <a:noFill/>
                  </a:rPr>
                  <a:t> </a:t>
                </a:r>
              </a:p>
            </p:txBody>
          </p:sp>
        </mc:Fallback>
      </mc:AlternateContent>
      <p:grpSp>
        <p:nvGrpSpPr>
          <p:cNvPr id="51" name="Group 50">
            <a:extLst>
              <a:ext uri="{FF2B5EF4-FFF2-40B4-BE49-F238E27FC236}">
                <a16:creationId xmlns:a16="http://schemas.microsoft.com/office/drawing/2014/main" id="{B6620CFD-1B8E-494C-BDC5-1B076567F4DA}"/>
              </a:ext>
            </a:extLst>
          </p:cNvPr>
          <p:cNvGrpSpPr/>
          <p:nvPr/>
        </p:nvGrpSpPr>
        <p:grpSpPr>
          <a:xfrm>
            <a:off x="7788505" y="720701"/>
            <a:ext cx="3048480" cy="593640"/>
            <a:chOff x="7788505" y="720701"/>
            <a:chExt cx="3048480" cy="593640"/>
          </a:xfrm>
        </p:grpSpPr>
        <mc:AlternateContent xmlns:mc="http://schemas.openxmlformats.org/markup-compatibility/2006" xmlns:p14="http://schemas.microsoft.com/office/powerpoint/2010/main">
          <mc:Choice Requires="p14">
            <p:contentPart p14:bwMode="auto" r:id="rId17">
              <p14:nvContentPartPr>
                <p14:cNvPr id="3" name="Ink 2">
                  <a:extLst>
                    <a:ext uri="{FF2B5EF4-FFF2-40B4-BE49-F238E27FC236}">
                      <a16:creationId xmlns:a16="http://schemas.microsoft.com/office/drawing/2014/main" id="{8E106DF1-B364-4716-9660-175D9AA4E428}"/>
                    </a:ext>
                  </a:extLst>
                </p14:cNvPr>
                <p14:cNvContentPartPr/>
                <p14:nvPr/>
              </p14:nvContentPartPr>
              <p14:xfrm>
                <a:off x="8037625" y="804941"/>
                <a:ext cx="5760" cy="1800"/>
              </p14:xfrm>
            </p:contentPart>
          </mc:Choice>
          <mc:Fallback xmlns="">
            <p:pic>
              <p:nvPicPr>
                <p:cNvPr id="3" name="Ink 2">
                  <a:extLst>
                    <a:ext uri="{FF2B5EF4-FFF2-40B4-BE49-F238E27FC236}">
                      <a16:creationId xmlns:a16="http://schemas.microsoft.com/office/drawing/2014/main" id="{8E106DF1-B364-4716-9660-175D9AA4E428}"/>
                    </a:ext>
                  </a:extLst>
                </p:cNvPr>
                <p:cNvPicPr/>
                <p:nvPr/>
              </p:nvPicPr>
              <p:blipFill>
                <a:blip r:embed="rId18"/>
                <a:stretch>
                  <a:fillRect/>
                </a:stretch>
              </p:blipFill>
              <p:spPr>
                <a:xfrm>
                  <a:off x="8028625" y="795941"/>
                  <a:ext cx="2340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4" name="Ink 3">
                  <a:extLst>
                    <a:ext uri="{FF2B5EF4-FFF2-40B4-BE49-F238E27FC236}">
                      <a16:creationId xmlns:a16="http://schemas.microsoft.com/office/drawing/2014/main" id="{5D05D910-1A62-45E3-8D42-095FF29D0618}"/>
                    </a:ext>
                  </a:extLst>
                </p14:cNvPr>
                <p14:cNvContentPartPr/>
                <p14:nvPr/>
              </p14:nvContentPartPr>
              <p14:xfrm>
                <a:off x="7788505" y="778301"/>
                <a:ext cx="369720" cy="387720"/>
              </p14:xfrm>
            </p:contentPart>
          </mc:Choice>
          <mc:Fallback xmlns="">
            <p:pic>
              <p:nvPicPr>
                <p:cNvPr id="4" name="Ink 3">
                  <a:extLst>
                    <a:ext uri="{FF2B5EF4-FFF2-40B4-BE49-F238E27FC236}">
                      <a16:creationId xmlns:a16="http://schemas.microsoft.com/office/drawing/2014/main" id="{5D05D910-1A62-45E3-8D42-095FF29D0618}"/>
                    </a:ext>
                  </a:extLst>
                </p:cNvPr>
                <p:cNvPicPr/>
                <p:nvPr/>
              </p:nvPicPr>
              <p:blipFill>
                <a:blip r:embed="rId20"/>
                <a:stretch>
                  <a:fillRect/>
                </a:stretch>
              </p:blipFill>
              <p:spPr>
                <a:xfrm>
                  <a:off x="7779505" y="769301"/>
                  <a:ext cx="387360" cy="4053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5" name="Ink 4">
                  <a:extLst>
                    <a:ext uri="{FF2B5EF4-FFF2-40B4-BE49-F238E27FC236}">
                      <a16:creationId xmlns:a16="http://schemas.microsoft.com/office/drawing/2014/main" id="{F14A1C78-CD16-4BAD-9474-CE1BA4DE216B}"/>
                    </a:ext>
                  </a:extLst>
                </p14:cNvPr>
                <p14:cNvContentPartPr/>
                <p14:nvPr/>
              </p14:nvContentPartPr>
              <p14:xfrm>
                <a:off x="7865185" y="861461"/>
                <a:ext cx="87120" cy="317880"/>
              </p14:xfrm>
            </p:contentPart>
          </mc:Choice>
          <mc:Fallback xmlns="">
            <p:pic>
              <p:nvPicPr>
                <p:cNvPr id="5" name="Ink 4">
                  <a:extLst>
                    <a:ext uri="{FF2B5EF4-FFF2-40B4-BE49-F238E27FC236}">
                      <a16:creationId xmlns:a16="http://schemas.microsoft.com/office/drawing/2014/main" id="{F14A1C78-CD16-4BAD-9474-CE1BA4DE216B}"/>
                    </a:ext>
                  </a:extLst>
                </p:cNvPr>
                <p:cNvPicPr/>
                <p:nvPr/>
              </p:nvPicPr>
              <p:blipFill>
                <a:blip r:embed="rId22"/>
                <a:stretch>
                  <a:fillRect/>
                </a:stretch>
              </p:blipFill>
              <p:spPr>
                <a:xfrm>
                  <a:off x="7856185" y="852451"/>
                  <a:ext cx="104760" cy="3355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6" name="Ink 5">
                  <a:extLst>
                    <a:ext uri="{FF2B5EF4-FFF2-40B4-BE49-F238E27FC236}">
                      <a16:creationId xmlns:a16="http://schemas.microsoft.com/office/drawing/2014/main" id="{6878220C-22B4-4B07-AAAD-234E06BBED32}"/>
                    </a:ext>
                  </a:extLst>
                </p14:cNvPr>
                <p14:cNvContentPartPr/>
                <p14:nvPr/>
              </p14:nvContentPartPr>
              <p14:xfrm>
                <a:off x="7910545" y="960821"/>
                <a:ext cx="106560" cy="15120"/>
              </p14:xfrm>
            </p:contentPart>
          </mc:Choice>
          <mc:Fallback xmlns="">
            <p:pic>
              <p:nvPicPr>
                <p:cNvPr id="6" name="Ink 5">
                  <a:extLst>
                    <a:ext uri="{FF2B5EF4-FFF2-40B4-BE49-F238E27FC236}">
                      <a16:creationId xmlns:a16="http://schemas.microsoft.com/office/drawing/2014/main" id="{6878220C-22B4-4B07-AAAD-234E06BBED32}"/>
                    </a:ext>
                  </a:extLst>
                </p:cNvPr>
                <p:cNvPicPr/>
                <p:nvPr/>
              </p:nvPicPr>
              <p:blipFill>
                <a:blip r:embed="rId24"/>
                <a:stretch>
                  <a:fillRect/>
                </a:stretch>
              </p:blipFill>
              <p:spPr>
                <a:xfrm>
                  <a:off x="7901514" y="951821"/>
                  <a:ext cx="12426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0" name="Ink 9">
                  <a:extLst>
                    <a:ext uri="{FF2B5EF4-FFF2-40B4-BE49-F238E27FC236}">
                      <a16:creationId xmlns:a16="http://schemas.microsoft.com/office/drawing/2014/main" id="{C4987E8A-9EA4-426A-9319-4A84505E5A58}"/>
                    </a:ext>
                  </a:extLst>
                </p14:cNvPr>
                <p14:cNvContentPartPr/>
                <p14:nvPr/>
              </p14:nvContentPartPr>
              <p14:xfrm>
                <a:off x="8226985" y="752021"/>
                <a:ext cx="218520" cy="372960"/>
              </p14:xfrm>
            </p:contentPart>
          </mc:Choice>
          <mc:Fallback xmlns="">
            <p:pic>
              <p:nvPicPr>
                <p:cNvPr id="10" name="Ink 9">
                  <a:extLst>
                    <a:ext uri="{FF2B5EF4-FFF2-40B4-BE49-F238E27FC236}">
                      <a16:creationId xmlns:a16="http://schemas.microsoft.com/office/drawing/2014/main" id="{C4987E8A-9EA4-426A-9319-4A84505E5A58}"/>
                    </a:ext>
                  </a:extLst>
                </p:cNvPr>
                <p:cNvPicPr/>
                <p:nvPr/>
              </p:nvPicPr>
              <p:blipFill>
                <a:blip r:embed="rId26"/>
                <a:stretch>
                  <a:fillRect/>
                </a:stretch>
              </p:blipFill>
              <p:spPr>
                <a:xfrm>
                  <a:off x="8217985" y="743030"/>
                  <a:ext cx="236160" cy="390583"/>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6" name="Ink 35">
                  <a:extLst>
                    <a:ext uri="{FF2B5EF4-FFF2-40B4-BE49-F238E27FC236}">
                      <a16:creationId xmlns:a16="http://schemas.microsoft.com/office/drawing/2014/main" id="{152E174D-4890-4AC7-9CA5-0598196456E8}"/>
                    </a:ext>
                  </a:extLst>
                </p14:cNvPr>
                <p14:cNvContentPartPr/>
                <p14:nvPr/>
              </p14:nvContentPartPr>
              <p14:xfrm>
                <a:off x="8413825" y="910421"/>
                <a:ext cx="183600" cy="350280"/>
              </p14:xfrm>
            </p:contentPart>
          </mc:Choice>
          <mc:Fallback xmlns="">
            <p:pic>
              <p:nvPicPr>
                <p:cNvPr id="36" name="Ink 35">
                  <a:extLst>
                    <a:ext uri="{FF2B5EF4-FFF2-40B4-BE49-F238E27FC236}">
                      <a16:creationId xmlns:a16="http://schemas.microsoft.com/office/drawing/2014/main" id="{152E174D-4890-4AC7-9CA5-0598196456E8}"/>
                    </a:ext>
                  </a:extLst>
                </p:cNvPr>
                <p:cNvPicPr/>
                <p:nvPr/>
              </p:nvPicPr>
              <p:blipFill>
                <a:blip r:embed="rId28"/>
                <a:stretch>
                  <a:fillRect/>
                </a:stretch>
              </p:blipFill>
              <p:spPr>
                <a:xfrm>
                  <a:off x="8404825" y="901421"/>
                  <a:ext cx="201240" cy="3679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7" name="Ink 36">
                  <a:extLst>
                    <a:ext uri="{FF2B5EF4-FFF2-40B4-BE49-F238E27FC236}">
                      <a16:creationId xmlns:a16="http://schemas.microsoft.com/office/drawing/2014/main" id="{0FBF4EE2-0136-4EA2-A48A-6C0B71052381}"/>
                    </a:ext>
                  </a:extLst>
                </p14:cNvPr>
                <p14:cNvContentPartPr/>
                <p14:nvPr/>
              </p14:nvContentPartPr>
              <p14:xfrm>
                <a:off x="8652145" y="786221"/>
                <a:ext cx="76680" cy="345960"/>
              </p14:xfrm>
            </p:contentPart>
          </mc:Choice>
          <mc:Fallback xmlns="">
            <p:pic>
              <p:nvPicPr>
                <p:cNvPr id="37" name="Ink 36">
                  <a:extLst>
                    <a:ext uri="{FF2B5EF4-FFF2-40B4-BE49-F238E27FC236}">
                      <a16:creationId xmlns:a16="http://schemas.microsoft.com/office/drawing/2014/main" id="{0FBF4EE2-0136-4EA2-A48A-6C0B71052381}"/>
                    </a:ext>
                  </a:extLst>
                </p:cNvPr>
                <p:cNvPicPr/>
                <p:nvPr/>
              </p:nvPicPr>
              <p:blipFill>
                <a:blip r:embed="rId30"/>
                <a:stretch>
                  <a:fillRect/>
                </a:stretch>
              </p:blipFill>
              <p:spPr>
                <a:xfrm>
                  <a:off x="8643145" y="777230"/>
                  <a:ext cx="94320" cy="363582"/>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9" name="Ink 38">
                  <a:extLst>
                    <a:ext uri="{FF2B5EF4-FFF2-40B4-BE49-F238E27FC236}">
                      <a16:creationId xmlns:a16="http://schemas.microsoft.com/office/drawing/2014/main" id="{BAA90A12-3F52-4265-9CFD-202CE6782ABB}"/>
                    </a:ext>
                  </a:extLst>
                </p14:cNvPr>
                <p14:cNvContentPartPr/>
                <p14:nvPr/>
              </p14:nvContentPartPr>
              <p14:xfrm>
                <a:off x="8743945" y="900341"/>
                <a:ext cx="244440" cy="212400"/>
              </p14:xfrm>
            </p:contentPart>
          </mc:Choice>
          <mc:Fallback xmlns="">
            <p:pic>
              <p:nvPicPr>
                <p:cNvPr id="39" name="Ink 38">
                  <a:extLst>
                    <a:ext uri="{FF2B5EF4-FFF2-40B4-BE49-F238E27FC236}">
                      <a16:creationId xmlns:a16="http://schemas.microsoft.com/office/drawing/2014/main" id="{BAA90A12-3F52-4265-9CFD-202CE6782ABB}"/>
                    </a:ext>
                  </a:extLst>
                </p:cNvPr>
                <p:cNvPicPr/>
                <p:nvPr/>
              </p:nvPicPr>
              <p:blipFill>
                <a:blip r:embed="rId32"/>
                <a:stretch>
                  <a:fillRect/>
                </a:stretch>
              </p:blipFill>
              <p:spPr>
                <a:xfrm>
                  <a:off x="8734958" y="891341"/>
                  <a:ext cx="262054"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40" name="Ink 39">
                  <a:extLst>
                    <a:ext uri="{FF2B5EF4-FFF2-40B4-BE49-F238E27FC236}">
                      <a16:creationId xmlns:a16="http://schemas.microsoft.com/office/drawing/2014/main" id="{58B65ADF-7906-4702-9DF2-A6F0804B6144}"/>
                    </a:ext>
                  </a:extLst>
                </p14:cNvPr>
                <p14:cNvContentPartPr/>
                <p14:nvPr/>
              </p14:nvContentPartPr>
              <p14:xfrm>
                <a:off x="8814145" y="916181"/>
                <a:ext cx="97560" cy="290880"/>
              </p14:xfrm>
            </p:contentPart>
          </mc:Choice>
          <mc:Fallback xmlns="">
            <p:pic>
              <p:nvPicPr>
                <p:cNvPr id="40" name="Ink 39">
                  <a:extLst>
                    <a:ext uri="{FF2B5EF4-FFF2-40B4-BE49-F238E27FC236}">
                      <a16:creationId xmlns:a16="http://schemas.microsoft.com/office/drawing/2014/main" id="{58B65ADF-7906-4702-9DF2-A6F0804B6144}"/>
                    </a:ext>
                  </a:extLst>
                </p:cNvPr>
                <p:cNvPicPr/>
                <p:nvPr/>
              </p:nvPicPr>
              <p:blipFill>
                <a:blip r:embed="rId34"/>
                <a:stretch>
                  <a:fillRect/>
                </a:stretch>
              </p:blipFill>
              <p:spPr>
                <a:xfrm>
                  <a:off x="8805145" y="907181"/>
                  <a:ext cx="115200" cy="3085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1" name="Ink 40">
                  <a:extLst>
                    <a:ext uri="{FF2B5EF4-FFF2-40B4-BE49-F238E27FC236}">
                      <a16:creationId xmlns:a16="http://schemas.microsoft.com/office/drawing/2014/main" id="{19396DF5-6CE6-4EA4-A0DF-03812960B3D4}"/>
                    </a:ext>
                  </a:extLst>
                </p14:cNvPr>
                <p14:cNvContentPartPr/>
                <p14:nvPr/>
              </p14:nvContentPartPr>
              <p14:xfrm>
                <a:off x="8907385" y="720701"/>
                <a:ext cx="267480" cy="484560"/>
              </p14:xfrm>
            </p:contentPart>
          </mc:Choice>
          <mc:Fallback xmlns="">
            <p:pic>
              <p:nvPicPr>
                <p:cNvPr id="41" name="Ink 40">
                  <a:extLst>
                    <a:ext uri="{FF2B5EF4-FFF2-40B4-BE49-F238E27FC236}">
                      <a16:creationId xmlns:a16="http://schemas.microsoft.com/office/drawing/2014/main" id="{19396DF5-6CE6-4EA4-A0DF-03812960B3D4}"/>
                    </a:ext>
                  </a:extLst>
                </p:cNvPr>
                <p:cNvPicPr/>
                <p:nvPr/>
              </p:nvPicPr>
              <p:blipFill>
                <a:blip r:embed="rId36"/>
                <a:stretch>
                  <a:fillRect/>
                </a:stretch>
              </p:blipFill>
              <p:spPr>
                <a:xfrm>
                  <a:off x="8898373" y="711701"/>
                  <a:ext cx="285144" cy="5022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2" name="Ink 41">
                  <a:extLst>
                    <a:ext uri="{FF2B5EF4-FFF2-40B4-BE49-F238E27FC236}">
                      <a16:creationId xmlns:a16="http://schemas.microsoft.com/office/drawing/2014/main" id="{4A2EA29F-F263-4B3F-8285-A24D8DF41A21}"/>
                    </a:ext>
                  </a:extLst>
                </p14:cNvPr>
                <p14:cNvContentPartPr/>
                <p14:nvPr/>
              </p14:nvContentPartPr>
              <p14:xfrm>
                <a:off x="9210505" y="907181"/>
                <a:ext cx="157320" cy="97560"/>
              </p14:xfrm>
            </p:contentPart>
          </mc:Choice>
          <mc:Fallback xmlns="">
            <p:pic>
              <p:nvPicPr>
                <p:cNvPr id="42" name="Ink 41">
                  <a:extLst>
                    <a:ext uri="{FF2B5EF4-FFF2-40B4-BE49-F238E27FC236}">
                      <a16:creationId xmlns:a16="http://schemas.microsoft.com/office/drawing/2014/main" id="{4A2EA29F-F263-4B3F-8285-A24D8DF41A21}"/>
                    </a:ext>
                  </a:extLst>
                </p:cNvPr>
                <p:cNvPicPr/>
                <p:nvPr/>
              </p:nvPicPr>
              <p:blipFill>
                <a:blip r:embed="rId38"/>
                <a:stretch>
                  <a:fillRect/>
                </a:stretch>
              </p:blipFill>
              <p:spPr>
                <a:xfrm>
                  <a:off x="9201484" y="898181"/>
                  <a:ext cx="175000" cy="1152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3" name="Ink 42">
                  <a:extLst>
                    <a:ext uri="{FF2B5EF4-FFF2-40B4-BE49-F238E27FC236}">
                      <a16:creationId xmlns:a16="http://schemas.microsoft.com/office/drawing/2014/main" id="{C6692549-07F1-450F-8ED0-1FBB52973955}"/>
                    </a:ext>
                  </a:extLst>
                </p14:cNvPr>
                <p14:cNvContentPartPr/>
                <p14:nvPr/>
              </p14:nvContentPartPr>
              <p14:xfrm>
                <a:off x="9430465" y="814301"/>
                <a:ext cx="162720" cy="470160"/>
              </p14:xfrm>
            </p:contentPart>
          </mc:Choice>
          <mc:Fallback xmlns="">
            <p:pic>
              <p:nvPicPr>
                <p:cNvPr id="43" name="Ink 42">
                  <a:extLst>
                    <a:ext uri="{FF2B5EF4-FFF2-40B4-BE49-F238E27FC236}">
                      <a16:creationId xmlns:a16="http://schemas.microsoft.com/office/drawing/2014/main" id="{C6692549-07F1-450F-8ED0-1FBB52973955}"/>
                    </a:ext>
                  </a:extLst>
                </p:cNvPr>
                <p:cNvPicPr/>
                <p:nvPr/>
              </p:nvPicPr>
              <p:blipFill>
                <a:blip r:embed="rId40"/>
                <a:stretch>
                  <a:fillRect/>
                </a:stretch>
              </p:blipFill>
              <p:spPr>
                <a:xfrm>
                  <a:off x="9421465" y="805308"/>
                  <a:ext cx="180360" cy="487787"/>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4" name="Ink 43">
                  <a:extLst>
                    <a:ext uri="{FF2B5EF4-FFF2-40B4-BE49-F238E27FC236}">
                      <a16:creationId xmlns:a16="http://schemas.microsoft.com/office/drawing/2014/main" id="{DC3BD4A6-735A-4AAA-BED4-62EAB406C07A}"/>
                    </a:ext>
                  </a:extLst>
                </p14:cNvPr>
                <p14:cNvContentPartPr/>
                <p14:nvPr/>
              </p14:nvContentPartPr>
              <p14:xfrm>
                <a:off x="9672385" y="1028861"/>
                <a:ext cx="104760" cy="131400"/>
              </p14:xfrm>
            </p:contentPart>
          </mc:Choice>
          <mc:Fallback xmlns="">
            <p:pic>
              <p:nvPicPr>
                <p:cNvPr id="44" name="Ink 43">
                  <a:extLst>
                    <a:ext uri="{FF2B5EF4-FFF2-40B4-BE49-F238E27FC236}">
                      <a16:creationId xmlns:a16="http://schemas.microsoft.com/office/drawing/2014/main" id="{DC3BD4A6-735A-4AAA-BED4-62EAB406C07A}"/>
                    </a:ext>
                  </a:extLst>
                </p:cNvPr>
                <p:cNvPicPr/>
                <p:nvPr/>
              </p:nvPicPr>
              <p:blipFill>
                <a:blip r:embed="rId42"/>
                <a:stretch>
                  <a:fillRect/>
                </a:stretch>
              </p:blipFill>
              <p:spPr>
                <a:xfrm>
                  <a:off x="9663385" y="1019886"/>
                  <a:ext cx="122400" cy="148992"/>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45" name="Ink 44">
                  <a:extLst>
                    <a:ext uri="{FF2B5EF4-FFF2-40B4-BE49-F238E27FC236}">
                      <a16:creationId xmlns:a16="http://schemas.microsoft.com/office/drawing/2014/main" id="{0258D99E-70FF-4086-94A9-C4A0628BCE3E}"/>
                    </a:ext>
                  </a:extLst>
                </p14:cNvPr>
                <p14:cNvContentPartPr/>
                <p14:nvPr/>
              </p14:nvContentPartPr>
              <p14:xfrm>
                <a:off x="9986305" y="908621"/>
                <a:ext cx="11520" cy="219960"/>
              </p14:xfrm>
            </p:contentPart>
          </mc:Choice>
          <mc:Fallback xmlns="">
            <p:pic>
              <p:nvPicPr>
                <p:cNvPr id="45" name="Ink 44">
                  <a:extLst>
                    <a:ext uri="{FF2B5EF4-FFF2-40B4-BE49-F238E27FC236}">
                      <a16:creationId xmlns:a16="http://schemas.microsoft.com/office/drawing/2014/main" id="{0258D99E-70FF-4086-94A9-C4A0628BCE3E}"/>
                    </a:ext>
                  </a:extLst>
                </p:cNvPr>
                <p:cNvPicPr/>
                <p:nvPr/>
              </p:nvPicPr>
              <p:blipFill>
                <a:blip r:embed="rId44"/>
                <a:stretch>
                  <a:fillRect/>
                </a:stretch>
              </p:blipFill>
              <p:spPr>
                <a:xfrm>
                  <a:off x="9977305" y="899621"/>
                  <a:ext cx="2916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46" name="Ink 45">
                  <a:extLst>
                    <a:ext uri="{FF2B5EF4-FFF2-40B4-BE49-F238E27FC236}">
                      <a16:creationId xmlns:a16="http://schemas.microsoft.com/office/drawing/2014/main" id="{5130758E-88A8-4389-B5F1-1489DBF42CED}"/>
                    </a:ext>
                  </a:extLst>
                </p14:cNvPr>
                <p14:cNvContentPartPr/>
                <p14:nvPr/>
              </p14:nvContentPartPr>
              <p14:xfrm>
                <a:off x="9930505" y="1000421"/>
                <a:ext cx="119880" cy="7200"/>
              </p14:xfrm>
            </p:contentPart>
          </mc:Choice>
          <mc:Fallback xmlns="">
            <p:pic>
              <p:nvPicPr>
                <p:cNvPr id="46" name="Ink 45">
                  <a:extLst>
                    <a:ext uri="{FF2B5EF4-FFF2-40B4-BE49-F238E27FC236}">
                      <a16:creationId xmlns:a16="http://schemas.microsoft.com/office/drawing/2014/main" id="{5130758E-88A8-4389-B5F1-1489DBF42CED}"/>
                    </a:ext>
                  </a:extLst>
                </p:cNvPr>
                <p:cNvPicPr/>
                <p:nvPr/>
              </p:nvPicPr>
              <p:blipFill>
                <a:blip r:embed="rId46"/>
                <a:stretch>
                  <a:fillRect/>
                </a:stretch>
              </p:blipFill>
              <p:spPr>
                <a:xfrm>
                  <a:off x="9921505" y="990947"/>
                  <a:ext cx="137520" cy="25768"/>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47" name="Ink 46">
                  <a:extLst>
                    <a:ext uri="{FF2B5EF4-FFF2-40B4-BE49-F238E27FC236}">
                      <a16:creationId xmlns:a16="http://schemas.microsoft.com/office/drawing/2014/main" id="{11CBFF8E-AAB2-4B31-BDA5-AC4CCE2B32BB}"/>
                    </a:ext>
                  </a:extLst>
                </p14:cNvPr>
                <p14:cNvContentPartPr/>
                <p14:nvPr/>
              </p14:nvContentPartPr>
              <p14:xfrm>
                <a:off x="10208425" y="815741"/>
                <a:ext cx="156600" cy="498600"/>
              </p14:xfrm>
            </p:contentPart>
          </mc:Choice>
          <mc:Fallback xmlns="">
            <p:pic>
              <p:nvPicPr>
                <p:cNvPr id="47" name="Ink 46">
                  <a:extLst>
                    <a:ext uri="{FF2B5EF4-FFF2-40B4-BE49-F238E27FC236}">
                      <a16:creationId xmlns:a16="http://schemas.microsoft.com/office/drawing/2014/main" id="{11CBFF8E-AAB2-4B31-BDA5-AC4CCE2B32BB}"/>
                    </a:ext>
                  </a:extLst>
                </p:cNvPr>
                <p:cNvPicPr/>
                <p:nvPr/>
              </p:nvPicPr>
              <p:blipFill>
                <a:blip r:embed="rId48"/>
                <a:stretch>
                  <a:fillRect/>
                </a:stretch>
              </p:blipFill>
              <p:spPr>
                <a:xfrm>
                  <a:off x="10199425" y="806741"/>
                  <a:ext cx="174240" cy="5162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48" name="Ink 47">
                  <a:extLst>
                    <a:ext uri="{FF2B5EF4-FFF2-40B4-BE49-F238E27FC236}">
                      <a16:creationId xmlns:a16="http://schemas.microsoft.com/office/drawing/2014/main" id="{8878725B-8F0E-46F3-8AD7-2F23D3E9732B}"/>
                    </a:ext>
                  </a:extLst>
                </p14:cNvPr>
                <p14:cNvContentPartPr/>
                <p14:nvPr/>
              </p14:nvContentPartPr>
              <p14:xfrm>
                <a:off x="10475545" y="1024181"/>
                <a:ext cx="42120" cy="163800"/>
              </p14:xfrm>
            </p:contentPart>
          </mc:Choice>
          <mc:Fallback xmlns="">
            <p:pic>
              <p:nvPicPr>
                <p:cNvPr id="48" name="Ink 47">
                  <a:extLst>
                    <a:ext uri="{FF2B5EF4-FFF2-40B4-BE49-F238E27FC236}">
                      <a16:creationId xmlns:a16="http://schemas.microsoft.com/office/drawing/2014/main" id="{8878725B-8F0E-46F3-8AD7-2F23D3E9732B}"/>
                    </a:ext>
                  </a:extLst>
                </p:cNvPr>
                <p:cNvPicPr/>
                <p:nvPr/>
              </p:nvPicPr>
              <p:blipFill>
                <a:blip r:embed="rId50"/>
                <a:stretch>
                  <a:fillRect/>
                </a:stretch>
              </p:blipFill>
              <p:spPr>
                <a:xfrm>
                  <a:off x="10466545" y="1015181"/>
                  <a:ext cx="59760" cy="1814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49" name="Ink 48">
                  <a:extLst>
                    <a:ext uri="{FF2B5EF4-FFF2-40B4-BE49-F238E27FC236}">
                      <a16:creationId xmlns:a16="http://schemas.microsoft.com/office/drawing/2014/main" id="{0EB995A7-7150-4726-BE12-AA8A23666AB7}"/>
                    </a:ext>
                  </a:extLst>
                </p14:cNvPr>
                <p14:cNvContentPartPr/>
                <p14:nvPr/>
              </p14:nvContentPartPr>
              <p14:xfrm>
                <a:off x="10621705" y="902501"/>
                <a:ext cx="215280" cy="236160"/>
              </p14:xfrm>
            </p:contentPart>
          </mc:Choice>
          <mc:Fallback xmlns="">
            <p:pic>
              <p:nvPicPr>
                <p:cNvPr id="49" name="Ink 48">
                  <a:extLst>
                    <a:ext uri="{FF2B5EF4-FFF2-40B4-BE49-F238E27FC236}">
                      <a16:creationId xmlns:a16="http://schemas.microsoft.com/office/drawing/2014/main" id="{0EB995A7-7150-4726-BE12-AA8A23666AB7}"/>
                    </a:ext>
                  </a:extLst>
                </p:cNvPr>
                <p:cNvPicPr/>
                <p:nvPr/>
              </p:nvPicPr>
              <p:blipFill>
                <a:blip r:embed="rId52"/>
                <a:stretch>
                  <a:fillRect/>
                </a:stretch>
              </p:blipFill>
              <p:spPr>
                <a:xfrm>
                  <a:off x="10612705" y="893501"/>
                  <a:ext cx="232920" cy="2538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50" name="Ink 49">
                  <a:extLst>
                    <a:ext uri="{FF2B5EF4-FFF2-40B4-BE49-F238E27FC236}">
                      <a16:creationId xmlns:a16="http://schemas.microsoft.com/office/drawing/2014/main" id="{E5DCAE77-CF68-422B-A0CE-75039659F304}"/>
                    </a:ext>
                  </a:extLst>
                </p14:cNvPr>
                <p14:cNvContentPartPr/>
                <p14:nvPr/>
              </p14:nvContentPartPr>
              <p14:xfrm>
                <a:off x="10593985" y="853541"/>
                <a:ext cx="218520" cy="293760"/>
              </p14:xfrm>
            </p:contentPart>
          </mc:Choice>
          <mc:Fallback xmlns="">
            <p:pic>
              <p:nvPicPr>
                <p:cNvPr id="50" name="Ink 49">
                  <a:extLst>
                    <a:ext uri="{FF2B5EF4-FFF2-40B4-BE49-F238E27FC236}">
                      <a16:creationId xmlns:a16="http://schemas.microsoft.com/office/drawing/2014/main" id="{E5DCAE77-CF68-422B-A0CE-75039659F304}"/>
                    </a:ext>
                  </a:extLst>
                </p:cNvPr>
                <p:cNvPicPr/>
                <p:nvPr/>
              </p:nvPicPr>
              <p:blipFill>
                <a:blip r:embed="rId54"/>
                <a:stretch>
                  <a:fillRect/>
                </a:stretch>
              </p:blipFill>
              <p:spPr>
                <a:xfrm>
                  <a:off x="10584985" y="844541"/>
                  <a:ext cx="236160" cy="311400"/>
                </a:xfrm>
                <a:prstGeom prst="rect">
                  <a:avLst/>
                </a:prstGeom>
              </p:spPr>
            </p:pic>
          </mc:Fallback>
        </mc:AlternateContent>
      </p:grpSp>
      <p:grpSp>
        <p:nvGrpSpPr>
          <p:cNvPr id="55" name="Group 54">
            <a:extLst>
              <a:ext uri="{FF2B5EF4-FFF2-40B4-BE49-F238E27FC236}">
                <a16:creationId xmlns:a16="http://schemas.microsoft.com/office/drawing/2014/main" id="{2221640E-A5DD-9F89-71D6-E087A9BB1274}"/>
              </a:ext>
            </a:extLst>
          </p:cNvPr>
          <p:cNvGrpSpPr/>
          <p:nvPr/>
        </p:nvGrpSpPr>
        <p:grpSpPr>
          <a:xfrm>
            <a:off x="3182665" y="3139181"/>
            <a:ext cx="488520" cy="360"/>
            <a:chOff x="3182665" y="3139181"/>
            <a:chExt cx="488520" cy="360"/>
          </a:xfrm>
        </p:grpSpPr>
        <mc:AlternateContent xmlns:mc="http://schemas.openxmlformats.org/markup-compatibility/2006" xmlns:p14="http://schemas.microsoft.com/office/powerpoint/2010/main">
          <mc:Choice Requires="p14">
            <p:contentPart p14:bwMode="auto" r:id="rId55">
              <p14:nvContentPartPr>
                <p14:cNvPr id="53" name="Ink 52">
                  <a:extLst>
                    <a:ext uri="{FF2B5EF4-FFF2-40B4-BE49-F238E27FC236}">
                      <a16:creationId xmlns:a16="http://schemas.microsoft.com/office/drawing/2014/main" id="{D370F187-E81D-429D-C630-C37A7833BE07}"/>
                    </a:ext>
                  </a:extLst>
                </p14:cNvPr>
                <p14:cNvContentPartPr/>
                <p14:nvPr/>
              </p14:nvContentPartPr>
              <p14:xfrm>
                <a:off x="3182665" y="3139181"/>
                <a:ext cx="205560" cy="360"/>
              </p14:xfrm>
            </p:contentPart>
          </mc:Choice>
          <mc:Fallback xmlns="">
            <p:pic>
              <p:nvPicPr>
                <p:cNvPr id="53" name="Ink 52">
                  <a:extLst>
                    <a:ext uri="{FF2B5EF4-FFF2-40B4-BE49-F238E27FC236}">
                      <a16:creationId xmlns:a16="http://schemas.microsoft.com/office/drawing/2014/main" id="{D370F187-E81D-429D-C630-C37A7833BE07}"/>
                    </a:ext>
                  </a:extLst>
                </p:cNvPr>
                <p:cNvPicPr/>
                <p:nvPr/>
              </p:nvPicPr>
              <p:blipFill>
                <a:blip r:embed="rId56"/>
                <a:stretch>
                  <a:fillRect/>
                </a:stretch>
              </p:blipFill>
              <p:spPr>
                <a:xfrm>
                  <a:off x="3173665" y="3130541"/>
                  <a:ext cx="2232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54" name="Ink 53">
                  <a:extLst>
                    <a:ext uri="{FF2B5EF4-FFF2-40B4-BE49-F238E27FC236}">
                      <a16:creationId xmlns:a16="http://schemas.microsoft.com/office/drawing/2014/main" id="{586B72C5-9DF9-45FB-82FC-2EE05C65EE13}"/>
                    </a:ext>
                  </a:extLst>
                </p14:cNvPr>
                <p14:cNvContentPartPr/>
                <p14:nvPr/>
              </p14:nvContentPartPr>
              <p14:xfrm>
                <a:off x="3559585" y="3139181"/>
                <a:ext cx="111600" cy="360"/>
              </p14:xfrm>
            </p:contentPart>
          </mc:Choice>
          <mc:Fallback xmlns="">
            <p:pic>
              <p:nvPicPr>
                <p:cNvPr id="54" name="Ink 53">
                  <a:extLst>
                    <a:ext uri="{FF2B5EF4-FFF2-40B4-BE49-F238E27FC236}">
                      <a16:creationId xmlns:a16="http://schemas.microsoft.com/office/drawing/2014/main" id="{586B72C5-9DF9-45FB-82FC-2EE05C65EE13}"/>
                    </a:ext>
                  </a:extLst>
                </p:cNvPr>
                <p:cNvPicPr/>
                <p:nvPr/>
              </p:nvPicPr>
              <p:blipFill>
                <a:blip r:embed="rId58"/>
                <a:stretch>
                  <a:fillRect/>
                </a:stretch>
              </p:blipFill>
              <p:spPr>
                <a:xfrm>
                  <a:off x="3550945" y="3130541"/>
                  <a:ext cx="129240" cy="1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9">
            <p14:nvContentPartPr>
              <p14:cNvPr id="56" name="Ink 55">
                <a:extLst>
                  <a:ext uri="{FF2B5EF4-FFF2-40B4-BE49-F238E27FC236}">
                    <a16:creationId xmlns:a16="http://schemas.microsoft.com/office/drawing/2014/main" id="{D8A37D9A-F0F0-A9C8-E46D-B22D1C6FD97B}"/>
                  </a:ext>
                </a:extLst>
              </p14:cNvPr>
              <p14:cNvContentPartPr/>
              <p14:nvPr/>
            </p14:nvContentPartPr>
            <p14:xfrm>
              <a:off x="3879985" y="3139181"/>
              <a:ext cx="220680" cy="360"/>
            </p14:xfrm>
          </p:contentPart>
        </mc:Choice>
        <mc:Fallback xmlns="">
          <p:pic>
            <p:nvPicPr>
              <p:cNvPr id="56" name="Ink 55">
                <a:extLst>
                  <a:ext uri="{FF2B5EF4-FFF2-40B4-BE49-F238E27FC236}">
                    <a16:creationId xmlns:a16="http://schemas.microsoft.com/office/drawing/2014/main" id="{D8A37D9A-F0F0-A9C8-E46D-B22D1C6FD97B}"/>
                  </a:ext>
                </a:extLst>
              </p:cNvPr>
              <p:cNvPicPr/>
              <p:nvPr/>
            </p:nvPicPr>
            <p:blipFill>
              <a:blip r:embed="rId60"/>
              <a:stretch>
                <a:fillRect/>
              </a:stretch>
            </p:blipFill>
            <p:spPr>
              <a:xfrm>
                <a:off x="3871345" y="3130541"/>
                <a:ext cx="2383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57" name="Ink 56">
                <a:extLst>
                  <a:ext uri="{FF2B5EF4-FFF2-40B4-BE49-F238E27FC236}">
                    <a16:creationId xmlns:a16="http://schemas.microsoft.com/office/drawing/2014/main" id="{D0E14C7F-FB0D-2426-F4AA-721BABA592A6}"/>
                  </a:ext>
                </a:extLst>
              </p14:cNvPr>
              <p14:cNvContentPartPr/>
              <p14:nvPr/>
            </p14:nvContentPartPr>
            <p14:xfrm>
              <a:off x="4324225" y="3139181"/>
              <a:ext cx="151920" cy="360"/>
            </p14:xfrm>
          </p:contentPart>
        </mc:Choice>
        <mc:Fallback xmlns="">
          <p:pic>
            <p:nvPicPr>
              <p:cNvPr id="57" name="Ink 56">
                <a:extLst>
                  <a:ext uri="{FF2B5EF4-FFF2-40B4-BE49-F238E27FC236}">
                    <a16:creationId xmlns:a16="http://schemas.microsoft.com/office/drawing/2014/main" id="{D0E14C7F-FB0D-2426-F4AA-721BABA592A6}"/>
                  </a:ext>
                </a:extLst>
              </p:cNvPr>
              <p:cNvPicPr/>
              <p:nvPr/>
            </p:nvPicPr>
            <p:blipFill>
              <a:blip r:embed="rId62"/>
              <a:stretch>
                <a:fillRect/>
              </a:stretch>
            </p:blipFill>
            <p:spPr>
              <a:xfrm>
                <a:off x="4315585" y="3130541"/>
                <a:ext cx="1695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58" name="Ink 57">
                <a:extLst>
                  <a:ext uri="{FF2B5EF4-FFF2-40B4-BE49-F238E27FC236}">
                    <a16:creationId xmlns:a16="http://schemas.microsoft.com/office/drawing/2014/main" id="{7E9D56F2-31B1-0E07-66B3-34BC6530BD15}"/>
                  </a:ext>
                </a:extLst>
              </p14:cNvPr>
              <p14:cNvContentPartPr/>
              <p14:nvPr/>
            </p14:nvContentPartPr>
            <p14:xfrm>
              <a:off x="4735705" y="3139181"/>
              <a:ext cx="183960" cy="360"/>
            </p14:xfrm>
          </p:contentPart>
        </mc:Choice>
        <mc:Fallback xmlns="">
          <p:pic>
            <p:nvPicPr>
              <p:cNvPr id="58" name="Ink 57">
                <a:extLst>
                  <a:ext uri="{FF2B5EF4-FFF2-40B4-BE49-F238E27FC236}">
                    <a16:creationId xmlns:a16="http://schemas.microsoft.com/office/drawing/2014/main" id="{7E9D56F2-31B1-0E07-66B3-34BC6530BD15}"/>
                  </a:ext>
                </a:extLst>
              </p:cNvPr>
              <p:cNvPicPr/>
              <p:nvPr/>
            </p:nvPicPr>
            <p:blipFill>
              <a:blip r:embed="rId64"/>
              <a:stretch>
                <a:fillRect/>
              </a:stretch>
            </p:blipFill>
            <p:spPr>
              <a:xfrm>
                <a:off x="4727065" y="3130541"/>
                <a:ext cx="2016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59" name="Ink 58">
                <a:extLst>
                  <a:ext uri="{FF2B5EF4-FFF2-40B4-BE49-F238E27FC236}">
                    <a16:creationId xmlns:a16="http://schemas.microsoft.com/office/drawing/2014/main" id="{08A7A3F6-6F53-1AAA-00F1-B48DFDB05CCC}"/>
                  </a:ext>
                </a:extLst>
              </p14:cNvPr>
              <p14:cNvContentPartPr/>
              <p14:nvPr/>
            </p14:nvContentPartPr>
            <p14:xfrm>
              <a:off x="5165905" y="3139181"/>
              <a:ext cx="196560" cy="360"/>
            </p14:xfrm>
          </p:contentPart>
        </mc:Choice>
        <mc:Fallback xmlns="">
          <p:pic>
            <p:nvPicPr>
              <p:cNvPr id="59" name="Ink 58">
                <a:extLst>
                  <a:ext uri="{FF2B5EF4-FFF2-40B4-BE49-F238E27FC236}">
                    <a16:creationId xmlns:a16="http://schemas.microsoft.com/office/drawing/2014/main" id="{08A7A3F6-6F53-1AAA-00F1-B48DFDB05CCC}"/>
                  </a:ext>
                </a:extLst>
              </p:cNvPr>
              <p:cNvPicPr/>
              <p:nvPr/>
            </p:nvPicPr>
            <p:blipFill>
              <a:blip r:embed="rId66"/>
              <a:stretch>
                <a:fillRect/>
              </a:stretch>
            </p:blipFill>
            <p:spPr>
              <a:xfrm>
                <a:off x="5156905" y="3130541"/>
                <a:ext cx="2142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60" name="Ink 59">
                <a:extLst>
                  <a:ext uri="{FF2B5EF4-FFF2-40B4-BE49-F238E27FC236}">
                    <a16:creationId xmlns:a16="http://schemas.microsoft.com/office/drawing/2014/main" id="{BB400C4F-F683-5212-B58B-D93F1CBFD820}"/>
                  </a:ext>
                </a:extLst>
              </p14:cNvPr>
              <p14:cNvContentPartPr/>
              <p14:nvPr/>
            </p14:nvContentPartPr>
            <p14:xfrm>
              <a:off x="5332585" y="2949101"/>
              <a:ext cx="360" cy="187920"/>
            </p14:xfrm>
          </p:contentPart>
        </mc:Choice>
        <mc:Fallback xmlns="">
          <p:pic>
            <p:nvPicPr>
              <p:cNvPr id="60" name="Ink 59">
                <a:extLst>
                  <a:ext uri="{FF2B5EF4-FFF2-40B4-BE49-F238E27FC236}">
                    <a16:creationId xmlns:a16="http://schemas.microsoft.com/office/drawing/2014/main" id="{BB400C4F-F683-5212-B58B-D93F1CBFD820}"/>
                  </a:ext>
                </a:extLst>
              </p:cNvPr>
              <p:cNvPicPr/>
              <p:nvPr/>
            </p:nvPicPr>
            <p:blipFill>
              <a:blip r:embed="rId68"/>
              <a:stretch>
                <a:fillRect/>
              </a:stretch>
            </p:blipFill>
            <p:spPr>
              <a:xfrm>
                <a:off x="5323945" y="2940461"/>
                <a:ext cx="1800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61" name="Ink 60">
                <a:extLst>
                  <a:ext uri="{FF2B5EF4-FFF2-40B4-BE49-F238E27FC236}">
                    <a16:creationId xmlns:a16="http://schemas.microsoft.com/office/drawing/2014/main" id="{4C22E08A-3449-61F6-C006-44DB19031E13}"/>
                  </a:ext>
                </a:extLst>
              </p14:cNvPr>
              <p14:cNvContentPartPr/>
              <p14:nvPr/>
            </p14:nvContentPartPr>
            <p14:xfrm>
              <a:off x="5332585" y="2636261"/>
              <a:ext cx="360" cy="165960"/>
            </p14:xfrm>
          </p:contentPart>
        </mc:Choice>
        <mc:Fallback xmlns="">
          <p:pic>
            <p:nvPicPr>
              <p:cNvPr id="61" name="Ink 60">
                <a:extLst>
                  <a:ext uri="{FF2B5EF4-FFF2-40B4-BE49-F238E27FC236}">
                    <a16:creationId xmlns:a16="http://schemas.microsoft.com/office/drawing/2014/main" id="{4C22E08A-3449-61F6-C006-44DB19031E13}"/>
                  </a:ext>
                </a:extLst>
              </p:cNvPr>
              <p:cNvPicPr/>
              <p:nvPr/>
            </p:nvPicPr>
            <p:blipFill>
              <a:blip r:embed="rId70"/>
              <a:stretch>
                <a:fillRect/>
              </a:stretch>
            </p:blipFill>
            <p:spPr>
              <a:xfrm>
                <a:off x="5323945" y="2627621"/>
                <a:ext cx="18000" cy="1836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62" name="Ink 61">
                <a:extLst>
                  <a:ext uri="{FF2B5EF4-FFF2-40B4-BE49-F238E27FC236}">
                    <a16:creationId xmlns:a16="http://schemas.microsoft.com/office/drawing/2014/main" id="{2C04C342-DD52-34C8-6EB3-5E8A4527A711}"/>
                  </a:ext>
                </a:extLst>
              </p14:cNvPr>
              <p14:cNvContentPartPr/>
              <p14:nvPr/>
            </p14:nvContentPartPr>
            <p14:xfrm>
              <a:off x="5303065" y="2467061"/>
              <a:ext cx="35280" cy="73440"/>
            </p14:xfrm>
          </p:contentPart>
        </mc:Choice>
        <mc:Fallback xmlns="">
          <p:pic>
            <p:nvPicPr>
              <p:cNvPr id="62" name="Ink 61">
                <a:extLst>
                  <a:ext uri="{FF2B5EF4-FFF2-40B4-BE49-F238E27FC236}">
                    <a16:creationId xmlns:a16="http://schemas.microsoft.com/office/drawing/2014/main" id="{2C04C342-DD52-34C8-6EB3-5E8A4527A711}"/>
                  </a:ext>
                </a:extLst>
              </p:cNvPr>
              <p:cNvPicPr/>
              <p:nvPr/>
            </p:nvPicPr>
            <p:blipFill>
              <a:blip r:embed="rId72"/>
              <a:stretch>
                <a:fillRect/>
              </a:stretch>
            </p:blipFill>
            <p:spPr>
              <a:xfrm>
                <a:off x="5294425" y="2458061"/>
                <a:ext cx="52920" cy="91080"/>
              </a:xfrm>
              <a:prstGeom prst="rect">
                <a:avLst/>
              </a:prstGeom>
            </p:spPr>
          </p:pic>
        </mc:Fallback>
      </mc:AlternateContent>
      <p:grpSp>
        <p:nvGrpSpPr>
          <p:cNvPr id="78" name="Group 77">
            <a:extLst>
              <a:ext uri="{FF2B5EF4-FFF2-40B4-BE49-F238E27FC236}">
                <a16:creationId xmlns:a16="http://schemas.microsoft.com/office/drawing/2014/main" id="{0DE816E8-21F6-2B30-9021-7BA4E2108E5C}"/>
              </a:ext>
            </a:extLst>
          </p:cNvPr>
          <p:cNvGrpSpPr/>
          <p:nvPr/>
        </p:nvGrpSpPr>
        <p:grpSpPr>
          <a:xfrm>
            <a:off x="5577025" y="2627621"/>
            <a:ext cx="1485720" cy="496800"/>
            <a:chOff x="5577025" y="2627621"/>
            <a:chExt cx="1485720" cy="496800"/>
          </a:xfrm>
        </p:grpSpPr>
        <mc:AlternateContent xmlns:mc="http://schemas.openxmlformats.org/markup-compatibility/2006" xmlns:p14="http://schemas.microsoft.com/office/powerpoint/2010/main">
          <mc:Choice Requires="p14">
            <p:contentPart p14:bwMode="auto" r:id="rId73">
              <p14:nvContentPartPr>
                <p14:cNvPr id="67" name="Ink 66">
                  <a:extLst>
                    <a:ext uri="{FF2B5EF4-FFF2-40B4-BE49-F238E27FC236}">
                      <a16:creationId xmlns:a16="http://schemas.microsoft.com/office/drawing/2014/main" id="{2F43467B-9ED5-2D8B-FDB1-7B54BF413A85}"/>
                    </a:ext>
                  </a:extLst>
                </p14:cNvPr>
                <p14:cNvContentPartPr/>
                <p14:nvPr/>
              </p14:nvContentPartPr>
              <p14:xfrm>
                <a:off x="5577025" y="2701421"/>
                <a:ext cx="282240" cy="262080"/>
              </p14:xfrm>
            </p:contentPart>
          </mc:Choice>
          <mc:Fallback xmlns="">
            <p:pic>
              <p:nvPicPr>
                <p:cNvPr id="67" name="Ink 66">
                  <a:extLst>
                    <a:ext uri="{FF2B5EF4-FFF2-40B4-BE49-F238E27FC236}">
                      <a16:creationId xmlns:a16="http://schemas.microsoft.com/office/drawing/2014/main" id="{2F43467B-9ED5-2D8B-FDB1-7B54BF413A85}"/>
                    </a:ext>
                  </a:extLst>
                </p:cNvPr>
                <p:cNvPicPr/>
                <p:nvPr/>
              </p:nvPicPr>
              <p:blipFill>
                <a:blip r:embed="rId74"/>
                <a:stretch>
                  <a:fillRect/>
                </a:stretch>
              </p:blipFill>
              <p:spPr>
                <a:xfrm>
                  <a:off x="5568385" y="2692781"/>
                  <a:ext cx="29988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68" name="Ink 67">
                  <a:extLst>
                    <a:ext uri="{FF2B5EF4-FFF2-40B4-BE49-F238E27FC236}">
                      <a16:creationId xmlns:a16="http://schemas.microsoft.com/office/drawing/2014/main" id="{C622B8F9-5A20-A21A-5EC1-C52B436753FA}"/>
                    </a:ext>
                  </a:extLst>
                </p14:cNvPr>
                <p14:cNvContentPartPr/>
                <p14:nvPr/>
              </p14:nvContentPartPr>
              <p14:xfrm>
                <a:off x="5986345" y="2720141"/>
                <a:ext cx="319680" cy="290160"/>
              </p14:xfrm>
            </p:contentPart>
          </mc:Choice>
          <mc:Fallback xmlns="">
            <p:pic>
              <p:nvPicPr>
                <p:cNvPr id="68" name="Ink 67">
                  <a:extLst>
                    <a:ext uri="{FF2B5EF4-FFF2-40B4-BE49-F238E27FC236}">
                      <a16:creationId xmlns:a16="http://schemas.microsoft.com/office/drawing/2014/main" id="{C622B8F9-5A20-A21A-5EC1-C52B436753FA}"/>
                    </a:ext>
                  </a:extLst>
                </p:cNvPr>
                <p:cNvPicPr/>
                <p:nvPr/>
              </p:nvPicPr>
              <p:blipFill>
                <a:blip r:embed="rId76"/>
                <a:stretch>
                  <a:fillRect/>
                </a:stretch>
              </p:blipFill>
              <p:spPr>
                <a:xfrm>
                  <a:off x="5977345" y="2711501"/>
                  <a:ext cx="337320" cy="3078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69" name="Ink 68">
                  <a:extLst>
                    <a:ext uri="{FF2B5EF4-FFF2-40B4-BE49-F238E27FC236}">
                      <a16:creationId xmlns:a16="http://schemas.microsoft.com/office/drawing/2014/main" id="{574D63BB-BD66-FC5C-844D-31F325440EF9}"/>
                    </a:ext>
                  </a:extLst>
                </p14:cNvPr>
                <p14:cNvContentPartPr/>
                <p14:nvPr/>
              </p14:nvContentPartPr>
              <p14:xfrm>
                <a:off x="6068425" y="2766221"/>
                <a:ext cx="17640" cy="247680"/>
              </p14:xfrm>
            </p:contentPart>
          </mc:Choice>
          <mc:Fallback xmlns="">
            <p:pic>
              <p:nvPicPr>
                <p:cNvPr id="69" name="Ink 68">
                  <a:extLst>
                    <a:ext uri="{FF2B5EF4-FFF2-40B4-BE49-F238E27FC236}">
                      <a16:creationId xmlns:a16="http://schemas.microsoft.com/office/drawing/2014/main" id="{574D63BB-BD66-FC5C-844D-31F325440EF9}"/>
                    </a:ext>
                  </a:extLst>
                </p:cNvPr>
                <p:cNvPicPr/>
                <p:nvPr/>
              </p:nvPicPr>
              <p:blipFill>
                <a:blip r:embed="rId78"/>
                <a:stretch>
                  <a:fillRect/>
                </a:stretch>
              </p:blipFill>
              <p:spPr>
                <a:xfrm>
                  <a:off x="6059785" y="2757581"/>
                  <a:ext cx="3528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70" name="Ink 69">
                  <a:extLst>
                    <a:ext uri="{FF2B5EF4-FFF2-40B4-BE49-F238E27FC236}">
                      <a16:creationId xmlns:a16="http://schemas.microsoft.com/office/drawing/2014/main" id="{FB60B895-E236-3C95-EB13-636A7D7418AE}"/>
                    </a:ext>
                  </a:extLst>
                </p14:cNvPr>
                <p14:cNvContentPartPr/>
                <p14:nvPr/>
              </p14:nvContentPartPr>
              <p14:xfrm>
                <a:off x="6052225" y="2856581"/>
                <a:ext cx="49680" cy="16200"/>
              </p14:xfrm>
            </p:contentPart>
          </mc:Choice>
          <mc:Fallback xmlns="">
            <p:pic>
              <p:nvPicPr>
                <p:cNvPr id="70" name="Ink 69">
                  <a:extLst>
                    <a:ext uri="{FF2B5EF4-FFF2-40B4-BE49-F238E27FC236}">
                      <a16:creationId xmlns:a16="http://schemas.microsoft.com/office/drawing/2014/main" id="{FB60B895-E236-3C95-EB13-636A7D7418AE}"/>
                    </a:ext>
                  </a:extLst>
                </p:cNvPr>
                <p:cNvPicPr/>
                <p:nvPr/>
              </p:nvPicPr>
              <p:blipFill>
                <a:blip r:embed="rId80"/>
                <a:stretch>
                  <a:fillRect/>
                </a:stretch>
              </p:blipFill>
              <p:spPr>
                <a:xfrm>
                  <a:off x="6043225" y="2847941"/>
                  <a:ext cx="6732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71" name="Ink 70">
                  <a:extLst>
                    <a:ext uri="{FF2B5EF4-FFF2-40B4-BE49-F238E27FC236}">
                      <a16:creationId xmlns:a16="http://schemas.microsoft.com/office/drawing/2014/main" id="{6843FB6B-89F9-FD72-5CD1-C8FAFE5E9B34}"/>
                    </a:ext>
                  </a:extLst>
                </p14:cNvPr>
                <p14:cNvContentPartPr/>
                <p14:nvPr/>
              </p14:nvContentPartPr>
              <p14:xfrm>
                <a:off x="6335185" y="2700701"/>
                <a:ext cx="154800" cy="342360"/>
              </p14:xfrm>
            </p:contentPart>
          </mc:Choice>
          <mc:Fallback xmlns="">
            <p:pic>
              <p:nvPicPr>
                <p:cNvPr id="71" name="Ink 70">
                  <a:extLst>
                    <a:ext uri="{FF2B5EF4-FFF2-40B4-BE49-F238E27FC236}">
                      <a16:creationId xmlns:a16="http://schemas.microsoft.com/office/drawing/2014/main" id="{6843FB6B-89F9-FD72-5CD1-C8FAFE5E9B34}"/>
                    </a:ext>
                  </a:extLst>
                </p:cNvPr>
                <p:cNvPicPr/>
                <p:nvPr/>
              </p:nvPicPr>
              <p:blipFill>
                <a:blip r:embed="rId82"/>
                <a:stretch>
                  <a:fillRect/>
                </a:stretch>
              </p:blipFill>
              <p:spPr>
                <a:xfrm>
                  <a:off x="6326545" y="2691701"/>
                  <a:ext cx="17244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72" name="Ink 71">
                  <a:extLst>
                    <a:ext uri="{FF2B5EF4-FFF2-40B4-BE49-F238E27FC236}">
                      <a16:creationId xmlns:a16="http://schemas.microsoft.com/office/drawing/2014/main" id="{05B741D4-417C-2995-C35A-E2124B3A3D4F}"/>
                    </a:ext>
                  </a:extLst>
                </p14:cNvPr>
                <p14:cNvContentPartPr/>
                <p14:nvPr/>
              </p14:nvContentPartPr>
              <p14:xfrm>
                <a:off x="6500785" y="2842181"/>
                <a:ext cx="114840" cy="282240"/>
              </p14:xfrm>
            </p:contentPart>
          </mc:Choice>
          <mc:Fallback xmlns="">
            <p:pic>
              <p:nvPicPr>
                <p:cNvPr id="72" name="Ink 71">
                  <a:extLst>
                    <a:ext uri="{FF2B5EF4-FFF2-40B4-BE49-F238E27FC236}">
                      <a16:creationId xmlns:a16="http://schemas.microsoft.com/office/drawing/2014/main" id="{05B741D4-417C-2995-C35A-E2124B3A3D4F}"/>
                    </a:ext>
                  </a:extLst>
                </p:cNvPr>
                <p:cNvPicPr/>
                <p:nvPr/>
              </p:nvPicPr>
              <p:blipFill>
                <a:blip r:embed="rId84"/>
                <a:stretch>
                  <a:fillRect/>
                </a:stretch>
              </p:blipFill>
              <p:spPr>
                <a:xfrm>
                  <a:off x="6492145" y="2833181"/>
                  <a:ext cx="132480" cy="29988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73" name="Ink 72">
                  <a:extLst>
                    <a:ext uri="{FF2B5EF4-FFF2-40B4-BE49-F238E27FC236}">
                      <a16:creationId xmlns:a16="http://schemas.microsoft.com/office/drawing/2014/main" id="{7890D3B0-E703-7E0F-E34C-277C28587527}"/>
                    </a:ext>
                  </a:extLst>
                </p14:cNvPr>
                <p14:cNvContentPartPr/>
                <p14:nvPr/>
              </p14:nvContentPartPr>
              <p14:xfrm>
                <a:off x="6705985" y="2702141"/>
                <a:ext cx="30240" cy="318960"/>
              </p14:xfrm>
            </p:contentPart>
          </mc:Choice>
          <mc:Fallback xmlns="">
            <p:pic>
              <p:nvPicPr>
                <p:cNvPr id="73" name="Ink 72">
                  <a:extLst>
                    <a:ext uri="{FF2B5EF4-FFF2-40B4-BE49-F238E27FC236}">
                      <a16:creationId xmlns:a16="http://schemas.microsoft.com/office/drawing/2014/main" id="{7890D3B0-E703-7E0F-E34C-277C28587527}"/>
                    </a:ext>
                  </a:extLst>
                </p:cNvPr>
                <p:cNvPicPr/>
                <p:nvPr/>
              </p:nvPicPr>
              <p:blipFill>
                <a:blip r:embed="rId86"/>
                <a:stretch>
                  <a:fillRect/>
                </a:stretch>
              </p:blipFill>
              <p:spPr>
                <a:xfrm>
                  <a:off x="6697345" y="2693501"/>
                  <a:ext cx="47880" cy="3366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75" name="Ink 74">
                  <a:extLst>
                    <a:ext uri="{FF2B5EF4-FFF2-40B4-BE49-F238E27FC236}">
                      <a16:creationId xmlns:a16="http://schemas.microsoft.com/office/drawing/2014/main" id="{F356E2B6-8491-A5AB-ECEB-34D45D705B0D}"/>
                    </a:ext>
                  </a:extLst>
                </p14:cNvPr>
                <p14:cNvContentPartPr/>
                <p14:nvPr/>
              </p14:nvContentPartPr>
              <p14:xfrm>
                <a:off x="6815065" y="2813381"/>
                <a:ext cx="125640" cy="221400"/>
              </p14:xfrm>
            </p:contentPart>
          </mc:Choice>
          <mc:Fallback xmlns="">
            <p:pic>
              <p:nvPicPr>
                <p:cNvPr id="75" name="Ink 74">
                  <a:extLst>
                    <a:ext uri="{FF2B5EF4-FFF2-40B4-BE49-F238E27FC236}">
                      <a16:creationId xmlns:a16="http://schemas.microsoft.com/office/drawing/2014/main" id="{F356E2B6-8491-A5AB-ECEB-34D45D705B0D}"/>
                    </a:ext>
                  </a:extLst>
                </p:cNvPr>
                <p:cNvPicPr/>
                <p:nvPr/>
              </p:nvPicPr>
              <p:blipFill>
                <a:blip r:embed="rId88"/>
                <a:stretch>
                  <a:fillRect/>
                </a:stretch>
              </p:blipFill>
              <p:spPr>
                <a:xfrm>
                  <a:off x="6806425" y="2804381"/>
                  <a:ext cx="14328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76" name="Ink 75">
                  <a:extLst>
                    <a:ext uri="{FF2B5EF4-FFF2-40B4-BE49-F238E27FC236}">
                      <a16:creationId xmlns:a16="http://schemas.microsoft.com/office/drawing/2014/main" id="{8A33BE96-F8FC-9C5D-7B90-5D585CF82A15}"/>
                    </a:ext>
                  </a:extLst>
                </p14:cNvPr>
                <p14:cNvContentPartPr/>
                <p14:nvPr/>
              </p14:nvContentPartPr>
              <p14:xfrm>
                <a:off x="6824065" y="2825261"/>
                <a:ext cx="97560" cy="221400"/>
              </p14:xfrm>
            </p:contentPart>
          </mc:Choice>
          <mc:Fallback xmlns="">
            <p:pic>
              <p:nvPicPr>
                <p:cNvPr id="76" name="Ink 75">
                  <a:extLst>
                    <a:ext uri="{FF2B5EF4-FFF2-40B4-BE49-F238E27FC236}">
                      <a16:creationId xmlns:a16="http://schemas.microsoft.com/office/drawing/2014/main" id="{8A33BE96-F8FC-9C5D-7B90-5D585CF82A15}"/>
                    </a:ext>
                  </a:extLst>
                </p:cNvPr>
                <p:cNvPicPr/>
                <p:nvPr/>
              </p:nvPicPr>
              <p:blipFill>
                <a:blip r:embed="rId90"/>
                <a:stretch>
                  <a:fillRect/>
                </a:stretch>
              </p:blipFill>
              <p:spPr>
                <a:xfrm>
                  <a:off x="6815425" y="2816621"/>
                  <a:ext cx="11520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77" name="Ink 76">
                  <a:extLst>
                    <a:ext uri="{FF2B5EF4-FFF2-40B4-BE49-F238E27FC236}">
                      <a16:creationId xmlns:a16="http://schemas.microsoft.com/office/drawing/2014/main" id="{1ACAECA5-0F14-9742-B52A-B63D821603F1}"/>
                    </a:ext>
                  </a:extLst>
                </p14:cNvPr>
                <p14:cNvContentPartPr/>
                <p14:nvPr/>
              </p14:nvContentPartPr>
              <p14:xfrm>
                <a:off x="6855385" y="2627621"/>
                <a:ext cx="207360" cy="438840"/>
              </p14:xfrm>
            </p:contentPart>
          </mc:Choice>
          <mc:Fallback xmlns="">
            <p:pic>
              <p:nvPicPr>
                <p:cNvPr id="77" name="Ink 76">
                  <a:extLst>
                    <a:ext uri="{FF2B5EF4-FFF2-40B4-BE49-F238E27FC236}">
                      <a16:creationId xmlns:a16="http://schemas.microsoft.com/office/drawing/2014/main" id="{1ACAECA5-0F14-9742-B52A-B63D821603F1}"/>
                    </a:ext>
                  </a:extLst>
                </p:cNvPr>
                <p:cNvPicPr/>
                <p:nvPr/>
              </p:nvPicPr>
              <p:blipFill>
                <a:blip r:embed="rId92"/>
                <a:stretch>
                  <a:fillRect/>
                </a:stretch>
              </p:blipFill>
              <p:spPr>
                <a:xfrm>
                  <a:off x="6846745" y="2618621"/>
                  <a:ext cx="225000" cy="456480"/>
                </a:xfrm>
                <a:prstGeom prst="rect">
                  <a:avLst/>
                </a:prstGeom>
              </p:spPr>
            </p:pic>
          </mc:Fallback>
        </mc:AlternateContent>
      </p:grpSp>
      <p:grpSp>
        <p:nvGrpSpPr>
          <p:cNvPr id="84" name="Group 83">
            <a:extLst>
              <a:ext uri="{FF2B5EF4-FFF2-40B4-BE49-F238E27FC236}">
                <a16:creationId xmlns:a16="http://schemas.microsoft.com/office/drawing/2014/main" id="{8F4629B6-F707-7636-1D82-11834EF7B164}"/>
              </a:ext>
            </a:extLst>
          </p:cNvPr>
          <p:cNvGrpSpPr/>
          <p:nvPr/>
        </p:nvGrpSpPr>
        <p:grpSpPr>
          <a:xfrm>
            <a:off x="5381905" y="3568661"/>
            <a:ext cx="312120" cy="670320"/>
            <a:chOff x="5381905" y="3568661"/>
            <a:chExt cx="312120" cy="670320"/>
          </a:xfrm>
        </p:grpSpPr>
        <mc:AlternateContent xmlns:mc="http://schemas.openxmlformats.org/markup-compatibility/2006" xmlns:p14="http://schemas.microsoft.com/office/powerpoint/2010/main">
          <mc:Choice Requires="p14">
            <p:contentPart p14:bwMode="auto" r:id="rId93">
              <p14:nvContentPartPr>
                <p14:cNvPr id="79" name="Ink 78">
                  <a:extLst>
                    <a:ext uri="{FF2B5EF4-FFF2-40B4-BE49-F238E27FC236}">
                      <a16:creationId xmlns:a16="http://schemas.microsoft.com/office/drawing/2014/main" id="{FB04FAE1-A580-BC6D-B4EF-C80E03FFBA3B}"/>
                    </a:ext>
                  </a:extLst>
                </p14:cNvPr>
                <p14:cNvContentPartPr/>
                <p14:nvPr/>
              </p14:nvContentPartPr>
              <p14:xfrm>
                <a:off x="5381905" y="3568661"/>
                <a:ext cx="199080" cy="670320"/>
              </p14:xfrm>
            </p:contentPart>
          </mc:Choice>
          <mc:Fallback xmlns="">
            <p:pic>
              <p:nvPicPr>
                <p:cNvPr id="79" name="Ink 78">
                  <a:extLst>
                    <a:ext uri="{FF2B5EF4-FFF2-40B4-BE49-F238E27FC236}">
                      <a16:creationId xmlns:a16="http://schemas.microsoft.com/office/drawing/2014/main" id="{FB04FAE1-A580-BC6D-B4EF-C80E03FFBA3B}"/>
                    </a:ext>
                  </a:extLst>
                </p:cNvPr>
                <p:cNvPicPr/>
                <p:nvPr/>
              </p:nvPicPr>
              <p:blipFill>
                <a:blip r:embed="rId94"/>
                <a:stretch>
                  <a:fillRect/>
                </a:stretch>
              </p:blipFill>
              <p:spPr>
                <a:xfrm>
                  <a:off x="5373265" y="3559661"/>
                  <a:ext cx="216720" cy="68796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80" name="Ink 79">
                  <a:extLst>
                    <a:ext uri="{FF2B5EF4-FFF2-40B4-BE49-F238E27FC236}">
                      <a16:creationId xmlns:a16="http://schemas.microsoft.com/office/drawing/2014/main" id="{13F77877-6886-02A6-D3FA-43A8C0D0E4F1}"/>
                    </a:ext>
                  </a:extLst>
                </p14:cNvPr>
                <p14:cNvContentPartPr/>
                <p14:nvPr/>
              </p14:nvContentPartPr>
              <p14:xfrm>
                <a:off x="5682505" y="3893021"/>
                <a:ext cx="11520" cy="125640"/>
              </p14:xfrm>
            </p:contentPart>
          </mc:Choice>
          <mc:Fallback xmlns="">
            <p:pic>
              <p:nvPicPr>
                <p:cNvPr id="80" name="Ink 79">
                  <a:extLst>
                    <a:ext uri="{FF2B5EF4-FFF2-40B4-BE49-F238E27FC236}">
                      <a16:creationId xmlns:a16="http://schemas.microsoft.com/office/drawing/2014/main" id="{13F77877-6886-02A6-D3FA-43A8C0D0E4F1}"/>
                    </a:ext>
                  </a:extLst>
                </p:cNvPr>
                <p:cNvPicPr/>
                <p:nvPr/>
              </p:nvPicPr>
              <p:blipFill>
                <a:blip r:embed="rId96"/>
                <a:stretch>
                  <a:fillRect/>
                </a:stretch>
              </p:blipFill>
              <p:spPr>
                <a:xfrm>
                  <a:off x="5673865" y="3884021"/>
                  <a:ext cx="29160" cy="143280"/>
                </a:xfrm>
                <a:prstGeom prst="rect">
                  <a:avLst/>
                </a:prstGeom>
              </p:spPr>
            </p:pic>
          </mc:Fallback>
        </mc:AlternateContent>
      </p:grpSp>
      <p:grpSp>
        <p:nvGrpSpPr>
          <p:cNvPr id="83" name="Group 82">
            <a:extLst>
              <a:ext uri="{FF2B5EF4-FFF2-40B4-BE49-F238E27FC236}">
                <a16:creationId xmlns:a16="http://schemas.microsoft.com/office/drawing/2014/main" id="{D2A832C9-0189-C225-0924-FCDB69E510BE}"/>
              </a:ext>
            </a:extLst>
          </p:cNvPr>
          <p:cNvGrpSpPr/>
          <p:nvPr/>
        </p:nvGrpSpPr>
        <p:grpSpPr>
          <a:xfrm>
            <a:off x="5895265" y="3754061"/>
            <a:ext cx="140760" cy="58680"/>
            <a:chOff x="5895265" y="3754061"/>
            <a:chExt cx="140760" cy="58680"/>
          </a:xfrm>
        </p:grpSpPr>
        <mc:AlternateContent xmlns:mc="http://schemas.openxmlformats.org/markup-compatibility/2006" xmlns:p14="http://schemas.microsoft.com/office/powerpoint/2010/main">
          <mc:Choice Requires="p14">
            <p:contentPart p14:bwMode="auto" r:id="rId97">
              <p14:nvContentPartPr>
                <p14:cNvPr id="81" name="Ink 80">
                  <a:extLst>
                    <a:ext uri="{FF2B5EF4-FFF2-40B4-BE49-F238E27FC236}">
                      <a16:creationId xmlns:a16="http://schemas.microsoft.com/office/drawing/2014/main" id="{D79AE09E-DEE8-EBCF-D6D7-219D3D4FFF41}"/>
                    </a:ext>
                  </a:extLst>
                </p14:cNvPr>
                <p14:cNvContentPartPr/>
                <p14:nvPr/>
              </p14:nvContentPartPr>
              <p14:xfrm>
                <a:off x="5895265" y="3754061"/>
                <a:ext cx="133920" cy="14400"/>
              </p14:xfrm>
            </p:contentPart>
          </mc:Choice>
          <mc:Fallback xmlns="">
            <p:pic>
              <p:nvPicPr>
                <p:cNvPr id="81" name="Ink 80">
                  <a:extLst>
                    <a:ext uri="{FF2B5EF4-FFF2-40B4-BE49-F238E27FC236}">
                      <a16:creationId xmlns:a16="http://schemas.microsoft.com/office/drawing/2014/main" id="{D79AE09E-DEE8-EBCF-D6D7-219D3D4FFF41}"/>
                    </a:ext>
                  </a:extLst>
                </p:cNvPr>
                <p:cNvPicPr/>
                <p:nvPr/>
              </p:nvPicPr>
              <p:blipFill>
                <a:blip r:embed="rId98"/>
                <a:stretch>
                  <a:fillRect/>
                </a:stretch>
              </p:blipFill>
              <p:spPr>
                <a:xfrm>
                  <a:off x="5886625" y="3745421"/>
                  <a:ext cx="15156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82" name="Ink 81">
                  <a:extLst>
                    <a:ext uri="{FF2B5EF4-FFF2-40B4-BE49-F238E27FC236}">
                      <a16:creationId xmlns:a16="http://schemas.microsoft.com/office/drawing/2014/main" id="{050C8FE0-7101-7566-4BA8-C9D329C45EF8}"/>
                    </a:ext>
                  </a:extLst>
                </p14:cNvPr>
                <p14:cNvContentPartPr/>
                <p14:nvPr/>
              </p14:nvContentPartPr>
              <p14:xfrm>
                <a:off x="5896705" y="3801221"/>
                <a:ext cx="139320" cy="11520"/>
              </p14:xfrm>
            </p:contentPart>
          </mc:Choice>
          <mc:Fallback xmlns="">
            <p:pic>
              <p:nvPicPr>
                <p:cNvPr id="82" name="Ink 81">
                  <a:extLst>
                    <a:ext uri="{FF2B5EF4-FFF2-40B4-BE49-F238E27FC236}">
                      <a16:creationId xmlns:a16="http://schemas.microsoft.com/office/drawing/2014/main" id="{050C8FE0-7101-7566-4BA8-C9D329C45EF8}"/>
                    </a:ext>
                  </a:extLst>
                </p:cNvPr>
                <p:cNvPicPr/>
                <p:nvPr/>
              </p:nvPicPr>
              <p:blipFill>
                <a:blip r:embed="rId100"/>
                <a:stretch>
                  <a:fillRect/>
                </a:stretch>
              </p:blipFill>
              <p:spPr>
                <a:xfrm>
                  <a:off x="5888065" y="3792221"/>
                  <a:ext cx="156960" cy="29160"/>
                </a:xfrm>
                <a:prstGeom prst="rect">
                  <a:avLst/>
                </a:prstGeom>
              </p:spPr>
            </p:pic>
          </mc:Fallback>
        </mc:AlternateContent>
      </p:grpSp>
      <p:grpSp>
        <p:nvGrpSpPr>
          <p:cNvPr id="99" name="Group 98">
            <a:extLst>
              <a:ext uri="{FF2B5EF4-FFF2-40B4-BE49-F238E27FC236}">
                <a16:creationId xmlns:a16="http://schemas.microsoft.com/office/drawing/2014/main" id="{5C27C879-7911-62DC-E571-91ECDDAB9A70}"/>
              </a:ext>
            </a:extLst>
          </p:cNvPr>
          <p:cNvGrpSpPr/>
          <p:nvPr/>
        </p:nvGrpSpPr>
        <p:grpSpPr>
          <a:xfrm>
            <a:off x="6283705" y="3359861"/>
            <a:ext cx="1507320" cy="1049760"/>
            <a:chOff x="6283705" y="3359861"/>
            <a:chExt cx="1507320" cy="1049760"/>
          </a:xfrm>
        </p:grpSpPr>
        <mc:AlternateContent xmlns:mc="http://schemas.openxmlformats.org/markup-compatibility/2006" xmlns:p14="http://schemas.microsoft.com/office/powerpoint/2010/main">
          <mc:Choice Requires="p14">
            <p:contentPart p14:bwMode="auto" r:id="rId101">
              <p14:nvContentPartPr>
                <p14:cNvPr id="85" name="Ink 84">
                  <a:extLst>
                    <a:ext uri="{FF2B5EF4-FFF2-40B4-BE49-F238E27FC236}">
                      <a16:creationId xmlns:a16="http://schemas.microsoft.com/office/drawing/2014/main" id="{01D03EF9-5678-BE32-B0F8-11F9B113F786}"/>
                    </a:ext>
                  </a:extLst>
                </p14:cNvPr>
                <p14:cNvContentPartPr/>
                <p14:nvPr/>
              </p14:nvContentPartPr>
              <p14:xfrm>
                <a:off x="6464425" y="3436181"/>
                <a:ext cx="198000" cy="320760"/>
              </p14:xfrm>
            </p:contentPart>
          </mc:Choice>
          <mc:Fallback xmlns="">
            <p:pic>
              <p:nvPicPr>
                <p:cNvPr id="85" name="Ink 84">
                  <a:extLst>
                    <a:ext uri="{FF2B5EF4-FFF2-40B4-BE49-F238E27FC236}">
                      <a16:creationId xmlns:a16="http://schemas.microsoft.com/office/drawing/2014/main" id="{01D03EF9-5678-BE32-B0F8-11F9B113F786}"/>
                    </a:ext>
                  </a:extLst>
                </p:cNvPr>
                <p:cNvPicPr/>
                <p:nvPr/>
              </p:nvPicPr>
              <p:blipFill>
                <a:blip r:embed="rId102"/>
                <a:stretch>
                  <a:fillRect/>
                </a:stretch>
              </p:blipFill>
              <p:spPr>
                <a:xfrm>
                  <a:off x="6455785" y="3427181"/>
                  <a:ext cx="215640" cy="3384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86" name="Ink 85">
                  <a:extLst>
                    <a:ext uri="{FF2B5EF4-FFF2-40B4-BE49-F238E27FC236}">
                      <a16:creationId xmlns:a16="http://schemas.microsoft.com/office/drawing/2014/main" id="{A0224E0B-7AAC-7969-5FCD-43FC04093B8F}"/>
                    </a:ext>
                  </a:extLst>
                </p14:cNvPr>
                <p14:cNvContentPartPr/>
                <p14:nvPr/>
              </p14:nvContentPartPr>
              <p14:xfrm>
                <a:off x="6728305" y="3465341"/>
                <a:ext cx="214200" cy="266760"/>
              </p14:xfrm>
            </p:contentPart>
          </mc:Choice>
          <mc:Fallback xmlns="">
            <p:pic>
              <p:nvPicPr>
                <p:cNvPr id="86" name="Ink 85">
                  <a:extLst>
                    <a:ext uri="{FF2B5EF4-FFF2-40B4-BE49-F238E27FC236}">
                      <a16:creationId xmlns:a16="http://schemas.microsoft.com/office/drawing/2014/main" id="{A0224E0B-7AAC-7969-5FCD-43FC04093B8F}"/>
                    </a:ext>
                  </a:extLst>
                </p:cNvPr>
                <p:cNvPicPr/>
                <p:nvPr/>
              </p:nvPicPr>
              <p:blipFill>
                <a:blip r:embed="rId104"/>
                <a:stretch>
                  <a:fillRect/>
                </a:stretch>
              </p:blipFill>
              <p:spPr>
                <a:xfrm>
                  <a:off x="6719305" y="3456341"/>
                  <a:ext cx="231840" cy="28440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87" name="Ink 86">
                  <a:extLst>
                    <a:ext uri="{FF2B5EF4-FFF2-40B4-BE49-F238E27FC236}">
                      <a16:creationId xmlns:a16="http://schemas.microsoft.com/office/drawing/2014/main" id="{65283853-3F12-C8D3-746B-11D4E6B91E34}"/>
                    </a:ext>
                  </a:extLst>
                </p14:cNvPr>
                <p14:cNvContentPartPr/>
                <p14:nvPr/>
              </p14:nvContentPartPr>
              <p14:xfrm>
                <a:off x="6808585" y="3462821"/>
                <a:ext cx="65160" cy="248400"/>
              </p14:xfrm>
            </p:contentPart>
          </mc:Choice>
          <mc:Fallback xmlns="">
            <p:pic>
              <p:nvPicPr>
                <p:cNvPr id="87" name="Ink 86">
                  <a:extLst>
                    <a:ext uri="{FF2B5EF4-FFF2-40B4-BE49-F238E27FC236}">
                      <a16:creationId xmlns:a16="http://schemas.microsoft.com/office/drawing/2014/main" id="{65283853-3F12-C8D3-746B-11D4E6B91E34}"/>
                    </a:ext>
                  </a:extLst>
                </p:cNvPr>
                <p:cNvPicPr/>
                <p:nvPr/>
              </p:nvPicPr>
              <p:blipFill>
                <a:blip r:embed="rId106"/>
                <a:stretch>
                  <a:fillRect/>
                </a:stretch>
              </p:blipFill>
              <p:spPr>
                <a:xfrm>
                  <a:off x="6799585" y="3454181"/>
                  <a:ext cx="82800" cy="26604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88" name="Ink 87">
                  <a:extLst>
                    <a:ext uri="{FF2B5EF4-FFF2-40B4-BE49-F238E27FC236}">
                      <a16:creationId xmlns:a16="http://schemas.microsoft.com/office/drawing/2014/main" id="{ED4F30C6-5938-88F2-E7A2-9DD6D8F73A02}"/>
                    </a:ext>
                  </a:extLst>
                </p14:cNvPr>
                <p14:cNvContentPartPr/>
                <p14:nvPr/>
              </p14:nvContentPartPr>
              <p14:xfrm>
                <a:off x="6771865" y="3592781"/>
                <a:ext cx="125640" cy="24840"/>
              </p14:xfrm>
            </p:contentPart>
          </mc:Choice>
          <mc:Fallback xmlns="">
            <p:pic>
              <p:nvPicPr>
                <p:cNvPr id="88" name="Ink 87">
                  <a:extLst>
                    <a:ext uri="{FF2B5EF4-FFF2-40B4-BE49-F238E27FC236}">
                      <a16:creationId xmlns:a16="http://schemas.microsoft.com/office/drawing/2014/main" id="{ED4F30C6-5938-88F2-E7A2-9DD6D8F73A02}"/>
                    </a:ext>
                  </a:extLst>
                </p:cNvPr>
                <p:cNvPicPr/>
                <p:nvPr/>
              </p:nvPicPr>
              <p:blipFill>
                <a:blip r:embed="rId108"/>
                <a:stretch>
                  <a:fillRect/>
                </a:stretch>
              </p:blipFill>
              <p:spPr>
                <a:xfrm>
                  <a:off x="6763225" y="3584141"/>
                  <a:ext cx="14328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89" name="Ink 88">
                  <a:extLst>
                    <a:ext uri="{FF2B5EF4-FFF2-40B4-BE49-F238E27FC236}">
                      <a16:creationId xmlns:a16="http://schemas.microsoft.com/office/drawing/2014/main" id="{53523931-3C45-8FCD-8B90-C6FFFA5CFA76}"/>
                    </a:ext>
                  </a:extLst>
                </p14:cNvPr>
                <p14:cNvContentPartPr/>
                <p14:nvPr/>
              </p14:nvContentPartPr>
              <p14:xfrm>
                <a:off x="7018105" y="3429341"/>
                <a:ext cx="124560" cy="302040"/>
              </p14:xfrm>
            </p:contentPart>
          </mc:Choice>
          <mc:Fallback xmlns="">
            <p:pic>
              <p:nvPicPr>
                <p:cNvPr id="89" name="Ink 88">
                  <a:extLst>
                    <a:ext uri="{FF2B5EF4-FFF2-40B4-BE49-F238E27FC236}">
                      <a16:creationId xmlns:a16="http://schemas.microsoft.com/office/drawing/2014/main" id="{53523931-3C45-8FCD-8B90-C6FFFA5CFA76}"/>
                    </a:ext>
                  </a:extLst>
                </p:cNvPr>
                <p:cNvPicPr/>
                <p:nvPr/>
              </p:nvPicPr>
              <p:blipFill>
                <a:blip r:embed="rId110"/>
                <a:stretch>
                  <a:fillRect/>
                </a:stretch>
              </p:blipFill>
              <p:spPr>
                <a:xfrm>
                  <a:off x="7009105" y="3420341"/>
                  <a:ext cx="142200" cy="31968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90" name="Ink 89">
                  <a:extLst>
                    <a:ext uri="{FF2B5EF4-FFF2-40B4-BE49-F238E27FC236}">
                      <a16:creationId xmlns:a16="http://schemas.microsoft.com/office/drawing/2014/main" id="{581E58E2-1526-319F-2DE8-D469B33FF511}"/>
                    </a:ext>
                  </a:extLst>
                </p14:cNvPr>
                <p14:cNvContentPartPr/>
                <p14:nvPr/>
              </p14:nvContentPartPr>
              <p14:xfrm>
                <a:off x="7195225" y="3570461"/>
                <a:ext cx="120600" cy="265320"/>
              </p14:xfrm>
            </p:contentPart>
          </mc:Choice>
          <mc:Fallback xmlns="">
            <p:pic>
              <p:nvPicPr>
                <p:cNvPr id="90" name="Ink 89">
                  <a:extLst>
                    <a:ext uri="{FF2B5EF4-FFF2-40B4-BE49-F238E27FC236}">
                      <a16:creationId xmlns:a16="http://schemas.microsoft.com/office/drawing/2014/main" id="{581E58E2-1526-319F-2DE8-D469B33FF511}"/>
                    </a:ext>
                  </a:extLst>
                </p:cNvPr>
                <p:cNvPicPr/>
                <p:nvPr/>
              </p:nvPicPr>
              <p:blipFill>
                <a:blip r:embed="rId112"/>
                <a:stretch>
                  <a:fillRect/>
                </a:stretch>
              </p:blipFill>
              <p:spPr>
                <a:xfrm>
                  <a:off x="7186585" y="3561461"/>
                  <a:ext cx="138240" cy="28296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91" name="Ink 90">
                  <a:extLst>
                    <a:ext uri="{FF2B5EF4-FFF2-40B4-BE49-F238E27FC236}">
                      <a16:creationId xmlns:a16="http://schemas.microsoft.com/office/drawing/2014/main" id="{40D9A636-E3E8-5F91-E84C-4A33AF0D9509}"/>
                    </a:ext>
                  </a:extLst>
                </p14:cNvPr>
                <p14:cNvContentPartPr/>
                <p14:nvPr/>
              </p14:nvContentPartPr>
              <p14:xfrm>
                <a:off x="7365505" y="3425741"/>
                <a:ext cx="72720" cy="304200"/>
              </p14:xfrm>
            </p:contentPart>
          </mc:Choice>
          <mc:Fallback xmlns="">
            <p:pic>
              <p:nvPicPr>
                <p:cNvPr id="91" name="Ink 90">
                  <a:extLst>
                    <a:ext uri="{FF2B5EF4-FFF2-40B4-BE49-F238E27FC236}">
                      <a16:creationId xmlns:a16="http://schemas.microsoft.com/office/drawing/2014/main" id="{40D9A636-E3E8-5F91-E84C-4A33AF0D9509}"/>
                    </a:ext>
                  </a:extLst>
                </p:cNvPr>
                <p:cNvPicPr/>
                <p:nvPr/>
              </p:nvPicPr>
              <p:blipFill>
                <a:blip r:embed="rId114"/>
                <a:stretch>
                  <a:fillRect/>
                </a:stretch>
              </p:blipFill>
              <p:spPr>
                <a:xfrm>
                  <a:off x="7356865" y="3416741"/>
                  <a:ext cx="90360" cy="32184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92" name="Ink 91">
                  <a:extLst>
                    <a:ext uri="{FF2B5EF4-FFF2-40B4-BE49-F238E27FC236}">
                      <a16:creationId xmlns:a16="http://schemas.microsoft.com/office/drawing/2014/main" id="{2873A104-215F-1D5B-4DE5-D6165F9D8DD0}"/>
                    </a:ext>
                  </a:extLst>
                </p14:cNvPr>
                <p14:cNvContentPartPr/>
                <p14:nvPr/>
              </p14:nvContentPartPr>
              <p14:xfrm>
                <a:off x="7489345" y="3518261"/>
                <a:ext cx="124920" cy="188640"/>
              </p14:xfrm>
            </p:contentPart>
          </mc:Choice>
          <mc:Fallback xmlns="">
            <p:pic>
              <p:nvPicPr>
                <p:cNvPr id="92" name="Ink 91">
                  <a:extLst>
                    <a:ext uri="{FF2B5EF4-FFF2-40B4-BE49-F238E27FC236}">
                      <a16:creationId xmlns:a16="http://schemas.microsoft.com/office/drawing/2014/main" id="{2873A104-215F-1D5B-4DE5-D6165F9D8DD0}"/>
                    </a:ext>
                  </a:extLst>
                </p:cNvPr>
                <p:cNvPicPr/>
                <p:nvPr/>
              </p:nvPicPr>
              <p:blipFill>
                <a:blip r:embed="rId116"/>
                <a:stretch>
                  <a:fillRect/>
                </a:stretch>
              </p:blipFill>
              <p:spPr>
                <a:xfrm>
                  <a:off x="7480705" y="3509261"/>
                  <a:ext cx="14256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93" name="Ink 92">
                  <a:extLst>
                    <a:ext uri="{FF2B5EF4-FFF2-40B4-BE49-F238E27FC236}">
                      <a16:creationId xmlns:a16="http://schemas.microsoft.com/office/drawing/2014/main" id="{E4CD091F-86E4-970C-F16F-E718BE09F81F}"/>
                    </a:ext>
                  </a:extLst>
                </p14:cNvPr>
                <p14:cNvContentPartPr/>
                <p14:nvPr/>
              </p14:nvContentPartPr>
              <p14:xfrm>
                <a:off x="7501585" y="3537701"/>
                <a:ext cx="101880" cy="219960"/>
              </p14:xfrm>
            </p:contentPart>
          </mc:Choice>
          <mc:Fallback xmlns="">
            <p:pic>
              <p:nvPicPr>
                <p:cNvPr id="93" name="Ink 92">
                  <a:extLst>
                    <a:ext uri="{FF2B5EF4-FFF2-40B4-BE49-F238E27FC236}">
                      <a16:creationId xmlns:a16="http://schemas.microsoft.com/office/drawing/2014/main" id="{E4CD091F-86E4-970C-F16F-E718BE09F81F}"/>
                    </a:ext>
                  </a:extLst>
                </p:cNvPr>
                <p:cNvPicPr/>
                <p:nvPr/>
              </p:nvPicPr>
              <p:blipFill>
                <a:blip r:embed="rId118"/>
                <a:stretch>
                  <a:fillRect/>
                </a:stretch>
              </p:blipFill>
              <p:spPr>
                <a:xfrm>
                  <a:off x="7492585" y="3528701"/>
                  <a:ext cx="11952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94" name="Ink 93">
                  <a:extLst>
                    <a:ext uri="{FF2B5EF4-FFF2-40B4-BE49-F238E27FC236}">
                      <a16:creationId xmlns:a16="http://schemas.microsoft.com/office/drawing/2014/main" id="{BD78AF4D-3DA8-F6FF-7DDD-40DD06AFFFB8}"/>
                    </a:ext>
                  </a:extLst>
                </p14:cNvPr>
                <p14:cNvContentPartPr/>
                <p14:nvPr/>
              </p14:nvContentPartPr>
              <p14:xfrm>
                <a:off x="7609585" y="3359861"/>
                <a:ext cx="181440" cy="385200"/>
              </p14:xfrm>
            </p:contentPart>
          </mc:Choice>
          <mc:Fallback xmlns="">
            <p:pic>
              <p:nvPicPr>
                <p:cNvPr id="94" name="Ink 93">
                  <a:extLst>
                    <a:ext uri="{FF2B5EF4-FFF2-40B4-BE49-F238E27FC236}">
                      <a16:creationId xmlns:a16="http://schemas.microsoft.com/office/drawing/2014/main" id="{BD78AF4D-3DA8-F6FF-7DDD-40DD06AFFFB8}"/>
                    </a:ext>
                  </a:extLst>
                </p:cNvPr>
                <p:cNvPicPr/>
                <p:nvPr/>
              </p:nvPicPr>
              <p:blipFill>
                <a:blip r:embed="rId120"/>
                <a:stretch>
                  <a:fillRect/>
                </a:stretch>
              </p:blipFill>
              <p:spPr>
                <a:xfrm>
                  <a:off x="7600945" y="3350861"/>
                  <a:ext cx="199080" cy="40284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95" name="Ink 94">
                  <a:extLst>
                    <a:ext uri="{FF2B5EF4-FFF2-40B4-BE49-F238E27FC236}">
                      <a16:creationId xmlns:a16="http://schemas.microsoft.com/office/drawing/2014/main" id="{9DE44A43-F3CC-5D2E-31BA-2E984F3E20FC}"/>
                    </a:ext>
                  </a:extLst>
                </p14:cNvPr>
                <p14:cNvContentPartPr/>
                <p14:nvPr/>
              </p14:nvContentPartPr>
              <p14:xfrm>
                <a:off x="6283705" y="3939101"/>
                <a:ext cx="1481400" cy="19080"/>
              </p14:xfrm>
            </p:contentPart>
          </mc:Choice>
          <mc:Fallback xmlns="">
            <p:pic>
              <p:nvPicPr>
                <p:cNvPr id="95" name="Ink 94">
                  <a:extLst>
                    <a:ext uri="{FF2B5EF4-FFF2-40B4-BE49-F238E27FC236}">
                      <a16:creationId xmlns:a16="http://schemas.microsoft.com/office/drawing/2014/main" id="{9DE44A43-F3CC-5D2E-31BA-2E984F3E20FC}"/>
                    </a:ext>
                  </a:extLst>
                </p:cNvPr>
                <p:cNvPicPr/>
                <p:nvPr/>
              </p:nvPicPr>
              <p:blipFill>
                <a:blip r:embed="rId122"/>
                <a:stretch>
                  <a:fillRect/>
                </a:stretch>
              </p:blipFill>
              <p:spPr>
                <a:xfrm>
                  <a:off x="6275065" y="3930461"/>
                  <a:ext cx="149904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96" name="Ink 95">
                  <a:extLst>
                    <a:ext uri="{FF2B5EF4-FFF2-40B4-BE49-F238E27FC236}">
                      <a16:creationId xmlns:a16="http://schemas.microsoft.com/office/drawing/2014/main" id="{1736E469-823B-3F77-1B24-A6010842622D}"/>
                    </a:ext>
                  </a:extLst>
                </p14:cNvPr>
                <p14:cNvContentPartPr/>
                <p14:nvPr/>
              </p14:nvContentPartPr>
              <p14:xfrm>
                <a:off x="6616705" y="4057541"/>
                <a:ext cx="166320" cy="352080"/>
              </p14:xfrm>
            </p:contentPart>
          </mc:Choice>
          <mc:Fallback xmlns="">
            <p:pic>
              <p:nvPicPr>
                <p:cNvPr id="96" name="Ink 95">
                  <a:extLst>
                    <a:ext uri="{FF2B5EF4-FFF2-40B4-BE49-F238E27FC236}">
                      <a16:creationId xmlns:a16="http://schemas.microsoft.com/office/drawing/2014/main" id="{1736E469-823B-3F77-1B24-A6010842622D}"/>
                    </a:ext>
                  </a:extLst>
                </p:cNvPr>
                <p:cNvPicPr/>
                <p:nvPr/>
              </p:nvPicPr>
              <p:blipFill>
                <a:blip r:embed="rId124"/>
                <a:stretch>
                  <a:fillRect/>
                </a:stretch>
              </p:blipFill>
              <p:spPr>
                <a:xfrm>
                  <a:off x="6607705" y="4048541"/>
                  <a:ext cx="183960" cy="36972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97" name="Ink 96">
                  <a:extLst>
                    <a:ext uri="{FF2B5EF4-FFF2-40B4-BE49-F238E27FC236}">
                      <a16:creationId xmlns:a16="http://schemas.microsoft.com/office/drawing/2014/main" id="{405DC17D-5226-7CE0-C109-F5DA1ED09C07}"/>
                    </a:ext>
                  </a:extLst>
                </p14:cNvPr>
                <p14:cNvContentPartPr/>
                <p14:nvPr/>
              </p14:nvContentPartPr>
              <p14:xfrm>
                <a:off x="6904705" y="4171661"/>
                <a:ext cx="160920" cy="206280"/>
              </p14:xfrm>
            </p:contentPart>
          </mc:Choice>
          <mc:Fallback xmlns="">
            <p:pic>
              <p:nvPicPr>
                <p:cNvPr id="97" name="Ink 96">
                  <a:extLst>
                    <a:ext uri="{FF2B5EF4-FFF2-40B4-BE49-F238E27FC236}">
                      <a16:creationId xmlns:a16="http://schemas.microsoft.com/office/drawing/2014/main" id="{405DC17D-5226-7CE0-C109-F5DA1ED09C07}"/>
                    </a:ext>
                  </a:extLst>
                </p:cNvPr>
                <p:cNvPicPr/>
                <p:nvPr/>
              </p:nvPicPr>
              <p:blipFill>
                <a:blip r:embed="rId126"/>
                <a:stretch>
                  <a:fillRect/>
                </a:stretch>
              </p:blipFill>
              <p:spPr>
                <a:xfrm>
                  <a:off x="6896065" y="4162661"/>
                  <a:ext cx="178560" cy="22392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98" name="Ink 97">
                  <a:extLst>
                    <a:ext uri="{FF2B5EF4-FFF2-40B4-BE49-F238E27FC236}">
                      <a16:creationId xmlns:a16="http://schemas.microsoft.com/office/drawing/2014/main" id="{64E567FB-F0E0-9A68-175F-F1C01FA0087D}"/>
                    </a:ext>
                  </a:extLst>
                </p14:cNvPr>
                <p14:cNvContentPartPr/>
                <p14:nvPr/>
              </p14:nvContentPartPr>
              <p14:xfrm>
                <a:off x="6865105" y="4123781"/>
                <a:ext cx="213120" cy="225720"/>
              </p14:xfrm>
            </p:contentPart>
          </mc:Choice>
          <mc:Fallback xmlns="">
            <p:pic>
              <p:nvPicPr>
                <p:cNvPr id="98" name="Ink 97">
                  <a:extLst>
                    <a:ext uri="{FF2B5EF4-FFF2-40B4-BE49-F238E27FC236}">
                      <a16:creationId xmlns:a16="http://schemas.microsoft.com/office/drawing/2014/main" id="{64E567FB-F0E0-9A68-175F-F1C01FA0087D}"/>
                    </a:ext>
                  </a:extLst>
                </p:cNvPr>
                <p:cNvPicPr/>
                <p:nvPr/>
              </p:nvPicPr>
              <p:blipFill>
                <a:blip r:embed="rId128"/>
                <a:stretch>
                  <a:fillRect/>
                </a:stretch>
              </p:blipFill>
              <p:spPr>
                <a:xfrm>
                  <a:off x="6856465" y="4114781"/>
                  <a:ext cx="230760" cy="243360"/>
                </a:xfrm>
                <a:prstGeom prst="rect">
                  <a:avLst/>
                </a:prstGeom>
              </p:spPr>
            </p:pic>
          </mc:Fallback>
        </mc:AlternateContent>
      </p:grpSp>
      <p:grpSp>
        <p:nvGrpSpPr>
          <p:cNvPr id="19" name="Group 18">
            <a:extLst>
              <a:ext uri="{FF2B5EF4-FFF2-40B4-BE49-F238E27FC236}">
                <a16:creationId xmlns:a16="http://schemas.microsoft.com/office/drawing/2014/main" id="{C8531BF6-058D-4243-91D2-28D7D3F210C6}"/>
              </a:ext>
            </a:extLst>
          </p:cNvPr>
          <p:cNvGrpSpPr/>
          <p:nvPr/>
        </p:nvGrpSpPr>
        <p:grpSpPr>
          <a:xfrm>
            <a:off x="3870265" y="3445181"/>
            <a:ext cx="449640" cy="238320"/>
            <a:chOff x="3870265" y="3445181"/>
            <a:chExt cx="449640" cy="238320"/>
          </a:xfrm>
        </p:grpSpPr>
        <mc:AlternateContent xmlns:mc="http://schemas.openxmlformats.org/markup-compatibility/2006" xmlns:p14="http://schemas.microsoft.com/office/powerpoint/2010/main">
          <mc:Choice Requires="p14">
            <p:contentPart p14:bwMode="auto" r:id="rId129">
              <p14:nvContentPartPr>
                <p14:cNvPr id="16" name="Ink 15">
                  <a:extLst>
                    <a:ext uri="{FF2B5EF4-FFF2-40B4-BE49-F238E27FC236}">
                      <a16:creationId xmlns:a16="http://schemas.microsoft.com/office/drawing/2014/main" id="{2EC692F3-50C4-4E49-8D15-B3AC6528123E}"/>
                    </a:ext>
                  </a:extLst>
                </p14:cNvPr>
                <p14:cNvContentPartPr/>
                <p14:nvPr/>
              </p14:nvContentPartPr>
              <p14:xfrm>
                <a:off x="3870265" y="3445181"/>
                <a:ext cx="228240" cy="225360"/>
              </p14:xfrm>
            </p:contentPart>
          </mc:Choice>
          <mc:Fallback xmlns="">
            <p:pic>
              <p:nvPicPr>
                <p:cNvPr id="16" name="Ink 15">
                  <a:extLst>
                    <a:ext uri="{FF2B5EF4-FFF2-40B4-BE49-F238E27FC236}">
                      <a16:creationId xmlns:a16="http://schemas.microsoft.com/office/drawing/2014/main" id="{2EC692F3-50C4-4E49-8D15-B3AC6528123E}"/>
                    </a:ext>
                  </a:extLst>
                </p:cNvPr>
                <p:cNvPicPr/>
                <p:nvPr/>
              </p:nvPicPr>
              <p:blipFill>
                <a:blip r:embed="rId130"/>
                <a:stretch>
                  <a:fillRect/>
                </a:stretch>
              </p:blipFill>
              <p:spPr>
                <a:xfrm>
                  <a:off x="3861265" y="3436181"/>
                  <a:ext cx="24588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17" name="Ink 16">
                  <a:extLst>
                    <a:ext uri="{FF2B5EF4-FFF2-40B4-BE49-F238E27FC236}">
                      <a16:creationId xmlns:a16="http://schemas.microsoft.com/office/drawing/2014/main" id="{9AE1A8E1-C66E-42A9-8F4F-CC38E1FA6777}"/>
                    </a:ext>
                  </a:extLst>
                </p14:cNvPr>
                <p14:cNvContentPartPr/>
                <p14:nvPr/>
              </p14:nvContentPartPr>
              <p14:xfrm>
                <a:off x="4185265" y="3473981"/>
                <a:ext cx="134640" cy="174240"/>
              </p14:xfrm>
            </p:contentPart>
          </mc:Choice>
          <mc:Fallback xmlns="">
            <p:pic>
              <p:nvPicPr>
                <p:cNvPr id="17" name="Ink 16">
                  <a:extLst>
                    <a:ext uri="{FF2B5EF4-FFF2-40B4-BE49-F238E27FC236}">
                      <a16:creationId xmlns:a16="http://schemas.microsoft.com/office/drawing/2014/main" id="{9AE1A8E1-C66E-42A9-8F4F-CC38E1FA6777}"/>
                    </a:ext>
                  </a:extLst>
                </p:cNvPr>
                <p:cNvPicPr/>
                <p:nvPr/>
              </p:nvPicPr>
              <p:blipFill>
                <a:blip r:embed="rId132"/>
                <a:stretch>
                  <a:fillRect/>
                </a:stretch>
              </p:blipFill>
              <p:spPr>
                <a:xfrm>
                  <a:off x="4176265" y="3464981"/>
                  <a:ext cx="15228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18" name="Ink 17">
                  <a:extLst>
                    <a:ext uri="{FF2B5EF4-FFF2-40B4-BE49-F238E27FC236}">
                      <a16:creationId xmlns:a16="http://schemas.microsoft.com/office/drawing/2014/main" id="{6890B5D9-0D88-4B0C-AED1-88A784299F04}"/>
                    </a:ext>
                  </a:extLst>
                </p14:cNvPr>
                <p14:cNvContentPartPr/>
                <p14:nvPr/>
              </p14:nvContentPartPr>
              <p14:xfrm>
                <a:off x="4130905" y="3459941"/>
                <a:ext cx="145800" cy="223560"/>
              </p14:xfrm>
            </p:contentPart>
          </mc:Choice>
          <mc:Fallback xmlns="">
            <p:pic>
              <p:nvPicPr>
                <p:cNvPr id="18" name="Ink 17">
                  <a:extLst>
                    <a:ext uri="{FF2B5EF4-FFF2-40B4-BE49-F238E27FC236}">
                      <a16:creationId xmlns:a16="http://schemas.microsoft.com/office/drawing/2014/main" id="{6890B5D9-0D88-4B0C-AED1-88A784299F04}"/>
                    </a:ext>
                  </a:extLst>
                </p:cNvPr>
                <p:cNvPicPr/>
                <p:nvPr/>
              </p:nvPicPr>
              <p:blipFill>
                <a:blip r:embed="rId134"/>
                <a:stretch>
                  <a:fillRect/>
                </a:stretch>
              </p:blipFill>
              <p:spPr>
                <a:xfrm>
                  <a:off x="4121905" y="3450941"/>
                  <a:ext cx="163440" cy="241200"/>
                </a:xfrm>
                <a:prstGeom prst="rect">
                  <a:avLst/>
                </a:prstGeom>
              </p:spPr>
            </p:pic>
          </mc:Fallback>
        </mc:AlternateContent>
      </p:grpSp>
      <p:sp>
        <p:nvSpPr>
          <p:cNvPr id="100" name="TextBox 99">
            <a:extLst>
              <a:ext uri="{FF2B5EF4-FFF2-40B4-BE49-F238E27FC236}">
                <a16:creationId xmlns:a16="http://schemas.microsoft.com/office/drawing/2014/main" id="{C963405D-28A8-1932-B264-3D0FDF12BF8D}"/>
              </a:ext>
            </a:extLst>
          </p:cNvPr>
          <p:cNvSpPr txBox="1"/>
          <p:nvPr/>
        </p:nvSpPr>
        <p:spPr>
          <a:xfrm>
            <a:off x="3388225" y="6096000"/>
            <a:ext cx="2707775" cy="369332"/>
          </a:xfrm>
          <a:prstGeom prst="rect">
            <a:avLst/>
          </a:prstGeom>
          <a:solidFill>
            <a:schemeClr val="bg1"/>
          </a:solidFill>
        </p:spPr>
        <p:txBody>
          <a:bodyPr wrap="square" rtlCol="0">
            <a:spAutoFit/>
          </a:bodyPr>
          <a:lstStyle/>
          <a:p>
            <a:r>
              <a:rPr lang="en-US" dirty="0"/>
              <a:t>Cookies Eaten</a:t>
            </a:r>
          </a:p>
        </p:txBody>
      </p:sp>
      <p:sp>
        <p:nvSpPr>
          <p:cNvPr id="101" name="TextBox 100">
            <a:extLst>
              <a:ext uri="{FF2B5EF4-FFF2-40B4-BE49-F238E27FC236}">
                <a16:creationId xmlns:a16="http://schemas.microsoft.com/office/drawing/2014/main" id="{8F77EF5D-0084-2B21-6550-E157088A47C2}"/>
              </a:ext>
            </a:extLst>
          </p:cNvPr>
          <p:cNvSpPr txBox="1"/>
          <p:nvPr/>
        </p:nvSpPr>
        <p:spPr>
          <a:xfrm rot="16200000">
            <a:off x="-957347" y="2799807"/>
            <a:ext cx="2616144" cy="369332"/>
          </a:xfrm>
          <a:prstGeom prst="rect">
            <a:avLst/>
          </a:prstGeom>
          <a:solidFill>
            <a:schemeClr val="bg1"/>
          </a:solidFill>
        </p:spPr>
        <p:txBody>
          <a:bodyPr wrap="square" rtlCol="0">
            <a:spAutoFit/>
          </a:bodyPr>
          <a:lstStyle/>
          <a:p>
            <a:r>
              <a:rPr lang="en-US" dirty="0"/>
              <a:t>Average happiness</a:t>
            </a:r>
          </a:p>
        </p:txBody>
      </p:sp>
    </p:spTree>
    <p:extLst>
      <p:ext uri="{BB962C8B-B14F-4D97-AF65-F5344CB8AC3E}">
        <p14:creationId xmlns:p14="http://schemas.microsoft.com/office/powerpoint/2010/main" val="16880658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7269480" cy="624840"/>
          </a:xfrm>
        </p:spPr>
        <p:txBody>
          <a:bodyPr>
            <a:normAutofit fontScale="90000"/>
          </a:bodyPr>
          <a:lstStyle/>
          <a:p>
            <a:r>
              <a:rPr lang="en-US" dirty="0">
                <a:cs typeface="Times New Roman" panose="02020603050405020304" pitchFamily="18" charset="0"/>
              </a:rPr>
              <a:t>Population Model: Assumptions</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62000" y="1066800"/>
                <a:ext cx="10286999" cy="5141388"/>
              </a:xfrm>
            </p:spPr>
            <p:txBody>
              <a:bodyPr>
                <a:normAutofit/>
              </a:bodyPr>
              <a:lstStyle/>
              <a:p>
                <a:pPr marL="274320" lvl="1" indent="0">
                  <a:buNone/>
                </a:pPr>
                <a14:m>
                  <m:oMathPara xmlns:m="http://schemas.openxmlformats.org/officeDocument/2006/math">
                    <m:oMath>
                      <m:r>
                        <a:rPr lang="en-CA" sz="240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𝑦</m:t>
                      </m:r>
                      <m:r>
                        <a:rPr lang="en-CA" sz="240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0</m:t>
                          </m:r>
                        </m:sub>
                      </m:sSub>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1</m:t>
                          </m:r>
                        </m:sub>
                      </m:sSub>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𝑥</m:t>
                      </m:r>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m:t>
                      </m:r>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𝜀</m:t>
                      </m:r>
                    </m:oMath>
                  </m:oMathPara>
                </a14:m>
                <a:endParaRPr lang="en-CA" sz="2400" dirty="0">
                  <a:solidFill>
                    <a:schemeClr val="tx1"/>
                  </a:solidFill>
                  <a:latin typeface="Open Sans"/>
                  <a:ea typeface="Open Sans" panose="020B0606030504020204" pitchFamily="34" charset="0"/>
                  <a:cs typeface="Open Sans" panose="020B0606030504020204" pitchFamily="34" charset="0"/>
                </a:endParaRPr>
              </a:p>
              <a:p>
                <a:pPr marL="0" indent="0">
                  <a:buNone/>
                </a:pPr>
                <a:r>
                  <a:rPr lang="en-US" sz="2400" b="1" dirty="0">
                    <a:cs typeface="Times New Roman" panose="02020603050405020304" pitchFamily="18" charset="0"/>
                  </a:rPr>
                  <a:t>Assumptions: </a:t>
                </a:r>
              </a:p>
              <a:p>
                <a:pPr marL="457200" indent="-457200">
                  <a:buFont typeface="+mj-lt"/>
                  <a:buAutoNum type="arabicPeriod"/>
                </a:pPr>
                <a:r>
                  <a:rPr lang="en-US" sz="2400" b="0" dirty="0">
                    <a:cs typeface="Times New Roman" panose="02020603050405020304" pitchFamily="18" charset="0"/>
                  </a:rPr>
                  <a:t>Mean zero error: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begChr m:val="["/>
                        <m:endChr m:val="]"/>
                        <m:ctrlPr>
                          <a:rPr lang="en-US" sz="2400" i="1">
                            <a:latin typeface="Cambria Math" panose="02040503050406030204" pitchFamily="18" charset="0"/>
                            <a:ea typeface="Open Sans" panose="020B0606030504020204" pitchFamily="34" charset="0"/>
                            <a:cs typeface="Open Sans" panose="020B0606030504020204" pitchFamily="34" charset="0"/>
                          </a:rPr>
                        </m:ctrlPr>
                      </m:dPr>
                      <m:e>
                        <m:r>
                          <a:rPr lang="en-US" sz="2400" i="1">
                            <a:latin typeface="Cambria Math" panose="02040503050406030204" pitchFamily="18" charset="0"/>
                            <a:ea typeface="Open Sans" panose="020B0606030504020204" pitchFamily="34" charset="0"/>
                            <a:cs typeface="Open Sans" panose="020B0606030504020204" pitchFamily="34" charset="0"/>
                          </a:rPr>
                          <m:t>𝜀</m:t>
                        </m:r>
                      </m:e>
                    </m:d>
                    <m:r>
                      <a:rPr lang="en-US" sz="2400" b="0" i="1" smtClean="0">
                        <a:latin typeface="Cambria Math" panose="02040503050406030204" pitchFamily="18" charset="0"/>
                        <a:cs typeface="Times New Roman" panose="02020603050405020304" pitchFamily="18" charset="0"/>
                      </a:rPr>
                      <m:t>=0</m:t>
                    </m:r>
                  </m:oMath>
                </a14:m>
                <a:r>
                  <a:rPr lang="en-US" sz="2400" dirty="0">
                    <a:cs typeface="Times New Roman" panose="02020603050405020304" pitchFamily="18" charset="0"/>
                  </a:rPr>
                  <a:t>. This is </a:t>
                </a:r>
                <a:r>
                  <a:rPr lang="en-US" sz="2400" i="1" dirty="0">
                    <a:cs typeface="Times New Roman" panose="02020603050405020304" pitchFamily="18" charset="0"/>
                  </a:rPr>
                  <a:t>without loss of generality, given intercept. </a:t>
                </a:r>
              </a:p>
              <a:p>
                <a:pPr marL="457200" indent="-457200">
                  <a:buFont typeface="+mj-lt"/>
                  <a:buAutoNum type="arabicPeriod"/>
                </a:pPr>
                <a:endParaRPr lang="en-US" sz="240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62000" y="1066800"/>
                <a:ext cx="10286999" cy="5141388"/>
              </a:xfrm>
              <a:blipFill>
                <a:blip r:embed="rId3"/>
                <a:stretch>
                  <a:fillRect l="-889" r="-59"/>
                </a:stretch>
              </a:blipFill>
            </p:spPr>
            <p:txBody>
              <a:bodyPr/>
              <a:lstStyle/>
              <a:p>
                <a:r>
                  <a:rPr lang="en-US">
                    <a:noFill/>
                  </a:rPr>
                  <a:t> </a:t>
                </a:r>
              </a:p>
            </p:txBody>
          </p:sp>
        </mc:Fallback>
      </mc:AlternateContent>
    </p:spTree>
    <p:extLst>
      <p:ext uri="{BB962C8B-B14F-4D97-AF65-F5344CB8AC3E}">
        <p14:creationId xmlns:p14="http://schemas.microsoft.com/office/powerpoint/2010/main" val="23168978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7269480" cy="624840"/>
          </a:xfrm>
        </p:spPr>
        <p:txBody>
          <a:bodyPr>
            <a:normAutofit fontScale="90000"/>
          </a:bodyPr>
          <a:lstStyle/>
          <a:p>
            <a:r>
              <a:rPr lang="en-US" dirty="0">
                <a:cs typeface="Times New Roman" panose="02020603050405020304" pitchFamily="18" charset="0"/>
              </a:rPr>
              <a:t>Population Model: Assumptions</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62000" y="1066801"/>
                <a:ext cx="10286999" cy="5141388"/>
              </a:xfrm>
            </p:spPr>
            <p:txBody>
              <a:bodyPr>
                <a:normAutofit/>
              </a:bodyPr>
              <a:lstStyle/>
              <a:p>
                <a:pPr marL="274320" lvl="1" indent="0">
                  <a:buNone/>
                </a:pPr>
                <a14:m>
                  <m:oMathPara xmlns:m="http://schemas.openxmlformats.org/officeDocument/2006/math">
                    <m:oMath>
                      <m:r>
                        <a:rPr lang="en-CA" sz="240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𝑦</m:t>
                      </m:r>
                      <m:r>
                        <a:rPr lang="en-CA" sz="240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0</m:t>
                          </m:r>
                        </m:sub>
                      </m:sSub>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1</m:t>
                          </m:r>
                        </m:sub>
                      </m:sSub>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𝑥</m:t>
                      </m:r>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m:t>
                      </m:r>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𝜀</m:t>
                      </m:r>
                    </m:oMath>
                  </m:oMathPara>
                </a14:m>
                <a:endParaRPr lang="en-CA" sz="2400" dirty="0">
                  <a:solidFill>
                    <a:schemeClr val="tx1"/>
                  </a:solidFill>
                  <a:latin typeface="Open Sans"/>
                  <a:ea typeface="Open Sans" panose="020B0606030504020204" pitchFamily="34" charset="0"/>
                  <a:cs typeface="Open Sans" panose="020B0606030504020204" pitchFamily="34" charset="0"/>
                </a:endParaRPr>
              </a:p>
              <a:p>
                <a:pPr marL="0" indent="0">
                  <a:buNone/>
                </a:pPr>
                <a:r>
                  <a:rPr lang="en-US" sz="2400" b="1" dirty="0">
                    <a:cs typeface="Times New Roman" panose="02020603050405020304" pitchFamily="18" charset="0"/>
                  </a:rPr>
                  <a:t>Assumptions: </a:t>
                </a:r>
              </a:p>
              <a:p>
                <a:pPr marL="457200" indent="-457200">
                  <a:buFont typeface="+mj-lt"/>
                  <a:buAutoNum type="arabicPeriod"/>
                </a:pPr>
                <a:r>
                  <a:rPr lang="en-US" sz="2400" b="0" dirty="0">
                    <a:cs typeface="Times New Roman" panose="02020603050405020304" pitchFamily="18" charset="0"/>
                  </a:rPr>
                  <a:t>Mean zero error: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begChr m:val="["/>
                        <m:endChr m:val="]"/>
                        <m:ctrlPr>
                          <a:rPr lang="en-US" sz="2400" i="1">
                            <a:latin typeface="Cambria Math" panose="02040503050406030204" pitchFamily="18" charset="0"/>
                            <a:ea typeface="Open Sans" panose="020B0606030504020204" pitchFamily="34" charset="0"/>
                            <a:cs typeface="Open Sans" panose="020B0606030504020204" pitchFamily="34" charset="0"/>
                          </a:rPr>
                        </m:ctrlPr>
                      </m:dPr>
                      <m:e>
                        <m:r>
                          <a:rPr lang="en-US" sz="2400" i="1">
                            <a:latin typeface="Cambria Math" panose="02040503050406030204" pitchFamily="18" charset="0"/>
                            <a:ea typeface="Open Sans" panose="020B0606030504020204" pitchFamily="34" charset="0"/>
                            <a:cs typeface="Open Sans" panose="020B0606030504020204" pitchFamily="34" charset="0"/>
                          </a:rPr>
                          <m:t>𝜀</m:t>
                        </m:r>
                      </m:e>
                    </m:d>
                    <m:r>
                      <a:rPr lang="en-US" sz="2400" b="0" i="1" smtClean="0">
                        <a:latin typeface="Cambria Math" panose="02040503050406030204" pitchFamily="18" charset="0"/>
                        <a:cs typeface="Times New Roman" panose="02020603050405020304" pitchFamily="18" charset="0"/>
                      </a:rPr>
                      <m:t>=0</m:t>
                    </m:r>
                  </m:oMath>
                </a14:m>
                <a:r>
                  <a:rPr lang="en-US" sz="2400" dirty="0">
                    <a:cs typeface="Times New Roman" panose="02020603050405020304" pitchFamily="18" charset="0"/>
                  </a:rPr>
                  <a:t>. This is </a:t>
                </a:r>
                <a:r>
                  <a:rPr lang="en-US" sz="2400" i="1" dirty="0">
                    <a:cs typeface="Times New Roman" panose="02020603050405020304" pitchFamily="18" charset="0"/>
                  </a:rPr>
                  <a:t>without loss of generality, given intercept. </a:t>
                </a:r>
              </a:p>
              <a:p>
                <a:pPr marL="457200" indent="-457200">
                  <a:buFont typeface="+mj-lt"/>
                  <a:buAutoNum type="arabicPeriod"/>
                </a:pPr>
                <a:r>
                  <a:rPr lang="en-US" sz="2400" dirty="0">
                    <a:cs typeface="Times New Roman" panose="02020603050405020304" pitchFamily="18" charset="0"/>
                  </a:rPr>
                  <a:t>Mean independence: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begChr m:val="["/>
                        <m:endChr m:val="]"/>
                        <m:ctrlPr>
                          <a:rPr lang="en-US" sz="2400" i="1">
                            <a:latin typeface="Cambria Math" panose="02040503050406030204" pitchFamily="18" charset="0"/>
                            <a:ea typeface="Open Sans" panose="020B0606030504020204" pitchFamily="34" charset="0"/>
                            <a:cs typeface="Open Sans" panose="020B0606030504020204" pitchFamily="34" charset="0"/>
                          </a:rPr>
                        </m:ctrlPr>
                      </m:dPr>
                      <m:e>
                        <m:r>
                          <a:rPr lang="en-US" sz="2400" i="1">
                            <a:latin typeface="Cambria Math" panose="02040503050406030204" pitchFamily="18" charset="0"/>
                            <a:ea typeface="Open Sans" panose="020B0606030504020204" pitchFamily="34" charset="0"/>
                            <a:cs typeface="Open Sans" panose="020B0606030504020204" pitchFamily="34" charset="0"/>
                          </a:rPr>
                          <m:t>𝜀</m:t>
                        </m:r>
                      </m:e>
                      <m:e>
                        <m:r>
                          <a:rPr lang="en-US" sz="2400" b="0" i="1" smtClean="0">
                            <a:latin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𝔼</m:t>
                    </m:r>
                    <m:d>
                      <m:dPr>
                        <m:begChr m:val="["/>
                        <m:endChr m:val="]"/>
                        <m:ctrlPr>
                          <a:rPr lang="en-US" sz="2400" i="1">
                            <a:latin typeface="Cambria Math" panose="02040503050406030204" pitchFamily="18" charset="0"/>
                            <a:ea typeface="Open Sans" panose="020B0606030504020204" pitchFamily="34" charset="0"/>
                            <a:cs typeface="Open Sans" panose="020B0606030504020204" pitchFamily="34" charset="0"/>
                          </a:rPr>
                        </m:ctrlPr>
                      </m:dPr>
                      <m:e>
                        <m:r>
                          <a:rPr lang="en-US" sz="2400" i="1">
                            <a:latin typeface="Cambria Math" panose="02040503050406030204" pitchFamily="18" charset="0"/>
                            <a:ea typeface="Open Sans" panose="020B0606030504020204" pitchFamily="34" charset="0"/>
                            <a:cs typeface="Open Sans" panose="020B0606030504020204" pitchFamily="34" charset="0"/>
                          </a:rPr>
                          <m:t>𝜀</m:t>
                        </m:r>
                      </m:e>
                    </m:d>
                    <m:r>
                      <a:rPr lang="en-US" sz="2400" b="0" i="1" smtClean="0">
                        <a:latin typeface="Cambria Math" panose="02040503050406030204" pitchFamily="18" charset="0"/>
                        <a:cs typeface="Times New Roman" panose="02020603050405020304" pitchFamily="18" charset="0"/>
                      </a:rPr>
                      <m:t>= 0</m:t>
                    </m:r>
                  </m:oMath>
                </a14:m>
                <a:r>
                  <a:rPr lang="en-US" sz="2400" dirty="0">
                    <a:cs typeface="Times New Roman" panose="02020603050405020304" pitchFamily="18" charset="0"/>
                  </a:rPr>
                  <a:t> for all values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𝑥</m:t>
                    </m:r>
                  </m:oMath>
                </a14:m>
                <a:r>
                  <a:rPr lang="en-US" sz="2400" dirty="0">
                    <a:cs typeface="Times New Roman" panose="02020603050405020304" pitchFamily="18" charset="0"/>
                  </a:rPr>
                  <a:t>. </a:t>
                </a:r>
              </a:p>
              <a:p>
                <a:pPr lvl="1"/>
                <a:r>
                  <a:rPr lang="en-US" sz="2400" dirty="0">
                    <a:cs typeface="Times New Roman" panose="02020603050405020304" pitchFamily="18" charset="0"/>
                  </a:rPr>
                  <a:t>This is often a </a:t>
                </a:r>
                <a:r>
                  <a:rPr lang="en-US" sz="2400" b="1" dirty="0">
                    <a:cs typeface="Times New Roman" panose="02020603050405020304" pitchFamily="18" charset="0"/>
                  </a:rPr>
                  <a:t>critical assumption. </a:t>
                </a:r>
              </a:p>
              <a:p>
                <a:pPr lvl="1"/>
                <a:r>
                  <a:rPr lang="en-US" sz="2400" dirty="0">
                    <a:cs typeface="Times New Roman" panose="02020603050405020304" pitchFamily="18" charset="0"/>
                  </a:rPr>
                  <a:t>What does this mean in terms of our DAG framework? </a:t>
                </a:r>
              </a:p>
              <a:p>
                <a:pPr marL="457200" indent="-457200">
                  <a:buFont typeface="+mj-lt"/>
                  <a:buAutoNum type="arabicPeriod"/>
                </a:pPr>
                <a:endParaRPr lang="en-US" sz="240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62000" y="1066801"/>
                <a:ext cx="10286999" cy="5141388"/>
              </a:xfrm>
              <a:blipFill>
                <a:blip r:embed="rId3"/>
                <a:stretch>
                  <a:fillRect l="-889" r="-59"/>
                </a:stretch>
              </a:blipFill>
            </p:spPr>
            <p:txBody>
              <a:bodyPr/>
              <a:lstStyle/>
              <a:p>
                <a:r>
                  <a:rPr lang="en-US">
                    <a:noFill/>
                  </a:rPr>
                  <a:t> </a:t>
                </a:r>
              </a:p>
            </p:txBody>
          </p:sp>
        </mc:Fallback>
      </mc:AlternateContent>
    </p:spTree>
    <p:extLst>
      <p:ext uri="{BB962C8B-B14F-4D97-AF65-F5344CB8AC3E}">
        <p14:creationId xmlns:p14="http://schemas.microsoft.com/office/powerpoint/2010/main" val="23789055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7269480" cy="624840"/>
          </a:xfrm>
        </p:spPr>
        <p:txBody>
          <a:bodyPr>
            <a:normAutofit fontScale="90000"/>
          </a:bodyPr>
          <a:lstStyle/>
          <a:p>
            <a:r>
              <a:rPr lang="en-US" dirty="0">
                <a:cs typeface="Times New Roman" panose="02020603050405020304" pitchFamily="18" charset="0"/>
              </a:rPr>
              <a:t>Population Model: Assumptions</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066800"/>
                <a:ext cx="10515599" cy="5486399"/>
              </a:xfrm>
            </p:spPr>
            <p:txBody>
              <a:bodyPr>
                <a:normAutofit/>
              </a:bodyPr>
              <a:lstStyle/>
              <a:p>
                <a:pPr marL="274320" lvl="1" indent="0">
                  <a:buNone/>
                </a:pPr>
                <a14:m>
                  <m:oMathPara xmlns:m="http://schemas.openxmlformats.org/officeDocument/2006/math">
                    <m:oMath>
                      <m:r>
                        <a:rPr lang="en-CA" sz="240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𝑦</m:t>
                      </m:r>
                      <m:r>
                        <a:rPr lang="en-CA" sz="240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0</m:t>
                          </m:r>
                        </m:sub>
                      </m:sSub>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1</m:t>
                          </m:r>
                        </m:sub>
                      </m:sSub>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𝑥</m:t>
                      </m:r>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m:t>
                      </m:r>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𝜀</m:t>
                      </m:r>
                    </m:oMath>
                  </m:oMathPara>
                </a14:m>
                <a:endParaRPr lang="en-CA" sz="2400" dirty="0">
                  <a:solidFill>
                    <a:schemeClr val="tx1"/>
                  </a:solidFill>
                  <a:latin typeface="Open Sans"/>
                  <a:ea typeface="Open Sans" panose="020B0606030504020204" pitchFamily="34" charset="0"/>
                  <a:cs typeface="Open Sans" panose="020B0606030504020204" pitchFamily="34" charset="0"/>
                </a:endParaRPr>
              </a:p>
              <a:p>
                <a:pPr marL="0" indent="0">
                  <a:buNone/>
                </a:pPr>
                <a:r>
                  <a:rPr lang="en-US" sz="2400" b="1" dirty="0">
                    <a:cs typeface="Times New Roman" panose="02020603050405020304" pitchFamily="18" charset="0"/>
                  </a:rPr>
                  <a:t>Assumptions: </a:t>
                </a:r>
              </a:p>
              <a:p>
                <a:pPr marL="457200" indent="-457200">
                  <a:buFont typeface="+mj-lt"/>
                  <a:buAutoNum type="arabicPeriod"/>
                </a:pPr>
                <a:r>
                  <a:rPr lang="en-US" sz="2400" b="0" dirty="0">
                    <a:cs typeface="Times New Roman" panose="02020603050405020304" pitchFamily="18" charset="0"/>
                  </a:rPr>
                  <a:t>Mean zero error: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begChr m:val="["/>
                        <m:endChr m:val="]"/>
                        <m:ctrlPr>
                          <a:rPr lang="en-US" sz="2400" i="1">
                            <a:latin typeface="Cambria Math" panose="02040503050406030204" pitchFamily="18" charset="0"/>
                            <a:ea typeface="Open Sans" panose="020B0606030504020204" pitchFamily="34" charset="0"/>
                            <a:cs typeface="Open Sans" panose="020B0606030504020204" pitchFamily="34" charset="0"/>
                          </a:rPr>
                        </m:ctrlPr>
                      </m:dPr>
                      <m:e>
                        <m:r>
                          <a:rPr lang="en-US" sz="2400" i="1">
                            <a:latin typeface="Cambria Math" panose="02040503050406030204" pitchFamily="18" charset="0"/>
                            <a:ea typeface="Open Sans" panose="020B0606030504020204" pitchFamily="34" charset="0"/>
                            <a:cs typeface="Open Sans" panose="020B0606030504020204" pitchFamily="34" charset="0"/>
                          </a:rPr>
                          <m:t>𝜀</m:t>
                        </m:r>
                      </m:e>
                    </m:d>
                    <m:r>
                      <a:rPr lang="en-US" sz="2400" b="0" i="1" smtClean="0">
                        <a:latin typeface="Cambria Math" panose="02040503050406030204" pitchFamily="18" charset="0"/>
                        <a:cs typeface="Times New Roman" panose="02020603050405020304" pitchFamily="18" charset="0"/>
                      </a:rPr>
                      <m:t>=0</m:t>
                    </m:r>
                  </m:oMath>
                </a14:m>
                <a:r>
                  <a:rPr lang="en-US" sz="2400" dirty="0">
                    <a:cs typeface="Times New Roman" panose="02020603050405020304" pitchFamily="18" charset="0"/>
                  </a:rPr>
                  <a:t>. This is </a:t>
                </a:r>
                <a:r>
                  <a:rPr lang="en-US" sz="2400" i="1" dirty="0">
                    <a:cs typeface="Times New Roman" panose="02020603050405020304" pitchFamily="18" charset="0"/>
                  </a:rPr>
                  <a:t>without loss of generality, given intercept. </a:t>
                </a:r>
              </a:p>
              <a:p>
                <a:pPr marL="457200" indent="-457200">
                  <a:buFont typeface="+mj-lt"/>
                  <a:buAutoNum type="arabicPeriod"/>
                </a:pPr>
                <a:r>
                  <a:rPr lang="en-US" sz="2400" dirty="0">
                    <a:cs typeface="Times New Roman" panose="02020603050405020304" pitchFamily="18" charset="0"/>
                  </a:rPr>
                  <a:t>Mean independence: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begChr m:val="["/>
                        <m:endChr m:val="]"/>
                        <m:ctrlPr>
                          <a:rPr lang="en-US" sz="2400" i="1">
                            <a:latin typeface="Cambria Math" panose="02040503050406030204" pitchFamily="18" charset="0"/>
                            <a:ea typeface="Open Sans" panose="020B0606030504020204" pitchFamily="34" charset="0"/>
                            <a:cs typeface="Open Sans" panose="020B0606030504020204" pitchFamily="34" charset="0"/>
                          </a:rPr>
                        </m:ctrlPr>
                      </m:dPr>
                      <m:e>
                        <m:r>
                          <a:rPr lang="en-US" sz="2400" i="1">
                            <a:latin typeface="Cambria Math" panose="02040503050406030204" pitchFamily="18" charset="0"/>
                            <a:ea typeface="Open Sans" panose="020B0606030504020204" pitchFamily="34" charset="0"/>
                            <a:cs typeface="Open Sans" panose="020B0606030504020204" pitchFamily="34" charset="0"/>
                          </a:rPr>
                          <m:t>𝜀</m:t>
                        </m:r>
                      </m:e>
                      <m:e>
                        <m:r>
                          <a:rPr lang="en-US" sz="2400" b="0" i="1" smtClean="0">
                            <a:latin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𝔼</m:t>
                    </m:r>
                    <m:d>
                      <m:dPr>
                        <m:begChr m:val="["/>
                        <m:endChr m:val="]"/>
                        <m:ctrlPr>
                          <a:rPr lang="en-US" sz="2400" i="1">
                            <a:latin typeface="Cambria Math" panose="02040503050406030204" pitchFamily="18" charset="0"/>
                            <a:ea typeface="Open Sans" panose="020B0606030504020204" pitchFamily="34" charset="0"/>
                            <a:cs typeface="Open Sans" panose="020B0606030504020204" pitchFamily="34" charset="0"/>
                          </a:rPr>
                        </m:ctrlPr>
                      </m:dPr>
                      <m:e>
                        <m:r>
                          <a:rPr lang="en-US" sz="2400" i="1">
                            <a:latin typeface="Cambria Math" panose="02040503050406030204" pitchFamily="18" charset="0"/>
                            <a:ea typeface="Open Sans" panose="020B0606030504020204" pitchFamily="34" charset="0"/>
                            <a:cs typeface="Open Sans" panose="020B0606030504020204" pitchFamily="34" charset="0"/>
                          </a:rPr>
                          <m:t>𝜀</m:t>
                        </m:r>
                      </m:e>
                    </m:d>
                    <m:r>
                      <a:rPr lang="en-US" sz="2400" b="0" i="1" smtClean="0">
                        <a:latin typeface="Cambria Math" panose="02040503050406030204" pitchFamily="18" charset="0"/>
                        <a:cs typeface="Times New Roman" panose="02020603050405020304" pitchFamily="18" charset="0"/>
                      </a:rPr>
                      <m:t>= 0</m:t>
                    </m:r>
                  </m:oMath>
                </a14:m>
                <a:r>
                  <a:rPr lang="en-US" sz="2400" dirty="0">
                    <a:cs typeface="Times New Roman" panose="02020603050405020304" pitchFamily="18" charset="0"/>
                  </a:rPr>
                  <a:t> for all values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𝑥</m:t>
                    </m:r>
                  </m:oMath>
                </a14:m>
                <a:r>
                  <a:rPr lang="en-US" sz="2400" dirty="0">
                    <a:cs typeface="Times New Roman" panose="02020603050405020304" pitchFamily="18" charset="0"/>
                  </a:rPr>
                  <a:t>. </a:t>
                </a:r>
              </a:p>
              <a:p>
                <a:pPr lvl="1"/>
                <a:r>
                  <a:rPr lang="en-US" sz="2400" dirty="0">
                    <a:cs typeface="Times New Roman" panose="02020603050405020304" pitchFamily="18" charset="0"/>
                  </a:rPr>
                  <a:t>This is often a </a:t>
                </a:r>
                <a:r>
                  <a:rPr lang="en-US" sz="2400" b="1" dirty="0">
                    <a:cs typeface="Times New Roman" panose="02020603050405020304" pitchFamily="18" charset="0"/>
                  </a:rPr>
                  <a:t>critical assumption. </a:t>
                </a:r>
              </a:p>
              <a:p>
                <a:pPr lvl="1"/>
                <a:r>
                  <a:rPr lang="en-US" sz="2400" dirty="0">
                    <a:cs typeface="Times New Roman" panose="02020603050405020304" pitchFamily="18" charset="0"/>
                  </a:rPr>
                  <a:t>What does this mean in terms of our DAG framework? </a:t>
                </a:r>
              </a:p>
              <a:p>
                <a:pPr lvl="1"/>
                <a:r>
                  <a:rPr lang="en-US" sz="2400" dirty="0">
                    <a:cs typeface="Times New Roman" panose="02020603050405020304" pitchFamily="18" charset="0"/>
                  </a:rPr>
                  <a:t>Consequence: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𝑦</m:t>
                        </m:r>
                      </m:e>
                      <m:e>
                        <m:r>
                          <a:rPr lang="en-US" sz="2400" b="0" i="1" smtClean="0">
                            <a:latin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a:t>
                </a:r>
                <a:r>
                  <a:rPr lang="en-US" sz="2400" b="1" dirty="0">
                    <a:cs typeface="Times New Roman" panose="02020603050405020304" pitchFamily="18" charset="0"/>
                  </a:rPr>
                  <a:t>causal framework!</a:t>
                </a:r>
                <a:r>
                  <a:rPr lang="en-US" sz="2400" dirty="0">
                    <a:cs typeface="Times New Roman" panose="02020603050405020304" pitchFamily="18" charset="0"/>
                  </a:rPr>
                  <a:t> </a:t>
                </a:r>
              </a:p>
              <a:p>
                <a:pPr marL="457200" indent="-457200">
                  <a:buFont typeface="+mj-lt"/>
                  <a:buAutoNum type="arabicPeriod" startAt="3"/>
                </a:pPr>
                <a:endParaRPr lang="en-US" sz="2400" dirty="0">
                  <a:cs typeface="Times New Roman" panose="02020603050405020304" pitchFamily="18" charset="0"/>
                </a:endParaRPr>
              </a:p>
              <a:p>
                <a:pPr marL="457200" indent="-457200">
                  <a:buFont typeface="+mj-lt"/>
                  <a:buAutoNum type="arabicPeriod" startAt="3"/>
                </a:pPr>
                <a:endParaRPr lang="en-US" sz="240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066800"/>
                <a:ext cx="10515599" cy="5486399"/>
              </a:xfrm>
              <a:blipFill>
                <a:blip r:embed="rId3"/>
                <a:stretch>
                  <a:fillRect l="-870"/>
                </a:stretch>
              </a:blipFill>
            </p:spPr>
            <p:txBody>
              <a:bodyPr/>
              <a:lstStyle/>
              <a:p>
                <a:r>
                  <a:rPr lang="en-US">
                    <a:noFill/>
                  </a:rPr>
                  <a:t> </a:t>
                </a:r>
              </a:p>
            </p:txBody>
          </p:sp>
        </mc:Fallback>
      </mc:AlternateContent>
    </p:spTree>
    <p:extLst>
      <p:ext uri="{BB962C8B-B14F-4D97-AF65-F5344CB8AC3E}">
        <p14:creationId xmlns:p14="http://schemas.microsoft.com/office/powerpoint/2010/main" val="4340408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7269480" cy="624840"/>
          </a:xfrm>
        </p:spPr>
        <p:txBody>
          <a:bodyPr>
            <a:normAutofit fontScale="90000"/>
          </a:bodyPr>
          <a:lstStyle/>
          <a:p>
            <a:r>
              <a:rPr lang="en-US" dirty="0">
                <a:cs typeface="Times New Roman" panose="02020603050405020304" pitchFamily="18" charset="0"/>
              </a:rPr>
              <a:t>Population Model: Assumptions</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0" y="990600"/>
                <a:ext cx="10210801" cy="5486399"/>
              </a:xfrm>
            </p:spPr>
            <p:txBody>
              <a:bodyPr>
                <a:noAutofit/>
              </a:bodyPr>
              <a:lstStyle/>
              <a:p>
                <a:pPr marL="274320" lvl="1" indent="0">
                  <a:buNone/>
                </a:pPr>
                <a14:m>
                  <m:oMathPara xmlns:m="http://schemas.openxmlformats.org/officeDocument/2006/math">
                    <m:oMath>
                      <m:r>
                        <a:rPr lang="en-CA" sz="240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𝑦</m:t>
                      </m:r>
                      <m:r>
                        <a:rPr lang="en-CA" sz="240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0</m:t>
                          </m:r>
                        </m:sub>
                      </m:sSub>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1</m:t>
                          </m:r>
                        </m:sub>
                      </m:sSub>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𝑥</m:t>
                      </m:r>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m:t>
                      </m:r>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𝜀</m:t>
                      </m:r>
                    </m:oMath>
                  </m:oMathPara>
                </a14:m>
                <a:endParaRPr lang="en-CA" sz="2400" dirty="0">
                  <a:solidFill>
                    <a:schemeClr val="tx1"/>
                  </a:solidFill>
                  <a:latin typeface="Open Sans"/>
                  <a:ea typeface="Open Sans" panose="020B0606030504020204" pitchFamily="34" charset="0"/>
                  <a:cs typeface="Open Sans" panose="020B0606030504020204" pitchFamily="34" charset="0"/>
                </a:endParaRPr>
              </a:p>
              <a:p>
                <a:pPr marL="0" indent="0">
                  <a:buNone/>
                </a:pPr>
                <a:r>
                  <a:rPr lang="en-US" sz="2400" b="1" dirty="0">
                    <a:cs typeface="Times New Roman" panose="02020603050405020304" pitchFamily="18" charset="0"/>
                  </a:rPr>
                  <a:t>Assumptions: </a:t>
                </a:r>
              </a:p>
              <a:p>
                <a:pPr marL="457200" indent="-457200">
                  <a:buFont typeface="+mj-lt"/>
                  <a:buAutoNum type="arabicPeriod"/>
                </a:pPr>
                <a:r>
                  <a:rPr lang="en-US" sz="2400" b="0" dirty="0">
                    <a:cs typeface="Times New Roman" panose="02020603050405020304" pitchFamily="18" charset="0"/>
                  </a:rPr>
                  <a:t>Mean zero error: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begChr m:val="["/>
                        <m:endChr m:val="]"/>
                        <m:ctrlPr>
                          <a:rPr lang="en-US" sz="2400" i="1">
                            <a:latin typeface="Cambria Math" panose="02040503050406030204" pitchFamily="18" charset="0"/>
                            <a:ea typeface="Open Sans" panose="020B0606030504020204" pitchFamily="34" charset="0"/>
                            <a:cs typeface="Open Sans" panose="020B0606030504020204" pitchFamily="34" charset="0"/>
                          </a:rPr>
                        </m:ctrlPr>
                      </m:dPr>
                      <m:e>
                        <m:r>
                          <a:rPr lang="en-US" sz="2400" i="1">
                            <a:latin typeface="Cambria Math" panose="02040503050406030204" pitchFamily="18" charset="0"/>
                            <a:ea typeface="Open Sans" panose="020B0606030504020204" pitchFamily="34" charset="0"/>
                            <a:cs typeface="Open Sans" panose="020B0606030504020204" pitchFamily="34" charset="0"/>
                          </a:rPr>
                          <m:t>𝜀</m:t>
                        </m:r>
                      </m:e>
                    </m:d>
                    <m:r>
                      <a:rPr lang="en-US" sz="2400" b="0" i="1" smtClean="0">
                        <a:latin typeface="Cambria Math" panose="02040503050406030204" pitchFamily="18" charset="0"/>
                        <a:cs typeface="Times New Roman" panose="02020603050405020304" pitchFamily="18" charset="0"/>
                      </a:rPr>
                      <m:t>=0</m:t>
                    </m:r>
                  </m:oMath>
                </a14:m>
                <a:r>
                  <a:rPr lang="en-US" sz="2400" dirty="0">
                    <a:cs typeface="Times New Roman" panose="02020603050405020304" pitchFamily="18" charset="0"/>
                  </a:rPr>
                  <a:t>. This is </a:t>
                </a:r>
                <a:r>
                  <a:rPr lang="en-US" sz="2400" i="1" dirty="0">
                    <a:cs typeface="Times New Roman" panose="02020603050405020304" pitchFamily="18" charset="0"/>
                  </a:rPr>
                  <a:t>without loss of generality, given intercept. </a:t>
                </a:r>
              </a:p>
              <a:p>
                <a:pPr marL="457200" indent="-457200">
                  <a:buFont typeface="+mj-lt"/>
                  <a:buAutoNum type="arabicPeriod"/>
                </a:pPr>
                <a:r>
                  <a:rPr lang="en-US" sz="2400" dirty="0">
                    <a:cs typeface="Times New Roman" panose="02020603050405020304" pitchFamily="18" charset="0"/>
                  </a:rPr>
                  <a:t>Mean independence: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begChr m:val="["/>
                        <m:endChr m:val="]"/>
                        <m:ctrlPr>
                          <a:rPr lang="en-US" sz="2400" i="1">
                            <a:latin typeface="Cambria Math" panose="02040503050406030204" pitchFamily="18" charset="0"/>
                            <a:ea typeface="Open Sans" panose="020B0606030504020204" pitchFamily="34" charset="0"/>
                            <a:cs typeface="Open Sans" panose="020B0606030504020204" pitchFamily="34" charset="0"/>
                          </a:rPr>
                        </m:ctrlPr>
                      </m:dPr>
                      <m:e>
                        <m:r>
                          <a:rPr lang="en-US" sz="2400" i="1">
                            <a:latin typeface="Cambria Math" panose="02040503050406030204" pitchFamily="18" charset="0"/>
                            <a:ea typeface="Open Sans" panose="020B0606030504020204" pitchFamily="34" charset="0"/>
                            <a:cs typeface="Open Sans" panose="020B0606030504020204" pitchFamily="34" charset="0"/>
                          </a:rPr>
                          <m:t>𝜀</m:t>
                        </m:r>
                      </m:e>
                      <m:e>
                        <m:r>
                          <a:rPr lang="en-US" sz="2400" b="0" i="1" smtClean="0">
                            <a:latin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𝔼</m:t>
                    </m:r>
                    <m:d>
                      <m:dPr>
                        <m:begChr m:val="["/>
                        <m:endChr m:val="]"/>
                        <m:ctrlPr>
                          <a:rPr lang="en-US" sz="2400" i="1">
                            <a:latin typeface="Cambria Math" panose="02040503050406030204" pitchFamily="18" charset="0"/>
                            <a:ea typeface="Open Sans" panose="020B0606030504020204" pitchFamily="34" charset="0"/>
                            <a:cs typeface="Open Sans" panose="020B0606030504020204" pitchFamily="34" charset="0"/>
                          </a:rPr>
                        </m:ctrlPr>
                      </m:dPr>
                      <m:e>
                        <m:r>
                          <a:rPr lang="en-US" sz="2400" i="1">
                            <a:latin typeface="Cambria Math" panose="02040503050406030204" pitchFamily="18" charset="0"/>
                            <a:ea typeface="Open Sans" panose="020B0606030504020204" pitchFamily="34" charset="0"/>
                            <a:cs typeface="Open Sans" panose="020B0606030504020204" pitchFamily="34" charset="0"/>
                          </a:rPr>
                          <m:t>𝜀</m:t>
                        </m:r>
                      </m:e>
                    </m:d>
                    <m:r>
                      <a:rPr lang="en-US" sz="2400" b="0" i="1" smtClean="0">
                        <a:latin typeface="Cambria Math" panose="02040503050406030204" pitchFamily="18" charset="0"/>
                        <a:cs typeface="Times New Roman" panose="02020603050405020304" pitchFamily="18" charset="0"/>
                      </a:rPr>
                      <m:t>= 0</m:t>
                    </m:r>
                  </m:oMath>
                </a14:m>
                <a:r>
                  <a:rPr lang="en-US" sz="2400" dirty="0">
                    <a:cs typeface="Times New Roman" panose="02020603050405020304" pitchFamily="18" charset="0"/>
                  </a:rPr>
                  <a:t> for all values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𝑥</m:t>
                    </m:r>
                  </m:oMath>
                </a14:m>
                <a:r>
                  <a:rPr lang="en-US" sz="2400" dirty="0">
                    <a:cs typeface="Times New Roman" panose="02020603050405020304" pitchFamily="18" charset="0"/>
                  </a:rPr>
                  <a:t>. </a:t>
                </a:r>
              </a:p>
              <a:p>
                <a:pPr lvl="1"/>
                <a:r>
                  <a:rPr lang="en-US" sz="2400" dirty="0">
                    <a:cs typeface="Times New Roman" panose="02020603050405020304" pitchFamily="18" charset="0"/>
                  </a:rPr>
                  <a:t>This is often a </a:t>
                </a:r>
                <a:r>
                  <a:rPr lang="en-US" sz="2400" b="1" dirty="0">
                    <a:cs typeface="Times New Roman" panose="02020603050405020304" pitchFamily="18" charset="0"/>
                  </a:rPr>
                  <a:t>critical assumption. </a:t>
                </a:r>
              </a:p>
              <a:p>
                <a:pPr marL="0" indent="0">
                  <a:buNone/>
                </a:pPr>
                <a:r>
                  <a:rPr lang="en-US" sz="2400" b="1" dirty="0">
                    <a:cs typeface="Times New Roman" panose="02020603050405020304" pitchFamily="18" charset="0"/>
                  </a:rPr>
                  <a:t>Additional useful assumptions</a:t>
                </a:r>
              </a:p>
              <a:p>
                <a:pPr marL="457200" indent="-457200">
                  <a:spcBef>
                    <a:spcPts val="1200"/>
                  </a:spcBef>
                  <a:spcAft>
                    <a:spcPts val="0"/>
                  </a:spcAft>
                  <a:buFont typeface="+mj-lt"/>
                  <a:buAutoNum type="arabicPeriod" startAt="3"/>
                </a:pPr>
                <a:r>
                  <a:rPr lang="en-US" sz="2400" dirty="0">
                    <a:cs typeface="Times New Roman" panose="02020603050405020304" pitchFamily="18" charset="0"/>
                  </a:rPr>
                  <a:t>Correct specification (similar to DAGs)</a:t>
                </a:r>
              </a:p>
              <a:p>
                <a:pPr marL="457200" indent="-457200">
                  <a:spcBef>
                    <a:spcPts val="1200"/>
                  </a:spcBef>
                  <a:spcAft>
                    <a:spcPts val="0"/>
                  </a:spcAft>
                  <a:buFont typeface="+mj-lt"/>
                  <a:buAutoNum type="arabicPeriod" startAt="3"/>
                </a:pPr>
                <a:r>
                  <a:rPr lang="en-US" sz="2400" dirty="0">
                    <a:cs typeface="Times New Roman" panose="02020603050405020304" pitchFamily="18" charset="0"/>
                  </a:rPr>
                  <a:t>Homoskedasticity: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𝕍</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𝜀</m:t>
                        </m:r>
                      </m:e>
                      <m:e>
                        <m:r>
                          <a:rPr lang="en-US" sz="2400" b="0" i="1" smtClean="0">
                            <a:latin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cs typeface="Times New Roman" panose="02020603050405020304" pitchFamily="18" charset="0"/>
                      </a:rPr>
                      <m:t>=</m:t>
                    </m:r>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𝜎</m:t>
                        </m:r>
                      </m:e>
                      <m:sup>
                        <m:r>
                          <a:rPr lang="en-US" sz="2400" b="0" i="1" smtClean="0">
                            <a:latin typeface="Cambria Math" panose="02040503050406030204" pitchFamily="18" charset="0"/>
                            <a:cs typeface="Times New Roman" panose="02020603050405020304" pitchFamily="18" charset="0"/>
                          </a:rPr>
                          <m:t>2</m:t>
                        </m:r>
                      </m:sup>
                    </m:sSup>
                  </m:oMath>
                </a14:m>
                <a:r>
                  <a:rPr lang="en-US" sz="2400" dirty="0">
                    <a:cs typeface="Times New Roman" panose="02020603050405020304" pitchFamily="18" charset="0"/>
                  </a:rPr>
                  <a:t>, a constant</a:t>
                </a:r>
              </a:p>
              <a:p>
                <a:pPr marL="457200" indent="-457200">
                  <a:spcBef>
                    <a:spcPts val="1200"/>
                  </a:spcBef>
                  <a:spcAft>
                    <a:spcPts val="0"/>
                  </a:spcAft>
                  <a:buFont typeface="+mj-lt"/>
                  <a:buAutoNum type="arabicPeriod" startAt="3"/>
                </a:pPr>
                <a:r>
                  <a:rPr lang="en-US" sz="2400" dirty="0">
                    <a:cs typeface="Times New Roman" panose="02020603050405020304" pitchFamily="18" charset="0"/>
                  </a:rPr>
                  <a:t>No serial correlation: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𝐶𝑜𝑣</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𝜀</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𝜀</m:t>
                            </m:r>
                          </m:e>
                          <m:sub>
                            <m:r>
                              <a:rPr lang="en-US" sz="2400" b="0" i="1" smtClean="0">
                                <a:latin typeface="Cambria Math" panose="02040503050406030204" pitchFamily="18" charset="0"/>
                                <a:cs typeface="Times New Roman" panose="02020603050405020304" pitchFamily="18" charset="0"/>
                              </a:rPr>
                              <m:t>𝑗</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cs typeface="Times New Roman" panose="02020603050405020304" pitchFamily="18" charset="0"/>
                      </a:rPr>
                      <m:t>=0</m:t>
                    </m:r>
                  </m:oMath>
                </a14:m>
                <a:endParaRPr lang="en-US" sz="2400" b="0" dirty="0">
                  <a:cs typeface="Times New Roman" panose="02020603050405020304" pitchFamily="18" charset="0"/>
                </a:endParaRPr>
              </a:p>
              <a:p>
                <a:pPr marL="457200" indent="-457200">
                  <a:spcBef>
                    <a:spcPts val="1200"/>
                  </a:spcBef>
                  <a:spcAft>
                    <a:spcPts val="0"/>
                  </a:spcAft>
                  <a:buFont typeface="+mj-lt"/>
                  <a:buAutoNum type="arabicPeriod" startAt="3"/>
                </a:pPr>
                <a:r>
                  <a:rPr lang="en-US" sz="2400" dirty="0">
                    <a:cs typeface="Times New Roman" panose="02020603050405020304" pitchFamily="18" charset="0"/>
                  </a:rPr>
                  <a:t>Distributional assumptions (Even less common/necessary):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𝜀</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𝑁</m:t>
                    </m:r>
                    <m:r>
                      <a:rPr lang="en-US" sz="2400" b="0" i="1" smtClean="0">
                        <a:latin typeface="Cambria Math" panose="02040503050406030204" pitchFamily="18" charset="0"/>
                        <a:cs typeface="Times New Roman" panose="02020603050405020304" pitchFamily="18" charset="0"/>
                      </a:rPr>
                      <m:t>(0,</m:t>
                    </m:r>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𝜎</m:t>
                        </m:r>
                      </m:e>
                      <m:sup>
                        <m:r>
                          <a:rPr lang="en-US" sz="2400" b="0" i="1" smtClean="0">
                            <a:latin typeface="Cambria Math" panose="02040503050406030204" pitchFamily="18" charset="0"/>
                            <a:cs typeface="Times New Roman" panose="02020603050405020304" pitchFamily="18" charset="0"/>
                          </a:rPr>
                          <m:t>2</m:t>
                        </m:r>
                      </m:sup>
                    </m:sSup>
                    <m:r>
                      <a:rPr lang="en-US" sz="2400" b="0" i="1" smtClean="0">
                        <a:latin typeface="Cambria Math" panose="02040503050406030204" pitchFamily="18" charset="0"/>
                        <a:cs typeface="Times New Roman" panose="02020603050405020304" pitchFamily="18" charset="0"/>
                      </a:rPr>
                      <m:t>)</m:t>
                    </m:r>
                  </m:oMath>
                </a14:m>
                <a:endParaRPr lang="en-US" sz="2400" dirty="0">
                  <a:cs typeface="Times New Roman" panose="02020603050405020304" pitchFamily="18" charset="0"/>
                </a:endParaRPr>
              </a:p>
              <a:p>
                <a:pPr marL="457200" indent="-457200">
                  <a:buFont typeface="+mj-lt"/>
                  <a:buAutoNum type="arabicPeriod" startAt="3"/>
                </a:pPr>
                <a:endParaRPr lang="en-US" sz="2400" dirty="0">
                  <a:cs typeface="Times New Roman" panose="02020603050405020304" pitchFamily="18" charset="0"/>
                </a:endParaRPr>
              </a:p>
              <a:p>
                <a:pPr marL="457200" indent="-457200">
                  <a:buFont typeface="+mj-lt"/>
                  <a:buAutoNum type="arabicPeriod" startAt="3"/>
                </a:pPr>
                <a:endParaRPr lang="en-US" sz="240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0" y="990600"/>
                <a:ext cx="10210801" cy="5486399"/>
              </a:xfrm>
              <a:blipFill>
                <a:blip r:embed="rId3"/>
                <a:stretch>
                  <a:fillRect l="-955" r="-776"/>
                </a:stretch>
              </a:blipFill>
            </p:spPr>
            <p:txBody>
              <a:bodyPr/>
              <a:lstStyle/>
              <a:p>
                <a:r>
                  <a:rPr lang="en-US">
                    <a:noFill/>
                  </a:rPr>
                  <a:t> </a:t>
                </a:r>
              </a:p>
            </p:txBody>
          </p:sp>
        </mc:Fallback>
      </mc:AlternateContent>
    </p:spTree>
    <p:extLst>
      <p:ext uri="{BB962C8B-B14F-4D97-AF65-F5344CB8AC3E}">
        <p14:creationId xmlns:p14="http://schemas.microsoft.com/office/powerpoint/2010/main" val="7551787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7269480" cy="624840"/>
          </a:xfrm>
        </p:spPr>
        <p:txBody>
          <a:bodyPr>
            <a:normAutofit fontScale="90000"/>
          </a:bodyPr>
          <a:lstStyle/>
          <a:p>
            <a:r>
              <a:rPr lang="en-US" dirty="0">
                <a:latin typeface="Times New Roman" panose="02020603050405020304" pitchFamily="18" charset="0"/>
                <a:cs typeface="Times New Roman" panose="02020603050405020304" pitchFamily="18" charset="0"/>
              </a:rPr>
              <a:t>Estimating a Regression: </a:t>
            </a:r>
            <a:r>
              <a:rPr lang="en-US" dirty="0">
                <a:cs typeface="Times New Roman" panose="02020603050405020304" pitchFamily="18" charset="0"/>
              </a:rPr>
              <a:t>Intuition</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09601" y="1066801"/>
                <a:ext cx="10015390" cy="5141388"/>
              </a:xfrm>
            </p:spPr>
            <p:txBody>
              <a:bodyPr>
                <a:normAutofit/>
              </a:bodyPr>
              <a:lstStyle/>
              <a:p>
                <a:pPr marL="274320" lvl="1" indent="0">
                  <a:buNone/>
                </a:pPr>
                <a14:m>
                  <m:oMathPara xmlns:m="http://schemas.openxmlformats.org/officeDocument/2006/math">
                    <m:oMath>
                      <m:r>
                        <a:rPr lang="en-CA" sz="240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𝑦</m:t>
                      </m:r>
                      <m:r>
                        <a:rPr lang="en-CA" sz="240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0</m:t>
                          </m:r>
                        </m:sub>
                      </m:sSub>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1</m:t>
                          </m:r>
                        </m:sub>
                      </m:sSub>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𝑥</m:t>
                      </m:r>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m:t>
                      </m:r>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𝜀</m:t>
                      </m:r>
                    </m:oMath>
                  </m:oMathPara>
                </a14:m>
                <a:endParaRPr lang="en-CA" sz="2400" dirty="0">
                  <a:solidFill>
                    <a:schemeClr val="tx1"/>
                  </a:solidFill>
                  <a:latin typeface="Open Sans"/>
                  <a:ea typeface="Open Sans" panose="020B0606030504020204" pitchFamily="34" charset="0"/>
                  <a:cs typeface="Open Sans" panose="020B0606030504020204" pitchFamily="34" charset="0"/>
                </a:endParaRPr>
              </a:p>
              <a:p>
                <a:pPr marL="0" indent="0">
                  <a:buNone/>
                </a:pPr>
                <a:r>
                  <a:rPr lang="en-US" sz="2400" dirty="0">
                    <a:cs typeface="Times New Roman" panose="02020603050405020304" pitchFamily="18" charset="0"/>
                  </a:rPr>
                  <a:t>Our two main assumptions give a system of equations used to solve for </a:t>
                </a:r>
                <a14:m>
                  <m:oMath xmlns:m="http://schemas.openxmlformats.org/officeDocument/2006/math">
                    <m:acc>
                      <m:accPr>
                        <m:chr m:val="̂"/>
                        <m:ctrlPr>
                          <a:rPr lang="en-US" sz="2400" b="0" i="1" smtClean="0">
                            <a:latin typeface="Cambria Math" panose="02040503050406030204" pitchFamily="18" charset="0"/>
                            <a:cs typeface="Times New Roman" panose="02020603050405020304" pitchFamily="18" charset="0"/>
                          </a:rPr>
                        </m:ctrlPr>
                      </m:accPr>
                      <m:e>
                        <m:r>
                          <a:rPr lang="en-US" sz="2400" b="0" i="1" smtClean="0">
                            <a:latin typeface="Cambria Math" panose="02040503050406030204" pitchFamily="18" charset="0"/>
                            <a:cs typeface="Times New Roman" panose="02020603050405020304" pitchFamily="18" charset="0"/>
                          </a:rPr>
                          <m:t>𝛽</m:t>
                        </m:r>
                      </m:e>
                    </m:acc>
                  </m:oMath>
                </a14:m>
                <a:r>
                  <a:rPr lang="en-US" sz="2400" dirty="0">
                    <a:cs typeface="Times New Roman" panose="02020603050405020304" pitchFamily="18" charset="0"/>
                  </a:rPr>
                  <a:t>:</a:t>
                </a:r>
              </a:p>
              <a:p>
                <a:pPr marL="457200" indent="-457200">
                  <a:buFont typeface="+mj-lt"/>
                  <a:buAutoNum type="arabicPeriod"/>
                </a:pPr>
                <a:r>
                  <a:rPr lang="en-US" sz="2400" b="0" dirty="0">
                    <a:cs typeface="Times New Roman" panose="02020603050405020304" pitchFamily="18" charset="0"/>
                  </a:rPr>
                  <a:t>Mean zero error: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𝑦</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cs typeface="Times New Roman" panose="02020603050405020304" pitchFamily="18" charset="0"/>
                      </a:rPr>
                      <m:t>=0</m:t>
                    </m:r>
                  </m:oMath>
                </a14:m>
                <a:endParaRPr lang="en-US" sz="2400" i="1" dirty="0">
                  <a:cs typeface="Times New Roman" panose="02020603050405020304" pitchFamily="18" charset="0"/>
                </a:endParaRPr>
              </a:p>
              <a:p>
                <a:pPr marL="457200" indent="-457200">
                  <a:buFont typeface="+mj-lt"/>
                  <a:buAutoNum type="arabicPeriod"/>
                </a:pPr>
                <a:r>
                  <a:rPr lang="en-US" sz="2400" dirty="0">
                    <a:cs typeface="Times New Roman" panose="02020603050405020304" pitchFamily="18" charset="0"/>
                  </a:rPr>
                  <a:t>Mean independence: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begChr m:val="["/>
                        <m:endChr m:val="]"/>
                        <m:ctrlPr>
                          <a:rPr lang="en-US" sz="2400" i="1">
                            <a:latin typeface="Cambria Math" panose="02040503050406030204" pitchFamily="18" charset="0"/>
                            <a:ea typeface="Open Sans" panose="020B0606030504020204" pitchFamily="34" charset="0"/>
                            <a:cs typeface="Open Sans" panose="020B0606030504020204" pitchFamily="34" charset="0"/>
                          </a:rPr>
                        </m:ctrlPr>
                      </m:dPr>
                      <m:e>
                        <m:r>
                          <a:rPr lang="en-US" sz="2400" i="1">
                            <a:latin typeface="Cambria Math" panose="02040503050406030204" pitchFamily="18" charset="0"/>
                            <a:ea typeface="Open Sans" panose="020B0606030504020204" pitchFamily="34" charset="0"/>
                            <a:cs typeface="Open Sans" panose="020B0606030504020204" pitchFamily="34" charset="0"/>
                          </a:rPr>
                          <m:t>𝜀</m:t>
                        </m:r>
                      </m:e>
                      <m:e>
                        <m:r>
                          <a:rPr lang="en-US" sz="2400" b="0" i="1" smtClean="0">
                            <a:latin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𝑥</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𝑦</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cs typeface="Times New Roman" panose="02020603050405020304" pitchFamily="18" charset="0"/>
                      </a:rPr>
                      <m:t>=0</m:t>
                    </m:r>
                  </m:oMath>
                </a14:m>
                <a:endParaRPr lang="en-US" sz="2400" b="0" dirty="0">
                  <a:cs typeface="Times New Roman" panose="02020603050405020304" pitchFamily="18" charset="0"/>
                </a:endParaRPr>
              </a:p>
              <a:p>
                <a:pPr marL="0" indent="0">
                  <a:buNone/>
                </a:pPr>
                <a:r>
                  <a:rPr lang="en-US" sz="2400" dirty="0">
                    <a:cs typeface="Times New Roman" panose="02020603050405020304" pitchFamily="18" charset="0"/>
                  </a:rPr>
                  <a:t>You can solve this system for the desired values of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oMath>
                </a14:m>
                <a:endParaRPr lang="en-US" sz="2400" dirty="0">
                  <a:cs typeface="Times New Roman" panose="02020603050405020304" pitchFamily="18" charset="0"/>
                </a:endParaRPr>
              </a:p>
              <a:p>
                <a:r>
                  <a:rPr lang="en-US" sz="2400" dirty="0">
                    <a:cs typeface="Times New Roman" panose="02020603050405020304" pitchFamily="18" charset="0"/>
                  </a:rPr>
                  <a:t>See SC for a mathematical derivation</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609601" y="1066801"/>
                <a:ext cx="10015390" cy="5141388"/>
              </a:xfrm>
              <a:blipFill>
                <a:blip r:embed="rId3"/>
                <a:stretch>
                  <a:fillRect l="-913"/>
                </a:stretch>
              </a:blipFill>
            </p:spPr>
            <p:txBody>
              <a:bodyPr/>
              <a:lstStyle/>
              <a:p>
                <a:r>
                  <a:rPr lang="en-CA">
                    <a:noFill/>
                  </a:rPr>
                  <a:t> </a:t>
                </a:r>
              </a:p>
            </p:txBody>
          </p:sp>
        </mc:Fallback>
      </mc:AlternateContent>
    </p:spTree>
    <p:extLst>
      <p:ext uri="{BB962C8B-B14F-4D97-AF65-F5344CB8AC3E}">
        <p14:creationId xmlns:p14="http://schemas.microsoft.com/office/powerpoint/2010/main" val="14177626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7269480" cy="624840"/>
          </a:xfrm>
        </p:spPr>
        <p:txBody>
          <a:bodyPr>
            <a:normAutofit fontScale="90000"/>
          </a:bodyPr>
          <a:lstStyle/>
          <a:p>
            <a:r>
              <a:rPr lang="en-US" dirty="0">
                <a:latin typeface="Times New Roman" panose="02020603050405020304" pitchFamily="18" charset="0"/>
                <a:cs typeface="Times New Roman" panose="02020603050405020304" pitchFamily="18" charset="0"/>
              </a:rPr>
              <a:t>Estimating a Regression: </a:t>
            </a:r>
            <a:r>
              <a:rPr lang="en-US" dirty="0">
                <a:cs typeface="Times New Roman" panose="02020603050405020304" pitchFamily="18" charset="0"/>
              </a:rPr>
              <a:t>Intuition</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762001" y="1066801"/>
                <a:ext cx="10210800" cy="5141388"/>
              </a:xfrm>
            </p:spPr>
            <p:txBody>
              <a:bodyPr>
                <a:normAutofit/>
              </a:bodyPr>
              <a:lstStyle/>
              <a:p>
                <a:pPr marL="274320" lvl="1" indent="0">
                  <a:buNone/>
                </a:pPr>
                <a14:m>
                  <m:oMathPara xmlns:m="http://schemas.openxmlformats.org/officeDocument/2006/math">
                    <m:oMath>
                      <m:r>
                        <a:rPr lang="en-CA" sz="240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𝑦</m:t>
                      </m:r>
                      <m:r>
                        <a:rPr lang="en-CA" sz="240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0</m:t>
                          </m:r>
                        </m:sub>
                      </m:sSub>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1</m:t>
                          </m:r>
                        </m:sub>
                      </m:sSub>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𝑥</m:t>
                      </m:r>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m:t>
                      </m:r>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𝜀</m:t>
                      </m:r>
                    </m:oMath>
                  </m:oMathPara>
                </a14:m>
                <a:endParaRPr lang="en-CA" sz="2400" dirty="0">
                  <a:solidFill>
                    <a:schemeClr val="tx1"/>
                  </a:solidFill>
                  <a:latin typeface="Open Sans"/>
                  <a:ea typeface="Open Sans" panose="020B0606030504020204" pitchFamily="34" charset="0"/>
                  <a:cs typeface="Open Sans" panose="020B0606030504020204" pitchFamily="34" charset="0"/>
                </a:endParaRPr>
              </a:p>
              <a:p>
                <a:pPr marL="0" indent="0">
                  <a:buNone/>
                </a:pPr>
                <a:r>
                  <a:rPr lang="en-US" sz="2400" dirty="0">
                    <a:cs typeface="Times New Roman" panose="02020603050405020304" pitchFamily="18" charset="0"/>
                  </a:rPr>
                  <a:t>Our two assumptions give us a system of equations used to solve for </a:t>
                </a:r>
                <a14:m>
                  <m:oMath xmlns:m="http://schemas.openxmlformats.org/officeDocument/2006/math">
                    <m:acc>
                      <m:accPr>
                        <m:chr m:val="⃗"/>
                        <m:ctrlPr>
                          <a:rPr lang="en-US" sz="2400" b="0" i="1" smtClean="0">
                            <a:solidFill>
                              <a:schemeClr val="tx1"/>
                            </a:solidFill>
                            <a:latin typeface="Cambria Math" panose="02040503050406030204" pitchFamily="18" charset="0"/>
                            <a:ea typeface="Open Sans" panose="020B0606030504020204" pitchFamily="34" charset="0"/>
                            <a:cs typeface="Times New Roman" panose="02020603050405020304" pitchFamily="18" charset="0"/>
                          </a:rPr>
                        </m:ctrlPr>
                      </m:accPr>
                      <m:e>
                        <m:r>
                          <a:rPr lang="en-US" sz="2400" b="0" i="1" smtClean="0">
                            <a:solidFill>
                              <a:schemeClr val="tx1"/>
                            </a:solidFill>
                            <a:latin typeface="Cambria Math" panose="02040503050406030204" pitchFamily="18" charset="0"/>
                            <a:ea typeface="Open Sans" panose="020B0606030504020204" pitchFamily="34" charset="0"/>
                            <a:cs typeface="Times New Roman" panose="02020603050405020304" pitchFamily="18" charset="0"/>
                          </a:rPr>
                          <m:t>𝛽</m:t>
                        </m:r>
                      </m:e>
                    </m:acc>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oMath>
                </a14:m>
                <a:endParaRPr lang="en-US" sz="2400" dirty="0">
                  <a:cs typeface="Times New Roman" panose="02020603050405020304" pitchFamily="18" charset="0"/>
                </a:endParaRPr>
              </a:p>
              <a:p>
                <a:pPr marL="457200" indent="-457200">
                  <a:buFont typeface="+mj-lt"/>
                  <a:buAutoNum type="arabicPeriod"/>
                </a:pPr>
                <a:r>
                  <a:rPr lang="en-US" sz="2400" b="0" dirty="0">
                    <a:cs typeface="Times New Roman" panose="02020603050405020304" pitchFamily="18" charset="0"/>
                  </a:rPr>
                  <a:t>Mean zero error: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𝑦</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cs typeface="Times New Roman" panose="02020603050405020304" pitchFamily="18" charset="0"/>
                      </a:rPr>
                      <m:t>=0</m:t>
                    </m:r>
                  </m:oMath>
                </a14:m>
                <a:endParaRPr lang="en-US" sz="2400" i="1" dirty="0">
                  <a:cs typeface="Times New Roman" panose="02020603050405020304" pitchFamily="18" charset="0"/>
                </a:endParaRPr>
              </a:p>
              <a:p>
                <a:pPr marL="457200" indent="-457200">
                  <a:buFont typeface="+mj-lt"/>
                  <a:buAutoNum type="arabicPeriod"/>
                </a:pPr>
                <a:r>
                  <a:rPr lang="en-US" sz="2400" dirty="0">
                    <a:cs typeface="Times New Roman" panose="02020603050405020304" pitchFamily="18" charset="0"/>
                  </a:rPr>
                  <a:t>Mean independence: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begChr m:val="["/>
                        <m:endChr m:val="]"/>
                        <m:ctrlPr>
                          <a:rPr lang="en-US" sz="2400" i="1">
                            <a:latin typeface="Cambria Math" panose="02040503050406030204" pitchFamily="18" charset="0"/>
                            <a:ea typeface="Open Sans" panose="020B0606030504020204" pitchFamily="34" charset="0"/>
                            <a:cs typeface="Open Sans" panose="020B0606030504020204" pitchFamily="34" charset="0"/>
                          </a:rPr>
                        </m:ctrlPr>
                      </m:dPr>
                      <m:e>
                        <m:r>
                          <a:rPr lang="en-US" sz="2400" i="1">
                            <a:latin typeface="Cambria Math" panose="02040503050406030204" pitchFamily="18" charset="0"/>
                            <a:ea typeface="Open Sans" panose="020B0606030504020204" pitchFamily="34" charset="0"/>
                            <a:cs typeface="Open Sans" panose="020B0606030504020204" pitchFamily="34" charset="0"/>
                          </a:rPr>
                          <m:t>𝜀</m:t>
                        </m:r>
                      </m:e>
                      <m:e>
                        <m:r>
                          <a:rPr lang="en-US" sz="2400" b="0" i="1" smtClean="0">
                            <a:latin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𝑥</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𝑦</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cs typeface="Times New Roman" panose="02020603050405020304" pitchFamily="18" charset="0"/>
                      </a:rPr>
                      <m:t>=0</m:t>
                    </m:r>
                  </m:oMath>
                </a14:m>
                <a:endParaRPr lang="en-US" sz="2400" b="0" dirty="0">
                  <a:cs typeface="Times New Roman" panose="02020603050405020304" pitchFamily="18" charset="0"/>
                </a:endParaRPr>
              </a:p>
              <a:p>
                <a:pPr marL="0" indent="0">
                  <a:buNone/>
                </a:pPr>
                <a:r>
                  <a:rPr lang="en-US" sz="2400" b="1" dirty="0">
                    <a:cs typeface="Times New Roman" panose="02020603050405020304" pitchFamily="18" charset="0"/>
                  </a:rPr>
                  <a:t>Intuitively, what is happening here? </a:t>
                </a:r>
              </a:p>
              <a:p>
                <a:r>
                  <a:rPr lang="en-US" sz="2400" dirty="0">
                    <a:cs typeface="Times New Roman" panose="02020603050405020304" pitchFamily="18" charset="0"/>
                  </a:rPr>
                  <a:t>Let’s play a regression game: </a:t>
                </a:r>
              </a:p>
              <a:p>
                <a:pPr marL="274320" lvl="1" indent="0">
                  <a:buNone/>
                </a:pPr>
                <a:r>
                  <a:rPr lang="en-US" sz="2200" dirty="0">
                    <a:cs typeface="Times New Roman" panose="02020603050405020304" pitchFamily="18" charset="0"/>
                    <a:hlinkClick r:id="rId2"/>
                  </a:rPr>
                  <a:t>https://sophieehill.shinyapps.io/eyeball-regression/</a:t>
                </a:r>
                <a:r>
                  <a:rPr lang="en-US" sz="2200" dirty="0">
                    <a:cs typeface="Times New Roman" panose="02020603050405020304" pitchFamily="18" charset="0"/>
                  </a:rPr>
                  <a:t> </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762001" y="1066801"/>
                <a:ext cx="10210800" cy="5141388"/>
              </a:xfrm>
              <a:blipFill>
                <a:blip r:embed="rId3"/>
                <a:stretch>
                  <a:fillRect l="-896"/>
                </a:stretch>
              </a:blipFill>
            </p:spPr>
            <p:txBody>
              <a:bodyPr/>
              <a:lstStyle/>
              <a:p>
                <a:r>
                  <a:rPr lang="en-CA">
                    <a:noFill/>
                  </a:rPr>
                  <a:t> </a:t>
                </a:r>
              </a:p>
            </p:txBody>
          </p:sp>
        </mc:Fallback>
      </mc:AlternateContent>
    </p:spTree>
    <p:extLst>
      <p:ext uri="{BB962C8B-B14F-4D97-AF65-F5344CB8AC3E}">
        <p14:creationId xmlns:p14="http://schemas.microsoft.com/office/powerpoint/2010/main" val="10212394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8991600" cy="624840"/>
          </a:xfrm>
        </p:spPr>
        <p:txBody>
          <a:bodyPr>
            <a:normAutofit fontScale="90000"/>
          </a:bodyPr>
          <a:lstStyle/>
          <a:p>
            <a:r>
              <a:rPr lang="en-US" dirty="0">
                <a:latin typeface="Times New Roman" panose="02020603050405020304" pitchFamily="18" charset="0"/>
                <a:cs typeface="Times New Roman" panose="02020603050405020304" pitchFamily="18" charset="0"/>
              </a:rPr>
              <a:t>Ordinary Least Squares (OLS)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015390" cy="5141388"/>
              </a:xfrm>
            </p:spPr>
            <p:txBody>
              <a:bodyPr>
                <a:noAutofit/>
              </a:bodyPr>
              <a:lstStyle/>
              <a:p>
                <a:pPr marL="274320" lvl="1" indent="0">
                  <a:buNone/>
                </a:pPr>
                <a14:m>
                  <m:oMathPara xmlns:m="http://schemas.openxmlformats.org/officeDocument/2006/math">
                    <m:oMath>
                      <m:r>
                        <a:rPr lang="en-CA" sz="240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𝑦</m:t>
                      </m:r>
                      <m:r>
                        <a:rPr lang="en-CA" sz="240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0</m:t>
                          </m:r>
                        </m:sub>
                      </m:sSub>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1</m:t>
                          </m:r>
                        </m:sub>
                      </m:sSub>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𝑥</m:t>
                      </m:r>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m:t>
                      </m:r>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𝜀</m:t>
                      </m:r>
                    </m:oMath>
                  </m:oMathPara>
                </a14:m>
                <a:endParaRPr lang="en-US" sz="2400" b="0" dirty="0">
                  <a:solidFill>
                    <a:schemeClr val="tx1"/>
                  </a:solidFill>
                  <a:latin typeface="Open Sans"/>
                  <a:ea typeface="Open Sans" panose="020B0606030504020204" pitchFamily="34" charset="0"/>
                  <a:cs typeface="Open Sans" panose="020B0606030504020204" pitchFamily="34" charset="0"/>
                </a:endParaRPr>
              </a:p>
              <a:p>
                <a:pPr marL="0" indent="0">
                  <a:lnSpc>
                    <a:spcPct val="120000"/>
                  </a:lnSpc>
                  <a:buNone/>
                </a:pPr>
                <a:r>
                  <a:rPr lang="en-CA" sz="2400" b="1" dirty="0">
                    <a:solidFill>
                      <a:schemeClr val="tx1">
                        <a:lumMod val="75000"/>
                        <a:lumOff val="25000"/>
                      </a:schemeClr>
                    </a:solidFill>
                    <a:ea typeface="Open Sans" panose="020B0606030504020204" pitchFamily="34" charset="0"/>
                    <a:cs typeface="Times New Roman" panose="02020603050405020304" pitchFamily="18" charset="0"/>
                  </a:rPr>
                  <a:t>Definition: </a:t>
                </a:r>
                <a:r>
                  <a:rPr lang="en-US" sz="2400" dirty="0">
                    <a:solidFill>
                      <a:schemeClr val="tx1">
                        <a:lumMod val="75000"/>
                        <a:lumOff val="25000"/>
                      </a:schemeClr>
                    </a:solidFill>
                    <a:ea typeface="Open Sans" panose="020B0606030504020204" pitchFamily="34" charset="0"/>
                    <a:cs typeface="Times New Roman" panose="02020603050405020304" pitchFamily="18" charset="0"/>
                  </a:rPr>
                  <a:t>Th</a:t>
                </a:r>
                <a:r>
                  <a:rPr lang="en-CA" sz="2400" dirty="0">
                    <a:solidFill>
                      <a:schemeClr val="tx1">
                        <a:lumMod val="75000"/>
                        <a:lumOff val="25000"/>
                      </a:schemeClr>
                    </a:solidFill>
                    <a:ea typeface="Open Sans" panose="020B0606030504020204" pitchFamily="34" charset="0"/>
                    <a:cs typeface="Times New Roman" panose="02020603050405020304" pitchFamily="18" charset="0"/>
                  </a:rPr>
                  <a:t>e sum of squared errors (SSE):</a:t>
                </a:r>
                <a:endParaRPr lang="en-CA" sz="2400" b="1" dirty="0">
                  <a:solidFill>
                    <a:schemeClr val="tx1">
                      <a:lumMod val="75000"/>
                      <a:lumOff val="25000"/>
                    </a:schemeClr>
                  </a:solidFill>
                  <a:ea typeface="Open Sans" panose="020B0606030504020204" pitchFamily="34" charset="0"/>
                  <a:cs typeface="Times New Roman" panose="02020603050405020304" pitchFamily="18" charset="0"/>
                </a:endParaRPr>
              </a:p>
              <a:p>
                <a:pPr marL="0" indent="0">
                  <a:lnSpc>
                    <a:spcPct val="120000"/>
                  </a:lnSpc>
                  <a:buNone/>
                </a:pPr>
                <a14:m>
                  <m:oMathPara xmlns:m="http://schemas.openxmlformats.org/officeDocument/2006/math">
                    <m:oMath>
                      <m:r>
                        <a:rPr lang="en-CA" sz="2400" b="1" i="0" smtClean="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m:t>𝐒𝐒𝐄</m:t>
                      </m:r>
                      <m:r>
                        <a:rPr lang="en-CA" sz="2400" b="1" i="0" smtClean="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m:t>=</m:t>
                      </m:r>
                      <m:nary>
                        <m:naryPr>
                          <m:chr m:val="∑"/>
                          <m:ctrlPr>
                            <a:rPr lang="en-CA" sz="2400" b="1" i="1" smtClean="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m:ctrlPr>
                        </m:naryPr>
                        <m:sub>
                          <m:r>
                            <m:rPr>
                              <m:brk m:alnAt="23"/>
                            </m:rPr>
                            <a:rPr lang="en-CA" sz="2400" b="1" i="1" smtClean="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m:t>𝒊</m:t>
                          </m:r>
                          <m:r>
                            <a:rPr lang="en-CA" sz="2400" b="1" i="1" smtClean="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m:t>=</m:t>
                          </m:r>
                          <m:r>
                            <a:rPr lang="en-CA" sz="2400" b="1" i="1" smtClean="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m:t>𝟏</m:t>
                          </m:r>
                        </m:sub>
                        <m:sup>
                          <m:r>
                            <a:rPr lang="en-CA" sz="2400" b="1" i="1" smtClean="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m:t>𝑵</m:t>
                          </m:r>
                        </m:sup>
                        <m:e>
                          <m:sSup>
                            <m:sSupPr>
                              <m:ctrlPr>
                                <a:rPr lang="en-CA" sz="2400" b="1" i="1" smtClean="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m:ctrlPr>
                            </m:sSupPr>
                            <m:e>
                              <m:acc>
                                <m:accPr>
                                  <m:chr m:val="̂"/>
                                  <m:ctrlPr>
                                    <a:rPr lang="en-CA" sz="2400" b="1" i="1" smtClean="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m:ctrlPr>
                                </m:accPr>
                                <m:e>
                                  <m:sSub>
                                    <m:sSubPr>
                                      <m:ctrlPr>
                                        <a:rPr lang="en-US" sz="2400" b="1" i="1" smtClean="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b="1" i="1" smtClean="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m:t>𝜺</m:t>
                                      </m:r>
                                    </m:e>
                                    <m:sub>
                                      <m:r>
                                        <a:rPr lang="en-CA" sz="2400" b="1" i="1" smtClean="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m:t>𝒊</m:t>
                                      </m:r>
                                    </m:sub>
                                  </m:sSub>
                                </m:e>
                              </m:acc>
                            </m:e>
                            <m:sup>
                              <m:r>
                                <a:rPr lang="en-CA" sz="2400" b="1" i="1" smtClean="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m:t>𝟐</m:t>
                              </m:r>
                            </m:sup>
                          </m:sSup>
                        </m:e>
                      </m:nary>
                      <m:r>
                        <a:rPr lang="en-CA" sz="2400" b="1" i="1" smtClean="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m:t>= </m:t>
                      </m:r>
                      <m:nary>
                        <m:naryPr>
                          <m:chr m:val="∑"/>
                          <m:ctrlPr>
                            <a:rPr lang="en-CA" sz="2400" b="1" i="1">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m:ctrlPr>
                        </m:naryPr>
                        <m:sub>
                          <m:r>
                            <m:rPr>
                              <m:brk m:alnAt="23"/>
                            </m:rPr>
                            <a:rPr lang="en-CA" sz="2400" b="1" i="1">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m:t>𝒊</m:t>
                          </m:r>
                          <m:r>
                            <a:rPr lang="en-CA" sz="2400" b="1" i="1">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m:t>=</m:t>
                          </m:r>
                          <m:r>
                            <a:rPr lang="en-CA" sz="2400" b="1" i="1">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m:t>𝟏</m:t>
                          </m:r>
                        </m:sub>
                        <m:sup>
                          <m:r>
                            <a:rPr lang="en-CA" sz="2400" b="1" i="1">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m:t>𝑵</m:t>
                          </m:r>
                        </m:sup>
                        <m:e>
                          <m:sSup>
                            <m:sSupPr>
                              <m:ctrlPr>
                                <a:rPr lang="en-CA" sz="2400" b="1" i="1" smtClean="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m:ctrlPr>
                            </m:sSupPr>
                            <m:e>
                              <m:d>
                                <m:dPr>
                                  <m:ctrlPr>
                                    <a:rPr lang="en-CA" sz="2400" b="1" i="1" smtClean="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m:ctrlPr>
                                </m:dPr>
                                <m:e>
                                  <m:sSub>
                                    <m:sSubPr>
                                      <m:ctrlPr>
                                        <a:rPr lang="en-CA" sz="2400" b="1" i="1" smtClean="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b="1" i="1" smtClean="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m:t>𝒚</m:t>
                                      </m:r>
                                    </m:e>
                                    <m:sub>
                                      <m:r>
                                        <a:rPr lang="en-CA" sz="2400" b="1" i="1" smtClean="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m:t>𝒊</m:t>
                                      </m:r>
                                    </m:sub>
                                  </m:sSub>
                                  <m:r>
                                    <a:rPr lang="en-CA" sz="2400" b="1" i="1" smtClean="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m:t> −</m:t>
                                  </m:r>
                                  <m:acc>
                                    <m:accPr>
                                      <m:chr m:val="̂"/>
                                      <m:ctrlPr>
                                        <a:rPr lang="en-CA" sz="2400" b="1" i="1" smtClean="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m:ctrlPr>
                                    </m:accPr>
                                    <m:e>
                                      <m:sSub>
                                        <m:sSubPr>
                                          <m:ctrlPr>
                                            <a:rPr lang="en-CA" sz="2400" b="1" i="1" smtClean="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b="1" i="1" smtClean="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m:t>𝒚</m:t>
                                          </m:r>
                                        </m:e>
                                        <m:sub>
                                          <m:r>
                                            <a:rPr lang="en-CA" sz="2400" b="1" i="1" smtClean="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m:t>𝒊</m:t>
                                          </m:r>
                                        </m:sub>
                                      </m:sSub>
                                    </m:e>
                                  </m:acc>
                                </m:e>
                              </m:d>
                            </m:e>
                            <m:sup>
                              <m:r>
                                <a:rPr lang="en-CA" sz="2400" b="1" i="1" smtClean="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m:t>𝟐</m:t>
                              </m:r>
                            </m:sup>
                          </m:sSup>
                        </m:e>
                      </m:nary>
                    </m:oMath>
                  </m:oMathPara>
                </a14:m>
                <a:endParaRPr lang="en-CA" sz="2400" b="1" dirty="0">
                  <a:solidFill>
                    <a:schemeClr val="tx1">
                      <a:lumMod val="75000"/>
                      <a:lumOff val="25000"/>
                    </a:schemeClr>
                  </a:solidFill>
                  <a:ea typeface="Open Sans" panose="020B0606030504020204" pitchFamily="34" charset="0"/>
                  <a:cs typeface="Times New Roman" panose="02020603050405020304" pitchFamily="18" charset="0"/>
                </a:endParaRPr>
              </a:p>
              <a:p>
                <a:pPr>
                  <a:lnSpc>
                    <a:spcPct val="120000"/>
                  </a:lnSpc>
                </a:pPr>
                <a:r>
                  <a:rPr lang="en-CA" sz="2400" dirty="0">
                    <a:solidFill>
                      <a:schemeClr val="tx1">
                        <a:lumMod val="75000"/>
                        <a:lumOff val="25000"/>
                      </a:schemeClr>
                    </a:solidFill>
                    <a:ea typeface="Open Sans" panose="020B0606030504020204" pitchFamily="34" charset="0"/>
                    <a:cs typeface="Times New Roman" panose="02020603050405020304" pitchFamily="18" charset="0"/>
                  </a:rPr>
                  <a:t>Implicit cost function for errors in estimation </a:t>
                </a:r>
              </a:p>
              <a:p>
                <a:pPr>
                  <a:lnSpc>
                    <a:spcPct val="120000"/>
                  </a:lnSpc>
                </a:pPr>
                <a:r>
                  <a:rPr lang="en-CA" sz="2400" b="1" dirty="0">
                    <a:solidFill>
                      <a:schemeClr val="tx1">
                        <a:lumMod val="75000"/>
                        <a:lumOff val="25000"/>
                      </a:schemeClr>
                    </a:solidFill>
                    <a:ea typeface="Open Sans" panose="020B0606030504020204" pitchFamily="34" charset="0"/>
                    <a:cs typeface="Times New Roman" panose="02020603050405020304" pitchFamily="18" charset="0"/>
                  </a:rPr>
                  <a:t>OLS returns </a:t>
                </a:r>
                <a14:m>
                  <m:oMath xmlns:m="http://schemas.openxmlformats.org/officeDocument/2006/math">
                    <m:sSub>
                      <m:sSubPr>
                        <m:ctrlPr>
                          <a:rPr lang="en-US" sz="2400" b="1"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b="1"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𝜷</m:t>
                        </m:r>
                      </m:e>
                      <m:sub>
                        <m:r>
                          <a:rPr lang="en-US" sz="2400" b="1"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𝟎</m:t>
                        </m:r>
                      </m:sub>
                    </m:sSub>
                    <m:r>
                      <a:rPr lang="en-US" sz="2400" b="1"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 </m:t>
                    </m:r>
                    <m:sSub>
                      <m:sSubPr>
                        <m:ctrlPr>
                          <a:rPr lang="en-US" sz="2400" b="1"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b="1"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𝜷</m:t>
                        </m:r>
                      </m:e>
                      <m:sub>
                        <m:r>
                          <a:rPr lang="en-US" sz="2400" b="1"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𝟏</m:t>
                        </m:r>
                      </m:sub>
                    </m:sSub>
                  </m:oMath>
                </a14:m>
                <a:r>
                  <a:rPr lang="en-CA" sz="2400" b="1" dirty="0">
                    <a:solidFill>
                      <a:schemeClr val="tx1">
                        <a:lumMod val="75000"/>
                        <a:lumOff val="25000"/>
                      </a:schemeClr>
                    </a:solidFill>
                    <a:ea typeface="Open Sans" panose="020B0606030504020204" pitchFamily="34" charset="0"/>
                    <a:cs typeface="Times New Roman" panose="02020603050405020304" pitchFamily="18" charset="0"/>
                  </a:rPr>
                  <a:t> that minimize this value given all observed data!</a:t>
                </a:r>
              </a:p>
              <a:p>
                <a:pPr>
                  <a:lnSpc>
                    <a:spcPct val="120000"/>
                  </a:lnSpc>
                </a:pPr>
                <a:r>
                  <a:rPr lang="en-CA" sz="2400" dirty="0">
                    <a:solidFill>
                      <a:schemeClr val="tx1">
                        <a:lumMod val="75000"/>
                        <a:lumOff val="25000"/>
                      </a:schemeClr>
                    </a:solidFill>
                    <a:ea typeface="Open Sans" panose="020B0606030504020204" pitchFamily="34" charset="0"/>
                    <a:cs typeface="Times New Roman" panose="02020603050405020304" pitchFamily="18" charset="0"/>
                  </a:rPr>
                  <a:t>Sidenote: </a:t>
                </a:r>
                <a14:m>
                  <m:oMath xmlns:m="http://schemas.openxmlformats.org/officeDocument/2006/math">
                    <m:acc>
                      <m:accPr>
                        <m:chr m:val="̂"/>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𝜀</m:t>
                        </m:r>
                      </m:e>
                    </m:acc>
                  </m:oMath>
                </a14:m>
                <a:r>
                  <a:rPr lang="en-CA" sz="2400" dirty="0">
                    <a:solidFill>
                      <a:schemeClr val="tx1">
                        <a:lumMod val="75000"/>
                        <a:lumOff val="25000"/>
                      </a:schemeClr>
                    </a:solidFill>
                    <a:ea typeface="Open Sans" panose="020B0606030504020204" pitchFamily="34" charset="0"/>
                    <a:cs typeface="Times New Roman" panose="02020603050405020304" pitchFamily="18" charset="0"/>
                  </a:rPr>
                  <a:t> is called a </a:t>
                </a:r>
                <a:r>
                  <a:rPr lang="en-CA" sz="2400" i="1" dirty="0">
                    <a:solidFill>
                      <a:schemeClr val="tx1">
                        <a:lumMod val="75000"/>
                        <a:lumOff val="25000"/>
                      </a:schemeClr>
                    </a:solidFill>
                    <a:ea typeface="Open Sans" panose="020B0606030504020204" pitchFamily="34" charset="0"/>
                    <a:cs typeface="Times New Roman" panose="02020603050405020304" pitchFamily="18" charset="0"/>
                  </a:rPr>
                  <a:t>residual </a:t>
                </a:r>
                <a:r>
                  <a:rPr lang="en-CA" sz="2400" dirty="0">
                    <a:solidFill>
                      <a:schemeClr val="tx1">
                        <a:lumMod val="75000"/>
                        <a:lumOff val="25000"/>
                      </a:schemeClr>
                    </a:solidFill>
                    <a:ea typeface="Open Sans" panose="020B0606030504020204" pitchFamily="34" charset="0"/>
                    <a:cs typeface="Times New Roman" panose="02020603050405020304" pitchFamily="18" charset="0"/>
                  </a:rPr>
                  <a:t>(importantly different from an </a:t>
                </a:r>
                <a:r>
                  <a:rPr lang="en-CA" sz="2400" u="sng" dirty="0">
                    <a:solidFill>
                      <a:schemeClr val="tx1">
                        <a:lumMod val="75000"/>
                        <a:lumOff val="25000"/>
                      </a:schemeClr>
                    </a:solidFill>
                    <a:ea typeface="Open Sans" panose="020B0606030504020204" pitchFamily="34" charset="0"/>
                    <a:cs typeface="Times New Roman" panose="02020603050405020304" pitchFamily="18" charset="0"/>
                  </a:rPr>
                  <a:t>error term</a:t>
                </a:r>
                <a:r>
                  <a:rPr lang="en-CA" sz="2400" dirty="0">
                    <a:solidFill>
                      <a:schemeClr val="tx1">
                        <a:lumMod val="75000"/>
                        <a:lumOff val="25000"/>
                      </a:schemeClr>
                    </a:solidFill>
                    <a:ea typeface="Open Sans" panose="020B0606030504020204" pitchFamily="34" charset="0"/>
                    <a:cs typeface="Times New Roman" panose="02020603050405020304" pitchFamily="18" charset="0"/>
                  </a:rPr>
                  <a:t>) </a:t>
                </a:r>
              </a:p>
              <a:p>
                <a:pPr marL="0" indent="0">
                  <a:lnSpc>
                    <a:spcPct val="120000"/>
                  </a:lnSpc>
                  <a:buNone/>
                </a:pPr>
                <a:r>
                  <a:rPr lang="en-CA" sz="2400" dirty="0">
                    <a:solidFill>
                      <a:schemeClr val="tx1">
                        <a:lumMod val="75000"/>
                        <a:lumOff val="25000"/>
                      </a:schemeClr>
                    </a:solidFill>
                    <a:ea typeface="Open Sans" panose="020B0606030504020204" pitchFamily="34" charset="0"/>
                    <a:cs typeface="Times New Roman" panose="02020603050405020304" pitchFamily="18" charset="0"/>
                  </a:rPr>
                  <a:t>The predicted regression equation is then given by: </a:t>
                </a:r>
              </a:p>
              <a:p>
                <a:pPr marL="0" indent="0">
                  <a:lnSpc>
                    <a:spcPct val="120000"/>
                  </a:lnSpc>
                  <a:buNone/>
                </a:pPr>
                <a14:m>
                  <m:oMathPara xmlns:m="http://schemas.openxmlformats.org/officeDocument/2006/math">
                    <m:oMath>
                      <m:acc>
                        <m:accPr>
                          <m:chr m:val="̂"/>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𝑦</m:t>
                          </m:r>
                        </m:e>
                      </m:acc>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acc>
                        <m:accPr>
                          <m:chr m:val="̂"/>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0</m:t>
                              </m:r>
                            </m:sub>
                          </m:sSub>
                        </m:e>
                      </m:acc>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m:t>
                      </m:r>
                      <m:acc>
                        <m:accPr>
                          <m:chr m:val="̂"/>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1</m:t>
                              </m:r>
                            </m:sub>
                          </m:sSub>
                        </m:e>
                      </m:acc>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𝑥</m:t>
                      </m:r>
                    </m:oMath>
                  </m:oMathPara>
                </a14:m>
                <a:endParaRPr lang="en-CA" sz="2400" dirty="0">
                  <a:solidFill>
                    <a:schemeClr val="tx1">
                      <a:lumMod val="75000"/>
                      <a:lumOff val="25000"/>
                    </a:schemeClr>
                  </a:solidFill>
                  <a:ea typeface="Open Sans" panose="020B0606030504020204" pitchFamily="34" charset="0"/>
                  <a:cs typeface="Times New Roman" panose="02020603050405020304" pitchFamily="18" charset="0"/>
                </a:endParaRPr>
              </a:p>
              <a:p>
                <a:pPr marL="274320" lvl="1" indent="0">
                  <a:buNone/>
                </a:pPr>
                <a:endParaRPr lang="en-CA" sz="2400" dirty="0">
                  <a:solidFill>
                    <a:schemeClr val="tx1"/>
                  </a:solidFill>
                  <a:latin typeface="Open Sans"/>
                  <a:ea typeface="Open Sans" panose="020B0606030504020204" pitchFamily="34" charset="0"/>
                  <a:cs typeface="Open Sans" panose="020B0606030504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015390" cy="5141388"/>
              </a:xfrm>
              <a:blipFill>
                <a:blip r:embed="rId3"/>
                <a:stretch>
                  <a:fillRect l="-913" b="-3321"/>
                </a:stretch>
              </a:blipFill>
            </p:spPr>
            <p:txBody>
              <a:bodyPr/>
              <a:lstStyle/>
              <a:p>
                <a:r>
                  <a:rPr lang="en-CA">
                    <a:noFill/>
                  </a:rPr>
                  <a:t> </a:t>
                </a:r>
              </a:p>
            </p:txBody>
          </p:sp>
        </mc:Fallback>
      </mc:AlternateContent>
      <p:pic>
        <p:nvPicPr>
          <p:cNvPr id="4" name="Picture 2" descr="RStudio - RStudio">
            <a:extLst>
              <a:ext uri="{FF2B5EF4-FFF2-40B4-BE49-F238E27FC236}">
                <a16:creationId xmlns:a16="http://schemas.microsoft.com/office/drawing/2014/main" id="{398F35C1-6DA2-41D1-AEEF-F1DB45D84E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1200" y="533400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24584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8991600" cy="624840"/>
          </a:xfrm>
        </p:spPr>
        <p:txBody>
          <a:bodyPr>
            <a:normAutofit fontScale="90000"/>
          </a:bodyPr>
          <a:lstStyle/>
          <a:p>
            <a:r>
              <a:rPr lang="en-US" dirty="0">
                <a:latin typeface="Times New Roman" panose="02020603050405020304" pitchFamily="18" charset="0"/>
                <a:cs typeface="Times New Roman" panose="02020603050405020304" pitchFamily="18" charset="0"/>
              </a:rPr>
              <a:t>Interpreting the Results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015390" cy="5141388"/>
              </a:xfrm>
            </p:spPr>
            <p:txBody>
              <a:bodyPr>
                <a:noAutofit/>
              </a:bodyPr>
              <a:lstStyle/>
              <a:p>
                <a:pPr marL="0" indent="0">
                  <a:lnSpc>
                    <a:spcPct val="120000"/>
                  </a:lnSpc>
                  <a:buNone/>
                </a:pPr>
                <a14:m>
                  <m:oMathPara xmlns:m="http://schemas.openxmlformats.org/officeDocument/2006/math">
                    <m:oMath>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𝑦</m:t>
                          </m:r>
                        </m:e>
                      </m:acc>
                      <m:r>
                        <a:rPr lang="en-US" sz="2400" i="1">
                          <a:latin typeface="Cambria Math" panose="02040503050406030204" pitchFamily="18" charset="0"/>
                          <a:ea typeface="Open Sans" panose="020B0606030504020204" pitchFamily="34" charset="0"/>
                          <a:cs typeface="Open Sans" panose="020B0606030504020204" pitchFamily="34" charset="0"/>
                        </a:rPr>
                        <m:t>=</m:t>
                      </m:r>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0</m:t>
                              </m:r>
                            </m:sub>
                          </m:sSub>
                        </m:e>
                      </m:acc>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m:t>
                      </m:r>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1</m:t>
                              </m:r>
                            </m:sub>
                          </m:sSub>
                        </m:e>
                      </m:acc>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𝑥</m:t>
                      </m:r>
                    </m:oMath>
                  </m:oMathPara>
                </a14:m>
                <a:endParaRPr lang="en-CA" sz="2400" dirty="0">
                  <a:solidFill>
                    <a:schemeClr val="tx1">
                      <a:lumMod val="75000"/>
                      <a:lumOff val="25000"/>
                    </a:schemeClr>
                  </a:solidFill>
                  <a:ea typeface="Open Sans" panose="020B0606030504020204" pitchFamily="34" charset="0"/>
                  <a:cs typeface="Times New Roman" panose="02020603050405020304" pitchFamily="18" charset="0"/>
                </a:endParaRPr>
              </a:p>
              <a:p>
                <a:pPr>
                  <a:lnSpc>
                    <a:spcPct val="120000"/>
                  </a:lnSpc>
                </a:pPr>
                <a:r>
                  <a:rPr lang="en-CA" sz="2400" dirty="0">
                    <a:solidFill>
                      <a:schemeClr val="tx1">
                        <a:lumMod val="75000"/>
                        <a:lumOff val="25000"/>
                      </a:schemeClr>
                    </a:solidFill>
                    <a:ea typeface="Open Sans" panose="020B0606030504020204" pitchFamily="34" charset="0"/>
                    <a:cs typeface="Times New Roman" panose="02020603050405020304" pitchFamily="18" charset="0"/>
                  </a:rPr>
                  <a:t>In the code example, </a:t>
                </a:r>
                <a14:m>
                  <m:oMath xmlns:m="http://schemas.openxmlformats.org/officeDocument/2006/math">
                    <m:acc>
                      <m:accPr>
                        <m:chr m:val="̂"/>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0</m:t>
                            </m:r>
                          </m:sub>
                        </m:sSub>
                      </m:e>
                    </m:acc>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=−.07</m:t>
                    </m:r>
                  </m:oMath>
                </a14:m>
                <a:r>
                  <a:rPr lang="en-CA" sz="2400" dirty="0">
                    <a:solidFill>
                      <a:schemeClr val="tx1">
                        <a:lumMod val="75000"/>
                        <a:lumOff val="25000"/>
                      </a:schemeClr>
                    </a:solidFill>
                    <a:ea typeface="Open Sans" panose="020B0606030504020204" pitchFamily="34" charset="0"/>
                    <a:cs typeface="Times New Roman" panose="02020603050405020304" pitchFamily="18" charset="0"/>
                  </a:rPr>
                  <a:t> and </a:t>
                </a:r>
                <a14:m>
                  <m:oMath xmlns:m="http://schemas.openxmlformats.org/officeDocument/2006/math">
                    <m:acc>
                      <m:accPr>
                        <m:chr m:val="̂"/>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1</m:t>
                            </m:r>
                          </m:sub>
                        </m:sSub>
                      </m:e>
                    </m:acc>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m:t>
                    </m:r>
                  </m:oMath>
                </a14:m>
                <a:r>
                  <a:rPr lang="en-CA" sz="2400" dirty="0">
                    <a:solidFill>
                      <a:schemeClr val="tx1">
                        <a:lumMod val="75000"/>
                        <a:lumOff val="25000"/>
                      </a:schemeClr>
                    </a:solidFill>
                    <a:ea typeface="Open Sans" panose="020B0606030504020204" pitchFamily="34" charset="0"/>
                    <a:cs typeface="Times New Roman" panose="02020603050405020304" pitchFamily="18" charset="0"/>
                  </a:rPr>
                  <a:t>5.7. </a:t>
                </a:r>
              </a:p>
              <a:p>
                <a:pPr lvl="1">
                  <a:lnSpc>
                    <a:spcPct val="120000"/>
                  </a:lnSpc>
                </a:pPr>
                <a:r>
                  <a:rPr lang="en-CA" sz="2400" dirty="0">
                    <a:solidFill>
                      <a:schemeClr val="tx1">
                        <a:lumMod val="75000"/>
                        <a:lumOff val="25000"/>
                      </a:schemeClr>
                    </a:solidFill>
                    <a:ea typeface="Open Sans" panose="020B0606030504020204" pitchFamily="34" charset="0"/>
                    <a:cs typeface="Times New Roman" panose="02020603050405020304" pitchFamily="18" charset="0"/>
                  </a:rPr>
                  <a:t>What do these mean? </a:t>
                </a:r>
              </a:p>
              <a:p>
                <a:pPr>
                  <a:lnSpc>
                    <a:spcPct val="120000"/>
                  </a:lnSpc>
                </a:pPr>
                <a:r>
                  <a:rPr lang="en-CA" sz="2400" dirty="0">
                    <a:solidFill>
                      <a:schemeClr val="tx1">
                        <a:lumMod val="75000"/>
                        <a:lumOff val="25000"/>
                      </a:schemeClr>
                    </a:solidFill>
                    <a:ea typeface="Open Sans" panose="020B0606030504020204" pitchFamily="34" charset="0"/>
                    <a:cs typeface="Times New Roman" panose="02020603050405020304" pitchFamily="18" charset="0"/>
                  </a:rPr>
                  <a:t>Can use the values for prediction, given: </a:t>
                </a:r>
              </a:p>
              <a:p>
                <a:pPr lvl="1">
                  <a:lnSpc>
                    <a:spcPct val="120000"/>
                  </a:lnSpc>
                </a:pPr>
                <a:r>
                  <a:rPr lang="en-CA" sz="2400" dirty="0">
                    <a:solidFill>
                      <a:schemeClr val="tx1">
                        <a:lumMod val="75000"/>
                        <a:lumOff val="25000"/>
                      </a:schemeClr>
                    </a:solidFill>
                    <a:ea typeface="Open Sans" panose="020B0606030504020204" pitchFamily="34" charset="0"/>
                    <a:cs typeface="Times New Roman" panose="02020603050405020304" pitchFamily="18" charset="0"/>
                  </a:rPr>
                  <a:t>Any value of </a:t>
                </a:r>
                <a14:m>
                  <m:oMath xmlns:m="http://schemas.openxmlformats.org/officeDocument/2006/math">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𝑥</m:t>
                    </m:r>
                  </m:oMath>
                </a14:m>
                <a:r>
                  <a:rPr lang="en-CA" sz="2400" dirty="0">
                    <a:solidFill>
                      <a:schemeClr val="tx1">
                        <a:lumMod val="75000"/>
                        <a:lumOff val="25000"/>
                      </a:schemeClr>
                    </a:solidFill>
                    <a:ea typeface="Open Sans" panose="020B0606030504020204" pitchFamily="34" charset="0"/>
                    <a:cs typeface="Times New Roman" panose="02020603050405020304" pitchFamily="18" charset="0"/>
                  </a:rPr>
                  <a:t> or change </a:t>
                </a:r>
                <a14:m>
                  <m:oMath xmlns:m="http://schemas.openxmlformats.org/officeDocument/2006/math">
                    <m:r>
                      <m:rPr>
                        <m:sty m:val="p"/>
                      </m:rPr>
                      <a:rPr lang="en-US" sz="2400" b="0" i="0"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Δ</m:t>
                    </m:r>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𝑥</m:t>
                    </m:r>
                  </m:oMath>
                </a14:m>
                <a:endParaRPr lang="en-CA" sz="2400" dirty="0">
                  <a:solidFill>
                    <a:schemeClr val="tx1">
                      <a:lumMod val="75000"/>
                      <a:lumOff val="25000"/>
                    </a:schemeClr>
                  </a:solidFill>
                  <a:ea typeface="Open Sans" panose="020B0606030504020204" pitchFamily="34" charset="0"/>
                  <a:cs typeface="Times New Roman" panose="02020603050405020304" pitchFamily="18" charset="0"/>
                </a:endParaRPr>
              </a:p>
              <a:p>
                <a:pPr lvl="1">
                  <a:lnSpc>
                    <a:spcPct val="120000"/>
                  </a:lnSpc>
                </a:pPr>
                <a:r>
                  <a:rPr lang="en-CA" sz="2400" b="1" dirty="0">
                    <a:solidFill>
                      <a:schemeClr val="accent2">
                        <a:lumMod val="75000"/>
                      </a:schemeClr>
                    </a:solidFill>
                    <a:ea typeface="Open Sans" panose="020B0606030504020204" pitchFamily="34" charset="0"/>
                    <a:cs typeface="Times New Roman" panose="02020603050405020304" pitchFamily="18" charset="0"/>
                  </a:rPr>
                  <a:t>Question:</a:t>
                </a:r>
                <a:r>
                  <a:rPr lang="en-CA" sz="2400" dirty="0">
                    <a:solidFill>
                      <a:schemeClr val="tx1">
                        <a:lumMod val="75000"/>
                        <a:lumOff val="25000"/>
                      </a:schemeClr>
                    </a:solidFill>
                    <a:ea typeface="Open Sans" panose="020B0606030504020204" pitchFamily="34" charset="0"/>
                    <a:cs typeface="Times New Roman" panose="02020603050405020304" pitchFamily="18" charset="0"/>
                  </a:rPr>
                  <a:t> what do we think </a:t>
                </a:r>
                <a14:m>
                  <m:oMath xmlns:m="http://schemas.openxmlformats.org/officeDocument/2006/math">
                    <m:acc>
                      <m:accPr>
                        <m:chr m:val="̂"/>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𝑦</m:t>
                        </m:r>
                      </m:e>
                    </m:acc>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m:t>
                    </m:r>
                    <m:acc>
                      <m:accPr>
                        <m:chr m:val="̅"/>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𝑥</m:t>
                        </m:r>
                      </m:e>
                    </m:acc>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m:t>
                    </m:r>
                  </m:oMath>
                </a14:m>
                <a:r>
                  <a:rPr lang="en-CA" sz="2400" dirty="0">
                    <a:solidFill>
                      <a:schemeClr val="tx1">
                        <a:lumMod val="75000"/>
                        <a:lumOff val="25000"/>
                      </a:schemeClr>
                    </a:solidFill>
                    <a:ea typeface="Open Sans" panose="020B0606030504020204" pitchFamily="34" charset="0"/>
                    <a:cs typeface="Times New Roman" panose="02020603050405020304" pitchFamily="18" charset="0"/>
                  </a:rPr>
                  <a:t> would be?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015390" cy="5141388"/>
              </a:xfrm>
              <a:blipFill>
                <a:blip r:embed="rId3"/>
                <a:stretch>
                  <a:fillRect l="-426"/>
                </a:stretch>
              </a:blipFill>
            </p:spPr>
            <p:txBody>
              <a:bodyPr/>
              <a:lstStyle/>
              <a:p>
                <a:r>
                  <a:rPr lang="en-CA">
                    <a:noFill/>
                  </a:rPr>
                  <a:t> </a:t>
                </a:r>
              </a:p>
            </p:txBody>
          </p:sp>
        </mc:Fallback>
      </mc:AlternateContent>
    </p:spTree>
    <p:extLst>
      <p:ext uri="{BB962C8B-B14F-4D97-AF65-F5344CB8AC3E}">
        <p14:creationId xmlns:p14="http://schemas.microsoft.com/office/powerpoint/2010/main" val="25828912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8991600" cy="624840"/>
          </a:xfrm>
        </p:spPr>
        <p:txBody>
          <a:bodyPr>
            <a:normAutofit fontScale="90000"/>
          </a:bodyPr>
          <a:lstStyle/>
          <a:p>
            <a:r>
              <a:rPr lang="en-US" dirty="0">
                <a:latin typeface="Times New Roman" panose="02020603050405020304" pitchFamily="18" charset="0"/>
                <a:cs typeface="Times New Roman" panose="02020603050405020304" pitchFamily="18" charset="0"/>
              </a:rPr>
              <a:t>Interpreting the Results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015390" cy="5141388"/>
              </a:xfrm>
            </p:spPr>
            <p:txBody>
              <a:bodyPr>
                <a:noAutofit/>
              </a:bodyPr>
              <a:lstStyle/>
              <a:p>
                <a:pPr marL="0" indent="0">
                  <a:lnSpc>
                    <a:spcPct val="120000"/>
                  </a:lnSpc>
                  <a:buNone/>
                </a:pPr>
                <a14:m>
                  <m:oMathPara xmlns:m="http://schemas.openxmlformats.org/officeDocument/2006/math">
                    <m:oMath>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𝑦</m:t>
                          </m:r>
                        </m:e>
                      </m:acc>
                      <m:r>
                        <a:rPr lang="en-US" sz="2400" i="1">
                          <a:latin typeface="Cambria Math" panose="02040503050406030204" pitchFamily="18" charset="0"/>
                          <a:ea typeface="Open Sans" panose="020B0606030504020204" pitchFamily="34" charset="0"/>
                          <a:cs typeface="Open Sans" panose="020B0606030504020204" pitchFamily="34" charset="0"/>
                        </a:rPr>
                        <m:t>=</m:t>
                      </m:r>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0</m:t>
                              </m:r>
                            </m:sub>
                          </m:sSub>
                        </m:e>
                      </m:acc>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m:t>
                      </m:r>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1</m:t>
                              </m:r>
                            </m:sub>
                          </m:sSub>
                        </m:e>
                      </m:acc>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𝑥</m:t>
                      </m:r>
                    </m:oMath>
                  </m:oMathPara>
                </a14:m>
                <a:endParaRPr lang="en-CA" sz="2400" dirty="0">
                  <a:solidFill>
                    <a:schemeClr val="tx1">
                      <a:lumMod val="75000"/>
                      <a:lumOff val="25000"/>
                    </a:schemeClr>
                  </a:solidFill>
                  <a:ea typeface="Open Sans" panose="020B0606030504020204" pitchFamily="34" charset="0"/>
                  <a:cs typeface="Times New Roman" panose="02020603050405020304" pitchFamily="18" charset="0"/>
                </a:endParaRPr>
              </a:p>
              <a:p>
                <a:pPr>
                  <a:lnSpc>
                    <a:spcPct val="120000"/>
                  </a:lnSpc>
                </a:pPr>
                <a:r>
                  <a:rPr lang="en-CA" sz="2400" dirty="0">
                    <a:solidFill>
                      <a:schemeClr val="tx1">
                        <a:lumMod val="75000"/>
                        <a:lumOff val="25000"/>
                      </a:schemeClr>
                    </a:solidFill>
                    <a:ea typeface="Open Sans" panose="020B0606030504020204" pitchFamily="34" charset="0"/>
                    <a:cs typeface="Times New Roman" panose="02020603050405020304" pitchFamily="18" charset="0"/>
                  </a:rPr>
                  <a:t>In the code example, </a:t>
                </a:r>
                <a14:m>
                  <m:oMath xmlns:m="http://schemas.openxmlformats.org/officeDocument/2006/math">
                    <m:acc>
                      <m:accPr>
                        <m:chr m:val="̂"/>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0</m:t>
                            </m:r>
                          </m:sub>
                        </m:sSub>
                      </m:e>
                    </m:acc>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=−.07</m:t>
                    </m:r>
                  </m:oMath>
                </a14:m>
                <a:r>
                  <a:rPr lang="en-CA" sz="2400" dirty="0">
                    <a:solidFill>
                      <a:schemeClr val="tx1">
                        <a:lumMod val="75000"/>
                        <a:lumOff val="25000"/>
                      </a:schemeClr>
                    </a:solidFill>
                    <a:ea typeface="Open Sans" panose="020B0606030504020204" pitchFamily="34" charset="0"/>
                    <a:cs typeface="Times New Roman" panose="02020603050405020304" pitchFamily="18" charset="0"/>
                  </a:rPr>
                  <a:t> and </a:t>
                </a:r>
                <a14:m>
                  <m:oMath xmlns:m="http://schemas.openxmlformats.org/officeDocument/2006/math">
                    <m:acc>
                      <m:accPr>
                        <m:chr m:val="̂"/>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1</m:t>
                            </m:r>
                          </m:sub>
                        </m:sSub>
                      </m:e>
                    </m:acc>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m:t>
                    </m:r>
                  </m:oMath>
                </a14:m>
                <a:r>
                  <a:rPr lang="en-CA" sz="2400" dirty="0">
                    <a:solidFill>
                      <a:schemeClr val="tx1">
                        <a:lumMod val="75000"/>
                        <a:lumOff val="25000"/>
                      </a:schemeClr>
                    </a:solidFill>
                    <a:ea typeface="Open Sans" panose="020B0606030504020204" pitchFamily="34" charset="0"/>
                    <a:cs typeface="Times New Roman" panose="02020603050405020304" pitchFamily="18" charset="0"/>
                  </a:rPr>
                  <a:t>5.7. </a:t>
                </a:r>
              </a:p>
              <a:p>
                <a:pPr lvl="1">
                  <a:lnSpc>
                    <a:spcPct val="120000"/>
                  </a:lnSpc>
                </a:pPr>
                <a:r>
                  <a:rPr lang="en-CA" sz="2400" dirty="0">
                    <a:solidFill>
                      <a:schemeClr val="tx1">
                        <a:lumMod val="75000"/>
                        <a:lumOff val="25000"/>
                      </a:schemeClr>
                    </a:solidFill>
                    <a:ea typeface="Open Sans" panose="020B0606030504020204" pitchFamily="34" charset="0"/>
                    <a:cs typeface="Times New Roman" panose="02020603050405020304" pitchFamily="18" charset="0"/>
                  </a:rPr>
                  <a:t>What do these mean? </a:t>
                </a:r>
              </a:p>
              <a:p>
                <a:pPr>
                  <a:lnSpc>
                    <a:spcPct val="120000"/>
                  </a:lnSpc>
                </a:pPr>
                <a:r>
                  <a:rPr lang="en-CA" sz="2400" dirty="0">
                    <a:solidFill>
                      <a:schemeClr val="tx1">
                        <a:lumMod val="75000"/>
                        <a:lumOff val="25000"/>
                      </a:schemeClr>
                    </a:solidFill>
                    <a:ea typeface="Open Sans" panose="020B0606030504020204" pitchFamily="34" charset="0"/>
                    <a:cs typeface="Times New Roman" panose="02020603050405020304" pitchFamily="18" charset="0"/>
                  </a:rPr>
                  <a:t>Can use the values for prediction, given: </a:t>
                </a:r>
              </a:p>
              <a:p>
                <a:pPr lvl="1">
                  <a:lnSpc>
                    <a:spcPct val="120000"/>
                  </a:lnSpc>
                </a:pPr>
                <a:r>
                  <a:rPr lang="en-CA" sz="2400" dirty="0">
                    <a:solidFill>
                      <a:schemeClr val="tx1">
                        <a:lumMod val="75000"/>
                        <a:lumOff val="25000"/>
                      </a:schemeClr>
                    </a:solidFill>
                    <a:ea typeface="Open Sans" panose="020B0606030504020204" pitchFamily="34" charset="0"/>
                    <a:cs typeface="Times New Roman" panose="02020603050405020304" pitchFamily="18" charset="0"/>
                  </a:rPr>
                  <a:t>Any value of </a:t>
                </a:r>
                <a14:m>
                  <m:oMath xmlns:m="http://schemas.openxmlformats.org/officeDocument/2006/math">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𝑥</m:t>
                    </m:r>
                  </m:oMath>
                </a14:m>
                <a:r>
                  <a:rPr lang="en-CA" sz="2400" dirty="0">
                    <a:solidFill>
                      <a:schemeClr val="tx1">
                        <a:lumMod val="75000"/>
                        <a:lumOff val="25000"/>
                      </a:schemeClr>
                    </a:solidFill>
                    <a:ea typeface="Open Sans" panose="020B0606030504020204" pitchFamily="34" charset="0"/>
                    <a:cs typeface="Times New Roman" panose="02020603050405020304" pitchFamily="18" charset="0"/>
                  </a:rPr>
                  <a:t> or change </a:t>
                </a:r>
                <a14:m>
                  <m:oMath xmlns:m="http://schemas.openxmlformats.org/officeDocument/2006/math">
                    <m:r>
                      <m:rPr>
                        <m:sty m:val="p"/>
                      </m:rPr>
                      <a:rPr lang="en-US" sz="2400" b="0" i="0"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Δ</m:t>
                    </m:r>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𝑥</m:t>
                    </m:r>
                  </m:oMath>
                </a14:m>
                <a:endParaRPr lang="en-CA" sz="2400" dirty="0">
                  <a:solidFill>
                    <a:schemeClr val="tx1">
                      <a:lumMod val="75000"/>
                      <a:lumOff val="25000"/>
                    </a:schemeClr>
                  </a:solidFill>
                  <a:ea typeface="Open Sans" panose="020B0606030504020204" pitchFamily="34" charset="0"/>
                  <a:cs typeface="Times New Roman" panose="02020603050405020304" pitchFamily="18" charset="0"/>
                </a:endParaRPr>
              </a:p>
              <a:p>
                <a:pPr lvl="1">
                  <a:lnSpc>
                    <a:spcPct val="120000"/>
                  </a:lnSpc>
                </a:pPr>
                <a:r>
                  <a:rPr lang="en-CA" sz="2400" b="1" dirty="0">
                    <a:solidFill>
                      <a:schemeClr val="accent2">
                        <a:lumMod val="75000"/>
                      </a:schemeClr>
                    </a:solidFill>
                    <a:ea typeface="Open Sans" panose="020B0606030504020204" pitchFamily="34" charset="0"/>
                    <a:cs typeface="Times New Roman" panose="02020603050405020304" pitchFamily="18" charset="0"/>
                  </a:rPr>
                  <a:t>Question:</a:t>
                </a:r>
                <a:r>
                  <a:rPr lang="en-CA" sz="2400" dirty="0">
                    <a:solidFill>
                      <a:schemeClr val="tx1">
                        <a:lumMod val="75000"/>
                        <a:lumOff val="25000"/>
                      </a:schemeClr>
                    </a:solidFill>
                    <a:ea typeface="Open Sans" panose="020B0606030504020204" pitchFamily="34" charset="0"/>
                    <a:cs typeface="Times New Roman" panose="02020603050405020304" pitchFamily="18" charset="0"/>
                  </a:rPr>
                  <a:t> what do we think </a:t>
                </a:r>
                <a14:m>
                  <m:oMath xmlns:m="http://schemas.openxmlformats.org/officeDocument/2006/math">
                    <m:acc>
                      <m:accPr>
                        <m:chr m:val="̂"/>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𝑦</m:t>
                        </m:r>
                      </m:e>
                    </m:acc>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m:t>
                    </m:r>
                    <m:acc>
                      <m:accPr>
                        <m:chr m:val="̅"/>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𝑥</m:t>
                        </m:r>
                      </m:e>
                    </m:acc>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m:t>
                    </m:r>
                  </m:oMath>
                </a14:m>
                <a:r>
                  <a:rPr lang="en-CA" sz="2400" dirty="0">
                    <a:solidFill>
                      <a:schemeClr val="tx1">
                        <a:lumMod val="75000"/>
                        <a:lumOff val="25000"/>
                      </a:schemeClr>
                    </a:solidFill>
                    <a:ea typeface="Open Sans" panose="020B0606030504020204" pitchFamily="34" charset="0"/>
                    <a:cs typeface="Times New Roman" panose="02020603050405020304" pitchFamily="18" charset="0"/>
                  </a:rPr>
                  <a:t> would be?</a:t>
                </a:r>
              </a:p>
              <a:p>
                <a:pPr>
                  <a:lnSpc>
                    <a:spcPct val="120000"/>
                  </a:lnSpc>
                </a:pPr>
                <a:r>
                  <a:rPr lang="en-CA" sz="2400" b="1" dirty="0">
                    <a:solidFill>
                      <a:schemeClr val="tx1">
                        <a:lumMod val="75000"/>
                        <a:lumOff val="25000"/>
                      </a:schemeClr>
                    </a:solidFill>
                    <a:ea typeface="Open Sans" panose="020B0606030504020204" pitchFamily="34" charset="0"/>
                    <a:cs typeface="Times New Roman" panose="02020603050405020304" pitchFamily="18" charset="0"/>
                  </a:rPr>
                  <a:t>Where is prediction useful?</a:t>
                </a:r>
              </a:p>
              <a:p>
                <a:pPr lvl="1">
                  <a:lnSpc>
                    <a:spcPct val="120000"/>
                  </a:lnSpc>
                </a:pPr>
                <a:r>
                  <a:rPr lang="en-CA" sz="2400" dirty="0">
                    <a:solidFill>
                      <a:schemeClr val="tx1">
                        <a:lumMod val="75000"/>
                        <a:lumOff val="25000"/>
                      </a:schemeClr>
                    </a:solidFill>
                    <a:ea typeface="Open Sans" panose="020B0606030504020204" pitchFamily="34" charset="0"/>
                    <a:cs typeface="Times New Roman" panose="02020603050405020304" pitchFamily="18" charset="0"/>
                  </a:rPr>
                  <a:t>Lots of observed data </a:t>
                </a:r>
                <a14:m>
                  <m:oMath xmlns:m="http://schemas.openxmlformats.org/officeDocument/2006/math">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m:t>
                    </m:r>
                  </m:oMath>
                </a14:m>
                <a:r>
                  <a:rPr lang="en-CA" sz="2400" dirty="0">
                    <a:solidFill>
                      <a:schemeClr val="tx1">
                        <a:lumMod val="75000"/>
                        <a:lumOff val="25000"/>
                      </a:schemeClr>
                    </a:solidFill>
                    <a:ea typeface="Open Sans" panose="020B0606030504020204" pitchFamily="34" charset="0"/>
                    <a:cs typeface="Times New Roman" panose="02020603050405020304" pitchFamily="18" charset="0"/>
                  </a:rPr>
                  <a:t> lots of predictive power</a:t>
                </a:r>
              </a:p>
              <a:p>
                <a:pPr lvl="1">
                  <a:lnSpc>
                    <a:spcPct val="120000"/>
                  </a:lnSpc>
                </a:pPr>
                <a:r>
                  <a:rPr lang="en-CA" sz="2400" dirty="0">
                    <a:solidFill>
                      <a:schemeClr val="tx1">
                        <a:lumMod val="75000"/>
                        <a:lumOff val="25000"/>
                      </a:schemeClr>
                    </a:solidFill>
                    <a:ea typeface="Open Sans" panose="020B0606030504020204" pitchFamily="34" charset="0"/>
                    <a:cs typeface="Times New Roman" panose="02020603050405020304" pitchFamily="18" charset="0"/>
                  </a:rPr>
                  <a:t>Never predict outside the sample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015390" cy="5141388"/>
              </a:xfrm>
              <a:blipFill>
                <a:blip r:embed="rId3"/>
                <a:stretch>
                  <a:fillRect l="-426" b="-593"/>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7BB2B84D-FD5A-AC78-DAF7-7F7D7AA5FD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1200" y="533400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08909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744200" cy="624840"/>
          </a:xfrm>
        </p:spPr>
        <p:txBody>
          <a:bodyPr>
            <a:normAutofit fontScale="90000"/>
          </a:bodyPr>
          <a:lstStyle/>
          <a:p>
            <a:r>
              <a:rPr lang="en-US" dirty="0">
                <a:latin typeface="Times New Roman" panose="02020603050405020304" pitchFamily="18" charset="0"/>
                <a:cs typeface="Times New Roman" panose="02020603050405020304" pitchFamily="18" charset="0"/>
              </a:rPr>
              <a:t>Interpreting the Results: Conditional Expected Mean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015390" cy="5141388"/>
              </a:xfrm>
            </p:spPr>
            <p:txBody>
              <a:bodyPr>
                <a:noAutofit/>
              </a:bodyPr>
              <a:lstStyle/>
              <a:p>
                <a:pPr marL="0" indent="0">
                  <a:lnSpc>
                    <a:spcPct val="120000"/>
                  </a:lnSpc>
                  <a:buNone/>
                </a:pPr>
                <a14:m>
                  <m:oMathPara xmlns:m="http://schemas.openxmlformats.org/officeDocument/2006/math">
                    <m:oMath>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𝑦</m:t>
                          </m:r>
                        </m:e>
                      </m:acc>
                      <m:r>
                        <a:rPr lang="en-US" sz="2400" i="1">
                          <a:latin typeface="Cambria Math" panose="02040503050406030204" pitchFamily="18" charset="0"/>
                          <a:ea typeface="Open Sans" panose="020B0606030504020204" pitchFamily="34" charset="0"/>
                          <a:cs typeface="Open Sans" panose="020B0606030504020204" pitchFamily="34" charset="0"/>
                        </a:rPr>
                        <m:t>=</m:t>
                      </m:r>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0</m:t>
                              </m:r>
                            </m:sub>
                          </m:sSub>
                        </m:e>
                      </m:acc>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m:t>
                      </m:r>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1</m:t>
                              </m:r>
                            </m:sub>
                          </m:sSub>
                        </m:e>
                      </m:acc>
                      <m:r>
                        <a:rPr lang="en-CA"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𝐷</m:t>
                      </m:r>
                    </m:oMath>
                  </m:oMathPara>
                </a14:m>
                <a:endParaRPr lang="en-CA" sz="2400" dirty="0">
                  <a:solidFill>
                    <a:schemeClr val="tx1">
                      <a:lumMod val="75000"/>
                      <a:lumOff val="25000"/>
                    </a:schemeClr>
                  </a:solidFill>
                  <a:ea typeface="Open Sans" panose="020B0606030504020204" pitchFamily="34" charset="0"/>
                  <a:cs typeface="Times New Roman" panose="02020603050405020304" pitchFamily="18" charset="0"/>
                </a:endParaRPr>
              </a:p>
              <a:p>
                <a:pPr marL="0" indent="0">
                  <a:lnSpc>
                    <a:spcPct val="120000"/>
                  </a:lnSpc>
                  <a:buNone/>
                </a:pPr>
                <a:r>
                  <a:rPr lang="en-CA" sz="2400" dirty="0">
                    <a:solidFill>
                      <a:schemeClr val="tx1">
                        <a:lumMod val="75000"/>
                        <a:lumOff val="25000"/>
                      </a:schemeClr>
                    </a:solidFill>
                    <a:ea typeface="Open Sans" panose="020B0606030504020204" pitchFamily="34" charset="0"/>
                    <a:cs typeface="Times New Roman" panose="02020603050405020304" pitchFamily="18" charset="0"/>
                  </a:rPr>
                  <a:t>In the code example, </a:t>
                </a:r>
                <a14:m>
                  <m:oMath xmlns:m="http://schemas.openxmlformats.org/officeDocument/2006/math">
                    <m:acc>
                      <m:accPr>
                        <m:chr m:val="̂"/>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0</m:t>
                            </m:r>
                          </m:sub>
                        </m:sSub>
                      </m:e>
                    </m:acc>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=−.07</m:t>
                    </m:r>
                  </m:oMath>
                </a14:m>
                <a:r>
                  <a:rPr lang="en-CA" sz="2400" dirty="0">
                    <a:solidFill>
                      <a:schemeClr val="tx1">
                        <a:lumMod val="75000"/>
                        <a:lumOff val="25000"/>
                      </a:schemeClr>
                    </a:solidFill>
                    <a:ea typeface="Open Sans" panose="020B0606030504020204" pitchFamily="34" charset="0"/>
                    <a:cs typeface="Times New Roman" panose="02020603050405020304" pitchFamily="18" charset="0"/>
                  </a:rPr>
                  <a:t> and </a:t>
                </a:r>
                <a14:m>
                  <m:oMath xmlns:m="http://schemas.openxmlformats.org/officeDocument/2006/math">
                    <m:acc>
                      <m:accPr>
                        <m:chr m:val="̂"/>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1</m:t>
                            </m:r>
                          </m:sub>
                        </m:sSub>
                      </m:e>
                    </m:acc>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m:t>
                    </m:r>
                  </m:oMath>
                </a14:m>
                <a:r>
                  <a:rPr lang="en-CA" sz="2400" dirty="0">
                    <a:solidFill>
                      <a:schemeClr val="tx1">
                        <a:lumMod val="75000"/>
                        <a:lumOff val="25000"/>
                      </a:schemeClr>
                    </a:solidFill>
                    <a:ea typeface="Open Sans" panose="020B0606030504020204" pitchFamily="34" charset="0"/>
                    <a:cs typeface="Times New Roman" panose="02020603050405020304" pitchFamily="18" charset="0"/>
                  </a:rPr>
                  <a:t>5.7. </a:t>
                </a:r>
              </a:p>
              <a:p>
                <a:pPr lvl="1">
                  <a:lnSpc>
                    <a:spcPct val="120000"/>
                  </a:lnSpc>
                </a:pPr>
                <a:r>
                  <a:rPr lang="en-CA" sz="2400" dirty="0">
                    <a:solidFill>
                      <a:schemeClr val="tx1">
                        <a:lumMod val="75000"/>
                        <a:lumOff val="25000"/>
                      </a:schemeClr>
                    </a:solidFill>
                    <a:ea typeface="Open Sans" panose="020B0606030504020204" pitchFamily="34" charset="0"/>
                    <a:cs typeface="Times New Roman" panose="02020603050405020304" pitchFamily="18" charset="0"/>
                  </a:rPr>
                  <a:t>What do these mean? </a:t>
                </a:r>
              </a:p>
              <a:p>
                <a:pPr lvl="1">
                  <a:lnSpc>
                    <a:spcPct val="120000"/>
                  </a:lnSpc>
                </a:pPr>
                <a:r>
                  <a:rPr lang="en-CA" sz="2400" dirty="0">
                    <a:solidFill>
                      <a:schemeClr val="tx1">
                        <a:lumMod val="75000"/>
                        <a:lumOff val="25000"/>
                      </a:schemeClr>
                    </a:solidFill>
                    <a:ea typeface="Open Sans" panose="020B0606030504020204" pitchFamily="34" charset="0"/>
                    <a:cs typeface="Times New Roman" panose="02020603050405020304" pitchFamily="18" charset="0"/>
                  </a:rPr>
                  <a:t>What does this mean in our potential outcomes framework? </a:t>
                </a:r>
              </a:p>
              <a:p>
                <a:pPr>
                  <a:lnSpc>
                    <a:spcPct val="120000"/>
                  </a:lnSpc>
                </a:pPr>
                <a:r>
                  <a:rPr lang="en-CA" sz="2400" dirty="0">
                    <a:solidFill>
                      <a:schemeClr val="tx1">
                        <a:lumMod val="75000"/>
                        <a:lumOff val="25000"/>
                      </a:schemeClr>
                    </a:solidFill>
                    <a:ea typeface="Open Sans" panose="020B0606030504020204" pitchFamily="34" charset="0"/>
                    <a:cs typeface="Times New Roman" panose="02020603050405020304" pitchFamily="18" charset="0"/>
                  </a:rPr>
                  <a:t>Recall we have </a:t>
                </a:r>
                <a14:m>
                  <m:oMath xmlns:m="http://schemas.openxmlformats.org/officeDocument/2006/math">
                    <m:sSub>
                      <m:sSubPr>
                        <m:ctrlPr>
                          <a:rPr lang="en-CA"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CA"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𝑌</m:t>
                        </m:r>
                      </m:e>
                      <m:sub>
                        <m:r>
                          <a:rPr lang="en-CA"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𝑖</m:t>
                        </m:r>
                      </m:sub>
                    </m:sSub>
                    <m:d>
                      <m:dPr>
                        <m:ctrlPr>
                          <a:rPr lang="en-CA"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dPr>
                      <m:e>
                        <m:sSub>
                          <m:sSubPr>
                            <m:ctrlPr>
                              <a:rPr lang="en-CA"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CA"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𝐷</m:t>
                            </m:r>
                          </m:e>
                          <m:sub>
                            <m:r>
                              <a:rPr lang="en-CA"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𝑖</m:t>
                            </m:r>
                          </m:sub>
                        </m:sSub>
                        <m:r>
                          <a:rPr lang="en-CA"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m:t>
                        </m:r>
                        <m:r>
                          <a:rPr lang="en-CA"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𝑑</m:t>
                        </m:r>
                      </m:e>
                    </m:d>
                    <m:r>
                      <a:rPr lang="en-CA"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 </m:t>
                    </m:r>
                  </m:oMath>
                </a14:m>
                <a:r>
                  <a:rPr lang="en-CA" sz="2200" dirty="0">
                    <a:solidFill>
                      <a:schemeClr val="tx1">
                        <a:lumMod val="75000"/>
                        <a:lumOff val="25000"/>
                      </a:schemeClr>
                    </a:solidFill>
                    <a:ea typeface="Open Sans" panose="020B0606030504020204" pitchFamily="34" charset="0"/>
                    <a:cs typeface="Times New Roman" panose="02020603050405020304" pitchFamily="18" charset="0"/>
                  </a:rPr>
                  <a:t>So what’s the </a:t>
                </a:r>
                <a:r>
                  <a:rPr lang="en-CA" sz="2200" b="1" dirty="0">
                    <a:solidFill>
                      <a:schemeClr val="tx1">
                        <a:lumMod val="75000"/>
                        <a:lumOff val="25000"/>
                      </a:schemeClr>
                    </a:solidFill>
                    <a:ea typeface="Open Sans" panose="020B0606030504020204" pitchFamily="34" charset="0"/>
                    <a:cs typeface="Times New Roman" panose="02020603050405020304" pitchFamily="18" charset="0"/>
                  </a:rPr>
                  <a:t>treatment effect? </a:t>
                </a:r>
              </a:p>
              <a:p>
                <a:pPr marL="0" indent="0">
                  <a:lnSpc>
                    <a:spcPct val="120000"/>
                  </a:lnSpc>
                  <a:buNone/>
                </a:pPr>
                <a14:m>
                  <m:oMathPara xmlns:m="http://schemas.openxmlformats.org/officeDocument/2006/math">
                    <m:oMath>
                      <m:sSub>
                        <m:sSubPr>
                          <m:ctrlPr>
                            <a:rPr lang="en-CA" sz="22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CA" sz="22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𝑌</m:t>
                          </m:r>
                        </m:e>
                        <m:sub>
                          <m:r>
                            <a:rPr lang="en-CA" sz="22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𝑖</m:t>
                          </m:r>
                        </m:sub>
                      </m:sSub>
                      <m:r>
                        <a:rPr lang="en-CA" sz="22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m:t>
                      </m:r>
                      <m:sSub>
                        <m:sSubPr>
                          <m:ctrlPr>
                            <a:rPr lang="en-CA" sz="22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CA" sz="22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𝑌</m:t>
                          </m:r>
                        </m:e>
                        <m:sub>
                          <m:r>
                            <a:rPr lang="en-CA" sz="22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𝑖</m:t>
                          </m:r>
                        </m:sub>
                      </m:sSub>
                      <m:d>
                        <m:dPr>
                          <m:ctrlPr>
                            <a:rPr lang="en-CA" sz="22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dPr>
                        <m:e>
                          <m:r>
                            <a:rPr lang="en-CA" sz="22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0</m:t>
                          </m:r>
                        </m:e>
                      </m:d>
                      <m:r>
                        <a:rPr lang="en-CA" sz="22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m:t>
                      </m:r>
                      <m:sSub>
                        <m:sSubPr>
                          <m:ctrlPr>
                            <a:rPr lang="en-CA" sz="22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CA" sz="22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𝜏</m:t>
                          </m:r>
                        </m:e>
                        <m:sub>
                          <m:r>
                            <a:rPr lang="en-CA" sz="22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𝑖</m:t>
                          </m:r>
                        </m:sub>
                      </m:sSub>
                      <m:sSub>
                        <m:sSubPr>
                          <m:ctrlPr>
                            <a:rPr lang="en-CA" sz="22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CA" sz="22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𝐷</m:t>
                          </m:r>
                        </m:e>
                        <m:sub>
                          <m:r>
                            <a:rPr lang="en-CA" sz="22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𝑖</m:t>
                          </m:r>
                        </m:sub>
                      </m:sSub>
                    </m:oMath>
                  </m:oMathPara>
                </a14:m>
                <a:endParaRPr lang="en-CA" sz="2200" dirty="0">
                  <a:solidFill>
                    <a:schemeClr val="tx1">
                      <a:lumMod val="75000"/>
                      <a:lumOff val="25000"/>
                    </a:schemeClr>
                  </a:solidFill>
                  <a:ea typeface="Open Sans" panose="020B0606030504020204" pitchFamily="34" charset="0"/>
                  <a:cs typeface="Times New Roman" panose="02020603050405020304" pitchFamily="18" charset="0"/>
                </a:endParaRPr>
              </a:p>
              <a:p>
                <a:pPr>
                  <a:lnSpc>
                    <a:spcPct val="120000"/>
                  </a:lnSpc>
                </a:pPr>
                <a:r>
                  <a:rPr lang="en-CA" sz="2200" dirty="0">
                    <a:solidFill>
                      <a:schemeClr val="tx1">
                        <a:lumMod val="75000"/>
                        <a:lumOff val="25000"/>
                      </a:schemeClr>
                    </a:solidFill>
                    <a:ea typeface="Open Sans" panose="020B0606030504020204" pitchFamily="34" charset="0"/>
                    <a:cs typeface="Times New Roman" panose="02020603050405020304" pitchFamily="18" charset="0"/>
                  </a:rPr>
                  <a:t>How does this map to the regression above?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015390" cy="5141388"/>
              </a:xfrm>
              <a:blipFill>
                <a:blip r:embed="rId3"/>
                <a:stretch>
                  <a:fillRect l="-913"/>
                </a:stretch>
              </a:blipFill>
            </p:spPr>
            <p:txBody>
              <a:bodyPr/>
              <a:lstStyle/>
              <a:p>
                <a:r>
                  <a:rPr lang="en-CA">
                    <a:noFill/>
                  </a:rPr>
                  <a:t> </a:t>
                </a:r>
              </a:p>
            </p:txBody>
          </p:sp>
        </mc:Fallback>
      </mc:AlternateContent>
    </p:spTree>
    <p:extLst>
      <p:ext uri="{BB962C8B-B14F-4D97-AF65-F5344CB8AC3E}">
        <p14:creationId xmlns:p14="http://schemas.microsoft.com/office/powerpoint/2010/main" val="6816604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8991600" cy="624840"/>
          </a:xfrm>
        </p:spPr>
        <p:txBody>
          <a:bodyPr>
            <a:normAutofit fontScale="90000"/>
          </a:bodyPr>
          <a:lstStyle/>
          <a:p>
            <a:r>
              <a:rPr lang="en-US" dirty="0">
                <a:latin typeface="Times New Roman" panose="02020603050405020304" pitchFamily="18" charset="0"/>
                <a:cs typeface="Times New Roman" panose="02020603050405020304" pitchFamily="18" charset="0"/>
              </a:rPr>
              <a:t>Goodness of Fit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0"/>
                <a:ext cx="10363200" cy="5486399"/>
              </a:xfrm>
            </p:spPr>
            <p:txBody>
              <a:bodyPr>
                <a:noAutofit/>
              </a:bodyPr>
              <a:lstStyle/>
              <a:p>
                <a:pPr marL="0" indent="0">
                  <a:lnSpc>
                    <a:spcPct val="120000"/>
                  </a:lnSpc>
                  <a:buNone/>
                </a:pPr>
                <a14:m>
                  <m:oMathPara xmlns:m="http://schemas.openxmlformats.org/officeDocument/2006/math">
                    <m:oMath>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𝑦</m:t>
                          </m:r>
                        </m:e>
                      </m:acc>
                      <m:r>
                        <a:rPr lang="en-US" sz="2400" i="1">
                          <a:latin typeface="Cambria Math" panose="02040503050406030204" pitchFamily="18" charset="0"/>
                          <a:ea typeface="Open Sans" panose="020B0606030504020204" pitchFamily="34" charset="0"/>
                          <a:cs typeface="Open Sans" panose="020B0606030504020204" pitchFamily="34" charset="0"/>
                        </a:rPr>
                        <m:t>=</m:t>
                      </m:r>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0</m:t>
                              </m:r>
                            </m:sub>
                          </m:sSub>
                        </m:e>
                      </m:acc>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m:t>
                      </m:r>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1</m:t>
                              </m:r>
                            </m:sub>
                          </m:sSub>
                        </m:e>
                      </m:acc>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𝑥</m:t>
                      </m:r>
                    </m:oMath>
                  </m:oMathPara>
                </a14:m>
                <a:endParaRPr lang="en-CA" sz="2400" dirty="0">
                  <a:solidFill>
                    <a:schemeClr val="tx1">
                      <a:lumMod val="75000"/>
                      <a:lumOff val="25000"/>
                    </a:schemeClr>
                  </a:solidFill>
                  <a:ea typeface="Open Sans" panose="020B0606030504020204" pitchFamily="34" charset="0"/>
                  <a:cs typeface="Times New Roman" panose="02020603050405020304" pitchFamily="18" charset="0"/>
                </a:endParaRPr>
              </a:p>
              <a:p>
                <a:pPr marL="0" indent="0">
                  <a:lnSpc>
                    <a:spcPct val="120000"/>
                  </a:lnSpc>
                  <a:buNone/>
                </a:pPr>
                <a:r>
                  <a:rPr lang="en-US" sz="2400" dirty="0">
                    <a:solidFill>
                      <a:schemeClr val="tx1">
                        <a:lumMod val="75000"/>
                        <a:lumOff val="25000"/>
                      </a:schemeClr>
                    </a:solidFill>
                    <a:ea typeface="Open Sans" panose="020B0606030504020204" pitchFamily="34" charset="0"/>
                    <a:cs typeface="Times New Roman" panose="02020603050405020304" pitchFamily="18" charset="0"/>
                  </a:rPr>
                  <a:t>There are </a:t>
                </a:r>
                <a:r>
                  <a:rPr lang="en-US" sz="2400" b="1" dirty="0">
                    <a:solidFill>
                      <a:schemeClr val="tx1">
                        <a:lumMod val="75000"/>
                        <a:lumOff val="25000"/>
                      </a:schemeClr>
                    </a:solidFill>
                    <a:ea typeface="Open Sans" panose="020B0606030504020204" pitchFamily="34" charset="0"/>
                    <a:cs typeface="Times New Roman" panose="02020603050405020304" pitchFamily="18" charset="0"/>
                  </a:rPr>
                  <a:t>two separate things </a:t>
                </a:r>
                <a:r>
                  <a:rPr lang="en-US" sz="2400" dirty="0">
                    <a:solidFill>
                      <a:schemeClr val="tx1">
                        <a:lumMod val="75000"/>
                        <a:lumOff val="25000"/>
                      </a:schemeClr>
                    </a:solidFill>
                    <a:ea typeface="Open Sans" panose="020B0606030504020204" pitchFamily="34" charset="0"/>
                    <a:cs typeface="Times New Roman" panose="02020603050405020304" pitchFamily="18" charset="0"/>
                  </a:rPr>
                  <a:t>we care about when we run a regression: </a:t>
                </a:r>
              </a:p>
              <a:p>
                <a:pPr marL="731520" lvl="1" indent="-457200">
                  <a:lnSpc>
                    <a:spcPct val="120000"/>
                  </a:lnSpc>
                  <a:buAutoNum type="arabicPeriod"/>
                </a:pPr>
                <a:r>
                  <a:rPr lang="en-US" sz="2400" dirty="0">
                    <a:solidFill>
                      <a:schemeClr val="tx1">
                        <a:lumMod val="75000"/>
                        <a:lumOff val="25000"/>
                      </a:schemeClr>
                    </a:solidFill>
                    <a:ea typeface="Open Sans" panose="020B0606030504020204" pitchFamily="34" charset="0"/>
                    <a:cs typeface="Times New Roman" panose="02020603050405020304" pitchFamily="18" charset="0"/>
                  </a:rPr>
                  <a:t>Is the model fitting the data? </a:t>
                </a:r>
              </a:p>
              <a:p>
                <a:pPr marL="731520" lvl="1" indent="-457200">
                  <a:lnSpc>
                    <a:spcPct val="120000"/>
                  </a:lnSpc>
                  <a:buAutoNum type="arabicPeriod"/>
                </a:pPr>
                <a:r>
                  <a:rPr lang="en-US" sz="2400" dirty="0">
                    <a:solidFill>
                      <a:schemeClr val="tx1">
                        <a:lumMod val="75000"/>
                        <a:lumOff val="25000"/>
                      </a:schemeClr>
                    </a:solidFill>
                    <a:ea typeface="Open Sans" panose="020B0606030504020204" pitchFamily="34" charset="0"/>
                    <a:cs typeface="Times New Roman" panose="02020603050405020304" pitchFamily="18" charset="0"/>
                  </a:rPr>
                  <a:t>Is the model capturing a causal parameter we care about?</a:t>
                </a:r>
              </a:p>
              <a:p>
                <a:pPr marL="274320" lvl="1" indent="0">
                  <a:lnSpc>
                    <a:spcPct val="120000"/>
                  </a:lnSpc>
                  <a:buNone/>
                </a:pPr>
                <a:r>
                  <a:rPr lang="en-US" sz="2400" dirty="0">
                    <a:solidFill>
                      <a:schemeClr val="tx1">
                        <a:lumMod val="75000"/>
                        <a:lumOff val="25000"/>
                      </a:schemeClr>
                    </a:solidFill>
                    <a:ea typeface="Open Sans" panose="020B0606030504020204" pitchFamily="34" charset="0"/>
                    <a:cs typeface="Times New Roman" panose="02020603050405020304" pitchFamily="18" charset="0"/>
                  </a:rPr>
                  <a:t>To check on 1, we use </a:t>
                </a:r>
                <a:r>
                  <a:rPr lang="en-US" sz="2400" b="1" dirty="0">
                    <a:solidFill>
                      <a:schemeClr val="tx1">
                        <a:lumMod val="75000"/>
                        <a:lumOff val="25000"/>
                      </a:schemeClr>
                    </a:solidFill>
                    <a:ea typeface="Open Sans" panose="020B0606030504020204" pitchFamily="34" charset="0"/>
                    <a:cs typeface="Times New Roman" panose="02020603050405020304" pitchFamily="18" charset="0"/>
                  </a:rPr>
                  <a:t>goodness of fit measures: </a:t>
                </a:r>
              </a:p>
              <a:p>
                <a:pPr lvl="1">
                  <a:lnSpc>
                    <a:spcPct val="120000"/>
                  </a:lnSpc>
                </a:pPr>
                <a:r>
                  <a:rPr lang="en-US" sz="2400" dirty="0">
                    <a:solidFill>
                      <a:schemeClr val="accent2">
                        <a:lumMod val="75000"/>
                      </a:schemeClr>
                    </a:solidFill>
                    <a:ea typeface="Open Sans" panose="020B0606030504020204" pitchFamily="34" charset="0"/>
                    <a:cs typeface="Times New Roman" panose="02020603050405020304" pitchFamily="18" charset="0"/>
                  </a:rPr>
                  <a:t>SST (Sum of Squares Total) </a:t>
                </a:r>
                <a:endParaRPr lang="en-US" sz="2400" b="0" i="1" dirty="0">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endParaRPr>
              </a:p>
              <a:p>
                <a:pPr marL="274320" lvl="1" indent="0">
                  <a:lnSpc>
                    <a:spcPct val="120000"/>
                  </a:lnSpc>
                  <a:buNone/>
                </a:pPr>
                <a14:m>
                  <m:oMathPara xmlns:m="http://schemas.openxmlformats.org/officeDocument/2006/math">
                    <m:oMath>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𝑆𝑆𝑇</m:t>
                      </m:r>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m:t>
                      </m:r>
                      <m:nary>
                        <m:naryPr>
                          <m:chr m:val="∑"/>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naryPr>
                        <m:sub>
                          <m:d>
                            <m:dPr>
                              <m:begChr m:val="{"/>
                              <m:endChr m:val="}"/>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dPr>
                            <m:e>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𝑖</m:t>
                              </m:r>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=1</m:t>
                              </m:r>
                            </m:e>
                          </m:d>
                        </m:sub>
                        <m:sup>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𝑛</m:t>
                          </m:r>
                        </m:sup>
                        <m:e>
                          <m:sSup>
                            <m:sSupPr>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pPr>
                            <m:e>
                              <m:d>
                                <m:dPr>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dPr>
                                <m:e>
                                  <m:sSub>
                                    <m:sSubPr>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𝑦</m:t>
                                      </m:r>
                                    </m:e>
                                    <m:sub>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𝑖</m:t>
                                      </m:r>
                                    </m:sub>
                                  </m:sSub>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m:t>
                                  </m:r>
                                  <m:acc>
                                    <m:accPr>
                                      <m:chr m:val="̅"/>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𝑦</m:t>
                                      </m:r>
                                    </m:e>
                                  </m:acc>
                                </m:e>
                              </m:d>
                            </m:e>
                            <m:sup>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2</m:t>
                              </m:r>
                            </m:sup>
                          </m:sSup>
                        </m:e>
                      </m:nary>
                    </m:oMath>
                  </m:oMathPara>
                </a14:m>
                <a:endParaRPr lang="en-US" sz="2400" dirty="0">
                  <a:solidFill>
                    <a:schemeClr val="tx1">
                      <a:lumMod val="75000"/>
                      <a:lumOff val="25000"/>
                    </a:schemeClr>
                  </a:solidFill>
                  <a:ea typeface="Open Sans" panose="020B0606030504020204" pitchFamily="34"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0"/>
                <a:ext cx="10363200" cy="5486399"/>
              </a:xfrm>
              <a:blipFill>
                <a:blip r:embed="rId3"/>
                <a:stretch>
                  <a:fillRect l="-882"/>
                </a:stretch>
              </a:blipFill>
            </p:spPr>
            <p:txBody>
              <a:bodyPr/>
              <a:lstStyle/>
              <a:p>
                <a:r>
                  <a:rPr lang="en-US">
                    <a:noFill/>
                  </a:rPr>
                  <a:t> </a:t>
                </a:r>
              </a:p>
            </p:txBody>
          </p:sp>
        </mc:Fallback>
      </mc:AlternateContent>
    </p:spTree>
    <p:extLst>
      <p:ext uri="{BB962C8B-B14F-4D97-AF65-F5344CB8AC3E}">
        <p14:creationId xmlns:p14="http://schemas.microsoft.com/office/powerpoint/2010/main" val="36786312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8991600" cy="624840"/>
          </a:xfrm>
        </p:spPr>
        <p:txBody>
          <a:bodyPr>
            <a:normAutofit fontScale="90000"/>
          </a:bodyPr>
          <a:lstStyle/>
          <a:p>
            <a:r>
              <a:rPr lang="en-US" dirty="0">
                <a:latin typeface="Times New Roman" panose="02020603050405020304" pitchFamily="18" charset="0"/>
                <a:cs typeface="Times New Roman" panose="02020603050405020304" pitchFamily="18" charset="0"/>
              </a:rPr>
              <a:t>Goodness of Fit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0"/>
                <a:ext cx="10363200" cy="5486399"/>
              </a:xfrm>
            </p:spPr>
            <p:txBody>
              <a:bodyPr>
                <a:noAutofit/>
              </a:bodyPr>
              <a:lstStyle/>
              <a:p>
                <a:pPr marL="0" indent="0">
                  <a:lnSpc>
                    <a:spcPct val="120000"/>
                  </a:lnSpc>
                  <a:buNone/>
                </a:pPr>
                <a14:m>
                  <m:oMathPara xmlns:m="http://schemas.openxmlformats.org/officeDocument/2006/math">
                    <m:oMath>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𝑦</m:t>
                          </m:r>
                        </m:e>
                      </m:acc>
                      <m:r>
                        <a:rPr lang="en-US" sz="2400" i="1">
                          <a:latin typeface="Cambria Math" panose="02040503050406030204" pitchFamily="18" charset="0"/>
                          <a:ea typeface="Open Sans" panose="020B0606030504020204" pitchFamily="34" charset="0"/>
                          <a:cs typeface="Open Sans" panose="020B0606030504020204" pitchFamily="34" charset="0"/>
                        </a:rPr>
                        <m:t>=</m:t>
                      </m:r>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0</m:t>
                              </m:r>
                            </m:sub>
                          </m:sSub>
                        </m:e>
                      </m:acc>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m:t>
                      </m:r>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1</m:t>
                              </m:r>
                            </m:sub>
                          </m:sSub>
                        </m:e>
                      </m:acc>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𝑥</m:t>
                      </m:r>
                    </m:oMath>
                  </m:oMathPara>
                </a14:m>
                <a:endParaRPr lang="en-CA" sz="2400" dirty="0">
                  <a:solidFill>
                    <a:schemeClr val="tx1">
                      <a:lumMod val="75000"/>
                      <a:lumOff val="25000"/>
                    </a:schemeClr>
                  </a:solidFill>
                  <a:ea typeface="Open Sans" panose="020B0606030504020204" pitchFamily="34" charset="0"/>
                  <a:cs typeface="Times New Roman" panose="02020603050405020304" pitchFamily="18" charset="0"/>
                </a:endParaRPr>
              </a:p>
              <a:p>
                <a:pPr marL="0" indent="0">
                  <a:lnSpc>
                    <a:spcPct val="120000"/>
                  </a:lnSpc>
                  <a:buNone/>
                </a:pPr>
                <a:r>
                  <a:rPr lang="en-US" sz="2400" dirty="0">
                    <a:solidFill>
                      <a:schemeClr val="tx1">
                        <a:lumMod val="75000"/>
                        <a:lumOff val="25000"/>
                      </a:schemeClr>
                    </a:solidFill>
                    <a:ea typeface="Open Sans" panose="020B0606030504020204" pitchFamily="34" charset="0"/>
                    <a:cs typeface="Times New Roman" panose="02020603050405020304" pitchFamily="18" charset="0"/>
                  </a:rPr>
                  <a:t>There are </a:t>
                </a:r>
                <a:r>
                  <a:rPr lang="en-US" sz="2400" b="1" dirty="0">
                    <a:solidFill>
                      <a:schemeClr val="tx1">
                        <a:lumMod val="75000"/>
                        <a:lumOff val="25000"/>
                      </a:schemeClr>
                    </a:solidFill>
                    <a:ea typeface="Open Sans" panose="020B0606030504020204" pitchFamily="34" charset="0"/>
                    <a:cs typeface="Times New Roman" panose="02020603050405020304" pitchFamily="18" charset="0"/>
                  </a:rPr>
                  <a:t>two separate things </a:t>
                </a:r>
                <a:r>
                  <a:rPr lang="en-US" sz="2400" dirty="0">
                    <a:solidFill>
                      <a:schemeClr val="tx1">
                        <a:lumMod val="75000"/>
                        <a:lumOff val="25000"/>
                      </a:schemeClr>
                    </a:solidFill>
                    <a:ea typeface="Open Sans" panose="020B0606030504020204" pitchFamily="34" charset="0"/>
                    <a:cs typeface="Times New Roman" panose="02020603050405020304" pitchFamily="18" charset="0"/>
                  </a:rPr>
                  <a:t>we care about when we run a regression: </a:t>
                </a:r>
              </a:p>
              <a:p>
                <a:pPr marL="731520" lvl="1" indent="-457200">
                  <a:lnSpc>
                    <a:spcPct val="120000"/>
                  </a:lnSpc>
                  <a:buAutoNum type="arabicPeriod"/>
                </a:pPr>
                <a:r>
                  <a:rPr lang="en-US" sz="2400" dirty="0">
                    <a:solidFill>
                      <a:schemeClr val="tx1">
                        <a:lumMod val="75000"/>
                        <a:lumOff val="25000"/>
                      </a:schemeClr>
                    </a:solidFill>
                    <a:ea typeface="Open Sans" panose="020B0606030504020204" pitchFamily="34" charset="0"/>
                    <a:cs typeface="Times New Roman" panose="02020603050405020304" pitchFamily="18" charset="0"/>
                  </a:rPr>
                  <a:t>Is the model fitting the data? </a:t>
                </a:r>
              </a:p>
              <a:p>
                <a:pPr marL="731520" lvl="1" indent="-457200">
                  <a:lnSpc>
                    <a:spcPct val="120000"/>
                  </a:lnSpc>
                  <a:buAutoNum type="arabicPeriod"/>
                </a:pPr>
                <a:r>
                  <a:rPr lang="en-US" sz="2400" dirty="0">
                    <a:solidFill>
                      <a:schemeClr val="tx1">
                        <a:lumMod val="75000"/>
                        <a:lumOff val="25000"/>
                      </a:schemeClr>
                    </a:solidFill>
                    <a:ea typeface="Open Sans" panose="020B0606030504020204" pitchFamily="34" charset="0"/>
                    <a:cs typeface="Times New Roman" panose="02020603050405020304" pitchFamily="18" charset="0"/>
                  </a:rPr>
                  <a:t>Is the model capturing a causal parameter we care about?</a:t>
                </a:r>
              </a:p>
              <a:p>
                <a:pPr marL="274320" lvl="1" indent="0">
                  <a:lnSpc>
                    <a:spcPct val="120000"/>
                  </a:lnSpc>
                  <a:buNone/>
                </a:pPr>
                <a:r>
                  <a:rPr lang="en-US" sz="2400" dirty="0">
                    <a:solidFill>
                      <a:schemeClr val="tx1">
                        <a:lumMod val="75000"/>
                        <a:lumOff val="25000"/>
                      </a:schemeClr>
                    </a:solidFill>
                    <a:ea typeface="Open Sans" panose="020B0606030504020204" pitchFamily="34" charset="0"/>
                    <a:cs typeface="Times New Roman" panose="02020603050405020304" pitchFamily="18" charset="0"/>
                  </a:rPr>
                  <a:t>To check on 1, we use </a:t>
                </a:r>
                <a:r>
                  <a:rPr lang="en-US" sz="2400" b="1" dirty="0">
                    <a:solidFill>
                      <a:schemeClr val="tx1">
                        <a:lumMod val="75000"/>
                        <a:lumOff val="25000"/>
                      </a:schemeClr>
                    </a:solidFill>
                    <a:ea typeface="Open Sans" panose="020B0606030504020204" pitchFamily="34" charset="0"/>
                    <a:cs typeface="Times New Roman" panose="02020603050405020304" pitchFamily="18" charset="0"/>
                  </a:rPr>
                  <a:t>goodness of fit measures: </a:t>
                </a:r>
              </a:p>
              <a:p>
                <a:pPr lvl="1">
                  <a:lnSpc>
                    <a:spcPct val="120000"/>
                  </a:lnSpc>
                </a:pPr>
                <a:r>
                  <a:rPr lang="en-US" sz="2400" dirty="0">
                    <a:solidFill>
                      <a:schemeClr val="accent5">
                        <a:lumMod val="75000"/>
                      </a:schemeClr>
                    </a:solidFill>
                    <a:ea typeface="Open Sans" panose="020B0606030504020204" pitchFamily="34" charset="0"/>
                    <a:cs typeface="Times New Roman" panose="02020603050405020304" pitchFamily="18" charset="0"/>
                  </a:rPr>
                  <a:t>SSE (Sum of Squares Explained) </a:t>
                </a:r>
                <a:endParaRPr lang="en-US" sz="2400" b="0" i="1" dirty="0">
                  <a:solidFill>
                    <a:schemeClr val="accent5">
                      <a:lumMod val="75000"/>
                    </a:schemeClr>
                  </a:solidFill>
                  <a:latin typeface="Cambria Math" panose="02040503050406030204" pitchFamily="18" charset="0"/>
                  <a:ea typeface="Open Sans" panose="020B0606030504020204" pitchFamily="34" charset="0"/>
                  <a:cs typeface="Times New Roman" panose="02020603050405020304" pitchFamily="18" charset="0"/>
                </a:endParaRPr>
              </a:p>
              <a:p>
                <a:pPr marL="274320" lvl="1" indent="0">
                  <a:lnSpc>
                    <a:spcPct val="120000"/>
                  </a:lnSpc>
                  <a:buNone/>
                </a:pPr>
                <a14:m>
                  <m:oMathPara xmlns:m="http://schemas.openxmlformats.org/officeDocument/2006/math">
                    <m:oMath>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𝑆𝑆𝐸</m:t>
                      </m:r>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m:t>
                      </m:r>
                      <m:nary>
                        <m:nary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naryPr>
                        <m:sub>
                          <m:d>
                            <m:dPr>
                              <m:begChr m:val="{"/>
                              <m:end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d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𝑖</m:t>
                              </m:r>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=1</m:t>
                              </m:r>
                            </m:e>
                          </m:d>
                        </m:sub>
                        <m:sup>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𝑛</m:t>
                          </m:r>
                        </m:sup>
                        <m:e>
                          <m:sSup>
                            <m:sSupPr>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pPr>
                            <m:e>
                              <m:d>
                                <m:dPr>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dPr>
                                <m:e>
                                  <m:sSub>
                                    <m:sSubPr>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acc>
                                        <m:accPr>
                                          <m:chr m:val="̂"/>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𝑦</m:t>
                                          </m:r>
                                        </m:e>
                                      </m:acc>
                                    </m:e>
                                    <m:sub>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𝑖</m:t>
                                      </m:r>
                                    </m:sub>
                                  </m:sSub>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m:t>
                                  </m:r>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𝑦</m:t>
                                      </m:r>
                                    </m:e>
                                  </m:acc>
                                </m:e>
                              </m:d>
                            </m:e>
                            <m:sup>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2</m:t>
                              </m:r>
                            </m:sup>
                          </m:sSup>
                        </m:e>
                      </m:nary>
                    </m:oMath>
                  </m:oMathPara>
                </a14:m>
                <a:endParaRPr lang="en-US" sz="2400" dirty="0">
                  <a:solidFill>
                    <a:schemeClr val="tx1">
                      <a:lumMod val="75000"/>
                      <a:lumOff val="25000"/>
                    </a:schemeClr>
                  </a:solidFill>
                  <a:ea typeface="Open Sans" panose="020B0606030504020204" pitchFamily="34" charset="0"/>
                  <a:cs typeface="Times New Roman" panose="02020603050405020304" pitchFamily="18" charset="0"/>
                </a:endParaRPr>
              </a:p>
              <a:p>
                <a:pPr lvl="1">
                  <a:lnSpc>
                    <a:spcPct val="120000"/>
                  </a:lnSpc>
                </a:pPr>
                <a:endParaRPr lang="en-US" sz="2400" dirty="0">
                  <a:solidFill>
                    <a:schemeClr val="tx1">
                      <a:lumMod val="75000"/>
                      <a:lumOff val="25000"/>
                    </a:schemeClr>
                  </a:solidFill>
                  <a:ea typeface="Open Sans" panose="020B0606030504020204" pitchFamily="34"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0"/>
                <a:ext cx="10363200" cy="5486399"/>
              </a:xfrm>
              <a:blipFill>
                <a:blip r:embed="rId3"/>
                <a:stretch>
                  <a:fillRect l="-882"/>
                </a:stretch>
              </a:blipFill>
            </p:spPr>
            <p:txBody>
              <a:bodyPr/>
              <a:lstStyle/>
              <a:p>
                <a:r>
                  <a:rPr lang="en-US">
                    <a:noFill/>
                  </a:rPr>
                  <a:t> </a:t>
                </a:r>
              </a:p>
            </p:txBody>
          </p:sp>
        </mc:Fallback>
      </mc:AlternateContent>
    </p:spTree>
    <p:extLst>
      <p:ext uri="{BB962C8B-B14F-4D97-AF65-F5344CB8AC3E}">
        <p14:creationId xmlns:p14="http://schemas.microsoft.com/office/powerpoint/2010/main" val="8347772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8991600" cy="624840"/>
          </a:xfrm>
        </p:spPr>
        <p:txBody>
          <a:bodyPr>
            <a:normAutofit fontScale="90000"/>
          </a:bodyPr>
          <a:lstStyle/>
          <a:p>
            <a:r>
              <a:rPr lang="en-US" dirty="0">
                <a:latin typeface="Times New Roman" panose="02020603050405020304" pitchFamily="18" charset="0"/>
                <a:cs typeface="Times New Roman" panose="02020603050405020304" pitchFamily="18" charset="0"/>
              </a:rPr>
              <a:t>Goodness of Fit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0"/>
                <a:ext cx="10363200" cy="5486399"/>
              </a:xfrm>
            </p:spPr>
            <p:txBody>
              <a:bodyPr>
                <a:noAutofit/>
              </a:bodyPr>
              <a:lstStyle/>
              <a:p>
                <a:pPr marL="0" indent="0">
                  <a:lnSpc>
                    <a:spcPct val="120000"/>
                  </a:lnSpc>
                  <a:buNone/>
                </a:pPr>
                <a14:m>
                  <m:oMathPara xmlns:m="http://schemas.openxmlformats.org/officeDocument/2006/math">
                    <m:oMath>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𝑦</m:t>
                          </m:r>
                        </m:e>
                      </m:acc>
                      <m:r>
                        <a:rPr lang="en-US" sz="2400" i="1">
                          <a:latin typeface="Cambria Math" panose="02040503050406030204" pitchFamily="18" charset="0"/>
                          <a:ea typeface="Open Sans" panose="020B0606030504020204" pitchFamily="34" charset="0"/>
                          <a:cs typeface="Open Sans" panose="020B0606030504020204" pitchFamily="34" charset="0"/>
                        </a:rPr>
                        <m:t>=</m:t>
                      </m:r>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0</m:t>
                              </m:r>
                            </m:sub>
                          </m:sSub>
                        </m:e>
                      </m:acc>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m:t>
                      </m:r>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1</m:t>
                              </m:r>
                            </m:sub>
                          </m:sSub>
                        </m:e>
                      </m:acc>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𝑥</m:t>
                      </m:r>
                    </m:oMath>
                  </m:oMathPara>
                </a14:m>
                <a:endParaRPr lang="en-CA" sz="2400" dirty="0">
                  <a:solidFill>
                    <a:schemeClr val="tx1">
                      <a:lumMod val="75000"/>
                      <a:lumOff val="25000"/>
                    </a:schemeClr>
                  </a:solidFill>
                  <a:ea typeface="Open Sans" panose="020B0606030504020204" pitchFamily="34" charset="0"/>
                  <a:cs typeface="Times New Roman" panose="02020603050405020304" pitchFamily="18" charset="0"/>
                </a:endParaRPr>
              </a:p>
              <a:p>
                <a:pPr marL="0" indent="0">
                  <a:lnSpc>
                    <a:spcPct val="120000"/>
                  </a:lnSpc>
                  <a:buNone/>
                </a:pPr>
                <a:r>
                  <a:rPr lang="en-US" sz="2400" dirty="0">
                    <a:solidFill>
                      <a:schemeClr val="tx1">
                        <a:lumMod val="75000"/>
                        <a:lumOff val="25000"/>
                      </a:schemeClr>
                    </a:solidFill>
                    <a:ea typeface="Open Sans" panose="020B0606030504020204" pitchFamily="34" charset="0"/>
                    <a:cs typeface="Times New Roman" panose="02020603050405020304" pitchFamily="18" charset="0"/>
                  </a:rPr>
                  <a:t>There are </a:t>
                </a:r>
                <a:r>
                  <a:rPr lang="en-US" sz="2400" b="1" dirty="0">
                    <a:solidFill>
                      <a:schemeClr val="tx1">
                        <a:lumMod val="75000"/>
                        <a:lumOff val="25000"/>
                      </a:schemeClr>
                    </a:solidFill>
                    <a:ea typeface="Open Sans" panose="020B0606030504020204" pitchFamily="34" charset="0"/>
                    <a:cs typeface="Times New Roman" panose="02020603050405020304" pitchFamily="18" charset="0"/>
                  </a:rPr>
                  <a:t>two separate things </a:t>
                </a:r>
                <a:r>
                  <a:rPr lang="en-US" sz="2400" dirty="0">
                    <a:solidFill>
                      <a:schemeClr val="tx1">
                        <a:lumMod val="75000"/>
                        <a:lumOff val="25000"/>
                      </a:schemeClr>
                    </a:solidFill>
                    <a:ea typeface="Open Sans" panose="020B0606030504020204" pitchFamily="34" charset="0"/>
                    <a:cs typeface="Times New Roman" panose="02020603050405020304" pitchFamily="18" charset="0"/>
                  </a:rPr>
                  <a:t>we care about when we run a regression: </a:t>
                </a:r>
              </a:p>
              <a:p>
                <a:pPr marL="731520" lvl="1" indent="-457200">
                  <a:lnSpc>
                    <a:spcPct val="120000"/>
                  </a:lnSpc>
                  <a:buAutoNum type="arabicPeriod"/>
                </a:pPr>
                <a:r>
                  <a:rPr lang="en-US" sz="2400" dirty="0">
                    <a:solidFill>
                      <a:schemeClr val="tx1">
                        <a:lumMod val="75000"/>
                        <a:lumOff val="25000"/>
                      </a:schemeClr>
                    </a:solidFill>
                    <a:ea typeface="Open Sans" panose="020B0606030504020204" pitchFamily="34" charset="0"/>
                    <a:cs typeface="Times New Roman" panose="02020603050405020304" pitchFamily="18" charset="0"/>
                  </a:rPr>
                  <a:t>Is the model fitting the data? </a:t>
                </a:r>
              </a:p>
              <a:p>
                <a:pPr marL="731520" lvl="1" indent="-457200">
                  <a:lnSpc>
                    <a:spcPct val="120000"/>
                  </a:lnSpc>
                  <a:buAutoNum type="arabicPeriod"/>
                </a:pPr>
                <a:r>
                  <a:rPr lang="en-US" sz="2400" dirty="0">
                    <a:solidFill>
                      <a:schemeClr val="tx1">
                        <a:lumMod val="75000"/>
                        <a:lumOff val="25000"/>
                      </a:schemeClr>
                    </a:solidFill>
                    <a:ea typeface="Open Sans" panose="020B0606030504020204" pitchFamily="34" charset="0"/>
                    <a:cs typeface="Times New Roman" panose="02020603050405020304" pitchFamily="18" charset="0"/>
                  </a:rPr>
                  <a:t>Is the model capturing a causal parameter we care about?</a:t>
                </a:r>
              </a:p>
              <a:p>
                <a:pPr marL="274320" lvl="1" indent="0">
                  <a:lnSpc>
                    <a:spcPct val="120000"/>
                  </a:lnSpc>
                  <a:buNone/>
                </a:pPr>
                <a:r>
                  <a:rPr lang="en-US" sz="2400" dirty="0">
                    <a:solidFill>
                      <a:schemeClr val="tx1">
                        <a:lumMod val="75000"/>
                        <a:lumOff val="25000"/>
                      </a:schemeClr>
                    </a:solidFill>
                    <a:ea typeface="Open Sans" panose="020B0606030504020204" pitchFamily="34" charset="0"/>
                    <a:cs typeface="Times New Roman" panose="02020603050405020304" pitchFamily="18" charset="0"/>
                  </a:rPr>
                  <a:t>To check on 1, we use </a:t>
                </a:r>
                <a:r>
                  <a:rPr lang="en-US" sz="2400" b="1" dirty="0">
                    <a:solidFill>
                      <a:schemeClr val="tx1">
                        <a:lumMod val="75000"/>
                        <a:lumOff val="25000"/>
                      </a:schemeClr>
                    </a:solidFill>
                    <a:ea typeface="Open Sans" panose="020B0606030504020204" pitchFamily="34" charset="0"/>
                    <a:cs typeface="Times New Roman" panose="02020603050405020304" pitchFamily="18" charset="0"/>
                  </a:rPr>
                  <a:t>goodness of fit measures: </a:t>
                </a:r>
                <a:endParaRPr lang="en-US" sz="2400" dirty="0">
                  <a:solidFill>
                    <a:schemeClr val="tx1">
                      <a:lumMod val="75000"/>
                      <a:lumOff val="25000"/>
                    </a:schemeClr>
                  </a:solidFill>
                  <a:ea typeface="Open Sans" panose="020B0606030504020204" pitchFamily="34" charset="0"/>
                  <a:cs typeface="Times New Roman" panose="02020603050405020304" pitchFamily="18" charset="0"/>
                </a:endParaRPr>
              </a:p>
              <a:p>
                <a:pPr lvl="1">
                  <a:lnSpc>
                    <a:spcPct val="120000"/>
                  </a:lnSpc>
                </a:pPr>
                <a:r>
                  <a:rPr lang="en-US" sz="2400" dirty="0">
                    <a:solidFill>
                      <a:schemeClr val="accent3">
                        <a:lumMod val="75000"/>
                      </a:schemeClr>
                    </a:solidFill>
                    <a:ea typeface="Open Sans" panose="020B0606030504020204" pitchFamily="34" charset="0"/>
                    <a:cs typeface="Times New Roman" panose="02020603050405020304" pitchFamily="18" charset="0"/>
                  </a:rPr>
                  <a:t>SSR (Sum of Squared Residuals) </a:t>
                </a:r>
                <a:endParaRPr lang="en-US" sz="2400" b="0" i="1" dirty="0">
                  <a:solidFill>
                    <a:schemeClr val="accent3">
                      <a:lumMod val="75000"/>
                    </a:schemeClr>
                  </a:solidFill>
                  <a:latin typeface="Cambria Math" panose="02040503050406030204" pitchFamily="18" charset="0"/>
                  <a:ea typeface="Open Sans" panose="020B0606030504020204" pitchFamily="34" charset="0"/>
                  <a:cs typeface="Times New Roman" panose="02020603050405020304" pitchFamily="18" charset="0"/>
                </a:endParaRPr>
              </a:p>
              <a:p>
                <a:pPr marL="274320" lvl="1" indent="0">
                  <a:lnSpc>
                    <a:spcPct val="120000"/>
                  </a:lnSpc>
                  <a:buNone/>
                </a:pPr>
                <a14:m>
                  <m:oMathPara xmlns:m="http://schemas.openxmlformats.org/officeDocument/2006/math">
                    <m:oMath>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𝑆𝑆𝑅</m:t>
                      </m:r>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m:t>
                      </m:r>
                      <m:nary>
                        <m:nary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naryPr>
                        <m:sub>
                          <m:d>
                            <m:dPr>
                              <m:begChr m:val="{"/>
                              <m:end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d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𝑖</m:t>
                              </m:r>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=1</m:t>
                              </m:r>
                            </m:e>
                          </m:d>
                        </m:sub>
                        <m:sup>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𝑛</m:t>
                          </m:r>
                        </m:sup>
                        <m:e>
                          <m:sSup>
                            <m:sSupPr>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pPr>
                            <m:e>
                              <m:sSub>
                                <m:sSubPr>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acc>
                                    <m:accPr>
                                      <m:chr m:val="̂"/>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𝑢</m:t>
                                      </m:r>
                                    </m:e>
                                  </m:acc>
                                </m:e>
                                <m:sub>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𝑖</m:t>
                                  </m:r>
                                </m:sub>
                              </m:sSub>
                            </m:e>
                            <m:sup>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2</m:t>
                              </m:r>
                            </m:sup>
                          </m:sSup>
                        </m:e>
                      </m:nary>
                    </m:oMath>
                  </m:oMathPara>
                </a14:m>
                <a:endParaRPr lang="en-US" sz="2400" dirty="0">
                  <a:solidFill>
                    <a:schemeClr val="tx1">
                      <a:lumMod val="75000"/>
                      <a:lumOff val="25000"/>
                    </a:schemeClr>
                  </a:solidFill>
                  <a:ea typeface="Open Sans" panose="020B0606030504020204" pitchFamily="34"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0"/>
                <a:ext cx="10363200" cy="5486399"/>
              </a:xfrm>
              <a:blipFill>
                <a:blip r:embed="rId3"/>
                <a:stretch>
                  <a:fillRect l="-882"/>
                </a:stretch>
              </a:blipFill>
            </p:spPr>
            <p:txBody>
              <a:bodyPr/>
              <a:lstStyle/>
              <a:p>
                <a:r>
                  <a:rPr lang="en-US">
                    <a:noFill/>
                  </a:rPr>
                  <a:t> </a:t>
                </a:r>
              </a:p>
            </p:txBody>
          </p:sp>
        </mc:Fallback>
      </mc:AlternateContent>
    </p:spTree>
    <p:extLst>
      <p:ext uri="{BB962C8B-B14F-4D97-AF65-F5344CB8AC3E}">
        <p14:creationId xmlns:p14="http://schemas.microsoft.com/office/powerpoint/2010/main" val="20831751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8991600" cy="624840"/>
          </a:xfrm>
        </p:spPr>
        <p:txBody>
          <a:bodyPr>
            <a:normAutofit fontScale="90000"/>
          </a:bodyPr>
          <a:lstStyle/>
          <a:p>
            <a:r>
              <a:rPr lang="en-US" dirty="0">
                <a:latin typeface="Times New Roman" panose="02020603050405020304" pitchFamily="18" charset="0"/>
                <a:cs typeface="Times New Roman" panose="02020603050405020304" pitchFamily="18" charset="0"/>
              </a:rPr>
              <a:t>Goodness of Fit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0"/>
                <a:ext cx="10363200" cy="5486399"/>
              </a:xfrm>
            </p:spPr>
            <p:txBody>
              <a:bodyPr>
                <a:noAutofit/>
              </a:bodyPr>
              <a:lstStyle/>
              <a:p>
                <a:pPr marL="0" indent="0">
                  <a:lnSpc>
                    <a:spcPct val="120000"/>
                  </a:lnSpc>
                  <a:buNone/>
                </a:pPr>
                <a14:m>
                  <m:oMathPara xmlns:m="http://schemas.openxmlformats.org/officeDocument/2006/math">
                    <m:oMath>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𝑦</m:t>
                          </m:r>
                        </m:e>
                      </m:acc>
                      <m:r>
                        <a:rPr lang="en-US" sz="2400" i="1">
                          <a:latin typeface="Cambria Math" panose="02040503050406030204" pitchFamily="18" charset="0"/>
                          <a:ea typeface="Open Sans" panose="020B0606030504020204" pitchFamily="34" charset="0"/>
                          <a:cs typeface="Open Sans" panose="020B0606030504020204" pitchFamily="34" charset="0"/>
                        </a:rPr>
                        <m:t>=</m:t>
                      </m:r>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0</m:t>
                              </m:r>
                            </m:sub>
                          </m:sSub>
                        </m:e>
                      </m:acc>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m:t>
                      </m:r>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1</m:t>
                              </m:r>
                            </m:sub>
                          </m:sSub>
                        </m:e>
                      </m:acc>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𝑥</m:t>
                      </m:r>
                    </m:oMath>
                  </m:oMathPara>
                </a14:m>
                <a:endParaRPr lang="en-CA" sz="2400" dirty="0">
                  <a:solidFill>
                    <a:schemeClr val="tx1">
                      <a:lumMod val="75000"/>
                      <a:lumOff val="25000"/>
                    </a:schemeClr>
                  </a:solidFill>
                  <a:ea typeface="Open Sans" panose="020B0606030504020204" pitchFamily="34" charset="0"/>
                  <a:cs typeface="Times New Roman" panose="02020603050405020304" pitchFamily="18" charset="0"/>
                </a:endParaRPr>
              </a:p>
              <a:p>
                <a:pPr marL="0" indent="0">
                  <a:lnSpc>
                    <a:spcPct val="120000"/>
                  </a:lnSpc>
                  <a:buNone/>
                </a:pPr>
                <a:r>
                  <a:rPr lang="en-US" sz="2400" dirty="0">
                    <a:solidFill>
                      <a:schemeClr val="tx1">
                        <a:lumMod val="75000"/>
                        <a:lumOff val="25000"/>
                      </a:schemeClr>
                    </a:solidFill>
                    <a:ea typeface="Open Sans" panose="020B0606030504020204" pitchFamily="34" charset="0"/>
                    <a:cs typeface="Times New Roman" panose="02020603050405020304" pitchFamily="18" charset="0"/>
                  </a:rPr>
                  <a:t>There are </a:t>
                </a:r>
                <a:r>
                  <a:rPr lang="en-US" sz="2400" b="1" dirty="0">
                    <a:solidFill>
                      <a:schemeClr val="tx1">
                        <a:lumMod val="75000"/>
                        <a:lumOff val="25000"/>
                      </a:schemeClr>
                    </a:solidFill>
                    <a:ea typeface="Open Sans" panose="020B0606030504020204" pitchFamily="34" charset="0"/>
                    <a:cs typeface="Times New Roman" panose="02020603050405020304" pitchFamily="18" charset="0"/>
                  </a:rPr>
                  <a:t>two separate things </a:t>
                </a:r>
                <a:r>
                  <a:rPr lang="en-US" sz="2400" dirty="0">
                    <a:solidFill>
                      <a:schemeClr val="tx1">
                        <a:lumMod val="75000"/>
                        <a:lumOff val="25000"/>
                      </a:schemeClr>
                    </a:solidFill>
                    <a:ea typeface="Open Sans" panose="020B0606030504020204" pitchFamily="34" charset="0"/>
                    <a:cs typeface="Times New Roman" panose="02020603050405020304" pitchFamily="18" charset="0"/>
                  </a:rPr>
                  <a:t>we care about when we run a regression: </a:t>
                </a:r>
              </a:p>
              <a:p>
                <a:pPr marL="731520" lvl="1" indent="-457200">
                  <a:lnSpc>
                    <a:spcPct val="120000"/>
                  </a:lnSpc>
                  <a:buAutoNum type="arabicPeriod"/>
                </a:pPr>
                <a:r>
                  <a:rPr lang="en-US" sz="2400" dirty="0">
                    <a:solidFill>
                      <a:schemeClr val="tx1">
                        <a:lumMod val="75000"/>
                        <a:lumOff val="25000"/>
                      </a:schemeClr>
                    </a:solidFill>
                    <a:ea typeface="Open Sans" panose="020B0606030504020204" pitchFamily="34" charset="0"/>
                    <a:cs typeface="Times New Roman" panose="02020603050405020304" pitchFamily="18" charset="0"/>
                  </a:rPr>
                  <a:t>Is the model fitting the data? </a:t>
                </a:r>
              </a:p>
              <a:p>
                <a:pPr marL="731520" lvl="1" indent="-457200">
                  <a:lnSpc>
                    <a:spcPct val="120000"/>
                  </a:lnSpc>
                  <a:buAutoNum type="arabicPeriod"/>
                </a:pPr>
                <a:r>
                  <a:rPr lang="en-US" sz="2400" dirty="0">
                    <a:solidFill>
                      <a:schemeClr val="tx1">
                        <a:lumMod val="75000"/>
                        <a:lumOff val="25000"/>
                      </a:schemeClr>
                    </a:solidFill>
                    <a:ea typeface="Open Sans" panose="020B0606030504020204" pitchFamily="34" charset="0"/>
                    <a:cs typeface="Times New Roman" panose="02020603050405020304" pitchFamily="18" charset="0"/>
                  </a:rPr>
                  <a:t>Is the model capturing a causal parameter we care about?</a:t>
                </a:r>
              </a:p>
              <a:p>
                <a:pPr marL="274320" lvl="1" indent="0">
                  <a:lnSpc>
                    <a:spcPct val="120000"/>
                  </a:lnSpc>
                  <a:buNone/>
                </a:pPr>
                <a:r>
                  <a:rPr lang="en-US" sz="2400" dirty="0">
                    <a:solidFill>
                      <a:schemeClr val="tx1">
                        <a:lumMod val="75000"/>
                        <a:lumOff val="25000"/>
                      </a:schemeClr>
                    </a:solidFill>
                    <a:ea typeface="Open Sans" panose="020B0606030504020204" pitchFamily="34" charset="0"/>
                    <a:cs typeface="Times New Roman" panose="02020603050405020304" pitchFamily="18" charset="0"/>
                  </a:rPr>
                  <a:t>To check on 1, we use </a:t>
                </a:r>
                <a:r>
                  <a:rPr lang="en-US" sz="2400" b="1" dirty="0">
                    <a:solidFill>
                      <a:schemeClr val="tx1">
                        <a:lumMod val="75000"/>
                        <a:lumOff val="25000"/>
                      </a:schemeClr>
                    </a:solidFill>
                    <a:ea typeface="Open Sans" panose="020B0606030504020204" pitchFamily="34" charset="0"/>
                    <a:cs typeface="Times New Roman" panose="02020603050405020304" pitchFamily="18" charset="0"/>
                  </a:rPr>
                  <a:t>goodness of fit measures: </a:t>
                </a:r>
              </a:p>
              <a:p>
                <a:pPr lvl="1">
                  <a:lnSpc>
                    <a:spcPct val="120000"/>
                  </a:lnSpc>
                </a:pPr>
                <a:r>
                  <a:rPr lang="en-US" sz="2400" dirty="0">
                    <a:solidFill>
                      <a:schemeClr val="tx1">
                        <a:lumMod val="75000"/>
                        <a:lumOff val="25000"/>
                      </a:schemeClr>
                    </a:solidFill>
                    <a:ea typeface="Open Sans" panose="020B0606030504020204" pitchFamily="34" charset="0"/>
                    <a:cs typeface="Times New Roman" panose="02020603050405020304" pitchFamily="18" charset="0"/>
                  </a:rPr>
                  <a:t>Then, we define the </a:t>
                </a:r>
                <a:r>
                  <a:rPr lang="en-US" sz="2400" b="1" dirty="0">
                    <a:solidFill>
                      <a:schemeClr val="accent2">
                        <a:lumMod val="75000"/>
                      </a:schemeClr>
                    </a:solidFill>
                    <a:ea typeface="Open Sans" panose="020B0606030504020204" pitchFamily="34" charset="0"/>
                    <a:cs typeface="Times New Roman" panose="02020603050405020304" pitchFamily="18" charset="0"/>
                  </a:rPr>
                  <a:t>fraction of SST explained by our regression</a:t>
                </a:r>
                <a:r>
                  <a:rPr lang="en-US" sz="2400" b="1" dirty="0">
                    <a:solidFill>
                      <a:schemeClr val="tx1">
                        <a:lumMod val="75000"/>
                        <a:lumOff val="25000"/>
                      </a:schemeClr>
                    </a:solidFill>
                    <a:ea typeface="Open Sans" panose="020B0606030504020204" pitchFamily="34" charset="0"/>
                    <a:cs typeface="Times New Roman" panose="02020603050405020304" pitchFamily="18" charset="0"/>
                  </a:rPr>
                  <a:t>: </a:t>
                </a:r>
              </a:p>
              <a:p>
                <a:pPr marL="274320" lvl="1" indent="0">
                  <a:lnSpc>
                    <a:spcPct val="120000"/>
                  </a:lnSpc>
                  <a:buNone/>
                </a:pPr>
                <a14:m>
                  <m:oMathPara xmlns:m="http://schemas.openxmlformats.org/officeDocument/2006/math">
                    <m:oMath>
                      <m:sSup>
                        <m:sSupPr>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pPr>
                        <m:e>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𝑅</m:t>
                          </m:r>
                        </m:e>
                        <m:sup>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2</m:t>
                          </m:r>
                        </m:sup>
                      </m:sSup>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m:t>
                      </m:r>
                      <m:f>
                        <m:fPr>
                          <m:ctrlPr>
                            <a:rPr lang="en-US" sz="2400" b="0" i="1" smtClean="0">
                              <a:solidFill>
                                <a:schemeClr val="accent5">
                                  <a:lumMod val="75000"/>
                                </a:schemeClr>
                              </a:solidFill>
                              <a:latin typeface="Cambria Math" panose="02040503050406030204" pitchFamily="18" charset="0"/>
                              <a:ea typeface="Open Sans" panose="020B0606030504020204" pitchFamily="34" charset="0"/>
                              <a:cs typeface="Times New Roman" panose="02020603050405020304" pitchFamily="18" charset="0"/>
                            </a:rPr>
                          </m:ctrlPr>
                        </m:fPr>
                        <m:num>
                          <m:r>
                            <a:rPr lang="en-US" sz="2400" b="0" i="1" smtClean="0">
                              <a:solidFill>
                                <a:schemeClr val="accent5">
                                  <a:lumMod val="75000"/>
                                </a:schemeClr>
                              </a:solidFill>
                              <a:latin typeface="Cambria Math" panose="02040503050406030204" pitchFamily="18" charset="0"/>
                              <a:ea typeface="Open Sans" panose="020B0606030504020204" pitchFamily="34" charset="0"/>
                              <a:cs typeface="Times New Roman" panose="02020603050405020304" pitchFamily="18" charset="0"/>
                            </a:rPr>
                            <m:t>𝑆𝑆𝐸</m:t>
                          </m:r>
                        </m:num>
                        <m:den>
                          <m:r>
                            <a:rPr lang="en-US" sz="2400" b="0" i="1" smtClean="0">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𝑆𝑆𝑇</m:t>
                          </m:r>
                        </m:den>
                      </m:f>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=1−</m:t>
                      </m:r>
                      <m:f>
                        <m:fPr>
                          <m:ctrlPr>
                            <a:rPr lang="en-US" sz="2400" b="0" i="1" smtClean="0">
                              <a:solidFill>
                                <a:schemeClr val="accent3">
                                  <a:lumMod val="75000"/>
                                </a:schemeClr>
                              </a:solidFill>
                              <a:latin typeface="Cambria Math" panose="02040503050406030204" pitchFamily="18" charset="0"/>
                              <a:ea typeface="Open Sans" panose="020B0606030504020204" pitchFamily="34" charset="0"/>
                              <a:cs typeface="Times New Roman" panose="02020603050405020304" pitchFamily="18" charset="0"/>
                            </a:rPr>
                          </m:ctrlPr>
                        </m:fPr>
                        <m:num>
                          <m:r>
                            <a:rPr lang="en-US" sz="2400" b="0" i="1" smtClean="0">
                              <a:solidFill>
                                <a:schemeClr val="accent3">
                                  <a:lumMod val="75000"/>
                                </a:schemeClr>
                              </a:solidFill>
                              <a:latin typeface="Cambria Math" panose="02040503050406030204" pitchFamily="18" charset="0"/>
                              <a:ea typeface="Open Sans" panose="020B0606030504020204" pitchFamily="34" charset="0"/>
                              <a:cs typeface="Times New Roman" panose="02020603050405020304" pitchFamily="18" charset="0"/>
                            </a:rPr>
                            <m:t>𝑆𝑆𝑅</m:t>
                          </m:r>
                        </m:num>
                        <m:den>
                          <m:r>
                            <a:rPr lang="en-US" sz="2400" b="0" i="1" smtClean="0">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𝑆𝑆𝑇</m:t>
                          </m:r>
                        </m:den>
                      </m:f>
                    </m:oMath>
                  </m:oMathPara>
                </a14:m>
                <a:endParaRPr lang="en-US" sz="2400" dirty="0">
                  <a:solidFill>
                    <a:schemeClr val="tx1">
                      <a:lumMod val="75000"/>
                      <a:lumOff val="25000"/>
                    </a:schemeClr>
                  </a:solidFill>
                  <a:ea typeface="Open Sans" panose="020B0606030504020204" pitchFamily="34"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0"/>
                <a:ext cx="10363200" cy="5486399"/>
              </a:xfrm>
              <a:blipFill>
                <a:blip r:embed="rId2"/>
                <a:stretch>
                  <a:fillRect l="-882"/>
                </a:stretch>
              </a:blipFill>
            </p:spPr>
            <p:txBody>
              <a:bodyPr/>
              <a:lstStyle/>
              <a:p>
                <a:r>
                  <a:rPr lang="en-US">
                    <a:noFill/>
                  </a:rPr>
                  <a:t> </a:t>
                </a:r>
              </a:p>
            </p:txBody>
          </p:sp>
        </mc:Fallback>
      </mc:AlternateContent>
      <p:pic>
        <p:nvPicPr>
          <p:cNvPr id="1026" name="Picture 2" descr="RStudio - RStudio">
            <a:extLst>
              <a:ext uri="{FF2B5EF4-FFF2-40B4-BE49-F238E27FC236}">
                <a16:creationId xmlns:a16="http://schemas.microsoft.com/office/drawing/2014/main" id="{9AF5D326-B853-4CCC-9480-C3ABE27092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01200" y="518160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27946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8991600" cy="624840"/>
          </a:xfrm>
        </p:spPr>
        <p:txBody>
          <a:bodyPr>
            <a:normAutofit fontScale="90000"/>
          </a:bodyPr>
          <a:lstStyle/>
          <a:p>
            <a:r>
              <a:rPr lang="en-US" dirty="0">
                <a:latin typeface="Times New Roman" panose="02020603050405020304" pitchFamily="18" charset="0"/>
                <a:cs typeface="Times New Roman" panose="02020603050405020304" pitchFamily="18" charset="0"/>
              </a:rPr>
              <a:t>Goodness of Fit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0"/>
                <a:ext cx="10363200" cy="5486399"/>
              </a:xfrm>
            </p:spPr>
            <p:txBody>
              <a:bodyPr>
                <a:noAutofit/>
              </a:bodyPr>
              <a:lstStyle/>
              <a:p>
                <a:pPr marL="0" indent="0">
                  <a:lnSpc>
                    <a:spcPct val="120000"/>
                  </a:lnSpc>
                  <a:buNone/>
                </a:pPr>
                <a14:m>
                  <m:oMathPara xmlns:m="http://schemas.openxmlformats.org/officeDocument/2006/math">
                    <m:oMath>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𝑦</m:t>
                          </m:r>
                        </m:e>
                      </m:acc>
                      <m:r>
                        <a:rPr lang="en-US" sz="2400" i="1">
                          <a:latin typeface="Cambria Math" panose="02040503050406030204" pitchFamily="18" charset="0"/>
                          <a:ea typeface="Open Sans" panose="020B0606030504020204" pitchFamily="34" charset="0"/>
                          <a:cs typeface="Open Sans" panose="020B0606030504020204" pitchFamily="34" charset="0"/>
                        </a:rPr>
                        <m:t>=</m:t>
                      </m:r>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0</m:t>
                              </m:r>
                            </m:sub>
                          </m:sSub>
                        </m:e>
                      </m:acc>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m:t>
                      </m:r>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1</m:t>
                              </m:r>
                            </m:sub>
                          </m:sSub>
                        </m:e>
                      </m:acc>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𝑥</m:t>
                      </m:r>
                    </m:oMath>
                  </m:oMathPara>
                </a14:m>
                <a:endParaRPr lang="en-CA" sz="2400" dirty="0">
                  <a:solidFill>
                    <a:schemeClr val="tx1">
                      <a:lumMod val="75000"/>
                      <a:lumOff val="25000"/>
                    </a:schemeClr>
                  </a:solidFill>
                  <a:ea typeface="Open Sans" panose="020B0606030504020204" pitchFamily="34" charset="0"/>
                  <a:cs typeface="Times New Roman" panose="02020603050405020304" pitchFamily="18" charset="0"/>
                </a:endParaRPr>
              </a:p>
              <a:p>
                <a:pPr marL="0" indent="0">
                  <a:lnSpc>
                    <a:spcPct val="120000"/>
                  </a:lnSpc>
                  <a:buNone/>
                </a:pPr>
                <a:r>
                  <a:rPr lang="en-US" sz="2400" dirty="0">
                    <a:solidFill>
                      <a:schemeClr val="tx1">
                        <a:lumMod val="75000"/>
                        <a:lumOff val="25000"/>
                      </a:schemeClr>
                    </a:solidFill>
                    <a:ea typeface="Open Sans" panose="020B0606030504020204" pitchFamily="34" charset="0"/>
                    <a:cs typeface="Times New Roman" panose="02020603050405020304" pitchFamily="18" charset="0"/>
                  </a:rPr>
                  <a:t>There are </a:t>
                </a:r>
                <a:r>
                  <a:rPr lang="en-US" sz="2400" b="1" dirty="0">
                    <a:solidFill>
                      <a:schemeClr val="tx1">
                        <a:lumMod val="75000"/>
                        <a:lumOff val="25000"/>
                      </a:schemeClr>
                    </a:solidFill>
                    <a:ea typeface="Open Sans" panose="020B0606030504020204" pitchFamily="34" charset="0"/>
                    <a:cs typeface="Times New Roman" panose="02020603050405020304" pitchFamily="18" charset="0"/>
                  </a:rPr>
                  <a:t>two separate things </a:t>
                </a:r>
                <a:r>
                  <a:rPr lang="en-US" sz="2400" dirty="0">
                    <a:solidFill>
                      <a:schemeClr val="tx1">
                        <a:lumMod val="75000"/>
                        <a:lumOff val="25000"/>
                      </a:schemeClr>
                    </a:solidFill>
                    <a:ea typeface="Open Sans" panose="020B0606030504020204" pitchFamily="34" charset="0"/>
                    <a:cs typeface="Times New Roman" panose="02020603050405020304" pitchFamily="18" charset="0"/>
                  </a:rPr>
                  <a:t>we care about when we run a regression: </a:t>
                </a:r>
              </a:p>
              <a:p>
                <a:pPr marL="731520" lvl="1" indent="-457200">
                  <a:lnSpc>
                    <a:spcPct val="120000"/>
                  </a:lnSpc>
                  <a:buAutoNum type="arabicPeriod"/>
                </a:pPr>
                <a:r>
                  <a:rPr lang="en-US" sz="2400" dirty="0">
                    <a:solidFill>
                      <a:schemeClr val="tx1">
                        <a:lumMod val="75000"/>
                        <a:lumOff val="25000"/>
                      </a:schemeClr>
                    </a:solidFill>
                    <a:ea typeface="Open Sans" panose="020B0606030504020204" pitchFamily="34" charset="0"/>
                    <a:cs typeface="Times New Roman" panose="02020603050405020304" pitchFamily="18" charset="0"/>
                  </a:rPr>
                  <a:t>Is the model fitting the data? </a:t>
                </a:r>
              </a:p>
              <a:p>
                <a:pPr marL="731520" lvl="1" indent="-457200">
                  <a:lnSpc>
                    <a:spcPct val="120000"/>
                  </a:lnSpc>
                  <a:buAutoNum type="arabicPeriod"/>
                </a:pPr>
                <a:r>
                  <a:rPr lang="en-US" sz="2400" dirty="0">
                    <a:solidFill>
                      <a:schemeClr val="tx1">
                        <a:lumMod val="75000"/>
                        <a:lumOff val="25000"/>
                      </a:schemeClr>
                    </a:solidFill>
                    <a:ea typeface="Open Sans" panose="020B0606030504020204" pitchFamily="34" charset="0"/>
                    <a:cs typeface="Times New Roman" panose="02020603050405020304" pitchFamily="18" charset="0"/>
                  </a:rPr>
                  <a:t>Is the model capturing a causal parameter we care about?</a:t>
                </a:r>
              </a:p>
              <a:p>
                <a:pPr marL="274320" lvl="1" indent="0">
                  <a:lnSpc>
                    <a:spcPct val="120000"/>
                  </a:lnSpc>
                  <a:buNone/>
                </a:pPr>
                <a:r>
                  <a:rPr lang="en-US" sz="2400" b="1" dirty="0">
                    <a:solidFill>
                      <a:schemeClr val="accent2">
                        <a:lumMod val="75000"/>
                      </a:schemeClr>
                    </a:solidFill>
                    <a:ea typeface="Open Sans" panose="020B0606030504020204" pitchFamily="34" charset="0"/>
                    <a:cs typeface="Times New Roman" panose="02020603050405020304" pitchFamily="18" charset="0"/>
                  </a:rPr>
                  <a:t>Some notes on </a:t>
                </a:r>
                <a14:m>
                  <m:oMath xmlns:m="http://schemas.openxmlformats.org/officeDocument/2006/math">
                    <m:sSup>
                      <m:sSupPr>
                        <m:ctrlPr>
                          <a:rPr lang="en-US" sz="2400" b="1" i="1" smtClean="0">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ctrlPr>
                      </m:sSupPr>
                      <m:e>
                        <m:r>
                          <a:rPr lang="en-US" sz="2400" b="1" i="1" smtClean="0">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𝑹</m:t>
                        </m:r>
                      </m:e>
                      <m:sup>
                        <m:r>
                          <a:rPr lang="en-US" sz="2400" b="1" i="1" smtClean="0">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𝟐</m:t>
                        </m:r>
                      </m:sup>
                    </m:sSup>
                  </m:oMath>
                </a14:m>
                <a:r>
                  <a:rPr lang="en-US" sz="2400" b="1" dirty="0">
                    <a:solidFill>
                      <a:schemeClr val="accent2">
                        <a:lumMod val="75000"/>
                      </a:schemeClr>
                    </a:solidFill>
                    <a:ea typeface="Open Sans" panose="020B0606030504020204" pitchFamily="34" charset="0"/>
                    <a:cs typeface="Times New Roman" panose="02020603050405020304" pitchFamily="18" charset="0"/>
                  </a:rPr>
                  <a:t>:</a:t>
                </a:r>
                <a:endParaRPr lang="en-US" sz="2400" b="1" dirty="0">
                  <a:solidFill>
                    <a:schemeClr val="tx1">
                      <a:lumMod val="75000"/>
                      <a:lumOff val="25000"/>
                    </a:schemeClr>
                  </a:solidFill>
                  <a:ea typeface="Open Sans" panose="020B0606030504020204" pitchFamily="34" charset="0"/>
                  <a:cs typeface="Times New Roman" panose="02020603050405020304" pitchFamily="18" charset="0"/>
                </a:endParaRPr>
              </a:p>
              <a:p>
                <a:pPr lvl="1">
                  <a:lnSpc>
                    <a:spcPct val="120000"/>
                  </a:lnSpc>
                </a:pPr>
                <a:r>
                  <a:rPr lang="en-US" sz="2400" dirty="0">
                    <a:solidFill>
                      <a:schemeClr val="tx1">
                        <a:lumMod val="75000"/>
                        <a:lumOff val="25000"/>
                      </a:schemeClr>
                    </a:solidFill>
                    <a:ea typeface="Open Sans" panose="020B0606030504020204" pitchFamily="34" charset="0"/>
                    <a:cs typeface="Times New Roman" panose="02020603050405020304" pitchFamily="18" charset="0"/>
                  </a:rPr>
                  <a:t>Always ranges between 0 and 1 (0 = no relationship; 1 = perfect line)</a:t>
                </a:r>
              </a:p>
              <a:p>
                <a:pPr lvl="1">
                  <a:lnSpc>
                    <a:spcPct val="120000"/>
                  </a:lnSpc>
                </a:pPr>
                <a:r>
                  <a:rPr lang="en-US" sz="2400" dirty="0">
                    <a:solidFill>
                      <a:schemeClr val="tx1">
                        <a:lumMod val="75000"/>
                        <a:lumOff val="25000"/>
                      </a:schemeClr>
                    </a:solidFill>
                    <a:ea typeface="Open Sans" panose="020B0606030504020204" pitchFamily="34" charset="0"/>
                    <a:cs typeface="Times New Roman" panose="02020603050405020304" pitchFamily="18" charset="0"/>
                  </a:rPr>
                  <a:t>Related to the correlation between </a:t>
                </a:r>
                <a14:m>
                  <m:oMath xmlns:m="http://schemas.openxmlformats.org/officeDocument/2006/math">
                    <m:acc>
                      <m:accPr>
                        <m:chr m:val="̂"/>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𝑦</m:t>
                        </m:r>
                      </m:e>
                    </m:acc>
                  </m:oMath>
                </a14:m>
                <a:r>
                  <a:rPr lang="en-US" sz="2400" dirty="0">
                    <a:solidFill>
                      <a:schemeClr val="tx1">
                        <a:lumMod val="75000"/>
                        <a:lumOff val="25000"/>
                      </a:schemeClr>
                    </a:solidFill>
                    <a:ea typeface="Open Sans" panose="020B0606030504020204" pitchFamily="34" charset="0"/>
                    <a:cs typeface="Times New Roman" panose="02020603050405020304" pitchFamily="18" charset="0"/>
                  </a:rPr>
                  <a:t> and </a:t>
                </a:r>
                <a14:m>
                  <m:oMath xmlns:m="http://schemas.openxmlformats.org/officeDocument/2006/math">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𝑦</m:t>
                    </m:r>
                  </m:oMath>
                </a14:m>
                <a:r>
                  <a:rPr lang="en-US" sz="2400" dirty="0">
                    <a:solidFill>
                      <a:schemeClr val="tx1">
                        <a:lumMod val="75000"/>
                        <a:lumOff val="25000"/>
                      </a:schemeClr>
                    </a:solidFill>
                    <a:ea typeface="Open Sans" panose="020B0606030504020204" pitchFamily="34" charset="0"/>
                    <a:cs typeface="Times New Roman" panose="02020603050405020304" pitchFamily="18" charset="0"/>
                  </a:rPr>
                  <a:t> – hence, </a:t>
                </a:r>
                <a:r>
                  <a:rPr lang="en-US" sz="2400" i="1" dirty="0">
                    <a:solidFill>
                      <a:schemeClr val="tx1">
                        <a:lumMod val="75000"/>
                        <a:lumOff val="25000"/>
                      </a:schemeClr>
                    </a:solidFill>
                    <a:ea typeface="Open Sans" panose="020B0606030504020204" pitchFamily="34" charset="0"/>
                    <a:cs typeface="Times New Roman" panose="02020603050405020304" pitchFamily="18" charset="0"/>
                  </a:rPr>
                  <a:t>not </a:t>
                </a:r>
                <a:r>
                  <a:rPr lang="en-US" sz="2400" dirty="0">
                    <a:solidFill>
                      <a:schemeClr val="tx1">
                        <a:lumMod val="75000"/>
                        <a:lumOff val="25000"/>
                      </a:schemeClr>
                    </a:solidFill>
                    <a:ea typeface="Open Sans" panose="020B0606030504020204" pitchFamily="34" charset="0"/>
                    <a:cs typeface="Times New Roman" panose="02020603050405020304" pitchFamily="18" charset="0"/>
                  </a:rPr>
                  <a:t>indicative of causality!</a:t>
                </a:r>
              </a:p>
              <a:p>
                <a:pPr lvl="1">
                  <a:lnSpc>
                    <a:spcPct val="120000"/>
                  </a:lnSpc>
                </a:pPr>
                <a:r>
                  <a:rPr lang="en-US" sz="2400" dirty="0">
                    <a:solidFill>
                      <a:schemeClr val="tx1">
                        <a:lumMod val="75000"/>
                        <a:lumOff val="25000"/>
                      </a:schemeClr>
                    </a:solidFill>
                    <a:ea typeface="Open Sans" panose="020B0606030504020204" pitchFamily="34" charset="0"/>
                    <a:cs typeface="Times New Roman" panose="02020603050405020304" pitchFamily="18" charset="0"/>
                  </a:rPr>
                  <a:t>Even low </a:t>
                </a:r>
                <a14:m>
                  <m:oMath xmlns:m="http://schemas.openxmlformats.org/officeDocument/2006/math">
                    <m:sSup>
                      <m:sSupPr>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pPr>
                      <m:e>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𝑅</m:t>
                        </m:r>
                      </m:e>
                      <m:sup>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2</m:t>
                        </m:r>
                      </m:sup>
                    </m:sSup>
                  </m:oMath>
                </a14:m>
                <a:r>
                  <a:rPr lang="en-US" sz="2400" dirty="0">
                    <a:solidFill>
                      <a:schemeClr val="tx1">
                        <a:lumMod val="75000"/>
                        <a:lumOff val="25000"/>
                      </a:schemeClr>
                    </a:solidFill>
                    <a:ea typeface="Open Sans" panose="020B0606030504020204" pitchFamily="34" charset="0"/>
                    <a:cs typeface="Times New Roman" panose="02020603050405020304" pitchFamily="18" charset="0"/>
                  </a:rPr>
                  <a:t> models can have strong causal interpretations – be clear on what your research goal is!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0"/>
                <a:ext cx="10363200" cy="5486399"/>
              </a:xfrm>
              <a:blipFill>
                <a:blip r:embed="rId3"/>
                <a:stretch>
                  <a:fillRect l="-882"/>
                </a:stretch>
              </a:blipFill>
            </p:spPr>
            <p:txBody>
              <a:bodyPr/>
              <a:lstStyle/>
              <a:p>
                <a:r>
                  <a:rPr lang="en-US">
                    <a:noFill/>
                  </a:rPr>
                  <a:t> </a:t>
                </a:r>
              </a:p>
            </p:txBody>
          </p:sp>
        </mc:Fallback>
      </mc:AlternateContent>
    </p:spTree>
    <p:extLst>
      <p:ext uri="{BB962C8B-B14F-4D97-AF65-F5344CB8AC3E}">
        <p14:creationId xmlns:p14="http://schemas.microsoft.com/office/powerpoint/2010/main" val="11038182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10549128" cy="4041648"/>
          </a:xfrm>
        </p:spPr>
        <p:txBody>
          <a:bodyPr>
            <a:normAutofit/>
          </a:bodyPr>
          <a:lstStyle/>
          <a:p>
            <a:r>
              <a:rPr lang="en-US" dirty="0">
                <a:latin typeface="Times New Roman" panose="02020603050405020304" pitchFamily="18" charset="0"/>
                <a:cs typeface="Times New Roman" panose="02020603050405020304" pitchFamily="18" charset="0"/>
              </a:rPr>
              <a:t>Where does univariate regression fit?</a:t>
            </a:r>
          </a:p>
        </p:txBody>
      </p:sp>
      <p:sp>
        <p:nvSpPr>
          <p:cNvPr id="3" name="Content Placeholder 2"/>
          <p:cNvSpPr>
            <a:spLocks noGrp="1"/>
          </p:cNvSpPr>
          <p:nvPr>
            <p:ph type="subTitle" idx="1"/>
          </p:nvPr>
        </p:nvSpPr>
        <p:spPr/>
        <p:txBody>
          <a:bodyPr>
            <a:normAutofit/>
          </a:bodyPr>
          <a:lstStyle/>
          <a:p>
            <a:pPr marL="274320" lvl="1" indent="0">
              <a:buNone/>
            </a:pPr>
            <a:endParaRPr lang="en-CA" sz="2000" dirty="0">
              <a:solidFill>
                <a:schemeClr val="tx1"/>
              </a:solidFill>
              <a:latin typeface="Open Sans"/>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2582722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363200" cy="624840"/>
          </a:xfrm>
        </p:spPr>
        <p:txBody>
          <a:bodyPr>
            <a:noAutofit/>
          </a:bodyPr>
          <a:lstStyle/>
          <a:p>
            <a:r>
              <a:rPr lang="en-US" sz="3600" dirty="0">
                <a:latin typeface="Times New Roman" panose="02020603050405020304" pitchFamily="18" charset="0"/>
                <a:cs typeface="Times New Roman" panose="02020603050405020304" pitchFamily="18" charset="0"/>
              </a:rPr>
              <a:t>Univariate regressions are simple – are they too simple?</a:t>
            </a:r>
          </a:p>
        </p:txBody>
      </p:sp>
      <p:sp>
        <p:nvSpPr>
          <p:cNvPr id="3" name="Content Placeholder 2"/>
          <p:cNvSpPr>
            <a:spLocks noGrp="1"/>
          </p:cNvSpPr>
          <p:nvPr>
            <p:ph idx="1"/>
          </p:nvPr>
        </p:nvSpPr>
        <p:spPr>
          <a:xfrm>
            <a:off x="609601" y="1066801"/>
            <a:ext cx="10363200" cy="5141388"/>
          </a:xfrm>
        </p:spPr>
        <p:txBody>
          <a:bodyPr>
            <a:normAutofit/>
          </a:bodyPr>
          <a:lstStyle/>
          <a:p>
            <a:pPr marL="0" indent="0">
              <a:lnSpc>
                <a:spcPct val="120000"/>
              </a:lnSpc>
              <a:buNone/>
            </a:pPr>
            <a:r>
              <a:rPr lang="en-CA" sz="2400" dirty="0">
                <a:solidFill>
                  <a:schemeClr val="tx1">
                    <a:lumMod val="75000"/>
                    <a:lumOff val="25000"/>
                  </a:schemeClr>
                </a:solidFill>
                <a:ea typeface="Open Sans" panose="020B0606030504020204" pitchFamily="34" charset="0"/>
                <a:cs typeface="Times New Roman" panose="02020603050405020304" pitchFamily="18" charset="0"/>
              </a:rPr>
              <a:t>Why would you use a regression with no controls? </a:t>
            </a:r>
          </a:p>
        </p:txBody>
      </p:sp>
    </p:spTree>
    <p:extLst>
      <p:ext uri="{BB962C8B-B14F-4D97-AF65-F5344CB8AC3E}">
        <p14:creationId xmlns:p14="http://schemas.microsoft.com/office/powerpoint/2010/main" val="2653543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B30E7-6B55-0A58-C341-130D4D4FD3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6E60D6-3586-88E7-634E-656012878000}"/>
              </a:ext>
            </a:extLst>
          </p:cNvPr>
          <p:cNvSpPr>
            <a:spLocks noGrp="1"/>
          </p:cNvSpPr>
          <p:nvPr>
            <p:ph type="title"/>
          </p:nvPr>
        </p:nvSpPr>
        <p:spPr>
          <a:xfrm>
            <a:off x="609600" y="337392"/>
            <a:ext cx="10363200" cy="624840"/>
          </a:xfrm>
        </p:spPr>
        <p:txBody>
          <a:bodyPr>
            <a:noAutofit/>
          </a:bodyPr>
          <a:lstStyle/>
          <a:p>
            <a:r>
              <a:rPr lang="en-US" sz="3600" dirty="0">
                <a:latin typeface="Times New Roman" panose="02020603050405020304" pitchFamily="18" charset="0"/>
                <a:cs typeface="Times New Roman" panose="02020603050405020304" pitchFamily="18" charset="0"/>
              </a:rPr>
              <a:t>Univariate regressions are simple – are they too simple?</a:t>
            </a:r>
          </a:p>
        </p:txBody>
      </p:sp>
      <p:sp>
        <p:nvSpPr>
          <p:cNvPr id="3" name="Content Placeholder 2">
            <a:extLst>
              <a:ext uri="{FF2B5EF4-FFF2-40B4-BE49-F238E27FC236}">
                <a16:creationId xmlns:a16="http://schemas.microsoft.com/office/drawing/2014/main" id="{08CEC7D8-49D5-8900-709C-303E79891613}"/>
              </a:ext>
            </a:extLst>
          </p:cNvPr>
          <p:cNvSpPr>
            <a:spLocks noGrp="1"/>
          </p:cNvSpPr>
          <p:nvPr>
            <p:ph idx="1"/>
          </p:nvPr>
        </p:nvSpPr>
        <p:spPr>
          <a:xfrm>
            <a:off x="609601" y="1066801"/>
            <a:ext cx="10363200" cy="5141388"/>
          </a:xfrm>
        </p:spPr>
        <p:txBody>
          <a:bodyPr>
            <a:normAutofit/>
          </a:bodyPr>
          <a:lstStyle/>
          <a:p>
            <a:pPr marL="0" indent="0">
              <a:lnSpc>
                <a:spcPct val="120000"/>
              </a:lnSpc>
              <a:buNone/>
            </a:pPr>
            <a:r>
              <a:rPr lang="en-CA" sz="2400" dirty="0">
                <a:solidFill>
                  <a:schemeClr val="tx1">
                    <a:lumMod val="75000"/>
                    <a:lumOff val="25000"/>
                  </a:schemeClr>
                </a:solidFill>
                <a:ea typeface="Open Sans" panose="020B0606030504020204" pitchFamily="34" charset="0"/>
                <a:cs typeface="Times New Roman" panose="02020603050405020304" pitchFamily="18" charset="0"/>
              </a:rPr>
              <a:t>Why would you use a regression with no controls?</a:t>
            </a:r>
          </a:p>
          <a:p>
            <a:pPr marL="457200" indent="-457200">
              <a:lnSpc>
                <a:spcPct val="120000"/>
              </a:lnSpc>
              <a:buAutoNum type="arabicPeriod"/>
            </a:pPr>
            <a:r>
              <a:rPr lang="en-CA" sz="2400" dirty="0">
                <a:solidFill>
                  <a:schemeClr val="tx1">
                    <a:lumMod val="75000"/>
                    <a:lumOff val="25000"/>
                  </a:schemeClr>
                </a:solidFill>
                <a:ea typeface="Open Sans" panose="020B0606030504020204" pitchFamily="34" charset="0"/>
                <a:cs typeface="Times New Roman" panose="02020603050405020304" pitchFamily="18" charset="0"/>
              </a:rPr>
              <a:t>Simple descriptive work (correlations) </a:t>
            </a:r>
          </a:p>
          <a:p>
            <a:pPr marL="457200" indent="-457200">
              <a:lnSpc>
                <a:spcPct val="120000"/>
              </a:lnSpc>
              <a:buAutoNum type="arabicPeriod"/>
            </a:pPr>
            <a:r>
              <a:rPr lang="en-CA" sz="2400" dirty="0">
                <a:solidFill>
                  <a:schemeClr val="tx1">
                    <a:lumMod val="75000"/>
                    <a:lumOff val="25000"/>
                  </a:schemeClr>
                </a:solidFill>
                <a:ea typeface="Open Sans" panose="020B0606030504020204" pitchFamily="34" charset="0"/>
                <a:cs typeface="Times New Roman" panose="02020603050405020304" pitchFamily="18" charset="0"/>
              </a:rPr>
              <a:t>Full reliance on your quasi-experiment</a:t>
            </a:r>
          </a:p>
          <a:p>
            <a:pPr marL="457200" indent="-457200">
              <a:lnSpc>
                <a:spcPct val="120000"/>
              </a:lnSpc>
              <a:buAutoNum type="arabicPeriod"/>
            </a:pPr>
            <a:r>
              <a:rPr lang="en-CA" sz="2400" dirty="0">
                <a:solidFill>
                  <a:schemeClr val="tx1">
                    <a:lumMod val="75000"/>
                    <a:lumOff val="25000"/>
                  </a:schemeClr>
                </a:solidFill>
                <a:ea typeface="Open Sans" panose="020B0606030504020204" pitchFamily="34" charset="0"/>
                <a:cs typeface="Times New Roman" panose="02020603050405020304" pitchFamily="18" charset="0"/>
              </a:rPr>
              <a:t>Basis for comparisons across models</a:t>
            </a:r>
          </a:p>
          <a:p>
            <a:pPr marL="457200" indent="-457200">
              <a:lnSpc>
                <a:spcPct val="120000"/>
              </a:lnSpc>
              <a:buAutoNum type="arabicPeriod"/>
            </a:pPr>
            <a:r>
              <a:rPr lang="en-CA" sz="2400" dirty="0">
                <a:solidFill>
                  <a:schemeClr val="tx1">
                    <a:lumMod val="75000"/>
                    <a:lumOff val="25000"/>
                  </a:schemeClr>
                </a:solidFill>
                <a:ea typeface="Open Sans" panose="020B0606030504020204" pitchFamily="34" charset="0"/>
                <a:cs typeface="Times New Roman" panose="02020603050405020304" pitchFamily="18" charset="0"/>
              </a:rPr>
              <a:t>Predictive power and model selection </a:t>
            </a:r>
          </a:p>
        </p:txBody>
      </p:sp>
    </p:spTree>
    <p:extLst>
      <p:ext uri="{BB962C8B-B14F-4D97-AF65-F5344CB8AC3E}">
        <p14:creationId xmlns:p14="http://schemas.microsoft.com/office/powerpoint/2010/main" val="3983143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BBCF7-703E-29C6-E8E3-3985221186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E410E9-6213-CA48-6A62-9E55EFAB13C9}"/>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Descriptive Statistics are Your Friend!</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429F405-83CB-B314-BF79-D9A5010AC002}"/>
              </a:ext>
            </a:extLst>
          </p:cNvPr>
          <p:cNvSpPr>
            <a:spLocks noGrp="1"/>
          </p:cNvSpPr>
          <p:nvPr>
            <p:ph idx="1"/>
          </p:nvPr>
        </p:nvSpPr>
        <p:spPr>
          <a:xfrm>
            <a:off x="1219199" y="1066801"/>
            <a:ext cx="9405791" cy="5141388"/>
          </a:xfrm>
        </p:spPr>
        <p:txBody>
          <a:bodyPr>
            <a:noAutofit/>
          </a:bodyPr>
          <a:lstStyle/>
          <a:p>
            <a:pPr marL="457200" indent="-457200">
              <a:buAutoNum type="arabicPeriod"/>
            </a:pPr>
            <a:r>
              <a:rPr lang="en-US" sz="2400" dirty="0">
                <a:cs typeface="Times New Roman" panose="02020603050405020304" pitchFamily="18" charset="0"/>
              </a:rPr>
              <a:t>Tell us something about the “story” you have in mind</a:t>
            </a:r>
          </a:p>
          <a:p>
            <a:pPr marL="457200" indent="-457200">
              <a:buAutoNum type="arabicPeriod"/>
            </a:pPr>
            <a:endParaRPr lang="en-US" sz="2400" dirty="0">
              <a:cs typeface="Times New Roman" panose="02020603050405020304" pitchFamily="18" charset="0"/>
            </a:endParaRPr>
          </a:p>
          <a:p>
            <a:pPr marL="457200" indent="-457200">
              <a:buAutoNum type="arabicPeriod"/>
            </a:pPr>
            <a:endParaRPr lang="en-US" sz="2400" dirty="0">
              <a:cs typeface="Times New Roman" panose="02020603050405020304" pitchFamily="18" charset="0"/>
            </a:endParaRPr>
          </a:p>
          <a:p>
            <a:pPr marL="457200" indent="-457200">
              <a:buAutoNum type="arabicPeriod"/>
            </a:pPr>
            <a:endParaRPr lang="en-US" sz="2400" dirty="0">
              <a:cs typeface="Times New Roman" panose="02020603050405020304" pitchFamily="18" charset="0"/>
            </a:endParaRPr>
          </a:p>
          <a:p>
            <a:pPr marL="457200" indent="-457200">
              <a:buAutoNum type="arabicPeriod"/>
            </a:pPr>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For our case study, </a:t>
            </a:r>
          </a:p>
          <a:p>
            <a:pPr>
              <a:buFontTx/>
              <a:buChar char="-"/>
            </a:pPr>
            <a:r>
              <a:rPr lang="en-US" sz="2400" dirty="0">
                <a:cs typeface="Times New Roman" panose="02020603050405020304" pitchFamily="18" charset="0"/>
              </a:rPr>
              <a:t>What did you think about the </a:t>
            </a:r>
            <a:r>
              <a:rPr lang="en-US" sz="2400" b="1" dirty="0">
                <a:cs typeface="Times New Roman" panose="02020603050405020304" pitchFamily="18" charset="0"/>
              </a:rPr>
              <a:t>motivation </a:t>
            </a:r>
            <a:r>
              <a:rPr lang="en-US" sz="2400" dirty="0">
                <a:cs typeface="Times New Roman" panose="02020603050405020304" pitchFamily="18" charset="0"/>
              </a:rPr>
              <a:t>and </a:t>
            </a:r>
            <a:r>
              <a:rPr lang="en-US" sz="2400" b="1" dirty="0">
                <a:cs typeface="Times New Roman" panose="02020603050405020304" pitchFamily="18" charset="0"/>
              </a:rPr>
              <a:t>contribution </a:t>
            </a:r>
            <a:r>
              <a:rPr lang="en-US" sz="2400" dirty="0">
                <a:cs typeface="Times New Roman" panose="02020603050405020304" pitchFamily="18" charset="0"/>
              </a:rPr>
              <a:t>of the paper? </a:t>
            </a:r>
          </a:p>
          <a:p>
            <a:pPr>
              <a:buFontTx/>
              <a:buChar char="-"/>
            </a:pPr>
            <a:r>
              <a:rPr lang="en-US" sz="2400" dirty="0">
                <a:cs typeface="Times New Roman" panose="02020603050405020304" pitchFamily="18" charset="0"/>
              </a:rPr>
              <a:t>What </a:t>
            </a:r>
            <a:r>
              <a:rPr lang="en-US" sz="2400" b="1" dirty="0">
                <a:cs typeface="Times New Roman" panose="02020603050405020304" pitchFamily="18" charset="0"/>
              </a:rPr>
              <a:t>data </a:t>
            </a:r>
            <a:r>
              <a:rPr lang="en-US" sz="2400" dirty="0">
                <a:cs typeface="Times New Roman" panose="02020603050405020304" pitchFamily="18" charset="0"/>
              </a:rPr>
              <a:t>was used? Was it appropriate? Could we apply this to a </a:t>
            </a:r>
            <a:r>
              <a:rPr lang="en-US" sz="2400" b="1" dirty="0">
                <a:cs typeface="Times New Roman" panose="02020603050405020304" pitchFamily="18" charset="0"/>
              </a:rPr>
              <a:t>Canadian </a:t>
            </a:r>
            <a:r>
              <a:rPr lang="en-US" sz="2400" dirty="0">
                <a:cs typeface="Times New Roman" panose="02020603050405020304" pitchFamily="18" charset="0"/>
              </a:rPr>
              <a:t>context? </a:t>
            </a:r>
          </a:p>
          <a:p>
            <a:pPr>
              <a:buFontTx/>
              <a:buChar char="-"/>
            </a:pPr>
            <a:r>
              <a:rPr lang="en-US" sz="2400" dirty="0">
                <a:cs typeface="Times New Roman" panose="02020603050405020304" pitchFamily="18" charset="0"/>
              </a:rPr>
              <a:t>What was the </a:t>
            </a:r>
            <a:r>
              <a:rPr lang="en-US" sz="2400" b="1" dirty="0">
                <a:cs typeface="Times New Roman" panose="02020603050405020304" pitchFamily="18" charset="0"/>
              </a:rPr>
              <a:t>research design </a:t>
            </a:r>
            <a:r>
              <a:rPr lang="en-US" sz="2400" dirty="0">
                <a:cs typeface="Times New Roman" panose="02020603050405020304" pitchFamily="18" charset="0"/>
              </a:rPr>
              <a:t>and do you find it credible? </a:t>
            </a:r>
          </a:p>
          <a:p>
            <a:endParaRPr lang="en-US" sz="2400" dirty="0">
              <a:cs typeface="Times New Roman" panose="02020603050405020304" pitchFamily="18" charset="0"/>
            </a:endParaRPr>
          </a:p>
        </p:txBody>
      </p:sp>
      <p:pic>
        <p:nvPicPr>
          <p:cNvPr id="6" name="Picture 5">
            <a:extLst>
              <a:ext uri="{FF2B5EF4-FFF2-40B4-BE49-F238E27FC236}">
                <a16:creationId xmlns:a16="http://schemas.microsoft.com/office/drawing/2014/main" id="{6A1483EA-5F48-605A-71C6-B06F929B9D37}"/>
              </a:ext>
            </a:extLst>
          </p:cNvPr>
          <p:cNvPicPr>
            <a:picLocks noChangeAspect="1"/>
          </p:cNvPicPr>
          <p:nvPr/>
        </p:nvPicPr>
        <p:blipFill>
          <a:blip r:embed="rId3"/>
          <a:stretch>
            <a:fillRect/>
          </a:stretch>
        </p:blipFill>
        <p:spPr>
          <a:xfrm>
            <a:off x="2133600" y="1541703"/>
            <a:ext cx="6830378" cy="2095792"/>
          </a:xfrm>
          <a:prstGeom prst="rect">
            <a:avLst/>
          </a:prstGeom>
        </p:spPr>
      </p:pic>
    </p:spTree>
    <p:extLst>
      <p:ext uri="{BB962C8B-B14F-4D97-AF65-F5344CB8AC3E}">
        <p14:creationId xmlns:p14="http://schemas.microsoft.com/office/powerpoint/2010/main" val="12846707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99570-1C16-C89C-C187-4234E5A4E7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B18E97-DAA6-EA91-3315-D445121282A2}"/>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Descriptive Statistics are Your Friend!</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C1BB7C4-1950-186B-C605-A2652CEC0100}"/>
              </a:ext>
            </a:extLst>
          </p:cNvPr>
          <p:cNvSpPr>
            <a:spLocks noGrp="1"/>
          </p:cNvSpPr>
          <p:nvPr>
            <p:ph idx="1"/>
          </p:nvPr>
        </p:nvSpPr>
        <p:spPr>
          <a:xfrm>
            <a:off x="1219199" y="1066801"/>
            <a:ext cx="9405791" cy="5141388"/>
          </a:xfrm>
        </p:spPr>
        <p:txBody>
          <a:bodyPr>
            <a:noAutofit/>
          </a:bodyPr>
          <a:lstStyle/>
          <a:p>
            <a:pPr marL="457200" indent="-457200">
              <a:buAutoNum type="arabicPeriod"/>
            </a:pPr>
            <a:r>
              <a:rPr lang="en-US" sz="2400" dirty="0">
                <a:cs typeface="Times New Roman" panose="02020603050405020304" pitchFamily="18" charset="0"/>
              </a:rPr>
              <a:t>Tell us something about the “story” you have in mind</a:t>
            </a:r>
          </a:p>
          <a:p>
            <a:pPr marL="457200" indent="-457200">
              <a:buAutoNum type="arabicPeriod"/>
            </a:pPr>
            <a:endParaRPr lang="en-US" sz="2400" dirty="0">
              <a:cs typeface="Times New Roman" panose="02020603050405020304" pitchFamily="18" charset="0"/>
            </a:endParaRPr>
          </a:p>
          <a:p>
            <a:pPr marL="457200" indent="-457200">
              <a:buAutoNum type="arabicPeriod"/>
            </a:pPr>
            <a:endParaRPr lang="en-US" sz="2400" dirty="0">
              <a:cs typeface="Times New Roman" panose="02020603050405020304" pitchFamily="18" charset="0"/>
            </a:endParaRPr>
          </a:p>
          <a:p>
            <a:pPr marL="457200" indent="-457200">
              <a:buAutoNum type="arabicPeriod"/>
            </a:pPr>
            <a:endParaRPr lang="en-US" sz="2400" dirty="0">
              <a:cs typeface="Times New Roman" panose="02020603050405020304" pitchFamily="18" charset="0"/>
            </a:endParaRPr>
          </a:p>
          <a:p>
            <a:pPr marL="457200" indent="-457200">
              <a:buAutoNum type="arabicPeriod"/>
            </a:pPr>
            <a:endParaRPr lang="en-US" sz="2400" dirty="0">
              <a:cs typeface="Times New Roman" panose="02020603050405020304" pitchFamily="18" charset="0"/>
            </a:endParaRPr>
          </a:p>
          <a:p>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1ABEA400-D6B6-C94B-0F2E-1989052B9C83}"/>
              </a:ext>
            </a:extLst>
          </p:cNvPr>
          <p:cNvPicPr>
            <a:picLocks noChangeAspect="1"/>
          </p:cNvPicPr>
          <p:nvPr/>
        </p:nvPicPr>
        <p:blipFill>
          <a:blip r:embed="rId3"/>
          <a:stretch>
            <a:fillRect/>
          </a:stretch>
        </p:blipFill>
        <p:spPr>
          <a:xfrm>
            <a:off x="0" y="1524000"/>
            <a:ext cx="5377434" cy="5141388"/>
          </a:xfrm>
          <a:prstGeom prst="rect">
            <a:avLst/>
          </a:prstGeom>
        </p:spPr>
      </p:pic>
      <p:pic>
        <p:nvPicPr>
          <p:cNvPr id="8" name="Picture 7">
            <a:extLst>
              <a:ext uri="{FF2B5EF4-FFF2-40B4-BE49-F238E27FC236}">
                <a16:creationId xmlns:a16="http://schemas.microsoft.com/office/drawing/2014/main" id="{FA7EDF83-58FA-6561-A993-0A16D2EB1D64}"/>
              </a:ext>
            </a:extLst>
          </p:cNvPr>
          <p:cNvPicPr>
            <a:picLocks noChangeAspect="1"/>
          </p:cNvPicPr>
          <p:nvPr/>
        </p:nvPicPr>
        <p:blipFill>
          <a:blip r:embed="rId4"/>
          <a:stretch>
            <a:fillRect/>
          </a:stretch>
        </p:blipFill>
        <p:spPr>
          <a:xfrm>
            <a:off x="5607852" y="1447800"/>
            <a:ext cx="5443325" cy="5358273"/>
          </a:xfrm>
          <a:prstGeom prst="rect">
            <a:avLst/>
          </a:prstGeom>
        </p:spPr>
      </p:pic>
    </p:spTree>
    <p:extLst>
      <p:ext uri="{BB962C8B-B14F-4D97-AF65-F5344CB8AC3E}">
        <p14:creationId xmlns:p14="http://schemas.microsoft.com/office/powerpoint/2010/main" val="7694651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BBEDF-2E19-7CA4-6D60-4EAD00FD8E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66E3F3-5650-7C1C-8A35-13139A48AE65}"/>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Descriptive Statistics are Your Friend!</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8496E6E-0397-4B41-05A1-F817D30A0A85}"/>
              </a:ext>
            </a:extLst>
          </p:cNvPr>
          <p:cNvSpPr>
            <a:spLocks noGrp="1"/>
          </p:cNvSpPr>
          <p:nvPr>
            <p:ph idx="1"/>
          </p:nvPr>
        </p:nvSpPr>
        <p:spPr>
          <a:xfrm>
            <a:off x="1219199" y="1066801"/>
            <a:ext cx="9405791" cy="5141388"/>
          </a:xfrm>
        </p:spPr>
        <p:txBody>
          <a:bodyPr>
            <a:noAutofit/>
          </a:bodyPr>
          <a:lstStyle/>
          <a:p>
            <a:pPr marL="457200" indent="-457200">
              <a:buAutoNum type="arabicPeriod"/>
            </a:pPr>
            <a:r>
              <a:rPr lang="en-US" sz="2400" dirty="0">
                <a:cs typeface="Times New Roman" panose="02020603050405020304" pitchFamily="18" charset="0"/>
              </a:rPr>
              <a:t>Tell us something about the “story” you have in mind</a:t>
            </a:r>
          </a:p>
          <a:p>
            <a:pPr marL="457200" indent="-457200">
              <a:buFont typeface="+mj-lt"/>
              <a:buAutoNum type="arabicPeriod"/>
            </a:pPr>
            <a:r>
              <a:rPr lang="en-US" sz="2400" dirty="0">
                <a:cs typeface="Times New Roman" panose="02020603050405020304" pitchFamily="18" charset="0"/>
              </a:rPr>
              <a:t>You can argue the </a:t>
            </a:r>
            <a:r>
              <a:rPr lang="en-US" sz="2400" b="1" dirty="0">
                <a:cs typeface="Times New Roman" panose="02020603050405020304" pitchFamily="18" charset="0"/>
              </a:rPr>
              <a:t>variation </a:t>
            </a:r>
            <a:r>
              <a:rPr lang="en-US" sz="2400" dirty="0">
                <a:cs typeface="Times New Roman" panose="02020603050405020304" pitchFamily="18" charset="0"/>
              </a:rPr>
              <a:t>you’re exploiting in fact exists!</a:t>
            </a:r>
          </a:p>
          <a:p>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3FAAEDD0-FAC8-1846-8524-B0AD5811B18A}"/>
              </a:ext>
            </a:extLst>
          </p:cNvPr>
          <p:cNvPicPr>
            <a:picLocks noChangeAspect="1"/>
          </p:cNvPicPr>
          <p:nvPr/>
        </p:nvPicPr>
        <p:blipFill>
          <a:blip r:embed="rId3"/>
          <a:stretch>
            <a:fillRect/>
          </a:stretch>
        </p:blipFill>
        <p:spPr>
          <a:xfrm>
            <a:off x="2057400" y="1981200"/>
            <a:ext cx="7058680" cy="4732036"/>
          </a:xfrm>
          <a:prstGeom prst="rect">
            <a:avLst/>
          </a:prstGeom>
        </p:spPr>
      </p:pic>
    </p:spTree>
    <p:extLst>
      <p:ext uri="{BB962C8B-B14F-4D97-AF65-F5344CB8AC3E}">
        <p14:creationId xmlns:p14="http://schemas.microsoft.com/office/powerpoint/2010/main" val="12623528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E0555-CE11-BA1A-A376-9B57CF0CD3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5653F0-4C5D-06A4-939A-82EFE09EB06A}"/>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Descriptive Statistics are Your Friend!</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12DE7FC-44F5-2463-FF62-A64E9CDB1C15}"/>
              </a:ext>
            </a:extLst>
          </p:cNvPr>
          <p:cNvSpPr>
            <a:spLocks noGrp="1"/>
          </p:cNvSpPr>
          <p:nvPr>
            <p:ph idx="1"/>
          </p:nvPr>
        </p:nvSpPr>
        <p:spPr>
          <a:xfrm>
            <a:off x="1219199" y="1066801"/>
            <a:ext cx="9829801" cy="5141388"/>
          </a:xfrm>
        </p:spPr>
        <p:txBody>
          <a:bodyPr>
            <a:noAutofit/>
          </a:bodyPr>
          <a:lstStyle/>
          <a:p>
            <a:pPr marL="457200" indent="-457200">
              <a:buAutoNum type="arabicPeriod"/>
            </a:pPr>
            <a:r>
              <a:rPr lang="en-US" sz="2400" dirty="0">
                <a:cs typeface="Times New Roman" panose="02020603050405020304" pitchFamily="18" charset="0"/>
              </a:rPr>
              <a:t>Tell us something about the “story” you have in mind</a:t>
            </a:r>
          </a:p>
          <a:p>
            <a:pPr marL="457200" indent="-457200">
              <a:buFont typeface="+mj-lt"/>
              <a:buAutoNum type="arabicPeriod"/>
            </a:pPr>
            <a:r>
              <a:rPr lang="en-US" sz="2400" dirty="0">
                <a:cs typeface="Times New Roman" panose="02020603050405020304" pitchFamily="18" charset="0"/>
              </a:rPr>
              <a:t>You can argue the </a:t>
            </a:r>
            <a:r>
              <a:rPr lang="en-US" sz="2400" b="1" dirty="0">
                <a:cs typeface="Times New Roman" panose="02020603050405020304" pitchFamily="18" charset="0"/>
              </a:rPr>
              <a:t>variation </a:t>
            </a:r>
            <a:r>
              <a:rPr lang="en-US" sz="2400" dirty="0">
                <a:cs typeface="Times New Roman" panose="02020603050405020304" pitchFamily="18" charset="0"/>
              </a:rPr>
              <a:t>you’re exploiting in fact exists!</a:t>
            </a:r>
          </a:p>
          <a:p>
            <a:pPr marL="457200" indent="-457200">
              <a:buFont typeface="+mj-lt"/>
              <a:buAutoNum type="arabicPeriod"/>
            </a:pPr>
            <a:r>
              <a:rPr lang="en-US" sz="2400" dirty="0">
                <a:cs typeface="Times New Roman" panose="02020603050405020304" pitchFamily="18" charset="0"/>
              </a:rPr>
              <a:t>Informs and motivates your model </a:t>
            </a:r>
            <a:r>
              <a:rPr lang="en-US" sz="2400" b="1" dirty="0">
                <a:cs typeface="Times New Roman" panose="02020603050405020304" pitchFamily="18" charset="0"/>
              </a:rPr>
              <a:t>and robustness checks</a:t>
            </a:r>
          </a:p>
          <a:p>
            <a:endParaRPr lang="en-US" sz="2400" dirty="0">
              <a:cs typeface="Times New Roman" panose="02020603050405020304" pitchFamily="18" charset="0"/>
            </a:endParaRPr>
          </a:p>
        </p:txBody>
      </p:sp>
    </p:spTree>
    <p:extLst>
      <p:ext uri="{BB962C8B-B14F-4D97-AF65-F5344CB8AC3E}">
        <p14:creationId xmlns:p14="http://schemas.microsoft.com/office/powerpoint/2010/main" val="29576979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4C288-5568-0AD9-FD15-14E881F21D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C635AB-5903-CF22-E4D2-7DC997CC3F71}"/>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Descriptive Statistics are Your Friend!</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AAE3DD6-F8C6-A767-76F1-087C8B9BA0DB}"/>
              </a:ext>
            </a:extLst>
          </p:cNvPr>
          <p:cNvSpPr>
            <a:spLocks noGrp="1"/>
          </p:cNvSpPr>
          <p:nvPr>
            <p:ph idx="1"/>
          </p:nvPr>
        </p:nvSpPr>
        <p:spPr>
          <a:xfrm>
            <a:off x="1219199" y="1066801"/>
            <a:ext cx="9829801" cy="5141388"/>
          </a:xfrm>
        </p:spPr>
        <p:txBody>
          <a:bodyPr>
            <a:noAutofit/>
          </a:bodyPr>
          <a:lstStyle/>
          <a:p>
            <a:pPr marL="457200" indent="-457200">
              <a:buAutoNum type="arabicPeriod"/>
            </a:pPr>
            <a:r>
              <a:rPr lang="en-US" sz="2400" dirty="0">
                <a:cs typeface="Times New Roman" panose="02020603050405020304" pitchFamily="18" charset="0"/>
              </a:rPr>
              <a:t>Tell us something about the “story” you have in mind</a:t>
            </a:r>
          </a:p>
          <a:p>
            <a:pPr marL="457200" indent="-457200">
              <a:buFont typeface="+mj-lt"/>
              <a:buAutoNum type="arabicPeriod"/>
            </a:pPr>
            <a:r>
              <a:rPr lang="en-US" sz="2400" dirty="0">
                <a:cs typeface="Times New Roman" panose="02020603050405020304" pitchFamily="18" charset="0"/>
              </a:rPr>
              <a:t>You can argue the </a:t>
            </a:r>
            <a:r>
              <a:rPr lang="en-US" sz="2400" b="1" dirty="0">
                <a:cs typeface="Times New Roman" panose="02020603050405020304" pitchFamily="18" charset="0"/>
              </a:rPr>
              <a:t>variation </a:t>
            </a:r>
            <a:r>
              <a:rPr lang="en-US" sz="2400" dirty="0">
                <a:cs typeface="Times New Roman" panose="02020603050405020304" pitchFamily="18" charset="0"/>
              </a:rPr>
              <a:t>you’re exploiting in fact exists!</a:t>
            </a:r>
          </a:p>
          <a:p>
            <a:pPr marL="457200" indent="-457200">
              <a:buFont typeface="+mj-lt"/>
              <a:buAutoNum type="arabicPeriod"/>
            </a:pPr>
            <a:r>
              <a:rPr lang="en-US" sz="2400" dirty="0">
                <a:cs typeface="Times New Roman" panose="02020603050405020304" pitchFamily="18" charset="0"/>
              </a:rPr>
              <a:t>Informs and motivates your model </a:t>
            </a:r>
            <a:r>
              <a:rPr lang="en-US" sz="2400" b="1" dirty="0">
                <a:cs typeface="Times New Roman" panose="02020603050405020304" pitchFamily="18" charset="0"/>
              </a:rPr>
              <a:t>and robustness checks</a:t>
            </a:r>
          </a:p>
          <a:p>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CF755D5D-B81B-65D8-060C-7EBC7EEB896F}"/>
              </a:ext>
            </a:extLst>
          </p:cNvPr>
          <p:cNvPicPr>
            <a:picLocks noChangeAspect="1"/>
          </p:cNvPicPr>
          <p:nvPr/>
        </p:nvPicPr>
        <p:blipFill>
          <a:blip r:embed="rId3"/>
          <a:stretch>
            <a:fillRect/>
          </a:stretch>
        </p:blipFill>
        <p:spPr>
          <a:xfrm>
            <a:off x="5255846" y="2743200"/>
            <a:ext cx="4936475" cy="4029541"/>
          </a:xfrm>
          <a:prstGeom prst="rect">
            <a:avLst/>
          </a:prstGeom>
        </p:spPr>
      </p:pic>
    </p:spTree>
    <p:extLst>
      <p:ext uri="{BB962C8B-B14F-4D97-AF65-F5344CB8AC3E}">
        <p14:creationId xmlns:p14="http://schemas.microsoft.com/office/powerpoint/2010/main" val="10462740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Descriptive Statistics are Your Friend!</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pPr marL="0" indent="0">
              <a:buNone/>
            </a:pPr>
            <a:r>
              <a:rPr lang="en-US" sz="2400" dirty="0">
                <a:cs typeface="Times New Roman" panose="02020603050405020304" pitchFamily="18" charset="0"/>
              </a:rPr>
              <a:t>1. Tell us something about the “story” you have in mind</a:t>
            </a:r>
          </a:p>
          <a:p>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2BD937EB-396E-EA62-7AB0-D0E7EFC1114E}"/>
              </a:ext>
            </a:extLst>
          </p:cNvPr>
          <p:cNvPicPr>
            <a:picLocks noChangeAspect="1"/>
          </p:cNvPicPr>
          <p:nvPr/>
        </p:nvPicPr>
        <p:blipFill>
          <a:blip r:embed="rId3"/>
          <a:stretch>
            <a:fillRect/>
          </a:stretch>
        </p:blipFill>
        <p:spPr>
          <a:xfrm>
            <a:off x="2286000" y="1752600"/>
            <a:ext cx="6773220" cy="4858428"/>
          </a:xfrm>
          <a:prstGeom prst="rect">
            <a:avLst/>
          </a:prstGeom>
        </p:spPr>
      </p:pic>
    </p:spTree>
    <p:extLst>
      <p:ext uri="{BB962C8B-B14F-4D97-AF65-F5344CB8AC3E}">
        <p14:creationId xmlns:p14="http://schemas.microsoft.com/office/powerpoint/2010/main" val="14966320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Descriptive Statistics are Your Friend!</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pPr marL="457200" indent="-457200">
              <a:buAutoNum type="arabicPeriod"/>
            </a:pPr>
            <a:r>
              <a:rPr lang="en-US" sz="2400" dirty="0">
                <a:cs typeface="Times New Roman" panose="02020603050405020304" pitchFamily="18" charset="0"/>
              </a:rPr>
              <a:t>Tell us something about the “story” you have in mind</a:t>
            </a:r>
          </a:p>
          <a:p>
            <a:pPr marL="457200" indent="-457200">
              <a:buFont typeface="+mj-lt"/>
              <a:buAutoNum type="arabicPeriod"/>
            </a:pPr>
            <a:r>
              <a:rPr lang="en-US" sz="2400" dirty="0">
                <a:cs typeface="Times New Roman" panose="02020603050405020304" pitchFamily="18" charset="0"/>
              </a:rPr>
              <a:t>You can argue the </a:t>
            </a:r>
            <a:r>
              <a:rPr lang="en-US" sz="2400" b="1" dirty="0">
                <a:cs typeface="Times New Roman" panose="02020603050405020304" pitchFamily="18" charset="0"/>
              </a:rPr>
              <a:t>variation </a:t>
            </a:r>
            <a:r>
              <a:rPr lang="en-US" sz="2400" dirty="0">
                <a:cs typeface="Times New Roman" panose="02020603050405020304" pitchFamily="18" charset="0"/>
              </a:rPr>
              <a:t>you’re exploiting in fact exists!</a:t>
            </a:r>
          </a:p>
          <a:p>
            <a:endParaRPr lang="en-US" sz="2400" dirty="0">
              <a:cs typeface="Times New Roman" panose="02020603050405020304" pitchFamily="18" charset="0"/>
            </a:endParaRPr>
          </a:p>
        </p:txBody>
      </p:sp>
      <p:pic>
        <p:nvPicPr>
          <p:cNvPr id="6" name="Picture 5">
            <a:extLst>
              <a:ext uri="{FF2B5EF4-FFF2-40B4-BE49-F238E27FC236}">
                <a16:creationId xmlns:a16="http://schemas.microsoft.com/office/drawing/2014/main" id="{EC574BAF-4514-43C9-FC5A-81AA12CB20D7}"/>
              </a:ext>
            </a:extLst>
          </p:cNvPr>
          <p:cNvPicPr>
            <a:picLocks noChangeAspect="1"/>
          </p:cNvPicPr>
          <p:nvPr/>
        </p:nvPicPr>
        <p:blipFill>
          <a:blip r:embed="rId3"/>
          <a:stretch>
            <a:fillRect/>
          </a:stretch>
        </p:blipFill>
        <p:spPr>
          <a:xfrm>
            <a:off x="2743200" y="2043478"/>
            <a:ext cx="6554115" cy="4801270"/>
          </a:xfrm>
          <a:prstGeom prst="rect">
            <a:avLst/>
          </a:prstGeom>
        </p:spPr>
      </p:pic>
    </p:spTree>
    <p:extLst>
      <p:ext uri="{BB962C8B-B14F-4D97-AF65-F5344CB8AC3E}">
        <p14:creationId xmlns:p14="http://schemas.microsoft.com/office/powerpoint/2010/main" val="40982468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Descriptive Statistics are Your Friend!</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pPr marL="457200" indent="-457200">
              <a:buAutoNum type="arabicPeriod"/>
            </a:pPr>
            <a:r>
              <a:rPr lang="en-US" sz="2400" dirty="0">
                <a:cs typeface="Times New Roman" panose="02020603050405020304" pitchFamily="18" charset="0"/>
              </a:rPr>
              <a:t>Tell us something about the “story” you have in mind</a:t>
            </a:r>
          </a:p>
          <a:p>
            <a:pPr marL="457200" indent="-457200">
              <a:buFont typeface="+mj-lt"/>
              <a:buAutoNum type="arabicPeriod"/>
            </a:pPr>
            <a:r>
              <a:rPr lang="en-US" sz="2400" dirty="0">
                <a:cs typeface="Times New Roman" panose="02020603050405020304" pitchFamily="18" charset="0"/>
              </a:rPr>
              <a:t>You can argue the </a:t>
            </a:r>
            <a:r>
              <a:rPr lang="en-US" sz="2400" b="1" dirty="0">
                <a:cs typeface="Times New Roman" panose="02020603050405020304" pitchFamily="18" charset="0"/>
              </a:rPr>
              <a:t>variation </a:t>
            </a:r>
            <a:r>
              <a:rPr lang="en-US" sz="2400" dirty="0">
                <a:cs typeface="Times New Roman" panose="02020603050405020304" pitchFamily="18" charset="0"/>
              </a:rPr>
              <a:t>you’re exploiting in fact exists!</a:t>
            </a:r>
          </a:p>
          <a:p>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77292117-683E-0AFD-169D-B7BD021A0C18}"/>
              </a:ext>
            </a:extLst>
          </p:cNvPr>
          <p:cNvPicPr>
            <a:picLocks noChangeAspect="1"/>
          </p:cNvPicPr>
          <p:nvPr/>
        </p:nvPicPr>
        <p:blipFill>
          <a:blip r:embed="rId3"/>
          <a:stretch>
            <a:fillRect/>
          </a:stretch>
        </p:blipFill>
        <p:spPr>
          <a:xfrm>
            <a:off x="1828800" y="2028140"/>
            <a:ext cx="7344800" cy="4906060"/>
          </a:xfrm>
          <a:prstGeom prst="rect">
            <a:avLst/>
          </a:prstGeom>
        </p:spPr>
      </p:pic>
    </p:spTree>
    <p:extLst>
      <p:ext uri="{BB962C8B-B14F-4D97-AF65-F5344CB8AC3E}">
        <p14:creationId xmlns:p14="http://schemas.microsoft.com/office/powerpoint/2010/main" val="40068879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Descriptive Statistics are Your Friend!</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829801" cy="5141388"/>
          </a:xfrm>
        </p:spPr>
        <p:txBody>
          <a:bodyPr>
            <a:noAutofit/>
          </a:bodyPr>
          <a:lstStyle/>
          <a:p>
            <a:pPr marL="457200" indent="-457200">
              <a:buAutoNum type="arabicPeriod"/>
            </a:pPr>
            <a:r>
              <a:rPr lang="en-US" sz="2400" dirty="0">
                <a:cs typeface="Times New Roman" panose="02020603050405020304" pitchFamily="18" charset="0"/>
              </a:rPr>
              <a:t>Tell us something about the “story” you have in mind</a:t>
            </a:r>
          </a:p>
          <a:p>
            <a:pPr marL="457200" indent="-457200">
              <a:buFont typeface="+mj-lt"/>
              <a:buAutoNum type="arabicPeriod"/>
            </a:pPr>
            <a:r>
              <a:rPr lang="en-US" sz="2400" dirty="0">
                <a:cs typeface="Times New Roman" panose="02020603050405020304" pitchFamily="18" charset="0"/>
              </a:rPr>
              <a:t>You can argue the </a:t>
            </a:r>
            <a:r>
              <a:rPr lang="en-US" sz="2400" b="1" dirty="0">
                <a:cs typeface="Times New Roman" panose="02020603050405020304" pitchFamily="18" charset="0"/>
              </a:rPr>
              <a:t>variation </a:t>
            </a:r>
            <a:r>
              <a:rPr lang="en-US" sz="2400" dirty="0">
                <a:cs typeface="Times New Roman" panose="02020603050405020304" pitchFamily="18" charset="0"/>
              </a:rPr>
              <a:t>you’re exploiting in fact exists!</a:t>
            </a:r>
          </a:p>
          <a:p>
            <a:pPr marL="457200" indent="-457200">
              <a:buFont typeface="+mj-lt"/>
              <a:buAutoNum type="arabicPeriod"/>
            </a:pPr>
            <a:r>
              <a:rPr lang="en-US" sz="2400" dirty="0">
                <a:cs typeface="Times New Roman" panose="02020603050405020304" pitchFamily="18" charset="0"/>
              </a:rPr>
              <a:t>Informs and motivates your model </a:t>
            </a:r>
          </a:p>
          <a:p>
            <a:endParaRPr lang="en-US" sz="2400" dirty="0">
              <a:cs typeface="Times New Roman" panose="02020603050405020304" pitchFamily="18" charset="0"/>
            </a:endParaRPr>
          </a:p>
        </p:txBody>
      </p:sp>
      <p:pic>
        <p:nvPicPr>
          <p:cNvPr id="6" name="Picture 5">
            <a:extLst>
              <a:ext uri="{FF2B5EF4-FFF2-40B4-BE49-F238E27FC236}">
                <a16:creationId xmlns:a16="http://schemas.microsoft.com/office/drawing/2014/main" id="{77E2D12D-DF1E-26C1-809E-5807F74225B6}"/>
              </a:ext>
            </a:extLst>
          </p:cNvPr>
          <p:cNvPicPr>
            <a:picLocks noChangeAspect="1"/>
          </p:cNvPicPr>
          <p:nvPr/>
        </p:nvPicPr>
        <p:blipFill>
          <a:blip r:embed="rId3"/>
          <a:stretch>
            <a:fillRect/>
          </a:stretch>
        </p:blipFill>
        <p:spPr>
          <a:xfrm>
            <a:off x="76200" y="2667000"/>
            <a:ext cx="5400000" cy="3956964"/>
          </a:xfrm>
          <a:prstGeom prst="rect">
            <a:avLst/>
          </a:prstGeom>
        </p:spPr>
      </p:pic>
      <p:pic>
        <p:nvPicPr>
          <p:cNvPr id="8" name="Picture 7">
            <a:extLst>
              <a:ext uri="{FF2B5EF4-FFF2-40B4-BE49-F238E27FC236}">
                <a16:creationId xmlns:a16="http://schemas.microsoft.com/office/drawing/2014/main" id="{8A1EF658-033F-0962-5FF6-4AC1C2D97D51}"/>
              </a:ext>
            </a:extLst>
          </p:cNvPr>
          <p:cNvPicPr>
            <a:picLocks noChangeAspect="1"/>
          </p:cNvPicPr>
          <p:nvPr/>
        </p:nvPicPr>
        <p:blipFill>
          <a:blip r:embed="rId4"/>
          <a:stretch>
            <a:fillRect/>
          </a:stretch>
        </p:blipFill>
        <p:spPr>
          <a:xfrm>
            <a:off x="5257800" y="2296024"/>
            <a:ext cx="5400000" cy="4327940"/>
          </a:xfrm>
          <a:prstGeom prst="rect">
            <a:avLst/>
          </a:prstGeom>
        </p:spPr>
      </p:pic>
    </p:spTree>
    <p:extLst>
      <p:ext uri="{BB962C8B-B14F-4D97-AF65-F5344CB8AC3E}">
        <p14:creationId xmlns:p14="http://schemas.microsoft.com/office/powerpoint/2010/main" val="18664754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Descriptive Statistics are Your Friend!</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829801" cy="5141388"/>
          </a:xfrm>
        </p:spPr>
        <p:txBody>
          <a:bodyPr>
            <a:noAutofit/>
          </a:bodyPr>
          <a:lstStyle/>
          <a:p>
            <a:pPr marL="457200" indent="-457200">
              <a:buAutoNum type="arabicPeriod"/>
            </a:pPr>
            <a:r>
              <a:rPr lang="en-US" sz="2400" dirty="0">
                <a:cs typeface="Times New Roman" panose="02020603050405020304" pitchFamily="18" charset="0"/>
              </a:rPr>
              <a:t>Tell us something about the “story” you have in mind</a:t>
            </a:r>
          </a:p>
          <a:p>
            <a:pPr marL="457200" indent="-457200">
              <a:buFont typeface="+mj-lt"/>
              <a:buAutoNum type="arabicPeriod"/>
            </a:pPr>
            <a:r>
              <a:rPr lang="en-US" sz="2400" dirty="0">
                <a:cs typeface="Times New Roman" panose="02020603050405020304" pitchFamily="18" charset="0"/>
              </a:rPr>
              <a:t>You can argue the </a:t>
            </a:r>
            <a:r>
              <a:rPr lang="en-US" sz="2400" b="1" dirty="0">
                <a:cs typeface="Times New Roman" panose="02020603050405020304" pitchFamily="18" charset="0"/>
              </a:rPr>
              <a:t>variation </a:t>
            </a:r>
            <a:r>
              <a:rPr lang="en-US" sz="2400" dirty="0">
                <a:cs typeface="Times New Roman" panose="02020603050405020304" pitchFamily="18" charset="0"/>
              </a:rPr>
              <a:t>you’re exploiting in fact exists!</a:t>
            </a:r>
          </a:p>
          <a:p>
            <a:pPr marL="457200" indent="-457200">
              <a:buFont typeface="+mj-lt"/>
              <a:buAutoNum type="arabicPeriod"/>
            </a:pPr>
            <a:r>
              <a:rPr lang="en-US" sz="2400" dirty="0">
                <a:cs typeface="Times New Roman" panose="02020603050405020304" pitchFamily="18" charset="0"/>
              </a:rPr>
              <a:t>Informs and motivates your model </a:t>
            </a:r>
          </a:p>
          <a:p>
            <a:pPr marL="457200" indent="-457200">
              <a:buFont typeface="+mj-lt"/>
              <a:buAutoNum type="arabicPeriod"/>
            </a:pPr>
            <a:r>
              <a:rPr lang="en-US" sz="2400" dirty="0">
                <a:cs typeface="Times New Roman" panose="02020603050405020304" pitchFamily="18" charset="0"/>
              </a:rPr>
              <a:t>Don’t forget to say something about whom your sample is representative</a:t>
            </a:r>
          </a:p>
          <a:p>
            <a:pPr lvl="1"/>
            <a:r>
              <a:rPr lang="en-US" sz="2200" dirty="0">
                <a:cs typeface="Times New Roman" panose="02020603050405020304" pitchFamily="18" charset="0"/>
              </a:rPr>
              <a:t>Medicare Part D enrollees</a:t>
            </a:r>
          </a:p>
          <a:p>
            <a:pPr lvl="1"/>
            <a:r>
              <a:rPr lang="en-US" sz="2200" dirty="0">
                <a:cs typeface="Times New Roman" panose="02020603050405020304" pitchFamily="18" charset="0"/>
              </a:rPr>
              <a:t>Subject to the donut hole</a:t>
            </a:r>
          </a:p>
          <a:p>
            <a:pPr lvl="1"/>
            <a:r>
              <a:rPr lang="en-US" sz="2200" i="1" dirty="0">
                <a:cs typeface="Times New Roman" panose="02020603050405020304" pitchFamily="18" charset="0"/>
              </a:rPr>
              <a:t>Close to the kink point </a:t>
            </a:r>
            <a:r>
              <a:rPr lang="en-US" sz="2200" dirty="0">
                <a:cs typeface="Times New Roman" panose="02020603050405020304" pitchFamily="18" charset="0"/>
              </a:rPr>
              <a:t>(since they are using a bunching strategy)</a:t>
            </a:r>
          </a:p>
          <a:p>
            <a:pPr lvl="1"/>
            <a:r>
              <a:rPr lang="en-US" sz="2200" b="1" dirty="0">
                <a:solidFill>
                  <a:schemeClr val="accent3">
                    <a:lumMod val="75000"/>
                  </a:schemeClr>
                </a:solidFill>
                <a:cs typeface="Times New Roman" panose="02020603050405020304" pitchFamily="18" charset="0"/>
              </a:rPr>
              <a:t>How does/doesn’t this generalize?</a:t>
            </a:r>
            <a:endParaRPr lang="en-US" sz="2400" dirty="0">
              <a:cs typeface="Times New Roman" panose="02020603050405020304" pitchFamily="18" charset="0"/>
            </a:endParaRPr>
          </a:p>
        </p:txBody>
      </p:sp>
    </p:spTree>
    <p:extLst>
      <p:ext uri="{BB962C8B-B14F-4D97-AF65-F5344CB8AC3E}">
        <p14:creationId xmlns:p14="http://schemas.microsoft.com/office/powerpoint/2010/main" val="37090330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9B62915-91FE-5861-2D26-2606CBBE92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BD90E6-F7AC-94A9-B2CC-F467532B2980}"/>
              </a:ext>
            </a:extLst>
          </p:cNvPr>
          <p:cNvSpPr>
            <a:spLocks noGrp="1"/>
          </p:cNvSpPr>
          <p:nvPr>
            <p:ph type="title"/>
          </p:nvPr>
        </p:nvSpPr>
        <p:spPr>
          <a:xfrm>
            <a:off x="609600" y="337392"/>
            <a:ext cx="10363200" cy="624840"/>
          </a:xfrm>
        </p:spPr>
        <p:txBody>
          <a:bodyPr>
            <a:noAutofit/>
          </a:bodyPr>
          <a:lstStyle/>
          <a:p>
            <a:r>
              <a:rPr lang="en-US" sz="3600" dirty="0">
                <a:latin typeface="Times New Roman" panose="02020603050405020304" pitchFamily="18" charset="0"/>
                <a:cs typeface="Times New Roman" panose="02020603050405020304" pitchFamily="18" charset="0"/>
              </a:rPr>
              <a:t>Univariate regressions are simple – are they too simple?</a:t>
            </a:r>
          </a:p>
        </p:txBody>
      </p:sp>
      <p:sp>
        <p:nvSpPr>
          <p:cNvPr id="3" name="Content Placeholder 2">
            <a:extLst>
              <a:ext uri="{FF2B5EF4-FFF2-40B4-BE49-F238E27FC236}">
                <a16:creationId xmlns:a16="http://schemas.microsoft.com/office/drawing/2014/main" id="{297437B0-4485-1525-A55A-3D74DA5D1458}"/>
              </a:ext>
            </a:extLst>
          </p:cNvPr>
          <p:cNvSpPr>
            <a:spLocks noGrp="1"/>
          </p:cNvSpPr>
          <p:nvPr>
            <p:ph idx="1"/>
          </p:nvPr>
        </p:nvSpPr>
        <p:spPr>
          <a:xfrm>
            <a:off x="609601" y="1066801"/>
            <a:ext cx="10363200" cy="5141388"/>
          </a:xfrm>
        </p:spPr>
        <p:txBody>
          <a:bodyPr>
            <a:normAutofit/>
          </a:bodyPr>
          <a:lstStyle/>
          <a:p>
            <a:pPr marL="0" indent="0">
              <a:lnSpc>
                <a:spcPct val="120000"/>
              </a:lnSpc>
              <a:buNone/>
            </a:pPr>
            <a:r>
              <a:rPr lang="en-CA" sz="2400" dirty="0">
                <a:solidFill>
                  <a:schemeClr val="tx1">
                    <a:lumMod val="75000"/>
                    <a:lumOff val="25000"/>
                  </a:schemeClr>
                </a:solidFill>
                <a:ea typeface="Open Sans" panose="020B0606030504020204" pitchFamily="34" charset="0"/>
                <a:cs typeface="Times New Roman" panose="02020603050405020304" pitchFamily="18" charset="0"/>
              </a:rPr>
              <a:t>Why would you use a regression with no controls? </a:t>
            </a:r>
          </a:p>
        </p:txBody>
      </p:sp>
      <p:graphicFrame>
        <p:nvGraphicFramePr>
          <p:cNvPr id="5" name="Table 4">
            <a:extLst>
              <a:ext uri="{FF2B5EF4-FFF2-40B4-BE49-F238E27FC236}">
                <a16:creationId xmlns:a16="http://schemas.microsoft.com/office/drawing/2014/main" id="{B171FF8F-09D6-2BED-5427-7DE0217E0C37}"/>
              </a:ext>
            </a:extLst>
          </p:cNvPr>
          <p:cNvGraphicFramePr>
            <a:graphicFrameLocks noGrp="1"/>
          </p:cNvGraphicFramePr>
          <p:nvPr/>
        </p:nvGraphicFramePr>
        <p:xfrm>
          <a:off x="762000" y="1600200"/>
          <a:ext cx="9982200" cy="5038855"/>
        </p:xfrm>
        <a:graphic>
          <a:graphicData uri="http://schemas.openxmlformats.org/drawingml/2006/table">
            <a:tbl>
              <a:tblPr>
                <a:tableStyleId>{5C22544A-7EE6-4342-B048-85BDC9FD1C3A}</a:tableStyleId>
              </a:tblPr>
              <a:tblGrid>
                <a:gridCol w="1996440">
                  <a:extLst>
                    <a:ext uri="{9D8B030D-6E8A-4147-A177-3AD203B41FA5}">
                      <a16:colId xmlns:a16="http://schemas.microsoft.com/office/drawing/2014/main" val="4202286778"/>
                    </a:ext>
                  </a:extLst>
                </a:gridCol>
                <a:gridCol w="1996440">
                  <a:extLst>
                    <a:ext uri="{9D8B030D-6E8A-4147-A177-3AD203B41FA5}">
                      <a16:colId xmlns:a16="http://schemas.microsoft.com/office/drawing/2014/main" val="413583280"/>
                    </a:ext>
                  </a:extLst>
                </a:gridCol>
                <a:gridCol w="1996440">
                  <a:extLst>
                    <a:ext uri="{9D8B030D-6E8A-4147-A177-3AD203B41FA5}">
                      <a16:colId xmlns:a16="http://schemas.microsoft.com/office/drawing/2014/main" val="3788297083"/>
                    </a:ext>
                  </a:extLst>
                </a:gridCol>
                <a:gridCol w="1996440">
                  <a:extLst>
                    <a:ext uri="{9D8B030D-6E8A-4147-A177-3AD203B41FA5}">
                      <a16:colId xmlns:a16="http://schemas.microsoft.com/office/drawing/2014/main" val="3364566388"/>
                    </a:ext>
                  </a:extLst>
                </a:gridCol>
                <a:gridCol w="1996440">
                  <a:extLst>
                    <a:ext uri="{9D8B030D-6E8A-4147-A177-3AD203B41FA5}">
                      <a16:colId xmlns:a16="http://schemas.microsoft.com/office/drawing/2014/main" val="398841284"/>
                    </a:ext>
                  </a:extLst>
                </a:gridCol>
              </a:tblGrid>
              <a:tr h="308934">
                <a:tc gridSpan="5">
                  <a:txBody>
                    <a:bodyPr/>
                    <a:lstStyle/>
                    <a:p>
                      <a:pPr algn="l" fontAlgn="ctr">
                        <a:buNone/>
                      </a:pPr>
                      <a:r>
                        <a:rPr lang="en-US" sz="1400" u="none" strike="noStrike" dirty="0">
                          <a:effectLst/>
                        </a:rPr>
                        <a:t>Table 1. Attendance and midterm exam performance, cross-section.</a:t>
                      </a:r>
                      <a:endParaRPr lang="en-US" sz="1400" b="0" i="0" u="none" strike="noStrike" dirty="0">
                        <a:solidFill>
                          <a:srgbClr val="1F1F1F"/>
                        </a:solidFill>
                        <a:effectLst/>
                        <a:latin typeface="Georgia" panose="02040502050405020303" pitchFamily="18" charset="0"/>
                      </a:endParaRPr>
                    </a:p>
                  </a:txBody>
                  <a:tcPr marL="6350" marR="6350" marT="635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33931039"/>
                  </a:ext>
                </a:extLst>
              </a:tr>
              <a:tr h="227388">
                <a:tc>
                  <a:txBody>
                    <a:bodyPr/>
                    <a:lstStyle/>
                    <a:p>
                      <a:pPr algn="l" fontAlgn="ctr">
                        <a:buNone/>
                      </a:pPr>
                      <a:endParaRPr lang="en-US" sz="1400" b="0" i="0" u="none" strike="noStrike" dirty="0">
                        <a:solidFill>
                          <a:srgbClr val="000000"/>
                        </a:solidFill>
                        <a:effectLst/>
                        <a:latin typeface="Georgia" panose="02040502050405020303" pitchFamily="18" charset="0"/>
                      </a:endParaRPr>
                    </a:p>
                  </a:txBody>
                  <a:tcPr marL="6350" marR="6350" marT="6350" marB="0" anchor="ctr"/>
                </a:tc>
                <a:tc gridSpan="3">
                  <a:txBody>
                    <a:bodyPr/>
                    <a:lstStyle/>
                    <a:p>
                      <a:pPr algn="l" fontAlgn="ctr">
                        <a:buNone/>
                      </a:pPr>
                      <a:r>
                        <a:rPr lang="en-US" sz="1400" u="none" strike="noStrike">
                          <a:effectLst/>
                        </a:rPr>
                        <a:t>Midterm score</a:t>
                      </a:r>
                      <a:endParaRPr lang="en-US" sz="1400" b="1" i="0" u="none" strike="noStrike">
                        <a:solidFill>
                          <a:srgbClr val="000000"/>
                        </a:solidFill>
                        <a:effectLst/>
                        <a:latin typeface="Georgia" panose="02040502050405020303" pitchFamily="18" charset="0"/>
                      </a:endParaRPr>
                    </a:p>
                  </a:txBody>
                  <a:tcPr marL="6350" marR="6350" marT="6350" marB="0" anchor="ctr"/>
                </a:tc>
                <a:tc hMerge="1">
                  <a:txBody>
                    <a:bodyPr/>
                    <a:lstStyle/>
                    <a:p>
                      <a:endParaRPr lang="en-US"/>
                    </a:p>
                  </a:txBody>
                  <a:tcPr/>
                </a:tc>
                <a:tc hMerge="1">
                  <a:txBody>
                    <a:bodyPr/>
                    <a:lstStyle/>
                    <a:p>
                      <a:endParaRPr lang="en-US"/>
                    </a:p>
                  </a:txBody>
                  <a:tcPr/>
                </a:tc>
                <a:tc>
                  <a:txBody>
                    <a:bodyPr/>
                    <a:lstStyle/>
                    <a:p>
                      <a:pPr algn="l" fontAlgn="ctr">
                        <a:buNone/>
                      </a:pPr>
                      <a:endParaRPr lang="en-US" sz="1400" b="1" i="0" u="none" strike="noStrike">
                        <a:solidFill>
                          <a:srgbClr val="000000"/>
                        </a:solidFill>
                        <a:effectLst/>
                        <a:latin typeface="Georgia" panose="02040502050405020303" pitchFamily="18" charset="0"/>
                      </a:endParaRPr>
                    </a:p>
                  </a:txBody>
                  <a:tcPr marL="6350" marR="6350" marT="6350" marB="0" anchor="ctr"/>
                </a:tc>
                <a:extLst>
                  <a:ext uri="{0D108BD9-81ED-4DB2-BD59-A6C34878D82A}">
                    <a16:rowId xmlns:a16="http://schemas.microsoft.com/office/drawing/2014/main" val="1386888384"/>
                  </a:ext>
                </a:extLst>
              </a:tr>
              <a:tr h="235229">
                <a:tc>
                  <a:txBody>
                    <a:bodyPr/>
                    <a:lstStyle/>
                    <a:p>
                      <a:pPr algn="l" fontAlgn="ctr">
                        <a:buNone/>
                      </a:pPr>
                      <a:r>
                        <a:rPr lang="en-US" sz="1400" u="none" strike="noStrike" dirty="0">
                          <a:effectLst/>
                        </a:rPr>
                        <a:t> </a:t>
                      </a:r>
                      <a:endParaRPr lang="en-US" sz="1400" b="0" i="0" u="none" strike="noStrike" dirty="0">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-1</a:t>
                      </a:r>
                      <a:endParaRPr lang="en-US" sz="1400" b="1"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-2</a:t>
                      </a:r>
                      <a:endParaRPr lang="en-US" sz="1400" b="1"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-3</a:t>
                      </a:r>
                      <a:endParaRPr lang="en-US" sz="1400" b="1"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1" i="0" u="none" strike="noStrike">
                        <a:solidFill>
                          <a:srgbClr val="000000"/>
                        </a:solidFill>
                        <a:effectLst/>
                        <a:latin typeface="Georgia" panose="02040502050405020303" pitchFamily="18" charset="0"/>
                      </a:endParaRPr>
                    </a:p>
                  </a:txBody>
                  <a:tcPr marL="6350" marR="6350" marT="6350" marB="0" anchor="ctr"/>
                </a:tc>
                <a:extLst>
                  <a:ext uri="{0D108BD9-81ED-4DB2-BD59-A6C34878D82A}">
                    <a16:rowId xmlns:a16="http://schemas.microsoft.com/office/drawing/2014/main" val="2529674682"/>
                  </a:ext>
                </a:extLst>
              </a:tr>
              <a:tr h="423413">
                <a:tc>
                  <a:txBody>
                    <a:bodyPr/>
                    <a:lstStyle/>
                    <a:p>
                      <a:pPr algn="l" fontAlgn="ctr">
                        <a:buNone/>
                      </a:pPr>
                      <a:r>
                        <a:rPr lang="en-US" sz="1400" u="none" strike="noStrike">
                          <a:effectLst/>
                        </a:rPr>
                        <a:t>Pre-midterm attendance rate</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1.271</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0.825</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0.364</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extLst>
                  <a:ext uri="{0D108BD9-81ED-4DB2-BD59-A6C34878D82A}">
                    <a16:rowId xmlns:a16="http://schemas.microsoft.com/office/drawing/2014/main" val="2525794159"/>
                  </a:ext>
                </a:extLst>
              </a:tr>
              <a:tr h="227388">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dirty="0">
                          <a:effectLst/>
                        </a:rPr>
                        <a:t>[0.300]</a:t>
                      </a:r>
                      <a:endParaRPr lang="en-US" sz="1400" b="0" i="0" u="none" strike="noStrike" dirty="0">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[0.304]</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[0.312]</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extLst>
                  <a:ext uri="{0D108BD9-81ED-4DB2-BD59-A6C34878D82A}">
                    <a16:rowId xmlns:a16="http://schemas.microsoft.com/office/drawing/2014/main" val="543982284"/>
                  </a:ext>
                </a:extLst>
              </a:tr>
              <a:tr h="227388">
                <a:tc gridSpan="5">
                  <a:txBody>
                    <a:bodyPr/>
                    <a:lstStyle/>
                    <a:p>
                      <a:pPr algn="l" fontAlgn="ctr">
                        <a:buNone/>
                      </a:pPr>
                      <a:endParaRPr lang="en-US" sz="1400" b="0" i="0" u="none" strike="noStrike" dirty="0">
                        <a:solidFill>
                          <a:srgbClr val="000000"/>
                        </a:solidFill>
                        <a:effectLst/>
                        <a:latin typeface="Georgia" panose="02040502050405020303" pitchFamily="18" charset="0"/>
                      </a:endParaRPr>
                    </a:p>
                  </a:txBody>
                  <a:tcPr marL="6350" marR="6350" marT="635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0543710"/>
                  </a:ext>
                </a:extLst>
              </a:tr>
              <a:tr h="423413">
                <a:tc>
                  <a:txBody>
                    <a:bodyPr/>
                    <a:lstStyle/>
                    <a:p>
                      <a:pPr algn="l" fontAlgn="ctr">
                        <a:buNone/>
                      </a:pPr>
                      <a:r>
                        <a:rPr lang="en-US" sz="1400" u="none" strike="noStrike">
                          <a:effectLst/>
                        </a:rPr>
                        <a:t>Global economics major</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dirty="0">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dirty="0">
                          <a:effectLst/>
                        </a:rPr>
                        <a:t>−0.39</a:t>
                      </a:r>
                      <a:endParaRPr lang="en-US" sz="1400" b="0" i="0" u="none" strike="noStrike" dirty="0">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−0.428</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extLst>
                  <a:ext uri="{0D108BD9-81ED-4DB2-BD59-A6C34878D82A}">
                    <a16:rowId xmlns:a16="http://schemas.microsoft.com/office/drawing/2014/main" val="2145993648"/>
                  </a:ext>
                </a:extLst>
              </a:tr>
              <a:tr h="227388">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[0.262]</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[0.269]</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dirty="0">
                        <a:solidFill>
                          <a:srgbClr val="000000"/>
                        </a:solidFill>
                        <a:effectLst/>
                        <a:latin typeface="Georgia" panose="02040502050405020303" pitchFamily="18" charset="0"/>
                      </a:endParaRPr>
                    </a:p>
                  </a:txBody>
                  <a:tcPr marL="6350" marR="6350" marT="6350" marB="0" anchor="ctr"/>
                </a:tc>
                <a:extLst>
                  <a:ext uri="{0D108BD9-81ED-4DB2-BD59-A6C34878D82A}">
                    <a16:rowId xmlns:a16="http://schemas.microsoft.com/office/drawing/2014/main" val="3723872439"/>
                  </a:ext>
                </a:extLst>
              </a:tr>
              <a:tr h="564550">
                <a:tc>
                  <a:txBody>
                    <a:bodyPr/>
                    <a:lstStyle/>
                    <a:p>
                      <a:pPr algn="l" fontAlgn="ctr">
                        <a:buNone/>
                      </a:pPr>
                      <a:r>
                        <a:rPr lang="en-US" sz="1400" u="none" strike="noStrike">
                          <a:effectLst/>
                        </a:rPr>
                        <a:t>Cumulative GPA, beginning of quarter</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dirty="0">
                          <a:effectLst/>
                        </a:rPr>
                        <a:t>0.576</a:t>
                      </a:r>
                      <a:endParaRPr lang="en-US" sz="1400" b="0" i="0" u="none" strike="noStrike" dirty="0">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0.447</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dirty="0">
                        <a:solidFill>
                          <a:srgbClr val="000000"/>
                        </a:solidFill>
                        <a:effectLst/>
                        <a:latin typeface="Georgia" panose="02040502050405020303" pitchFamily="18" charset="0"/>
                      </a:endParaRPr>
                    </a:p>
                  </a:txBody>
                  <a:tcPr marL="6350" marR="6350" marT="6350" marB="0" anchor="ctr"/>
                </a:tc>
                <a:extLst>
                  <a:ext uri="{0D108BD9-81ED-4DB2-BD59-A6C34878D82A}">
                    <a16:rowId xmlns:a16="http://schemas.microsoft.com/office/drawing/2014/main" val="1384005807"/>
                  </a:ext>
                </a:extLst>
              </a:tr>
              <a:tr h="227388">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[0.126]</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dirty="0">
                          <a:effectLst/>
                        </a:rPr>
                        <a:t>[0.133]</a:t>
                      </a:r>
                      <a:endParaRPr lang="en-US" sz="1400" b="0" i="0" u="none" strike="noStrike" dirty="0">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extLst>
                  <a:ext uri="{0D108BD9-81ED-4DB2-BD59-A6C34878D82A}">
                    <a16:rowId xmlns:a16="http://schemas.microsoft.com/office/drawing/2014/main" val="2721647552"/>
                  </a:ext>
                </a:extLst>
              </a:tr>
              <a:tr h="564550">
                <a:tc>
                  <a:txBody>
                    <a:bodyPr/>
                    <a:lstStyle/>
                    <a:p>
                      <a:pPr algn="l" fontAlgn="ctr">
                        <a:buNone/>
                      </a:pPr>
                      <a:r>
                        <a:rPr lang="en-US" sz="1400" u="none" strike="noStrike">
                          <a:effectLst/>
                        </a:rPr>
                        <a:t>Pre-midterm TA section attendance rate</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dirty="0">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dirty="0">
                          <a:effectLst/>
                        </a:rPr>
                        <a:t>0.374</a:t>
                      </a:r>
                      <a:endParaRPr lang="en-US" sz="1400" b="0" i="0" u="none" strike="noStrike" dirty="0">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extLst>
                  <a:ext uri="{0D108BD9-81ED-4DB2-BD59-A6C34878D82A}">
                    <a16:rowId xmlns:a16="http://schemas.microsoft.com/office/drawing/2014/main" val="70848831"/>
                  </a:ext>
                </a:extLst>
              </a:tr>
              <a:tr h="227388">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[0.161]</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extLst>
                  <a:ext uri="{0D108BD9-81ED-4DB2-BD59-A6C34878D82A}">
                    <a16:rowId xmlns:a16="http://schemas.microsoft.com/office/drawing/2014/main" val="3573703564"/>
                  </a:ext>
                </a:extLst>
              </a:tr>
              <a:tr h="227388">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dirty="0">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extLst>
                  <a:ext uri="{0D108BD9-81ED-4DB2-BD59-A6C34878D82A}">
                    <a16:rowId xmlns:a16="http://schemas.microsoft.com/office/drawing/2014/main" val="2918032262"/>
                  </a:ext>
                </a:extLst>
              </a:tr>
              <a:tr h="227388">
                <a:tc>
                  <a:txBody>
                    <a:bodyPr/>
                    <a:lstStyle/>
                    <a:p>
                      <a:pPr algn="l" fontAlgn="ctr">
                        <a:buNone/>
                      </a:pPr>
                      <a:r>
                        <a:rPr lang="en-US" sz="1400" u="none" strike="noStrike">
                          <a:effectLst/>
                        </a:rPr>
                        <a:t>Constant</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−1.01</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−2.171</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dirty="0">
                          <a:effectLst/>
                        </a:rPr>
                        <a:t>−2.149</a:t>
                      </a:r>
                      <a:endParaRPr lang="en-US" sz="1400" b="0" i="0" u="none" strike="noStrike" dirty="0">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extLst>
                  <a:ext uri="{0D108BD9-81ED-4DB2-BD59-A6C34878D82A}">
                    <a16:rowId xmlns:a16="http://schemas.microsoft.com/office/drawing/2014/main" val="1226520376"/>
                  </a:ext>
                </a:extLst>
              </a:tr>
              <a:tr h="227388">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[0.254]</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[0.441]</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dirty="0">
                          <a:effectLst/>
                        </a:rPr>
                        <a:t>[0.406]</a:t>
                      </a:r>
                      <a:endParaRPr lang="en-US" sz="1400" b="0" i="0" u="none" strike="noStrike" dirty="0">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dirty="0">
                        <a:solidFill>
                          <a:srgbClr val="000000"/>
                        </a:solidFill>
                        <a:effectLst/>
                        <a:latin typeface="Georgia" panose="02040502050405020303" pitchFamily="18" charset="0"/>
                      </a:endParaRPr>
                    </a:p>
                  </a:txBody>
                  <a:tcPr marL="6350" marR="6350" marT="6350" marB="0" anchor="ctr"/>
                </a:tc>
                <a:extLst>
                  <a:ext uri="{0D108BD9-81ED-4DB2-BD59-A6C34878D82A}">
                    <a16:rowId xmlns:a16="http://schemas.microsoft.com/office/drawing/2014/main" val="3639474043"/>
                  </a:ext>
                </a:extLst>
              </a:tr>
              <a:tr h="227388">
                <a:tc>
                  <a:txBody>
                    <a:bodyPr/>
                    <a:lstStyle/>
                    <a:p>
                      <a:pPr algn="l" fontAlgn="ctr">
                        <a:buNone/>
                      </a:pPr>
                      <a:r>
                        <a:rPr lang="en-US" sz="1400" u="none" strike="noStrike">
                          <a:effectLst/>
                        </a:rPr>
                        <a:t>Observations</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352</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337</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336</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dirty="0">
                        <a:solidFill>
                          <a:srgbClr val="000000"/>
                        </a:solidFill>
                        <a:effectLst/>
                        <a:latin typeface="Georgia" panose="02040502050405020303" pitchFamily="18" charset="0"/>
                      </a:endParaRPr>
                    </a:p>
                  </a:txBody>
                  <a:tcPr marL="6350" marR="6350" marT="6350" marB="0" anchor="ctr"/>
                </a:tc>
                <a:extLst>
                  <a:ext uri="{0D108BD9-81ED-4DB2-BD59-A6C34878D82A}">
                    <a16:rowId xmlns:a16="http://schemas.microsoft.com/office/drawing/2014/main" val="205841335"/>
                  </a:ext>
                </a:extLst>
              </a:tr>
              <a:tr h="235229">
                <a:tc>
                  <a:txBody>
                    <a:bodyPr/>
                    <a:lstStyle/>
                    <a:p>
                      <a:pPr algn="l" fontAlgn="ctr">
                        <a:buNone/>
                      </a:pPr>
                      <a:r>
                        <a:rPr lang="en-US" sz="1400" u="none" strike="noStrike">
                          <a:effectLst/>
                        </a:rPr>
                        <a:t>R-squared</a:t>
                      </a:r>
                      <a:endParaRPr lang="en-US" sz="1400" b="0" i="1"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0.06</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0.17</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0.2</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dirty="0">
                          <a:effectLst/>
                        </a:rPr>
                        <a:t> </a:t>
                      </a:r>
                      <a:endParaRPr lang="en-US" sz="1400" b="0" i="0" u="none" strike="noStrike" dirty="0">
                        <a:solidFill>
                          <a:srgbClr val="000000"/>
                        </a:solidFill>
                        <a:effectLst/>
                        <a:latin typeface="Georgia" panose="02040502050405020303" pitchFamily="18" charset="0"/>
                      </a:endParaRPr>
                    </a:p>
                  </a:txBody>
                  <a:tcPr marL="6350" marR="6350" marT="6350" marB="0" anchor="ctr"/>
                </a:tc>
                <a:extLst>
                  <a:ext uri="{0D108BD9-81ED-4DB2-BD59-A6C34878D82A}">
                    <a16:rowId xmlns:a16="http://schemas.microsoft.com/office/drawing/2014/main" val="3012043021"/>
                  </a:ext>
                </a:extLst>
              </a:tr>
            </a:tbl>
          </a:graphicData>
        </a:graphic>
      </p:graphicFrame>
      <p:sp>
        <p:nvSpPr>
          <p:cNvPr id="4" name="Rectangle 3">
            <a:extLst>
              <a:ext uri="{FF2B5EF4-FFF2-40B4-BE49-F238E27FC236}">
                <a16:creationId xmlns:a16="http://schemas.microsoft.com/office/drawing/2014/main" id="{82168E9C-5F0A-F050-4A28-6647BB3E0025}"/>
              </a:ext>
            </a:extLst>
          </p:cNvPr>
          <p:cNvSpPr/>
          <p:nvPr/>
        </p:nvSpPr>
        <p:spPr>
          <a:xfrm>
            <a:off x="533398" y="1600200"/>
            <a:ext cx="8458201" cy="1600200"/>
          </a:xfrm>
          <a:prstGeom prst="rect">
            <a:avLst/>
          </a:prstGeom>
          <a:no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52914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F246054-12F7-5BFF-E339-92F487BB2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995332-19A7-A37E-9406-2D1DA09D7C11}"/>
              </a:ext>
            </a:extLst>
          </p:cNvPr>
          <p:cNvSpPr>
            <a:spLocks noGrp="1"/>
          </p:cNvSpPr>
          <p:nvPr>
            <p:ph type="title"/>
          </p:nvPr>
        </p:nvSpPr>
        <p:spPr>
          <a:xfrm>
            <a:off x="609600" y="337392"/>
            <a:ext cx="10363200" cy="624840"/>
          </a:xfrm>
        </p:spPr>
        <p:txBody>
          <a:bodyPr>
            <a:noAutofit/>
          </a:bodyPr>
          <a:lstStyle/>
          <a:p>
            <a:r>
              <a:rPr lang="en-US" sz="3600" dirty="0">
                <a:latin typeface="Times New Roman" panose="02020603050405020304" pitchFamily="18" charset="0"/>
                <a:cs typeface="Times New Roman" panose="02020603050405020304" pitchFamily="18" charset="0"/>
              </a:rPr>
              <a:t>Univariate regressions are simple – are they too simple?</a:t>
            </a:r>
          </a:p>
        </p:txBody>
      </p:sp>
      <p:sp>
        <p:nvSpPr>
          <p:cNvPr id="3" name="Content Placeholder 2">
            <a:extLst>
              <a:ext uri="{FF2B5EF4-FFF2-40B4-BE49-F238E27FC236}">
                <a16:creationId xmlns:a16="http://schemas.microsoft.com/office/drawing/2014/main" id="{47BD5F7E-7D93-4E5F-8E31-3D4CFF721E4D}"/>
              </a:ext>
            </a:extLst>
          </p:cNvPr>
          <p:cNvSpPr>
            <a:spLocks noGrp="1"/>
          </p:cNvSpPr>
          <p:nvPr>
            <p:ph idx="1"/>
          </p:nvPr>
        </p:nvSpPr>
        <p:spPr>
          <a:xfrm>
            <a:off x="609601" y="1066801"/>
            <a:ext cx="10363200" cy="5141388"/>
          </a:xfrm>
        </p:spPr>
        <p:txBody>
          <a:bodyPr>
            <a:normAutofit/>
          </a:bodyPr>
          <a:lstStyle/>
          <a:p>
            <a:pPr marL="0" indent="0">
              <a:lnSpc>
                <a:spcPct val="120000"/>
              </a:lnSpc>
              <a:buNone/>
            </a:pPr>
            <a:r>
              <a:rPr lang="en-CA" sz="2400" dirty="0">
                <a:solidFill>
                  <a:schemeClr val="tx1">
                    <a:lumMod val="75000"/>
                    <a:lumOff val="25000"/>
                  </a:schemeClr>
                </a:solidFill>
                <a:ea typeface="Open Sans" panose="020B0606030504020204" pitchFamily="34" charset="0"/>
                <a:cs typeface="Times New Roman" panose="02020603050405020304" pitchFamily="18" charset="0"/>
              </a:rPr>
              <a:t>Why would you use a regression with no controls? </a:t>
            </a:r>
          </a:p>
        </p:txBody>
      </p:sp>
      <p:graphicFrame>
        <p:nvGraphicFramePr>
          <p:cNvPr id="5" name="Table 4">
            <a:extLst>
              <a:ext uri="{FF2B5EF4-FFF2-40B4-BE49-F238E27FC236}">
                <a16:creationId xmlns:a16="http://schemas.microsoft.com/office/drawing/2014/main" id="{2B6EFF43-DC3B-E4B3-5384-419963061BDD}"/>
              </a:ext>
            </a:extLst>
          </p:cNvPr>
          <p:cNvGraphicFramePr>
            <a:graphicFrameLocks noGrp="1"/>
          </p:cNvGraphicFramePr>
          <p:nvPr/>
        </p:nvGraphicFramePr>
        <p:xfrm>
          <a:off x="762000" y="1600200"/>
          <a:ext cx="9982200" cy="5038855"/>
        </p:xfrm>
        <a:graphic>
          <a:graphicData uri="http://schemas.openxmlformats.org/drawingml/2006/table">
            <a:tbl>
              <a:tblPr>
                <a:tableStyleId>{5C22544A-7EE6-4342-B048-85BDC9FD1C3A}</a:tableStyleId>
              </a:tblPr>
              <a:tblGrid>
                <a:gridCol w="1996440">
                  <a:extLst>
                    <a:ext uri="{9D8B030D-6E8A-4147-A177-3AD203B41FA5}">
                      <a16:colId xmlns:a16="http://schemas.microsoft.com/office/drawing/2014/main" val="4202286778"/>
                    </a:ext>
                  </a:extLst>
                </a:gridCol>
                <a:gridCol w="1996440">
                  <a:extLst>
                    <a:ext uri="{9D8B030D-6E8A-4147-A177-3AD203B41FA5}">
                      <a16:colId xmlns:a16="http://schemas.microsoft.com/office/drawing/2014/main" val="413583280"/>
                    </a:ext>
                  </a:extLst>
                </a:gridCol>
                <a:gridCol w="1996440">
                  <a:extLst>
                    <a:ext uri="{9D8B030D-6E8A-4147-A177-3AD203B41FA5}">
                      <a16:colId xmlns:a16="http://schemas.microsoft.com/office/drawing/2014/main" val="3788297083"/>
                    </a:ext>
                  </a:extLst>
                </a:gridCol>
                <a:gridCol w="1996440">
                  <a:extLst>
                    <a:ext uri="{9D8B030D-6E8A-4147-A177-3AD203B41FA5}">
                      <a16:colId xmlns:a16="http://schemas.microsoft.com/office/drawing/2014/main" val="3364566388"/>
                    </a:ext>
                  </a:extLst>
                </a:gridCol>
                <a:gridCol w="1996440">
                  <a:extLst>
                    <a:ext uri="{9D8B030D-6E8A-4147-A177-3AD203B41FA5}">
                      <a16:colId xmlns:a16="http://schemas.microsoft.com/office/drawing/2014/main" val="398841284"/>
                    </a:ext>
                  </a:extLst>
                </a:gridCol>
              </a:tblGrid>
              <a:tr h="308934">
                <a:tc gridSpan="5">
                  <a:txBody>
                    <a:bodyPr/>
                    <a:lstStyle/>
                    <a:p>
                      <a:pPr algn="l" fontAlgn="ctr">
                        <a:buNone/>
                      </a:pPr>
                      <a:r>
                        <a:rPr lang="en-US" sz="1400" u="none" strike="noStrike" dirty="0">
                          <a:effectLst/>
                        </a:rPr>
                        <a:t>Table 1. Attendance and midterm exam performance, cross-section.</a:t>
                      </a:r>
                      <a:endParaRPr lang="en-US" sz="1400" b="0" i="0" u="none" strike="noStrike" dirty="0">
                        <a:solidFill>
                          <a:srgbClr val="1F1F1F"/>
                        </a:solidFill>
                        <a:effectLst/>
                        <a:latin typeface="Georgia" panose="02040502050405020303" pitchFamily="18" charset="0"/>
                      </a:endParaRPr>
                    </a:p>
                  </a:txBody>
                  <a:tcPr marL="6350" marR="6350" marT="635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33931039"/>
                  </a:ext>
                </a:extLst>
              </a:tr>
              <a:tr h="227388">
                <a:tc>
                  <a:txBody>
                    <a:bodyPr/>
                    <a:lstStyle/>
                    <a:p>
                      <a:pPr algn="l" fontAlgn="ctr">
                        <a:buNone/>
                      </a:pPr>
                      <a:endParaRPr lang="en-US" sz="1400" b="0" i="0" u="none" strike="noStrike" dirty="0">
                        <a:solidFill>
                          <a:srgbClr val="000000"/>
                        </a:solidFill>
                        <a:effectLst/>
                        <a:latin typeface="Georgia" panose="02040502050405020303" pitchFamily="18" charset="0"/>
                      </a:endParaRPr>
                    </a:p>
                  </a:txBody>
                  <a:tcPr marL="6350" marR="6350" marT="6350" marB="0" anchor="ctr"/>
                </a:tc>
                <a:tc gridSpan="3">
                  <a:txBody>
                    <a:bodyPr/>
                    <a:lstStyle/>
                    <a:p>
                      <a:pPr algn="l" fontAlgn="ctr">
                        <a:buNone/>
                      </a:pPr>
                      <a:r>
                        <a:rPr lang="en-US" sz="1400" u="none" strike="noStrike">
                          <a:effectLst/>
                        </a:rPr>
                        <a:t>Midterm score</a:t>
                      </a:r>
                      <a:endParaRPr lang="en-US" sz="1400" b="1" i="0" u="none" strike="noStrike">
                        <a:solidFill>
                          <a:srgbClr val="000000"/>
                        </a:solidFill>
                        <a:effectLst/>
                        <a:latin typeface="Georgia" panose="02040502050405020303" pitchFamily="18" charset="0"/>
                      </a:endParaRPr>
                    </a:p>
                  </a:txBody>
                  <a:tcPr marL="6350" marR="6350" marT="6350" marB="0" anchor="ctr"/>
                </a:tc>
                <a:tc hMerge="1">
                  <a:txBody>
                    <a:bodyPr/>
                    <a:lstStyle/>
                    <a:p>
                      <a:endParaRPr lang="en-US"/>
                    </a:p>
                  </a:txBody>
                  <a:tcPr/>
                </a:tc>
                <a:tc hMerge="1">
                  <a:txBody>
                    <a:bodyPr/>
                    <a:lstStyle/>
                    <a:p>
                      <a:endParaRPr lang="en-US"/>
                    </a:p>
                  </a:txBody>
                  <a:tcPr/>
                </a:tc>
                <a:tc>
                  <a:txBody>
                    <a:bodyPr/>
                    <a:lstStyle/>
                    <a:p>
                      <a:pPr algn="l" fontAlgn="ctr">
                        <a:buNone/>
                      </a:pPr>
                      <a:endParaRPr lang="en-US" sz="1400" b="1" i="0" u="none" strike="noStrike">
                        <a:solidFill>
                          <a:srgbClr val="000000"/>
                        </a:solidFill>
                        <a:effectLst/>
                        <a:latin typeface="Georgia" panose="02040502050405020303" pitchFamily="18" charset="0"/>
                      </a:endParaRPr>
                    </a:p>
                  </a:txBody>
                  <a:tcPr marL="6350" marR="6350" marT="6350" marB="0" anchor="ctr"/>
                </a:tc>
                <a:extLst>
                  <a:ext uri="{0D108BD9-81ED-4DB2-BD59-A6C34878D82A}">
                    <a16:rowId xmlns:a16="http://schemas.microsoft.com/office/drawing/2014/main" val="1386888384"/>
                  </a:ext>
                </a:extLst>
              </a:tr>
              <a:tr h="235229">
                <a:tc>
                  <a:txBody>
                    <a:bodyPr/>
                    <a:lstStyle/>
                    <a:p>
                      <a:pPr algn="l" fontAlgn="ctr">
                        <a:buNone/>
                      </a:pPr>
                      <a:r>
                        <a:rPr lang="en-US" sz="1400" u="none" strike="noStrike" dirty="0">
                          <a:effectLst/>
                        </a:rPr>
                        <a:t> </a:t>
                      </a:r>
                      <a:endParaRPr lang="en-US" sz="1400" b="0" i="0" u="none" strike="noStrike" dirty="0">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-1</a:t>
                      </a:r>
                      <a:endParaRPr lang="en-US" sz="1400" b="1"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-2</a:t>
                      </a:r>
                      <a:endParaRPr lang="en-US" sz="1400" b="1"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-3</a:t>
                      </a:r>
                      <a:endParaRPr lang="en-US" sz="1400" b="1"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1" i="0" u="none" strike="noStrike">
                        <a:solidFill>
                          <a:srgbClr val="000000"/>
                        </a:solidFill>
                        <a:effectLst/>
                        <a:latin typeface="Georgia" panose="02040502050405020303" pitchFamily="18" charset="0"/>
                      </a:endParaRPr>
                    </a:p>
                  </a:txBody>
                  <a:tcPr marL="6350" marR="6350" marT="6350" marB="0" anchor="ctr"/>
                </a:tc>
                <a:extLst>
                  <a:ext uri="{0D108BD9-81ED-4DB2-BD59-A6C34878D82A}">
                    <a16:rowId xmlns:a16="http://schemas.microsoft.com/office/drawing/2014/main" val="2529674682"/>
                  </a:ext>
                </a:extLst>
              </a:tr>
              <a:tr h="423413">
                <a:tc>
                  <a:txBody>
                    <a:bodyPr/>
                    <a:lstStyle/>
                    <a:p>
                      <a:pPr algn="l" fontAlgn="ctr">
                        <a:buNone/>
                      </a:pPr>
                      <a:r>
                        <a:rPr lang="en-US" sz="1400" u="none" strike="noStrike">
                          <a:effectLst/>
                        </a:rPr>
                        <a:t>Pre-midterm attendance rate</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1.271</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0.825</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0.364</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extLst>
                  <a:ext uri="{0D108BD9-81ED-4DB2-BD59-A6C34878D82A}">
                    <a16:rowId xmlns:a16="http://schemas.microsoft.com/office/drawing/2014/main" val="2525794159"/>
                  </a:ext>
                </a:extLst>
              </a:tr>
              <a:tr h="227388">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dirty="0">
                          <a:effectLst/>
                        </a:rPr>
                        <a:t>[0.300]</a:t>
                      </a:r>
                      <a:endParaRPr lang="en-US" sz="1400" b="0" i="0" u="none" strike="noStrike" dirty="0">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[0.304]</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[0.312]</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extLst>
                  <a:ext uri="{0D108BD9-81ED-4DB2-BD59-A6C34878D82A}">
                    <a16:rowId xmlns:a16="http://schemas.microsoft.com/office/drawing/2014/main" val="543982284"/>
                  </a:ext>
                </a:extLst>
              </a:tr>
              <a:tr h="227388">
                <a:tc gridSpan="5">
                  <a:txBody>
                    <a:bodyPr/>
                    <a:lstStyle/>
                    <a:p>
                      <a:pPr algn="l" fontAlgn="ctr">
                        <a:buNone/>
                      </a:pPr>
                      <a:endParaRPr lang="en-US" sz="1400" b="0" i="0" u="none" strike="noStrike" dirty="0">
                        <a:solidFill>
                          <a:srgbClr val="000000"/>
                        </a:solidFill>
                        <a:effectLst/>
                        <a:latin typeface="Georgia" panose="02040502050405020303" pitchFamily="18" charset="0"/>
                      </a:endParaRPr>
                    </a:p>
                  </a:txBody>
                  <a:tcPr marL="6350" marR="6350" marT="635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0543710"/>
                  </a:ext>
                </a:extLst>
              </a:tr>
              <a:tr h="423413">
                <a:tc>
                  <a:txBody>
                    <a:bodyPr/>
                    <a:lstStyle/>
                    <a:p>
                      <a:pPr algn="l" fontAlgn="ctr">
                        <a:buNone/>
                      </a:pPr>
                      <a:r>
                        <a:rPr lang="en-US" sz="1400" u="none" strike="noStrike">
                          <a:effectLst/>
                        </a:rPr>
                        <a:t>Global economics major</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dirty="0">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dirty="0">
                          <a:effectLst/>
                        </a:rPr>
                        <a:t>−0.39</a:t>
                      </a:r>
                      <a:endParaRPr lang="en-US" sz="1400" b="0" i="0" u="none" strike="noStrike" dirty="0">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−0.428</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extLst>
                  <a:ext uri="{0D108BD9-81ED-4DB2-BD59-A6C34878D82A}">
                    <a16:rowId xmlns:a16="http://schemas.microsoft.com/office/drawing/2014/main" val="2145993648"/>
                  </a:ext>
                </a:extLst>
              </a:tr>
              <a:tr h="227388">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[0.262]</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[0.269]</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dirty="0">
                        <a:solidFill>
                          <a:srgbClr val="000000"/>
                        </a:solidFill>
                        <a:effectLst/>
                        <a:latin typeface="Georgia" panose="02040502050405020303" pitchFamily="18" charset="0"/>
                      </a:endParaRPr>
                    </a:p>
                  </a:txBody>
                  <a:tcPr marL="6350" marR="6350" marT="6350" marB="0" anchor="ctr"/>
                </a:tc>
                <a:extLst>
                  <a:ext uri="{0D108BD9-81ED-4DB2-BD59-A6C34878D82A}">
                    <a16:rowId xmlns:a16="http://schemas.microsoft.com/office/drawing/2014/main" val="3723872439"/>
                  </a:ext>
                </a:extLst>
              </a:tr>
              <a:tr h="564550">
                <a:tc>
                  <a:txBody>
                    <a:bodyPr/>
                    <a:lstStyle/>
                    <a:p>
                      <a:pPr algn="l" fontAlgn="ctr">
                        <a:buNone/>
                      </a:pPr>
                      <a:r>
                        <a:rPr lang="en-US" sz="1400" u="none" strike="noStrike">
                          <a:effectLst/>
                        </a:rPr>
                        <a:t>Cumulative GPA, beginning of quarter</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dirty="0">
                          <a:effectLst/>
                        </a:rPr>
                        <a:t>0.576</a:t>
                      </a:r>
                      <a:endParaRPr lang="en-US" sz="1400" b="0" i="0" u="none" strike="noStrike" dirty="0">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0.447</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dirty="0">
                        <a:solidFill>
                          <a:srgbClr val="000000"/>
                        </a:solidFill>
                        <a:effectLst/>
                        <a:latin typeface="Georgia" panose="02040502050405020303" pitchFamily="18" charset="0"/>
                      </a:endParaRPr>
                    </a:p>
                  </a:txBody>
                  <a:tcPr marL="6350" marR="6350" marT="6350" marB="0" anchor="ctr"/>
                </a:tc>
                <a:extLst>
                  <a:ext uri="{0D108BD9-81ED-4DB2-BD59-A6C34878D82A}">
                    <a16:rowId xmlns:a16="http://schemas.microsoft.com/office/drawing/2014/main" val="1384005807"/>
                  </a:ext>
                </a:extLst>
              </a:tr>
              <a:tr h="227388">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[0.126]</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dirty="0">
                          <a:effectLst/>
                        </a:rPr>
                        <a:t>[0.133]</a:t>
                      </a:r>
                      <a:endParaRPr lang="en-US" sz="1400" b="0" i="0" u="none" strike="noStrike" dirty="0">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extLst>
                  <a:ext uri="{0D108BD9-81ED-4DB2-BD59-A6C34878D82A}">
                    <a16:rowId xmlns:a16="http://schemas.microsoft.com/office/drawing/2014/main" val="2721647552"/>
                  </a:ext>
                </a:extLst>
              </a:tr>
              <a:tr h="564550">
                <a:tc>
                  <a:txBody>
                    <a:bodyPr/>
                    <a:lstStyle/>
                    <a:p>
                      <a:pPr algn="l" fontAlgn="ctr">
                        <a:buNone/>
                      </a:pPr>
                      <a:r>
                        <a:rPr lang="en-US" sz="1400" u="none" strike="noStrike">
                          <a:effectLst/>
                        </a:rPr>
                        <a:t>Pre-midterm TA section attendance rate</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dirty="0">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dirty="0">
                          <a:effectLst/>
                        </a:rPr>
                        <a:t>0.374</a:t>
                      </a:r>
                      <a:endParaRPr lang="en-US" sz="1400" b="0" i="0" u="none" strike="noStrike" dirty="0">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extLst>
                  <a:ext uri="{0D108BD9-81ED-4DB2-BD59-A6C34878D82A}">
                    <a16:rowId xmlns:a16="http://schemas.microsoft.com/office/drawing/2014/main" val="70848831"/>
                  </a:ext>
                </a:extLst>
              </a:tr>
              <a:tr h="227388">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[0.161]</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extLst>
                  <a:ext uri="{0D108BD9-81ED-4DB2-BD59-A6C34878D82A}">
                    <a16:rowId xmlns:a16="http://schemas.microsoft.com/office/drawing/2014/main" val="3573703564"/>
                  </a:ext>
                </a:extLst>
              </a:tr>
              <a:tr h="227388">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dirty="0">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extLst>
                  <a:ext uri="{0D108BD9-81ED-4DB2-BD59-A6C34878D82A}">
                    <a16:rowId xmlns:a16="http://schemas.microsoft.com/office/drawing/2014/main" val="2918032262"/>
                  </a:ext>
                </a:extLst>
              </a:tr>
              <a:tr h="227388">
                <a:tc>
                  <a:txBody>
                    <a:bodyPr/>
                    <a:lstStyle/>
                    <a:p>
                      <a:pPr algn="l" fontAlgn="ctr">
                        <a:buNone/>
                      </a:pPr>
                      <a:r>
                        <a:rPr lang="en-US" sz="1400" u="none" strike="noStrike">
                          <a:effectLst/>
                        </a:rPr>
                        <a:t>Constant</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−1.01</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−2.171</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dirty="0">
                          <a:effectLst/>
                        </a:rPr>
                        <a:t>−2.149</a:t>
                      </a:r>
                      <a:endParaRPr lang="en-US" sz="1400" b="0" i="0" u="none" strike="noStrike" dirty="0">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extLst>
                  <a:ext uri="{0D108BD9-81ED-4DB2-BD59-A6C34878D82A}">
                    <a16:rowId xmlns:a16="http://schemas.microsoft.com/office/drawing/2014/main" val="1226520376"/>
                  </a:ext>
                </a:extLst>
              </a:tr>
              <a:tr h="227388">
                <a:tc>
                  <a:txBody>
                    <a:bodyPr/>
                    <a:lstStyle/>
                    <a:p>
                      <a:pPr algn="l" fontAlgn="ctr">
                        <a:buNone/>
                      </a:pP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[0.254]</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[0.441]</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dirty="0">
                          <a:effectLst/>
                        </a:rPr>
                        <a:t>[0.406]</a:t>
                      </a:r>
                      <a:endParaRPr lang="en-US" sz="1400" b="0" i="0" u="none" strike="noStrike" dirty="0">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dirty="0">
                        <a:solidFill>
                          <a:srgbClr val="000000"/>
                        </a:solidFill>
                        <a:effectLst/>
                        <a:latin typeface="Georgia" panose="02040502050405020303" pitchFamily="18" charset="0"/>
                      </a:endParaRPr>
                    </a:p>
                  </a:txBody>
                  <a:tcPr marL="6350" marR="6350" marT="6350" marB="0" anchor="ctr"/>
                </a:tc>
                <a:extLst>
                  <a:ext uri="{0D108BD9-81ED-4DB2-BD59-A6C34878D82A}">
                    <a16:rowId xmlns:a16="http://schemas.microsoft.com/office/drawing/2014/main" val="3639474043"/>
                  </a:ext>
                </a:extLst>
              </a:tr>
              <a:tr h="227388">
                <a:tc>
                  <a:txBody>
                    <a:bodyPr/>
                    <a:lstStyle/>
                    <a:p>
                      <a:pPr algn="l" fontAlgn="ctr">
                        <a:buNone/>
                      </a:pPr>
                      <a:r>
                        <a:rPr lang="en-US" sz="1400" u="none" strike="noStrike">
                          <a:effectLst/>
                        </a:rPr>
                        <a:t>Observations</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352</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337</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336</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endParaRPr lang="en-US" sz="1400" b="0" i="0" u="none" strike="noStrike" dirty="0">
                        <a:solidFill>
                          <a:srgbClr val="000000"/>
                        </a:solidFill>
                        <a:effectLst/>
                        <a:latin typeface="Georgia" panose="02040502050405020303" pitchFamily="18" charset="0"/>
                      </a:endParaRPr>
                    </a:p>
                  </a:txBody>
                  <a:tcPr marL="6350" marR="6350" marT="6350" marB="0" anchor="ctr"/>
                </a:tc>
                <a:extLst>
                  <a:ext uri="{0D108BD9-81ED-4DB2-BD59-A6C34878D82A}">
                    <a16:rowId xmlns:a16="http://schemas.microsoft.com/office/drawing/2014/main" val="205841335"/>
                  </a:ext>
                </a:extLst>
              </a:tr>
              <a:tr h="235229">
                <a:tc>
                  <a:txBody>
                    <a:bodyPr/>
                    <a:lstStyle/>
                    <a:p>
                      <a:pPr algn="l" fontAlgn="ctr">
                        <a:buNone/>
                      </a:pPr>
                      <a:r>
                        <a:rPr lang="en-US" sz="1400" u="none" strike="noStrike">
                          <a:effectLst/>
                        </a:rPr>
                        <a:t>R-squared</a:t>
                      </a:r>
                      <a:endParaRPr lang="en-US" sz="1400" b="0" i="1"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0.06</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0.17</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a:effectLst/>
                        </a:rPr>
                        <a:t>0.2</a:t>
                      </a:r>
                      <a:endParaRPr lang="en-US" sz="1400" b="0" i="0" u="none" strike="noStrike">
                        <a:solidFill>
                          <a:srgbClr val="000000"/>
                        </a:solidFill>
                        <a:effectLst/>
                        <a:latin typeface="Georgia" panose="02040502050405020303" pitchFamily="18" charset="0"/>
                      </a:endParaRPr>
                    </a:p>
                  </a:txBody>
                  <a:tcPr marL="6350" marR="6350" marT="6350" marB="0" anchor="ctr"/>
                </a:tc>
                <a:tc>
                  <a:txBody>
                    <a:bodyPr/>
                    <a:lstStyle/>
                    <a:p>
                      <a:pPr algn="l" fontAlgn="ctr">
                        <a:buNone/>
                      </a:pPr>
                      <a:r>
                        <a:rPr lang="en-US" sz="1400" u="none" strike="noStrike" dirty="0">
                          <a:effectLst/>
                        </a:rPr>
                        <a:t> </a:t>
                      </a:r>
                      <a:endParaRPr lang="en-US" sz="1400" b="0" i="0" u="none" strike="noStrike" dirty="0">
                        <a:solidFill>
                          <a:srgbClr val="000000"/>
                        </a:solidFill>
                        <a:effectLst/>
                        <a:latin typeface="Georgia" panose="02040502050405020303" pitchFamily="18" charset="0"/>
                      </a:endParaRPr>
                    </a:p>
                  </a:txBody>
                  <a:tcPr marL="6350" marR="6350" marT="6350" marB="0" anchor="ctr"/>
                </a:tc>
                <a:extLst>
                  <a:ext uri="{0D108BD9-81ED-4DB2-BD59-A6C34878D82A}">
                    <a16:rowId xmlns:a16="http://schemas.microsoft.com/office/drawing/2014/main" val="3012043021"/>
                  </a:ext>
                </a:extLst>
              </a:tr>
            </a:tbl>
          </a:graphicData>
        </a:graphic>
      </p:graphicFrame>
      <p:sp>
        <p:nvSpPr>
          <p:cNvPr id="6" name="Rectangle 5">
            <a:extLst>
              <a:ext uri="{FF2B5EF4-FFF2-40B4-BE49-F238E27FC236}">
                <a16:creationId xmlns:a16="http://schemas.microsoft.com/office/drawing/2014/main" id="{7E4009AE-AA6D-0062-FCB7-7500746779FA}"/>
              </a:ext>
            </a:extLst>
          </p:cNvPr>
          <p:cNvSpPr/>
          <p:nvPr/>
        </p:nvSpPr>
        <p:spPr>
          <a:xfrm>
            <a:off x="609600" y="6324600"/>
            <a:ext cx="7086600" cy="416988"/>
          </a:xfrm>
          <a:prstGeom prst="rect">
            <a:avLst/>
          </a:prstGeom>
          <a:no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58395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436A7-9D77-794E-AB7E-C727534423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35A3C7-EAFE-088F-6963-8E343589DEC8}"/>
              </a:ext>
            </a:extLst>
          </p:cNvPr>
          <p:cNvSpPr>
            <a:spLocks noGrp="1"/>
          </p:cNvSpPr>
          <p:nvPr>
            <p:ph type="title"/>
          </p:nvPr>
        </p:nvSpPr>
        <p:spPr>
          <a:xfrm>
            <a:off x="609600" y="337392"/>
            <a:ext cx="10363200" cy="624840"/>
          </a:xfrm>
        </p:spPr>
        <p:txBody>
          <a:bodyPr>
            <a:noAutofit/>
          </a:bodyPr>
          <a:lstStyle/>
          <a:p>
            <a:r>
              <a:rPr lang="en-US" sz="3600" dirty="0">
                <a:latin typeface="Times New Roman" panose="02020603050405020304" pitchFamily="18" charset="0"/>
                <a:cs typeface="Times New Roman" panose="02020603050405020304" pitchFamily="18" charset="0"/>
              </a:rPr>
              <a:t>Univariate regressions are simple – are they too simple?</a:t>
            </a:r>
          </a:p>
        </p:txBody>
      </p:sp>
      <p:sp>
        <p:nvSpPr>
          <p:cNvPr id="3" name="Content Placeholder 2">
            <a:extLst>
              <a:ext uri="{FF2B5EF4-FFF2-40B4-BE49-F238E27FC236}">
                <a16:creationId xmlns:a16="http://schemas.microsoft.com/office/drawing/2014/main" id="{9BB6DEE7-FFB4-2AD0-87CC-1D0CB262600E}"/>
              </a:ext>
            </a:extLst>
          </p:cNvPr>
          <p:cNvSpPr>
            <a:spLocks noGrp="1"/>
          </p:cNvSpPr>
          <p:nvPr>
            <p:ph idx="1"/>
          </p:nvPr>
        </p:nvSpPr>
        <p:spPr>
          <a:xfrm>
            <a:off x="609601" y="1066801"/>
            <a:ext cx="10363200" cy="5141388"/>
          </a:xfrm>
        </p:spPr>
        <p:txBody>
          <a:bodyPr>
            <a:normAutofit/>
          </a:bodyPr>
          <a:lstStyle/>
          <a:p>
            <a:pPr marL="0" indent="0">
              <a:lnSpc>
                <a:spcPct val="120000"/>
              </a:lnSpc>
              <a:buNone/>
            </a:pPr>
            <a:r>
              <a:rPr lang="en-CA" sz="2400" dirty="0">
                <a:solidFill>
                  <a:schemeClr val="tx1">
                    <a:lumMod val="75000"/>
                    <a:lumOff val="25000"/>
                  </a:schemeClr>
                </a:solidFill>
                <a:ea typeface="Open Sans" panose="020B0606030504020204" pitchFamily="34" charset="0"/>
                <a:cs typeface="Times New Roman" panose="02020603050405020304" pitchFamily="18" charset="0"/>
              </a:rPr>
              <a:t>Why would you use a regression with no controls? </a:t>
            </a:r>
          </a:p>
        </p:txBody>
      </p:sp>
      <p:pic>
        <p:nvPicPr>
          <p:cNvPr id="7" name="Picture 6">
            <a:extLst>
              <a:ext uri="{FF2B5EF4-FFF2-40B4-BE49-F238E27FC236}">
                <a16:creationId xmlns:a16="http://schemas.microsoft.com/office/drawing/2014/main" id="{68F850FF-7610-0574-D94C-97FD382D4AE7}"/>
              </a:ext>
            </a:extLst>
          </p:cNvPr>
          <p:cNvPicPr>
            <a:picLocks noChangeAspect="1"/>
          </p:cNvPicPr>
          <p:nvPr/>
        </p:nvPicPr>
        <p:blipFill>
          <a:blip r:embed="rId3"/>
          <a:stretch>
            <a:fillRect/>
          </a:stretch>
        </p:blipFill>
        <p:spPr>
          <a:xfrm>
            <a:off x="609600" y="1687773"/>
            <a:ext cx="6906227" cy="4832835"/>
          </a:xfrm>
          <a:prstGeom prst="rect">
            <a:avLst/>
          </a:prstGeom>
        </p:spPr>
      </p:pic>
    </p:spTree>
    <p:extLst>
      <p:ext uri="{BB962C8B-B14F-4D97-AF65-F5344CB8AC3E}">
        <p14:creationId xmlns:p14="http://schemas.microsoft.com/office/powerpoint/2010/main" val="23864937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4C606-B24C-D835-A422-C6C3F4D517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BFD0B9-D015-C32B-68E2-D10BC1087896}"/>
              </a:ext>
            </a:extLst>
          </p:cNvPr>
          <p:cNvSpPr>
            <a:spLocks noGrp="1"/>
          </p:cNvSpPr>
          <p:nvPr>
            <p:ph type="title"/>
          </p:nvPr>
        </p:nvSpPr>
        <p:spPr>
          <a:xfrm>
            <a:off x="609600" y="337392"/>
            <a:ext cx="8991600" cy="624840"/>
          </a:xfrm>
        </p:spPr>
        <p:txBody>
          <a:bodyPr>
            <a:normAutofit fontScale="90000"/>
          </a:bodyPr>
          <a:lstStyle/>
          <a:p>
            <a:r>
              <a:rPr lang="en-US" dirty="0">
                <a:latin typeface="Times New Roman" panose="02020603050405020304" pitchFamily="18" charset="0"/>
                <a:cs typeface="Times New Roman" panose="02020603050405020304" pitchFamily="18" charset="0"/>
              </a:rPr>
              <a:t>Unbiasedness: Estimating Causal POI</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98C03CA-4063-C36F-C6F1-5D009A3D3590}"/>
                  </a:ext>
                </a:extLst>
              </p:cNvPr>
              <p:cNvSpPr>
                <a:spLocks noGrp="1"/>
              </p:cNvSpPr>
              <p:nvPr>
                <p:ph idx="1"/>
              </p:nvPr>
            </p:nvSpPr>
            <p:spPr>
              <a:xfrm>
                <a:off x="609601" y="1066801"/>
                <a:ext cx="10363200" cy="5141388"/>
              </a:xfrm>
            </p:spPr>
            <p:txBody>
              <a:bodyPr>
                <a:normAutofit/>
              </a:bodyPr>
              <a:lstStyle/>
              <a:p>
                <a:pPr marL="0" indent="0">
                  <a:lnSpc>
                    <a:spcPct val="120000"/>
                  </a:lnSpc>
                  <a:buNone/>
                </a:pPr>
                <a14:m>
                  <m:oMathPara xmlns:m="http://schemas.openxmlformats.org/officeDocument/2006/math">
                    <m:oMath>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𝑦</m:t>
                          </m:r>
                        </m:e>
                      </m:acc>
                      <m:r>
                        <a:rPr lang="en-US" sz="2400" i="1">
                          <a:latin typeface="Cambria Math" panose="02040503050406030204" pitchFamily="18" charset="0"/>
                          <a:ea typeface="Open Sans" panose="020B0606030504020204" pitchFamily="34" charset="0"/>
                          <a:cs typeface="Open Sans" panose="020B0606030504020204" pitchFamily="34" charset="0"/>
                        </a:rPr>
                        <m:t>=</m:t>
                      </m:r>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0</m:t>
                              </m:r>
                            </m:sub>
                          </m:sSub>
                        </m:e>
                      </m:acc>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m:t>
                      </m:r>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1</m:t>
                              </m:r>
                            </m:sub>
                          </m:sSub>
                        </m:e>
                      </m:acc>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𝑥</m:t>
                      </m:r>
                    </m:oMath>
                  </m:oMathPara>
                </a14:m>
                <a:endParaRPr lang="en-CA" sz="2400" dirty="0">
                  <a:solidFill>
                    <a:schemeClr val="tx1">
                      <a:lumMod val="75000"/>
                      <a:lumOff val="25000"/>
                    </a:schemeClr>
                  </a:solidFill>
                  <a:ea typeface="Open Sans" panose="020B0606030504020204" pitchFamily="34" charset="0"/>
                  <a:cs typeface="Times New Roman" panose="02020603050405020304" pitchFamily="18" charset="0"/>
                </a:endParaRPr>
              </a:p>
              <a:p>
                <a:pPr>
                  <a:lnSpc>
                    <a:spcPct val="120000"/>
                  </a:lnSpc>
                </a:pPr>
                <a:r>
                  <a:rPr lang="en-US" sz="2400" dirty="0">
                    <a:solidFill>
                      <a:schemeClr val="tx1">
                        <a:lumMod val="75000"/>
                        <a:lumOff val="25000"/>
                      </a:schemeClr>
                    </a:solidFill>
                    <a:ea typeface="Open Sans" panose="020B0606030504020204" pitchFamily="34" charset="0"/>
                    <a:cs typeface="Times New Roman" panose="02020603050405020304" pitchFamily="18" charset="0"/>
                  </a:rPr>
                  <a:t>Suppose that we have a correctly identified model, such that </a:t>
                </a:r>
                <a14:m>
                  <m:oMath xmlns:m="http://schemas.openxmlformats.org/officeDocument/2006/math">
                    <m:sSub>
                      <m:sSubPr>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1</m:t>
                        </m:r>
                      </m:sub>
                    </m:sSub>
                  </m:oMath>
                </a14:m>
                <a:r>
                  <a:rPr lang="en-CA" sz="2400" dirty="0">
                    <a:solidFill>
                      <a:schemeClr val="tx1">
                        <a:lumMod val="75000"/>
                        <a:lumOff val="25000"/>
                      </a:schemeClr>
                    </a:solidFill>
                    <a:ea typeface="Open Sans" panose="020B0606030504020204" pitchFamily="34" charset="0"/>
                    <a:cs typeface="Times New Roman" panose="02020603050405020304" pitchFamily="18" charset="0"/>
                  </a:rPr>
                  <a:t> is a true causal parameter of interest (POI)</a:t>
                </a:r>
              </a:p>
              <a:p>
                <a:pPr marL="0" indent="0">
                  <a:lnSpc>
                    <a:spcPct val="120000"/>
                  </a:lnSpc>
                  <a:buNone/>
                </a:pPr>
                <a:r>
                  <a:rPr lang="en-CA" sz="2400" b="1" dirty="0">
                    <a:solidFill>
                      <a:schemeClr val="accent2">
                        <a:lumMod val="75000"/>
                      </a:schemeClr>
                    </a:solidFill>
                    <a:ea typeface="Open Sans" panose="020B0606030504020204" pitchFamily="34" charset="0"/>
                    <a:cs typeface="Times New Roman" panose="02020603050405020304" pitchFamily="18" charset="0"/>
                  </a:rPr>
                  <a:t>How do we know the regression gives us </a:t>
                </a:r>
                <a14:m>
                  <m:oMath xmlns:m="http://schemas.openxmlformats.org/officeDocument/2006/math">
                    <m:sSub>
                      <m:sSubPr>
                        <m:ctrlPr>
                          <a:rPr lang="en-US" sz="2400" b="1" i="1" smtClean="0">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b="1" i="1" smtClean="0">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𝜷</m:t>
                        </m:r>
                      </m:e>
                      <m:sub>
                        <m:r>
                          <a:rPr lang="en-US" sz="2400" b="1" i="1" smtClean="0">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𝟏</m:t>
                        </m:r>
                      </m:sub>
                    </m:sSub>
                    <m:r>
                      <a:rPr lang="en-US" sz="2400" b="1" i="0" smtClean="0">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m:t>
                    </m:r>
                  </m:oMath>
                </a14:m>
                <a:endParaRPr lang="en-US" sz="2400" b="1" dirty="0">
                  <a:solidFill>
                    <a:schemeClr val="accent2">
                      <a:lumMod val="75000"/>
                    </a:schemeClr>
                  </a:solidFill>
                  <a:ea typeface="Open Sans" panose="020B0606030504020204" pitchFamily="34" charset="0"/>
                  <a:cs typeface="Times New Roman" panose="02020603050405020304" pitchFamily="18" charset="0"/>
                </a:endParaRPr>
              </a:p>
              <a:p>
                <a:pPr>
                  <a:lnSpc>
                    <a:spcPct val="120000"/>
                  </a:lnSpc>
                </a:pPr>
                <a:r>
                  <a:rPr lang="en-CA" sz="2400" dirty="0">
                    <a:solidFill>
                      <a:schemeClr val="tx1">
                        <a:lumMod val="75000"/>
                        <a:lumOff val="25000"/>
                      </a:schemeClr>
                    </a:solidFill>
                    <a:ea typeface="Open Sans" panose="020B0606030504020204" pitchFamily="34" charset="0"/>
                    <a:cs typeface="Times New Roman" panose="02020603050405020304" pitchFamily="18" charset="0"/>
                  </a:rPr>
                  <a:t>Different sets of data will generate different </a:t>
                </a:r>
                <a14:m>
                  <m:oMath xmlns:m="http://schemas.openxmlformats.org/officeDocument/2006/math">
                    <m:acc>
                      <m:accPr>
                        <m:chr m:val="̂"/>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1</m:t>
                            </m:r>
                          </m:sub>
                        </m:sSub>
                      </m:e>
                    </m:acc>
                  </m:oMath>
                </a14:m>
                <a:endParaRPr lang="en-US" sz="2400" dirty="0">
                  <a:solidFill>
                    <a:schemeClr val="tx1">
                      <a:lumMod val="75000"/>
                      <a:lumOff val="25000"/>
                    </a:schemeClr>
                  </a:solidFill>
                  <a:ea typeface="Open Sans" panose="020B0606030504020204" pitchFamily="34" charset="0"/>
                  <a:cs typeface="Times New Roman" panose="02020603050405020304" pitchFamily="18" charset="0"/>
                </a:endParaRPr>
              </a:p>
              <a:p>
                <a:pPr>
                  <a:lnSpc>
                    <a:spcPct val="120000"/>
                  </a:lnSpc>
                </a:pPr>
                <a:r>
                  <a:rPr lang="en-CA" sz="2400" dirty="0">
                    <a:solidFill>
                      <a:schemeClr val="tx1">
                        <a:lumMod val="75000"/>
                        <a:lumOff val="25000"/>
                      </a:schemeClr>
                    </a:solidFill>
                    <a:ea typeface="Open Sans" panose="020B0606030504020204" pitchFamily="34" charset="0"/>
                    <a:cs typeface="Times New Roman" panose="02020603050405020304" pitchFamily="18" charset="0"/>
                  </a:rPr>
                  <a:t>We want our regression to give us </a:t>
                </a:r>
                <a14:m>
                  <m:oMath xmlns:m="http://schemas.openxmlformats.org/officeDocument/2006/math">
                    <m:sSub>
                      <m:sSubPr>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1</m:t>
                        </m:r>
                      </m:sub>
                    </m:sSub>
                  </m:oMath>
                </a14:m>
                <a:r>
                  <a:rPr lang="en-CA" sz="2400" dirty="0">
                    <a:solidFill>
                      <a:schemeClr val="tx1">
                        <a:lumMod val="75000"/>
                        <a:lumOff val="25000"/>
                      </a:schemeClr>
                    </a:solidFill>
                    <a:ea typeface="Open Sans" panose="020B0606030504020204" pitchFamily="34" charset="0"/>
                    <a:cs typeface="Times New Roman" panose="02020603050405020304" pitchFamily="18" charset="0"/>
                  </a:rPr>
                  <a:t> </a:t>
                </a:r>
                <a:r>
                  <a:rPr lang="en-CA" sz="2400" b="1" dirty="0">
                    <a:solidFill>
                      <a:schemeClr val="tx1">
                        <a:lumMod val="75000"/>
                        <a:lumOff val="25000"/>
                      </a:schemeClr>
                    </a:solidFill>
                    <a:ea typeface="Open Sans" panose="020B0606030504020204" pitchFamily="34" charset="0"/>
                    <a:cs typeface="Times New Roman" panose="02020603050405020304" pitchFamily="18" charset="0"/>
                  </a:rPr>
                  <a:t>on average</a:t>
                </a:r>
              </a:p>
              <a:p>
                <a:pPr>
                  <a:lnSpc>
                    <a:spcPct val="120000"/>
                  </a:lnSpc>
                </a:pPr>
                <a:r>
                  <a:rPr lang="en-CA" sz="2400" dirty="0">
                    <a:solidFill>
                      <a:schemeClr val="tx1">
                        <a:lumMod val="75000"/>
                        <a:lumOff val="25000"/>
                      </a:schemeClr>
                    </a:solidFill>
                    <a:ea typeface="Open Sans" panose="020B0606030504020204" pitchFamily="34" charset="0"/>
                    <a:cs typeface="Times New Roman" panose="02020603050405020304" pitchFamily="18" charset="0"/>
                  </a:rPr>
                  <a:t>In math, what do we need to assume in order for </a:t>
                </a:r>
                <a14:m>
                  <m:oMath xmlns:m="http://schemas.openxmlformats.org/officeDocument/2006/math">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𝔼</m:t>
                    </m:r>
                    <m:d>
                      <m:dPr>
                        <m:begChr m:val="["/>
                        <m:endChr m:val="]"/>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dPr>
                      <m:e>
                        <m:acc>
                          <m:accPr>
                            <m:chr m:val="̂"/>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1</m:t>
                                </m:r>
                              </m:sub>
                            </m:sSub>
                          </m:e>
                        </m:acc>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 </m:t>
                        </m:r>
                      </m:e>
                    </m:d>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m:t>
                    </m:r>
                    <m:sSub>
                      <m:sSubPr>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1</m:t>
                        </m:r>
                      </m:sub>
                    </m:sSub>
                  </m:oMath>
                </a14:m>
                <a:r>
                  <a:rPr lang="en-CA" sz="2400" dirty="0">
                    <a:solidFill>
                      <a:schemeClr val="tx1">
                        <a:lumMod val="75000"/>
                        <a:lumOff val="25000"/>
                      </a:schemeClr>
                    </a:solidFill>
                    <a:ea typeface="Open Sans" panose="020B0606030504020204" pitchFamily="34" charset="0"/>
                    <a:cs typeface="Times New Roman" panose="02020603050405020304" pitchFamily="18" charset="0"/>
                  </a:rPr>
                  <a:t>?</a:t>
                </a:r>
              </a:p>
              <a:p>
                <a:pPr>
                  <a:lnSpc>
                    <a:spcPct val="120000"/>
                  </a:lnSpc>
                </a:pPr>
                <a:endParaRPr lang="en-CA" sz="2400" b="1" dirty="0">
                  <a:solidFill>
                    <a:schemeClr val="tx1">
                      <a:lumMod val="75000"/>
                      <a:lumOff val="25000"/>
                    </a:schemeClr>
                  </a:solidFill>
                  <a:ea typeface="Open Sans" panose="020B0606030504020204" pitchFamily="34"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363200" cy="5141388"/>
              </a:xfrm>
              <a:blipFill>
                <a:blip r:embed="rId3"/>
                <a:stretch>
                  <a:fillRect l="-882"/>
                </a:stretch>
              </a:blipFill>
            </p:spPr>
            <p:txBody>
              <a:bodyPr/>
              <a:lstStyle/>
              <a:p>
                <a:r>
                  <a:rPr lang="en-US">
                    <a:noFill/>
                  </a:rPr>
                  <a:t> </a:t>
                </a:r>
              </a:p>
            </p:txBody>
          </p:sp>
        </mc:Fallback>
      </mc:AlternateContent>
    </p:spTree>
    <p:extLst>
      <p:ext uri="{BB962C8B-B14F-4D97-AF65-F5344CB8AC3E}">
        <p14:creationId xmlns:p14="http://schemas.microsoft.com/office/powerpoint/2010/main" val="2472097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8991600" cy="624840"/>
          </a:xfrm>
        </p:spPr>
        <p:txBody>
          <a:bodyPr>
            <a:normAutofit fontScale="90000"/>
          </a:bodyPr>
          <a:lstStyle/>
          <a:p>
            <a:r>
              <a:rPr lang="en-US" dirty="0">
                <a:latin typeface="Times New Roman" panose="02020603050405020304" pitchFamily="18" charset="0"/>
                <a:cs typeface="Times New Roman" panose="02020603050405020304" pitchFamily="18" charset="0"/>
              </a:rPr>
              <a:t>Unbiasedness: Estimating Causal POI</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363200" cy="5141388"/>
              </a:xfrm>
            </p:spPr>
            <p:txBody>
              <a:bodyPr>
                <a:noAutofit/>
              </a:bodyPr>
              <a:lstStyle/>
              <a:p>
                <a:pPr marL="0" indent="0">
                  <a:lnSpc>
                    <a:spcPct val="100000"/>
                  </a:lnSpc>
                  <a:buNone/>
                </a:pPr>
                <a14:m>
                  <m:oMathPara xmlns:m="http://schemas.openxmlformats.org/officeDocument/2006/math">
                    <m:oMath>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𝑦</m:t>
                          </m:r>
                        </m:e>
                      </m:acc>
                      <m:r>
                        <a:rPr lang="en-US" sz="2400" i="1">
                          <a:latin typeface="Cambria Math" panose="02040503050406030204" pitchFamily="18" charset="0"/>
                          <a:ea typeface="Open Sans" panose="020B0606030504020204" pitchFamily="34" charset="0"/>
                          <a:cs typeface="Open Sans" panose="020B0606030504020204" pitchFamily="34" charset="0"/>
                        </a:rPr>
                        <m:t>=</m:t>
                      </m:r>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0</m:t>
                              </m:r>
                            </m:sub>
                          </m:sSub>
                        </m:e>
                      </m:acc>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m:t>
                      </m:r>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1</m:t>
                              </m:r>
                            </m:sub>
                          </m:sSub>
                        </m:e>
                      </m:acc>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𝑥</m:t>
                      </m:r>
                    </m:oMath>
                  </m:oMathPara>
                </a14:m>
                <a:endParaRPr lang="en-CA" sz="2400" dirty="0">
                  <a:solidFill>
                    <a:schemeClr val="tx1">
                      <a:lumMod val="75000"/>
                      <a:lumOff val="25000"/>
                    </a:schemeClr>
                  </a:solidFill>
                  <a:ea typeface="Open Sans" panose="020B0606030504020204" pitchFamily="34" charset="0"/>
                  <a:cs typeface="Times New Roman" panose="02020603050405020304" pitchFamily="18" charset="0"/>
                </a:endParaRPr>
              </a:p>
              <a:p>
                <a:pPr>
                  <a:lnSpc>
                    <a:spcPct val="100000"/>
                  </a:lnSpc>
                </a:pPr>
                <a:r>
                  <a:rPr lang="en-US" sz="2400" dirty="0">
                    <a:solidFill>
                      <a:schemeClr val="tx1">
                        <a:lumMod val="75000"/>
                        <a:lumOff val="25000"/>
                      </a:schemeClr>
                    </a:solidFill>
                    <a:ea typeface="Open Sans" panose="020B0606030504020204" pitchFamily="34" charset="0"/>
                    <a:cs typeface="Times New Roman" panose="02020603050405020304" pitchFamily="18" charset="0"/>
                  </a:rPr>
                  <a:t>Suppose that we have a correctly identified model, such that </a:t>
                </a:r>
                <a14:m>
                  <m:oMath xmlns:m="http://schemas.openxmlformats.org/officeDocument/2006/math">
                    <m:sSub>
                      <m:sSubPr>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1</m:t>
                        </m:r>
                      </m:sub>
                    </m:sSub>
                  </m:oMath>
                </a14:m>
                <a:r>
                  <a:rPr lang="en-CA" sz="2400" dirty="0">
                    <a:solidFill>
                      <a:schemeClr val="tx1">
                        <a:lumMod val="75000"/>
                        <a:lumOff val="25000"/>
                      </a:schemeClr>
                    </a:solidFill>
                    <a:ea typeface="Open Sans" panose="020B0606030504020204" pitchFamily="34" charset="0"/>
                    <a:cs typeface="Times New Roman" panose="02020603050405020304" pitchFamily="18" charset="0"/>
                  </a:rPr>
                  <a:t> is a true causal parameter of interest (POI)</a:t>
                </a:r>
              </a:p>
              <a:p>
                <a:pPr marL="0" indent="0">
                  <a:lnSpc>
                    <a:spcPct val="100000"/>
                  </a:lnSpc>
                  <a:buNone/>
                </a:pPr>
                <a:r>
                  <a:rPr lang="en-CA" sz="2400" b="1" dirty="0">
                    <a:solidFill>
                      <a:schemeClr val="accent2">
                        <a:lumMod val="75000"/>
                      </a:schemeClr>
                    </a:solidFill>
                    <a:ea typeface="Open Sans" panose="020B0606030504020204" pitchFamily="34" charset="0"/>
                    <a:cs typeface="Times New Roman" panose="02020603050405020304" pitchFamily="18" charset="0"/>
                  </a:rPr>
                  <a:t>How do we know </a:t>
                </a:r>
                <a14:m>
                  <m:oMath xmlns:m="http://schemas.openxmlformats.org/officeDocument/2006/math">
                    <m:r>
                      <a:rPr lang="en-US" sz="2400" b="1" i="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𝔼</m:t>
                    </m:r>
                    <m:d>
                      <m:dPr>
                        <m:begChr m:val="["/>
                        <m:endChr m:val="]"/>
                        <m:ctrlPr>
                          <a:rPr lang="en-US" sz="2400" b="1" i="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ctrlPr>
                      </m:dPr>
                      <m:e>
                        <m:acc>
                          <m:accPr>
                            <m:chr m:val="̂"/>
                            <m:ctrlPr>
                              <a:rPr lang="en-US" sz="2400" b="1" i="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b="1" i="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b="1" i="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𝜷</m:t>
                                </m:r>
                              </m:e>
                              <m:sub>
                                <m:r>
                                  <a:rPr lang="en-US" sz="2400" b="1" i="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𝟏</m:t>
                                </m:r>
                              </m:sub>
                            </m:sSub>
                          </m:e>
                        </m:acc>
                        <m:r>
                          <a:rPr lang="en-US" sz="2400" b="1" i="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 </m:t>
                        </m:r>
                      </m:e>
                    </m:d>
                    <m:r>
                      <a:rPr lang="en-US" sz="2400" b="1" i="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m:t>
                    </m:r>
                    <m:sSub>
                      <m:sSubPr>
                        <m:ctrlPr>
                          <a:rPr lang="en-US" sz="2400" b="1" i="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b="1" i="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𝜷</m:t>
                        </m:r>
                      </m:e>
                      <m:sub>
                        <m:r>
                          <a:rPr lang="en-US" sz="2400" b="1" i="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𝟏</m:t>
                        </m:r>
                      </m:sub>
                    </m:sSub>
                    <m:r>
                      <a:rPr lang="en-US" sz="2400" b="1" i="0" smtClean="0">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m:t>
                    </m:r>
                  </m:oMath>
                </a14:m>
                <a:endParaRPr lang="en-US" sz="2400" b="1" dirty="0">
                  <a:solidFill>
                    <a:schemeClr val="tx1">
                      <a:lumMod val="75000"/>
                      <a:lumOff val="25000"/>
                    </a:schemeClr>
                  </a:solidFill>
                  <a:ea typeface="Open Sans" panose="020B0606030504020204" pitchFamily="34" charset="0"/>
                  <a:cs typeface="Times New Roman" panose="02020603050405020304" pitchFamily="18" charset="0"/>
                </a:endParaRPr>
              </a:p>
              <a:p>
                <a:pPr marL="0" indent="0">
                  <a:lnSpc>
                    <a:spcPct val="100000"/>
                  </a:lnSpc>
                  <a:buNone/>
                </a:pPr>
                <a:r>
                  <a:rPr lang="en-CA" sz="2400" b="1" dirty="0">
                    <a:solidFill>
                      <a:schemeClr val="accent3">
                        <a:lumMod val="75000"/>
                      </a:schemeClr>
                    </a:solidFill>
                    <a:ea typeface="Open Sans" panose="020B0606030504020204" pitchFamily="34" charset="0"/>
                    <a:cs typeface="Times New Roman" panose="02020603050405020304" pitchFamily="18" charset="0"/>
                  </a:rPr>
                  <a:t>Data Assumptions: </a:t>
                </a:r>
              </a:p>
              <a:p>
                <a:pPr marL="617220" lvl="1" indent="-342900">
                  <a:lnSpc>
                    <a:spcPct val="100000"/>
                  </a:lnSpc>
                  <a:buFont typeface="+mj-lt"/>
                  <a:buAutoNum type="arabicPeriod"/>
                </a:pPr>
                <a:r>
                  <a:rPr lang="en-CA" sz="2400" b="1" dirty="0">
                    <a:solidFill>
                      <a:schemeClr val="accent3">
                        <a:lumMod val="75000"/>
                      </a:schemeClr>
                    </a:solidFill>
                    <a:ea typeface="Open Sans" panose="020B0606030504020204" pitchFamily="34" charset="0"/>
                    <a:cs typeface="Times New Roman" panose="02020603050405020304" pitchFamily="18" charset="0"/>
                  </a:rPr>
                  <a:t>Correct Specification. </a:t>
                </a:r>
                <a:r>
                  <a:rPr lang="en-CA" sz="2400" dirty="0">
                    <a:solidFill>
                      <a:schemeClr val="tx1">
                        <a:lumMod val="75000"/>
                        <a:lumOff val="25000"/>
                      </a:schemeClr>
                    </a:solidFill>
                    <a:ea typeface="Open Sans" panose="020B0606030504020204" pitchFamily="34" charset="0"/>
                    <a:cs typeface="Times New Roman" panose="02020603050405020304" pitchFamily="18" charset="0"/>
                  </a:rPr>
                  <a:t>Model is correctly specified as </a:t>
                </a:r>
                <a14:m>
                  <m:oMath xmlns:m="http://schemas.openxmlformats.org/officeDocument/2006/math">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𝑦</m:t>
                        </m:r>
                      </m:e>
                    </m:acc>
                    <m:r>
                      <a:rPr lang="en-US" sz="2400" i="1">
                        <a:latin typeface="Cambria Math" panose="02040503050406030204" pitchFamily="18" charset="0"/>
                        <a:ea typeface="Open Sans" panose="020B0606030504020204" pitchFamily="34" charset="0"/>
                        <a:cs typeface="Open Sans" panose="020B0606030504020204" pitchFamily="34" charset="0"/>
                      </a:rPr>
                      <m:t>=</m:t>
                    </m:r>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0</m:t>
                            </m:r>
                          </m:sub>
                        </m:sSub>
                      </m:e>
                    </m:acc>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m:t>
                    </m:r>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1</m:t>
                            </m:r>
                          </m:sub>
                        </m:sSub>
                      </m:e>
                    </m:acc>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𝑥</m:t>
                    </m:r>
                  </m:oMath>
                </a14:m>
                <a:endParaRPr lang="en-CA" sz="2400" dirty="0">
                  <a:solidFill>
                    <a:schemeClr val="tx1">
                      <a:lumMod val="75000"/>
                      <a:lumOff val="25000"/>
                    </a:schemeClr>
                  </a:solidFill>
                  <a:ea typeface="Open Sans" panose="020B0606030504020204" pitchFamily="34" charset="0"/>
                  <a:cs typeface="Times New Roman" panose="02020603050405020304" pitchFamily="18" charset="0"/>
                </a:endParaRPr>
              </a:p>
              <a:p>
                <a:pPr marL="617220" lvl="1" indent="-342900">
                  <a:lnSpc>
                    <a:spcPct val="100000"/>
                  </a:lnSpc>
                  <a:buFont typeface="+mj-lt"/>
                  <a:buAutoNum type="arabicPeriod"/>
                </a:pPr>
                <a:r>
                  <a:rPr lang="en-CA" sz="2400" b="1" dirty="0">
                    <a:solidFill>
                      <a:schemeClr val="accent3">
                        <a:lumMod val="75000"/>
                      </a:schemeClr>
                    </a:solidFill>
                    <a:ea typeface="Open Sans" panose="020B0606030504020204" pitchFamily="34" charset="0"/>
                    <a:cs typeface="Times New Roman" panose="02020603050405020304" pitchFamily="18" charset="0"/>
                  </a:rPr>
                  <a:t>Random Sampling. </a:t>
                </a:r>
                <a:r>
                  <a:rPr lang="en-CA" sz="2400" dirty="0">
                    <a:solidFill>
                      <a:schemeClr val="tx1">
                        <a:lumMod val="75000"/>
                        <a:lumOff val="25000"/>
                      </a:schemeClr>
                    </a:solidFill>
                    <a:ea typeface="Open Sans" panose="020B0606030504020204" pitchFamily="34" charset="0"/>
                    <a:cs typeface="Times New Roman" panose="02020603050405020304" pitchFamily="18" charset="0"/>
                  </a:rPr>
                  <a:t>Random sampling of data</a:t>
                </a:r>
              </a:p>
              <a:p>
                <a:pPr marL="617220" lvl="1" indent="-342900">
                  <a:lnSpc>
                    <a:spcPct val="100000"/>
                  </a:lnSpc>
                  <a:buFont typeface="+mj-lt"/>
                  <a:buAutoNum type="arabicPeriod"/>
                </a:pPr>
                <a:r>
                  <a:rPr lang="en-CA" sz="2400" b="1" dirty="0">
                    <a:solidFill>
                      <a:schemeClr val="accent3">
                        <a:lumMod val="75000"/>
                      </a:schemeClr>
                    </a:solidFill>
                    <a:ea typeface="Open Sans" panose="020B0606030504020204" pitchFamily="34" charset="0"/>
                    <a:cs typeface="Times New Roman" panose="02020603050405020304" pitchFamily="18" charset="0"/>
                  </a:rPr>
                  <a:t>Sample Variation. </a:t>
                </a:r>
                <a:r>
                  <a:rPr lang="en-CA" sz="2400" dirty="0">
                    <a:solidFill>
                      <a:schemeClr val="tx1">
                        <a:lumMod val="75000"/>
                        <a:lumOff val="25000"/>
                      </a:schemeClr>
                    </a:solidFill>
                    <a:ea typeface="Open Sans" panose="020B0606030504020204" pitchFamily="34" charset="0"/>
                    <a:cs typeface="Times New Roman" panose="02020603050405020304" pitchFamily="18" charset="0"/>
                  </a:rPr>
                  <a:t>Sample variation in </a:t>
                </a:r>
                <a14:m>
                  <m:oMath xmlns:m="http://schemas.openxmlformats.org/officeDocument/2006/math">
                    <m:sSub>
                      <m:sSubPr>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𝑥</m:t>
                        </m:r>
                      </m:e>
                      <m:sub>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𝑖</m:t>
                        </m:r>
                      </m:sub>
                    </m:sSub>
                  </m:oMath>
                </a14:m>
                <a:endParaRPr lang="en-CA" sz="2400" b="1" dirty="0">
                  <a:solidFill>
                    <a:schemeClr val="tx1">
                      <a:lumMod val="75000"/>
                      <a:lumOff val="25000"/>
                    </a:schemeClr>
                  </a:solidFill>
                  <a:ea typeface="Open Sans" panose="020B0606030504020204" pitchFamily="34"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363200" cy="5141388"/>
              </a:xfrm>
              <a:blipFill>
                <a:blip r:embed="rId3"/>
                <a:stretch>
                  <a:fillRect l="-882"/>
                </a:stretch>
              </a:blipFill>
            </p:spPr>
            <p:txBody>
              <a:bodyPr/>
              <a:lstStyle/>
              <a:p>
                <a:r>
                  <a:rPr lang="en-US">
                    <a:noFill/>
                  </a:rPr>
                  <a:t> </a:t>
                </a:r>
              </a:p>
            </p:txBody>
          </p:sp>
        </mc:Fallback>
      </mc:AlternateContent>
    </p:spTree>
    <p:extLst>
      <p:ext uri="{BB962C8B-B14F-4D97-AF65-F5344CB8AC3E}">
        <p14:creationId xmlns:p14="http://schemas.microsoft.com/office/powerpoint/2010/main" val="108910781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8991600" cy="624840"/>
          </a:xfrm>
        </p:spPr>
        <p:txBody>
          <a:bodyPr>
            <a:normAutofit fontScale="90000"/>
          </a:bodyPr>
          <a:lstStyle/>
          <a:p>
            <a:r>
              <a:rPr lang="en-US" dirty="0">
                <a:latin typeface="Times New Roman" panose="02020603050405020304" pitchFamily="18" charset="0"/>
                <a:cs typeface="Times New Roman" panose="02020603050405020304" pitchFamily="18" charset="0"/>
              </a:rPr>
              <a:t>Unbiasedness: Estimating Causal POI</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363200" cy="5141388"/>
              </a:xfrm>
            </p:spPr>
            <p:txBody>
              <a:bodyPr>
                <a:noAutofit/>
              </a:bodyPr>
              <a:lstStyle/>
              <a:p>
                <a:pPr marL="0" indent="0">
                  <a:lnSpc>
                    <a:spcPct val="100000"/>
                  </a:lnSpc>
                  <a:buNone/>
                </a:pPr>
                <a14:m>
                  <m:oMathPara xmlns:m="http://schemas.openxmlformats.org/officeDocument/2006/math">
                    <m:oMath>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𝑦</m:t>
                          </m:r>
                        </m:e>
                      </m:acc>
                      <m:r>
                        <a:rPr lang="en-US" sz="2400" i="1">
                          <a:latin typeface="Cambria Math" panose="02040503050406030204" pitchFamily="18" charset="0"/>
                          <a:ea typeface="Open Sans" panose="020B0606030504020204" pitchFamily="34" charset="0"/>
                          <a:cs typeface="Open Sans" panose="020B0606030504020204" pitchFamily="34" charset="0"/>
                        </a:rPr>
                        <m:t>=</m:t>
                      </m:r>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0</m:t>
                              </m:r>
                            </m:sub>
                          </m:sSub>
                        </m:e>
                      </m:acc>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m:t>
                      </m:r>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1</m:t>
                              </m:r>
                            </m:sub>
                          </m:sSub>
                        </m:e>
                      </m:acc>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𝑥</m:t>
                      </m:r>
                    </m:oMath>
                  </m:oMathPara>
                </a14:m>
                <a:endParaRPr lang="en-CA" sz="2400" dirty="0">
                  <a:solidFill>
                    <a:schemeClr val="tx1">
                      <a:lumMod val="75000"/>
                      <a:lumOff val="25000"/>
                    </a:schemeClr>
                  </a:solidFill>
                  <a:ea typeface="Open Sans" panose="020B0606030504020204" pitchFamily="34" charset="0"/>
                  <a:cs typeface="Times New Roman" panose="02020603050405020304" pitchFamily="18" charset="0"/>
                </a:endParaRPr>
              </a:p>
              <a:p>
                <a:pPr>
                  <a:lnSpc>
                    <a:spcPct val="100000"/>
                  </a:lnSpc>
                </a:pPr>
                <a:r>
                  <a:rPr lang="en-US" sz="2400" dirty="0">
                    <a:solidFill>
                      <a:schemeClr val="tx1">
                        <a:lumMod val="75000"/>
                        <a:lumOff val="25000"/>
                      </a:schemeClr>
                    </a:solidFill>
                    <a:ea typeface="Open Sans" panose="020B0606030504020204" pitchFamily="34" charset="0"/>
                    <a:cs typeface="Times New Roman" panose="02020603050405020304" pitchFamily="18" charset="0"/>
                  </a:rPr>
                  <a:t>Suppose that we have a correctly identified model, such that </a:t>
                </a:r>
                <a14:m>
                  <m:oMath xmlns:m="http://schemas.openxmlformats.org/officeDocument/2006/math">
                    <m:sSub>
                      <m:sSubPr>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1</m:t>
                        </m:r>
                      </m:sub>
                    </m:sSub>
                  </m:oMath>
                </a14:m>
                <a:r>
                  <a:rPr lang="en-CA" sz="2400" dirty="0">
                    <a:solidFill>
                      <a:schemeClr val="tx1">
                        <a:lumMod val="75000"/>
                        <a:lumOff val="25000"/>
                      </a:schemeClr>
                    </a:solidFill>
                    <a:ea typeface="Open Sans" panose="020B0606030504020204" pitchFamily="34" charset="0"/>
                    <a:cs typeface="Times New Roman" panose="02020603050405020304" pitchFamily="18" charset="0"/>
                  </a:rPr>
                  <a:t> is a true causal parameter of interest (POI)</a:t>
                </a:r>
              </a:p>
              <a:p>
                <a:pPr marL="0" indent="0">
                  <a:lnSpc>
                    <a:spcPct val="100000"/>
                  </a:lnSpc>
                  <a:buNone/>
                </a:pPr>
                <a:r>
                  <a:rPr lang="en-CA" sz="2400" b="1" dirty="0">
                    <a:solidFill>
                      <a:schemeClr val="accent2">
                        <a:lumMod val="75000"/>
                      </a:schemeClr>
                    </a:solidFill>
                    <a:ea typeface="Open Sans" panose="020B0606030504020204" pitchFamily="34" charset="0"/>
                    <a:cs typeface="Times New Roman" panose="02020603050405020304" pitchFamily="18" charset="0"/>
                  </a:rPr>
                  <a:t>How do we know </a:t>
                </a:r>
                <a14:m>
                  <m:oMath xmlns:m="http://schemas.openxmlformats.org/officeDocument/2006/math">
                    <m:r>
                      <a:rPr lang="en-US" sz="2400" b="1" i="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𝔼</m:t>
                    </m:r>
                    <m:d>
                      <m:dPr>
                        <m:begChr m:val="["/>
                        <m:endChr m:val="]"/>
                        <m:ctrlPr>
                          <a:rPr lang="en-US" sz="2400" b="1" i="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ctrlPr>
                      </m:dPr>
                      <m:e>
                        <m:acc>
                          <m:accPr>
                            <m:chr m:val="̂"/>
                            <m:ctrlPr>
                              <a:rPr lang="en-US" sz="2400" b="1" i="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b="1" i="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b="1" i="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𝜷</m:t>
                                </m:r>
                              </m:e>
                              <m:sub>
                                <m:r>
                                  <a:rPr lang="en-US" sz="2400" b="1" i="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𝟏</m:t>
                                </m:r>
                              </m:sub>
                            </m:sSub>
                          </m:e>
                        </m:acc>
                        <m:r>
                          <a:rPr lang="en-US" sz="2400" b="1" i="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 </m:t>
                        </m:r>
                      </m:e>
                    </m:d>
                    <m:r>
                      <a:rPr lang="en-US" sz="2400" b="1" i="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m:t>
                    </m:r>
                    <m:sSub>
                      <m:sSubPr>
                        <m:ctrlPr>
                          <a:rPr lang="en-US" sz="2400" b="1" i="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b="1" i="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𝜷</m:t>
                        </m:r>
                      </m:e>
                      <m:sub>
                        <m:r>
                          <a:rPr lang="en-US" sz="2400" b="1" i="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𝟏</m:t>
                        </m:r>
                      </m:sub>
                    </m:sSub>
                    <m:r>
                      <a:rPr lang="en-US" sz="2400" b="1" i="0" smtClean="0">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m:t>
                    </m:r>
                  </m:oMath>
                </a14:m>
                <a:endParaRPr lang="en-US" sz="2400" b="1" dirty="0">
                  <a:solidFill>
                    <a:schemeClr val="tx1">
                      <a:lumMod val="75000"/>
                      <a:lumOff val="25000"/>
                    </a:schemeClr>
                  </a:solidFill>
                  <a:ea typeface="Open Sans" panose="020B0606030504020204" pitchFamily="34" charset="0"/>
                  <a:cs typeface="Times New Roman" panose="02020603050405020304" pitchFamily="18" charset="0"/>
                </a:endParaRPr>
              </a:p>
              <a:p>
                <a:pPr marL="0" indent="0">
                  <a:lnSpc>
                    <a:spcPct val="100000"/>
                  </a:lnSpc>
                  <a:buNone/>
                </a:pPr>
                <a:r>
                  <a:rPr lang="en-CA" sz="2400" b="1" dirty="0">
                    <a:solidFill>
                      <a:schemeClr val="accent3">
                        <a:lumMod val="75000"/>
                      </a:schemeClr>
                    </a:solidFill>
                    <a:ea typeface="Open Sans" panose="020B0606030504020204" pitchFamily="34" charset="0"/>
                    <a:cs typeface="Times New Roman" panose="02020603050405020304" pitchFamily="18" charset="0"/>
                  </a:rPr>
                  <a:t>Data Assumptions: </a:t>
                </a:r>
              </a:p>
              <a:p>
                <a:pPr marL="617220" lvl="1" indent="-342900">
                  <a:lnSpc>
                    <a:spcPct val="100000"/>
                  </a:lnSpc>
                  <a:buFont typeface="+mj-lt"/>
                  <a:buAutoNum type="arabicPeriod"/>
                </a:pPr>
                <a:r>
                  <a:rPr lang="en-CA" sz="2400" b="1" dirty="0">
                    <a:solidFill>
                      <a:schemeClr val="accent3">
                        <a:lumMod val="75000"/>
                      </a:schemeClr>
                    </a:solidFill>
                    <a:ea typeface="Open Sans" panose="020B0606030504020204" pitchFamily="34" charset="0"/>
                    <a:cs typeface="Times New Roman" panose="02020603050405020304" pitchFamily="18" charset="0"/>
                  </a:rPr>
                  <a:t>Correct Specification. </a:t>
                </a:r>
                <a:r>
                  <a:rPr lang="en-CA" sz="2400" dirty="0">
                    <a:solidFill>
                      <a:schemeClr val="tx1">
                        <a:lumMod val="75000"/>
                        <a:lumOff val="25000"/>
                      </a:schemeClr>
                    </a:solidFill>
                    <a:ea typeface="Open Sans" panose="020B0606030504020204" pitchFamily="34" charset="0"/>
                    <a:cs typeface="Times New Roman" panose="02020603050405020304" pitchFamily="18" charset="0"/>
                  </a:rPr>
                  <a:t>Model is correctly specified as </a:t>
                </a:r>
                <a14:m>
                  <m:oMath xmlns:m="http://schemas.openxmlformats.org/officeDocument/2006/math">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𝑦</m:t>
                        </m:r>
                      </m:e>
                    </m:acc>
                    <m:r>
                      <a:rPr lang="en-US" sz="2400" i="1">
                        <a:latin typeface="Cambria Math" panose="02040503050406030204" pitchFamily="18" charset="0"/>
                        <a:ea typeface="Open Sans" panose="020B0606030504020204" pitchFamily="34" charset="0"/>
                        <a:cs typeface="Open Sans" panose="020B0606030504020204" pitchFamily="34" charset="0"/>
                      </a:rPr>
                      <m:t>=</m:t>
                    </m:r>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0</m:t>
                            </m:r>
                          </m:sub>
                        </m:sSub>
                      </m:e>
                    </m:acc>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m:t>
                    </m:r>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1</m:t>
                            </m:r>
                          </m:sub>
                        </m:sSub>
                      </m:e>
                    </m:acc>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𝑥</m:t>
                    </m:r>
                  </m:oMath>
                </a14:m>
                <a:endParaRPr lang="en-CA" sz="2400" dirty="0">
                  <a:solidFill>
                    <a:schemeClr val="tx1">
                      <a:lumMod val="75000"/>
                      <a:lumOff val="25000"/>
                    </a:schemeClr>
                  </a:solidFill>
                  <a:ea typeface="Open Sans" panose="020B0606030504020204" pitchFamily="34" charset="0"/>
                  <a:cs typeface="Times New Roman" panose="02020603050405020304" pitchFamily="18" charset="0"/>
                </a:endParaRPr>
              </a:p>
              <a:p>
                <a:pPr marL="617220" lvl="1" indent="-342900">
                  <a:lnSpc>
                    <a:spcPct val="100000"/>
                  </a:lnSpc>
                  <a:buFont typeface="+mj-lt"/>
                  <a:buAutoNum type="arabicPeriod"/>
                </a:pPr>
                <a:r>
                  <a:rPr lang="en-CA" sz="2400" b="1" dirty="0">
                    <a:solidFill>
                      <a:schemeClr val="accent3">
                        <a:lumMod val="75000"/>
                      </a:schemeClr>
                    </a:solidFill>
                    <a:ea typeface="Open Sans" panose="020B0606030504020204" pitchFamily="34" charset="0"/>
                    <a:cs typeface="Times New Roman" panose="02020603050405020304" pitchFamily="18" charset="0"/>
                  </a:rPr>
                  <a:t>Random Sampling. </a:t>
                </a:r>
                <a:r>
                  <a:rPr lang="en-CA" sz="2400" dirty="0">
                    <a:solidFill>
                      <a:schemeClr val="tx1">
                        <a:lumMod val="75000"/>
                        <a:lumOff val="25000"/>
                      </a:schemeClr>
                    </a:solidFill>
                    <a:ea typeface="Open Sans" panose="020B0606030504020204" pitchFamily="34" charset="0"/>
                    <a:cs typeface="Times New Roman" panose="02020603050405020304" pitchFamily="18" charset="0"/>
                  </a:rPr>
                  <a:t>Random sampling of data</a:t>
                </a:r>
              </a:p>
              <a:p>
                <a:pPr marL="617220" lvl="1" indent="-342900">
                  <a:lnSpc>
                    <a:spcPct val="100000"/>
                  </a:lnSpc>
                  <a:buFont typeface="+mj-lt"/>
                  <a:buAutoNum type="arabicPeriod"/>
                </a:pPr>
                <a:r>
                  <a:rPr lang="en-CA" sz="2400" b="1" dirty="0">
                    <a:solidFill>
                      <a:schemeClr val="accent3">
                        <a:lumMod val="75000"/>
                      </a:schemeClr>
                    </a:solidFill>
                    <a:ea typeface="Open Sans" panose="020B0606030504020204" pitchFamily="34" charset="0"/>
                    <a:cs typeface="Times New Roman" panose="02020603050405020304" pitchFamily="18" charset="0"/>
                  </a:rPr>
                  <a:t>Sample Variation. </a:t>
                </a:r>
                <a:r>
                  <a:rPr lang="en-CA" sz="2400" dirty="0">
                    <a:solidFill>
                      <a:schemeClr val="tx1">
                        <a:lumMod val="75000"/>
                        <a:lumOff val="25000"/>
                      </a:schemeClr>
                    </a:solidFill>
                    <a:ea typeface="Open Sans" panose="020B0606030504020204" pitchFamily="34" charset="0"/>
                    <a:cs typeface="Times New Roman" panose="02020603050405020304" pitchFamily="18" charset="0"/>
                  </a:rPr>
                  <a:t>Sample variation in </a:t>
                </a:r>
                <a14:m>
                  <m:oMath xmlns:m="http://schemas.openxmlformats.org/officeDocument/2006/math">
                    <m:sSub>
                      <m:sSubPr>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𝑥</m:t>
                        </m:r>
                      </m:e>
                      <m:sub>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𝑖</m:t>
                        </m:r>
                      </m:sub>
                    </m:sSub>
                  </m:oMath>
                </a14:m>
                <a:endParaRPr lang="en-CA" sz="2400" b="1" dirty="0">
                  <a:solidFill>
                    <a:schemeClr val="tx1">
                      <a:lumMod val="75000"/>
                      <a:lumOff val="25000"/>
                    </a:schemeClr>
                  </a:solidFill>
                  <a:ea typeface="Open Sans" panose="020B0606030504020204" pitchFamily="34" charset="0"/>
                  <a:cs typeface="Times New Roman" panose="02020603050405020304" pitchFamily="18" charset="0"/>
                </a:endParaRPr>
              </a:p>
              <a:p>
                <a:pPr marL="274320" lvl="1" indent="0">
                  <a:lnSpc>
                    <a:spcPct val="100000"/>
                  </a:lnSpc>
                  <a:buNone/>
                </a:pPr>
                <a:endParaRPr lang="en-CA" sz="2400" b="1" dirty="0">
                  <a:solidFill>
                    <a:schemeClr val="tx1">
                      <a:lumMod val="75000"/>
                      <a:lumOff val="25000"/>
                    </a:schemeClr>
                  </a:solidFill>
                  <a:ea typeface="Open Sans" panose="020B0606030504020204" pitchFamily="34" charset="0"/>
                  <a:cs typeface="Times New Roman" panose="02020603050405020304" pitchFamily="18" charset="0"/>
                </a:endParaRPr>
              </a:p>
              <a:p>
                <a:pPr marL="274320" lvl="1" indent="0">
                  <a:lnSpc>
                    <a:spcPct val="100000"/>
                  </a:lnSpc>
                  <a:buNone/>
                </a:pPr>
                <a:r>
                  <a:rPr lang="en-CA" sz="2400" b="1" dirty="0">
                    <a:solidFill>
                      <a:schemeClr val="accent3">
                        <a:lumMod val="75000"/>
                      </a:schemeClr>
                    </a:solidFill>
                    <a:ea typeface="Open Sans" panose="020B0606030504020204" pitchFamily="34" charset="0"/>
                    <a:cs typeface="Times New Roman" panose="02020603050405020304" pitchFamily="18" charset="0"/>
                  </a:rPr>
                  <a:t>Key Assumption: Mean Independence. </a:t>
                </a:r>
                <a14:m>
                  <m:oMath xmlns:m="http://schemas.openxmlformats.org/officeDocument/2006/math">
                    <m:r>
                      <a:rPr lang="en-US" sz="2400" b="0" i="1" smtClean="0">
                        <a:solidFill>
                          <a:schemeClr val="accent3">
                            <a:lumMod val="75000"/>
                          </a:schemeClr>
                        </a:solidFill>
                        <a:latin typeface="Cambria Math" panose="02040503050406030204" pitchFamily="18" charset="0"/>
                        <a:ea typeface="Open Sans" panose="020B0606030504020204" pitchFamily="34" charset="0"/>
                        <a:cs typeface="Times New Roman" panose="02020603050405020304" pitchFamily="18" charset="0"/>
                      </a:rPr>
                      <m:t>𝔼</m:t>
                    </m:r>
                    <m:d>
                      <m:dPr>
                        <m:begChr m:val="["/>
                        <m:endChr m:val="]"/>
                        <m:ctrlPr>
                          <a:rPr lang="en-US" sz="2400" b="0" i="1" smtClean="0">
                            <a:solidFill>
                              <a:schemeClr val="accent3">
                                <a:lumMod val="75000"/>
                              </a:schemeClr>
                            </a:solidFill>
                            <a:latin typeface="Cambria Math" panose="02040503050406030204" pitchFamily="18" charset="0"/>
                            <a:ea typeface="Open Sans" panose="020B0606030504020204" pitchFamily="34" charset="0"/>
                            <a:cs typeface="Times New Roman" panose="02020603050405020304" pitchFamily="18" charset="0"/>
                          </a:rPr>
                        </m:ctrlPr>
                      </m:dPr>
                      <m:e>
                        <m:r>
                          <a:rPr lang="en-US" sz="2400" b="0" i="1" smtClean="0">
                            <a:solidFill>
                              <a:schemeClr val="accent3">
                                <a:lumMod val="75000"/>
                              </a:schemeClr>
                            </a:solidFill>
                            <a:latin typeface="Cambria Math" panose="02040503050406030204" pitchFamily="18" charset="0"/>
                            <a:ea typeface="Open Sans" panose="020B0606030504020204" pitchFamily="34" charset="0"/>
                            <a:cs typeface="Times New Roman" panose="02020603050405020304" pitchFamily="18" charset="0"/>
                          </a:rPr>
                          <m:t>𝜀</m:t>
                        </m:r>
                      </m:e>
                      <m:e>
                        <m:r>
                          <a:rPr lang="en-US" sz="2400" b="0" i="1" smtClean="0">
                            <a:solidFill>
                              <a:schemeClr val="accent3">
                                <a:lumMod val="75000"/>
                              </a:schemeClr>
                            </a:solidFill>
                            <a:latin typeface="Cambria Math" panose="02040503050406030204" pitchFamily="18" charset="0"/>
                            <a:ea typeface="Open Sans" panose="020B0606030504020204" pitchFamily="34" charset="0"/>
                            <a:cs typeface="Times New Roman" panose="02020603050405020304" pitchFamily="18" charset="0"/>
                          </a:rPr>
                          <m:t>𝑥</m:t>
                        </m:r>
                      </m:e>
                    </m:d>
                    <m:r>
                      <a:rPr lang="en-US" sz="2400" b="0" i="1" smtClean="0">
                        <a:solidFill>
                          <a:schemeClr val="accent3">
                            <a:lumMod val="75000"/>
                          </a:schemeClr>
                        </a:solidFill>
                        <a:latin typeface="Cambria Math" panose="02040503050406030204" pitchFamily="18" charset="0"/>
                        <a:ea typeface="Open Sans" panose="020B0606030504020204" pitchFamily="34" charset="0"/>
                        <a:cs typeface="Times New Roman" panose="02020603050405020304" pitchFamily="18" charset="0"/>
                      </a:rPr>
                      <m:t>=</m:t>
                    </m:r>
                    <m:r>
                      <a:rPr lang="en-US" sz="2400" b="0" i="1" smtClean="0">
                        <a:solidFill>
                          <a:schemeClr val="accent3">
                            <a:lumMod val="75000"/>
                          </a:schemeClr>
                        </a:solidFill>
                        <a:latin typeface="Cambria Math" panose="02040503050406030204" pitchFamily="18" charset="0"/>
                        <a:ea typeface="Open Sans" panose="020B0606030504020204" pitchFamily="34" charset="0"/>
                        <a:cs typeface="Times New Roman" panose="02020603050405020304" pitchFamily="18" charset="0"/>
                      </a:rPr>
                      <m:t>𝔼</m:t>
                    </m:r>
                    <m:d>
                      <m:dPr>
                        <m:begChr m:val="["/>
                        <m:endChr m:val="]"/>
                        <m:ctrlPr>
                          <a:rPr lang="en-US" sz="2400" b="0" i="1" smtClean="0">
                            <a:solidFill>
                              <a:schemeClr val="accent3">
                                <a:lumMod val="75000"/>
                              </a:schemeClr>
                            </a:solidFill>
                            <a:latin typeface="Cambria Math" panose="02040503050406030204" pitchFamily="18" charset="0"/>
                            <a:ea typeface="Open Sans" panose="020B0606030504020204" pitchFamily="34" charset="0"/>
                            <a:cs typeface="Times New Roman" panose="02020603050405020304" pitchFamily="18" charset="0"/>
                          </a:rPr>
                        </m:ctrlPr>
                      </m:dPr>
                      <m:e>
                        <m:r>
                          <a:rPr lang="en-US" sz="2400" b="0" i="1" smtClean="0">
                            <a:solidFill>
                              <a:schemeClr val="accent3">
                                <a:lumMod val="75000"/>
                              </a:schemeClr>
                            </a:solidFill>
                            <a:latin typeface="Cambria Math" panose="02040503050406030204" pitchFamily="18" charset="0"/>
                            <a:ea typeface="Open Sans" panose="020B0606030504020204" pitchFamily="34" charset="0"/>
                            <a:cs typeface="Times New Roman" panose="02020603050405020304" pitchFamily="18" charset="0"/>
                          </a:rPr>
                          <m:t>𝜀</m:t>
                        </m:r>
                      </m:e>
                    </m:d>
                    <m:r>
                      <a:rPr lang="en-US" sz="2400" b="0" i="1" smtClean="0">
                        <a:solidFill>
                          <a:schemeClr val="accent3">
                            <a:lumMod val="75000"/>
                          </a:schemeClr>
                        </a:solidFill>
                        <a:latin typeface="Cambria Math" panose="02040503050406030204" pitchFamily="18" charset="0"/>
                        <a:ea typeface="Open Sans" panose="020B0606030504020204" pitchFamily="34" charset="0"/>
                        <a:cs typeface="Times New Roman" panose="02020603050405020304" pitchFamily="18" charset="0"/>
                      </a:rPr>
                      <m:t>=0</m:t>
                    </m:r>
                  </m:oMath>
                </a14:m>
                <a:endParaRPr lang="en-CA" sz="2400" dirty="0">
                  <a:solidFill>
                    <a:schemeClr val="tx1">
                      <a:lumMod val="75000"/>
                      <a:lumOff val="25000"/>
                    </a:schemeClr>
                  </a:solidFill>
                  <a:ea typeface="Open Sans" panose="020B0606030504020204" pitchFamily="34" charset="0"/>
                  <a:cs typeface="Times New Roman" panose="02020603050405020304" pitchFamily="18" charset="0"/>
                </a:endParaRPr>
              </a:p>
              <a:p>
                <a:pPr marL="617220" lvl="1" indent="-342900">
                  <a:lnSpc>
                    <a:spcPct val="100000"/>
                  </a:lnSpc>
                  <a:buFont typeface="+mj-lt"/>
                  <a:buAutoNum type="arabicPeriod"/>
                </a:pPr>
                <a:endParaRPr lang="en-CA" sz="2400" b="1" dirty="0">
                  <a:solidFill>
                    <a:schemeClr val="tx1">
                      <a:lumMod val="75000"/>
                      <a:lumOff val="25000"/>
                    </a:schemeClr>
                  </a:solidFill>
                  <a:ea typeface="Open Sans" panose="020B0606030504020204" pitchFamily="34"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363200" cy="5141388"/>
              </a:xfrm>
              <a:blipFill>
                <a:blip r:embed="rId3"/>
                <a:stretch>
                  <a:fillRect l="-882"/>
                </a:stretch>
              </a:blipFill>
            </p:spPr>
            <p:txBody>
              <a:bodyPr/>
              <a:lstStyle/>
              <a:p>
                <a:r>
                  <a:rPr lang="en-US">
                    <a:noFill/>
                  </a:rPr>
                  <a:t> </a:t>
                </a:r>
              </a:p>
            </p:txBody>
          </p:sp>
        </mc:Fallback>
      </mc:AlternateContent>
    </p:spTree>
    <p:extLst>
      <p:ext uri="{BB962C8B-B14F-4D97-AF65-F5344CB8AC3E}">
        <p14:creationId xmlns:p14="http://schemas.microsoft.com/office/powerpoint/2010/main" val="171250562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8991600" cy="624840"/>
          </a:xfrm>
        </p:spPr>
        <p:txBody>
          <a:bodyPr>
            <a:normAutofit fontScale="90000"/>
          </a:bodyPr>
          <a:lstStyle/>
          <a:p>
            <a:r>
              <a:rPr lang="en-US" dirty="0">
                <a:latin typeface="Times New Roman" panose="02020603050405020304" pitchFamily="18" charset="0"/>
                <a:cs typeface="Times New Roman" panose="02020603050405020304" pitchFamily="18" charset="0"/>
              </a:rPr>
              <a:t>Unbiasedness: Estimating Causal POI</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363200" cy="5141388"/>
              </a:xfrm>
            </p:spPr>
            <p:txBody>
              <a:bodyPr>
                <a:noAutofit/>
              </a:bodyPr>
              <a:lstStyle/>
              <a:p>
                <a:pPr marL="0" indent="0">
                  <a:lnSpc>
                    <a:spcPct val="100000"/>
                  </a:lnSpc>
                  <a:buNone/>
                </a:pPr>
                <a14:m>
                  <m:oMathPara xmlns:m="http://schemas.openxmlformats.org/officeDocument/2006/math">
                    <m:oMath>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𝑦</m:t>
                          </m:r>
                        </m:e>
                      </m:acc>
                      <m:r>
                        <a:rPr lang="en-US" sz="2400" i="1">
                          <a:latin typeface="Cambria Math" panose="02040503050406030204" pitchFamily="18" charset="0"/>
                          <a:ea typeface="Open Sans" panose="020B0606030504020204" pitchFamily="34" charset="0"/>
                          <a:cs typeface="Open Sans" panose="020B0606030504020204" pitchFamily="34" charset="0"/>
                        </a:rPr>
                        <m:t>=</m:t>
                      </m:r>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0</m:t>
                              </m:r>
                            </m:sub>
                          </m:sSub>
                        </m:e>
                      </m:acc>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m:t>
                      </m:r>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1</m:t>
                              </m:r>
                            </m:sub>
                          </m:sSub>
                        </m:e>
                      </m:acc>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𝑥</m:t>
                      </m:r>
                    </m:oMath>
                  </m:oMathPara>
                </a14:m>
                <a:endParaRPr lang="en-CA" sz="2400" dirty="0">
                  <a:solidFill>
                    <a:schemeClr val="tx1">
                      <a:lumMod val="75000"/>
                      <a:lumOff val="25000"/>
                    </a:schemeClr>
                  </a:solidFill>
                  <a:ea typeface="Open Sans" panose="020B0606030504020204" pitchFamily="34" charset="0"/>
                  <a:cs typeface="Times New Roman" panose="02020603050405020304" pitchFamily="18" charset="0"/>
                </a:endParaRPr>
              </a:p>
              <a:p>
                <a:pPr>
                  <a:lnSpc>
                    <a:spcPct val="100000"/>
                  </a:lnSpc>
                </a:pPr>
                <a:r>
                  <a:rPr lang="en-US" sz="2400" dirty="0">
                    <a:solidFill>
                      <a:schemeClr val="tx1">
                        <a:lumMod val="75000"/>
                        <a:lumOff val="25000"/>
                      </a:schemeClr>
                    </a:solidFill>
                    <a:ea typeface="Open Sans" panose="020B0606030504020204" pitchFamily="34" charset="0"/>
                    <a:cs typeface="Times New Roman" panose="02020603050405020304" pitchFamily="18" charset="0"/>
                  </a:rPr>
                  <a:t>Suppose that we have a correctly identified model, such that </a:t>
                </a:r>
                <a14:m>
                  <m:oMath xmlns:m="http://schemas.openxmlformats.org/officeDocument/2006/math">
                    <m:sSub>
                      <m:sSubPr>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1</m:t>
                        </m:r>
                      </m:sub>
                    </m:sSub>
                  </m:oMath>
                </a14:m>
                <a:r>
                  <a:rPr lang="en-CA" sz="2400" dirty="0">
                    <a:solidFill>
                      <a:schemeClr val="tx1">
                        <a:lumMod val="75000"/>
                        <a:lumOff val="25000"/>
                      </a:schemeClr>
                    </a:solidFill>
                    <a:ea typeface="Open Sans" panose="020B0606030504020204" pitchFamily="34" charset="0"/>
                    <a:cs typeface="Times New Roman" panose="02020603050405020304" pitchFamily="18" charset="0"/>
                  </a:rPr>
                  <a:t> is a true causal parameter of interest (POI)</a:t>
                </a:r>
              </a:p>
              <a:p>
                <a:pPr marL="0" indent="0">
                  <a:lnSpc>
                    <a:spcPct val="100000"/>
                  </a:lnSpc>
                  <a:buNone/>
                </a:pPr>
                <a:r>
                  <a:rPr lang="en-CA" sz="2400" b="1" dirty="0">
                    <a:solidFill>
                      <a:schemeClr val="accent2">
                        <a:lumMod val="75000"/>
                      </a:schemeClr>
                    </a:solidFill>
                    <a:ea typeface="Open Sans" panose="020B0606030504020204" pitchFamily="34" charset="0"/>
                    <a:cs typeface="Times New Roman" panose="02020603050405020304" pitchFamily="18" charset="0"/>
                  </a:rPr>
                  <a:t>How do we know </a:t>
                </a:r>
                <a14:m>
                  <m:oMath xmlns:m="http://schemas.openxmlformats.org/officeDocument/2006/math">
                    <m:r>
                      <a:rPr lang="en-US" sz="2400" b="1" i="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𝔼</m:t>
                    </m:r>
                    <m:d>
                      <m:dPr>
                        <m:begChr m:val="["/>
                        <m:endChr m:val="]"/>
                        <m:ctrlPr>
                          <a:rPr lang="en-US" sz="2400" b="1" i="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ctrlPr>
                      </m:dPr>
                      <m:e>
                        <m:acc>
                          <m:accPr>
                            <m:chr m:val="̂"/>
                            <m:ctrlPr>
                              <a:rPr lang="en-US" sz="2400" b="1" i="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b="1" i="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b="1" i="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𝜷</m:t>
                                </m:r>
                              </m:e>
                              <m:sub>
                                <m:r>
                                  <a:rPr lang="en-US" sz="2400" b="1" i="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𝟏</m:t>
                                </m:r>
                              </m:sub>
                            </m:sSub>
                          </m:e>
                        </m:acc>
                        <m:r>
                          <a:rPr lang="en-US" sz="2400" b="1" i="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 </m:t>
                        </m:r>
                      </m:e>
                    </m:d>
                    <m:r>
                      <a:rPr lang="en-US" sz="2400" b="1" i="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m:t>
                    </m:r>
                    <m:sSub>
                      <m:sSubPr>
                        <m:ctrlPr>
                          <a:rPr lang="en-US" sz="2400" b="1" i="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b="1" i="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𝜷</m:t>
                        </m:r>
                      </m:e>
                      <m:sub>
                        <m:r>
                          <a:rPr lang="en-US" sz="2400" b="1" i="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𝟏</m:t>
                        </m:r>
                      </m:sub>
                    </m:sSub>
                    <m:r>
                      <a:rPr lang="en-US" sz="2400" b="1" i="0" smtClean="0">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m:t>
                    </m:r>
                  </m:oMath>
                </a14:m>
                <a:endParaRPr lang="en-US" sz="2400" b="1" dirty="0">
                  <a:solidFill>
                    <a:schemeClr val="tx1">
                      <a:lumMod val="75000"/>
                      <a:lumOff val="25000"/>
                    </a:schemeClr>
                  </a:solidFill>
                  <a:ea typeface="Open Sans" panose="020B0606030504020204" pitchFamily="34" charset="0"/>
                  <a:cs typeface="Times New Roman" panose="02020603050405020304" pitchFamily="18" charset="0"/>
                </a:endParaRPr>
              </a:p>
              <a:p>
                <a:pPr marL="0" indent="0">
                  <a:lnSpc>
                    <a:spcPct val="100000"/>
                  </a:lnSpc>
                  <a:buNone/>
                </a:pPr>
                <a:r>
                  <a:rPr lang="en-CA" sz="2400" b="1" dirty="0">
                    <a:solidFill>
                      <a:schemeClr val="accent3">
                        <a:lumMod val="75000"/>
                      </a:schemeClr>
                    </a:solidFill>
                    <a:ea typeface="Open Sans" panose="020B0606030504020204" pitchFamily="34" charset="0"/>
                    <a:cs typeface="Times New Roman" panose="02020603050405020304" pitchFamily="18" charset="0"/>
                  </a:rPr>
                  <a:t>Data Assumptions: </a:t>
                </a:r>
              </a:p>
              <a:p>
                <a:pPr marL="617220" lvl="1" indent="-342900">
                  <a:lnSpc>
                    <a:spcPct val="100000"/>
                  </a:lnSpc>
                  <a:buFont typeface="+mj-lt"/>
                  <a:buAutoNum type="arabicPeriod"/>
                </a:pPr>
                <a:r>
                  <a:rPr lang="en-CA" sz="2400" b="1" dirty="0">
                    <a:solidFill>
                      <a:schemeClr val="accent3">
                        <a:lumMod val="75000"/>
                      </a:schemeClr>
                    </a:solidFill>
                    <a:ea typeface="Open Sans" panose="020B0606030504020204" pitchFamily="34" charset="0"/>
                    <a:cs typeface="Times New Roman" panose="02020603050405020304" pitchFamily="18" charset="0"/>
                  </a:rPr>
                  <a:t>Correct Specification. </a:t>
                </a:r>
                <a:r>
                  <a:rPr lang="en-CA" sz="2400" dirty="0">
                    <a:solidFill>
                      <a:schemeClr val="tx1">
                        <a:lumMod val="75000"/>
                        <a:lumOff val="25000"/>
                      </a:schemeClr>
                    </a:solidFill>
                    <a:ea typeface="Open Sans" panose="020B0606030504020204" pitchFamily="34" charset="0"/>
                    <a:cs typeface="Times New Roman" panose="02020603050405020304" pitchFamily="18" charset="0"/>
                  </a:rPr>
                  <a:t>Model is correctly specified as </a:t>
                </a:r>
                <a14:m>
                  <m:oMath xmlns:m="http://schemas.openxmlformats.org/officeDocument/2006/math">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𝑦</m:t>
                        </m:r>
                      </m:e>
                    </m:acc>
                    <m:r>
                      <a:rPr lang="en-US" sz="2400" i="1">
                        <a:latin typeface="Cambria Math" panose="02040503050406030204" pitchFamily="18" charset="0"/>
                        <a:ea typeface="Open Sans" panose="020B0606030504020204" pitchFamily="34" charset="0"/>
                        <a:cs typeface="Open Sans" panose="020B0606030504020204" pitchFamily="34" charset="0"/>
                      </a:rPr>
                      <m:t>=</m:t>
                    </m:r>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0</m:t>
                            </m:r>
                          </m:sub>
                        </m:sSub>
                      </m:e>
                    </m:acc>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m:t>
                    </m:r>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1</m:t>
                            </m:r>
                          </m:sub>
                        </m:sSub>
                      </m:e>
                    </m:acc>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𝑥</m:t>
                    </m:r>
                  </m:oMath>
                </a14:m>
                <a:endParaRPr lang="en-CA" sz="2400" dirty="0">
                  <a:solidFill>
                    <a:schemeClr val="tx1">
                      <a:lumMod val="75000"/>
                      <a:lumOff val="25000"/>
                    </a:schemeClr>
                  </a:solidFill>
                  <a:ea typeface="Open Sans" panose="020B0606030504020204" pitchFamily="34" charset="0"/>
                  <a:cs typeface="Times New Roman" panose="02020603050405020304" pitchFamily="18" charset="0"/>
                </a:endParaRPr>
              </a:p>
              <a:p>
                <a:pPr marL="617220" lvl="1" indent="-342900">
                  <a:lnSpc>
                    <a:spcPct val="100000"/>
                  </a:lnSpc>
                  <a:buFont typeface="+mj-lt"/>
                  <a:buAutoNum type="arabicPeriod"/>
                </a:pPr>
                <a:r>
                  <a:rPr lang="en-CA" sz="2400" b="1" dirty="0">
                    <a:solidFill>
                      <a:schemeClr val="accent3">
                        <a:lumMod val="75000"/>
                      </a:schemeClr>
                    </a:solidFill>
                    <a:ea typeface="Open Sans" panose="020B0606030504020204" pitchFamily="34" charset="0"/>
                    <a:cs typeface="Times New Roman" panose="02020603050405020304" pitchFamily="18" charset="0"/>
                  </a:rPr>
                  <a:t>Random Sampling. </a:t>
                </a:r>
                <a:r>
                  <a:rPr lang="en-CA" sz="2400" dirty="0">
                    <a:solidFill>
                      <a:schemeClr val="tx1">
                        <a:lumMod val="75000"/>
                        <a:lumOff val="25000"/>
                      </a:schemeClr>
                    </a:solidFill>
                    <a:ea typeface="Open Sans" panose="020B0606030504020204" pitchFamily="34" charset="0"/>
                    <a:cs typeface="Times New Roman" panose="02020603050405020304" pitchFamily="18" charset="0"/>
                  </a:rPr>
                  <a:t>Random sampling of data</a:t>
                </a:r>
              </a:p>
              <a:p>
                <a:pPr marL="617220" lvl="1" indent="-342900">
                  <a:lnSpc>
                    <a:spcPct val="100000"/>
                  </a:lnSpc>
                  <a:buFont typeface="+mj-lt"/>
                  <a:buAutoNum type="arabicPeriod"/>
                </a:pPr>
                <a:r>
                  <a:rPr lang="en-CA" sz="2400" b="1" dirty="0">
                    <a:solidFill>
                      <a:schemeClr val="accent3">
                        <a:lumMod val="75000"/>
                      </a:schemeClr>
                    </a:solidFill>
                    <a:ea typeface="Open Sans" panose="020B0606030504020204" pitchFamily="34" charset="0"/>
                    <a:cs typeface="Times New Roman" panose="02020603050405020304" pitchFamily="18" charset="0"/>
                  </a:rPr>
                  <a:t>Sample Variation. </a:t>
                </a:r>
                <a:r>
                  <a:rPr lang="en-CA" sz="2400" dirty="0">
                    <a:solidFill>
                      <a:schemeClr val="tx1">
                        <a:lumMod val="75000"/>
                        <a:lumOff val="25000"/>
                      </a:schemeClr>
                    </a:solidFill>
                    <a:ea typeface="Open Sans" panose="020B0606030504020204" pitchFamily="34" charset="0"/>
                    <a:cs typeface="Times New Roman" panose="02020603050405020304" pitchFamily="18" charset="0"/>
                  </a:rPr>
                  <a:t>Sample variation in </a:t>
                </a:r>
                <a14:m>
                  <m:oMath xmlns:m="http://schemas.openxmlformats.org/officeDocument/2006/math">
                    <m:sSub>
                      <m:sSubPr>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𝑥</m:t>
                        </m:r>
                      </m:e>
                      <m:sub>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𝑖</m:t>
                        </m:r>
                      </m:sub>
                    </m:sSub>
                  </m:oMath>
                </a14:m>
                <a:endParaRPr lang="en-CA" sz="2400" b="1" dirty="0">
                  <a:solidFill>
                    <a:schemeClr val="tx1">
                      <a:lumMod val="75000"/>
                      <a:lumOff val="25000"/>
                    </a:schemeClr>
                  </a:solidFill>
                  <a:ea typeface="Open Sans" panose="020B0606030504020204" pitchFamily="34" charset="0"/>
                  <a:cs typeface="Times New Roman" panose="02020603050405020304" pitchFamily="18" charset="0"/>
                </a:endParaRPr>
              </a:p>
              <a:p>
                <a:pPr marL="274320" lvl="1" indent="0">
                  <a:lnSpc>
                    <a:spcPct val="100000"/>
                  </a:lnSpc>
                  <a:buNone/>
                </a:pPr>
                <a:r>
                  <a:rPr lang="en-CA" sz="2400" b="1" dirty="0">
                    <a:solidFill>
                      <a:schemeClr val="accent3">
                        <a:lumMod val="75000"/>
                      </a:schemeClr>
                    </a:solidFill>
                    <a:ea typeface="Open Sans" panose="020B0606030504020204" pitchFamily="34" charset="0"/>
                    <a:cs typeface="Times New Roman" panose="02020603050405020304" pitchFamily="18" charset="0"/>
                  </a:rPr>
                  <a:t>4. Key Assumption: Mean Independence. </a:t>
                </a:r>
                <a14:m>
                  <m:oMath xmlns:m="http://schemas.openxmlformats.org/officeDocument/2006/math">
                    <m:r>
                      <a:rPr lang="en-US" sz="2400" b="0" i="1" smtClean="0">
                        <a:solidFill>
                          <a:schemeClr val="accent3">
                            <a:lumMod val="75000"/>
                          </a:schemeClr>
                        </a:solidFill>
                        <a:latin typeface="Cambria Math" panose="02040503050406030204" pitchFamily="18" charset="0"/>
                        <a:ea typeface="Open Sans" panose="020B0606030504020204" pitchFamily="34" charset="0"/>
                        <a:cs typeface="Times New Roman" panose="02020603050405020304" pitchFamily="18" charset="0"/>
                      </a:rPr>
                      <m:t>𝔼</m:t>
                    </m:r>
                    <m:d>
                      <m:dPr>
                        <m:begChr m:val="["/>
                        <m:endChr m:val="]"/>
                        <m:ctrlPr>
                          <a:rPr lang="en-US" sz="2400" b="0" i="1" smtClean="0">
                            <a:solidFill>
                              <a:schemeClr val="accent3">
                                <a:lumMod val="75000"/>
                              </a:schemeClr>
                            </a:solidFill>
                            <a:latin typeface="Cambria Math" panose="02040503050406030204" pitchFamily="18" charset="0"/>
                            <a:ea typeface="Open Sans" panose="020B0606030504020204" pitchFamily="34" charset="0"/>
                            <a:cs typeface="Times New Roman" panose="02020603050405020304" pitchFamily="18" charset="0"/>
                          </a:rPr>
                        </m:ctrlPr>
                      </m:dPr>
                      <m:e>
                        <m:r>
                          <a:rPr lang="en-US" sz="2400" b="0" i="1" smtClean="0">
                            <a:solidFill>
                              <a:schemeClr val="accent3">
                                <a:lumMod val="75000"/>
                              </a:schemeClr>
                            </a:solidFill>
                            <a:latin typeface="Cambria Math" panose="02040503050406030204" pitchFamily="18" charset="0"/>
                            <a:ea typeface="Open Sans" panose="020B0606030504020204" pitchFamily="34" charset="0"/>
                            <a:cs typeface="Times New Roman" panose="02020603050405020304" pitchFamily="18" charset="0"/>
                          </a:rPr>
                          <m:t>𝜀</m:t>
                        </m:r>
                      </m:e>
                      <m:e>
                        <m:r>
                          <a:rPr lang="en-US" sz="2400" b="0" i="1" smtClean="0">
                            <a:solidFill>
                              <a:schemeClr val="accent3">
                                <a:lumMod val="75000"/>
                              </a:schemeClr>
                            </a:solidFill>
                            <a:latin typeface="Cambria Math" panose="02040503050406030204" pitchFamily="18" charset="0"/>
                            <a:ea typeface="Open Sans" panose="020B0606030504020204" pitchFamily="34" charset="0"/>
                            <a:cs typeface="Times New Roman" panose="02020603050405020304" pitchFamily="18" charset="0"/>
                          </a:rPr>
                          <m:t>𝑥</m:t>
                        </m:r>
                      </m:e>
                    </m:d>
                    <m:r>
                      <a:rPr lang="en-US" sz="2400" b="0" i="1" smtClean="0">
                        <a:solidFill>
                          <a:schemeClr val="accent3">
                            <a:lumMod val="75000"/>
                          </a:schemeClr>
                        </a:solidFill>
                        <a:latin typeface="Cambria Math" panose="02040503050406030204" pitchFamily="18" charset="0"/>
                        <a:ea typeface="Open Sans" panose="020B0606030504020204" pitchFamily="34" charset="0"/>
                        <a:cs typeface="Times New Roman" panose="02020603050405020304" pitchFamily="18" charset="0"/>
                      </a:rPr>
                      <m:t>=</m:t>
                    </m:r>
                    <m:r>
                      <a:rPr lang="en-US" sz="2400" b="0" i="1" smtClean="0">
                        <a:solidFill>
                          <a:schemeClr val="accent3">
                            <a:lumMod val="75000"/>
                          </a:schemeClr>
                        </a:solidFill>
                        <a:latin typeface="Cambria Math" panose="02040503050406030204" pitchFamily="18" charset="0"/>
                        <a:ea typeface="Open Sans" panose="020B0606030504020204" pitchFamily="34" charset="0"/>
                        <a:cs typeface="Times New Roman" panose="02020603050405020304" pitchFamily="18" charset="0"/>
                      </a:rPr>
                      <m:t>𝔼</m:t>
                    </m:r>
                    <m:d>
                      <m:dPr>
                        <m:begChr m:val="["/>
                        <m:endChr m:val="]"/>
                        <m:ctrlPr>
                          <a:rPr lang="en-US" sz="2400" b="0" i="1" smtClean="0">
                            <a:solidFill>
                              <a:schemeClr val="accent3">
                                <a:lumMod val="75000"/>
                              </a:schemeClr>
                            </a:solidFill>
                            <a:latin typeface="Cambria Math" panose="02040503050406030204" pitchFamily="18" charset="0"/>
                            <a:ea typeface="Open Sans" panose="020B0606030504020204" pitchFamily="34" charset="0"/>
                            <a:cs typeface="Times New Roman" panose="02020603050405020304" pitchFamily="18" charset="0"/>
                          </a:rPr>
                        </m:ctrlPr>
                      </m:dPr>
                      <m:e>
                        <m:r>
                          <a:rPr lang="en-US" sz="2400" b="0" i="1" smtClean="0">
                            <a:solidFill>
                              <a:schemeClr val="accent3">
                                <a:lumMod val="75000"/>
                              </a:schemeClr>
                            </a:solidFill>
                            <a:latin typeface="Cambria Math" panose="02040503050406030204" pitchFamily="18" charset="0"/>
                            <a:ea typeface="Open Sans" panose="020B0606030504020204" pitchFamily="34" charset="0"/>
                            <a:cs typeface="Times New Roman" panose="02020603050405020304" pitchFamily="18" charset="0"/>
                          </a:rPr>
                          <m:t>𝜀</m:t>
                        </m:r>
                      </m:e>
                    </m:d>
                    <m:r>
                      <a:rPr lang="en-US" sz="2400" b="0" i="1" smtClean="0">
                        <a:solidFill>
                          <a:schemeClr val="accent3">
                            <a:lumMod val="75000"/>
                          </a:schemeClr>
                        </a:solidFill>
                        <a:latin typeface="Cambria Math" panose="02040503050406030204" pitchFamily="18" charset="0"/>
                        <a:ea typeface="Open Sans" panose="020B0606030504020204" pitchFamily="34" charset="0"/>
                        <a:cs typeface="Times New Roman" panose="02020603050405020304" pitchFamily="18" charset="0"/>
                      </a:rPr>
                      <m:t>=0</m:t>
                    </m:r>
                  </m:oMath>
                </a14:m>
                <a:endParaRPr lang="en-CA" sz="2400" dirty="0">
                  <a:solidFill>
                    <a:schemeClr val="tx1">
                      <a:lumMod val="75000"/>
                      <a:lumOff val="25000"/>
                    </a:schemeClr>
                  </a:solidFill>
                  <a:ea typeface="Open Sans" panose="020B0606030504020204" pitchFamily="34" charset="0"/>
                  <a:cs typeface="Times New Roman" panose="02020603050405020304" pitchFamily="18" charset="0"/>
                </a:endParaRPr>
              </a:p>
              <a:p>
                <a:pPr marL="0" indent="0">
                  <a:lnSpc>
                    <a:spcPct val="100000"/>
                  </a:lnSpc>
                  <a:buNone/>
                </a:pPr>
                <a:r>
                  <a:rPr lang="en-CA" sz="2400" dirty="0">
                    <a:solidFill>
                      <a:schemeClr val="tx1">
                        <a:lumMod val="75000"/>
                        <a:lumOff val="25000"/>
                      </a:schemeClr>
                    </a:solidFill>
                    <a:ea typeface="Open Sans" panose="020B0606030504020204" pitchFamily="34" charset="0"/>
                    <a:cs typeface="Times New Roman" panose="02020603050405020304" pitchFamily="18" charset="0"/>
                  </a:rPr>
                  <a:t>Then we can say that our regression parameters are </a:t>
                </a:r>
                <a:r>
                  <a:rPr lang="en-CA" sz="2400" b="1" dirty="0">
                    <a:solidFill>
                      <a:schemeClr val="accent2">
                        <a:lumMod val="75000"/>
                      </a:schemeClr>
                    </a:solidFill>
                    <a:ea typeface="Open Sans" panose="020B0606030504020204" pitchFamily="34" charset="0"/>
                    <a:cs typeface="Times New Roman" panose="02020603050405020304" pitchFamily="18" charset="0"/>
                  </a:rPr>
                  <a:t>unbiased</a:t>
                </a:r>
                <a:endParaRPr lang="en-CA" sz="2400" dirty="0">
                  <a:solidFill>
                    <a:schemeClr val="accent2">
                      <a:lumMod val="75000"/>
                    </a:schemeClr>
                  </a:solidFill>
                  <a:ea typeface="Open Sans" panose="020B0606030504020204" pitchFamily="34" charset="0"/>
                  <a:cs typeface="Times New Roman" panose="02020603050405020304" pitchFamily="18" charset="0"/>
                </a:endParaRPr>
              </a:p>
              <a:p>
                <a:pPr marL="0" indent="0">
                  <a:lnSpc>
                    <a:spcPct val="100000"/>
                  </a:lnSpc>
                  <a:buNone/>
                </a:pPr>
                <a:r>
                  <a:rPr lang="en-CA" sz="2400" b="1" dirty="0">
                    <a:solidFill>
                      <a:schemeClr val="accent2">
                        <a:lumMod val="75000"/>
                      </a:schemeClr>
                    </a:solidFill>
                    <a:ea typeface="Open Sans" panose="020B0606030504020204" pitchFamily="34" charset="0"/>
                    <a:cs typeface="Times New Roman" panose="02020603050405020304" pitchFamily="18" charset="0"/>
                  </a:rPr>
                  <a:t>Can we see this in toy data (Monte Carlo simulation)? </a:t>
                </a:r>
              </a:p>
              <a:p>
                <a:pPr marL="274320" lvl="1" indent="0">
                  <a:lnSpc>
                    <a:spcPct val="100000"/>
                  </a:lnSpc>
                  <a:buNone/>
                </a:pPr>
                <a:endParaRPr lang="en-CA" sz="2400" dirty="0">
                  <a:solidFill>
                    <a:schemeClr val="tx1">
                      <a:lumMod val="75000"/>
                      <a:lumOff val="25000"/>
                    </a:schemeClr>
                  </a:solidFill>
                  <a:ea typeface="Open Sans" panose="020B0606030504020204" pitchFamily="34" charset="0"/>
                  <a:cs typeface="Times New Roman" panose="02020603050405020304" pitchFamily="18" charset="0"/>
                </a:endParaRPr>
              </a:p>
              <a:p>
                <a:pPr marL="617220" lvl="1" indent="-342900">
                  <a:lnSpc>
                    <a:spcPct val="100000"/>
                  </a:lnSpc>
                  <a:buFont typeface="+mj-lt"/>
                  <a:buAutoNum type="arabicPeriod"/>
                </a:pPr>
                <a:endParaRPr lang="en-CA" sz="2400" b="1" dirty="0">
                  <a:solidFill>
                    <a:schemeClr val="tx1">
                      <a:lumMod val="75000"/>
                      <a:lumOff val="25000"/>
                    </a:schemeClr>
                  </a:solidFill>
                  <a:ea typeface="Open Sans" panose="020B0606030504020204" pitchFamily="34"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363200" cy="5141388"/>
              </a:xfrm>
              <a:blipFill>
                <a:blip r:embed="rId3"/>
                <a:stretch>
                  <a:fillRect l="-882" b="-10202"/>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8E1BF356-70D1-533B-733F-F7E40F1B17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1200" y="518160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431653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37392"/>
            <a:ext cx="10896600" cy="624840"/>
          </a:xfrm>
        </p:spPr>
        <p:txBody>
          <a:bodyPr>
            <a:normAutofit fontScale="90000"/>
          </a:bodyPr>
          <a:lstStyle/>
          <a:p>
            <a:r>
              <a:rPr lang="en-US" dirty="0">
                <a:latin typeface="Times New Roman" panose="02020603050405020304" pitchFamily="18" charset="0"/>
                <a:cs typeface="Times New Roman" panose="02020603050405020304" pitchFamily="18" charset="0"/>
              </a:rPr>
              <a:t>Consistency: Does data help us answer our question?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28601" y="1066801"/>
                <a:ext cx="10744200" cy="5141388"/>
              </a:xfrm>
            </p:spPr>
            <p:txBody>
              <a:bodyPr>
                <a:noAutofit/>
              </a:bodyPr>
              <a:lstStyle/>
              <a:p>
                <a:pPr marL="0" indent="0">
                  <a:lnSpc>
                    <a:spcPct val="100000"/>
                  </a:lnSpc>
                  <a:buNone/>
                </a:pPr>
                <a14:m>
                  <m:oMathPara xmlns:m="http://schemas.openxmlformats.org/officeDocument/2006/math">
                    <m:oMath>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𝑦</m:t>
                          </m:r>
                        </m:e>
                      </m:acc>
                      <m:r>
                        <a:rPr lang="en-US" sz="2400" i="1">
                          <a:latin typeface="Cambria Math" panose="02040503050406030204" pitchFamily="18" charset="0"/>
                          <a:ea typeface="Open Sans" panose="020B0606030504020204" pitchFamily="34" charset="0"/>
                          <a:cs typeface="Open Sans" panose="020B0606030504020204" pitchFamily="34" charset="0"/>
                        </a:rPr>
                        <m:t>=</m:t>
                      </m:r>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0</m:t>
                              </m:r>
                            </m:sub>
                          </m:sSub>
                        </m:e>
                      </m:acc>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m:t>
                      </m:r>
                      <m:acc>
                        <m:accPr>
                          <m:chr m:val="̂"/>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1</m:t>
                              </m:r>
                            </m:sub>
                          </m:sSub>
                        </m:e>
                      </m:acc>
                      <m:r>
                        <a:rPr lang="en-US" sz="2400" i="1">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𝑥</m:t>
                      </m:r>
                    </m:oMath>
                  </m:oMathPara>
                </a14:m>
                <a:endParaRPr lang="en-CA" sz="2400" dirty="0">
                  <a:solidFill>
                    <a:schemeClr val="tx1">
                      <a:lumMod val="75000"/>
                      <a:lumOff val="25000"/>
                    </a:schemeClr>
                  </a:solidFill>
                  <a:ea typeface="Open Sans" panose="020B0606030504020204" pitchFamily="34" charset="0"/>
                  <a:cs typeface="Times New Roman" panose="02020603050405020304" pitchFamily="18" charset="0"/>
                </a:endParaRPr>
              </a:p>
              <a:p>
                <a:pPr>
                  <a:lnSpc>
                    <a:spcPct val="100000"/>
                  </a:lnSpc>
                </a:pPr>
                <a:r>
                  <a:rPr lang="en-US" sz="2400" dirty="0">
                    <a:solidFill>
                      <a:schemeClr val="tx1">
                        <a:lumMod val="75000"/>
                        <a:lumOff val="25000"/>
                      </a:schemeClr>
                    </a:solidFill>
                    <a:ea typeface="Open Sans" panose="020B0606030504020204" pitchFamily="34" charset="0"/>
                    <a:cs typeface="Times New Roman" panose="02020603050405020304" pitchFamily="18" charset="0"/>
                  </a:rPr>
                  <a:t>Suppose that we have a correctly identified model, such that </a:t>
                </a:r>
                <a14:m>
                  <m:oMath xmlns:m="http://schemas.openxmlformats.org/officeDocument/2006/math">
                    <m:sSub>
                      <m:sSubPr>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1</m:t>
                        </m:r>
                      </m:sub>
                    </m:sSub>
                  </m:oMath>
                </a14:m>
                <a:r>
                  <a:rPr lang="en-CA" sz="2400" dirty="0">
                    <a:solidFill>
                      <a:schemeClr val="tx1">
                        <a:lumMod val="75000"/>
                        <a:lumOff val="25000"/>
                      </a:schemeClr>
                    </a:solidFill>
                    <a:ea typeface="Open Sans" panose="020B0606030504020204" pitchFamily="34" charset="0"/>
                    <a:cs typeface="Times New Roman" panose="02020603050405020304" pitchFamily="18" charset="0"/>
                  </a:rPr>
                  <a:t> is a true causal parameter of interest (POI)</a:t>
                </a:r>
              </a:p>
              <a:p>
                <a:pPr marL="0" indent="0">
                  <a:lnSpc>
                    <a:spcPct val="100000"/>
                  </a:lnSpc>
                  <a:buNone/>
                </a:pPr>
                <a:r>
                  <a:rPr lang="en-CA" sz="2400" b="1" dirty="0">
                    <a:solidFill>
                      <a:schemeClr val="accent2">
                        <a:lumMod val="75000"/>
                      </a:schemeClr>
                    </a:solidFill>
                    <a:ea typeface="Open Sans" panose="020B0606030504020204" pitchFamily="34" charset="0"/>
                    <a:cs typeface="Times New Roman" panose="02020603050405020304" pitchFamily="18" charset="0"/>
                  </a:rPr>
                  <a:t>How do we </a:t>
                </a:r>
                <a:r>
                  <a:rPr lang="en-CA" sz="2400" b="1" u="sng" dirty="0">
                    <a:solidFill>
                      <a:schemeClr val="accent2">
                        <a:lumMod val="75000"/>
                      </a:schemeClr>
                    </a:solidFill>
                    <a:ea typeface="Open Sans" panose="020B0606030504020204" pitchFamily="34" charset="0"/>
                    <a:cs typeface="Times New Roman" panose="02020603050405020304" pitchFamily="18" charset="0"/>
                  </a:rPr>
                  <a:t>minimize the error between</a:t>
                </a:r>
                <a:r>
                  <a:rPr lang="en-CA" sz="2400" b="1" dirty="0">
                    <a:solidFill>
                      <a:schemeClr val="accent2">
                        <a:lumMod val="75000"/>
                      </a:schemeClr>
                    </a:solidFill>
                    <a:ea typeface="Open Sans" panose="020B0606030504020204" pitchFamily="34" charset="0"/>
                    <a:cs typeface="Times New Roman" panose="02020603050405020304" pitchFamily="18" charset="0"/>
                  </a:rPr>
                  <a:t> </a:t>
                </a:r>
                <a14:m>
                  <m:oMath xmlns:m="http://schemas.openxmlformats.org/officeDocument/2006/math">
                    <m:acc>
                      <m:accPr>
                        <m:chr m:val="̂"/>
                        <m:ctrlPr>
                          <a:rPr lang="en-US" sz="2400" b="1" i="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b="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b="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𝜷</m:t>
                            </m:r>
                          </m:e>
                          <m:sub>
                            <m:r>
                              <a:rPr lang="en-US" sz="2400" b="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𝟏</m:t>
                            </m:r>
                          </m:sub>
                        </m:sSub>
                      </m:e>
                    </m:acc>
                  </m:oMath>
                </a14:m>
                <a:r>
                  <a:rPr lang="en-US" sz="2400" b="1" dirty="0">
                    <a:solidFill>
                      <a:schemeClr val="accent2">
                        <a:lumMod val="75000"/>
                      </a:schemeClr>
                    </a:solidFill>
                    <a:ea typeface="Open Sans" panose="020B0606030504020204" pitchFamily="34" charset="0"/>
                    <a:cs typeface="Times New Roman" panose="02020603050405020304" pitchFamily="18" charset="0"/>
                  </a:rPr>
                  <a:t> and </a:t>
                </a:r>
                <a14:m>
                  <m:oMath xmlns:m="http://schemas.openxmlformats.org/officeDocument/2006/math">
                    <m:sSub>
                      <m:sSubPr>
                        <m:ctrlPr>
                          <a:rPr lang="en-US" sz="2400" b="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b="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𝜷</m:t>
                        </m:r>
                      </m:e>
                      <m:sub>
                        <m:r>
                          <a:rPr lang="en-US" sz="2400" b="1">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𝟏</m:t>
                        </m:r>
                      </m:sub>
                    </m:sSub>
                    <m:r>
                      <a:rPr lang="en-US" sz="2400" b="1" i="0" smtClean="0">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m:t>
                    </m:r>
                  </m:oMath>
                </a14:m>
                <a:endParaRPr lang="en-US" sz="2400" b="1" dirty="0">
                  <a:solidFill>
                    <a:schemeClr val="accent2">
                      <a:lumMod val="75000"/>
                    </a:schemeClr>
                  </a:solidFill>
                  <a:ea typeface="Open Sans" panose="020B0606030504020204" pitchFamily="34" charset="0"/>
                  <a:cs typeface="Times New Roman" panose="02020603050405020304" pitchFamily="18" charset="0"/>
                </a:endParaRPr>
              </a:p>
              <a:p>
                <a:pPr lvl="1">
                  <a:lnSpc>
                    <a:spcPct val="100000"/>
                  </a:lnSpc>
                </a:pPr>
                <a:r>
                  <a:rPr lang="en-CA" sz="2400" dirty="0">
                    <a:solidFill>
                      <a:schemeClr val="tx1">
                        <a:lumMod val="75000"/>
                        <a:lumOff val="25000"/>
                      </a:schemeClr>
                    </a:solidFill>
                    <a:ea typeface="Open Sans" panose="020B0606030504020204" pitchFamily="34" charset="0"/>
                    <a:cs typeface="Times New Roman" panose="02020603050405020304" pitchFamily="18" charset="0"/>
                  </a:rPr>
                  <a:t>We’d like </a:t>
                </a:r>
                <a14:m>
                  <m:oMath xmlns:m="http://schemas.openxmlformats.org/officeDocument/2006/math">
                    <m:acc>
                      <m:accPr>
                        <m:chr m:val="̂"/>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1</m:t>
                            </m:r>
                          </m:sub>
                        </m:sSub>
                      </m:e>
                    </m:acc>
                  </m:oMath>
                </a14:m>
                <a:r>
                  <a:rPr lang="en-CA" sz="2400" dirty="0">
                    <a:solidFill>
                      <a:schemeClr val="tx1">
                        <a:lumMod val="75000"/>
                        <a:lumOff val="25000"/>
                      </a:schemeClr>
                    </a:solidFill>
                    <a:ea typeface="Open Sans" panose="020B0606030504020204" pitchFamily="34" charset="0"/>
                    <a:cs typeface="Times New Roman" panose="02020603050405020304" pitchFamily="18" charset="0"/>
                  </a:rPr>
                  <a:t> to get closer to </a:t>
                </a:r>
                <a14:m>
                  <m:oMath xmlns:m="http://schemas.openxmlformats.org/officeDocument/2006/math">
                    <m:sSub>
                      <m:sSubPr>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1</m:t>
                        </m:r>
                      </m:sub>
                    </m:sSub>
                  </m:oMath>
                </a14:m>
                <a:r>
                  <a:rPr lang="en-CA" sz="2400" dirty="0">
                    <a:solidFill>
                      <a:schemeClr val="tx1">
                        <a:lumMod val="75000"/>
                        <a:lumOff val="25000"/>
                      </a:schemeClr>
                    </a:solidFill>
                    <a:ea typeface="Open Sans" panose="020B0606030504020204" pitchFamily="34" charset="0"/>
                    <a:cs typeface="Times New Roman" panose="02020603050405020304" pitchFamily="18" charset="0"/>
                  </a:rPr>
                  <a:t> as we draw larger samples</a:t>
                </a:r>
              </a:p>
              <a:p>
                <a:pPr lvl="1">
                  <a:lnSpc>
                    <a:spcPct val="100000"/>
                  </a:lnSpc>
                </a:pPr>
                <a:r>
                  <a:rPr lang="en-CA" sz="2400" dirty="0">
                    <a:solidFill>
                      <a:schemeClr val="tx1">
                        <a:lumMod val="75000"/>
                        <a:lumOff val="25000"/>
                      </a:schemeClr>
                    </a:solidFill>
                    <a:ea typeface="Open Sans" panose="020B0606030504020204" pitchFamily="34" charset="0"/>
                    <a:cs typeface="Times New Roman" panose="02020603050405020304" pitchFamily="18" charset="0"/>
                  </a:rPr>
                  <a:t>This is the notion of a </a:t>
                </a:r>
                <a:r>
                  <a:rPr lang="en-CA" sz="2400" u="sng" dirty="0">
                    <a:solidFill>
                      <a:schemeClr val="tx1">
                        <a:lumMod val="75000"/>
                        <a:lumOff val="25000"/>
                      </a:schemeClr>
                    </a:solidFill>
                    <a:ea typeface="Open Sans" panose="020B0606030504020204" pitchFamily="34" charset="0"/>
                    <a:cs typeface="Times New Roman" panose="02020603050405020304" pitchFamily="18" charset="0"/>
                  </a:rPr>
                  <a:t>consistent estimator</a:t>
                </a:r>
              </a:p>
              <a:p>
                <a:pPr lvl="1">
                  <a:lnSpc>
                    <a:spcPct val="100000"/>
                  </a:lnSpc>
                </a:pPr>
                <a:r>
                  <a:rPr lang="en-CA" sz="2400" dirty="0">
                    <a:solidFill>
                      <a:schemeClr val="tx1">
                        <a:lumMod val="75000"/>
                        <a:lumOff val="25000"/>
                      </a:schemeClr>
                    </a:solidFill>
                    <a:ea typeface="Open Sans" panose="020B0606030504020204" pitchFamily="34" charset="0"/>
                    <a:cs typeface="Times New Roman" panose="02020603050405020304" pitchFamily="18" charset="0"/>
                  </a:rPr>
                  <a:t>For an unbiased estimator, this requires only that </a:t>
                </a:r>
              </a:p>
              <a:p>
                <a:pPr marL="274320" lvl="1" indent="0">
                  <a:lnSpc>
                    <a:spcPct val="100000"/>
                  </a:lnSpc>
                  <a:buNone/>
                </a:pPr>
                <a14:m>
                  <m:oMathPara xmlns:m="http://schemas.openxmlformats.org/officeDocument/2006/math">
                    <m:oMath>
                      <m:func>
                        <m:funcPr>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funcPr>
                        <m:fName>
                          <m:limLow>
                            <m:limLowPr>
                              <m:ctrlPr>
                                <a:rPr lang="en-US" sz="2400" b="0" i="0"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limLowPr>
                            <m:e>
                              <m:r>
                                <m:rPr>
                                  <m:sty m:val="p"/>
                                </m:rPr>
                                <a:rPr lang="en-US" sz="2400" b="0" i="0"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lim</m:t>
                              </m:r>
                            </m:e>
                            <m:lim>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𝑛</m:t>
                              </m:r>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m:t>
                              </m:r>
                            </m:lim>
                          </m:limLow>
                        </m:fName>
                        <m:e>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𝕍</m:t>
                          </m:r>
                          <m:d>
                            <m:dPr>
                              <m:begChr m:val="["/>
                              <m:endChr m:val="]"/>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dPr>
                            <m:e>
                              <m:acc>
                                <m:accPr>
                                  <m:chr m:val="̂"/>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𝑛</m:t>
                                      </m:r>
                                    </m:sub>
                                  </m:sSub>
                                </m:e>
                              </m:acc>
                            </m:e>
                          </m:d>
                          <m:r>
                            <a:rPr lang="en-US" sz="2400" b="0" i="1" smtClean="0">
                              <a:solidFill>
                                <a:schemeClr val="tx1">
                                  <a:lumMod val="75000"/>
                                  <a:lumOff val="25000"/>
                                </a:schemeClr>
                              </a:solidFill>
                              <a:latin typeface="Cambria Math" panose="02040503050406030204" pitchFamily="18" charset="0"/>
                              <a:ea typeface="Open Sans" panose="020B0606030504020204" pitchFamily="34" charset="0"/>
                              <a:cs typeface="Times New Roman" panose="02020603050405020304" pitchFamily="18" charset="0"/>
                            </a:rPr>
                            <m:t>=0</m:t>
                          </m:r>
                        </m:e>
                      </m:func>
                    </m:oMath>
                  </m:oMathPara>
                </a14:m>
                <a:endParaRPr lang="en-CA" sz="2400" dirty="0">
                  <a:solidFill>
                    <a:schemeClr val="tx1">
                      <a:lumMod val="75000"/>
                      <a:lumOff val="25000"/>
                    </a:schemeClr>
                  </a:solidFill>
                  <a:ea typeface="Open Sans" panose="020B0606030504020204" pitchFamily="34" charset="0"/>
                  <a:cs typeface="Times New Roman" panose="02020603050405020304" pitchFamily="18" charset="0"/>
                </a:endParaRPr>
              </a:p>
              <a:p>
                <a:pPr marL="617220" lvl="1" indent="-342900">
                  <a:lnSpc>
                    <a:spcPct val="100000"/>
                  </a:lnSpc>
                  <a:buFont typeface="+mj-lt"/>
                  <a:buAutoNum type="arabicPeriod"/>
                </a:pPr>
                <a:endParaRPr lang="en-CA" sz="2400" b="1" dirty="0">
                  <a:solidFill>
                    <a:schemeClr val="tx1">
                      <a:lumMod val="75000"/>
                      <a:lumOff val="25000"/>
                    </a:schemeClr>
                  </a:solidFill>
                  <a:ea typeface="Open Sans" panose="020B0606030504020204" pitchFamily="34"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28601" y="1066801"/>
                <a:ext cx="10744200" cy="5141388"/>
              </a:xfrm>
              <a:blipFill>
                <a:blip r:embed="rId3"/>
                <a:stretch>
                  <a:fillRect l="-908"/>
                </a:stretch>
              </a:blipFill>
            </p:spPr>
            <p:txBody>
              <a:bodyPr/>
              <a:lstStyle/>
              <a:p>
                <a:r>
                  <a:rPr lang="en-US">
                    <a:noFill/>
                  </a:rPr>
                  <a:t> </a:t>
                </a:r>
              </a:p>
            </p:txBody>
          </p:sp>
        </mc:Fallback>
      </mc:AlternateContent>
    </p:spTree>
    <p:extLst>
      <p:ext uri="{BB962C8B-B14F-4D97-AF65-F5344CB8AC3E}">
        <p14:creationId xmlns:p14="http://schemas.microsoft.com/office/powerpoint/2010/main" val="228869030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10625328" cy="4041648"/>
          </a:xfrm>
        </p:spPr>
        <p:txBody>
          <a:bodyPr>
            <a:normAutofit/>
          </a:bodyPr>
          <a:lstStyle/>
          <a:p>
            <a:r>
              <a:rPr lang="en-US" sz="5400" dirty="0">
                <a:latin typeface="Times New Roman" panose="02020603050405020304" pitchFamily="18" charset="0"/>
                <a:cs typeface="Times New Roman" panose="02020603050405020304" pitchFamily="18" charset="0"/>
              </a:rPr>
              <a:t>Inference on Regression Coefficients</a:t>
            </a:r>
          </a:p>
        </p:txBody>
      </p:sp>
      <p:sp>
        <p:nvSpPr>
          <p:cNvPr id="3" name="Content Placeholder 2"/>
          <p:cNvSpPr>
            <a:spLocks noGrp="1"/>
          </p:cNvSpPr>
          <p:nvPr>
            <p:ph type="subTitle" idx="1"/>
          </p:nvPr>
        </p:nvSpPr>
        <p:spPr/>
        <p:txBody>
          <a:bodyPr>
            <a:normAutofit/>
          </a:bodyPr>
          <a:lstStyle/>
          <a:p>
            <a:pPr marL="274320" lvl="1" indent="0">
              <a:buNone/>
            </a:pPr>
            <a:endParaRPr lang="en-CA" sz="2000" dirty="0">
              <a:solidFill>
                <a:schemeClr val="tx1"/>
              </a:solidFill>
              <a:latin typeface="Open Sans"/>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07954537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Inference: How well does our data answer our question?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515600" cy="5141388"/>
              </a:xfrm>
            </p:spPr>
            <p:txBody>
              <a:bodyPr>
                <a:normAutofit/>
              </a:bodyPr>
              <a:lstStyle/>
              <a:p>
                <a:pPr marL="274320" lvl="1" indent="0">
                  <a:buNone/>
                </a:pPr>
                <a14:m>
                  <m:oMathPara xmlns:m="http://schemas.openxmlformats.org/officeDocument/2006/math">
                    <m:oMath>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𝑦</m:t>
                      </m:r>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0</m:t>
                          </m:r>
                        </m:sub>
                      </m:sSub>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1</m:t>
                          </m:r>
                        </m:sub>
                      </m:sSub>
                      <m:sSub>
                        <m:sSubPr>
                          <m:ctrlP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𝑥</m:t>
                          </m:r>
                        </m:e>
                        <m:sub>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1</m:t>
                          </m:r>
                        </m:sub>
                      </m:sSub>
                      <m:r>
                        <a:rPr lang="en-US" sz="24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US" sz="24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2</m:t>
                          </m:r>
                        </m:sub>
                      </m:sSub>
                      <m:sSub>
                        <m:sSubPr>
                          <m:ctrlPr>
                            <a:rPr lang="en-US" sz="24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𝑥</m:t>
                          </m:r>
                        </m:e>
                        <m:sub>
                          <m:r>
                            <a:rPr lang="en-US" sz="24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2</m:t>
                          </m:r>
                        </m:sub>
                      </m:sSub>
                      <m:r>
                        <a:rPr lang="en-US" sz="24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 …+</m:t>
                      </m:r>
                      <m:sSub>
                        <m:sSubPr>
                          <m:ctrlPr>
                            <a:rPr lang="en-US" sz="24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𝑛</m:t>
                          </m:r>
                        </m:sub>
                      </m:sSub>
                      <m:sSub>
                        <m:sSubPr>
                          <m:ctrlPr>
                            <a:rPr lang="en-US" sz="24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𝑥</m:t>
                          </m:r>
                        </m:e>
                        <m:sub>
                          <m:r>
                            <a:rPr lang="en-US" sz="24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𝑛</m:t>
                          </m:r>
                        </m:sub>
                      </m:sSub>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𝜀</m:t>
                      </m:r>
                    </m:oMath>
                  </m:oMathPara>
                </a14:m>
                <a:endParaRPr lang="en-CA" sz="2400" dirty="0">
                  <a:solidFill>
                    <a:schemeClr val="tx1"/>
                  </a:solidFill>
                  <a:latin typeface="Open Sans"/>
                  <a:ea typeface="Open Sans" panose="020B0606030504020204" pitchFamily="34" charset="0"/>
                  <a:cs typeface="Open Sans" panose="020B0606030504020204" pitchFamily="34" charset="0"/>
                </a:endParaRPr>
              </a:p>
              <a:p>
                <a:r>
                  <a:rPr lang="en-US" sz="2400" dirty="0">
                    <a:cs typeface="Times New Roman" panose="02020603050405020304" pitchFamily="18" charset="0"/>
                  </a:rPr>
                  <a:t>Any regression is left with </a:t>
                </a:r>
                <a:r>
                  <a:rPr lang="en-US" sz="2400" b="1" dirty="0">
                    <a:solidFill>
                      <a:schemeClr val="accent2">
                        <a:lumMod val="75000"/>
                      </a:schemeClr>
                    </a:solidFill>
                    <a:cs typeface="Times New Roman" panose="02020603050405020304" pitchFamily="18" charset="0"/>
                  </a:rPr>
                  <a:t>residual variation</a:t>
                </a:r>
                <a:r>
                  <a:rPr lang="en-US" sz="2400" dirty="0">
                    <a:cs typeface="Times New Roman" panose="02020603050405020304" pitchFamily="18" charset="0"/>
                  </a:rPr>
                  <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𝜀</m:t>
                    </m:r>
                  </m:oMath>
                </a14:m>
                <a:endParaRPr lang="en-US" sz="2400" b="0" dirty="0">
                  <a:cs typeface="Times New Roman" panose="02020603050405020304" pitchFamily="18" charset="0"/>
                </a:endParaRPr>
              </a:p>
              <a:p>
                <a:r>
                  <a:rPr lang="en-US" sz="2400" dirty="0">
                    <a:cs typeface="Times New Roman" panose="02020603050405020304" pitchFamily="18" charset="0"/>
                  </a:rPr>
                  <a:t>Additionally, </a:t>
                </a:r>
                <a:r>
                  <a:rPr lang="en-US" sz="2400" b="1" dirty="0">
                    <a:solidFill>
                      <a:schemeClr val="accent3">
                        <a:lumMod val="75000"/>
                      </a:schemeClr>
                    </a:solidFill>
                    <a:cs typeface="Times New Roman" panose="02020603050405020304" pitchFamily="18" charset="0"/>
                  </a:rPr>
                  <a:t>sampling variation</a:t>
                </a:r>
                <a:r>
                  <a:rPr lang="en-US" sz="2400" b="1" dirty="0">
                    <a:cs typeface="Times New Roman" panose="02020603050405020304" pitchFamily="18" charset="0"/>
                  </a:rPr>
                  <a:t> </a:t>
                </a:r>
                <a:r>
                  <a:rPr lang="en-US" sz="2400" dirty="0">
                    <a:cs typeface="Times New Roman" panose="02020603050405020304" pitchFamily="18" charset="0"/>
                  </a:rPr>
                  <a:t>means that if we change the data or the model (even a little), we change </a:t>
                </a:r>
                <a14:m>
                  <m:oMath xmlns:m="http://schemas.openxmlformats.org/officeDocument/2006/math">
                    <m:acc>
                      <m:accPr>
                        <m:chr m:val="̂"/>
                        <m:ctrlPr>
                          <a:rPr lang="en-US" sz="2400" b="0" i="1" smtClean="0">
                            <a:solidFill>
                              <a:schemeClr val="tx1"/>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b="0" i="1" smtClean="0">
                                <a:solidFill>
                                  <a:schemeClr val="tx1"/>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b="0" i="1" smtClean="0">
                                <a:solidFill>
                                  <a:schemeClr val="tx1"/>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b="0" i="1" smtClean="0">
                                <a:solidFill>
                                  <a:schemeClr val="tx1"/>
                                </a:solidFill>
                                <a:latin typeface="Cambria Math" panose="02040503050406030204" pitchFamily="18" charset="0"/>
                                <a:ea typeface="Open Sans" panose="020B0606030504020204" pitchFamily="34" charset="0"/>
                                <a:cs typeface="Times New Roman" panose="02020603050405020304" pitchFamily="18" charset="0"/>
                              </a:rPr>
                              <m:t>1</m:t>
                            </m:r>
                          </m:sub>
                        </m:sSub>
                      </m:e>
                    </m:acc>
                  </m:oMath>
                </a14:m>
                <a:r>
                  <a:rPr lang="en-US" sz="2400" b="0" dirty="0">
                    <a:cs typeface="Times New Roman" panose="02020603050405020304" pitchFamily="18" charset="0"/>
                  </a:rPr>
                  <a:t> (potentially a lot)</a:t>
                </a:r>
              </a:p>
              <a:p>
                <a:r>
                  <a:rPr lang="en-US" sz="2400" dirty="0">
                    <a:cs typeface="Times New Roman" panose="02020603050405020304" pitchFamily="18" charset="0"/>
                  </a:rPr>
                  <a:t>A key question of a regression model is therefore: </a:t>
                </a:r>
              </a:p>
              <a:p>
                <a:pPr marL="0" indent="0">
                  <a:buNone/>
                </a:pPr>
                <a:r>
                  <a:rPr lang="en-US" sz="2400" b="1" dirty="0">
                    <a:cs typeface="Times New Roman" panose="02020603050405020304" pitchFamily="18" charset="0"/>
                  </a:rPr>
                  <a:t>How certain am I that my </a:t>
                </a:r>
                <a14:m>
                  <m:oMath xmlns:m="http://schemas.openxmlformats.org/officeDocument/2006/math">
                    <m:acc>
                      <m:accPr>
                        <m:chr m:val="̂"/>
                        <m:ctrlPr>
                          <a:rPr lang="en-US" sz="2400" b="0" i="1" smtClean="0">
                            <a:solidFill>
                              <a:schemeClr val="tx1"/>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b="0" i="1" smtClean="0">
                                <a:solidFill>
                                  <a:schemeClr val="tx1"/>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b="0" i="1" smtClean="0">
                                <a:solidFill>
                                  <a:schemeClr val="tx1"/>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b="0" i="1" smtClean="0">
                                <a:solidFill>
                                  <a:schemeClr val="tx1"/>
                                </a:solidFill>
                                <a:latin typeface="Cambria Math" panose="02040503050406030204" pitchFamily="18" charset="0"/>
                                <a:ea typeface="Open Sans" panose="020B0606030504020204" pitchFamily="34" charset="0"/>
                                <a:cs typeface="Times New Roman" panose="02020603050405020304" pitchFamily="18" charset="0"/>
                              </a:rPr>
                              <m:t>1</m:t>
                            </m:r>
                          </m:sub>
                        </m:sSub>
                      </m:e>
                    </m:acc>
                  </m:oMath>
                </a14:m>
                <a:r>
                  <a:rPr lang="en-US" sz="2400" b="1" dirty="0">
                    <a:cs typeface="Times New Roman" panose="02020603050405020304" pitchFamily="18" charset="0"/>
                  </a:rPr>
                  <a:t> is telling me something informative about </a:t>
                </a:r>
                <a14:m>
                  <m:oMath xmlns:m="http://schemas.openxmlformats.org/officeDocument/2006/math">
                    <m:r>
                      <a:rPr lang="en-US" sz="2400" b="1" i="1" smtClean="0">
                        <a:latin typeface="Cambria Math" panose="02040503050406030204" pitchFamily="18" charset="0"/>
                        <a:cs typeface="Times New Roman" panose="02020603050405020304" pitchFamily="18" charset="0"/>
                      </a:rPr>
                      <m:t>𝜷</m:t>
                    </m:r>
                    <m:r>
                      <a:rPr lang="en-US" sz="2400" b="1" i="0" smtClean="0">
                        <a:latin typeface="Cambria Math" panose="02040503050406030204" pitchFamily="18" charset="0"/>
                        <a:cs typeface="Times New Roman" panose="02020603050405020304" pitchFamily="18" charset="0"/>
                      </a:rPr>
                      <m:t>?</m:t>
                    </m:r>
                  </m:oMath>
                </a14:m>
                <a:endParaRPr lang="en-US" sz="2400" b="1" dirty="0">
                  <a:cs typeface="Times New Roman" panose="02020603050405020304" pitchFamily="18" charset="0"/>
                </a:endParaRPr>
              </a:p>
              <a:p>
                <a:endParaRPr lang="en-US" sz="2400" b="1" dirty="0">
                  <a:solidFill>
                    <a:schemeClr val="accent2">
                      <a:lumMod val="75000"/>
                    </a:schemeClr>
                  </a:solidFill>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515600" cy="5141388"/>
              </a:xfrm>
              <a:blipFill>
                <a:blip r:embed="rId3"/>
                <a:stretch>
                  <a:fillRect l="-870"/>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7692E49E-DB7D-9825-CB23-3FABA12393F6}"/>
              </a:ext>
            </a:extLst>
          </p:cNvPr>
          <p:cNvPicPr>
            <a:picLocks noChangeAspect="1"/>
          </p:cNvPicPr>
          <p:nvPr/>
        </p:nvPicPr>
        <p:blipFill>
          <a:blip r:embed="rId4"/>
          <a:stretch>
            <a:fillRect/>
          </a:stretch>
        </p:blipFill>
        <p:spPr>
          <a:xfrm>
            <a:off x="2503193" y="4190999"/>
            <a:ext cx="7185613" cy="1600200"/>
          </a:xfrm>
          <a:prstGeom prst="rect">
            <a:avLst/>
          </a:prstGeom>
        </p:spPr>
      </p:pic>
    </p:spTree>
    <p:extLst>
      <p:ext uri="{BB962C8B-B14F-4D97-AF65-F5344CB8AC3E}">
        <p14:creationId xmlns:p14="http://schemas.microsoft.com/office/powerpoint/2010/main" val="222724372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Inference: How well does our data answer our question?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591800" cy="5141388"/>
              </a:xfrm>
            </p:spPr>
            <p:txBody>
              <a:bodyPr>
                <a:normAutofit/>
              </a:bodyPr>
              <a:lstStyle/>
              <a:p>
                <a:pPr marL="274320" lvl="1" indent="0">
                  <a:buNone/>
                </a:pPr>
                <a14:m>
                  <m:oMathPara xmlns:m="http://schemas.openxmlformats.org/officeDocument/2006/math">
                    <m:oMath>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𝑦</m:t>
                      </m:r>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0</m:t>
                          </m:r>
                        </m:sub>
                      </m:sSub>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1</m:t>
                          </m:r>
                        </m:sub>
                      </m:sSub>
                      <m:sSub>
                        <m:sSubPr>
                          <m:ctrlP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𝑥</m:t>
                          </m:r>
                        </m:e>
                        <m:sub>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1</m:t>
                          </m:r>
                        </m:sub>
                      </m:sSub>
                      <m:r>
                        <a:rPr lang="en-US" sz="24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US" sz="24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2</m:t>
                          </m:r>
                        </m:sub>
                      </m:sSub>
                      <m:sSub>
                        <m:sSubPr>
                          <m:ctrlPr>
                            <a:rPr lang="en-US" sz="24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𝑥</m:t>
                          </m:r>
                        </m:e>
                        <m:sub>
                          <m:r>
                            <a:rPr lang="en-US" sz="24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2</m:t>
                          </m:r>
                        </m:sub>
                      </m:sSub>
                      <m:r>
                        <a:rPr lang="en-US" sz="24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 …+</m:t>
                      </m:r>
                      <m:sSub>
                        <m:sSubPr>
                          <m:ctrlPr>
                            <a:rPr lang="en-US" sz="24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𝑛</m:t>
                          </m:r>
                        </m:sub>
                      </m:sSub>
                      <m:sSub>
                        <m:sSubPr>
                          <m:ctrlPr>
                            <a:rPr lang="en-US" sz="24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𝑥</m:t>
                          </m:r>
                        </m:e>
                        <m:sub>
                          <m:r>
                            <a:rPr lang="en-US" sz="24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𝑛</m:t>
                          </m:r>
                        </m:sub>
                      </m:sSub>
                      <m:r>
                        <a:rPr lang="en-CA"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𝜀</m:t>
                      </m:r>
                    </m:oMath>
                  </m:oMathPara>
                </a14:m>
                <a:endParaRPr lang="en-CA" sz="2400" dirty="0">
                  <a:solidFill>
                    <a:schemeClr val="tx1"/>
                  </a:solidFill>
                  <a:latin typeface="Open Sans"/>
                  <a:ea typeface="Open Sans" panose="020B0606030504020204" pitchFamily="34" charset="0"/>
                  <a:cs typeface="Open Sans" panose="020B0606030504020204" pitchFamily="34" charset="0"/>
                </a:endParaRPr>
              </a:p>
              <a:p>
                <a:r>
                  <a:rPr lang="en-US" sz="2400" dirty="0">
                    <a:cs typeface="Times New Roman" panose="02020603050405020304" pitchFamily="18" charset="0"/>
                  </a:rPr>
                  <a:t>Any regression is left with </a:t>
                </a:r>
                <a:r>
                  <a:rPr lang="en-US" sz="2400" b="1" dirty="0">
                    <a:solidFill>
                      <a:schemeClr val="accent2">
                        <a:lumMod val="75000"/>
                      </a:schemeClr>
                    </a:solidFill>
                    <a:cs typeface="Times New Roman" panose="02020603050405020304" pitchFamily="18" charset="0"/>
                  </a:rPr>
                  <a:t>residual variation</a:t>
                </a:r>
                <a:r>
                  <a:rPr lang="en-US" sz="2400" dirty="0">
                    <a:cs typeface="Times New Roman" panose="02020603050405020304" pitchFamily="18" charset="0"/>
                  </a:rPr>
                  <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𝜀</m:t>
                    </m:r>
                  </m:oMath>
                </a14:m>
                <a:endParaRPr lang="en-US" sz="2400" b="0" dirty="0">
                  <a:cs typeface="Times New Roman" panose="02020603050405020304" pitchFamily="18" charset="0"/>
                </a:endParaRPr>
              </a:p>
              <a:p>
                <a:r>
                  <a:rPr lang="en-US" sz="2400" dirty="0">
                    <a:cs typeface="Times New Roman" panose="02020603050405020304" pitchFamily="18" charset="0"/>
                  </a:rPr>
                  <a:t>Additionally, </a:t>
                </a:r>
                <a:r>
                  <a:rPr lang="en-US" sz="2400" b="1" dirty="0">
                    <a:solidFill>
                      <a:schemeClr val="accent3">
                        <a:lumMod val="75000"/>
                      </a:schemeClr>
                    </a:solidFill>
                    <a:cs typeface="Times New Roman" panose="02020603050405020304" pitchFamily="18" charset="0"/>
                  </a:rPr>
                  <a:t>sampling variation</a:t>
                </a:r>
                <a:r>
                  <a:rPr lang="en-US" sz="2400" b="1" dirty="0">
                    <a:cs typeface="Times New Roman" panose="02020603050405020304" pitchFamily="18" charset="0"/>
                  </a:rPr>
                  <a:t> </a:t>
                </a:r>
                <a:r>
                  <a:rPr lang="en-US" sz="2400" dirty="0">
                    <a:cs typeface="Times New Roman" panose="02020603050405020304" pitchFamily="18" charset="0"/>
                  </a:rPr>
                  <a:t>means that if we change the data or the model (even a little), we change </a:t>
                </a:r>
                <a14:m>
                  <m:oMath xmlns:m="http://schemas.openxmlformats.org/officeDocument/2006/math">
                    <m:acc>
                      <m:accPr>
                        <m:chr m:val="̂"/>
                        <m:ctrlPr>
                          <a:rPr lang="en-US" sz="2400" b="0" i="1" smtClean="0">
                            <a:solidFill>
                              <a:schemeClr val="tx1"/>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b="0" i="1" smtClean="0">
                                <a:solidFill>
                                  <a:schemeClr val="tx1"/>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b="0" i="1" smtClean="0">
                                <a:solidFill>
                                  <a:schemeClr val="tx1"/>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b="0" i="1" smtClean="0">
                                <a:solidFill>
                                  <a:schemeClr val="tx1"/>
                                </a:solidFill>
                                <a:latin typeface="Cambria Math" panose="02040503050406030204" pitchFamily="18" charset="0"/>
                                <a:ea typeface="Open Sans" panose="020B0606030504020204" pitchFamily="34" charset="0"/>
                                <a:cs typeface="Times New Roman" panose="02020603050405020304" pitchFamily="18" charset="0"/>
                              </a:rPr>
                              <m:t>1</m:t>
                            </m:r>
                          </m:sub>
                        </m:sSub>
                      </m:e>
                    </m:acc>
                  </m:oMath>
                </a14:m>
                <a:r>
                  <a:rPr lang="en-US" sz="2400" b="0" dirty="0">
                    <a:cs typeface="Times New Roman" panose="02020603050405020304" pitchFamily="18" charset="0"/>
                  </a:rPr>
                  <a:t> (potentially a lot)</a:t>
                </a:r>
              </a:p>
              <a:p>
                <a:r>
                  <a:rPr lang="en-US" sz="2400" dirty="0">
                    <a:cs typeface="Times New Roman" panose="02020603050405020304" pitchFamily="18" charset="0"/>
                  </a:rPr>
                  <a:t>A key question of a regression model is therefore: </a:t>
                </a:r>
              </a:p>
              <a:p>
                <a:pPr marL="0" indent="0">
                  <a:buNone/>
                </a:pPr>
                <a:r>
                  <a:rPr lang="en-US" sz="2400" b="1" dirty="0">
                    <a:cs typeface="Times New Roman" panose="02020603050405020304" pitchFamily="18" charset="0"/>
                  </a:rPr>
                  <a:t>How certain am I that my </a:t>
                </a:r>
                <a14:m>
                  <m:oMath xmlns:m="http://schemas.openxmlformats.org/officeDocument/2006/math">
                    <m:acc>
                      <m:accPr>
                        <m:chr m:val="̂"/>
                        <m:ctrlPr>
                          <a:rPr lang="en-US" sz="2400" b="0" i="1" smtClean="0">
                            <a:solidFill>
                              <a:schemeClr val="tx1"/>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400" b="0" i="1" smtClean="0">
                                <a:solidFill>
                                  <a:schemeClr val="tx1"/>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400" b="0" i="1" smtClean="0">
                                <a:solidFill>
                                  <a:schemeClr val="tx1"/>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400" b="0" i="1" smtClean="0">
                                <a:solidFill>
                                  <a:schemeClr val="tx1"/>
                                </a:solidFill>
                                <a:latin typeface="Cambria Math" panose="02040503050406030204" pitchFamily="18" charset="0"/>
                                <a:ea typeface="Open Sans" panose="020B0606030504020204" pitchFamily="34" charset="0"/>
                                <a:cs typeface="Times New Roman" panose="02020603050405020304" pitchFamily="18" charset="0"/>
                              </a:rPr>
                              <m:t>1</m:t>
                            </m:r>
                          </m:sub>
                        </m:sSub>
                      </m:e>
                    </m:acc>
                  </m:oMath>
                </a14:m>
                <a:r>
                  <a:rPr lang="en-US" sz="2400" b="1" dirty="0">
                    <a:cs typeface="Times New Roman" panose="02020603050405020304" pitchFamily="18" charset="0"/>
                  </a:rPr>
                  <a:t> is telling me something informative about </a:t>
                </a:r>
                <a14:m>
                  <m:oMath xmlns:m="http://schemas.openxmlformats.org/officeDocument/2006/math">
                    <m:r>
                      <a:rPr lang="en-US" sz="2400" b="1" i="1" smtClean="0">
                        <a:latin typeface="Cambria Math" panose="02040503050406030204" pitchFamily="18" charset="0"/>
                        <a:cs typeface="Times New Roman" panose="02020603050405020304" pitchFamily="18" charset="0"/>
                      </a:rPr>
                      <m:t>𝜷</m:t>
                    </m:r>
                    <m:r>
                      <a:rPr lang="en-US" sz="2400" b="1" i="0" smtClean="0">
                        <a:latin typeface="Cambria Math" panose="02040503050406030204" pitchFamily="18" charset="0"/>
                        <a:cs typeface="Times New Roman" panose="02020603050405020304" pitchFamily="18" charset="0"/>
                      </a:rPr>
                      <m:t>?</m:t>
                    </m:r>
                  </m:oMath>
                </a14:m>
                <a:endParaRPr lang="en-US" sz="2400" b="1" dirty="0">
                  <a:cs typeface="Times New Roman" panose="02020603050405020304" pitchFamily="18" charset="0"/>
                </a:endParaRPr>
              </a:p>
              <a:p>
                <a:r>
                  <a:rPr lang="en-US" sz="2400" dirty="0">
                    <a:cs typeface="Times New Roman" panose="02020603050405020304" pitchFamily="18" charset="0"/>
                  </a:rPr>
                  <a:t>This is the question of </a:t>
                </a:r>
                <a:r>
                  <a:rPr lang="en-US" sz="2400" b="1" dirty="0">
                    <a:solidFill>
                      <a:schemeClr val="accent2">
                        <a:lumMod val="75000"/>
                      </a:schemeClr>
                    </a:solidFill>
                    <a:cs typeface="Times New Roman" panose="02020603050405020304" pitchFamily="18" charset="0"/>
                  </a:rPr>
                  <a:t>inference</a:t>
                </a:r>
              </a:p>
              <a:p>
                <a:r>
                  <a:rPr lang="en-US" sz="2400" dirty="0">
                    <a:solidFill>
                      <a:schemeClr val="tx1"/>
                    </a:solidFill>
                    <a:cs typeface="Times New Roman" panose="02020603050405020304" pitchFamily="18" charset="0"/>
                  </a:rPr>
                  <a:t>To get there, use one of our useful assumptions (</a:t>
                </a:r>
                <a:r>
                  <a:rPr lang="en-US" sz="2400" b="1" dirty="0">
                    <a:solidFill>
                      <a:schemeClr val="tx1"/>
                    </a:solidFill>
                    <a:cs typeface="Times New Roman" panose="02020603050405020304" pitchFamily="18" charset="0"/>
                  </a:rPr>
                  <a:t>homoskedasticity</a:t>
                </a:r>
                <a:r>
                  <a:rPr lang="en-US" sz="2400" dirty="0">
                    <a:solidFill>
                      <a:schemeClr val="tx1"/>
                    </a:solidFill>
                    <a:cs typeface="Times New Roman" panose="02020603050405020304" pitchFamily="18" charset="0"/>
                  </a:rPr>
                  <a:t>): </a:t>
                </a:r>
              </a:p>
              <a:p>
                <a:pPr marL="0" indent="0">
                  <a:buNone/>
                </a:pPr>
                <a14:m>
                  <m:oMathPara xmlns:m="http://schemas.openxmlformats.org/officeDocument/2006/math">
                    <m:oMath>
                      <m:r>
                        <a:rPr lang="en-US" sz="2400" b="0" i="1" smtClean="0">
                          <a:solidFill>
                            <a:schemeClr val="tx1"/>
                          </a:solidFill>
                          <a:latin typeface="Cambria Math" panose="02040503050406030204" pitchFamily="18" charset="0"/>
                          <a:cs typeface="Times New Roman" panose="02020603050405020304" pitchFamily="18" charset="0"/>
                        </a:rPr>
                        <m:t>𝕍</m:t>
                      </m:r>
                      <m:d>
                        <m:dPr>
                          <m:begChr m:val="["/>
                          <m:endChr m:val="]"/>
                          <m:ctrlPr>
                            <a:rPr lang="en-US" sz="2400" b="0" i="1" smtClean="0">
                              <a:solidFill>
                                <a:schemeClr val="tx1"/>
                              </a:solidFill>
                              <a:latin typeface="Cambria Math" panose="02040503050406030204" pitchFamily="18" charset="0"/>
                              <a:cs typeface="Times New Roman" panose="02020603050405020304" pitchFamily="18" charset="0"/>
                            </a:rPr>
                          </m:ctrlPr>
                        </m:dPr>
                        <m:e>
                          <m:r>
                            <a:rPr lang="en-US" sz="2400" b="0" i="1" smtClean="0">
                              <a:solidFill>
                                <a:schemeClr val="tx1"/>
                              </a:solidFill>
                              <a:latin typeface="Cambria Math" panose="02040503050406030204" pitchFamily="18" charset="0"/>
                              <a:cs typeface="Times New Roman" panose="02020603050405020304" pitchFamily="18" charset="0"/>
                            </a:rPr>
                            <m:t>𝜀</m:t>
                          </m:r>
                        </m:e>
                        <m:e>
                          <m:r>
                            <a:rPr lang="en-US" sz="2400" b="0" i="1" smtClean="0">
                              <a:solidFill>
                                <a:schemeClr val="tx1"/>
                              </a:solidFill>
                              <a:latin typeface="Cambria Math" panose="02040503050406030204" pitchFamily="18" charset="0"/>
                              <a:cs typeface="Times New Roman" panose="02020603050405020304" pitchFamily="18" charset="0"/>
                            </a:rPr>
                            <m:t>𝑋</m:t>
                          </m:r>
                        </m:e>
                      </m:d>
                      <m:r>
                        <a:rPr lang="en-US" sz="2400" b="0" i="1" smtClean="0">
                          <a:solidFill>
                            <a:schemeClr val="tx1"/>
                          </a:solidFill>
                          <a:latin typeface="Cambria Math" panose="02040503050406030204" pitchFamily="18" charset="0"/>
                          <a:cs typeface="Times New Roman" panose="02020603050405020304" pitchFamily="18" charset="0"/>
                        </a:rPr>
                        <m:t>=</m:t>
                      </m:r>
                      <m:sSup>
                        <m:sSupPr>
                          <m:ctrlPr>
                            <a:rPr lang="en-US" sz="2400" b="0" i="1" smtClean="0">
                              <a:solidFill>
                                <a:schemeClr val="tx1"/>
                              </a:solidFill>
                              <a:latin typeface="Cambria Math" panose="02040503050406030204" pitchFamily="18" charset="0"/>
                              <a:cs typeface="Times New Roman" panose="02020603050405020304" pitchFamily="18" charset="0"/>
                            </a:rPr>
                          </m:ctrlPr>
                        </m:sSupPr>
                        <m:e>
                          <m:r>
                            <a:rPr lang="en-US" sz="2400" b="0" i="1" smtClean="0">
                              <a:solidFill>
                                <a:schemeClr val="tx1"/>
                              </a:solidFill>
                              <a:latin typeface="Cambria Math" panose="02040503050406030204" pitchFamily="18" charset="0"/>
                              <a:cs typeface="Times New Roman" panose="02020603050405020304" pitchFamily="18" charset="0"/>
                            </a:rPr>
                            <m:t>𝜎</m:t>
                          </m:r>
                        </m:e>
                        <m:sup>
                          <m:r>
                            <a:rPr lang="en-US" sz="2400" b="0" i="1" smtClean="0">
                              <a:solidFill>
                                <a:schemeClr val="tx1"/>
                              </a:solidFill>
                              <a:latin typeface="Cambria Math" panose="02040503050406030204" pitchFamily="18" charset="0"/>
                              <a:cs typeface="Times New Roman" panose="02020603050405020304" pitchFamily="18" charset="0"/>
                            </a:rPr>
                            <m:t>2</m:t>
                          </m:r>
                        </m:sup>
                      </m:sSup>
                    </m:oMath>
                  </m:oMathPara>
                </a14:m>
                <a:endParaRPr lang="en-US" sz="2400" dirty="0">
                  <a:solidFill>
                    <a:schemeClr val="tx1"/>
                  </a:solidFill>
                  <a:cs typeface="Times New Roman" panose="02020603050405020304" pitchFamily="18" charset="0"/>
                </a:endParaRPr>
              </a:p>
              <a:p>
                <a:endParaRPr lang="en-US" sz="2400" b="1" dirty="0">
                  <a:solidFill>
                    <a:schemeClr val="accent2">
                      <a:lumMod val="75000"/>
                    </a:schemeClr>
                  </a:solidFill>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591800" cy="5141388"/>
              </a:xfrm>
              <a:blipFill>
                <a:blip r:embed="rId3"/>
                <a:stretch>
                  <a:fillRect l="-863"/>
                </a:stretch>
              </a:blipFill>
            </p:spPr>
            <p:txBody>
              <a:bodyPr/>
              <a:lstStyle/>
              <a:p>
                <a:r>
                  <a:rPr lang="en-US">
                    <a:noFill/>
                  </a:rPr>
                  <a:t> </a:t>
                </a:r>
              </a:p>
            </p:txBody>
          </p:sp>
        </mc:Fallback>
      </mc:AlternateContent>
    </p:spTree>
    <p:extLst>
      <p:ext uri="{BB962C8B-B14F-4D97-AF65-F5344CB8AC3E}">
        <p14:creationId xmlns:p14="http://schemas.microsoft.com/office/powerpoint/2010/main" val="85164885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A Simulation Example</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439400" cy="5141388"/>
              </a:xfrm>
            </p:spPr>
            <p:txBody>
              <a:bodyPr>
                <a:normAutofit/>
              </a:bodyPr>
              <a:lstStyle/>
              <a:p>
                <a:r>
                  <a:rPr lang="en-US" sz="2200" dirty="0">
                    <a:solidFill>
                      <a:schemeClr val="tx1"/>
                    </a:solidFill>
                    <a:cs typeface="Times New Roman" panose="02020603050405020304" pitchFamily="18" charset="0"/>
                  </a:rPr>
                  <a:t>The intuition for inference (and standard errors, </a:t>
                </a:r>
                <a:r>
                  <a:rPr lang="en-US" sz="2200" i="1" dirty="0">
                    <a:solidFill>
                      <a:schemeClr val="tx1"/>
                    </a:solidFill>
                    <a:cs typeface="Times New Roman" panose="02020603050405020304" pitchFamily="18" charset="0"/>
                  </a:rPr>
                  <a:t>p</a:t>
                </a:r>
                <a:r>
                  <a:rPr lang="en-US" sz="2200" dirty="0">
                    <a:solidFill>
                      <a:schemeClr val="tx1"/>
                    </a:solidFill>
                    <a:cs typeface="Times New Roman" panose="02020603050405020304" pitchFamily="18" charset="0"/>
                  </a:rPr>
                  <a:t>-values, etc.) is based on simulations of a </a:t>
                </a:r>
                <a:r>
                  <a:rPr lang="en-US" sz="2200" b="1" dirty="0">
                    <a:solidFill>
                      <a:schemeClr val="tx1"/>
                    </a:solidFill>
                    <a:cs typeface="Times New Roman" panose="02020603050405020304" pitchFamily="18" charset="0"/>
                  </a:rPr>
                  <a:t>null world </a:t>
                </a:r>
              </a:p>
              <a:p>
                <a:r>
                  <a:rPr lang="en-US" sz="2200" b="1" dirty="0">
                    <a:solidFill>
                      <a:schemeClr val="tx1"/>
                    </a:solidFill>
                    <a:cs typeface="Times New Roman" panose="02020603050405020304" pitchFamily="18" charset="0"/>
                  </a:rPr>
                  <a:t>Randomly shuffle your data </a:t>
                </a:r>
                <a:r>
                  <a:rPr lang="en-US" sz="2200" dirty="0">
                    <a:solidFill>
                      <a:schemeClr val="tx1"/>
                    </a:solidFill>
                    <a:cs typeface="Times New Roman" panose="02020603050405020304" pitchFamily="18" charset="0"/>
                  </a:rPr>
                  <a:t>on student attendance and exam scores </a:t>
                </a:r>
                <a14:m>
                  <m:oMath xmlns:m="http://schemas.openxmlformats.org/officeDocument/2006/math">
                    <m:r>
                      <a:rPr lang="en-US" sz="2200" b="0" i="1" smtClean="0">
                        <a:solidFill>
                          <a:schemeClr val="tx1"/>
                        </a:solidFill>
                        <a:latin typeface="Cambria Math" panose="02040503050406030204" pitchFamily="18" charset="0"/>
                        <a:cs typeface="Times New Roman" panose="02020603050405020304" pitchFamily="18" charset="0"/>
                      </a:rPr>
                      <m:t>↑</m:t>
                    </m:r>
                  </m:oMath>
                </a14:m>
                <a:r>
                  <a:rPr lang="en-US" sz="2200" dirty="0">
                    <a:solidFill>
                      <a:schemeClr val="tx1"/>
                    </a:solidFill>
                    <a:cs typeface="Times New Roman" panose="02020603050405020304" pitchFamily="18" charset="0"/>
                  </a:rPr>
                  <a:t>5,000 times, compare results for estimated </a:t>
                </a:r>
                <a14:m>
                  <m:oMath xmlns:m="http://schemas.openxmlformats.org/officeDocument/2006/math">
                    <m:acc>
                      <m:accPr>
                        <m:chr m:val="̂"/>
                        <m:ctrlPr>
                          <a:rPr lang="en-US" sz="2200" b="0" i="1" smtClean="0">
                            <a:solidFill>
                              <a:schemeClr val="tx1"/>
                            </a:solidFill>
                            <a:latin typeface="Cambria Math" panose="02040503050406030204" pitchFamily="18" charset="0"/>
                            <a:cs typeface="Times New Roman" panose="02020603050405020304" pitchFamily="18" charset="0"/>
                          </a:rPr>
                        </m:ctrlPr>
                      </m:accPr>
                      <m:e>
                        <m:sSub>
                          <m:sSubPr>
                            <m:ctrlPr>
                              <a:rPr lang="en-US" sz="2200" b="0" i="1" smtClean="0">
                                <a:solidFill>
                                  <a:schemeClr val="tx1"/>
                                </a:solidFill>
                                <a:latin typeface="Cambria Math" panose="02040503050406030204" pitchFamily="18" charset="0"/>
                                <a:cs typeface="Times New Roman" panose="02020603050405020304" pitchFamily="18" charset="0"/>
                              </a:rPr>
                            </m:ctrlPr>
                          </m:sSubPr>
                          <m:e>
                            <m:r>
                              <a:rPr lang="en-US" sz="2200" b="0" i="1" smtClean="0">
                                <a:solidFill>
                                  <a:schemeClr val="tx1"/>
                                </a:solidFill>
                                <a:latin typeface="Cambria Math" panose="02040503050406030204" pitchFamily="18" charset="0"/>
                                <a:cs typeface="Times New Roman" panose="02020603050405020304" pitchFamily="18" charset="0"/>
                              </a:rPr>
                              <m:t>𝛽</m:t>
                            </m:r>
                          </m:e>
                          <m:sub>
                            <m:r>
                              <a:rPr lang="en-US" sz="2200" b="0" i="1" smtClean="0">
                                <a:solidFill>
                                  <a:schemeClr val="tx1"/>
                                </a:solidFill>
                                <a:latin typeface="Cambria Math" panose="02040503050406030204" pitchFamily="18" charset="0"/>
                                <a:cs typeface="Times New Roman" panose="02020603050405020304" pitchFamily="18" charset="0"/>
                              </a:rPr>
                              <m:t>1</m:t>
                            </m:r>
                          </m:sub>
                        </m:sSub>
                      </m:e>
                    </m:acc>
                  </m:oMath>
                </a14:m>
                <a:endParaRPr lang="en-US" sz="2200" dirty="0">
                  <a:solidFill>
                    <a:schemeClr val="tx1"/>
                  </a:solidFill>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439400" cy="5141388"/>
              </a:xfrm>
              <a:blipFill>
                <a:blip r:embed="rId3"/>
                <a:stretch>
                  <a:fillRect l="-350" t="-1068" r="-1343"/>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556AEE66-A3B2-993E-EFA7-340F9B5E5E4E}"/>
              </a:ext>
            </a:extLst>
          </p:cNvPr>
          <p:cNvPicPr>
            <a:picLocks noChangeAspect="1"/>
          </p:cNvPicPr>
          <p:nvPr/>
        </p:nvPicPr>
        <p:blipFill>
          <a:blip r:embed="rId4"/>
          <a:stretch>
            <a:fillRect/>
          </a:stretch>
        </p:blipFill>
        <p:spPr>
          <a:xfrm>
            <a:off x="1474791" y="2743200"/>
            <a:ext cx="7401771" cy="3657600"/>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C4EBAB0-5CE8-E8E3-8EFB-A191414F8616}"/>
                  </a:ext>
                </a:extLst>
              </p:cNvPr>
              <p:cNvSpPr txBox="1"/>
              <p:nvPr/>
            </p:nvSpPr>
            <p:spPr>
              <a:xfrm>
                <a:off x="5321065" y="6379029"/>
                <a:ext cx="475578" cy="383951"/>
              </a:xfrm>
              <a:prstGeom prst="rect">
                <a:avLst/>
              </a:prstGeom>
              <a:noFill/>
            </p:spPr>
            <p:txBody>
              <a:bodyPr wrap="none" rtlCol="0">
                <a:spAutoFit/>
              </a:bodyPr>
              <a:lstStyle/>
              <a:p>
                <a:pPr/>
                <a14:m>
                  <m:oMathPara xmlns:m="http://schemas.openxmlformats.org/officeDocument/2006/math">
                    <m:o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1</m:t>
                              </m:r>
                            </m:sub>
                          </m:sSub>
                        </m:e>
                      </m:acc>
                    </m:oMath>
                  </m:oMathPara>
                </a14:m>
                <a:endParaRPr lang="en-US" dirty="0"/>
              </a:p>
            </p:txBody>
          </p:sp>
        </mc:Choice>
        <mc:Fallback xmlns="">
          <p:sp>
            <p:nvSpPr>
              <p:cNvPr id="4" name="TextBox 3">
                <a:extLst>
                  <a:ext uri="{FF2B5EF4-FFF2-40B4-BE49-F238E27FC236}">
                    <a16:creationId xmlns:a16="http://schemas.microsoft.com/office/drawing/2014/main" id="{FC4EBAB0-5CE8-E8E3-8EFB-A191414F8616}"/>
                  </a:ext>
                </a:extLst>
              </p:cNvPr>
              <p:cNvSpPr txBox="1">
                <a:spLocks noRot="1" noChangeAspect="1" noMove="1" noResize="1" noEditPoints="1" noAdjustHandles="1" noChangeArrowheads="1" noChangeShapeType="1" noTextEdit="1"/>
              </p:cNvSpPr>
              <p:nvPr/>
            </p:nvSpPr>
            <p:spPr>
              <a:xfrm>
                <a:off x="5321065" y="6379029"/>
                <a:ext cx="475578" cy="383951"/>
              </a:xfrm>
              <a:prstGeom prst="rect">
                <a:avLst/>
              </a:prstGeom>
              <a:blipFill>
                <a:blip r:embed="rId5"/>
                <a:stretch>
                  <a:fillRect r="-1282" b="-15873"/>
                </a:stretch>
              </a:blipFill>
            </p:spPr>
            <p:txBody>
              <a:bodyPr/>
              <a:lstStyle/>
              <a:p>
                <a:r>
                  <a:rPr lang="en-US">
                    <a:noFill/>
                  </a:rPr>
                  <a:t> </a:t>
                </a:r>
              </a:p>
            </p:txBody>
          </p:sp>
        </mc:Fallback>
      </mc:AlternateContent>
    </p:spTree>
    <p:extLst>
      <p:ext uri="{BB962C8B-B14F-4D97-AF65-F5344CB8AC3E}">
        <p14:creationId xmlns:p14="http://schemas.microsoft.com/office/powerpoint/2010/main" val="300274414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A Simulation Example</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439400" cy="5141388"/>
              </a:xfrm>
            </p:spPr>
            <p:txBody>
              <a:bodyPr>
                <a:normAutofit/>
              </a:bodyPr>
              <a:lstStyle/>
              <a:p>
                <a:r>
                  <a:rPr lang="en-US" sz="2200" dirty="0">
                    <a:solidFill>
                      <a:schemeClr val="tx1"/>
                    </a:solidFill>
                    <a:cs typeface="Times New Roman" panose="02020603050405020304" pitchFamily="18" charset="0"/>
                  </a:rPr>
                  <a:t>The intuition for inference (and standard errors, </a:t>
                </a:r>
                <a:r>
                  <a:rPr lang="en-US" sz="2200" i="1" dirty="0">
                    <a:solidFill>
                      <a:schemeClr val="tx1"/>
                    </a:solidFill>
                    <a:cs typeface="Times New Roman" panose="02020603050405020304" pitchFamily="18" charset="0"/>
                  </a:rPr>
                  <a:t>p</a:t>
                </a:r>
                <a:r>
                  <a:rPr lang="en-US" sz="2200" dirty="0">
                    <a:solidFill>
                      <a:schemeClr val="tx1"/>
                    </a:solidFill>
                    <a:cs typeface="Times New Roman" panose="02020603050405020304" pitchFamily="18" charset="0"/>
                  </a:rPr>
                  <a:t>-values, etc.) is based on simulations of a </a:t>
                </a:r>
                <a:r>
                  <a:rPr lang="en-US" sz="2200" b="1" dirty="0">
                    <a:solidFill>
                      <a:schemeClr val="tx1"/>
                    </a:solidFill>
                    <a:cs typeface="Times New Roman" panose="02020603050405020304" pitchFamily="18" charset="0"/>
                  </a:rPr>
                  <a:t>null world </a:t>
                </a:r>
              </a:p>
              <a:p>
                <a:r>
                  <a:rPr lang="en-US" sz="2200" b="1" dirty="0">
                    <a:cs typeface="Times New Roman" panose="02020603050405020304" pitchFamily="18" charset="0"/>
                  </a:rPr>
                  <a:t>Randomly shuffle your data </a:t>
                </a:r>
                <a:r>
                  <a:rPr lang="en-US" sz="2200" dirty="0">
                    <a:cs typeface="Times New Roman" panose="02020603050405020304" pitchFamily="18" charset="0"/>
                  </a:rPr>
                  <a:t>on student attendance and exam scores </a:t>
                </a:r>
                <a14:m>
                  <m:oMath xmlns:m="http://schemas.openxmlformats.org/officeDocument/2006/math">
                    <m:r>
                      <a:rPr lang="en-US" sz="2200" i="1">
                        <a:latin typeface="Cambria Math" panose="02040503050406030204" pitchFamily="18" charset="0"/>
                        <a:cs typeface="Times New Roman" panose="02020603050405020304" pitchFamily="18" charset="0"/>
                      </a:rPr>
                      <m:t>↑</m:t>
                    </m:r>
                  </m:oMath>
                </a14:m>
                <a:r>
                  <a:rPr lang="en-US" sz="2200" dirty="0">
                    <a:cs typeface="Times New Roman" panose="02020603050405020304" pitchFamily="18" charset="0"/>
                  </a:rPr>
                  <a:t>5,000 times, compare results for estimated </a:t>
                </a:r>
                <a14:m>
                  <m:oMath xmlns:m="http://schemas.openxmlformats.org/officeDocument/2006/math">
                    <m:acc>
                      <m:accPr>
                        <m:chr m:val="̂"/>
                        <m:ctrlPr>
                          <a:rPr lang="en-US" sz="2200" i="1">
                            <a:latin typeface="Cambria Math" panose="02040503050406030204" pitchFamily="18" charset="0"/>
                            <a:cs typeface="Times New Roman" panose="02020603050405020304" pitchFamily="18" charset="0"/>
                          </a:rPr>
                        </m:ctrlPr>
                      </m:accPr>
                      <m:e>
                        <m:sSub>
                          <m:sSubPr>
                            <m:ctrlPr>
                              <a:rPr lang="en-US" sz="2200" i="1">
                                <a:latin typeface="Cambria Math" panose="02040503050406030204" pitchFamily="18" charset="0"/>
                                <a:cs typeface="Times New Roman" panose="02020603050405020304" pitchFamily="18" charset="0"/>
                              </a:rPr>
                            </m:ctrlPr>
                          </m:sSubPr>
                          <m:e>
                            <m:r>
                              <a:rPr lang="en-US" sz="2200" i="1">
                                <a:latin typeface="Cambria Math" panose="02040503050406030204" pitchFamily="18" charset="0"/>
                                <a:cs typeface="Times New Roman" panose="02020603050405020304" pitchFamily="18" charset="0"/>
                              </a:rPr>
                              <m:t>𝛽</m:t>
                            </m:r>
                          </m:e>
                          <m:sub>
                            <m:r>
                              <a:rPr lang="en-US" sz="2200" i="1">
                                <a:latin typeface="Cambria Math" panose="02040503050406030204" pitchFamily="18" charset="0"/>
                                <a:cs typeface="Times New Roman" panose="02020603050405020304" pitchFamily="18" charset="0"/>
                              </a:rPr>
                              <m:t>1</m:t>
                            </m:r>
                          </m:sub>
                        </m:sSub>
                      </m:e>
                    </m:acc>
                  </m:oMath>
                </a14:m>
                <a:endParaRPr lang="en-US" sz="22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439400" cy="5141388"/>
              </a:xfrm>
              <a:blipFill>
                <a:blip r:embed="rId3"/>
                <a:stretch>
                  <a:fillRect l="-350" t="-1068" r="-1343"/>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556AEE66-A3B2-993E-EFA7-340F9B5E5E4E}"/>
              </a:ext>
            </a:extLst>
          </p:cNvPr>
          <p:cNvPicPr>
            <a:picLocks noChangeAspect="1"/>
          </p:cNvPicPr>
          <p:nvPr/>
        </p:nvPicPr>
        <p:blipFill>
          <a:blip r:embed="rId4"/>
          <a:stretch>
            <a:fillRect/>
          </a:stretch>
        </p:blipFill>
        <p:spPr>
          <a:xfrm>
            <a:off x="1474791" y="2743200"/>
            <a:ext cx="7401771" cy="3657600"/>
          </a:xfrm>
          <a:prstGeom prst="rect">
            <a:avLst/>
          </a:prstGeom>
        </p:spPr>
      </p:pic>
      <p:cxnSp>
        <p:nvCxnSpPr>
          <p:cNvPr id="6" name="Straight Connector 5">
            <a:extLst>
              <a:ext uri="{FF2B5EF4-FFF2-40B4-BE49-F238E27FC236}">
                <a16:creationId xmlns:a16="http://schemas.microsoft.com/office/drawing/2014/main" id="{35877717-3A29-FC1D-863B-A9E0A052E0D7}"/>
              </a:ext>
            </a:extLst>
          </p:cNvPr>
          <p:cNvCxnSpPr/>
          <p:nvPr/>
        </p:nvCxnSpPr>
        <p:spPr>
          <a:xfrm flipV="1">
            <a:off x="7620000" y="3429000"/>
            <a:ext cx="0" cy="25146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1F66434-4ACD-F52B-D2AD-45BC3BE108FE}"/>
                  </a:ext>
                </a:extLst>
              </p:cNvPr>
              <p:cNvSpPr txBox="1"/>
              <p:nvPr/>
            </p:nvSpPr>
            <p:spPr>
              <a:xfrm>
                <a:off x="8876562" y="3124200"/>
                <a:ext cx="2172438" cy="1589218"/>
              </a:xfrm>
              <a:prstGeom prst="rect">
                <a:avLst/>
              </a:prstGeom>
              <a:solidFill>
                <a:schemeClr val="accent5">
                  <a:lumMod val="20000"/>
                  <a:lumOff val="80000"/>
                </a:schemeClr>
              </a:solidFill>
            </p:spPr>
            <p:txBody>
              <a:bodyPr wrap="square" rtlCol="0">
                <a:spAutoFit/>
              </a:bodyPr>
              <a:lstStyle/>
              <a:p>
                <a:r>
                  <a:rPr lang="en-US" sz="2400" dirty="0">
                    <a:solidFill>
                      <a:srgbClr val="FF0000"/>
                    </a:solidFill>
                  </a:rPr>
                  <a:t>What if this is the </a:t>
                </a:r>
                <a14:m>
                  <m:oMath xmlns:m="http://schemas.openxmlformats.org/officeDocument/2006/math">
                    <m:acc>
                      <m:accPr>
                        <m:chr m:val="̂"/>
                        <m:ctrlPr>
                          <a:rPr lang="en-US" sz="2400" b="0" i="1" smtClean="0">
                            <a:solidFill>
                              <a:srgbClr val="FF0000"/>
                            </a:solidFill>
                            <a:latin typeface="Cambria Math" panose="02040503050406030204" pitchFamily="18" charset="0"/>
                          </a:rPr>
                        </m:ctrlPr>
                      </m:accPr>
                      <m:e>
                        <m:sSub>
                          <m:sSubPr>
                            <m:ctrlPr>
                              <a:rPr lang="en-US" sz="2400" b="0" i="1" smtClean="0">
                                <a:solidFill>
                                  <a:srgbClr val="FF0000"/>
                                </a:solidFill>
                                <a:latin typeface="Cambria Math" panose="02040503050406030204" pitchFamily="18" charset="0"/>
                              </a:rPr>
                            </m:ctrlPr>
                          </m:sSubPr>
                          <m:e>
                            <m:r>
                              <a:rPr lang="en-US" sz="2400" b="0" i="1" smtClean="0">
                                <a:solidFill>
                                  <a:srgbClr val="FF0000"/>
                                </a:solidFill>
                                <a:latin typeface="Cambria Math" panose="02040503050406030204" pitchFamily="18" charset="0"/>
                              </a:rPr>
                              <m:t>𝛽</m:t>
                            </m:r>
                          </m:e>
                          <m:sub>
                            <m:r>
                              <a:rPr lang="en-US" sz="2400" b="0" i="1" smtClean="0">
                                <a:solidFill>
                                  <a:srgbClr val="FF0000"/>
                                </a:solidFill>
                                <a:latin typeface="Cambria Math" panose="02040503050406030204" pitchFamily="18" charset="0"/>
                              </a:rPr>
                              <m:t>1</m:t>
                            </m:r>
                          </m:sub>
                        </m:sSub>
                      </m:e>
                    </m:acc>
                  </m:oMath>
                </a14:m>
                <a:r>
                  <a:rPr lang="en-US" sz="2400" dirty="0">
                    <a:solidFill>
                      <a:srgbClr val="FF0000"/>
                    </a:solidFill>
                  </a:rPr>
                  <a:t> </a:t>
                </a:r>
                <a:r>
                  <a:rPr lang="en-US" sz="2400" b="1" dirty="0">
                    <a:solidFill>
                      <a:srgbClr val="FF0000"/>
                    </a:solidFill>
                  </a:rPr>
                  <a:t>our real data </a:t>
                </a:r>
                <a:r>
                  <a:rPr lang="en-US" sz="2400" dirty="0">
                    <a:solidFill>
                      <a:srgbClr val="FF0000"/>
                    </a:solidFill>
                  </a:rPr>
                  <a:t>told us?</a:t>
                </a:r>
              </a:p>
            </p:txBody>
          </p:sp>
        </mc:Choice>
        <mc:Fallback xmlns="">
          <p:sp>
            <p:nvSpPr>
              <p:cNvPr id="4" name="TextBox 3">
                <a:extLst>
                  <a:ext uri="{FF2B5EF4-FFF2-40B4-BE49-F238E27FC236}">
                    <a16:creationId xmlns:a16="http://schemas.microsoft.com/office/drawing/2014/main" id="{81F66434-4ACD-F52B-D2AD-45BC3BE108FE}"/>
                  </a:ext>
                </a:extLst>
              </p:cNvPr>
              <p:cNvSpPr txBox="1">
                <a:spLocks noRot="1" noChangeAspect="1" noMove="1" noResize="1" noEditPoints="1" noAdjustHandles="1" noChangeArrowheads="1" noChangeShapeType="1" noTextEdit="1"/>
              </p:cNvSpPr>
              <p:nvPr/>
            </p:nvSpPr>
            <p:spPr>
              <a:xfrm>
                <a:off x="8876562" y="3124200"/>
                <a:ext cx="2172438" cy="1589218"/>
              </a:xfrm>
              <a:prstGeom prst="rect">
                <a:avLst/>
              </a:prstGeom>
              <a:blipFill>
                <a:blip r:embed="rId5"/>
                <a:stretch>
                  <a:fillRect l="-4202" t="-3077" b="-7692"/>
                </a:stretch>
              </a:blipFill>
            </p:spPr>
            <p:txBody>
              <a:bodyPr/>
              <a:lstStyle/>
              <a:p>
                <a:r>
                  <a:rPr lang="en-US">
                    <a:noFill/>
                  </a:rPr>
                  <a:t> </a:t>
                </a:r>
              </a:p>
            </p:txBody>
          </p:sp>
        </mc:Fallback>
      </mc:AlternateContent>
    </p:spTree>
    <p:extLst>
      <p:ext uri="{BB962C8B-B14F-4D97-AF65-F5344CB8AC3E}">
        <p14:creationId xmlns:p14="http://schemas.microsoft.com/office/powerpoint/2010/main" val="353888998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Sampling Distribution of </a:t>
                </a:r>
                <a14:m>
                  <m:oMath xmlns:m="http://schemas.openxmlformats.org/officeDocument/2006/math">
                    <m:acc>
                      <m:accPr>
                        <m:chr m:val="̂"/>
                        <m:ctrlPr>
                          <a:rPr lang="en-US" sz="3600" b="0" i="1" smtClean="0">
                            <a:latin typeface="Cambria Math" panose="02040503050406030204" pitchFamily="18" charset="0"/>
                            <a:cs typeface="Times New Roman" panose="02020603050405020304" pitchFamily="18" charset="0"/>
                          </a:rPr>
                        </m:ctrlPr>
                      </m:accPr>
                      <m:e>
                        <m:sSub>
                          <m:sSubPr>
                            <m:ctrlPr>
                              <a:rPr lang="en-US" sz="3600" b="0" i="1" smtClean="0">
                                <a:latin typeface="Cambria Math" panose="02040503050406030204" pitchFamily="18" charset="0"/>
                                <a:cs typeface="Times New Roman" panose="02020603050405020304" pitchFamily="18" charset="0"/>
                              </a:rPr>
                            </m:ctrlPr>
                          </m:sSubPr>
                          <m:e>
                            <m:r>
                              <a:rPr lang="en-US" sz="3600" b="0" i="1" smtClean="0">
                                <a:latin typeface="Cambria Math" panose="02040503050406030204" pitchFamily="18" charset="0"/>
                                <a:cs typeface="Times New Roman" panose="02020603050405020304" pitchFamily="18" charset="0"/>
                              </a:rPr>
                              <m:t>𝛽</m:t>
                            </m:r>
                          </m:e>
                          <m:sub>
                            <m:r>
                              <a:rPr lang="en-US" sz="3600" b="0" i="1" smtClean="0">
                                <a:latin typeface="Cambria Math" panose="02040503050406030204" pitchFamily="18" charset="0"/>
                                <a:cs typeface="Times New Roman" panose="02020603050405020304" pitchFamily="18" charset="0"/>
                              </a:rPr>
                              <m:t>𝑖</m:t>
                            </m:r>
                          </m:sub>
                        </m:sSub>
                      </m:e>
                    </m:acc>
                  </m:oMath>
                </a14:m>
                <a:endParaRPr lang="en-US" sz="3600" dirty="0">
                  <a:latin typeface="Times New Roman" panose="02020603050405020304" pitchFamily="18" charset="0"/>
                  <a:cs typeface="Times New Roman" panose="02020603050405020304" pitchFamily="18" charset="0"/>
                </a:endParaRP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609600" y="337392"/>
                <a:ext cx="10439400" cy="624840"/>
              </a:xfrm>
              <a:blipFill>
                <a:blip r:embed="rId3"/>
                <a:stretch>
                  <a:fillRect l="-1751" t="-17476" b="-359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439400" cy="5141388"/>
              </a:xfrm>
            </p:spPr>
            <p:txBody>
              <a:bodyPr>
                <a:normAutofit/>
              </a:bodyPr>
              <a:lstStyle/>
              <a:p>
                <a:pPr marL="274320" lvl="1" indent="0">
                  <a:buNone/>
                </a:pPr>
                <a14:m>
                  <m:oMathPara xmlns:m="http://schemas.openxmlformats.org/officeDocument/2006/math">
                    <m:oMath>
                      <m: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𝑦</m:t>
                      </m:r>
                      <m: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0</m:t>
                          </m:r>
                        </m:sub>
                      </m:sSub>
                      <m: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1</m:t>
                          </m:r>
                        </m:sub>
                      </m:sSub>
                      <m:sSub>
                        <m:sSub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𝑥</m:t>
                          </m:r>
                        </m:e>
                        <m:sub>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1</m:t>
                          </m:r>
                        </m:sub>
                      </m:sSub>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𝛽</m:t>
                          </m:r>
                        </m:e>
                        <m:sub>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2</m:t>
                          </m:r>
                        </m:sub>
                      </m:sSub>
                      <m:sSub>
                        <m:sSubPr>
                          <m:ctrlP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𝑥</m:t>
                          </m:r>
                        </m:e>
                        <m:sub>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2</m:t>
                          </m:r>
                        </m:sub>
                      </m:sSub>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 …+</m:t>
                      </m:r>
                      <m:sSub>
                        <m:sSubPr>
                          <m:ctrlP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𝛽</m:t>
                          </m:r>
                        </m:e>
                        <m:sub>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𝑛</m:t>
                          </m:r>
                        </m:sub>
                      </m:sSub>
                      <m:sSub>
                        <m:sSubPr>
                          <m:ctrlP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𝑥</m:t>
                          </m:r>
                        </m:e>
                        <m:sub>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𝑛</m:t>
                          </m:r>
                        </m:sub>
                      </m:sSub>
                      <m: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𝜀</m:t>
                      </m:r>
                    </m:oMath>
                  </m:oMathPara>
                </a14:m>
                <a:endParaRPr lang="en-CA" sz="2200" dirty="0">
                  <a:solidFill>
                    <a:schemeClr val="tx1"/>
                  </a:solidFill>
                  <a:latin typeface="Open Sans"/>
                  <a:ea typeface="Open Sans" panose="020B0606030504020204" pitchFamily="34" charset="0"/>
                  <a:cs typeface="Open Sans" panose="020B0606030504020204" pitchFamily="34" charset="0"/>
                </a:endParaRPr>
              </a:p>
              <a:p>
                <a:r>
                  <a:rPr lang="en-US" sz="2200" dirty="0">
                    <a:cs typeface="Times New Roman" panose="02020603050405020304" pitchFamily="18" charset="0"/>
                  </a:rPr>
                  <a:t>Under homoskedasticity, there is a nice </a:t>
                </a:r>
                <a:r>
                  <a:rPr lang="en-US" sz="2200" b="1" dirty="0">
                    <a:cs typeface="Times New Roman" panose="02020603050405020304" pitchFamily="18" charset="0"/>
                  </a:rPr>
                  <a:t>sampling distribution </a:t>
                </a:r>
                <a:r>
                  <a:rPr lang="en-US" sz="2200" dirty="0">
                    <a:cs typeface="Times New Roman" panose="02020603050405020304" pitchFamily="18" charset="0"/>
                  </a:rPr>
                  <a:t>for any coefficient</a:t>
                </a:r>
              </a:p>
              <a:p>
                <a:pPr marL="0" indent="0">
                  <a:buNone/>
                </a:pPr>
                <a14:m>
                  <m:oMathPara xmlns:m="http://schemas.openxmlformats.org/officeDocument/2006/math">
                    <m:oMath>
                      <m:acc>
                        <m:accPr>
                          <m:chr m:val="̂"/>
                          <m:ctrlPr>
                            <a:rPr lang="en-US" sz="2200" b="0" i="1" smtClean="0">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200" b="0" i="1" smtClean="0">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200" b="0" i="1" smtClean="0">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200" b="0" i="1" smtClean="0">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𝑖</m:t>
                              </m:r>
                            </m:sub>
                          </m:sSub>
                        </m:e>
                      </m:acc>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𝒩</m:t>
                      </m:r>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 </m:t>
                      </m:r>
                      <m:d>
                        <m:d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dPr>
                        <m:e>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f>
                            <m:f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fPr>
                            <m:num>
                              <m:sSup>
                                <m:sSup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pPr>
                                <m:e>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𝜎</m:t>
                                  </m:r>
                                </m:e>
                                <m:sup>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2</m:t>
                                  </m:r>
                                </m:sup>
                              </m:sSup>
                            </m:num>
                            <m:den>
                              <m:nary>
                                <m:naryPr>
                                  <m:chr m:val="∑"/>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naryPr>
                                <m:sub>
                                  <m:d>
                                    <m:dPr>
                                      <m:begChr m:val="{"/>
                                      <m:endChr m:val="}"/>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dPr>
                                    <m:e>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𝑖</m:t>
                                      </m:r>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=1</m:t>
                                      </m:r>
                                    </m:e>
                                  </m:d>
                                </m:sub>
                                <m:sup>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𝑛</m:t>
                                  </m:r>
                                </m:sup>
                                <m:e>
                                  <m:sSup>
                                    <m:sSup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pPr>
                                    <m:e>
                                      <m:d>
                                        <m:d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dPr>
                                        <m:e>
                                          <m:sSub>
                                            <m:sSub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𝑥</m:t>
                                              </m:r>
                                            </m:e>
                                            <m:sub>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𝑖</m:t>
                                              </m:r>
                                            </m:sub>
                                          </m:sSub>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acc>
                                            <m:accPr>
                                              <m:chr m:val="̅"/>
                                              <m:ctrlPr>
                                                <a:rPr lang="en-US" sz="2200" b="0" i="1" smtClean="0">
                                                  <a:solidFill>
                                                    <a:schemeClr val="tx1"/>
                                                  </a:solidFill>
                                                  <a:latin typeface="Cambria Math" panose="02040503050406030204" pitchFamily="18" charset="0"/>
                                                </a:rPr>
                                              </m:ctrlPr>
                                            </m:accPr>
                                            <m:e>
                                              <m:r>
                                                <a:rPr lang="en-US" sz="2200" b="0" i="1" smtClean="0">
                                                  <a:solidFill>
                                                    <a:schemeClr val="tx1"/>
                                                  </a:solidFill>
                                                  <a:latin typeface="Cambria Math" panose="02040503050406030204" pitchFamily="18" charset="0"/>
                                                </a:rPr>
                                                <m:t>𝑥</m:t>
                                              </m:r>
                                            </m:e>
                                          </m:acc>
                                        </m:e>
                                      </m:d>
                                    </m:e>
                                    <m:sup>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2</m:t>
                                      </m:r>
                                    </m:sup>
                                  </m:sSup>
                                </m:e>
                              </m:nary>
                            </m:den>
                          </m:f>
                        </m:e>
                      </m:d>
                      <m:r>
                        <a:rPr lang="en-US" sz="2200" i="1">
                          <a:latin typeface="Cambria Math" panose="02040503050406030204" pitchFamily="18" charset="0"/>
                          <a:ea typeface="Open Sans" panose="020B0606030504020204" pitchFamily="34" charset="0"/>
                          <a:cs typeface="Open Sans" panose="020B0606030504020204" pitchFamily="34" charset="0"/>
                        </a:rPr>
                        <m:t>=</m:t>
                      </m:r>
                      <m:r>
                        <a:rPr lang="en-US" sz="2200" i="1">
                          <a:latin typeface="Cambria Math" panose="02040503050406030204" pitchFamily="18" charset="0"/>
                          <a:ea typeface="Open Sans" panose="020B0606030504020204" pitchFamily="34" charset="0"/>
                          <a:cs typeface="Open Sans" panose="020B0606030504020204" pitchFamily="34" charset="0"/>
                        </a:rPr>
                        <m:t>𝒩</m:t>
                      </m:r>
                      <m:d>
                        <m:d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dPr>
                        <m:e>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f>
                            <m:f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fPr>
                            <m:num>
                              <m:sSup>
                                <m:sSup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pPr>
                                <m:e>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𝜎</m:t>
                                  </m:r>
                                </m:e>
                                <m:sup>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2</m:t>
                                  </m:r>
                                </m:sup>
                              </m:sSup>
                            </m:num>
                            <m:den>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𝑆𝑆</m:t>
                              </m:r>
                              <m:sSub>
                                <m:sSub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𝑇</m:t>
                                  </m:r>
                                </m:e>
                                <m:sub>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𝑥</m:t>
                                  </m:r>
                                </m:sub>
                              </m:sSub>
                            </m:den>
                          </m:f>
                        </m:e>
                      </m:d>
                    </m:oMath>
                  </m:oMathPara>
                </a14:m>
                <a:endParaRPr lang="en-US" sz="2200" b="1" dirty="0">
                  <a:solidFill>
                    <a:schemeClr val="accent2">
                      <a:lumMod val="75000"/>
                    </a:schemeClr>
                  </a:solidFill>
                  <a:cs typeface="Times New Roman" panose="02020603050405020304" pitchFamily="18" charset="0"/>
                </a:endParaRPr>
              </a:p>
              <a:p>
                <a:endParaRPr lang="en-US" sz="2200" b="1" dirty="0">
                  <a:solidFill>
                    <a:schemeClr val="accent2">
                      <a:lumMod val="75000"/>
                    </a:schemeClr>
                  </a:solidFill>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439400" cy="5141388"/>
              </a:xfrm>
              <a:blipFill>
                <a:blip r:embed="rId4"/>
                <a:stretch>
                  <a:fillRect l="-350"/>
                </a:stretch>
              </a:blipFill>
            </p:spPr>
            <p:txBody>
              <a:bodyPr/>
              <a:lstStyle/>
              <a:p>
                <a:r>
                  <a:rPr lang="en-US">
                    <a:noFill/>
                  </a:rPr>
                  <a:t> </a:t>
                </a:r>
              </a:p>
            </p:txBody>
          </p:sp>
        </mc:Fallback>
      </mc:AlternateContent>
    </p:spTree>
    <p:extLst>
      <p:ext uri="{BB962C8B-B14F-4D97-AF65-F5344CB8AC3E}">
        <p14:creationId xmlns:p14="http://schemas.microsoft.com/office/powerpoint/2010/main" val="300817647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Sampling Distribution of </a:t>
                </a:r>
                <a14:m>
                  <m:oMath xmlns:m="http://schemas.openxmlformats.org/officeDocument/2006/math">
                    <m:acc>
                      <m:accPr>
                        <m:chr m:val="̂"/>
                        <m:ctrlPr>
                          <a:rPr lang="en-US" sz="3600" b="0" i="1" smtClean="0">
                            <a:latin typeface="Cambria Math" panose="02040503050406030204" pitchFamily="18" charset="0"/>
                            <a:cs typeface="Times New Roman" panose="02020603050405020304" pitchFamily="18" charset="0"/>
                          </a:rPr>
                        </m:ctrlPr>
                      </m:accPr>
                      <m:e>
                        <m:sSub>
                          <m:sSubPr>
                            <m:ctrlPr>
                              <a:rPr lang="en-US" sz="3600" b="0" i="1" smtClean="0">
                                <a:latin typeface="Cambria Math" panose="02040503050406030204" pitchFamily="18" charset="0"/>
                                <a:cs typeface="Times New Roman" panose="02020603050405020304" pitchFamily="18" charset="0"/>
                              </a:rPr>
                            </m:ctrlPr>
                          </m:sSubPr>
                          <m:e>
                            <m:r>
                              <a:rPr lang="en-US" sz="3600" b="0" i="1" smtClean="0">
                                <a:latin typeface="Cambria Math" panose="02040503050406030204" pitchFamily="18" charset="0"/>
                                <a:cs typeface="Times New Roman" panose="02020603050405020304" pitchFamily="18" charset="0"/>
                              </a:rPr>
                              <m:t>𝛽</m:t>
                            </m:r>
                          </m:e>
                          <m:sub>
                            <m:r>
                              <a:rPr lang="en-US" sz="3600" b="0" i="1" smtClean="0">
                                <a:latin typeface="Cambria Math" panose="02040503050406030204" pitchFamily="18" charset="0"/>
                                <a:cs typeface="Times New Roman" panose="02020603050405020304" pitchFamily="18" charset="0"/>
                              </a:rPr>
                              <m:t>𝑖</m:t>
                            </m:r>
                          </m:sub>
                        </m:sSub>
                      </m:e>
                    </m:acc>
                  </m:oMath>
                </a14:m>
                <a:endParaRPr lang="en-US" sz="3600" dirty="0">
                  <a:latin typeface="Times New Roman" panose="02020603050405020304" pitchFamily="18" charset="0"/>
                  <a:cs typeface="Times New Roman" panose="02020603050405020304" pitchFamily="18" charset="0"/>
                </a:endParaRP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609600" y="337392"/>
                <a:ext cx="10439400" cy="624840"/>
              </a:xfrm>
              <a:blipFill>
                <a:blip r:embed="rId3"/>
                <a:stretch>
                  <a:fillRect l="-1751" t="-17476" b="-359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439400" cy="5141388"/>
              </a:xfrm>
            </p:spPr>
            <p:txBody>
              <a:bodyPr>
                <a:normAutofit/>
              </a:bodyPr>
              <a:lstStyle/>
              <a:p>
                <a:pPr marL="274320" lvl="1" indent="0">
                  <a:buNone/>
                </a:pPr>
                <a14:m>
                  <m:oMathPara xmlns:m="http://schemas.openxmlformats.org/officeDocument/2006/math">
                    <m:oMath>
                      <m: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𝑦</m:t>
                      </m:r>
                      <m: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0</m:t>
                          </m:r>
                        </m:sub>
                      </m:sSub>
                      <m: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1</m:t>
                          </m:r>
                        </m:sub>
                      </m:sSub>
                      <m:sSub>
                        <m:sSub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𝑥</m:t>
                          </m:r>
                        </m:e>
                        <m:sub>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1</m:t>
                          </m:r>
                        </m:sub>
                      </m:sSub>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𝛽</m:t>
                          </m:r>
                        </m:e>
                        <m:sub>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2</m:t>
                          </m:r>
                        </m:sub>
                      </m:sSub>
                      <m:sSub>
                        <m:sSubPr>
                          <m:ctrlP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𝑥</m:t>
                          </m:r>
                        </m:e>
                        <m:sub>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2</m:t>
                          </m:r>
                        </m:sub>
                      </m:sSub>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 …+</m:t>
                      </m:r>
                      <m:sSub>
                        <m:sSubPr>
                          <m:ctrlP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𝛽</m:t>
                          </m:r>
                        </m:e>
                        <m:sub>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𝑛</m:t>
                          </m:r>
                        </m:sub>
                      </m:sSub>
                      <m:sSub>
                        <m:sSubPr>
                          <m:ctrlP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𝑥</m:t>
                          </m:r>
                        </m:e>
                        <m:sub>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𝑛</m:t>
                          </m:r>
                        </m:sub>
                      </m:sSub>
                      <m: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𝜀</m:t>
                      </m:r>
                    </m:oMath>
                  </m:oMathPara>
                </a14:m>
                <a:endParaRPr lang="en-CA" sz="2200" dirty="0">
                  <a:solidFill>
                    <a:schemeClr val="tx1"/>
                  </a:solidFill>
                  <a:latin typeface="Open Sans"/>
                  <a:ea typeface="Open Sans" panose="020B0606030504020204" pitchFamily="34" charset="0"/>
                  <a:cs typeface="Open Sans" panose="020B0606030504020204" pitchFamily="34" charset="0"/>
                </a:endParaRPr>
              </a:p>
              <a:p>
                <a:r>
                  <a:rPr lang="en-US" sz="2200" dirty="0">
                    <a:cs typeface="Times New Roman" panose="02020603050405020304" pitchFamily="18" charset="0"/>
                  </a:rPr>
                  <a:t>Under homoskedasticity, there is a nice </a:t>
                </a:r>
                <a:r>
                  <a:rPr lang="en-US" sz="2200" b="1" dirty="0">
                    <a:cs typeface="Times New Roman" panose="02020603050405020304" pitchFamily="18" charset="0"/>
                  </a:rPr>
                  <a:t>sampling distribution </a:t>
                </a:r>
                <a:r>
                  <a:rPr lang="en-US" sz="2200" dirty="0">
                    <a:cs typeface="Times New Roman" panose="02020603050405020304" pitchFamily="18" charset="0"/>
                  </a:rPr>
                  <a:t>for any coefficient</a:t>
                </a:r>
              </a:p>
              <a:p>
                <a:pPr marL="0" indent="0">
                  <a:buNone/>
                </a:pPr>
                <a14:m>
                  <m:oMathPara xmlns:m="http://schemas.openxmlformats.org/officeDocument/2006/math">
                    <m:oMath>
                      <m:acc>
                        <m:accPr>
                          <m:chr m:val="̂"/>
                          <m:ctrlPr>
                            <a:rPr lang="en-US" sz="2200" b="0" i="1" smtClean="0">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200" b="0" i="1" smtClean="0">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200" b="0" i="1" smtClean="0">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200" b="0" i="1" smtClean="0">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𝑖</m:t>
                              </m:r>
                            </m:sub>
                          </m:sSub>
                        </m:e>
                      </m:acc>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𝒩</m:t>
                      </m:r>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 </m:t>
                      </m:r>
                      <m:d>
                        <m:d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dPr>
                        <m:e>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f>
                            <m:f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fPr>
                            <m:num>
                              <m:sSup>
                                <m:sSup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pPr>
                                <m:e>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𝜎</m:t>
                                  </m:r>
                                </m:e>
                                <m:sup>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2</m:t>
                                  </m:r>
                                </m:sup>
                              </m:sSup>
                            </m:num>
                            <m:den>
                              <m:nary>
                                <m:naryPr>
                                  <m:chr m:val="∑"/>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naryPr>
                                <m:sub>
                                  <m:d>
                                    <m:dPr>
                                      <m:begChr m:val="{"/>
                                      <m:endChr m:val="}"/>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dPr>
                                    <m:e>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𝑖</m:t>
                                      </m:r>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=1</m:t>
                                      </m:r>
                                    </m:e>
                                  </m:d>
                                </m:sub>
                                <m:sup>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𝑛</m:t>
                                  </m:r>
                                </m:sup>
                                <m:e>
                                  <m:sSup>
                                    <m:sSup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pPr>
                                    <m:e>
                                      <m:d>
                                        <m:d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dPr>
                                        <m:e>
                                          <m:sSub>
                                            <m:sSub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𝑥</m:t>
                                              </m:r>
                                            </m:e>
                                            <m:sub>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𝑖</m:t>
                                              </m:r>
                                            </m:sub>
                                          </m:sSub>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acc>
                                            <m:accPr>
                                              <m:chr m:val="̅"/>
                                              <m:ctrlPr>
                                                <a:rPr lang="en-US" sz="2200" b="0" i="1" smtClean="0">
                                                  <a:solidFill>
                                                    <a:schemeClr val="tx1"/>
                                                  </a:solidFill>
                                                  <a:latin typeface="Cambria Math" panose="02040503050406030204" pitchFamily="18" charset="0"/>
                                                </a:rPr>
                                              </m:ctrlPr>
                                            </m:accPr>
                                            <m:e>
                                              <m:r>
                                                <a:rPr lang="en-US" sz="2200" b="0" i="1" smtClean="0">
                                                  <a:solidFill>
                                                    <a:schemeClr val="tx1"/>
                                                  </a:solidFill>
                                                  <a:latin typeface="Cambria Math" panose="02040503050406030204" pitchFamily="18" charset="0"/>
                                                </a:rPr>
                                                <m:t>𝑥</m:t>
                                              </m:r>
                                            </m:e>
                                          </m:acc>
                                        </m:e>
                                      </m:d>
                                    </m:e>
                                    <m:sup>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2</m:t>
                                      </m:r>
                                    </m:sup>
                                  </m:sSup>
                                </m:e>
                              </m:nary>
                            </m:den>
                          </m:f>
                        </m:e>
                      </m:d>
                      <m:r>
                        <a:rPr lang="en-US" sz="2200" i="1">
                          <a:latin typeface="Cambria Math" panose="02040503050406030204" pitchFamily="18" charset="0"/>
                          <a:ea typeface="Open Sans" panose="020B0606030504020204" pitchFamily="34" charset="0"/>
                          <a:cs typeface="Open Sans" panose="020B0606030504020204" pitchFamily="34" charset="0"/>
                        </a:rPr>
                        <m:t>=</m:t>
                      </m:r>
                      <m:r>
                        <a:rPr lang="en-US" sz="2200" i="1">
                          <a:latin typeface="Cambria Math" panose="02040503050406030204" pitchFamily="18" charset="0"/>
                          <a:ea typeface="Open Sans" panose="020B0606030504020204" pitchFamily="34" charset="0"/>
                          <a:cs typeface="Open Sans" panose="020B0606030504020204" pitchFamily="34" charset="0"/>
                        </a:rPr>
                        <m:t>𝒩</m:t>
                      </m:r>
                      <m:d>
                        <m:d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dPr>
                        <m:e>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f>
                            <m:f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fPr>
                            <m:num>
                              <m:sSup>
                                <m:sSup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pPr>
                                <m:e>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𝜎</m:t>
                                  </m:r>
                                </m:e>
                                <m:sup>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2</m:t>
                                  </m:r>
                                </m:sup>
                              </m:sSup>
                            </m:num>
                            <m:den>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𝑆𝑆</m:t>
                              </m:r>
                              <m:sSub>
                                <m:sSub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𝑇</m:t>
                                  </m:r>
                                </m:e>
                                <m:sub>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𝑥</m:t>
                                  </m:r>
                                </m:sub>
                              </m:sSub>
                            </m:den>
                          </m:f>
                        </m:e>
                      </m:d>
                    </m:oMath>
                  </m:oMathPara>
                </a14:m>
                <a:endParaRPr lang="en-US" sz="2200" b="1" dirty="0">
                  <a:solidFill>
                    <a:schemeClr val="accent2">
                      <a:lumMod val="75000"/>
                    </a:schemeClr>
                  </a:solidFill>
                  <a:cs typeface="Times New Roman" panose="02020603050405020304" pitchFamily="18" charset="0"/>
                </a:endParaRPr>
              </a:p>
              <a:p>
                <a:endParaRPr lang="en-US" sz="2200" b="1" dirty="0">
                  <a:solidFill>
                    <a:schemeClr val="accent2">
                      <a:lumMod val="75000"/>
                    </a:schemeClr>
                  </a:solidFill>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439400" cy="5141388"/>
              </a:xfrm>
              <a:blipFill>
                <a:blip r:embed="rId4"/>
                <a:stretch>
                  <a:fillRect l="-350"/>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6CB005BF-F438-486F-ADB7-2D92C084D334}"/>
              </a:ext>
            </a:extLst>
          </p:cNvPr>
          <p:cNvSpPr txBox="1"/>
          <p:nvPr/>
        </p:nvSpPr>
        <p:spPr>
          <a:xfrm>
            <a:off x="7086600" y="3230357"/>
            <a:ext cx="2514600" cy="369332"/>
          </a:xfrm>
          <a:prstGeom prst="rect">
            <a:avLst/>
          </a:prstGeom>
          <a:solidFill>
            <a:schemeClr val="accent2">
              <a:lumMod val="40000"/>
              <a:lumOff val="60000"/>
            </a:schemeClr>
          </a:solidFill>
          <a:ln>
            <a:solidFill>
              <a:schemeClr val="accent3">
                <a:lumMod val="75000"/>
              </a:schemeClr>
            </a:solidFill>
          </a:ln>
        </p:spPr>
        <p:txBody>
          <a:bodyPr wrap="square" rtlCol="0">
            <a:spAutoFit/>
          </a:bodyPr>
          <a:lstStyle/>
          <a:p>
            <a:pPr algn="ctr"/>
            <a:r>
              <a:rPr lang="en-US" dirty="0"/>
              <a:t>Unbiasedness</a:t>
            </a:r>
          </a:p>
        </p:txBody>
      </p:sp>
      <p:cxnSp>
        <p:nvCxnSpPr>
          <p:cNvPr id="6" name="Straight Arrow Connector 5">
            <a:extLst>
              <a:ext uri="{FF2B5EF4-FFF2-40B4-BE49-F238E27FC236}">
                <a16:creationId xmlns:a16="http://schemas.microsoft.com/office/drawing/2014/main" id="{298BED37-3812-43BD-9FD7-4258583B9EAF}"/>
              </a:ext>
            </a:extLst>
          </p:cNvPr>
          <p:cNvCxnSpPr>
            <a:cxnSpLocks/>
          </p:cNvCxnSpPr>
          <p:nvPr/>
        </p:nvCxnSpPr>
        <p:spPr>
          <a:xfrm flipV="1">
            <a:off x="7467600" y="2575575"/>
            <a:ext cx="0" cy="550213"/>
          </a:xfrm>
          <a:prstGeom prst="straightConnector1">
            <a:avLst/>
          </a:prstGeom>
          <a:ln w="28575">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381800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Sampling Distribution of </a:t>
                </a:r>
                <a14:m>
                  <m:oMath xmlns:m="http://schemas.openxmlformats.org/officeDocument/2006/math">
                    <m:acc>
                      <m:accPr>
                        <m:chr m:val="̂"/>
                        <m:ctrlPr>
                          <a:rPr lang="en-US" sz="3600" b="0" i="1" smtClean="0">
                            <a:latin typeface="Cambria Math" panose="02040503050406030204" pitchFamily="18" charset="0"/>
                            <a:cs typeface="Times New Roman" panose="02020603050405020304" pitchFamily="18" charset="0"/>
                          </a:rPr>
                        </m:ctrlPr>
                      </m:accPr>
                      <m:e>
                        <m:sSub>
                          <m:sSubPr>
                            <m:ctrlPr>
                              <a:rPr lang="en-US" sz="3600" b="0" i="1" smtClean="0">
                                <a:latin typeface="Cambria Math" panose="02040503050406030204" pitchFamily="18" charset="0"/>
                                <a:cs typeface="Times New Roman" panose="02020603050405020304" pitchFamily="18" charset="0"/>
                              </a:rPr>
                            </m:ctrlPr>
                          </m:sSubPr>
                          <m:e>
                            <m:r>
                              <a:rPr lang="en-US" sz="3600" b="0" i="1" smtClean="0">
                                <a:latin typeface="Cambria Math" panose="02040503050406030204" pitchFamily="18" charset="0"/>
                                <a:cs typeface="Times New Roman" panose="02020603050405020304" pitchFamily="18" charset="0"/>
                              </a:rPr>
                              <m:t>𝛽</m:t>
                            </m:r>
                          </m:e>
                          <m:sub>
                            <m:r>
                              <a:rPr lang="en-US" sz="3600" b="0" i="1" smtClean="0">
                                <a:latin typeface="Cambria Math" panose="02040503050406030204" pitchFamily="18" charset="0"/>
                                <a:cs typeface="Times New Roman" panose="02020603050405020304" pitchFamily="18" charset="0"/>
                              </a:rPr>
                              <m:t>𝑖</m:t>
                            </m:r>
                          </m:sub>
                        </m:sSub>
                      </m:e>
                    </m:acc>
                  </m:oMath>
                </a14:m>
                <a:endParaRPr lang="en-US" sz="3600" dirty="0">
                  <a:latin typeface="Times New Roman" panose="02020603050405020304" pitchFamily="18" charset="0"/>
                  <a:cs typeface="Times New Roman" panose="02020603050405020304" pitchFamily="18" charset="0"/>
                </a:endParaRP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609600" y="337392"/>
                <a:ext cx="10439400" cy="624840"/>
              </a:xfrm>
              <a:blipFill>
                <a:blip r:embed="rId3"/>
                <a:stretch>
                  <a:fillRect l="-1751" t="-17476" b="-359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829801" cy="5141388"/>
              </a:xfrm>
            </p:spPr>
            <p:txBody>
              <a:bodyPr>
                <a:normAutofit/>
              </a:bodyPr>
              <a:lstStyle/>
              <a:p>
                <a:pPr marL="274320" lvl="1" indent="0">
                  <a:buNone/>
                </a:pPr>
                <a14:m>
                  <m:oMathPara xmlns:m="http://schemas.openxmlformats.org/officeDocument/2006/math">
                    <m:oMath>
                      <m: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𝑦</m:t>
                      </m:r>
                      <m: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0</m:t>
                          </m:r>
                        </m:sub>
                      </m:sSub>
                      <m: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1</m:t>
                          </m:r>
                        </m:sub>
                      </m:sSub>
                      <m:sSub>
                        <m:sSub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𝑥</m:t>
                          </m:r>
                        </m:e>
                        <m:sub>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1</m:t>
                          </m:r>
                        </m:sub>
                      </m:sSub>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𝛽</m:t>
                          </m:r>
                        </m:e>
                        <m:sub>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2</m:t>
                          </m:r>
                        </m:sub>
                      </m:sSub>
                      <m:sSub>
                        <m:sSubPr>
                          <m:ctrlP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𝑥</m:t>
                          </m:r>
                        </m:e>
                        <m:sub>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2</m:t>
                          </m:r>
                        </m:sub>
                      </m:sSub>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 …+</m:t>
                      </m:r>
                      <m:sSub>
                        <m:sSubPr>
                          <m:ctrlP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𝛽</m:t>
                          </m:r>
                        </m:e>
                        <m:sub>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𝑛</m:t>
                          </m:r>
                        </m:sub>
                      </m:sSub>
                      <m:sSub>
                        <m:sSubPr>
                          <m:ctrlP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𝑥</m:t>
                          </m:r>
                        </m:e>
                        <m:sub>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𝑛</m:t>
                          </m:r>
                        </m:sub>
                      </m:sSub>
                      <m: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𝜀</m:t>
                      </m:r>
                    </m:oMath>
                  </m:oMathPara>
                </a14:m>
                <a:endParaRPr lang="en-CA" sz="2200" dirty="0">
                  <a:solidFill>
                    <a:schemeClr val="tx1"/>
                  </a:solidFill>
                  <a:latin typeface="Open Sans"/>
                  <a:ea typeface="Open Sans" panose="020B0606030504020204" pitchFamily="34" charset="0"/>
                  <a:cs typeface="Open Sans" panose="020B0606030504020204" pitchFamily="34" charset="0"/>
                </a:endParaRPr>
              </a:p>
              <a:p>
                <a:r>
                  <a:rPr lang="en-US" sz="2200" dirty="0">
                    <a:cs typeface="Times New Roman" panose="02020603050405020304" pitchFamily="18" charset="0"/>
                  </a:rPr>
                  <a:t>Under homoskedasticity, there is a nice </a:t>
                </a:r>
                <a:r>
                  <a:rPr lang="en-US" sz="2200" b="1" dirty="0">
                    <a:cs typeface="Times New Roman" panose="02020603050405020304" pitchFamily="18" charset="0"/>
                  </a:rPr>
                  <a:t>sampling distribution </a:t>
                </a:r>
                <a:r>
                  <a:rPr lang="en-US" sz="2200" dirty="0">
                    <a:cs typeface="Times New Roman" panose="02020603050405020304" pitchFamily="18" charset="0"/>
                  </a:rPr>
                  <a:t>for any coefficient</a:t>
                </a:r>
              </a:p>
              <a:p>
                <a:pPr marL="0" indent="0">
                  <a:buNone/>
                </a:pPr>
                <a14:m>
                  <m:oMathPara xmlns:m="http://schemas.openxmlformats.org/officeDocument/2006/math">
                    <m:oMath>
                      <m:acc>
                        <m:accPr>
                          <m:chr m:val="̂"/>
                          <m:ctrlPr>
                            <a:rPr lang="en-US" sz="2200" b="0" i="1" smtClean="0">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200" b="0" i="1" smtClean="0">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200" b="0" i="1" smtClean="0">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200" b="0" i="1" smtClean="0">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𝑖</m:t>
                              </m:r>
                            </m:sub>
                          </m:sSub>
                        </m:e>
                      </m:acc>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𝒩</m:t>
                      </m:r>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 </m:t>
                      </m:r>
                      <m:d>
                        <m:d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dPr>
                        <m:e>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f>
                            <m:f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fPr>
                            <m:num>
                              <m:sSup>
                                <m:sSup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pPr>
                                <m:e>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𝜎</m:t>
                                  </m:r>
                                </m:e>
                                <m:sup>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2</m:t>
                                  </m:r>
                                </m:sup>
                              </m:sSup>
                            </m:num>
                            <m:den>
                              <m:nary>
                                <m:naryPr>
                                  <m:chr m:val="∑"/>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naryPr>
                                <m:sub>
                                  <m:d>
                                    <m:dPr>
                                      <m:begChr m:val="{"/>
                                      <m:endChr m:val="}"/>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dPr>
                                    <m:e>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𝑖</m:t>
                                      </m:r>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=1</m:t>
                                      </m:r>
                                    </m:e>
                                  </m:d>
                                </m:sub>
                                <m:sup>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𝑛</m:t>
                                  </m:r>
                                </m:sup>
                                <m:e>
                                  <m:sSup>
                                    <m:sSup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pPr>
                                    <m:e>
                                      <m:d>
                                        <m:d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dPr>
                                        <m:e>
                                          <m:sSub>
                                            <m:sSub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𝑥</m:t>
                                              </m:r>
                                            </m:e>
                                            <m:sub>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𝑖</m:t>
                                              </m:r>
                                            </m:sub>
                                          </m:sSub>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acc>
                                            <m:accPr>
                                              <m:chr m:val="̅"/>
                                              <m:ctrlPr>
                                                <a:rPr lang="en-US" sz="2200" b="0" i="1" smtClean="0">
                                                  <a:solidFill>
                                                    <a:schemeClr val="tx1"/>
                                                  </a:solidFill>
                                                  <a:latin typeface="Cambria Math" panose="02040503050406030204" pitchFamily="18" charset="0"/>
                                                </a:rPr>
                                              </m:ctrlPr>
                                            </m:accPr>
                                            <m:e>
                                              <m:r>
                                                <a:rPr lang="en-US" sz="2200" b="0" i="1" smtClean="0">
                                                  <a:solidFill>
                                                    <a:schemeClr val="tx1"/>
                                                  </a:solidFill>
                                                  <a:latin typeface="Cambria Math" panose="02040503050406030204" pitchFamily="18" charset="0"/>
                                                </a:rPr>
                                                <m:t>𝑥</m:t>
                                              </m:r>
                                            </m:e>
                                          </m:acc>
                                        </m:e>
                                      </m:d>
                                    </m:e>
                                    <m:sup>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2</m:t>
                                      </m:r>
                                    </m:sup>
                                  </m:sSup>
                                </m:e>
                              </m:nary>
                            </m:den>
                          </m:f>
                        </m:e>
                      </m:d>
                      <m:r>
                        <a:rPr lang="en-US" sz="2200" i="1">
                          <a:latin typeface="Cambria Math" panose="02040503050406030204" pitchFamily="18" charset="0"/>
                          <a:ea typeface="Open Sans" panose="020B0606030504020204" pitchFamily="34" charset="0"/>
                          <a:cs typeface="Open Sans" panose="020B0606030504020204" pitchFamily="34" charset="0"/>
                        </a:rPr>
                        <m:t>=</m:t>
                      </m:r>
                      <m:r>
                        <a:rPr lang="en-US" sz="2200" i="1">
                          <a:latin typeface="Cambria Math" panose="02040503050406030204" pitchFamily="18" charset="0"/>
                          <a:ea typeface="Open Sans" panose="020B0606030504020204" pitchFamily="34" charset="0"/>
                          <a:cs typeface="Open Sans" panose="020B0606030504020204" pitchFamily="34" charset="0"/>
                        </a:rPr>
                        <m:t>𝒩</m:t>
                      </m:r>
                      <m:d>
                        <m:d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dPr>
                        <m:e>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f>
                            <m:f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fPr>
                            <m:num>
                              <m:sSup>
                                <m:sSup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pPr>
                                <m:e>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𝜎</m:t>
                                  </m:r>
                                </m:e>
                                <m:sup>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2</m:t>
                                  </m:r>
                                </m:sup>
                              </m:sSup>
                            </m:num>
                            <m:den>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𝑆𝑆</m:t>
                              </m:r>
                              <m:sSub>
                                <m:sSub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𝑇</m:t>
                                  </m:r>
                                </m:e>
                                <m:sub>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𝑥</m:t>
                                  </m:r>
                                </m:sub>
                              </m:sSub>
                            </m:den>
                          </m:f>
                        </m:e>
                      </m:d>
                    </m:oMath>
                  </m:oMathPara>
                </a14:m>
                <a:endParaRPr lang="en-US" sz="2200" b="1" dirty="0">
                  <a:solidFill>
                    <a:schemeClr val="accent2">
                      <a:lumMod val="75000"/>
                    </a:schemeClr>
                  </a:solidFill>
                  <a:cs typeface="Times New Roman" panose="02020603050405020304" pitchFamily="18" charset="0"/>
                </a:endParaRPr>
              </a:p>
              <a:p>
                <a:endParaRPr lang="en-US" sz="2200" b="1" dirty="0">
                  <a:solidFill>
                    <a:schemeClr val="accent2">
                      <a:lumMod val="75000"/>
                    </a:schemeClr>
                  </a:solidFill>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829801" cy="5141388"/>
              </a:xfrm>
              <a:blipFill>
                <a:blip r:embed="rId4"/>
                <a:stretch>
                  <a:fillRect l="-372"/>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6CB005BF-F438-486F-ADB7-2D92C084D334}"/>
              </a:ext>
            </a:extLst>
          </p:cNvPr>
          <p:cNvSpPr txBox="1"/>
          <p:nvPr/>
        </p:nvSpPr>
        <p:spPr>
          <a:xfrm>
            <a:off x="7848600" y="3244334"/>
            <a:ext cx="2514600" cy="369332"/>
          </a:xfrm>
          <a:prstGeom prst="rect">
            <a:avLst/>
          </a:prstGeom>
          <a:solidFill>
            <a:schemeClr val="accent3">
              <a:lumMod val="20000"/>
              <a:lumOff val="80000"/>
            </a:schemeClr>
          </a:solidFill>
          <a:ln>
            <a:solidFill>
              <a:schemeClr val="accent3">
                <a:lumMod val="75000"/>
              </a:schemeClr>
            </a:solidFill>
          </a:ln>
        </p:spPr>
        <p:txBody>
          <a:bodyPr wrap="square" rtlCol="0">
            <a:spAutoFit/>
          </a:bodyPr>
          <a:lstStyle/>
          <a:p>
            <a:pPr algn="ctr"/>
            <a:r>
              <a:rPr lang="en-US" dirty="0"/>
              <a:t>Consistency</a:t>
            </a:r>
          </a:p>
        </p:txBody>
      </p:sp>
      <p:cxnSp>
        <p:nvCxnSpPr>
          <p:cNvPr id="6" name="Straight Arrow Connector 5">
            <a:extLst>
              <a:ext uri="{FF2B5EF4-FFF2-40B4-BE49-F238E27FC236}">
                <a16:creationId xmlns:a16="http://schemas.microsoft.com/office/drawing/2014/main" id="{298BED37-3812-43BD-9FD7-4258583B9EAF}"/>
              </a:ext>
            </a:extLst>
          </p:cNvPr>
          <p:cNvCxnSpPr>
            <a:cxnSpLocks/>
          </p:cNvCxnSpPr>
          <p:nvPr/>
        </p:nvCxnSpPr>
        <p:spPr>
          <a:xfrm flipV="1">
            <a:off x="8305800" y="2694121"/>
            <a:ext cx="0" cy="550213"/>
          </a:xfrm>
          <a:prstGeom prst="straightConnector1">
            <a:avLst/>
          </a:prstGeom>
          <a:ln w="28575">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00EF885-623A-C4F9-1377-EE00EF4AE704}"/>
                  </a:ext>
                </a:extLst>
              </p:cNvPr>
              <p:cNvSpPr txBox="1"/>
              <p:nvPr/>
            </p:nvSpPr>
            <p:spPr>
              <a:xfrm>
                <a:off x="990600" y="3244334"/>
                <a:ext cx="9372597" cy="2186048"/>
              </a:xfrm>
              <a:prstGeom prst="rect">
                <a:avLst/>
              </a:prstGeom>
              <a:noFill/>
            </p:spPr>
            <p:txBody>
              <a:bodyPr wrap="square" rtlCol="0">
                <a:spAutoFit/>
              </a:bodyPr>
              <a:lstStyle/>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We typically estimate this variance from the regression: </a:t>
                </a:r>
              </a:p>
              <a:p>
                <a:pPr/>
                <a14:m>
                  <m:oMathPara xmlns:m="http://schemas.openxmlformats.org/officeDocument/2006/math">
                    <m:oMath>
                      <m:sSup>
                        <m:sSupPr>
                          <m:ctrlPr>
                            <a:rPr lang="en-US" sz="2200" b="0" i="1" smtClean="0">
                              <a:latin typeface="Cambria Math" panose="02040503050406030204" pitchFamily="18" charset="0"/>
                              <a:cs typeface="Times New Roman" panose="02020603050405020304" pitchFamily="18" charset="0"/>
                            </a:rPr>
                          </m:ctrlPr>
                        </m:sSupPr>
                        <m:e>
                          <m:r>
                            <a:rPr lang="en-US" sz="2200" b="0" i="1" smtClean="0">
                              <a:latin typeface="Cambria Math" panose="02040503050406030204" pitchFamily="18" charset="0"/>
                              <a:cs typeface="Times New Roman" panose="02020603050405020304" pitchFamily="18" charset="0"/>
                            </a:rPr>
                            <m:t>𝑠</m:t>
                          </m:r>
                        </m:e>
                        <m:sup>
                          <m:r>
                            <a:rPr lang="en-US" sz="2200" b="0" i="1" smtClean="0">
                              <a:latin typeface="Cambria Math" panose="02040503050406030204" pitchFamily="18" charset="0"/>
                              <a:cs typeface="Times New Roman" panose="02020603050405020304" pitchFamily="18" charset="0"/>
                            </a:rPr>
                            <m:t>2</m:t>
                          </m:r>
                        </m:sup>
                      </m:sSup>
                      <m:r>
                        <a:rPr lang="en-US" sz="2200" b="0" i="1" smtClean="0">
                          <a:latin typeface="Cambria Math" panose="02040503050406030204" pitchFamily="18" charset="0"/>
                          <a:cs typeface="Times New Roman" panose="02020603050405020304" pitchFamily="18" charset="0"/>
                        </a:rPr>
                        <m:t>=</m:t>
                      </m:r>
                      <m:f>
                        <m:fPr>
                          <m:ctrlPr>
                            <a:rPr lang="en-US" sz="2200" b="0" i="1" smtClean="0">
                              <a:latin typeface="Cambria Math" panose="02040503050406030204" pitchFamily="18" charset="0"/>
                              <a:cs typeface="Times New Roman" panose="02020603050405020304" pitchFamily="18" charset="0"/>
                            </a:rPr>
                          </m:ctrlPr>
                        </m:fPr>
                        <m:num>
                          <m:nary>
                            <m:naryPr>
                              <m:chr m:val="∑"/>
                              <m:ctrlPr>
                                <a:rPr lang="en-US" sz="2200" b="0" i="1" smtClean="0">
                                  <a:latin typeface="Cambria Math" panose="02040503050406030204" pitchFamily="18" charset="0"/>
                                  <a:cs typeface="Times New Roman" panose="02020603050405020304" pitchFamily="18" charset="0"/>
                                </a:rPr>
                              </m:ctrlPr>
                            </m:naryPr>
                            <m:sub>
                              <m:d>
                                <m:dPr>
                                  <m:begChr m:val="{"/>
                                  <m:endChr m:val="}"/>
                                  <m:ctrlPr>
                                    <a:rPr lang="en-US" sz="2200" b="0" i="1" smtClean="0">
                                      <a:latin typeface="Cambria Math" panose="02040503050406030204" pitchFamily="18" charset="0"/>
                                      <a:cs typeface="Times New Roman" panose="02020603050405020304" pitchFamily="18" charset="0"/>
                                    </a:rPr>
                                  </m:ctrlPr>
                                </m:dPr>
                                <m:e>
                                  <m:r>
                                    <a:rPr lang="en-US" sz="2200" b="0" i="1" smtClean="0">
                                      <a:latin typeface="Cambria Math" panose="02040503050406030204" pitchFamily="18" charset="0"/>
                                      <a:cs typeface="Times New Roman" panose="02020603050405020304" pitchFamily="18" charset="0"/>
                                    </a:rPr>
                                    <m:t>𝑖</m:t>
                                  </m:r>
                                  <m:r>
                                    <a:rPr lang="en-US" sz="2200" b="0" i="1" smtClean="0">
                                      <a:latin typeface="Cambria Math" panose="02040503050406030204" pitchFamily="18" charset="0"/>
                                      <a:cs typeface="Times New Roman" panose="02020603050405020304" pitchFamily="18" charset="0"/>
                                    </a:rPr>
                                    <m:t>=1</m:t>
                                  </m:r>
                                </m:e>
                              </m:d>
                            </m:sub>
                            <m:sup>
                              <m:r>
                                <a:rPr lang="en-US" sz="2200" b="0" i="1" smtClean="0">
                                  <a:latin typeface="Cambria Math" panose="02040503050406030204" pitchFamily="18" charset="0"/>
                                  <a:cs typeface="Times New Roman" panose="02020603050405020304" pitchFamily="18" charset="0"/>
                                </a:rPr>
                                <m:t>𝑛</m:t>
                              </m:r>
                            </m:sup>
                            <m:e>
                              <m:sSubSup>
                                <m:sSubSupPr>
                                  <m:ctrlPr>
                                    <a:rPr lang="en-US" sz="2200" b="0" i="1" smtClean="0">
                                      <a:latin typeface="Cambria Math" panose="02040503050406030204" pitchFamily="18" charset="0"/>
                                      <a:cs typeface="Times New Roman" panose="02020603050405020304" pitchFamily="18" charset="0"/>
                                    </a:rPr>
                                  </m:ctrlPr>
                                </m:sSubSupPr>
                                <m:e>
                                  <m:acc>
                                    <m:accPr>
                                      <m:chr m:val="̂"/>
                                      <m:ctrlPr>
                                        <a:rPr lang="en-US" sz="2200" b="0" i="1" smtClean="0">
                                          <a:latin typeface="Cambria Math" panose="02040503050406030204" pitchFamily="18" charset="0"/>
                                          <a:cs typeface="Times New Roman" panose="02020603050405020304" pitchFamily="18" charset="0"/>
                                        </a:rPr>
                                      </m:ctrlPr>
                                    </m:accPr>
                                    <m:e>
                                      <m:r>
                                        <a:rPr lang="en-US" sz="2200" b="0" i="1" smtClean="0">
                                          <a:latin typeface="Cambria Math" panose="02040503050406030204" pitchFamily="18" charset="0"/>
                                          <a:cs typeface="Times New Roman" panose="02020603050405020304" pitchFamily="18" charset="0"/>
                                        </a:rPr>
                                        <m:t>𝑒</m:t>
                                      </m:r>
                                    </m:e>
                                  </m:acc>
                                </m:e>
                                <m:sub>
                                  <m:r>
                                    <a:rPr lang="en-US" sz="2200" b="0" i="1" dirty="0" smtClean="0">
                                      <a:latin typeface="Cambria Math" panose="02040503050406030204" pitchFamily="18" charset="0"/>
                                      <a:cs typeface="Times New Roman" panose="02020603050405020304" pitchFamily="18" charset="0"/>
                                    </a:rPr>
                                    <m:t>𝑖</m:t>
                                  </m:r>
                                </m:sub>
                                <m:sup>
                                  <m:r>
                                    <a:rPr lang="en-US" sz="2200" b="0" i="1" dirty="0" smtClean="0">
                                      <a:latin typeface="Cambria Math" panose="02040503050406030204" pitchFamily="18" charset="0"/>
                                      <a:cs typeface="Times New Roman" panose="02020603050405020304" pitchFamily="18" charset="0"/>
                                    </a:rPr>
                                    <m:t>2</m:t>
                                  </m:r>
                                </m:sup>
                              </m:sSubSup>
                            </m:e>
                          </m:nary>
                        </m:num>
                        <m:den>
                          <m:r>
                            <a:rPr lang="en-US" sz="2200" b="0" i="1" smtClean="0">
                              <a:latin typeface="Cambria Math" panose="02040503050406030204" pitchFamily="18" charset="0"/>
                              <a:cs typeface="Times New Roman" panose="02020603050405020304" pitchFamily="18" charset="0"/>
                            </a:rPr>
                            <m:t>𝑛</m:t>
                          </m:r>
                          <m:r>
                            <a:rPr lang="en-US" sz="2200" b="0" i="1" smtClean="0">
                              <a:latin typeface="Cambria Math" panose="02040503050406030204" pitchFamily="18" charset="0"/>
                              <a:cs typeface="Times New Roman" panose="02020603050405020304" pitchFamily="18" charset="0"/>
                            </a:rPr>
                            <m:t>−</m:t>
                          </m:r>
                          <m:r>
                            <a:rPr lang="en-US" sz="2200" b="0" i="1" smtClean="0">
                              <a:latin typeface="Cambria Math" panose="02040503050406030204" pitchFamily="18" charset="0"/>
                              <a:cs typeface="Times New Roman" panose="02020603050405020304" pitchFamily="18" charset="0"/>
                            </a:rPr>
                            <m:t>𝑘</m:t>
                          </m:r>
                          <m:r>
                            <a:rPr lang="en-US" sz="2200" b="0" i="1" smtClean="0">
                              <a:latin typeface="Cambria Math" panose="02040503050406030204" pitchFamily="18" charset="0"/>
                              <a:cs typeface="Times New Roman" panose="02020603050405020304" pitchFamily="18" charset="0"/>
                            </a:rPr>
                            <m:t>−1</m:t>
                          </m:r>
                        </m:den>
                      </m:f>
                      <m:r>
                        <a:rPr lang="en-US" sz="2200" b="0" i="0" smtClean="0">
                          <a:latin typeface="Cambria Math" panose="02040503050406030204" pitchFamily="18" charset="0"/>
                          <a:cs typeface="Times New Roman" panose="02020603050405020304" pitchFamily="18" charset="0"/>
                        </a:rPr>
                        <m:t>=</m:t>
                      </m:r>
                      <m:f>
                        <m:fPr>
                          <m:ctrlPr>
                            <a:rPr lang="en-US" sz="2200" b="0" i="0" smtClean="0">
                              <a:latin typeface="Cambria Math" panose="02040503050406030204" pitchFamily="18" charset="0"/>
                              <a:cs typeface="Times New Roman" panose="02020603050405020304" pitchFamily="18" charset="0"/>
                            </a:rPr>
                          </m:ctrlPr>
                        </m:fPr>
                        <m:num>
                          <m:r>
                            <m:rPr>
                              <m:sty m:val="p"/>
                            </m:rPr>
                            <a:rPr lang="en-US" sz="2200" b="0" i="0" smtClean="0">
                              <a:latin typeface="Cambria Math" panose="02040503050406030204" pitchFamily="18" charset="0"/>
                              <a:cs typeface="Times New Roman" panose="02020603050405020304" pitchFamily="18" charset="0"/>
                            </a:rPr>
                            <m:t>SSE</m:t>
                          </m:r>
                        </m:num>
                        <m:den>
                          <m:r>
                            <m:rPr>
                              <m:sty m:val="p"/>
                            </m:rPr>
                            <a:rPr lang="en-US" sz="2200" b="0" i="0" smtClean="0">
                              <a:latin typeface="Cambria Math" panose="02040503050406030204" pitchFamily="18" charset="0"/>
                              <a:cs typeface="Times New Roman" panose="02020603050405020304" pitchFamily="18" charset="0"/>
                            </a:rPr>
                            <m:t>n</m:t>
                          </m:r>
                          <m:r>
                            <a:rPr lang="en-US" sz="2200" b="0" i="0" smtClean="0">
                              <a:latin typeface="Cambria Math" panose="02040503050406030204" pitchFamily="18" charset="0"/>
                              <a:cs typeface="Times New Roman" panose="02020603050405020304" pitchFamily="18" charset="0"/>
                            </a:rPr>
                            <m:t>−</m:t>
                          </m:r>
                          <m:r>
                            <m:rPr>
                              <m:sty m:val="p"/>
                            </m:rPr>
                            <a:rPr lang="en-US" sz="2200" b="0" i="0" smtClean="0">
                              <a:latin typeface="Cambria Math" panose="02040503050406030204" pitchFamily="18" charset="0"/>
                              <a:cs typeface="Times New Roman" panose="02020603050405020304" pitchFamily="18" charset="0"/>
                            </a:rPr>
                            <m:t>k</m:t>
                          </m:r>
                          <m:r>
                            <a:rPr lang="en-US" sz="2200" b="0" i="0" smtClean="0">
                              <a:latin typeface="Cambria Math" panose="02040503050406030204" pitchFamily="18" charset="0"/>
                              <a:cs typeface="Times New Roman" panose="02020603050405020304" pitchFamily="18" charset="0"/>
                            </a:rPr>
                            <m:t>−1</m:t>
                          </m:r>
                        </m:den>
                      </m:f>
                    </m:oMath>
                  </m:oMathPara>
                </a14:m>
                <a:endParaRPr lang="en-US" sz="2200" b="0" dirty="0">
                  <a:latin typeface="Times New Roman" panose="02020603050405020304" pitchFamily="18" charset="0"/>
                  <a:cs typeface="Times New Roman" panose="02020603050405020304" pitchFamily="18" charset="0"/>
                </a:endParaRPr>
              </a:p>
              <a:p>
                <a:endParaRPr lang="en-US" sz="2200" b="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Given our estimate of </a:t>
                </a:r>
                <a14:m>
                  <m:oMath xmlns:m="http://schemas.openxmlformats.org/officeDocument/2006/math">
                    <m:sSup>
                      <m:sSupPr>
                        <m:ctrlPr>
                          <a:rPr lang="en-US" sz="2200" b="0" i="1" smtClean="0">
                            <a:latin typeface="Cambria Math" panose="02040503050406030204" pitchFamily="18" charset="0"/>
                            <a:cs typeface="Times New Roman" panose="02020603050405020304" pitchFamily="18" charset="0"/>
                          </a:rPr>
                        </m:ctrlPr>
                      </m:sSupPr>
                      <m:e>
                        <m:r>
                          <a:rPr lang="en-US" sz="2200" b="0" i="1" smtClean="0">
                            <a:latin typeface="Cambria Math" panose="02040503050406030204" pitchFamily="18" charset="0"/>
                            <a:cs typeface="Times New Roman" panose="02020603050405020304" pitchFamily="18" charset="0"/>
                          </a:rPr>
                          <m:t>𝜎</m:t>
                        </m:r>
                      </m:e>
                      <m:sup>
                        <m:r>
                          <a:rPr lang="en-US" sz="2200" b="0" i="1" smtClean="0">
                            <a:latin typeface="Cambria Math" panose="02040503050406030204" pitchFamily="18" charset="0"/>
                            <a:cs typeface="Times New Roman" panose="02020603050405020304" pitchFamily="18" charset="0"/>
                          </a:rPr>
                          <m:t>2</m:t>
                        </m:r>
                      </m:sup>
                    </m:sSup>
                  </m:oMath>
                </a14:m>
                <a:r>
                  <a:rPr lang="en-US" sz="2200" dirty="0">
                    <a:latin typeface="Times New Roman" panose="02020603050405020304" pitchFamily="18" charset="0"/>
                    <a:cs typeface="Times New Roman" panose="02020603050405020304" pitchFamily="18" charset="0"/>
                  </a:rPr>
                  <a:t>, we calculate </a:t>
                </a:r>
                <a:r>
                  <a:rPr lang="en-US" sz="2200" b="1" dirty="0">
                    <a:solidFill>
                      <a:schemeClr val="accent2">
                        <a:lumMod val="75000"/>
                      </a:schemeClr>
                    </a:solidFill>
                    <a:latin typeface="Times New Roman" panose="02020603050405020304" pitchFamily="18" charset="0"/>
                    <a:cs typeface="Times New Roman" panose="02020603050405020304" pitchFamily="18" charset="0"/>
                  </a:rPr>
                  <a:t>standard errors </a:t>
                </a:r>
                <a:r>
                  <a:rPr lang="en-US" sz="2200" dirty="0">
                    <a:latin typeface="Times New Roman" panose="02020603050405020304" pitchFamily="18" charset="0"/>
                    <a:cs typeface="Times New Roman" panose="02020603050405020304" pitchFamily="18" charset="0"/>
                  </a:rPr>
                  <a:t>for coefficients from the </a:t>
                </a:r>
                <a:r>
                  <a:rPr lang="en-US" sz="2200" b="1" dirty="0">
                    <a:latin typeface="Times New Roman" panose="02020603050405020304" pitchFamily="18" charset="0"/>
                    <a:cs typeface="Times New Roman" panose="02020603050405020304" pitchFamily="18" charset="0"/>
                  </a:rPr>
                  <a:t>variance-covariance matrix</a:t>
                </a:r>
                <a:r>
                  <a:rPr lang="en-US" sz="2200" dirty="0">
                    <a:latin typeface="Times New Roman" panose="02020603050405020304" pitchFamily="18" charset="0"/>
                    <a:cs typeface="Times New Roman" panose="02020603050405020304" pitchFamily="18" charset="0"/>
                  </a:rPr>
                  <a:t>: </a:t>
                </a:r>
                <a14:m>
                  <m:oMath xmlns:m="http://schemas.openxmlformats.org/officeDocument/2006/math">
                    <m:sSup>
                      <m:sSupPr>
                        <m:ctrlPr>
                          <a:rPr lang="en-US" sz="2200" b="0" i="1" smtClean="0">
                            <a:latin typeface="Cambria Math" panose="02040503050406030204" pitchFamily="18" charset="0"/>
                            <a:cs typeface="Times New Roman" panose="02020603050405020304" pitchFamily="18" charset="0"/>
                          </a:rPr>
                        </m:ctrlPr>
                      </m:sSupPr>
                      <m:e>
                        <m:r>
                          <a:rPr lang="en-US" sz="2200" b="0" i="1" smtClean="0">
                            <a:latin typeface="Cambria Math" panose="02040503050406030204" pitchFamily="18" charset="0"/>
                            <a:cs typeface="Times New Roman" panose="02020603050405020304" pitchFamily="18" charset="0"/>
                          </a:rPr>
                          <m:t>𝑠</m:t>
                        </m:r>
                      </m:e>
                      <m:sup>
                        <m:r>
                          <a:rPr lang="en-US" sz="2200" b="0" i="1" smtClean="0">
                            <a:latin typeface="Cambria Math" panose="02040503050406030204" pitchFamily="18" charset="0"/>
                            <a:cs typeface="Times New Roman" panose="02020603050405020304" pitchFamily="18" charset="0"/>
                          </a:rPr>
                          <m:t>2</m:t>
                        </m:r>
                      </m:sup>
                    </m:sSup>
                    <m:sSup>
                      <m:sSupPr>
                        <m:ctrlPr>
                          <a:rPr lang="en-US" sz="2200" i="1" smtClean="0">
                            <a:latin typeface="Cambria Math" panose="02040503050406030204" pitchFamily="18" charset="0"/>
                            <a:cs typeface="Times New Roman" panose="02020603050405020304" pitchFamily="18" charset="0"/>
                          </a:rPr>
                        </m:ctrlPr>
                      </m:sSupPr>
                      <m:e>
                        <m:d>
                          <m:dPr>
                            <m:ctrlPr>
                              <a:rPr lang="en-US" sz="2200" i="1" smtClean="0">
                                <a:latin typeface="Cambria Math" panose="02040503050406030204" pitchFamily="18" charset="0"/>
                                <a:cs typeface="Times New Roman" panose="02020603050405020304" pitchFamily="18" charset="0"/>
                              </a:rPr>
                            </m:ctrlPr>
                          </m:dPr>
                          <m:e>
                            <m:sSup>
                              <m:sSupPr>
                                <m:ctrlPr>
                                  <a:rPr lang="en-US" sz="2200" b="0" i="1" smtClean="0">
                                    <a:latin typeface="Cambria Math" panose="02040503050406030204" pitchFamily="18" charset="0"/>
                                    <a:cs typeface="Times New Roman" panose="02020603050405020304" pitchFamily="18" charset="0"/>
                                  </a:rPr>
                                </m:ctrlPr>
                              </m:sSupPr>
                              <m:e>
                                <m:r>
                                  <a:rPr lang="en-US" sz="2200" b="0" i="1" smtClean="0">
                                    <a:latin typeface="Cambria Math" panose="02040503050406030204" pitchFamily="18" charset="0"/>
                                    <a:cs typeface="Times New Roman" panose="02020603050405020304" pitchFamily="18" charset="0"/>
                                  </a:rPr>
                                  <m:t>𝑋</m:t>
                                </m:r>
                              </m:e>
                              <m:sup>
                                <m:r>
                                  <a:rPr lang="en-US" sz="2200" b="0" i="1" smtClean="0">
                                    <a:latin typeface="Cambria Math" panose="02040503050406030204" pitchFamily="18" charset="0"/>
                                    <a:cs typeface="Times New Roman" panose="02020603050405020304" pitchFamily="18" charset="0"/>
                                  </a:rPr>
                                  <m:t>′</m:t>
                                </m:r>
                              </m:sup>
                            </m:sSup>
                            <m:r>
                              <a:rPr lang="en-US" sz="2200" b="0" i="1" smtClean="0">
                                <a:latin typeface="Cambria Math" panose="02040503050406030204" pitchFamily="18" charset="0"/>
                                <a:cs typeface="Times New Roman" panose="02020603050405020304" pitchFamily="18" charset="0"/>
                              </a:rPr>
                              <m:t>𝑋</m:t>
                            </m:r>
                          </m:e>
                        </m:d>
                      </m:e>
                      <m:sup>
                        <m:d>
                          <m:dPr>
                            <m:begChr m:val="{"/>
                            <m:endChr m:val="}"/>
                            <m:ctrlPr>
                              <a:rPr lang="en-US" sz="2200" b="0" i="1" smtClean="0">
                                <a:latin typeface="Cambria Math" panose="02040503050406030204" pitchFamily="18" charset="0"/>
                                <a:cs typeface="Times New Roman" panose="02020603050405020304" pitchFamily="18" charset="0"/>
                              </a:rPr>
                            </m:ctrlPr>
                          </m:dPr>
                          <m:e>
                            <m:r>
                              <a:rPr lang="en-US" sz="2200" b="0" i="1" smtClean="0">
                                <a:latin typeface="Cambria Math" panose="02040503050406030204" pitchFamily="18" charset="0"/>
                                <a:cs typeface="Times New Roman" panose="02020603050405020304" pitchFamily="18" charset="0"/>
                              </a:rPr>
                              <m:t>−1</m:t>
                            </m:r>
                          </m:e>
                        </m:d>
                      </m:sup>
                    </m:sSup>
                  </m:oMath>
                </a14:m>
                <a:endParaRPr lang="en-US" sz="2200" dirty="0">
                  <a:latin typeface="Times New Roman" panose="02020603050405020304" pitchFamily="18"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C00EF885-623A-C4F9-1377-EE00EF4AE704}"/>
                  </a:ext>
                </a:extLst>
              </p:cNvPr>
              <p:cNvSpPr txBox="1">
                <a:spLocks noRot="1" noChangeAspect="1" noMove="1" noResize="1" noEditPoints="1" noAdjustHandles="1" noChangeArrowheads="1" noChangeShapeType="1" noTextEdit="1"/>
              </p:cNvSpPr>
              <p:nvPr/>
            </p:nvSpPr>
            <p:spPr>
              <a:xfrm>
                <a:off x="990600" y="3244334"/>
                <a:ext cx="9372597" cy="2186048"/>
              </a:xfrm>
              <a:prstGeom prst="rect">
                <a:avLst/>
              </a:prstGeom>
              <a:blipFill>
                <a:blip r:embed="rId5"/>
                <a:stretch>
                  <a:fillRect l="-781" t="-1950" b="-4735"/>
                </a:stretch>
              </a:blipFill>
            </p:spPr>
            <p:txBody>
              <a:bodyPr/>
              <a:lstStyle/>
              <a:p>
                <a:r>
                  <a:rPr lang="en-US">
                    <a:noFill/>
                  </a:rPr>
                  <a:t> </a:t>
                </a:r>
              </a:p>
            </p:txBody>
          </p:sp>
        </mc:Fallback>
      </mc:AlternateContent>
    </p:spTree>
    <p:extLst>
      <p:ext uri="{BB962C8B-B14F-4D97-AF65-F5344CB8AC3E}">
        <p14:creationId xmlns:p14="http://schemas.microsoft.com/office/powerpoint/2010/main" val="161820324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Sampling Distribution of </a:t>
                </a:r>
                <a14:m>
                  <m:oMath xmlns:m="http://schemas.openxmlformats.org/officeDocument/2006/math">
                    <m:acc>
                      <m:accPr>
                        <m:chr m:val="̂"/>
                        <m:ctrlPr>
                          <a:rPr lang="en-US" sz="3600" b="0" i="1" smtClean="0">
                            <a:latin typeface="Cambria Math" panose="02040503050406030204" pitchFamily="18" charset="0"/>
                            <a:cs typeface="Times New Roman" panose="02020603050405020304" pitchFamily="18" charset="0"/>
                          </a:rPr>
                        </m:ctrlPr>
                      </m:accPr>
                      <m:e>
                        <m:sSub>
                          <m:sSubPr>
                            <m:ctrlPr>
                              <a:rPr lang="en-US" sz="3600" b="0" i="1" smtClean="0">
                                <a:latin typeface="Cambria Math" panose="02040503050406030204" pitchFamily="18" charset="0"/>
                                <a:cs typeface="Times New Roman" panose="02020603050405020304" pitchFamily="18" charset="0"/>
                              </a:rPr>
                            </m:ctrlPr>
                          </m:sSubPr>
                          <m:e>
                            <m:r>
                              <a:rPr lang="en-US" sz="3600" b="0" i="1" smtClean="0">
                                <a:latin typeface="Cambria Math" panose="02040503050406030204" pitchFamily="18" charset="0"/>
                                <a:cs typeface="Times New Roman" panose="02020603050405020304" pitchFamily="18" charset="0"/>
                              </a:rPr>
                              <m:t>𝛽</m:t>
                            </m:r>
                          </m:e>
                          <m:sub>
                            <m:r>
                              <a:rPr lang="en-US" sz="3600" b="0" i="1" smtClean="0">
                                <a:latin typeface="Cambria Math" panose="02040503050406030204" pitchFamily="18" charset="0"/>
                                <a:cs typeface="Times New Roman" panose="02020603050405020304" pitchFamily="18" charset="0"/>
                              </a:rPr>
                              <m:t>𝑖</m:t>
                            </m:r>
                          </m:sub>
                        </m:sSub>
                      </m:e>
                    </m:acc>
                  </m:oMath>
                </a14:m>
                <a:endParaRPr lang="en-US" sz="3600" dirty="0">
                  <a:latin typeface="Times New Roman" panose="02020603050405020304" pitchFamily="18" charset="0"/>
                  <a:cs typeface="Times New Roman" panose="02020603050405020304" pitchFamily="18" charset="0"/>
                </a:endParaRP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609600" y="337392"/>
                <a:ext cx="10439400" cy="624840"/>
              </a:xfrm>
              <a:blipFill>
                <a:blip r:embed="rId3"/>
                <a:stretch>
                  <a:fillRect l="-1751" t="-17476" b="-359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829801" cy="5141388"/>
              </a:xfrm>
            </p:spPr>
            <p:txBody>
              <a:bodyPr>
                <a:normAutofit/>
              </a:bodyPr>
              <a:lstStyle/>
              <a:p>
                <a:pPr marL="274320" lvl="1" indent="0">
                  <a:buNone/>
                </a:pPr>
                <a14:m>
                  <m:oMathPara xmlns:m="http://schemas.openxmlformats.org/officeDocument/2006/math">
                    <m:oMath>
                      <m: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𝑦</m:t>
                      </m:r>
                      <m: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0</m:t>
                          </m:r>
                        </m:sub>
                      </m:sSub>
                      <m: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1</m:t>
                          </m:r>
                        </m:sub>
                      </m:sSub>
                      <m:sSub>
                        <m:sSub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𝑥</m:t>
                          </m:r>
                        </m:e>
                        <m:sub>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1</m:t>
                          </m:r>
                        </m:sub>
                      </m:sSub>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𝛽</m:t>
                          </m:r>
                        </m:e>
                        <m:sub>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2</m:t>
                          </m:r>
                        </m:sub>
                      </m:sSub>
                      <m:sSub>
                        <m:sSubPr>
                          <m:ctrlP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𝑥</m:t>
                          </m:r>
                        </m:e>
                        <m:sub>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2</m:t>
                          </m:r>
                        </m:sub>
                      </m:sSub>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 …+</m:t>
                      </m:r>
                      <m:sSub>
                        <m:sSubPr>
                          <m:ctrlP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𝛽</m:t>
                          </m:r>
                        </m:e>
                        <m:sub>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𝑛</m:t>
                          </m:r>
                        </m:sub>
                      </m:sSub>
                      <m:sSub>
                        <m:sSubPr>
                          <m:ctrlP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𝑥</m:t>
                          </m:r>
                        </m:e>
                        <m:sub>
                          <m:r>
                            <a:rPr lang="en-US" sz="2200" b="0" i="1" smtClean="0">
                              <a:solidFill>
                                <a:schemeClr val="accent2"/>
                              </a:solidFill>
                              <a:latin typeface="Cambria Math" panose="02040503050406030204" pitchFamily="18" charset="0"/>
                              <a:ea typeface="Open Sans" panose="020B0606030504020204" pitchFamily="34" charset="0"/>
                              <a:cs typeface="Open Sans" panose="020B0606030504020204" pitchFamily="34" charset="0"/>
                            </a:rPr>
                            <m:t>𝑛</m:t>
                          </m:r>
                        </m:sub>
                      </m:sSub>
                      <m:r>
                        <a:rPr lang="en-CA"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𝜀</m:t>
                      </m:r>
                    </m:oMath>
                  </m:oMathPara>
                </a14:m>
                <a:endParaRPr lang="en-CA" sz="2200" dirty="0">
                  <a:solidFill>
                    <a:schemeClr val="tx1"/>
                  </a:solidFill>
                  <a:latin typeface="Open Sans"/>
                  <a:ea typeface="Open Sans" panose="020B0606030504020204" pitchFamily="34" charset="0"/>
                  <a:cs typeface="Open Sans" panose="020B0606030504020204" pitchFamily="34" charset="0"/>
                </a:endParaRPr>
              </a:p>
              <a:p>
                <a:r>
                  <a:rPr lang="en-US" sz="2200" dirty="0">
                    <a:cs typeface="Times New Roman" panose="02020603050405020304" pitchFamily="18" charset="0"/>
                  </a:rPr>
                  <a:t>Under homoskedasticity, there is a nice </a:t>
                </a:r>
                <a:r>
                  <a:rPr lang="en-US" sz="2200" b="1" dirty="0">
                    <a:cs typeface="Times New Roman" panose="02020603050405020304" pitchFamily="18" charset="0"/>
                  </a:rPr>
                  <a:t>sampling distribution </a:t>
                </a:r>
                <a:r>
                  <a:rPr lang="en-US" sz="2200" dirty="0">
                    <a:cs typeface="Times New Roman" panose="02020603050405020304" pitchFamily="18" charset="0"/>
                  </a:rPr>
                  <a:t>for any coefficient</a:t>
                </a:r>
              </a:p>
              <a:p>
                <a:pPr marL="0" indent="0">
                  <a:buNone/>
                </a:pPr>
                <a14:m>
                  <m:oMathPara xmlns:m="http://schemas.openxmlformats.org/officeDocument/2006/math">
                    <m:oMath>
                      <m:acc>
                        <m:accPr>
                          <m:chr m:val="̂"/>
                          <m:ctrlPr>
                            <a:rPr lang="en-US" sz="2200" b="0" i="1" smtClean="0">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ctrlPr>
                        </m:accPr>
                        <m:e>
                          <m:sSub>
                            <m:sSubPr>
                              <m:ctrlPr>
                                <a:rPr lang="en-US" sz="2200" b="0" i="1" smtClean="0">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ctrlPr>
                            </m:sSubPr>
                            <m:e>
                              <m:r>
                                <a:rPr lang="en-US" sz="2200" b="0" i="1" smtClean="0">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𝛽</m:t>
                              </m:r>
                            </m:e>
                            <m:sub>
                              <m:r>
                                <a:rPr lang="en-US" sz="2200" b="0" i="1" smtClean="0">
                                  <a:solidFill>
                                    <a:schemeClr val="accent2">
                                      <a:lumMod val="75000"/>
                                    </a:schemeClr>
                                  </a:solidFill>
                                  <a:latin typeface="Cambria Math" panose="02040503050406030204" pitchFamily="18" charset="0"/>
                                  <a:ea typeface="Open Sans" panose="020B0606030504020204" pitchFamily="34" charset="0"/>
                                  <a:cs typeface="Times New Roman" panose="02020603050405020304" pitchFamily="18" charset="0"/>
                                </a:rPr>
                                <m:t>𝑗</m:t>
                              </m:r>
                            </m:sub>
                          </m:sSub>
                        </m:e>
                      </m:acc>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𝒩</m:t>
                      </m:r>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 </m:t>
                      </m:r>
                      <m:d>
                        <m:d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dPr>
                        <m:e>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f>
                            <m:f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fPr>
                            <m:num>
                              <m:sSup>
                                <m:sSup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pPr>
                                <m:e>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𝜎</m:t>
                                  </m:r>
                                </m:e>
                                <m:sup>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2</m:t>
                                  </m:r>
                                </m:sup>
                              </m:sSup>
                            </m:num>
                            <m:den>
                              <m:nary>
                                <m:naryPr>
                                  <m:chr m:val="∑"/>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naryPr>
                                <m:sub>
                                  <m:d>
                                    <m:dPr>
                                      <m:begChr m:val="{"/>
                                      <m:endChr m:val="}"/>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dPr>
                                    <m:e>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𝑖</m:t>
                                      </m:r>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=1</m:t>
                                      </m:r>
                                    </m:e>
                                  </m:d>
                                </m:sub>
                                <m:sup>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𝑛</m:t>
                                  </m:r>
                                </m:sup>
                                <m:e>
                                  <m:sSup>
                                    <m:sSup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pPr>
                                    <m:e>
                                      <m:d>
                                        <m:d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dPr>
                                        <m:e>
                                          <m:sSub>
                                            <m:sSub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sSub>
                                                <m:sSub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𝑥</m:t>
                                                  </m:r>
                                                </m:e>
                                                <m:sub>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𝑗</m:t>
                                                  </m:r>
                                                </m:sub>
                                              </m:sSub>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e>
                                            <m:sub>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𝑖</m:t>
                                              </m:r>
                                            </m:sub>
                                          </m:sSub>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US" sz="2200" b="0" i="1" smtClean="0">
                                                  <a:solidFill>
                                                    <a:schemeClr val="tx1"/>
                                                  </a:solidFill>
                                                  <a:latin typeface="Cambria Math" panose="02040503050406030204" pitchFamily="18" charset="0"/>
                                                </a:rPr>
                                              </m:ctrlPr>
                                            </m:sSubPr>
                                            <m:e>
                                              <m:acc>
                                                <m:accPr>
                                                  <m:chr m:val="̅"/>
                                                  <m:ctrlPr>
                                                    <a:rPr lang="en-US" sz="2200" b="0" i="1" smtClean="0">
                                                      <a:solidFill>
                                                        <a:schemeClr val="tx1"/>
                                                      </a:solidFill>
                                                      <a:latin typeface="Cambria Math" panose="02040503050406030204" pitchFamily="18" charset="0"/>
                                                    </a:rPr>
                                                  </m:ctrlPr>
                                                </m:accPr>
                                                <m:e>
                                                  <m:r>
                                                    <a:rPr lang="en-US" sz="2200" b="0" i="1" smtClean="0">
                                                      <a:solidFill>
                                                        <a:schemeClr val="tx1"/>
                                                      </a:solidFill>
                                                      <a:latin typeface="Cambria Math" panose="02040503050406030204" pitchFamily="18" charset="0"/>
                                                    </a:rPr>
                                                    <m:t>𝑥</m:t>
                                                  </m:r>
                                                </m:e>
                                              </m:acc>
                                            </m:e>
                                            <m:sub>
                                              <m:r>
                                                <a:rPr lang="en-US" sz="2200" b="0" i="1" smtClean="0">
                                                  <a:solidFill>
                                                    <a:schemeClr val="tx1"/>
                                                  </a:solidFill>
                                                  <a:latin typeface="Cambria Math" panose="02040503050406030204" pitchFamily="18" charset="0"/>
                                                </a:rPr>
                                                <m:t>𝑗</m:t>
                                              </m:r>
                                            </m:sub>
                                          </m:sSub>
                                        </m:e>
                                      </m:d>
                                    </m:e>
                                    <m:sup>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2</m:t>
                                      </m:r>
                                    </m:sup>
                                  </m:sSup>
                                </m:e>
                              </m:nary>
                            </m:den>
                          </m:f>
                        </m:e>
                      </m:d>
                      <m:r>
                        <a:rPr lang="en-US" sz="2200" i="1">
                          <a:latin typeface="Cambria Math" panose="02040503050406030204" pitchFamily="18" charset="0"/>
                          <a:ea typeface="Open Sans" panose="020B0606030504020204" pitchFamily="34" charset="0"/>
                          <a:cs typeface="Open Sans" panose="020B0606030504020204" pitchFamily="34" charset="0"/>
                        </a:rPr>
                        <m:t>=</m:t>
                      </m:r>
                      <m:r>
                        <a:rPr lang="en-US" sz="2200" i="1">
                          <a:latin typeface="Cambria Math" panose="02040503050406030204" pitchFamily="18" charset="0"/>
                          <a:ea typeface="Open Sans" panose="020B0606030504020204" pitchFamily="34" charset="0"/>
                          <a:cs typeface="Open Sans" panose="020B0606030504020204" pitchFamily="34" charset="0"/>
                        </a:rPr>
                        <m:t>𝒩</m:t>
                      </m:r>
                      <m:d>
                        <m:d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dPr>
                        <m:e>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f>
                            <m:f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fPr>
                            <m:num>
                              <m:sSup>
                                <m:sSup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pPr>
                                <m:e>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𝜎</m:t>
                                  </m:r>
                                </m:e>
                                <m:sup>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2</m:t>
                                  </m:r>
                                </m:sup>
                              </m:sSup>
                            </m:num>
                            <m:den>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𝑆𝑆</m:t>
                              </m:r>
                              <m:sSub>
                                <m:sSub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𝑇</m:t>
                                  </m:r>
                                </m:e>
                                <m:sub>
                                  <m:sSub>
                                    <m:sSubPr>
                                      <m:ctrlP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𝑥</m:t>
                                      </m:r>
                                    </m:e>
                                    <m:sub>
                                      <m:r>
                                        <a:rPr lang="en-US" sz="22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𝑗</m:t>
                                      </m:r>
                                    </m:sub>
                                  </m:sSub>
                                </m:sub>
                              </m:sSub>
                            </m:den>
                          </m:f>
                        </m:e>
                      </m:d>
                    </m:oMath>
                  </m:oMathPara>
                </a14:m>
                <a:endParaRPr lang="en-US" sz="2200" b="1" dirty="0">
                  <a:solidFill>
                    <a:schemeClr val="accent2">
                      <a:lumMod val="75000"/>
                    </a:schemeClr>
                  </a:solidFill>
                  <a:cs typeface="Times New Roman" panose="02020603050405020304" pitchFamily="18" charset="0"/>
                </a:endParaRPr>
              </a:p>
              <a:p>
                <a:pPr marL="0" indent="0">
                  <a:buNone/>
                </a:pPr>
                <a:r>
                  <a:rPr lang="en-US" sz="2200" b="1" dirty="0">
                    <a:solidFill>
                      <a:schemeClr val="accent2">
                        <a:lumMod val="75000"/>
                      </a:schemeClr>
                    </a:solidFill>
                    <a:cs typeface="Times New Roman" panose="02020603050405020304" pitchFamily="18" charset="0"/>
                  </a:rPr>
                  <a:t>Hence, what affects the precision of our regression coefficient? </a:t>
                </a:r>
              </a:p>
              <a:p>
                <a:pPr marL="457200" indent="-457200">
                  <a:buFont typeface="+mj-lt"/>
                  <a:buAutoNum type="arabicPeriod"/>
                </a:pPr>
                <a:r>
                  <a:rPr lang="en-US" sz="2200" dirty="0">
                    <a:solidFill>
                      <a:schemeClr val="tx1"/>
                    </a:solidFill>
                    <a:cs typeface="Times New Roman" panose="02020603050405020304" pitchFamily="18" charset="0"/>
                  </a:rPr>
                  <a:t>The error variance (</a:t>
                </a:r>
                <a14:m>
                  <m:oMath xmlns:m="http://schemas.openxmlformats.org/officeDocument/2006/math">
                    <m:r>
                      <a:rPr lang="en-US" sz="2200" b="0" i="1" smtClean="0">
                        <a:solidFill>
                          <a:schemeClr val="tx1"/>
                        </a:solidFill>
                        <a:latin typeface="Cambria Math" panose="02040503050406030204" pitchFamily="18" charset="0"/>
                        <a:cs typeface="Times New Roman" panose="02020603050405020304" pitchFamily="18" charset="0"/>
                      </a:rPr>
                      <m:t>↑</m:t>
                    </m:r>
                    <m:sSup>
                      <m:sSupPr>
                        <m:ctrlPr>
                          <a:rPr lang="en-US" sz="2200" b="0" i="1" smtClean="0">
                            <a:solidFill>
                              <a:schemeClr val="tx1"/>
                            </a:solidFill>
                            <a:latin typeface="Cambria Math" panose="02040503050406030204" pitchFamily="18" charset="0"/>
                            <a:cs typeface="Times New Roman" panose="02020603050405020304" pitchFamily="18" charset="0"/>
                          </a:rPr>
                        </m:ctrlPr>
                      </m:sSupPr>
                      <m:e>
                        <m:r>
                          <a:rPr lang="en-US" sz="2200" b="0" i="1" smtClean="0">
                            <a:solidFill>
                              <a:schemeClr val="tx1"/>
                            </a:solidFill>
                            <a:latin typeface="Cambria Math" panose="02040503050406030204" pitchFamily="18" charset="0"/>
                            <a:cs typeface="Times New Roman" panose="02020603050405020304" pitchFamily="18" charset="0"/>
                          </a:rPr>
                          <m:t>𝜎</m:t>
                        </m:r>
                      </m:e>
                      <m:sup>
                        <m:r>
                          <a:rPr lang="en-US" sz="2200" b="0" i="1" smtClean="0">
                            <a:solidFill>
                              <a:schemeClr val="tx1"/>
                            </a:solidFill>
                            <a:latin typeface="Cambria Math" panose="02040503050406030204" pitchFamily="18" charset="0"/>
                            <a:cs typeface="Times New Roman" panose="02020603050405020304" pitchFamily="18" charset="0"/>
                          </a:rPr>
                          <m:t>2</m:t>
                        </m:r>
                      </m:sup>
                    </m:sSup>
                    <m:r>
                      <a:rPr lang="en-US" sz="2200" b="0" i="1" smtClean="0">
                        <a:solidFill>
                          <a:schemeClr val="tx1"/>
                        </a:solidFill>
                        <a:latin typeface="Cambria Math" panose="02040503050406030204" pitchFamily="18" charset="0"/>
                        <a:cs typeface="Times New Roman" panose="02020603050405020304" pitchFamily="18" charset="0"/>
                      </a:rPr>
                      <m:t>⇒↑</m:t>
                    </m:r>
                    <m:sSub>
                      <m:sSubPr>
                        <m:ctrlPr>
                          <a:rPr lang="en-US" sz="2200" b="0" i="1" smtClean="0">
                            <a:solidFill>
                              <a:schemeClr val="tx1"/>
                            </a:solidFill>
                            <a:latin typeface="Cambria Math" panose="02040503050406030204" pitchFamily="18" charset="0"/>
                            <a:cs typeface="Times New Roman" panose="02020603050405020304" pitchFamily="18" charset="0"/>
                          </a:rPr>
                        </m:ctrlPr>
                      </m:sSubPr>
                      <m:e>
                        <m:r>
                          <a:rPr lang="en-US" sz="2200" b="0" i="1" smtClean="0">
                            <a:solidFill>
                              <a:schemeClr val="tx1"/>
                            </a:solidFill>
                            <a:latin typeface="Cambria Math" panose="02040503050406030204" pitchFamily="18" charset="0"/>
                            <a:cs typeface="Times New Roman" panose="02020603050405020304" pitchFamily="18" charset="0"/>
                          </a:rPr>
                          <m:t>𝜎</m:t>
                        </m:r>
                      </m:e>
                      <m:sub>
                        <m:r>
                          <a:rPr lang="en-US" sz="2200" b="0" i="1" smtClean="0">
                            <a:solidFill>
                              <a:schemeClr val="tx1"/>
                            </a:solidFill>
                            <a:latin typeface="Cambria Math" panose="02040503050406030204" pitchFamily="18" charset="0"/>
                            <a:cs typeface="Times New Roman" panose="02020603050405020304" pitchFamily="18" charset="0"/>
                          </a:rPr>
                          <m:t>𝛽</m:t>
                        </m:r>
                      </m:sub>
                    </m:sSub>
                    <m:r>
                      <a:rPr lang="en-US" sz="2200" b="0" i="0" smtClean="0">
                        <a:solidFill>
                          <a:schemeClr val="tx1"/>
                        </a:solidFill>
                        <a:latin typeface="Cambria Math" panose="02040503050406030204" pitchFamily="18" charset="0"/>
                        <a:cs typeface="Times New Roman" panose="02020603050405020304" pitchFamily="18" charset="0"/>
                      </a:rPr>
                      <m:t>)</m:t>
                    </m:r>
                  </m:oMath>
                </a14:m>
                <a:endParaRPr lang="en-US" sz="2200" dirty="0">
                  <a:solidFill>
                    <a:schemeClr val="tx1"/>
                  </a:solidFill>
                  <a:cs typeface="Times New Roman" panose="02020603050405020304" pitchFamily="18" charset="0"/>
                </a:endParaRPr>
              </a:p>
              <a:p>
                <a:pPr marL="457200" indent="-457200">
                  <a:buFont typeface="+mj-lt"/>
                  <a:buAutoNum type="arabicPeriod"/>
                </a:pPr>
                <a:r>
                  <a:rPr lang="en-US" sz="2200" dirty="0">
                    <a:solidFill>
                      <a:schemeClr val="tx1"/>
                    </a:solidFill>
                    <a:cs typeface="Times New Roman" panose="02020603050405020304" pitchFamily="18" charset="0"/>
                  </a:rPr>
                  <a:t>Variation in </a:t>
                </a:r>
                <a14:m>
                  <m:oMath xmlns:m="http://schemas.openxmlformats.org/officeDocument/2006/math">
                    <m:sSub>
                      <m:sSubPr>
                        <m:ctrlPr>
                          <a:rPr lang="en-US" sz="2200" b="0" i="1" smtClean="0">
                            <a:solidFill>
                              <a:schemeClr val="tx1"/>
                            </a:solidFill>
                            <a:latin typeface="Cambria Math" panose="02040503050406030204" pitchFamily="18" charset="0"/>
                            <a:cs typeface="Times New Roman" panose="02020603050405020304" pitchFamily="18" charset="0"/>
                          </a:rPr>
                        </m:ctrlPr>
                      </m:sSubPr>
                      <m:e>
                        <m:r>
                          <a:rPr lang="en-US" sz="2200" b="0" i="1" smtClean="0">
                            <a:solidFill>
                              <a:schemeClr val="tx1"/>
                            </a:solidFill>
                            <a:latin typeface="Cambria Math" panose="02040503050406030204" pitchFamily="18" charset="0"/>
                            <a:cs typeface="Times New Roman" panose="02020603050405020304" pitchFamily="18" charset="0"/>
                          </a:rPr>
                          <m:t>𝑥</m:t>
                        </m:r>
                      </m:e>
                      <m:sub>
                        <m:r>
                          <a:rPr lang="en-US" sz="2200" b="0" i="1" smtClean="0">
                            <a:solidFill>
                              <a:schemeClr val="tx1"/>
                            </a:solidFill>
                            <a:latin typeface="Cambria Math" panose="02040503050406030204" pitchFamily="18" charset="0"/>
                            <a:cs typeface="Times New Roman" panose="02020603050405020304" pitchFamily="18" charset="0"/>
                          </a:rPr>
                          <m:t>𝑗</m:t>
                        </m:r>
                      </m:sub>
                    </m:sSub>
                  </m:oMath>
                </a14:m>
                <a:r>
                  <a:rPr lang="en-US" sz="2200" dirty="0">
                    <a:solidFill>
                      <a:schemeClr val="tx1"/>
                    </a:solidFill>
                    <a:cs typeface="Times New Roman" panose="02020603050405020304" pitchFamily="18" charset="0"/>
                  </a:rPr>
                  <a:t> (</a:t>
                </a:r>
                <a14:m>
                  <m:oMath xmlns:m="http://schemas.openxmlformats.org/officeDocument/2006/math">
                    <m:r>
                      <a:rPr lang="en-US" sz="2200" i="1">
                        <a:solidFill>
                          <a:schemeClr val="tx1"/>
                        </a:solidFill>
                        <a:latin typeface="Cambria Math" panose="02040503050406030204" pitchFamily="18" charset="0"/>
                        <a:cs typeface="Times New Roman" panose="02020603050405020304" pitchFamily="18" charset="0"/>
                      </a:rPr>
                      <m:t>↑</m:t>
                    </m:r>
                    <m:r>
                      <a:rPr lang="en-US" sz="2200" b="0" i="1" smtClean="0">
                        <a:solidFill>
                          <a:schemeClr val="tx1"/>
                        </a:solidFill>
                        <a:latin typeface="Cambria Math" panose="02040503050406030204" pitchFamily="18" charset="0"/>
                        <a:cs typeface="Times New Roman" panose="02020603050405020304" pitchFamily="18" charset="0"/>
                      </a:rPr>
                      <m:t>𝑆𝑆</m:t>
                    </m:r>
                    <m:sSub>
                      <m:sSubPr>
                        <m:ctrlPr>
                          <a:rPr lang="en-US" sz="2200" b="0" i="1" smtClean="0">
                            <a:solidFill>
                              <a:schemeClr val="tx1"/>
                            </a:solidFill>
                            <a:latin typeface="Cambria Math" panose="02040503050406030204" pitchFamily="18" charset="0"/>
                            <a:cs typeface="Times New Roman" panose="02020603050405020304" pitchFamily="18" charset="0"/>
                          </a:rPr>
                        </m:ctrlPr>
                      </m:sSubPr>
                      <m:e>
                        <m:r>
                          <a:rPr lang="en-US" sz="2200" b="0" i="1" smtClean="0">
                            <a:solidFill>
                              <a:schemeClr val="tx1"/>
                            </a:solidFill>
                            <a:latin typeface="Cambria Math" panose="02040503050406030204" pitchFamily="18" charset="0"/>
                            <a:cs typeface="Times New Roman" panose="02020603050405020304" pitchFamily="18" charset="0"/>
                          </a:rPr>
                          <m:t>𝑇</m:t>
                        </m:r>
                      </m:e>
                      <m:sub>
                        <m:sSub>
                          <m:sSubPr>
                            <m:ctrlPr>
                              <a:rPr lang="en-US" sz="2200" b="0" i="1" smtClean="0">
                                <a:solidFill>
                                  <a:schemeClr val="tx1"/>
                                </a:solidFill>
                                <a:latin typeface="Cambria Math" panose="02040503050406030204" pitchFamily="18" charset="0"/>
                                <a:cs typeface="Times New Roman" panose="02020603050405020304" pitchFamily="18" charset="0"/>
                              </a:rPr>
                            </m:ctrlPr>
                          </m:sSubPr>
                          <m:e>
                            <m:r>
                              <a:rPr lang="en-US" sz="2200" b="0" i="1" smtClean="0">
                                <a:solidFill>
                                  <a:schemeClr val="tx1"/>
                                </a:solidFill>
                                <a:latin typeface="Cambria Math" panose="02040503050406030204" pitchFamily="18" charset="0"/>
                                <a:cs typeface="Times New Roman" panose="02020603050405020304" pitchFamily="18" charset="0"/>
                              </a:rPr>
                              <m:t>𝑥</m:t>
                            </m:r>
                          </m:e>
                          <m:sub>
                            <m:r>
                              <a:rPr lang="en-US" sz="2200" b="0" i="1" smtClean="0">
                                <a:solidFill>
                                  <a:schemeClr val="tx1"/>
                                </a:solidFill>
                                <a:latin typeface="Cambria Math" panose="02040503050406030204" pitchFamily="18" charset="0"/>
                                <a:cs typeface="Times New Roman" panose="02020603050405020304" pitchFamily="18" charset="0"/>
                              </a:rPr>
                              <m:t>𝑗</m:t>
                            </m:r>
                          </m:sub>
                        </m:sSub>
                      </m:sub>
                    </m:sSub>
                    <m:r>
                      <a:rPr lang="en-US" sz="2200" i="1">
                        <a:solidFill>
                          <a:schemeClr val="tx1"/>
                        </a:solidFill>
                        <a:latin typeface="Cambria Math" panose="02040503050406030204" pitchFamily="18" charset="0"/>
                        <a:cs typeface="Times New Roman" panose="02020603050405020304" pitchFamily="18" charset="0"/>
                      </a:rPr>
                      <m:t>⇒</m:t>
                    </m:r>
                    <m:r>
                      <a:rPr lang="en-US" sz="2200" b="0" i="1" smtClean="0">
                        <a:solidFill>
                          <a:schemeClr val="tx1"/>
                        </a:solidFill>
                        <a:latin typeface="Cambria Math" panose="02040503050406030204" pitchFamily="18" charset="0"/>
                        <a:cs typeface="Times New Roman" panose="02020603050405020304" pitchFamily="18" charset="0"/>
                      </a:rPr>
                      <m:t>↓</m:t>
                    </m:r>
                    <m:sSub>
                      <m:sSubPr>
                        <m:ctrlPr>
                          <a:rPr lang="en-US" sz="2200" i="1">
                            <a:solidFill>
                              <a:schemeClr val="tx1"/>
                            </a:solidFill>
                            <a:latin typeface="Cambria Math" panose="02040503050406030204" pitchFamily="18" charset="0"/>
                            <a:cs typeface="Times New Roman" panose="02020603050405020304" pitchFamily="18" charset="0"/>
                          </a:rPr>
                        </m:ctrlPr>
                      </m:sSubPr>
                      <m:e>
                        <m:r>
                          <a:rPr lang="en-US" sz="2200" i="1">
                            <a:solidFill>
                              <a:schemeClr val="tx1"/>
                            </a:solidFill>
                            <a:latin typeface="Cambria Math" panose="02040503050406030204" pitchFamily="18" charset="0"/>
                            <a:cs typeface="Times New Roman" panose="02020603050405020304" pitchFamily="18" charset="0"/>
                          </a:rPr>
                          <m:t>𝜎</m:t>
                        </m:r>
                      </m:e>
                      <m:sub>
                        <m:r>
                          <a:rPr lang="en-US" sz="2200" i="1">
                            <a:solidFill>
                              <a:schemeClr val="tx1"/>
                            </a:solidFill>
                            <a:latin typeface="Cambria Math" panose="02040503050406030204" pitchFamily="18" charset="0"/>
                            <a:cs typeface="Times New Roman" panose="02020603050405020304" pitchFamily="18" charset="0"/>
                          </a:rPr>
                          <m:t>𝛽</m:t>
                        </m:r>
                      </m:sub>
                    </m:sSub>
                    <m:r>
                      <a:rPr lang="en-US" sz="2200">
                        <a:solidFill>
                          <a:schemeClr val="tx1"/>
                        </a:solidFill>
                        <a:latin typeface="Cambria Math" panose="02040503050406030204" pitchFamily="18" charset="0"/>
                        <a:cs typeface="Times New Roman" panose="02020603050405020304" pitchFamily="18" charset="0"/>
                      </a:rPr>
                      <m:t>)</m:t>
                    </m:r>
                  </m:oMath>
                </a14:m>
                <a:r>
                  <a:rPr lang="en-US" sz="2200" dirty="0">
                    <a:solidFill>
                      <a:schemeClr val="tx1"/>
                    </a:solidFill>
                    <a:cs typeface="Times New Roman" panose="02020603050405020304" pitchFamily="18" charset="0"/>
                  </a:rPr>
                  <a:t> – variation in </a:t>
                </a:r>
                <a14:m>
                  <m:oMath xmlns:m="http://schemas.openxmlformats.org/officeDocument/2006/math">
                    <m:sSub>
                      <m:sSubPr>
                        <m:ctrlPr>
                          <a:rPr lang="en-US" sz="2200" b="0" i="1" smtClean="0">
                            <a:solidFill>
                              <a:schemeClr val="tx1"/>
                            </a:solidFill>
                            <a:latin typeface="Cambria Math" panose="02040503050406030204" pitchFamily="18" charset="0"/>
                            <a:cs typeface="Times New Roman" panose="02020603050405020304" pitchFamily="18" charset="0"/>
                          </a:rPr>
                        </m:ctrlPr>
                      </m:sSubPr>
                      <m:e>
                        <m:r>
                          <a:rPr lang="en-US" sz="2200" b="0" i="1" smtClean="0">
                            <a:solidFill>
                              <a:schemeClr val="tx1"/>
                            </a:solidFill>
                            <a:latin typeface="Cambria Math" panose="02040503050406030204" pitchFamily="18" charset="0"/>
                            <a:cs typeface="Times New Roman" panose="02020603050405020304" pitchFamily="18" charset="0"/>
                          </a:rPr>
                          <m:t>𝑥</m:t>
                        </m:r>
                      </m:e>
                      <m:sub>
                        <m:r>
                          <a:rPr lang="en-US" sz="2200" b="0" i="1" smtClean="0">
                            <a:solidFill>
                              <a:schemeClr val="tx1"/>
                            </a:solidFill>
                            <a:latin typeface="Cambria Math" panose="02040503050406030204" pitchFamily="18" charset="0"/>
                            <a:cs typeface="Times New Roman" panose="02020603050405020304" pitchFamily="18" charset="0"/>
                          </a:rPr>
                          <m:t>𝑗</m:t>
                        </m:r>
                      </m:sub>
                    </m:sSub>
                  </m:oMath>
                </a14:m>
                <a:r>
                  <a:rPr lang="en-US" sz="2200" dirty="0">
                    <a:solidFill>
                      <a:schemeClr val="tx1"/>
                    </a:solidFill>
                    <a:cs typeface="Times New Roman" panose="02020603050405020304" pitchFamily="18" charset="0"/>
                  </a:rPr>
                  <a:t> is a good thing!</a:t>
                </a:r>
              </a:p>
              <a:p>
                <a:pPr marL="457200" indent="-457200">
                  <a:buFont typeface="+mj-lt"/>
                  <a:buAutoNum type="arabicPeriod"/>
                </a:pPr>
                <a:r>
                  <a:rPr lang="en-US" sz="2200" dirty="0">
                    <a:solidFill>
                      <a:schemeClr val="tx1"/>
                    </a:solidFill>
                    <a:cs typeface="Times New Roman" panose="02020603050405020304" pitchFamily="18" charset="0"/>
                  </a:rPr>
                  <a:t>Size of data: since SST is summed over </a:t>
                </a:r>
                <a14:m>
                  <m:oMath xmlns:m="http://schemas.openxmlformats.org/officeDocument/2006/math">
                    <m:r>
                      <a:rPr lang="en-US" sz="2200" b="0" i="1" smtClean="0">
                        <a:solidFill>
                          <a:schemeClr val="tx1"/>
                        </a:solidFill>
                        <a:latin typeface="Cambria Math" panose="02040503050406030204" pitchFamily="18" charset="0"/>
                        <a:cs typeface="Times New Roman" panose="02020603050405020304" pitchFamily="18" charset="0"/>
                      </a:rPr>
                      <m:t>𝑛</m:t>
                    </m:r>
                  </m:oMath>
                </a14:m>
                <a:r>
                  <a:rPr lang="en-US" sz="2200" dirty="0">
                    <a:solidFill>
                      <a:schemeClr val="tx1"/>
                    </a:solidFill>
                    <a:cs typeface="Times New Roman" panose="02020603050405020304" pitchFamily="18" charset="0"/>
                  </a:rPr>
                  <a:t>, </a:t>
                </a:r>
                <a14:m>
                  <m:oMath xmlns:m="http://schemas.openxmlformats.org/officeDocument/2006/math">
                    <m:r>
                      <a:rPr lang="en-US" sz="2200" b="0" i="1" smtClean="0">
                        <a:solidFill>
                          <a:schemeClr val="tx1"/>
                        </a:solidFill>
                        <a:latin typeface="Cambria Math" panose="02040503050406030204" pitchFamily="18" charset="0"/>
                        <a:cs typeface="Times New Roman" panose="02020603050405020304" pitchFamily="18" charset="0"/>
                      </a:rPr>
                      <m:t>𝑉𝑎𝑟</m:t>
                    </m:r>
                    <m:r>
                      <a:rPr lang="en-US" sz="2200" b="0" i="1" smtClean="0">
                        <a:solidFill>
                          <a:schemeClr val="tx1"/>
                        </a:solidFill>
                        <a:latin typeface="Cambria Math" panose="02040503050406030204" pitchFamily="18" charset="0"/>
                        <a:cs typeface="Times New Roman" panose="02020603050405020304" pitchFamily="18" charset="0"/>
                      </a:rPr>
                      <m:t>(</m:t>
                    </m:r>
                    <m:acc>
                      <m:accPr>
                        <m:chr m:val="̂"/>
                        <m:ctrlPr>
                          <a:rPr lang="en-US" sz="2200" b="0" i="1" smtClean="0">
                            <a:solidFill>
                              <a:schemeClr val="tx1"/>
                            </a:solidFill>
                            <a:latin typeface="Cambria Math" panose="02040503050406030204" pitchFamily="18" charset="0"/>
                            <a:cs typeface="Times New Roman" panose="02020603050405020304" pitchFamily="18" charset="0"/>
                          </a:rPr>
                        </m:ctrlPr>
                      </m:accPr>
                      <m:e>
                        <m:sSub>
                          <m:sSubPr>
                            <m:ctrlPr>
                              <a:rPr lang="en-US" sz="2200" b="0" i="1" smtClean="0">
                                <a:solidFill>
                                  <a:schemeClr val="tx1"/>
                                </a:solidFill>
                                <a:latin typeface="Cambria Math" panose="02040503050406030204" pitchFamily="18" charset="0"/>
                                <a:cs typeface="Times New Roman" panose="02020603050405020304" pitchFamily="18" charset="0"/>
                              </a:rPr>
                            </m:ctrlPr>
                          </m:sSubPr>
                          <m:e>
                            <m:r>
                              <a:rPr lang="en-US" sz="2200" b="0" i="1" smtClean="0">
                                <a:solidFill>
                                  <a:schemeClr val="tx1"/>
                                </a:solidFill>
                                <a:latin typeface="Cambria Math" panose="02040503050406030204" pitchFamily="18" charset="0"/>
                                <a:cs typeface="Times New Roman" panose="02020603050405020304" pitchFamily="18" charset="0"/>
                              </a:rPr>
                              <m:t>𝛽</m:t>
                            </m:r>
                          </m:e>
                          <m:sub>
                            <m:r>
                              <a:rPr lang="en-US" sz="2200" b="0" i="1" smtClean="0">
                                <a:solidFill>
                                  <a:schemeClr val="tx1"/>
                                </a:solidFill>
                                <a:latin typeface="Cambria Math" panose="02040503050406030204" pitchFamily="18" charset="0"/>
                                <a:cs typeface="Times New Roman" panose="02020603050405020304" pitchFamily="18" charset="0"/>
                              </a:rPr>
                              <m:t>𝑗</m:t>
                            </m:r>
                          </m:sub>
                        </m:sSub>
                      </m:e>
                    </m:acc>
                    <m:r>
                      <a:rPr lang="en-US" sz="2200" b="0" i="1" smtClean="0">
                        <a:solidFill>
                          <a:schemeClr val="tx1"/>
                        </a:solidFill>
                        <a:latin typeface="Cambria Math" panose="02040503050406030204" pitchFamily="18" charset="0"/>
                        <a:cs typeface="Times New Roman" panose="02020603050405020304" pitchFamily="18" charset="0"/>
                      </a:rPr>
                      <m:t>)</m:t>
                    </m:r>
                  </m:oMath>
                </a14:m>
                <a:r>
                  <a:rPr lang="en-US" sz="2200" dirty="0">
                    <a:solidFill>
                      <a:schemeClr val="tx1"/>
                    </a:solidFill>
                    <a:cs typeface="Times New Roman" panose="02020603050405020304" pitchFamily="18" charset="0"/>
                  </a:rPr>
                  <a:t> shrinks at </a:t>
                </a:r>
                <a14:m>
                  <m:oMath xmlns:m="http://schemas.openxmlformats.org/officeDocument/2006/math">
                    <m:f>
                      <m:fPr>
                        <m:ctrlPr>
                          <a:rPr lang="en-US" sz="2200" b="0" i="1" smtClean="0">
                            <a:solidFill>
                              <a:schemeClr val="tx1"/>
                            </a:solidFill>
                            <a:latin typeface="Cambria Math" panose="02040503050406030204" pitchFamily="18" charset="0"/>
                            <a:cs typeface="Times New Roman" panose="02020603050405020304" pitchFamily="18" charset="0"/>
                          </a:rPr>
                        </m:ctrlPr>
                      </m:fPr>
                      <m:num>
                        <m:r>
                          <a:rPr lang="en-US" sz="2200" b="0" i="1" smtClean="0">
                            <a:solidFill>
                              <a:schemeClr val="tx1"/>
                            </a:solidFill>
                            <a:latin typeface="Cambria Math" panose="02040503050406030204" pitchFamily="18" charset="0"/>
                            <a:cs typeface="Times New Roman" panose="02020603050405020304" pitchFamily="18" charset="0"/>
                          </a:rPr>
                          <m:t>1</m:t>
                        </m:r>
                      </m:num>
                      <m:den>
                        <m:r>
                          <a:rPr lang="en-US" sz="2200" b="0" i="1" smtClean="0">
                            <a:solidFill>
                              <a:schemeClr val="tx1"/>
                            </a:solidFill>
                            <a:latin typeface="Cambria Math" panose="02040503050406030204" pitchFamily="18" charset="0"/>
                            <a:cs typeface="Times New Roman" panose="02020603050405020304" pitchFamily="18" charset="0"/>
                          </a:rPr>
                          <m:t>𝑛</m:t>
                        </m:r>
                      </m:den>
                    </m:f>
                  </m:oMath>
                </a14:m>
                <a:endParaRPr lang="en-US" sz="2200" dirty="0">
                  <a:solidFill>
                    <a:schemeClr val="accent2">
                      <a:lumMod val="75000"/>
                    </a:schemeClr>
                  </a:solidFill>
                  <a:cs typeface="Times New Roman" panose="02020603050405020304" pitchFamily="18" charset="0"/>
                </a:endParaRPr>
              </a:p>
              <a:p>
                <a:pPr marL="457200" indent="-457200">
                  <a:buFont typeface="+mj-lt"/>
                  <a:buAutoNum type="arabicPeriod"/>
                </a:pPr>
                <a:endParaRPr lang="en-US" sz="2200" dirty="0">
                  <a:solidFill>
                    <a:schemeClr val="accent2">
                      <a:lumMod val="75000"/>
                    </a:schemeClr>
                  </a:solidFill>
                  <a:cs typeface="Times New Roman" panose="02020603050405020304" pitchFamily="18" charset="0"/>
                </a:endParaRPr>
              </a:p>
              <a:p>
                <a:pPr marL="457200" indent="-457200">
                  <a:buFont typeface="+mj-lt"/>
                  <a:buAutoNum type="arabicPeriod"/>
                </a:pPr>
                <a:endParaRPr lang="en-US" sz="22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829801" cy="5141388"/>
              </a:xfrm>
              <a:blipFill>
                <a:blip r:embed="rId4"/>
                <a:stretch>
                  <a:fillRect l="-806"/>
                </a:stretch>
              </a:blipFill>
            </p:spPr>
            <p:txBody>
              <a:bodyPr/>
              <a:lstStyle/>
              <a:p>
                <a:r>
                  <a:rPr lang="en-US">
                    <a:noFill/>
                  </a:rPr>
                  <a:t> </a:t>
                </a:r>
              </a:p>
            </p:txBody>
          </p:sp>
        </mc:Fallback>
      </mc:AlternateContent>
    </p:spTree>
    <p:extLst>
      <p:ext uri="{BB962C8B-B14F-4D97-AF65-F5344CB8AC3E}">
        <p14:creationId xmlns:p14="http://schemas.microsoft.com/office/powerpoint/2010/main" val="217018823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Standard Errors </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62001" y="1066801"/>
                <a:ext cx="10287000" cy="5141388"/>
              </a:xfrm>
            </p:spPr>
            <p:txBody>
              <a:bodyPr>
                <a:normAutofit/>
              </a:bodyPr>
              <a:lstStyle/>
              <a:p>
                <a:pPr marL="274320" lvl="1" indent="0">
                  <a:buNone/>
                </a:pPr>
                <a14:m>
                  <m:oMathPara xmlns:m="http://schemas.openxmlformats.org/officeDocument/2006/math">
                    <m:oMath>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𝑦</m:t>
                      </m:r>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0</m:t>
                          </m:r>
                        </m:sub>
                      </m:sSub>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1</m:t>
                          </m:r>
                        </m:sub>
                      </m:sSub>
                      <m:sSub>
                        <m:sSubPr>
                          <m:ctrlPr>
                            <a:rPr lang="en-US" sz="2400" i="1">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𝑥</m:t>
                          </m:r>
                        </m:e>
                        <m:sub>
                          <m:r>
                            <a:rPr lang="en-US"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1</m:t>
                          </m:r>
                        </m:sub>
                      </m:sSub>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2</m:t>
                          </m:r>
                        </m:sub>
                      </m:sSub>
                      <m:sSub>
                        <m:sSubPr>
                          <m:ctrlP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𝑥</m:t>
                          </m:r>
                        </m:e>
                        <m:sub>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2</m:t>
                          </m:r>
                        </m:sub>
                      </m:sSub>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 …+</m:t>
                      </m:r>
                      <m:sSub>
                        <m:sSubPr>
                          <m:ctrlP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𝑛</m:t>
                          </m:r>
                        </m:sub>
                      </m:sSub>
                      <m:sSub>
                        <m:sSubPr>
                          <m:ctrlP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𝑥</m:t>
                          </m:r>
                        </m:e>
                        <m:sub>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𝑛</m:t>
                          </m:r>
                        </m:sub>
                      </m:sSub>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m:t>
                      </m:r>
                      <m:r>
                        <a:rPr lang="en-US"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𝜀</m:t>
                      </m:r>
                    </m:oMath>
                  </m:oMathPara>
                </a14:m>
                <a:endParaRPr lang="en-CA" sz="2400" dirty="0">
                  <a:solidFill>
                    <a:schemeClr val="tx1"/>
                  </a:solidFill>
                  <a:latin typeface="Open Sans"/>
                  <a:ea typeface="Open Sans" panose="020B0606030504020204" pitchFamily="34" charset="0"/>
                  <a:cs typeface="Open Sans" panose="020B0606030504020204" pitchFamily="34" charset="0"/>
                </a:endParaRPr>
              </a:p>
              <a:p>
                <a:pPr marL="274320" lvl="1" indent="0">
                  <a:buNone/>
                </a:pPr>
                <a:endParaRPr lang="en-CA" sz="2400" dirty="0">
                  <a:solidFill>
                    <a:schemeClr val="tx1"/>
                  </a:solidFill>
                  <a:latin typeface="Open Sans"/>
                  <a:ea typeface="Open Sans" panose="020B0606030504020204" pitchFamily="34" charset="0"/>
                  <a:cs typeface="Open Sans" panose="020B0606030504020204" pitchFamily="34" charset="0"/>
                </a:endParaRPr>
              </a:p>
              <a:p>
                <a:r>
                  <a:rPr lang="en-US" sz="2400" dirty="0">
                    <a:cs typeface="Times New Roman" panose="02020603050405020304" pitchFamily="18" charset="0"/>
                  </a:rPr>
                  <a:t>The standard deviation of an estimator is referred to as a </a:t>
                </a:r>
                <a:r>
                  <a:rPr lang="en-US" sz="2400" b="1" dirty="0">
                    <a:solidFill>
                      <a:schemeClr val="accent2">
                        <a:lumMod val="75000"/>
                      </a:schemeClr>
                    </a:solidFill>
                    <a:cs typeface="Times New Roman" panose="02020603050405020304" pitchFamily="18" charset="0"/>
                  </a:rPr>
                  <a:t>standard error</a:t>
                </a:r>
              </a:p>
              <a:p>
                <a:r>
                  <a:rPr lang="en-US" sz="2400" b="1" dirty="0">
                    <a:solidFill>
                      <a:schemeClr val="accent2">
                        <a:lumMod val="75000"/>
                      </a:schemeClr>
                    </a:solidFill>
                    <a:cs typeface="Times New Roman" panose="02020603050405020304" pitchFamily="18" charset="0"/>
                  </a:rPr>
                  <a:t>Standard errors </a:t>
                </a:r>
                <a:r>
                  <a:rPr lang="en-US" sz="2400" dirty="0">
                    <a:cs typeface="Times New Roman" panose="02020603050405020304" pitchFamily="18" charset="0"/>
                  </a:rPr>
                  <a:t>allow you to use what you </a:t>
                </a:r>
                <a:r>
                  <a:rPr lang="en-US" sz="2400" u="sng" dirty="0">
                    <a:cs typeface="Times New Roman" panose="02020603050405020304" pitchFamily="18" charset="0"/>
                  </a:rPr>
                  <a:t>observe</a:t>
                </a:r>
                <a:r>
                  <a:rPr lang="en-US" sz="2400" dirty="0">
                    <a:cs typeface="Times New Roman" panose="02020603050405020304" pitchFamily="18" charset="0"/>
                  </a:rPr>
                  <a:t> in a regression to test hypotheses about the (</a:t>
                </a:r>
                <a:r>
                  <a:rPr lang="en-US" sz="2400" u="sng" dirty="0">
                    <a:cs typeface="Times New Roman" panose="02020603050405020304" pitchFamily="18" charset="0"/>
                  </a:rPr>
                  <a:t>unobserved</a:t>
                </a:r>
                <a:r>
                  <a:rPr lang="en-US" sz="2400" dirty="0">
                    <a:cs typeface="Times New Roman" panose="02020603050405020304" pitchFamily="18" charset="0"/>
                  </a:rPr>
                  <a:t>) data generating process</a:t>
                </a:r>
              </a:p>
              <a:p>
                <a:pPr marL="274320" lvl="1" indent="0">
                  <a:buNone/>
                </a:pPr>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solidFill>
                    <a:schemeClr val="accent2">
                      <a:lumMod val="75000"/>
                    </a:schemeClr>
                  </a:solidFill>
                  <a:cs typeface="Times New Roman" panose="02020603050405020304" pitchFamily="18" charset="0"/>
                </a:endParaRPr>
              </a:p>
              <a:p>
                <a:pPr marL="457200" indent="-457200">
                  <a:buFont typeface="+mj-lt"/>
                  <a:buAutoNum type="arabicPeriod"/>
                </a:pPr>
                <a:endParaRPr lang="en-US" sz="2400" dirty="0">
                  <a:solidFill>
                    <a:schemeClr val="accent2">
                      <a:lumMod val="75000"/>
                    </a:schemeClr>
                  </a:solidFill>
                  <a:cs typeface="Times New Roman" panose="02020603050405020304" pitchFamily="18" charset="0"/>
                </a:endParaRPr>
              </a:p>
              <a:p>
                <a:pPr marL="457200" indent="-457200">
                  <a:buFont typeface="+mj-lt"/>
                  <a:buAutoNum type="arabicPeriod"/>
                </a:pP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62001" y="1066801"/>
                <a:ext cx="10287000" cy="5141388"/>
              </a:xfrm>
              <a:blipFill>
                <a:blip r:embed="rId2"/>
                <a:stretch>
                  <a:fillRect l="-415"/>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8DD5C2EF-1402-4E98-8819-1F9C91BB15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189072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Hypothesis Testing</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439400" cy="5141388"/>
              </a:xfrm>
            </p:spPr>
            <p:txBody>
              <a:bodyPr>
                <a:normAutofit/>
              </a:bodyPr>
              <a:lstStyle/>
              <a:p>
                <a:pPr marL="274320" lvl="1" indent="0">
                  <a:buNone/>
                </a:pPr>
                <a14:m>
                  <m:oMathPara xmlns:m="http://schemas.openxmlformats.org/officeDocument/2006/math">
                    <m:oMath>
                      <m:r>
                        <a:rPr lang="en-CA" sz="240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𝑦</m:t>
                      </m:r>
                      <m:r>
                        <a:rPr lang="en-CA" sz="240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0</m:t>
                          </m:r>
                        </m:sub>
                      </m:sSub>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1</m:t>
                          </m:r>
                        </m:sub>
                      </m:sSub>
                      <m:r>
                        <a:rPr lang="en-US" sz="2400" b="0" i="1" smtClean="0">
                          <a:solidFill>
                            <a:schemeClr val="tx1"/>
                          </a:solidFill>
                          <a:latin typeface="Cambria Math" panose="02040503050406030204" pitchFamily="18" charset="0"/>
                          <a:ea typeface="Open Sans" panose="020B0606030504020204" pitchFamily="34" charset="0"/>
                          <a:cs typeface="Open Sans" panose="020B0606030504020204" pitchFamily="34" charset="0"/>
                        </a:rPr>
                        <m:t>𝐷</m:t>
                      </m:r>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2</m:t>
                          </m:r>
                        </m:sub>
                      </m:sSub>
                      <m:sSub>
                        <m:sSubPr>
                          <m:ctrlP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𝑥</m:t>
                          </m:r>
                        </m:e>
                        <m:sub>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2</m:t>
                          </m:r>
                        </m:sub>
                      </m:sSub>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 …+</m:t>
                      </m:r>
                      <m:sSub>
                        <m:sSubPr>
                          <m:ctrlP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𝑛</m:t>
                          </m:r>
                        </m:sub>
                      </m:sSub>
                      <m:sSub>
                        <m:sSubPr>
                          <m:ctrlP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𝑥</m:t>
                          </m:r>
                        </m:e>
                        <m:sub>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𝑛</m:t>
                          </m:r>
                        </m:sub>
                      </m:sSub>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m:t>
                      </m:r>
                      <m:r>
                        <a:rPr lang="en-US"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𝜀</m:t>
                      </m:r>
                    </m:oMath>
                  </m:oMathPara>
                </a14:m>
                <a:endParaRPr lang="en-CA" sz="2400" dirty="0">
                  <a:solidFill>
                    <a:schemeClr val="tx1"/>
                  </a:solidFill>
                  <a:latin typeface="Open Sans"/>
                  <a:ea typeface="Open Sans" panose="020B0606030504020204" pitchFamily="34" charset="0"/>
                  <a:cs typeface="Open Sans" panose="020B0606030504020204" pitchFamily="34" charset="0"/>
                </a:endParaRPr>
              </a:p>
              <a:p>
                <a:pPr marL="0" indent="0">
                  <a:buNone/>
                </a:pPr>
                <a:r>
                  <a:rPr lang="en-US" sz="2400" dirty="0">
                    <a:cs typeface="Times New Roman" panose="02020603050405020304" pitchFamily="18" charset="0"/>
                  </a:rPr>
                  <a:t>Example: We care about the effect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on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𝑌</m:t>
                    </m:r>
                  </m:oMath>
                </a14:m>
                <a:r>
                  <a:rPr lang="en-US" sz="2400" dirty="0">
                    <a:cs typeface="Times New Roman" panose="02020603050405020304" pitchFamily="18" charset="0"/>
                  </a:rPr>
                  <a:t> (maybe after controlling for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a:t>
                </a:r>
              </a:p>
              <a:p>
                <a:pPr lvl="1"/>
                <a:r>
                  <a:rPr lang="en-US" sz="2400" dirty="0">
                    <a:cs typeface="Times New Roman" panose="02020603050405020304" pitchFamily="18" charset="0"/>
                  </a:rPr>
                  <a:t>Can we say that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≠0</m:t>
                    </m:r>
                  </m:oMath>
                </a14:m>
                <a:r>
                  <a:rPr lang="en-US" sz="2400" dirty="0">
                    <a:cs typeface="Times New Roman" panose="02020603050405020304" pitchFamily="18" charset="0"/>
                  </a:rPr>
                  <a:t>? </a:t>
                </a:r>
              </a:p>
              <a:p>
                <a:pPr marL="274320" lvl="1" indent="0">
                  <a:buNone/>
                </a:pPr>
                <a:endParaRPr lang="en-US" sz="2400" dirty="0">
                  <a:cs typeface="Times New Roman" panose="02020603050405020304" pitchFamily="18" charset="0"/>
                </a:endParaRPr>
              </a:p>
              <a:p>
                <a:pPr marL="274320" lvl="1" indent="0">
                  <a:buNone/>
                </a:pPr>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solidFill>
                    <a:schemeClr val="accent2">
                      <a:lumMod val="75000"/>
                    </a:schemeClr>
                  </a:solidFill>
                  <a:cs typeface="Times New Roman" panose="02020603050405020304" pitchFamily="18" charset="0"/>
                </a:endParaRPr>
              </a:p>
              <a:p>
                <a:pPr marL="457200" indent="-457200">
                  <a:buFont typeface="+mj-lt"/>
                  <a:buAutoNum type="arabicPeriod"/>
                </a:pPr>
                <a:endParaRPr lang="en-US" sz="2400" dirty="0">
                  <a:solidFill>
                    <a:schemeClr val="accent2">
                      <a:lumMod val="75000"/>
                    </a:schemeClr>
                  </a:solidFill>
                  <a:cs typeface="Times New Roman" panose="02020603050405020304" pitchFamily="18" charset="0"/>
                </a:endParaRPr>
              </a:p>
              <a:p>
                <a:pPr marL="457200" indent="-457200">
                  <a:buFont typeface="+mj-lt"/>
                  <a:buAutoNum type="arabicPeriod"/>
                </a:pP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439400" cy="5141388"/>
              </a:xfrm>
              <a:blipFill>
                <a:blip r:embed="rId2"/>
                <a:stretch>
                  <a:fillRect l="-876"/>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8DD5C2EF-1402-4E98-8819-1F9C91BB15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551008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Hypothesis Testing</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439400" cy="5141388"/>
              </a:xfrm>
            </p:spPr>
            <p:txBody>
              <a:bodyPr>
                <a:normAutofit/>
              </a:bodyPr>
              <a:lstStyle/>
              <a:p>
                <a:pPr marL="274320" lvl="1" indent="0">
                  <a:buNone/>
                </a:pPr>
                <a14:m>
                  <m:oMathPara xmlns:m="http://schemas.openxmlformats.org/officeDocument/2006/math">
                    <m:oMath>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𝑦</m:t>
                      </m:r>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0</m:t>
                          </m:r>
                        </m:sub>
                      </m:sSub>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1</m:t>
                          </m:r>
                        </m:sub>
                      </m:sSub>
                      <m:r>
                        <a:rPr lang="en-US"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𝐷</m:t>
                      </m:r>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2</m:t>
                          </m:r>
                        </m:sub>
                      </m:sSub>
                      <m:sSub>
                        <m:sSubPr>
                          <m:ctrlP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𝑥</m:t>
                          </m:r>
                        </m:e>
                        <m:sub>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2</m:t>
                          </m:r>
                        </m:sub>
                      </m:sSub>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 …+</m:t>
                      </m:r>
                      <m:sSub>
                        <m:sSubPr>
                          <m:ctrlP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𝑛</m:t>
                          </m:r>
                        </m:sub>
                      </m:sSub>
                      <m:sSub>
                        <m:sSubPr>
                          <m:ctrlP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𝑥</m:t>
                          </m:r>
                        </m:e>
                        <m:sub>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𝑛</m:t>
                          </m:r>
                        </m:sub>
                      </m:sSub>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m:t>
                      </m:r>
                      <m:r>
                        <a:rPr lang="en-US"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𝜀</m:t>
                      </m:r>
                    </m:oMath>
                  </m:oMathPara>
                </a14:m>
                <a:endParaRPr lang="en-CA" sz="2400" dirty="0">
                  <a:solidFill>
                    <a:schemeClr val="tx1"/>
                  </a:solidFill>
                  <a:latin typeface="Open Sans"/>
                  <a:ea typeface="Open Sans" panose="020B0606030504020204" pitchFamily="34" charset="0"/>
                  <a:cs typeface="Open Sans" panose="020B0606030504020204" pitchFamily="34" charset="0"/>
                </a:endParaRPr>
              </a:p>
              <a:p>
                <a:pPr marL="0" indent="0">
                  <a:buNone/>
                </a:pPr>
                <a:r>
                  <a:rPr lang="en-US" sz="2400" dirty="0">
                    <a:cs typeface="Times New Roman" panose="02020603050405020304" pitchFamily="18" charset="0"/>
                  </a:rPr>
                  <a:t>Example: We care about the effect of </a:t>
                </a:r>
                <a14:m>
                  <m:oMath xmlns:m="http://schemas.openxmlformats.org/officeDocument/2006/math">
                    <m:r>
                      <a:rPr lang="en-US" sz="2400" i="1">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on </a:t>
                </a:r>
                <a14:m>
                  <m:oMath xmlns:m="http://schemas.openxmlformats.org/officeDocument/2006/math">
                    <m:r>
                      <a:rPr lang="en-US" sz="2400" i="1">
                        <a:latin typeface="Cambria Math" panose="02040503050406030204" pitchFamily="18" charset="0"/>
                        <a:cs typeface="Times New Roman" panose="02020603050405020304" pitchFamily="18" charset="0"/>
                      </a:rPr>
                      <m:t>𝑌</m:t>
                    </m:r>
                  </m:oMath>
                </a14:m>
                <a:r>
                  <a:rPr lang="en-US" sz="2400" dirty="0">
                    <a:cs typeface="Times New Roman" panose="02020603050405020304" pitchFamily="18" charset="0"/>
                  </a:rPr>
                  <a:t> (maybe after controlling for </a:t>
                </a:r>
                <a14:m>
                  <m:oMath xmlns:m="http://schemas.openxmlformats.org/officeDocument/2006/math">
                    <m:r>
                      <a:rPr lang="en-US" sz="2400" i="1">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a:t>
                </a:r>
              </a:p>
              <a:p>
                <a:pPr lvl="1"/>
                <a:r>
                  <a:rPr lang="en-US" sz="2400" dirty="0">
                    <a:cs typeface="Times New Roman" panose="02020603050405020304" pitchFamily="18" charset="0"/>
                  </a:rPr>
                  <a:t>Can we say that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𝛽</m:t>
                        </m:r>
                      </m:e>
                      <m:sub>
                        <m:r>
                          <a:rPr lang="en-US" sz="2400" i="1">
                            <a:latin typeface="Cambria Math" panose="02040503050406030204" pitchFamily="18" charset="0"/>
                            <a:cs typeface="Times New Roman" panose="02020603050405020304" pitchFamily="18" charset="0"/>
                          </a:rPr>
                          <m:t>1</m:t>
                        </m:r>
                      </m:sub>
                    </m:sSub>
                    <m:r>
                      <a:rPr lang="en-US" sz="2400" i="1">
                        <a:latin typeface="Cambria Math" panose="02040503050406030204" pitchFamily="18" charset="0"/>
                        <a:cs typeface="Times New Roman" panose="02020603050405020304" pitchFamily="18" charset="0"/>
                      </a:rPr>
                      <m:t>≠0</m:t>
                    </m:r>
                  </m:oMath>
                </a14:m>
                <a:r>
                  <a:rPr lang="en-US" sz="2400" dirty="0">
                    <a:cs typeface="Times New Roman" panose="02020603050405020304" pitchFamily="18" charset="0"/>
                  </a:rPr>
                  <a:t>? </a:t>
                </a:r>
              </a:p>
              <a:p>
                <a:pPr marL="274320" lvl="1" indent="0">
                  <a:buNone/>
                </a:pPr>
                <a:endParaRPr lang="en-US" sz="2400" dirty="0">
                  <a:cs typeface="Times New Roman" panose="02020603050405020304" pitchFamily="18" charset="0"/>
                </a:endParaRPr>
              </a:p>
              <a:p>
                <a:pPr marL="274320" lvl="1" indent="0">
                  <a:buNone/>
                </a:pPr>
                <a:r>
                  <a:rPr lang="en-US" sz="2400" b="1" dirty="0">
                    <a:cs typeface="Times New Roman" panose="02020603050405020304" pitchFamily="18" charset="0"/>
                  </a:rPr>
                  <a:t>Null hypothesis</a:t>
                </a:r>
                <a:r>
                  <a:rPr lang="en-US" sz="2400" dirty="0">
                    <a:cs typeface="Times New Roman" panose="02020603050405020304" pitchFamily="18" charset="0"/>
                  </a:rPr>
                  <a:t>: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ℋ</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=0</m:t>
                    </m:r>
                  </m:oMath>
                </a14:m>
                <a:r>
                  <a:rPr lang="en-US" sz="2400" dirty="0">
                    <a:cs typeface="Times New Roman" panose="02020603050405020304" pitchFamily="18" charset="0"/>
                  </a:rPr>
                  <a:t> (the typical null hypothesis) </a:t>
                </a:r>
              </a:p>
              <a:p>
                <a:pPr marL="274320" lvl="1" indent="0">
                  <a:buNone/>
                </a:pPr>
                <a:r>
                  <a:rPr lang="en-US" sz="2400" b="1" dirty="0">
                    <a:cs typeface="Times New Roman" panose="02020603050405020304" pitchFamily="18" charset="0"/>
                  </a:rPr>
                  <a:t>Alternative hypothesis</a:t>
                </a:r>
                <a:r>
                  <a:rPr lang="en-US" sz="2400" dirty="0">
                    <a:cs typeface="Times New Roman" panose="02020603050405020304" pitchFamily="18" charset="0"/>
                  </a:rPr>
                  <a:t>: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ℋ</m:t>
                        </m:r>
                      </m:e>
                      <m:sub>
                        <m:r>
                          <a:rPr lang="en-US" sz="2400" b="0" i="1" smtClean="0">
                            <a:latin typeface="Cambria Math" panose="02040503050406030204" pitchFamily="18" charset="0"/>
                            <a:cs typeface="Times New Roman" panose="02020603050405020304" pitchFamily="18" charset="0"/>
                          </a:rPr>
                          <m:t>𝐴</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≠0</m:t>
                    </m:r>
                  </m:oMath>
                </a14:m>
                <a:endParaRPr lang="en-US" sz="2400" b="0" dirty="0">
                  <a:cs typeface="Times New Roman" panose="02020603050405020304" pitchFamily="18" charset="0"/>
                </a:endParaRPr>
              </a:p>
              <a:p>
                <a:pPr marL="274320" lvl="1" indent="0">
                  <a:buNone/>
                </a:pPr>
                <a:r>
                  <a:rPr lang="en-US" sz="2400" b="1" dirty="0">
                    <a:cs typeface="Times New Roman" panose="02020603050405020304" pitchFamily="18" charset="0"/>
                  </a:rPr>
                  <a:t>Rejection value</a:t>
                </a:r>
                <a:r>
                  <a:rPr lang="en-US" sz="2400" dirty="0">
                    <a:cs typeface="Times New Roman" panose="02020603050405020304" pitchFamily="18" charset="0"/>
                  </a:rPr>
                  <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𝛼</m:t>
                    </m:r>
                  </m:oMath>
                </a14:m>
                <a:r>
                  <a:rPr lang="en-US" sz="2400" dirty="0">
                    <a:cs typeface="Times New Roman" panose="02020603050405020304" pitchFamily="18" charset="0"/>
                  </a:rPr>
                  <a:t> (typically 0.05)</a:t>
                </a:r>
              </a:p>
              <a:p>
                <a:pPr marL="274320" lvl="1" indent="0">
                  <a:buNone/>
                </a:pPr>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solidFill>
                    <a:schemeClr val="accent2">
                      <a:lumMod val="75000"/>
                    </a:schemeClr>
                  </a:solidFill>
                  <a:cs typeface="Times New Roman" panose="02020603050405020304" pitchFamily="18" charset="0"/>
                </a:endParaRPr>
              </a:p>
              <a:p>
                <a:pPr marL="457200" indent="-457200">
                  <a:buFont typeface="+mj-lt"/>
                  <a:buAutoNum type="arabicPeriod"/>
                </a:pPr>
                <a:endParaRPr lang="en-US" sz="2400" dirty="0">
                  <a:solidFill>
                    <a:schemeClr val="accent2">
                      <a:lumMod val="75000"/>
                    </a:schemeClr>
                  </a:solidFill>
                  <a:cs typeface="Times New Roman" panose="02020603050405020304" pitchFamily="18" charset="0"/>
                </a:endParaRPr>
              </a:p>
              <a:p>
                <a:pPr marL="457200" indent="-457200">
                  <a:buFont typeface="+mj-lt"/>
                  <a:buAutoNum type="arabicPeriod"/>
                </a:pP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439400" cy="5141388"/>
              </a:xfrm>
              <a:blipFill>
                <a:blip r:embed="rId3"/>
                <a:stretch>
                  <a:fillRect l="-876"/>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8DD5C2EF-1402-4E98-8819-1F9C91BB15C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630108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Statistical Tests on Coefficients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439400" cy="5141388"/>
              </a:xfrm>
            </p:spPr>
            <p:txBody>
              <a:bodyPr>
                <a:normAutofit/>
              </a:bodyPr>
              <a:lstStyle/>
              <a:p>
                <a:pPr marL="274320" lvl="1" indent="0">
                  <a:buNone/>
                </a:pPr>
                <a14:m>
                  <m:oMathPara xmlns:m="http://schemas.openxmlformats.org/officeDocument/2006/math">
                    <m:oMath>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𝑦</m:t>
                      </m:r>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0</m:t>
                          </m:r>
                        </m:sub>
                      </m:sSub>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ctrlPr>
                        </m:sSubPr>
                        <m:e>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1</m:t>
                          </m:r>
                        </m:sub>
                      </m:sSub>
                      <m:r>
                        <a:rPr lang="en-US"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𝐷</m:t>
                      </m:r>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m:t>
                      </m:r>
                      <m:sSub>
                        <m:sSubPr>
                          <m:ctrlP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2</m:t>
                          </m:r>
                        </m:sub>
                      </m:sSub>
                      <m:sSub>
                        <m:sSubPr>
                          <m:ctrlP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𝑥</m:t>
                          </m:r>
                        </m:e>
                        <m:sub>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2</m:t>
                          </m:r>
                        </m:sub>
                      </m:sSub>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 …+</m:t>
                      </m:r>
                      <m:sSub>
                        <m:sSubPr>
                          <m:ctrlP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𝛽</m:t>
                          </m:r>
                        </m:e>
                        <m:sub>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𝑛</m:t>
                          </m:r>
                        </m:sub>
                      </m:sSub>
                      <m:sSub>
                        <m:sSubPr>
                          <m:ctrlP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ctrlPr>
                        </m:sSubPr>
                        <m:e>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𝑥</m:t>
                          </m:r>
                        </m:e>
                        <m:sub>
                          <m:r>
                            <a:rPr lang="en-US" sz="2400" i="1">
                              <a:solidFill>
                                <a:schemeClr val="accent2"/>
                              </a:solidFill>
                              <a:latin typeface="Cambria Math" panose="02040503050406030204" pitchFamily="18" charset="0"/>
                              <a:ea typeface="Open Sans" panose="020B0606030504020204" pitchFamily="34" charset="0"/>
                              <a:cs typeface="Open Sans" panose="020B0606030504020204" pitchFamily="34" charset="0"/>
                            </a:rPr>
                            <m:t>𝑛</m:t>
                          </m:r>
                        </m:sub>
                      </m:sSub>
                      <m:r>
                        <a:rPr lang="en-CA"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m:t>
                      </m:r>
                      <m:r>
                        <a:rPr lang="en-US" sz="2400" i="1">
                          <a:solidFill>
                            <a:schemeClr val="tx1"/>
                          </a:solidFill>
                          <a:latin typeface="Cambria Math" panose="02040503050406030204" pitchFamily="18" charset="0"/>
                          <a:ea typeface="Open Sans" panose="020B0606030504020204" pitchFamily="34" charset="0"/>
                          <a:cs typeface="Open Sans" panose="020B0606030504020204" pitchFamily="34" charset="0"/>
                        </a:rPr>
                        <m:t>𝜀</m:t>
                      </m:r>
                    </m:oMath>
                  </m:oMathPara>
                </a14:m>
                <a:endParaRPr lang="en-CA" sz="2400" dirty="0">
                  <a:solidFill>
                    <a:schemeClr val="tx1"/>
                  </a:solidFill>
                  <a:latin typeface="Open Sans"/>
                  <a:ea typeface="Open Sans" panose="020B0606030504020204" pitchFamily="34" charset="0"/>
                  <a:cs typeface="Open Sans" panose="020B0606030504020204" pitchFamily="34" charset="0"/>
                </a:endParaRPr>
              </a:p>
              <a:p>
                <a:r>
                  <a:rPr lang="en-US" sz="2400" dirty="0">
                    <a:cs typeface="Times New Roman" panose="02020603050405020304" pitchFamily="18" charset="0"/>
                  </a:rPr>
                  <a:t>Statistical tests tell you something about </a:t>
                </a:r>
                <a:r>
                  <a:rPr lang="en-US" sz="2400" b="1" dirty="0">
                    <a:cs typeface="Times New Roman" panose="02020603050405020304" pitchFamily="18" charset="0"/>
                  </a:rPr>
                  <a:t>if a supposed distribution for a parameter is unlikely</a:t>
                </a:r>
                <a:endParaRPr lang="en-US" sz="2400" dirty="0">
                  <a:cs typeface="Times New Roman" panose="02020603050405020304" pitchFamily="18" charset="0"/>
                </a:endParaRPr>
              </a:p>
              <a:p>
                <a:r>
                  <a:rPr lang="en-US" sz="2400" dirty="0">
                    <a:solidFill>
                      <a:schemeClr val="accent2">
                        <a:lumMod val="75000"/>
                      </a:schemeClr>
                    </a:solidFill>
                    <a:cs typeface="Times New Roman" panose="02020603050405020304" pitchFamily="18" charset="0"/>
                  </a:rPr>
                  <a:t>Related calculations:</a:t>
                </a:r>
              </a:p>
              <a:p>
                <a:pPr lvl="1"/>
                <a:r>
                  <a:rPr lang="en-US" sz="2400" i="1" dirty="0">
                    <a:solidFill>
                      <a:schemeClr val="accent2">
                        <a:lumMod val="75000"/>
                      </a:schemeClr>
                    </a:solidFill>
                    <a:cs typeface="Times New Roman" panose="02020603050405020304" pitchFamily="18" charset="0"/>
                  </a:rPr>
                  <a:t>p</a:t>
                </a:r>
                <a:r>
                  <a:rPr lang="en-US" sz="2400" dirty="0">
                    <a:solidFill>
                      <a:schemeClr val="accent2">
                        <a:lumMod val="75000"/>
                      </a:schemeClr>
                    </a:solidFill>
                    <a:cs typeface="Times New Roman" panose="02020603050405020304" pitchFamily="18" charset="0"/>
                  </a:rPr>
                  <a:t>-value</a:t>
                </a:r>
                <a:r>
                  <a:rPr lang="en-US" sz="2400" dirty="0">
                    <a:solidFill>
                      <a:schemeClr val="tx1"/>
                    </a:solidFill>
                    <a:cs typeface="Times New Roman" panose="02020603050405020304" pitchFamily="18" charset="0"/>
                  </a:rPr>
                  <a:t>: the exact percentile of our statistic </a:t>
                </a:r>
              </a:p>
              <a:p>
                <a:pPr lvl="1"/>
                <a:r>
                  <a:rPr lang="en-US" sz="2400" i="1" dirty="0">
                    <a:solidFill>
                      <a:schemeClr val="accent2">
                        <a:lumMod val="75000"/>
                      </a:schemeClr>
                    </a:solidFill>
                    <a:cs typeface="Times New Roman" panose="02020603050405020304" pitchFamily="18" charset="0"/>
                  </a:rPr>
                  <a:t>T</a:t>
                </a:r>
                <a:r>
                  <a:rPr lang="en-US" sz="2400" dirty="0">
                    <a:solidFill>
                      <a:schemeClr val="accent2">
                        <a:lumMod val="75000"/>
                      </a:schemeClr>
                    </a:solidFill>
                    <a:cs typeface="Times New Roman" panose="02020603050405020304" pitchFamily="18" charset="0"/>
                  </a:rPr>
                  <a:t>-statistic</a:t>
                </a:r>
                <a:r>
                  <a:rPr lang="en-US" sz="2400" dirty="0">
                    <a:solidFill>
                      <a:schemeClr val="tx1"/>
                    </a:solidFill>
                    <a:cs typeface="Times New Roman" panose="02020603050405020304" pitchFamily="18" charset="0"/>
                  </a:rPr>
                  <a:t>: standardized way of representing the percentile (standard normal)</a:t>
                </a:r>
              </a:p>
              <a:p>
                <a:pPr lvl="1"/>
                <a:endParaRPr lang="en-US" sz="2400" dirty="0">
                  <a:solidFill>
                    <a:schemeClr val="tx1"/>
                  </a:solidFill>
                  <a:cs typeface="Times New Roman" panose="02020603050405020304" pitchFamily="18" charset="0"/>
                </a:endParaRPr>
              </a:p>
              <a:p>
                <a:pPr marL="274320" lvl="1" indent="0">
                  <a:buNone/>
                </a:pPr>
                <a14:m>
                  <m:oMathPara xmlns:m="http://schemas.openxmlformats.org/officeDocument/2006/math">
                    <m:oMath>
                      <m:sSub>
                        <m:sSubPr>
                          <m:ctrlPr>
                            <a:rPr lang="en-US" sz="2400" b="0" i="1" smtClean="0">
                              <a:solidFill>
                                <a:schemeClr val="tx1"/>
                              </a:solidFill>
                              <a:latin typeface="Cambria Math" panose="02040503050406030204" pitchFamily="18" charset="0"/>
                              <a:cs typeface="Times New Roman" panose="02020603050405020304" pitchFamily="18" charset="0"/>
                            </a:rPr>
                          </m:ctrlPr>
                        </m:sSubPr>
                        <m:e>
                          <m:r>
                            <a:rPr lang="en-US" sz="2400" b="0" i="1" smtClean="0">
                              <a:solidFill>
                                <a:schemeClr val="tx1"/>
                              </a:solidFill>
                              <a:latin typeface="Cambria Math" panose="02040503050406030204" pitchFamily="18" charset="0"/>
                              <a:cs typeface="Times New Roman" panose="02020603050405020304" pitchFamily="18" charset="0"/>
                            </a:rPr>
                            <m:t>𝑡</m:t>
                          </m:r>
                        </m:e>
                        <m:sub>
                          <m:r>
                            <a:rPr lang="en-US" sz="2400" b="0" i="1" smtClean="0">
                              <a:solidFill>
                                <a:schemeClr val="tx1"/>
                              </a:solidFill>
                              <a:latin typeface="Cambria Math" panose="02040503050406030204" pitchFamily="18" charset="0"/>
                              <a:cs typeface="Times New Roman" panose="02020603050405020304" pitchFamily="18" charset="0"/>
                            </a:rPr>
                            <m:t>𝑖</m:t>
                          </m:r>
                        </m:sub>
                      </m:sSub>
                      <m:r>
                        <a:rPr lang="en-US" sz="2400" b="0" i="1" smtClean="0">
                          <a:solidFill>
                            <a:schemeClr val="tx1"/>
                          </a:solidFill>
                          <a:latin typeface="Cambria Math" panose="02040503050406030204" pitchFamily="18" charset="0"/>
                          <a:cs typeface="Times New Roman" panose="02020603050405020304" pitchFamily="18" charset="0"/>
                        </a:rPr>
                        <m:t>=</m:t>
                      </m:r>
                      <m:f>
                        <m:fPr>
                          <m:ctrlPr>
                            <a:rPr lang="en-US" sz="2400" b="0" i="1" smtClean="0">
                              <a:solidFill>
                                <a:schemeClr val="tx1"/>
                              </a:solidFill>
                              <a:latin typeface="Cambria Math" panose="02040503050406030204" pitchFamily="18" charset="0"/>
                              <a:cs typeface="Times New Roman" panose="02020603050405020304" pitchFamily="18" charset="0"/>
                            </a:rPr>
                          </m:ctrlPr>
                        </m:fPr>
                        <m:num>
                          <m:acc>
                            <m:accPr>
                              <m:chr m:val="̂"/>
                              <m:ctrlPr>
                                <a:rPr lang="en-US" sz="2400" b="0" i="1" smtClean="0">
                                  <a:solidFill>
                                    <a:schemeClr val="tx1"/>
                                  </a:solidFill>
                                  <a:latin typeface="Cambria Math" panose="02040503050406030204" pitchFamily="18" charset="0"/>
                                  <a:cs typeface="Times New Roman" panose="02020603050405020304" pitchFamily="18" charset="0"/>
                                </a:rPr>
                              </m:ctrlPr>
                            </m:accPr>
                            <m:e>
                              <m:sSub>
                                <m:sSubPr>
                                  <m:ctrlPr>
                                    <a:rPr lang="en-US" sz="2400" b="0" i="1" smtClean="0">
                                      <a:solidFill>
                                        <a:schemeClr val="tx1"/>
                                      </a:solidFill>
                                      <a:latin typeface="Cambria Math" panose="02040503050406030204" pitchFamily="18" charset="0"/>
                                      <a:cs typeface="Times New Roman" panose="02020603050405020304" pitchFamily="18" charset="0"/>
                                    </a:rPr>
                                  </m:ctrlPr>
                                </m:sSubPr>
                                <m:e>
                                  <m:r>
                                    <a:rPr lang="en-US" sz="2400" b="0" i="1" smtClean="0">
                                      <a:solidFill>
                                        <a:schemeClr val="tx1"/>
                                      </a:solidFill>
                                      <a:latin typeface="Cambria Math" panose="02040503050406030204" pitchFamily="18" charset="0"/>
                                      <a:cs typeface="Times New Roman" panose="02020603050405020304" pitchFamily="18" charset="0"/>
                                    </a:rPr>
                                    <m:t>𝛽</m:t>
                                  </m:r>
                                </m:e>
                                <m:sub>
                                  <m:r>
                                    <a:rPr lang="en-US" sz="2400" b="0" i="1" smtClean="0">
                                      <a:solidFill>
                                        <a:schemeClr val="tx1"/>
                                      </a:solidFill>
                                      <a:latin typeface="Cambria Math" panose="02040503050406030204" pitchFamily="18" charset="0"/>
                                      <a:cs typeface="Times New Roman" panose="02020603050405020304" pitchFamily="18" charset="0"/>
                                    </a:rPr>
                                    <m:t>𝑖</m:t>
                                  </m:r>
                                </m:sub>
                              </m:sSub>
                            </m:e>
                          </m:acc>
                        </m:num>
                        <m:den>
                          <m:r>
                            <a:rPr lang="en-US" sz="2400" b="0" i="1" smtClean="0">
                              <a:solidFill>
                                <a:schemeClr val="tx1"/>
                              </a:solidFill>
                              <a:latin typeface="Cambria Math" panose="02040503050406030204" pitchFamily="18" charset="0"/>
                              <a:cs typeface="Times New Roman" panose="02020603050405020304" pitchFamily="18" charset="0"/>
                            </a:rPr>
                            <m:t>𝑠𝑒</m:t>
                          </m:r>
                          <m:r>
                            <a:rPr lang="en-US" sz="2400" b="0" i="1" smtClean="0">
                              <a:solidFill>
                                <a:schemeClr val="tx1"/>
                              </a:solidFill>
                              <a:latin typeface="Cambria Math" panose="02040503050406030204" pitchFamily="18" charset="0"/>
                              <a:cs typeface="Times New Roman" panose="02020603050405020304" pitchFamily="18" charset="0"/>
                            </a:rPr>
                            <m:t>(</m:t>
                          </m:r>
                          <m:acc>
                            <m:accPr>
                              <m:chr m:val="̂"/>
                              <m:ctrlPr>
                                <a:rPr lang="en-US" sz="2400" b="0" i="1" smtClean="0">
                                  <a:solidFill>
                                    <a:schemeClr val="tx1"/>
                                  </a:solidFill>
                                  <a:latin typeface="Cambria Math" panose="02040503050406030204" pitchFamily="18" charset="0"/>
                                  <a:cs typeface="Times New Roman" panose="02020603050405020304" pitchFamily="18" charset="0"/>
                                </a:rPr>
                              </m:ctrlPr>
                            </m:accPr>
                            <m:e>
                              <m:sSub>
                                <m:sSubPr>
                                  <m:ctrlPr>
                                    <a:rPr lang="en-US" sz="2400" b="0" i="1" smtClean="0">
                                      <a:solidFill>
                                        <a:schemeClr val="tx1"/>
                                      </a:solidFill>
                                      <a:latin typeface="Cambria Math" panose="02040503050406030204" pitchFamily="18" charset="0"/>
                                      <a:cs typeface="Times New Roman" panose="02020603050405020304" pitchFamily="18" charset="0"/>
                                    </a:rPr>
                                  </m:ctrlPr>
                                </m:sSubPr>
                                <m:e>
                                  <m:r>
                                    <a:rPr lang="en-US" sz="2400" b="0" i="1" smtClean="0">
                                      <a:solidFill>
                                        <a:schemeClr val="tx1"/>
                                      </a:solidFill>
                                      <a:latin typeface="Cambria Math" panose="02040503050406030204" pitchFamily="18" charset="0"/>
                                      <a:cs typeface="Times New Roman" panose="02020603050405020304" pitchFamily="18" charset="0"/>
                                    </a:rPr>
                                    <m:t>𝛽</m:t>
                                  </m:r>
                                </m:e>
                                <m:sub>
                                  <m:r>
                                    <a:rPr lang="en-US" sz="2400" b="0" i="1" smtClean="0">
                                      <a:solidFill>
                                        <a:schemeClr val="tx1"/>
                                      </a:solidFill>
                                      <a:latin typeface="Cambria Math" panose="02040503050406030204" pitchFamily="18" charset="0"/>
                                      <a:cs typeface="Times New Roman" panose="02020603050405020304" pitchFamily="18" charset="0"/>
                                    </a:rPr>
                                    <m:t>𝑖</m:t>
                                  </m:r>
                                </m:sub>
                              </m:sSub>
                            </m:e>
                          </m:acc>
                          <m:r>
                            <a:rPr lang="en-US" sz="2400" b="0" i="1" smtClean="0">
                              <a:solidFill>
                                <a:schemeClr val="tx1"/>
                              </a:solidFill>
                              <a:latin typeface="Cambria Math" panose="02040503050406030204" pitchFamily="18" charset="0"/>
                              <a:cs typeface="Times New Roman" panose="02020603050405020304" pitchFamily="18" charset="0"/>
                            </a:rPr>
                            <m:t>)</m:t>
                          </m:r>
                        </m:den>
                      </m:f>
                    </m:oMath>
                  </m:oMathPara>
                </a14:m>
                <a:endParaRPr lang="en-US" sz="2400" dirty="0">
                  <a:solidFill>
                    <a:schemeClr val="tx1"/>
                  </a:solidFill>
                  <a:cs typeface="Times New Roman" panose="02020603050405020304" pitchFamily="18" charset="0"/>
                </a:endParaRPr>
              </a:p>
              <a:p>
                <a:r>
                  <a:rPr lang="en-US" sz="2400" dirty="0">
                    <a:solidFill>
                      <a:schemeClr val="tx1"/>
                    </a:solidFill>
                    <a:cs typeface="Times New Roman" panose="02020603050405020304" pitchFamily="18" charset="0"/>
                  </a:rPr>
                  <a:t>How are these related to </a:t>
                </a:r>
                <a14:m>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𝛼</m:t>
                    </m:r>
                    <m:r>
                      <a:rPr lang="en-US" sz="2400" b="0" i="1" smtClean="0">
                        <a:solidFill>
                          <a:schemeClr val="tx1"/>
                        </a:solidFill>
                        <a:latin typeface="Cambria Math" panose="02040503050406030204" pitchFamily="18" charset="0"/>
                        <a:cs typeface="Times New Roman" panose="02020603050405020304" pitchFamily="18" charset="0"/>
                      </a:rPr>
                      <m:t>?</m:t>
                    </m:r>
                  </m:oMath>
                </a14:m>
                <a:endParaRPr lang="en-US" sz="2400" dirty="0">
                  <a:solidFill>
                    <a:schemeClr val="tx1"/>
                  </a:solidFill>
                  <a:cs typeface="Times New Roman" panose="02020603050405020304" pitchFamily="18" charset="0"/>
                </a:endParaRPr>
              </a:p>
              <a:p>
                <a:pPr marL="274320" lvl="1" indent="0">
                  <a:buNone/>
                </a:pPr>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solidFill>
                    <a:schemeClr val="accent2">
                      <a:lumMod val="75000"/>
                    </a:schemeClr>
                  </a:solidFill>
                  <a:cs typeface="Times New Roman" panose="02020603050405020304" pitchFamily="18" charset="0"/>
                </a:endParaRPr>
              </a:p>
              <a:p>
                <a:pPr marL="457200" indent="-457200">
                  <a:buFont typeface="+mj-lt"/>
                  <a:buAutoNum type="arabicPeriod"/>
                </a:pPr>
                <a:endParaRPr lang="en-US" sz="2400" dirty="0">
                  <a:solidFill>
                    <a:schemeClr val="accent2">
                      <a:lumMod val="75000"/>
                    </a:schemeClr>
                  </a:solidFill>
                  <a:cs typeface="Times New Roman" panose="02020603050405020304" pitchFamily="18" charset="0"/>
                </a:endParaRPr>
              </a:p>
              <a:p>
                <a:pPr marL="457200" indent="-457200">
                  <a:buFont typeface="+mj-lt"/>
                  <a:buAutoNum type="arabicPeriod"/>
                </a:pP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439400" cy="5141388"/>
              </a:xfrm>
              <a:blipFill>
                <a:blip r:embed="rId3"/>
                <a:stretch>
                  <a:fillRect l="-409"/>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8DD5C2EF-1402-4E98-8819-1F9C91BB15C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124913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Statistical Significance </a:t>
            </a:r>
            <a:endParaRPr lang="en-US" sz="3600"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6616658F-0374-EF60-EB0E-EEB249F71F40}"/>
              </a:ext>
            </a:extLst>
          </p:cNvPr>
          <p:cNvPicPr>
            <a:picLocks noGrp="1" noChangeAspect="1"/>
          </p:cNvPicPr>
          <p:nvPr>
            <p:ph idx="1"/>
          </p:nvPr>
        </p:nvPicPr>
        <p:blipFill>
          <a:blip r:embed="rId3"/>
          <a:stretch>
            <a:fillRect/>
          </a:stretch>
        </p:blipFill>
        <p:spPr>
          <a:xfrm>
            <a:off x="800100" y="962232"/>
            <a:ext cx="10058400" cy="4717270"/>
          </a:xfrm>
        </p:spPr>
      </p:pic>
    </p:spTree>
    <p:extLst>
      <p:ext uri="{BB962C8B-B14F-4D97-AF65-F5344CB8AC3E}">
        <p14:creationId xmlns:p14="http://schemas.microsoft.com/office/powerpoint/2010/main" val="393477390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Types of Significance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439400" cy="5141388"/>
          </a:xfrm>
        </p:spPr>
        <p:txBody>
          <a:bodyPr>
            <a:normAutofit/>
          </a:bodyPr>
          <a:lstStyle/>
          <a:p>
            <a:pPr marL="274320" lvl="1" indent="0">
              <a:buNone/>
            </a:pPr>
            <a:r>
              <a:rPr lang="en-US" sz="2800" b="1" dirty="0">
                <a:solidFill>
                  <a:schemeClr val="accent3">
                    <a:lumMod val="75000"/>
                  </a:schemeClr>
                </a:solidFill>
                <a:cs typeface="Times New Roman" panose="02020603050405020304" pitchFamily="18" charset="0"/>
              </a:rPr>
              <a:t>What does significance mean?</a:t>
            </a:r>
          </a:p>
          <a:p>
            <a:pPr lvl="1"/>
            <a:r>
              <a:rPr lang="en-US" sz="2400" dirty="0">
                <a:solidFill>
                  <a:schemeClr val="tx1"/>
                </a:solidFill>
                <a:cs typeface="Times New Roman" panose="02020603050405020304" pitchFamily="18" charset="0"/>
              </a:rPr>
              <a:t>Something that isn’t significant isn’t wrong – just insignificant</a:t>
            </a:r>
          </a:p>
          <a:p>
            <a:pPr lvl="2"/>
            <a:r>
              <a:rPr lang="en-US" sz="2400" dirty="0">
                <a:solidFill>
                  <a:schemeClr val="tx1"/>
                </a:solidFill>
                <a:cs typeface="Times New Roman" panose="02020603050405020304" pitchFamily="18" charset="0"/>
              </a:rPr>
              <a:t>Precise nulls are of research interest</a:t>
            </a:r>
          </a:p>
          <a:p>
            <a:pPr lvl="2"/>
            <a:r>
              <a:rPr lang="en-US" sz="2400" dirty="0">
                <a:solidFill>
                  <a:schemeClr val="tx1"/>
                </a:solidFill>
                <a:cs typeface="Times New Roman" panose="02020603050405020304" pitchFamily="18" charset="0"/>
              </a:rPr>
              <a:t>A model should </a:t>
            </a:r>
            <a:r>
              <a:rPr lang="en-US" sz="2400" b="1" dirty="0">
                <a:solidFill>
                  <a:schemeClr val="tx1"/>
                </a:solidFill>
                <a:cs typeface="Times New Roman" panose="02020603050405020304" pitchFamily="18" charset="0"/>
              </a:rPr>
              <a:t>never </a:t>
            </a:r>
            <a:r>
              <a:rPr lang="en-US" sz="2400" dirty="0">
                <a:solidFill>
                  <a:schemeClr val="tx1"/>
                </a:solidFill>
                <a:cs typeface="Times New Roman" panose="02020603050405020304" pitchFamily="18" charset="0"/>
              </a:rPr>
              <a:t>be modified </a:t>
            </a:r>
            <a:r>
              <a:rPr lang="en-US" sz="2400" i="1" dirty="0">
                <a:solidFill>
                  <a:schemeClr val="tx1"/>
                </a:solidFill>
                <a:cs typeface="Times New Roman" panose="02020603050405020304" pitchFamily="18" charset="0"/>
              </a:rPr>
              <a:t>ex-post </a:t>
            </a:r>
            <a:r>
              <a:rPr lang="en-US" sz="2400" dirty="0">
                <a:solidFill>
                  <a:schemeClr val="tx1"/>
                </a:solidFill>
                <a:cs typeface="Times New Roman" panose="02020603050405020304" pitchFamily="18" charset="0"/>
              </a:rPr>
              <a:t>to obtain significant results!</a:t>
            </a:r>
          </a:p>
          <a:p>
            <a:pPr lvl="1"/>
            <a:r>
              <a:rPr lang="en-US" sz="2400" dirty="0">
                <a:solidFill>
                  <a:schemeClr val="tx1"/>
                </a:solidFill>
                <a:cs typeface="Times New Roman" panose="02020603050405020304" pitchFamily="18" charset="0"/>
              </a:rPr>
              <a:t>One test is rarely sufficient to come to a conclusion</a:t>
            </a:r>
          </a:p>
          <a:p>
            <a:pPr lvl="2"/>
            <a:r>
              <a:rPr lang="en-US" sz="2400" dirty="0">
                <a:solidFill>
                  <a:schemeClr val="tx1"/>
                </a:solidFill>
                <a:cs typeface="Times New Roman" panose="02020603050405020304" pitchFamily="18" charset="0"/>
              </a:rPr>
              <a:t>This is why economics papers are typically 50+ pages plus</a:t>
            </a:r>
            <a:r>
              <a:rPr lang="en-US" sz="2400" b="1" dirty="0">
                <a:solidFill>
                  <a:schemeClr val="tx1"/>
                </a:solidFill>
                <a:cs typeface="Times New Roman" panose="02020603050405020304" pitchFamily="18" charset="0"/>
              </a:rPr>
              <a:t> </a:t>
            </a:r>
            <a:r>
              <a:rPr lang="en-US" sz="2400" dirty="0">
                <a:solidFill>
                  <a:schemeClr val="tx1"/>
                </a:solidFill>
                <a:cs typeface="Times New Roman" panose="02020603050405020304" pitchFamily="18" charset="0"/>
              </a:rPr>
              <a:t>appendix</a:t>
            </a:r>
          </a:p>
          <a:p>
            <a:endParaRPr lang="en-US" sz="2400" dirty="0">
              <a:cs typeface="Times New Roman" panose="02020603050405020304" pitchFamily="18" charset="0"/>
            </a:endParaRPr>
          </a:p>
          <a:p>
            <a:endParaRPr lang="en-US" sz="2400" dirty="0">
              <a:solidFill>
                <a:schemeClr val="accent2">
                  <a:lumMod val="75000"/>
                </a:schemeClr>
              </a:solidFill>
              <a:cs typeface="Times New Roman" panose="02020603050405020304" pitchFamily="18" charset="0"/>
            </a:endParaRPr>
          </a:p>
          <a:p>
            <a:pPr marL="457200" indent="-457200">
              <a:buFont typeface="+mj-lt"/>
              <a:buAutoNum type="arabicPeriod"/>
            </a:pPr>
            <a:endParaRPr lang="en-US" sz="2400" dirty="0">
              <a:solidFill>
                <a:schemeClr val="accent2">
                  <a:lumMod val="75000"/>
                </a:schemeClr>
              </a:solidFill>
              <a:cs typeface="Times New Roman" panose="02020603050405020304" pitchFamily="18" charset="0"/>
            </a:endParaRPr>
          </a:p>
          <a:p>
            <a:pPr marL="457200" indent="-457200">
              <a:buFont typeface="+mj-lt"/>
              <a:buAutoNum type="arabicPeriod"/>
            </a:pPr>
            <a:endParaRPr lang="en-US" sz="2400" dirty="0">
              <a:cs typeface="Times New Roman" panose="02020603050405020304" pitchFamily="18" charset="0"/>
            </a:endParaRPr>
          </a:p>
        </p:txBody>
      </p:sp>
    </p:spTree>
    <p:extLst>
      <p:ext uri="{BB962C8B-B14F-4D97-AF65-F5344CB8AC3E}">
        <p14:creationId xmlns:p14="http://schemas.microsoft.com/office/powerpoint/2010/main" val="281528820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Types of Significance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439400" cy="5141388"/>
          </a:xfrm>
        </p:spPr>
        <p:txBody>
          <a:bodyPr>
            <a:normAutofit/>
          </a:bodyPr>
          <a:lstStyle/>
          <a:p>
            <a:pPr marL="274320" lvl="1" indent="0">
              <a:buNone/>
            </a:pPr>
            <a:r>
              <a:rPr lang="en-US" sz="2800" b="1" dirty="0">
                <a:solidFill>
                  <a:schemeClr val="accent3">
                    <a:lumMod val="75000"/>
                  </a:schemeClr>
                </a:solidFill>
                <a:cs typeface="Times New Roman" panose="02020603050405020304" pitchFamily="18" charset="0"/>
              </a:rPr>
              <a:t>What does significance mean?</a:t>
            </a:r>
          </a:p>
          <a:p>
            <a:pPr lvl="1"/>
            <a:r>
              <a:rPr lang="en-US" sz="2400" dirty="0">
                <a:solidFill>
                  <a:schemeClr val="tx1"/>
                </a:solidFill>
                <a:cs typeface="Times New Roman" panose="02020603050405020304" pitchFamily="18" charset="0"/>
              </a:rPr>
              <a:t>Something that isn’t significant isn’t wrong – just insignificant</a:t>
            </a:r>
          </a:p>
          <a:p>
            <a:pPr lvl="2"/>
            <a:r>
              <a:rPr lang="en-US" sz="2400" dirty="0">
                <a:solidFill>
                  <a:schemeClr val="tx1"/>
                </a:solidFill>
                <a:cs typeface="Times New Roman" panose="02020603050405020304" pitchFamily="18" charset="0"/>
              </a:rPr>
              <a:t>Precise nulls are of research interest</a:t>
            </a:r>
          </a:p>
          <a:p>
            <a:pPr lvl="2"/>
            <a:r>
              <a:rPr lang="en-US" sz="2400" dirty="0">
                <a:solidFill>
                  <a:schemeClr val="tx1"/>
                </a:solidFill>
                <a:cs typeface="Times New Roman" panose="02020603050405020304" pitchFamily="18" charset="0"/>
              </a:rPr>
              <a:t>A model should </a:t>
            </a:r>
            <a:r>
              <a:rPr lang="en-US" sz="2400" b="1" dirty="0">
                <a:solidFill>
                  <a:schemeClr val="tx1"/>
                </a:solidFill>
                <a:cs typeface="Times New Roman" panose="02020603050405020304" pitchFamily="18" charset="0"/>
              </a:rPr>
              <a:t>never </a:t>
            </a:r>
            <a:r>
              <a:rPr lang="en-US" sz="2400" dirty="0">
                <a:solidFill>
                  <a:schemeClr val="tx1"/>
                </a:solidFill>
                <a:cs typeface="Times New Roman" panose="02020603050405020304" pitchFamily="18" charset="0"/>
              </a:rPr>
              <a:t>be modified </a:t>
            </a:r>
            <a:r>
              <a:rPr lang="en-US" sz="2400" i="1" dirty="0">
                <a:solidFill>
                  <a:schemeClr val="tx1"/>
                </a:solidFill>
                <a:cs typeface="Times New Roman" panose="02020603050405020304" pitchFamily="18" charset="0"/>
              </a:rPr>
              <a:t>ex-post </a:t>
            </a:r>
            <a:r>
              <a:rPr lang="en-US" sz="2400" dirty="0">
                <a:solidFill>
                  <a:schemeClr val="tx1"/>
                </a:solidFill>
                <a:cs typeface="Times New Roman" panose="02020603050405020304" pitchFamily="18" charset="0"/>
              </a:rPr>
              <a:t>to obtain significant results!</a:t>
            </a:r>
          </a:p>
          <a:p>
            <a:pPr lvl="1"/>
            <a:r>
              <a:rPr lang="en-US" sz="2400" dirty="0">
                <a:solidFill>
                  <a:schemeClr val="tx1"/>
                </a:solidFill>
                <a:cs typeface="Times New Roman" panose="02020603050405020304" pitchFamily="18" charset="0"/>
              </a:rPr>
              <a:t>One test is rarely sufficient to come to a conclusion</a:t>
            </a:r>
          </a:p>
          <a:p>
            <a:pPr lvl="2"/>
            <a:r>
              <a:rPr lang="en-US" sz="2400" dirty="0">
                <a:solidFill>
                  <a:schemeClr val="tx1"/>
                </a:solidFill>
                <a:cs typeface="Times New Roman" panose="02020603050405020304" pitchFamily="18" charset="0"/>
              </a:rPr>
              <a:t>This is why economics papers are typically 50+ pages plus</a:t>
            </a:r>
            <a:r>
              <a:rPr lang="en-US" sz="2400" b="1" dirty="0">
                <a:solidFill>
                  <a:schemeClr val="tx1"/>
                </a:solidFill>
                <a:cs typeface="Times New Roman" panose="02020603050405020304" pitchFamily="18" charset="0"/>
              </a:rPr>
              <a:t> </a:t>
            </a:r>
            <a:r>
              <a:rPr lang="en-US" sz="2400" dirty="0">
                <a:solidFill>
                  <a:schemeClr val="tx1"/>
                </a:solidFill>
                <a:cs typeface="Times New Roman" panose="02020603050405020304" pitchFamily="18" charset="0"/>
              </a:rPr>
              <a:t>appendix</a:t>
            </a:r>
          </a:p>
          <a:p>
            <a:pPr marL="274320" lvl="1" indent="0">
              <a:buNone/>
            </a:pPr>
            <a:endParaRPr lang="en-US" sz="2400" dirty="0">
              <a:solidFill>
                <a:schemeClr val="tx1"/>
              </a:solidFill>
              <a:cs typeface="Times New Roman" panose="02020603050405020304" pitchFamily="18" charset="0"/>
            </a:endParaRPr>
          </a:p>
          <a:p>
            <a:pPr marL="274320" lvl="1" indent="0">
              <a:buNone/>
            </a:pPr>
            <a:r>
              <a:rPr lang="en-US" sz="2400" dirty="0">
                <a:solidFill>
                  <a:schemeClr val="tx1"/>
                </a:solidFill>
                <a:cs typeface="Times New Roman" panose="02020603050405020304" pitchFamily="18" charset="0"/>
              </a:rPr>
              <a:t>Difference between </a:t>
            </a:r>
            <a:r>
              <a:rPr lang="en-US" sz="2400" b="1" dirty="0">
                <a:solidFill>
                  <a:schemeClr val="accent2">
                    <a:lumMod val="75000"/>
                  </a:schemeClr>
                </a:solidFill>
                <a:cs typeface="Times New Roman" panose="02020603050405020304" pitchFamily="18" charset="0"/>
              </a:rPr>
              <a:t>statistical significance </a:t>
            </a:r>
            <a:r>
              <a:rPr lang="en-US" sz="2400" dirty="0">
                <a:solidFill>
                  <a:schemeClr val="tx1"/>
                </a:solidFill>
                <a:cs typeface="Times New Roman" panose="02020603050405020304" pitchFamily="18" charset="0"/>
              </a:rPr>
              <a:t>and </a:t>
            </a:r>
            <a:r>
              <a:rPr lang="en-US" sz="2400" b="1" dirty="0">
                <a:solidFill>
                  <a:schemeClr val="accent5">
                    <a:lumMod val="75000"/>
                  </a:schemeClr>
                </a:solidFill>
                <a:cs typeface="Times New Roman" panose="02020603050405020304" pitchFamily="18" charset="0"/>
              </a:rPr>
              <a:t>economic significance </a:t>
            </a:r>
            <a:endParaRPr lang="en-US" sz="2400" dirty="0">
              <a:solidFill>
                <a:schemeClr val="accent5">
                  <a:lumMod val="75000"/>
                </a:schemeClr>
              </a:solidFill>
              <a:cs typeface="Times New Roman" panose="02020603050405020304" pitchFamily="18" charset="0"/>
            </a:endParaRPr>
          </a:p>
          <a:p>
            <a:pPr lvl="2"/>
            <a:r>
              <a:rPr lang="en-US" sz="2400" dirty="0">
                <a:solidFill>
                  <a:schemeClr val="tx1"/>
                </a:solidFill>
                <a:cs typeface="Times New Roman" panose="02020603050405020304" pitchFamily="18" charset="0"/>
              </a:rPr>
              <a:t>What does your result mean? </a:t>
            </a:r>
          </a:p>
          <a:p>
            <a:pPr lvl="2"/>
            <a:r>
              <a:rPr lang="en-US" sz="2400" dirty="0">
                <a:solidFill>
                  <a:schemeClr val="tx1"/>
                </a:solidFill>
                <a:cs typeface="Times New Roman" panose="02020603050405020304" pitchFamily="18" charset="0"/>
              </a:rPr>
              <a:t>What does it mean to be statistically significant in this context? </a:t>
            </a:r>
          </a:p>
          <a:p>
            <a:pPr lvl="2"/>
            <a:r>
              <a:rPr lang="en-US" sz="2400" dirty="0">
                <a:solidFill>
                  <a:schemeClr val="tx1"/>
                </a:solidFill>
                <a:cs typeface="Times New Roman" panose="02020603050405020304" pitchFamily="18" charset="0"/>
              </a:rPr>
              <a:t>What does the estimated coefficient imply about policy? Welfare? Etc.? </a:t>
            </a:r>
          </a:p>
          <a:p>
            <a:endParaRPr lang="en-US" sz="2400" dirty="0">
              <a:cs typeface="Times New Roman" panose="02020603050405020304" pitchFamily="18" charset="0"/>
            </a:endParaRPr>
          </a:p>
          <a:p>
            <a:endParaRPr lang="en-US" sz="2400" dirty="0">
              <a:solidFill>
                <a:schemeClr val="accent2">
                  <a:lumMod val="75000"/>
                </a:schemeClr>
              </a:solidFill>
              <a:cs typeface="Times New Roman" panose="02020603050405020304" pitchFamily="18" charset="0"/>
            </a:endParaRPr>
          </a:p>
          <a:p>
            <a:pPr marL="457200" indent="-457200">
              <a:buFont typeface="+mj-lt"/>
              <a:buAutoNum type="arabicPeriod"/>
            </a:pPr>
            <a:endParaRPr lang="en-US" sz="2400" dirty="0">
              <a:solidFill>
                <a:schemeClr val="accent2">
                  <a:lumMod val="75000"/>
                </a:schemeClr>
              </a:solidFill>
              <a:cs typeface="Times New Roman" panose="02020603050405020304" pitchFamily="18" charset="0"/>
            </a:endParaRPr>
          </a:p>
          <a:p>
            <a:pPr marL="457200" indent="-457200">
              <a:buFont typeface="+mj-lt"/>
              <a:buAutoNum type="arabicPeriod"/>
            </a:pPr>
            <a:endParaRPr lang="en-US" sz="2400" dirty="0">
              <a:cs typeface="Times New Roman" panose="02020603050405020304" pitchFamily="18" charset="0"/>
            </a:endParaRPr>
          </a:p>
        </p:txBody>
      </p:sp>
    </p:spTree>
    <p:extLst>
      <p:ext uri="{BB962C8B-B14F-4D97-AF65-F5344CB8AC3E}">
        <p14:creationId xmlns:p14="http://schemas.microsoft.com/office/powerpoint/2010/main" val="416769072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Omitted Variable Bias</a:t>
            </a:r>
          </a:p>
        </p:txBody>
      </p:sp>
      <p:sp>
        <p:nvSpPr>
          <p:cNvPr id="3" name="Subtitle 2"/>
          <p:cNvSpPr>
            <a:spLocks noGrp="1"/>
          </p:cNvSpPr>
          <p:nvPr>
            <p:ph type="subTitle" idx="1"/>
          </p:nvPr>
        </p:nvSpPr>
        <p:spPr/>
        <p:txBody>
          <a:bodyPr/>
          <a:lstStyle/>
          <a:p>
            <a:r>
              <a:rPr lang="en-US" dirty="0">
                <a:latin typeface="Century Schoolbook"/>
              </a:rPr>
              <a:t>Why can’t we stick with univariate regression? </a:t>
            </a:r>
            <a:endParaRPr dirty="0">
              <a:latin typeface="Century Schoolbook"/>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10573512" cy="838200"/>
          </a:xfrm>
        </p:spPr>
        <p:txBody>
          <a:bodyPr/>
          <a:lstStyle/>
          <a:p>
            <a:r>
              <a:rPr dirty="0"/>
              <a:t>Does </a:t>
            </a:r>
            <a:r>
              <a:rPr lang="en-US" dirty="0"/>
              <a:t>a</a:t>
            </a:r>
            <a:r>
              <a:rPr dirty="0"/>
              <a:t> new drug make patients worse</a:t>
            </a:r>
            <a:r>
              <a:rPr lang="en-US" dirty="0"/>
              <a:t> off</a:t>
            </a:r>
            <a:r>
              <a:rPr dirty="0"/>
              <a:t>?</a:t>
            </a:r>
          </a:p>
        </p:txBody>
      </p:sp>
      <p:sp>
        <p:nvSpPr>
          <p:cNvPr id="3" name="Content Placeholder 2"/>
          <p:cNvSpPr>
            <a:spLocks noGrp="1"/>
          </p:cNvSpPr>
          <p:nvPr>
            <p:ph idx="1"/>
          </p:nvPr>
        </p:nvSpPr>
        <p:spPr>
          <a:xfrm>
            <a:off x="762000" y="1143000"/>
            <a:ext cx="10192512" cy="5037137"/>
          </a:xfrm>
        </p:spPr>
        <p:txBody>
          <a:bodyPr wrap="square">
            <a:normAutofit/>
          </a:bodyPr>
          <a:lstStyle/>
          <a:p>
            <a:pPr marL="0" indent="0">
              <a:buNone/>
            </a:pPr>
            <a:r>
              <a:rPr lang="en-US" sz="2200" dirty="0">
                <a:cs typeface="Times New Roman" panose="02020603050405020304" pitchFamily="18" charset="0"/>
              </a:rPr>
              <a:t>Consider the following hypothetical study question/design:</a:t>
            </a:r>
          </a:p>
          <a:p>
            <a:r>
              <a:rPr sz="2200" dirty="0">
                <a:cs typeface="Times New Roman" panose="02020603050405020304" pitchFamily="18" charset="0"/>
              </a:rPr>
              <a:t>New Type 2 diabetes drug. Data on 2,000 patients: whether they take it, and their A1c (blood-sugar control; higher = worse).</a:t>
            </a:r>
          </a:p>
          <a:p>
            <a:r>
              <a:rPr sz="2200" dirty="0">
                <a:cs typeface="Times New Roman" panose="02020603050405020304" pitchFamily="18" charset="0"/>
              </a:rPr>
              <a:t>Simplest possible analysis: regress A1c on the drug indicator.</a:t>
            </a:r>
          </a:p>
          <a:p>
            <a:pPr lvl="1"/>
            <a:r>
              <a:rPr sz="2200" dirty="0">
                <a:solidFill>
                  <a:srgbClr val="B01A1A"/>
                </a:solidFill>
                <a:cs typeface="Times New Roman" panose="02020603050405020304" pitchFamily="18" charset="0"/>
              </a:rPr>
              <a:t>Result:  A1c = 7.4 + 0.37 × Drug   →  treated patients have HIGHER A1c.</a:t>
            </a:r>
          </a:p>
          <a:p>
            <a:r>
              <a:rPr sz="2200" dirty="0">
                <a:cs typeface="Times New Roman" panose="02020603050405020304" pitchFamily="18" charset="0"/>
              </a:rPr>
              <a:t>Taken at face value: “the drug is associated with worse glycemic control.” Do we believe it?</a:t>
            </a:r>
            <a:r>
              <a:rPr lang="en-US" sz="2200" dirty="0">
                <a:cs typeface="Times New Roman" panose="02020603050405020304" pitchFamily="18" charset="0"/>
              </a:rPr>
              <a:t> Why or why not? </a:t>
            </a:r>
            <a:endParaRPr sz="2200" dirty="0">
              <a:cs typeface="Times New Roman" panose="02020603050405020304"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65760"/>
            <a:ext cx="10649712" cy="777240"/>
          </a:xfrm>
        </p:spPr>
        <p:txBody>
          <a:bodyPr/>
          <a:lstStyle/>
          <a:p>
            <a:r>
              <a:rPr lang="en-US" dirty="0"/>
              <a:t>Omitted variables (and selection)</a:t>
            </a:r>
            <a:endParaRPr dirty="0"/>
          </a:p>
        </p:txBody>
      </p:sp>
      <p:sp>
        <p:nvSpPr>
          <p:cNvPr id="3" name="Content Placeholder 2"/>
          <p:cNvSpPr>
            <a:spLocks noGrp="1"/>
          </p:cNvSpPr>
          <p:nvPr>
            <p:ph idx="1"/>
          </p:nvPr>
        </p:nvSpPr>
        <p:spPr>
          <a:xfrm>
            <a:off x="304800" y="1828800"/>
            <a:ext cx="10649712" cy="4351337"/>
          </a:xfrm>
        </p:spPr>
        <p:txBody>
          <a:bodyPr wrap="square">
            <a:normAutofit/>
          </a:bodyPr>
          <a:lstStyle/>
          <a:p>
            <a:r>
              <a:rPr sz="2200" dirty="0">
                <a:cs typeface="Times New Roman" panose="02020603050405020304" pitchFamily="18" charset="0"/>
              </a:rPr>
              <a:t>Sicker patients are the ones put on the new drug. Severity drives </a:t>
            </a:r>
            <a:r>
              <a:rPr lang="en-US" sz="2200" b="1" i="1" dirty="0">
                <a:cs typeface="Times New Roman" panose="02020603050405020304" pitchFamily="18" charset="0"/>
              </a:rPr>
              <a:t>both</a:t>
            </a:r>
            <a:r>
              <a:rPr sz="2200" dirty="0">
                <a:cs typeface="Times New Roman" panose="02020603050405020304" pitchFamily="18" charset="0"/>
              </a:rPr>
              <a:t> treatment and outcome.</a:t>
            </a:r>
          </a:p>
          <a:p>
            <a:pPr lvl="1"/>
            <a:r>
              <a:rPr lang="en-US" sz="2200" dirty="0">
                <a:cs typeface="Times New Roman" panose="02020603050405020304" pitchFamily="18" charset="0"/>
              </a:rPr>
              <a:t>Can you draw the DAG?</a:t>
            </a:r>
          </a:p>
          <a:p>
            <a:pPr lvl="1"/>
            <a:r>
              <a:rPr lang="en-US" sz="2200" dirty="0">
                <a:cs typeface="Times New Roman" panose="02020603050405020304" pitchFamily="18" charset="0"/>
              </a:rPr>
              <a:t>Where is severity in the univariate regression? Why is this a problem algebraically? </a:t>
            </a:r>
          </a:p>
          <a:p>
            <a:pPr marL="274320" lvl="1" indent="0">
              <a:buNone/>
            </a:pPr>
            <a:endParaRPr lang="en-US" sz="2200" dirty="0">
              <a:cs typeface="Times New Roman" panose="02020603050405020304" pitchFamily="18" charset="0"/>
            </a:endParaRPr>
          </a:p>
          <a:p>
            <a:pPr marL="274320" lvl="1" indent="0">
              <a:buNone/>
            </a:pPr>
            <a:r>
              <a:rPr lang="en-US" sz="2200" b="1" u="sng" dirty="0">
                <a:cs typeface="Times New Roman" panose="02020603050405020304" pitchFamily="18" charset="0"/>
              </a:rPr>
              <a:t>Intuitively: o</a:t>
            </a:r>
            <a:r>
              <a:rPr sz="2200" b="1" u="sng" dirty="0">
                <a:cs typeface="Times New Roman" panose="02020603050405020304" pitchFamily="18" charset="0"/>
              </a:rPr>
              <a:t>ur </a:t>
            </a:r>
            <a:r>
              <a:rPr lang="en-US" sz="2200" b="1" u="sng" dirty="0">
                <a:cs typeface="Times New Roman" panose="02020603050405020304" pitchFamily="18" charset="0"/>
              </a:rPr>
              <a:t>regression</a:t>
            </a:r>
            <a:r>
              <a:rPr sz="2200" b="1" u="sng" dirty="0">
                <a:cs typeface="Times New Roman" panose="02020603050405020304" pitchFamily="18" charset="0"/>
              </a:rPr>
              <a:t> compares sicker treated patients to healthier untreated ones</a:t>
            </a:r>
            <a:r>
              <a:rPr lang="en-US" sz="2200" b="1" u="sng" dirty="0">
                <a:cs typeface="Times New Roman" panose="02020603050405020304" pitchFamily="18" charset="0"/>
              </a:rPr>
              <a:t>. This is </a:t>
            </a:r>
            <a:r>
              <a:rPr sz="2200" b="1" u="sng" dirty="0">
                <a:cs typeface="Times New Roman" panose="02020603050405020304" pitchFamily="18" charset="0"/>
              </a:rPr>
              <a:t>not a clean comparison</a:t>
            </a:r>
            <a:r>
              <a:rPr lang="en-US" sz="2200" b="1" u="sng" dirty="0">
                <a:cs typeface="Times New Roman" panose="02020603050405020304" pitchFamily="18" charset="0"/>
              </a:rPr>
              <a:t>!</a:t>
            </a:r>
            <a:endParaRPr sz="2200" b="1" u="sng" dirty="0">
              <a:cs typeface="Times New Roman" panose="02020603050405020304"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5760"/>
            <a:ext cx="10497312" cy="777240"/>
          </a:xfrm>
        </p:spPr>
        <p:txBody>
          <a:bodyPr>
            <a:normAutofit/>
          </a:bodyPr>
          <a:lstStyle/>
          <a:p>
            <a:r>
              <a:rPr dirty="0"/>
              <a:t>What </a:t>
            </a:r>
            <a:r>
              <a:rPr lang="en-US" dirty="0"/>
              <a:t>omitted variables do</a:t>
            </a:r>
            <a:r>
              <a:rPr dirty="0"/>
              <a:t> to your estimate</a:t>
            </a:r>
          </a:p>
        </p:txBody>
      </p:sp>
      <p:sp>
        <p:nvSpPr>
          <p:cNvPr id="3" name="TextBox 2"/>
          <p:cNvSpPr txBox="1"/>
          <p:nvPr/>
        </p:nvSpPr>
        <p:spPr>
          <a:xfrm>
            <a:off x="457200" y="1783080"/>
            <a:ext cx="10497312" cy="1713290"/>
          </a:xfrm>
          <a:prstGeom prst="rect">
            <a:avLst/>
          </a:prstGeom>
          <a:noFill/>
        </p:spPr>
        <p:txBody>
          <a:bodyPr wrap="square">
            <a:spAutoFit/>
          </a:bodyPr>
          <a:lstStyle/>
          <a:p>
            <a:pPr>
              <a:spcAft>
                <a:spcPts val="800"/>
              </a:spcAft>
            </a:pPr>
            <a:r>
              <a:rPr sz="2000" b="1" dirty="0">
                <a:solidFill>
                  <a:srgbClr val="222222"/>
                </a:solidFill>
                <a:latin typeface="Century Schoolbook"/>
              </a:rPr>
              <a:t>True model:   A1c = β₀ + β₁·Drug + β₂·Severity + u</a:t>
            </a:r>
          </a:p>
          <a:p>
            <a:pPr>
              <a:spcAft>
                <a:spcPts val="800"/>
              </a:spcAft>
            </a:pPr>
            <a:r>
              <a:rPr sz="1800" b="0" dirty="0">
                <a:solidFill>
                  <a:srgbClr val="222222"/>
                </a:solidFill>
                <a:latin typeface="Century Schoolbook"/>
              </a:rPr>
              <a:t>Omit severity and the short regression gives:   plim(β̂₁) = β₁ + β₂·δ,   where δ = slope of  Severity ~ Drug</a:t>
            </a:r>
          </a:p>
          <a:p>
            <a:pPr>
              <a:spcAft>
                <a:spcPts val="800"/>
              </a:spcAft>
            </a:pPr>
            <a:r>
              <a:rPr sz="1800" b="0" dirty="0">
                <a:solidFill>
                  <a:srgbClr val="222222"/>
                </a:solidFill>
                <a:latin typeface="Century Schoolbook"/>
              </a:rPr>
              <a:t>Bias = (effect of severity on A1c) × (how severity differs by treatment). Both positive here → upward bias.</a:t>
            </a:r>
          </a:p>
        </p:txBody>
      </p:sp>
      <p:graphicFrame>
        <p:nvGraphicFramePr>
          <p:cNvPr id="4" name="Table 3"/>
          <p:cNvGraphicFramePr>
            <a:graphicFrameLocks noGrp="1"/>
          </p:cNvGraphicFramePr>
          <p:nvPr>
            <p:extLst>
              <p:ext uri="{D42A27DB-BD31-4B8C-83A1-F6EECF244321}">
                <p14:modId xmlns:p14="http://schemas.microsoft.com/office/powerpoint/2010/main" val="2080996211"/>
              </p:ext>
            </p:extLst>
          </p:nvPr>
        </p:nvGraphicFramePr>
        <p:xfrm>
          <a:off x="1261872" y="3886200"/>
          <a:ext cx="9692640" cy="182880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609600">
                <a:tc>
                  <a:txBody>
                    <a:bodyPr/>
                    <a:lstStyle/>
                    <a:p>
                      <a:endParaRPr/>
                    </a:p>
                  </a:txBody>
                  <a:tcPr marL="109728" marT="36576" marB="36576"/>
                </a:tc>
                <a:tc>
                  <a:txBody>
                    <a:bodyPr/>
                    <a:lstStyle/>
                    <a:p>
                      <a:r>
                        <a:rPr sz="1600" b="1">
                          <a:latin typeface="Century Schoolbook"/>
                        </a:rPr>
                        <a:t>corr(omitted, X) &gt; 0</a:t>
                      </a:r>
                    </a:p>
                  </a:txBody>
                  <a:tcPr marL="109728" marT="36576" marB="36576"/>
                </a:tc>
                <a:tc>
                  <a:txBody>
                    <a:bodyPr/>
                    <a:lstStyle/>
                    <a:p>
                      <a:r>
                        <a:rPr sz="1600" b="1">
                          <a:latin typeface="Century Schoolbook"/>
                        </a:rPr>
                        <a:t>corr(omitted, X) &lt; 0</a:t>
                      </a:r>
                    </a:p>
                  </a:txBody>
                  <a:tcPr marL="109728" marT="36576" marB="36576"/>
                </a:tc>
                <a:extLst>
                  <a:ext uri="{0D108BD9-81ED-4DB2-BD59-A6C34878D82A}">
                    <a16:rowId xmlns:a16="http://schemas.microsoft.com/office/drawing/2014/main" val="10000"/>
                  </a:ext>
                </a:extLst>
              </a:tr>
              <a:tr h="609600">
                <a:tc>
                  <a:txBody>
                    <a:bodyPr/>
                    <a:lstStyle/>
                    <a:p>
                      <a:r>
                        <a:rPr sz="1600">
                          <a:latin typeface="Century Schoolbook"/>
                        </a:rPr>
                        <a:t>β₂ &gt; 0</a:t>
                      </a:r>
                    </a:p>
                  </a:txBody>
                  <a:tcPr marL="109728" marT="36576" marB="36576"/>
                </a:tc>
                <a:tc>
                  <a:txBody>
                    <a:bodyPr/>
                    <a:lstStyle/>
                    <a:p>
                      <a:r>
                        <a:rPr sz="1600" dirty="0">
                          <a:latin typeface="Century Schoolbook"/>
                        </a:rPr>
                        <a:t>bias </a:t>
                      </a:r>
                      <a:r>
                        <a:rPr lang="en-US" sz="1600" dirty="0">
                          <a:latin typeface="Century Schoolbook"/>
                        </a:rPr>
                        <a:t>up</a:t>
                      </a:r>
                      <a:endParaRPr sz="1600" dirty="0">
                        <a:latin typeface="Century Schoolbook"/>
                      </a:endParaRPr>
                    </a:p>
                  </a:txBody>
                  <a:tcPr marL="109728" marT="36576" marB="36576"/>
                </a:tc>
                <a:tc>
                  <a:txBody>
                    <a:bodyPr/>
                    <a:lstStyle/>
                    <a:p>
                      <a:r>
                        <a:rPr sz="1600">
                          <a:latin typeface="Century Schoolbook"/>
                        </a:rPr>
                        <a:t>bias down</a:t>
                      </a:r>
                    </a:p>
                  </a:txBody>
                  <a:tcPr marL="109728" marT="36576" marB="36576"/>
                </a:tc>
                <a:extLst>
                  <a:ext uri="{0D108BD9-81ED-4DB2-BD59-A6C34878D82A}">
                    <a16:rowId xmlns:a16="http://schemas.microsoft.com/office/drawing/2014/main" val="10001"/>
                  </a:ext>
                </a:extLst>
              </a:tr>
              <a:tr h="609600">
                <a:tc>
                  <a:txBody>
                    <a:bodyPr/>
                    <a:lstStyle/>
                    <a:p>
                      <a:r>
                        <a:rPr sz="1600">
                          <a:latin typeface="Century Schoolbook"/>
                        </a:rPr>
                        <a:t>β₂ &lt; 0</a:t>
                      </a:r>
                    </a:p>
                  </a:txBody>
                  <a:tcPr marL="109728" marT="36576" marB="36576"/>
                </a:tc>
                <a:tc>
                  <a:txBody>
                    <a:bodyPr/>
                    <a:lstStyle/>
                    <a:p>
                      <a:r>
                        <a:rPr sz="1600">
                          <a:latin typeface="Century Schoolbook"/>
                        </a:rPr>
                        <a:t>bias down</a:t>
                      </a:r>
                    </a:p>
                  </a:txBody>
                  <a:tcPr marL="109728" marT="36576" marB="36576"/>
                </a:tc>
                <a:tc>
                  <a:txBody>
                    <a:bodyPr/>
                    <a:lstStyle/>
                    <a:p>
                      <a:r>
                        <a:rPr sz="1600" dirty="0">
                          <a:latin typeface="Century Schoolbook"/>
                        </a:rPr>
                        <a:t>bias up</a:t>
                      </a:r>
                    </a:p>
                  </a:txBody>
                  <a:tcPr marL="109728" marT="36576" marB="36576"/>
                </a:tc>
                <a:extLst>
                  <a:ext uri="{0D108BD9-81ED-4DB2-BD59-A6C34878D82A}">
                    <a16:rowId xmlns:a16="http://schemas.microsoft.com/office/drawing/2014/main" val="10002"/>
                  </a:ext>
                </a:extLst>
              </a:tr>
            </a:tbl>
          </a:graphicData>
        </a:graphic>
      </p:graphicFrame>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375AA-7BDB-4662-6505-AB5561F3B4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55EE94-7C86-CB26-E4FF-1C32FD98F7A3}"/>
              </a:ext>
            </a:extLst>
          </p:cNvPr>
          <p:cNvSpPr>
            <a:spLocks noGrp="1"/>
          </p:cNvSpPr>
          <p:nvPr>
            <p:ph type="title"/>
          </p:nvPr>
        </p:nvSpPr>
        <p:spPr>
          <a:xfrm>
            <a:off x="457200" y="365760"/>
            <a:ext cx="10497312" cy="777240"/>
          </a:xfrm>
        </p:spPr>
        <p:txBody>
          <a:bodyPr>
            <a:normAutofit fontScale="90000"/>
          </a:bodyPr>
          <a:lstStyle/>
          <a:p>
            <a:r>
              <a:rPr dirty="0"/>
              <a:t>What </a:t>
            </a:r>
            <a:r>
              <a:rPr lang="en-US" dirty="0"/>
              <a:t>happens when you include omitted variables</a:t>
            </a:r>
            <a:endParaRPr dirty="0"/>
          </a:p>
        </p:txBody>
      </p:sp>
      <p:sp>
        <p:nvSpPr>
          <p:cNvPr id="3" name="TextBox 2">
            <a:extLst>
              <a:ext uri="{FF2B5EF4-FFF2-40B4-BE49-F238E27FC236}">
                <a16:creationId xmlns:a16="http://schemas.microsoft.com/office/drawing/2014/main" id="{7BDEC86F-360B-F83B-9906-DAF9A4A64B5F}"/>
              </a:ext>
            </a:extLst>
          </p:cNvPr>
          <p:cNvSpPr txBox="1"/>
          <p:nvPr/>
        </p:nvSpPr>
        <p:spPr>
          <a:xfrm>
            <a:off x="427591" y="3424646"/>
            <a:ext cx="10497312" cy="707886"/>
          </a:xfrm>
          <a:prstGeom prst="rect">
            <a:avLst/>
          </a:prstGeom>
          <a:noFill/>
        </p:spPr>
        <p:txBody>
          <a:bodyPr wrap="square">
            <a:spAutoFit/>
          </a:bodyPr>
          <a:lstStyle/>
          <a:p>
            <a:pPr>
              <a:spcAft>
                <a:spcPts val="800"/>
              </a:spcAft>
            </a:pPr>
            <a:r>
              <a:rPr lang="en-US" sz="2000" b="1" dirty="0">
                <a:solidFill>
                  <a:srgbClr val="222222"/>
                </a:solidFill>
                <a:latin typeface="Century Schoolbook"/>
              </a:rPr>
              <a:t>Note: this isn’t just an issue of “attenuated coefficients”  -- this can flip the sign!</a:t>
            </a:r>
            <a:endParaRPr sz="1800" b="0" dirty="0">
              <a:solidFill>
                <a:srgbClr val="222222"/>
              </a:solidFill>
              <a:latin typeface="Century Schoolbook"/>
            </a:endParaRPr>
          </a:p>
        </p:txBody>
      </p:sp>
      <p:graphicFrame>
        <p:nvGraphicFramePr>
          <p:cNvPr id="6" name="Table 5">
            <a:extLst>
              <a:ext uri="{FF2B5EF4-FFF2-40B4-BE49-F238E27FC236}">
                <a16:creationId xmlns:a16="http://schemas.microsoft.com/office/drawing/2014/main" id="{6602E55F-C610-7B53-7AB6-D4B171A44A2E}"/>
              </a:ext>
            </a:extLst>
          </p:cNvPr>
          <p:cNvGraphicFramePr>
            <a:graphicFrameLocks noGrp="1"/>
          </p:cNvGraphicFramePr>
          <p:nvPr>
            <p:extLst>
              <p:ext uri="{D42A27DB-BD31-4B8C-83A1-F6EECF244321}">
                <p14:modId xmlns:p14="http://schemas.microsoft.com/office/powerpoint/2010/main" val="2942724191"/>
              </p:ext>
            </p:extLst>
          </p:nvPr>
        </p:nvGraphicFramePr>
        <p:xfrm>
          <a:off x="859536" y="1438003"/>
          <a:ext cx="9692640" cy="1691640"/>
        </p:xfrm>
        <a:graphic>
          <a:graphicData uri="http://schemas.openxmlformats.org/drawingml/2006/table">
            <a:tbl>
              <a:tblPr firstRow="1" bandRow="1">
                <a:tableStyleId>{5C22544A-7EE6-4342-B048-85BDC9FD1C3A}</a:tableStyleId>
              </a:tblPr>
              <a:tblGrid>
                <a:gridCol w="630936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tblGrid>
              <a:tr h="563880">
                <a:tc>
                  <a:txBody>
                    <a:bodyPr/>
                    <a:lstStyle/>
                    <a:p>
                      <a:r>
                        <a:rPr sz="1600" b="1">
                          <a:latin typeface="Century Schoolbook"/>
                        </a:rPr>
                        <a:t>Model</a:t>
                      </a:r>
                    </a:p>
                  </a:txBody>
                  <a:tcPr marL="109728" marT="36576" marB="36576"/>
                </a:tc>
                <a:tc>
                  <a:txBody>
                    <a:bodyPr/>
                    <a:lstStyle/>
                    <a:p>
                      <a:r>
                        <a:rPr sz="1600" b="1">
                          <a:latin typeface="Century Schoolbook"/>
                        </a:rPr>
                        <a:t>Drug coefficient</a:t>
                      </a:r>
                    </a:p>
                  </a:txBody>
                  <a:tcPr marL="109728" marT="36576" marB="36576"/>
                </a:tc>
                <a:extLst>
                  <a:ext uri="{0D108BD9-81ED-4DB2-BD59-A6C34878D82A}">
                    <a16:rowId xmlns:a16="http://schemas.microsoft.com/office/drawing/2014/main" val="10000"/>
                  </a:ext>
                </a:extLst>
              </a:tr>
              <a:tr h="563880">
                <a:tc>
                  <a:txBody>
                    <a:bodyPr/>
                    <a:lstStyle/>
                    <a:p>
                      <a:r>
                        <a:rPr sz="1600" dirty="0">
                          <a:latin typeface="Century Schoolbook"/>
                        </a:rPr>
                        <a:t>Naive:   A1c ~ Drug</a:t>
                      </a:r>
                    </a:p>
                  </a:txBody>
                  <a:tcPr marL="109728" marT="36576" marB="36576"/>
                </a:tc>
                <a:tc>
                  <a:txBody>
                    <a:bodyPr/>
                    <a:lstStyle/>
                    <a:p>
                      <a:r>
                        <a:rPr sz="1600">
                          <a:solidFill>
                            <a:srgbClr val="B01A1A"/>
                          </a:solidFill>
                          <a:latin typeface="Century Schoolbook"/>
                        </a:rPr>
                        <a:t>+0.37   (looks harmful)</a:t>
                      </a:r>
                    </a:p>
                  </a:txBody>
                  <a:tcPr marL="109728" marT="36576" marB="36576"/>
                </a:tc>
                <a:extLst>
                  <a:ext uri="{0D108BD9-81ED-4DB2-BD59-A6C34878D82A}">
                    <a16:rowId xmlns:a16="http://schemas.microsoft.com/office/drawing/2014/main" val="10001"/>
                  </a:ext>
                </a:extLst>
              </a:tr>
              <a:tr h="563880">
                <a:tc>
                  <a:txBody>
                    <a:bodyPr/>
                    <a:lstStyle/>
                    <a:p>
                      <a:r>
                        <a:rPr sz="1600">
                          <a:latin typeface="Century Schoolbook"/>
                        </a:rPr>
                        <a:t>Adjusted:   A1c ~ Drug + Severity</a:t>
                      </a:r>
                    </a:p>
                  </a:txBody>
                  <a:tcPr marL="109728" marT="36576" marB="36576"/>
                </a:tc>
                <a:tc>
                  <a:txBody>
                    <a:bodyPr/>
                    <a:lstStyle/>
                    <a:p>
                      <a:r>
                        <a:rPr sz="1600" dirty="0">
                          <a:solidFill>
                            <a:srgbClr val="1A661A"/>
                          </a:solidFill>
                          <a:latin typeface="Century Schoolbook"/>
                        </a:rPr>
                        <a:t>−0.84   (true effect)</a:t>
                      </a:r>
                    </a:p>
                  </a:txBody>
                  <a:tcPr marL="109728" marT="36576" marB="36576"/>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60417599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7269480" cy="624840"/>
          </a:xfrm>
        </p:spPr>
        <p:txBody>
          <a:bodyPr>
            <a:normAutofit fontScale="90000"/>
          </a:bodyPr>
          <a:lstStyle/>
          <a:p>
            <a:r>
              <a:rPr lang="en-US" dirty="0">
                <a:cs typeface="Times New Roman" panose="02020603050405020304" pitchFamily="18" charset="0"/>
              </a:rPr>
              <a:t>Next time:</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5790" y="1066800"/>
                <a:ext cx="10367010" cy="5453807"/>
              </a:xfrm>
            </p:spPr>
            <p:txBody>
              <a:bodyPr>
                <a:normAutofit/>
              </a:bodyPr>
              <a:lstStyle/>
              <a:p>
                <a:r>
                  <a:rPr lang="en-US" sz="2400" dirty="0">
                    <a:cs typeface="Times New Roman" panose="02020603050405020304" pitchFamily="18" charset="0"/>
                  </a:rPr>
                  <a:t>Multiple explanatory variables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2</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2</m:t>
                        </m:r>
                      </m:sub>
                    </m:sSub>
                    <m:r>
                      <a:rPr lang="en-US" sz="2400" b="0" i="1" smtClean="0">
                        <a:latin typeface="Cambria Math" panose="02040503050406030204" pitchFamily="18" charset="0"/>
                        <a:cs typeface="Times New Roman" panose="02020603050405020304" pitchFamily="18" charset="0"/>
                      </a:rPr>
                      <m:t>+ …+</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𝑛</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𝑛</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oMath>
                </a14:m>
                <a:endParaRPr lang="en-US" sz="2400" dirty="0">
                  <a:cs typeface="Times New Roman" panose="02020603050405020304" pitchFamily="18" charset="0"/>
                </a:endParaRPr>
              </a:p>
              <a:p>
                <a:r>
                  <a:rPr lang="en-US" sz="2400" dirty="0">
                    <a:cs typeface="Times New Roman" panose="02020603050405020304" pitchFamily="18" charset="0"/>
                  </a:rPr>
                  <a:t>Regressions and causal frameworks</a:t>
                </a:r>
              </a:p>
              <a:p>
                <a:r>
                  <a:rPr lang="en-US" sz="2400" dirty="0">
                    <a:cs typeface="Times New Roman" panose="02020603050405020304" pitchFamily="18" charset="0"/>
                  </a:rPr>
                  <a:t>Additional </a:t>
                </a:r>
                <a:r>
                  <a:rPr lang="en-US" sz="2400">
                    <a:cs typeface="Times New Roman" panose="02020603050405020304" pitchFamily="18" charset="0"/>
                  </a:rPr>
                  <a:t>regression tools</a:t>
                </a: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5790" y="1066800"/>
                <a:ext cx="10367010" cy="5453807"/>
              </a:xfrm>
              <a:blipFill>
                <a:blip r:embed="rId3"/>
                <a:stretch>
                  <a:fillRect l="-412" t="-1229"/>
                </a:stretch>
              </a:blipFill>
            </p:spPr>
            <p:txBody>
              <a:bodyPr/>
              <a:lstStyle/>
              <a:p>
                <a:r>
                  <a:rPr lang="en-US">
                    <a:noFill/>
                  </a:rPr>
                  <a:t> </a:t>
                </a:r>
              </a:p>
            </p:txBody>
          </p:sp>
        </mc:Fallback>
      </mc:AlternateContent>
    </p:spTree>
    <p:extLst>
      <p:ext uri="{BB962C8B-B14F-4D97-AF65-F5344CB8AC3E}">
        <p14:creationId xmlns:p14="http://schemas.microsoft.com/office/powerpoint/2010/main" val="58711996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2662F-8E40-F33C-F467-B601A0A95D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FEA851-7F02-EA9F-B154-8A22471FA372}"/>
              </a:ext>
            </a:extLst>
          </p:cNvPr>
          <p:cNvSpPr>
            <a:spLocks noGrp="1"/>
          </p:cNvSpPr>
          <p:nvPr>
            <p:ph type="ctrTitle"/>
          </p:nvPr>
        </p:nvSpPr>
        <p:spPr>
          <a:xfrm>
            <a:off x="1261872" y="758952"/>
            <a:ext cx="10549128" cy="4041648"/>
          </a:xfrm>
        </p:spPr>
        <p:txBody>
          <a:bodyPr>
            <a:normAutofit/>
          </a:bodyPr>
          <a:lstStyle/>
          <a:p>
            <a:r>
              <a:rPr lang="en-US" dirty="0">
                <a:latin typeface="Times New Roman" panose="02020603050405020304" pitchFamily="18" charset="0"/>
                <a:cs typeface="Times New Roman" panose="02020603050405020304" pitchFamily="18" charset="0"/>
              </a:rPr>
              <a:t>Appendix</a:t>
            </a:r>
          </a:p>
        </p:txBody>
      </p:sp>
      <p:sp>
        <p:nvSpPr>
          <p:cNvPr id="3" name="Content Placeholder 2">
            <a:extLst>
              <a:ext uri="{FF2B5EF4-FFF2-40B4-BE49-F238E27FC236}">
                <a16:creationId xmlns:a16="http://schemas.microsoft.com/office/drawing/2014/main" id="{7B6CDCBF-CA12-5E71-28CE-78A7E14275CD}"/>
              </a:ext>
            </a:extLst>
          </p:cNvPr>
          <p:cNvSpPr>
            <a:spLocks noGrp="1"/>
          </p:cNvSpPr>
          <p:nvPr>
            <p:ph type="subTitle" idx="1"/>
          </p:nvPr>
        </p:nvSpPr>
        <p:spPr/>
        <p:txBody>
          <a:bodyPr>
            <a:normAutofit/>
          </a:bodyPr>
          <a:lstStyle/>
          <a:p>
            <a:pPr marL="274320" lvl="1" indent="0">
              <a:buNone/>
            </a:pPr>
            <a:endParaRPr lang="en-CA" sz="2000" dirty="0">
              <a:solidFill>
                <a:schemeClr val="tx1"/>
              </a:solidFill>
              <a:latin typeface="Open Sans"/>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80894561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7269480" cy="624840"/>
          </a:xfrm>
        </p:spPr>
        <p:txBody>
          <a:bodyPr>
            <a:normAutofit fontScale="90000"/>
          </a:bodyPr>
          <a:lstStyle/>
          <a:p>
            <a:r>
              <a:rPr lang="en-US" dirty="0">
                <a:latin typeface="Times New Roman" panose="02020603050405020304" pitchFamily="18" charset="0"/>
                <a:cs typeface="Times New Roman" panose="02020603050405020304" pitchFamily="18" charset="0"/>
              </a:rPr>
              <a:t>Multiple Events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200" y="1066800"/>
                <a:ext cx="10058400" cy="5410199"/>
              </a:xfrm>
            </p:spPr>
            <p:txBody>
              <a:bodyPr>
                <a:normAutofit/>
              </a:bodyPr>
              <a:lstStyle/>
              <a:p>
                <a:r>
                  <a:rPr lang="en-US" sz="2400" dirty="0">
                    <a:cs typeface="Times New Roman" panose="02020603050405020304" pitchFamily="18" charset="0"/>
                  </a:rPr>
                  <a:t>Some random variables can be thought of as a </a:t>
                </a:r>
                <a:r>
                  <a:rPr lang="en-US" sz="2400" b="1" dirty="0">
                    <a:solidFill>
                      <a:schemeClr val="accent2">
                        <a:lumMod val="75000"/>
                      </a:schemeClr>
                    </a:solidFill>
                    <a:cs typeface="Times New Roman" panose="02020603050405020304" pitchFamily="18" charset="0"/>
                  </a:rPr>
                  <a:t>process</a:t>
                </a:r>
                <a:r>
                  <a:rPr lang="en-US" sz="2400" dirty="0">
                    <a:cs typeface="Times New Roman" panose="02020603050405020304" pitchFamily="18" charset="0"/>
                  </a:rPr>
                  <a:t>:</a:t>
                </a:r>
              </a:p>
              <a:p>
                <a:pPr lvl="1"/>
                <a:endParaRPr lang="en-US" sz="2400" dirty="0">
                  <a:cs typeface="Times New Roman" panose="02020603050405020304" pitchFamily="18" charset="0"/>
                </a:endParaRPr>
              </a:p>
              <a:p>
                <a:pPr lvl="1"/>
                <a:endParaRPr lang="en-US" sz="2400" dirty="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cs typeface="Times New Roman" panose="02020603050405020304" pitchFamily="18" charset="0"/>
                  </a:rPr>
                  <a:t>What is the </a:t>
                </a:r>
                <a:r>
                  <a:rPr lang="en-US" sz="2400" b="1" dirty="0">
                    <a:solidFill>
                      <a:schemeClr val="accent2">
                        <a:lumMod val="75000"/>
                      </a:schemeClr>
                    </a:solidFill>
                    <a:cs typeface="Times New Roman" panose="02020603050405020304" pitchFamily="18" charset="0"/>
                  </a:rPr>
                  <a:t>total probability </a:t>
                </a:r>
                <a:r>
                  <a:rPr lang="en-US" sz="2400" dirty="0">
                    <a:cs typeface="Times New Roman" panose="02020603050405020304" pitchFamily="18" charset="0"/>
                  </a:rPr>
                  <a:t>of developing a chronic condition? </a:t>
                </a:r>
              </a:p>
              <a:p>
                <a:pPr marL="0" indent="0">
                  <a:buNone/>
                </a:pPr>
                <a14:m>
                  <m:oMathPara xmlns:m="http://schemas.openxmlformats.org/officeDocument/2006/math">
                    <m:oMath>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𝐶ℎ𝑟𝑜𝑛𝑖𝑐𝑎𝑙𝑙𝑦</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𝑖𝑙𝑙</m:t>
                          </m:r>
                        </m:e>
                      </m:d>
                      <m:r>
                        <a:rPr lang="en-US" sz="2400" b="0" i="1" smtClean="0">
                          <a:latin typeface="Cambria Math" panose="02040503050406030204" pitchFamily="18" charset="0"/>
                          <a:cs typeface="Times New Roman" panose="02020603050405020304" pitchFamily="18" charset="0"/>
                        </a:rPr>
                        <m:t>=</m:t>
                      </m:r>
                      <m:nary>
                        <m:naryPr>
                          <m:chr m:val="∑"/>
                          <m:supHide m:val="on"/>
                          <m:ctrlPr>
                            <a:rPr lang="en-US" sz="2400" b="0" i="1" smtClean="0">
                              <a:latin typeface="Cambria Math" panose="02040503050406030204" pitchFamily="18" charset="0"/>
                              <a:cs typeface="Times New Roman" panose="02020603050405020304" pitchFamily="18" charset="0"/>
                            </a:rPr>
                          </m:ctrlPr>
                        </m:naryPr>
                        <m:sub>
                          <m:r>
                            <a:rPr lang="en-US" sz="2400" b="0" i="1" smtClean="0">
                              <a:latin typeface="Cambria Math" panose="02040503050406030204" pitchFamily="18" charset="0"/>
                              <a:cs typeface="Times New Roman" panose="02020603050405020304" pitchFamily="18" charset="0"/>
                            </a:rPr>
                            <m:t>𝑛</m:t>
                          </m:r>
                        </m:sub>
                        <m:sup/>
                        <m:e>
                          <m:r>
                            <a:rPr lang="en-US" sz="2400" i="1">
                              <a:latin typeface="Cambria Math" panose="02040503050406030204" pitchFamily="18" charset="0"/>
                              <a:cs typeface="Times New Roman" panose="02020603050405020304" pitchFamily="18" charset="0"/>
                            </a:rPr>
                            <m:t>𝑃</m:t>
                          </m:r>
                          <m:r>
                            <a:rPr lang="en-US" sz="2400" i="1">
                              <a:latin typeface="Cambria Math" panose="02040503050406030204" pitchFamily="18" charset="0"/>
                              <a:cs typeface="Times New Roman" panose="02020603050405020304" pitchFamily="18" charset="0"/>
                            </a:rPr>
                            <m:t>(</m:t>
                          </m:r>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𝑥</m:t>
                              </m:r>
                            </m:e>
                            <m:sub>
                              <m:r>
                                <a:rPr lang="en-US" sz="2400" i="1">
                                  <a:latin typeface="Cambria Math" panose="02040503050406030204" pitchFamily="18" charset="0"/>
                                  <a:cs typeface="Times New Roman" panose="02020603050405020304" pitchFamily="18" charset="0"/>
                                </a:rPr>
                                <m:t>3</m:t>
                              </m:r>
                            </m:sub>
                          </m:sSub>
                          <m:r>
                            <a:rPr lang="en-US" sz="2400" i="1">
                              <a:latin typeface="Cambria Math" panose="02040503050406030204" pitchFamily="18" charset="0"/>
                              <a:cs typeface="Times New Roman" panose="02020603050405020304" pitchFamily="18" charset="0"/>
                            </a:rPr>
                            <m:t>∪</m:t>
                          </m:r>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𝐵</m:t>
                              </m:r>
                            </m:e>
                            <m:sub>
                              <m:r>
                                <a:rPr lang="en-US" sz="2400" i="1">
                                  <a:latin typeface="Cambria Math" panose="02040503050406030204" pitchFamily="18" charset="0"/>
                                  <a:cs typeface="Times New Roman" panose="02020603050405020304" pitchFamily="18" charset="0"/>
                                </a:rPr>
                                <m:t>𝑛</m:t>
                              </m:r>
                            </m:sub>
                          </m:sSub>
                          <m:r>
                            <a:rPr lang="en-US" sz="2400" i="1">
                              <a:latin typeface="Cambria Math" panose="02040503050406030204" pitchFamily="18" charset="0"/>
                              <a:cs typeface="Times New Roman" panose="02020603050405020304" pitchFamily="18" charset="0"/>
                            </a:rPr>
                            <m:t>)</m:t>
                          </m:r>
                        </m:e>
                      </m:nary>
                    </m:oMath>
                  </m:oMathPara>
                </a14:m>
                <a:endParaRPr lang="en-US" sz="24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200" y="1066800"/>
                <a:ext cx="10058400" cy="5410199"/>
              </a:xfrm>
              <a:blipFill>
                <a:blip r:embed="rId3"/>
                <a:stretch>
                  <a:fillRect l="-424" t="-1240"/>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FFEA8D3A-A64D-4F8D-B77E-CE5913459C25}"/>
              </a:ext>
            </a:extLst>
          </p:cNvPr>
          <p:cNvSpPr txBox="1"/>
          <p:nvPr/>
        </p:nvSpPr>
        <p:spPr>
          <a:xfrm>
            <a:off x="762000" y="2286000"/>
            <a:ext cx="1710725" cy="369332"/>
          </a:xfrm>
          <a:prstGeom prst="rect">
            <a:avLst/>
          </a:prstGeom>
          <a:noFill/>
        </p:spPr>
        <p:txBody>
          <a:bodyPr wrap="none" rtlCol="0">
            <a:spAutoFit/>
          </a:bodyPr>
          <a:lstStyle/>
          <a:p>
            <a:r>
              <a:rPr lang="en-US" dirty="0"/>
              <a:t>Health state 1</a:t>
            </a:r>
          </a:p>
        </p:txBody>
      </p:sp>
      <p:sp>
        <p:nvSpPr>
          <p:cNvPr id="5" name="TextBox 4">
            <a:extLst>
              <a:ext uri="{FF2B5EF4-FFF2-40B4-BE49-F238E27FC236}">
                <a16:creationId xmlns:a16="http://schemas.microsoft.com/office/drawing/2014/main" id="{6F65BEE2-81E7-4631-B385-A1249D8BCA2A}"/>
              </a:ext>
            </a:extLst>
          </p:cNvPr>
          <p:cNvSpPr txBox="1"/>
          <p:nvPr/>
        </p:nvSpPr>
        <p:spPr>
          <a:xfrm>
            <a:off x="3276600" y="3200400"/>
            <a:ext cx="1710725" cy="369332"/>
          </a:xfrm>
          <a:prstGeom prst="rect">
            <a:avLst/>
          </a:prstGeom>
          <a:noFill/>
        </p:spPr>
        <p:txBody>
          <a:bodyPr wrap="none" rtlCol="0">
            <a:spAutoFit/>
          </a:bodyPr>
          <a:lstStyle/>
          <a:p>
            <a:r>
              <a:rPr lang="en-US" dirty="0"/>
              <a:t>Health state 2</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E329D7F-90D7-4DE2-A893-D041AB13FB7A}"/>
                  </a:ext>
                </a:extLst>
              </p:cNvPr>
              <p:cNvSpPr txBox="1"/>
              <p:nvPr/>
            </p:nvSpPr>
            <p:spPr>
              <a:xfrm>
                <a:off x="3276600" y="1676400"/>
                <a:ext cx="1757276" cy="369332"/>
              </a:xfrm>
              <a:prstGeom prst="rect">
                <a:avLst/>
              </a:prstGeom>
              <a:noFill/>
            </p:spPr>
            <p:txBody>
              <a:bodyPr wrap="none" rtlCol="0">
                <a:spAutoFit/>
              </a:bodyPr>
              <a:lstStyle/>
              <a:p>
                <a:pPr/>
                <a14:m>
                  <m:oMathPara xmlns:m="http://schemas.openxmlformats.org/officeDocument/2006/math">
                    <m:oMath>
                      <m:r>
                        <a:rPr lang="en-US" b="0" i="1" smtClean="0">
                          <a:solidFill>
                            <a:srgbClr val="836967"/>
                          </a:solidFill>
                          <a:latin typeface="Cambria Math" panose="02040503050406030204" pitchFamily="18" charset="0"/>
                        </a:rPr>
                        <m:t>𝐶ℎ𝑟𝑜𝑛𝑖𝑐𝑎𝑙𝑙𝑦</m:t>
                      </m:r>
                      <m:r>
                        <a:rPr lang="en-US" b="0" i="1" smtClean="0">
                          <a:solidFill>
                            <a:srgbClr val="836967"/>
                          </a:solidFill>
                          <a:latin typeface="Cambria Math" panose="02040503050406030204" pitchFamily="18" charset="0"/>
                        </a:rPr>
                        <m:t> </m:t>
                      </m:r>
                      <m:r>
                        <a:rPr lang="en-US" b="0" i="1" smtClean="0">
                          <a:solidFill>
                            <a:srgbClr val="836967"/>
                          </a:solidFill>
                          <a:latin typeface="Cambria Math" panose="02040503050406030204" pitchFamily="18" charset="0"/>
                        </a:rPr>
                        <m:t>𝐼𝑙𝑙</m:t>
                      </m:r>
                    </m:oMath>
                  </m:oMathPara>
                </a14:m>
                <a:endParaRPr lang="en-US" dirty="0"/>
              </a:p>
            </p:txBody>
          </p:sp>
        </mc:Choice>
        <mc:Fallback xmlns="">
          <p:sp>
            <p:nvSpPr>
              <p:cNvPr id="6" name="TextBox 5">
                <a:extLst>
                  <a:ext uri="{FF2B5EF4-FFF2-40B4-BE49-F238E27FC236}">
                    <a16:creationId xmlns:a16="http://schemas.microsoft.com/office/drawing/2014/main" id="{3E329D7F-90D7-4DE2-A893-D041AB13FB7A}"/>
                  </a:ext>
                </a:extLst>
              </p:cNvPr>
              <p:cNvSpPr txBox="1">
                <a:spLocks noRot="1" noChangeAspect="1" noMove="1" noResize="1" noEditPoints="1" noAdjustHandles="1" noChangeArrowheads="1" noChangeShapeType="1" noTextEdit="1"/>
              </p:cNvSpPr>
              <p:nvPr/>
            </p:nvSpPr>
            <p:spPr>
              <a:xfrm>
                <a:off x="3276600" y="1676400"/>
                <a:ext cx="1757276" cy="369332"/>
              </a:xfrm>
              <a:prstGeom prst="rect">
                <a:avLst/>
              </a:prstGeom>
              <a:blipFill>
                <a:blip r:embed="rId4"/>
                <a:stretch>
                  <a:fillRect b="-14754"/>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07B37013-7EFF-4827-9FA3-72BD61F1736B}"/>
              </a:ext>
            </a:extLst>
          </p:cNvPr>
          <p:cNvCxnSpPr>
            <a:cxnSpLocks/>
            <a:stCxn id="4" idx="3"/>
          </p:cNvCxnSpPr>
          <p:nvPr/>
        </p:nvCxnSpPr>
        <p:spPr>
          <a:xfrm flipV="1">
            <a:off x="2472725" y="1981200"/>
            <a:ext cx="880075" cy="4894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B081853-C528-454B-A7AB-16355A2EE0B2}"/>
              </a:ext>
            </a:extLst>
          </p:cNvPr>
          <p:cNvCxnSpPr>
            <a:endCxn id="5" idx="1"/>
          </p:cNvCxnSpPr>
          <p:nvPr/>
        </p:nvCxnSpPr>
        <p:spPr>
          <a:xfrm>
            <a:off x="2419826" y="2470666"/>
            <a:ext cx="856774"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E48C025-479E-476F-BF68-697B47AE6005}"/>
              </a:ext>
            </a:extLst>
          </p:cNvPr>
          <p:cNvCxnSpPr>
            <a:cxnSpLocks/>
            <a:stCxn id="5" idx="3"/>
          </p:cNvCxnSpPr>
          <p:nvPr/>
        </p:nvCxnSpPr>
        <p:spPr>
          <a:xfrm flipV="1">
            <a:off x="4987325" y="2927866"/>
            <a:ext cx="803875" cy="457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44D140D-E398-4414-8B5D-EBE619F5A882}"/>
              </a:ext>
            </a:extLst>
          </p:cNvPr>
          <p:cNvCxnSpPr>
            <a:cxnSpLocks/>
            <a:stCxn id="5" idx="3"/>
          </p:cNvCxnSpPr>
          <p:nvPr/>
        </p:nvCxnSpPr>
        <p:spPr>
          <a:xfrm>
            <a:off x="4987325" y="3385066"/>
            <a:ext cx="731713" cy="5131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C635B26-64EE-4625-8B73-BF7475C60D6B}"/>
                  </a:ext>
                </a:extLst>
              </p:cNvPr>
              <p:cNvSpPr txBox="1"/>
              <p:nvPr/>
            </p:nvSpPr>
            <p:spPr>
              <a:xfrm flipH="1">
                <a:off x="2641518" y="1824335"/>
                <a:ext cx="270988"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oMath>
                  </m:oMathPara>
                </a14:m>
                <a:endParaRPr lang="en-US" dirty="0"/>
              </a:p>
            </p:txBody>
          </p:sp>
        </mc:Choice>
        <mc:Fallback xmlns="">
          <p:sp>
            <p:nvSpPr>
              <p:cNvPr id="18" name="TextBox 17">
                <a:extLst>
                  <a:ext uri="{FF2B5EF4-FFF2-40B4-BE49-F238E27FC236}">
                    <a16:creationId xmlns:a16="http://schemas.microsoft.com/office/drawing/2014/main" id="{2C635B26-64EE-4625-8B73-BF7475C60D6B}"/>
                  </a:ext>
                </a:extLst>
              </p:cNvPr>
              <p:cNvSpPr txBox="1">
                <a:spLocks noRot="1" noChangeAspect="1" noMove="1" noResize="1" noEditPoints="1" noAdjustHandles="1" noChangeArrowheads="1" noChangeShapeType="1" noTextEdit="1"/>
              </p:cNvSpPr>
              <p:nvPr/>
            </p:nvSpPr>
            <p:spPr>
              <a:xfrm flipH="1">
                <a:off x="2641518" y="1824335"/>
                <a:ext cx="270988" cy="369332"/>
              </a:xfrm>
              <a:prstGeom prst="rect">
                <a:avLst/>
              </a:prstGeom>
              <a:blipFill>
                <a:blip r:embed="rId5"/>
                <a:stretch>
                  <a:fillRect r="-35556" b="-16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D873DDF3-9CCA-4954-8458-861BDC378F2B}"/>
                  </a:ext>
                </a:extLst>
              </p:cNvPr>
              <p:cNvSpPr txBox="1"/>
              <p:nvPr/>
            </p:nvSpPr>
            <p:spPr>
              <a:xfrm flipH="1">
                <a:off x="5118274" y="2792470"/>
                <a:ext cx="270988"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oMath>
                  </m:oMathPara>
                </a14:m>
                <a:endParaRPr lang="en-US" dirty="0"/>
              </a:p>
            </p:txBody>
          </p:sp>
        </mc:Choice>
        <mc:Fallback xmlns="">
          <p:sp>
            <p:nvSpPr>
              <p:cNvPr id="19" name="TextBox 18">
                <a:extLst>
                  <a:ext uri="{FF2B5EF4-FFF2-40B4-BE49-F238E27FC236}">
                    <a16:creationId xmlns:a16="http://schemas.microsoft.com/office/drawing/2014/main" id="{D873DDF3-9CCA-4954-8458-861BDC378F2B}"/>
                  </a:ext>
                </a:extLst>
              </p:cNvPr>
              <p:cNvSpPr txBox="1">
                <a:spLocks noRot="1" noChangeAspect="1" noMove="1" noResize="1" noEditPoints="1" noAdjustHandles="1" noChangeArrowheads="1" noChangeShapeType="1" noTextEdit="1"/>
              </p:cNvSpPr>
              <p:nvPr/>
            </p:nvSpPr>
            <p:spPr>
              <a:xfrm flipH="1">
                <a:off x="5118274" y="2792470"/>
                <a:ext cx="270988" cy="369332"/>
              </a:xfrm>
              <a:prstGeom prst="rect">
                <a:avLst/>
              </a:prstGeom>
              <a:blipFill>
                <a:blip r:embed="rId6"/>
                <a:stretch>
                  <a:fillRect r="-36364" b="-16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AFA7FEE-16A7-4BBF-9163-DF85900CD713}"/>
                  </a:ext>
                </a:extLst>
              </p:cNvPr>
              <p:cNvSpPr txBox="1"/>
              <p:nvPr/>
            </p:nvSpPr>
            <p:spPr>
              <a:xfrm flipH="1">
                <a:off x="2577225" y="2885390"/>
                <a:ext cx="270988"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m:oMathPara>
                </a14:m>
                <a:endParaRPr lang="en-US" dirty="0"/>
              </a:p>
            </p:txBody>
          </p:sp>
        </mc:Choice>
        <mc:Fallback xmlns="">
          <p:sp>
            <p:nvSpPr>
              <p:cNvPr id="20" name="TextBox 19">
                <a:extLst>
                  <a:ext uri="{FF2B5EF4-FFF2-40B4-BE49-F238E27FC236}">
                    <a16:creationId xmlns:a16="http://schemas.microsoft.com/office/drawing/2014/main" id="{AAFA7FEE-16A7-4BBF-9163-DF85900CD713}"/>
                  </a:ext>
                </a:extLst>
              </p:cNvPr>
              <p:cNvSpPr txBox="1">
                <a:spLocks noRot="1" noChangeAspect="1" noMove="1" noResize="1" noEditPoints="1" noAdjustHandles="1" noChangeArrowheads="1" noChangeShapeType="1" noTextEdit="1"/>
              </p:cNvSpPr>
              <p:nvPr/>
            </p:nvSpPr>
            <p:spPr>
              <a:xfrm flipH="1">
                <a:off x="2577225" y="2885390"/>
                <a:ext cx="270988" cy="369332"/>
              </a:xfrm>
              <a:prstGeom prst="rect">
                <a:avLst/>
              </a:prstGeom>
              <a:blipFill>
                <a:blip r:embed="rId7"/>
                <a:stretch>
                  <a:fillRect r="-34091" b="-16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30D08E29-FD72-4E1A-83CF-41ACDD51E50F}"/>
                  </a:ext>
                </a:extLst>
              </p:cNvPr>
              <p:cNvSpPr txBox="1"/>
              <p:nvPr/>
            </p:nvSpPr>
            <p:spPr>
              <a:xfrm flipH="1">
                <a:off x="5020624" y="3621218"/>
                <a:ext cx="270988"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oMath>
                  </m:oMathPara>
                </a14:m>
                <a:endParaRPr lang="en-US" dirty="0"/>
              </a:p>
            </p:txBody>
          </p:sp>
        </mc:Choice>
        <mc:Fallback xmlns="">
          <p:sp>
            <p:nvSpPr>
              <p:cNvPr id="21" name="TextBox 20">
                <a:extLst>
                  <a:ext uri="{FF2B5EF4-FFF2-40B4-BE49-F238E27FC236}">
                    <a16:creationId xmlns:a16="http://schemas.microsoft.com/office/drawing/2014/main" id="{30D08E29-FD72-4E1A-83CF-41ACDD51E50F}"/>
                  </a:ext>
                </a:extLst>
              </p:cNvPr>
              <p:cNvSpPr txBox="1">
                <a:spLocks noRot="1" noChangeAspect="1" noMove="1" noResize="1" noEditPoints="1" noAdjustHandles="1" noChangeArrowheads="1" noChangeShapeType="1" noTextEdit="1"/>
              </p:cNvSpPr>
              <p:nvPr/>
            </p:nvSpPr>
            <p:spPr>
              <a:xfrm flipH="1">
                <a:off x="5020624" y="3621218"/>
                <a:ext cx="270988" cy="369332"/>
              </a:xfrm>
              <a:prstGeom prst="rect">
                <a:avLst/>
              </a:prstGeom>
              <a:blipFill>
                <a:blip r:embed="rId8"/>
                <a:stretch>
                  <a:fillRect r="-36364" b="-16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4374F6CC-FA36-473C-82E3-C9AE2FF29AB4}"/>
                  </a:ext>
                </a:extLst>
              </p:cNvPr>
              <p:cNvSpPr txBox="1"/>
              <p:nvPr/>
            </p:nvSpPr>
            <p:spPr>
              <a:xfrm>
                <a:off x="5707993" y="2729775"/>
                <a:ext cx="1757276" cy="369332"/>
              </a:xfrm>
              <a:prstGeom prst="rect">
                <a:avLst/>
              </a:prstGeom>
              <a:noFill/>
            </p:spPr>
            <p:txBody>
              <a:bodyPr wrap="none" rtlCol="0">
                <a:spAutoFit/>
              </a:bodyPr>
              <a:lstStyle/>
              <a:p>
                <a:pPr/>
                <a14:m>
                  <m:oMathPara xmlns:m="http://schemas.openxmlformats.org/officeDocument/2006/math">
                    <m:oMath>
                      <m:r>
                        <a:rPr lang="en-US" b="0" i="1" smtClean="0">
                          <a:solidFill>
                            <a:srgbClr val="836967"/>
                          </a:solidFill>
                          <a:latin typeface="Cambria Math" panose="02040503050406030204" pitchFamily="18" charset="0"/>
                        </a:rPr>
                        <m:t>𝐶ℎ𝑟𝑜𝑛𝑖𝑐𝑎𝑙𝑙𝑦</m:t>
                      </m:r>
                      <m:r>
                        <a:rPr lang="en-US" b="0" i="1" smtClean="0">
                          <a:solidFill>
                            <a:srgbClr val="836967"/>
                          </a:solidFill>
                          <a:latin typeface="Cambria Math" panose="02040503050406030204" pitchFamily="18" charset="0"/>
                        </a:rPr>
                        <m:t> </m:t>
                      </m:r>
                      <m:r>
                        <a:rPr lang="en-US" b="0" i="1" smtClean="0">
                          <a:solidFill>
                            <a:srgbClr val="836967"/>
                          </a:solidFill>
                          <a:latin typeface="Cambria Math" panose="02040503050406030204" pitchFamily="18" charset="0"/>
                        </a:rPr>
                        <m:t>𝐼𝑙𝑙</m:t>
                      </m:r>
                    </m:oMath>
                  </m:oMathPara>
                </a14:m>
                <a:endParaRPr lang="en-US" dirty="0"/>
              </a:p>
            </p:txBody>
          </p:sp>
        </mc:Choice>
        <mc:Fallback xmlns="">
          <p:sp>
            <p:nvSpPr>
              <p:cNvPr id="26" name="TextBox 25">
                <a:extLst>
                  <a:ext uri="{FF2B5EF4-FFF2-40B4-BE49-F238E27FC236}">
                    <a16:creationId xmlns:a16="http://schemas.microsoft.com/office/drawing/2014/main" id="{4374F6CC-FA36-473C-82E3-C9AE2FF29AB4}"/>
                  </a:ext>
                </a:extLst>
              </p:cNvPr>
              <p:cNvSpPr txBox="1">
                <a:spLocks noRot="1" noChangeAspect="1" noMove="1" noResize="1" noEditPoints="1" noAdjustHandles="1" noChangeArrowheads="1" noChangeShapeType="1" noTextEdit="1"/>
              </p:cNvSpPr>
              <p:nvPr/>
            </p:nvSpPr>
            <p:spPr>
              <a:xfrm>
                <a:off x="5707993" y="2729775"/>
                <a:ext cx="1757276" cy="369332"/>
              </a:xfrm>
              <a:prstGeom prst="rect">
                <a:avLst/>
              </a:prstGeom>
              <a:blipFill>
                <a:blip r:embed="rId9"/>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82A063AB-0159-4A0C-9A25-84DA14F935C6}"/>
                  </a:ext>
                </a:extLst>
              </p:cNvPr>
              <p:cNvSpPr txBox="1"/>
              <p:nvPr/>
            </p:nvSpPr>
            <p:spPr>
              <a:xfrm>
                <a:off x="5791200" y="3685212"/>
                <a:ext cx="1084721" cy="369332"/>
              </a:xfrm>
              <a:prstGeom prst="rect">
                <a:avLst/>
              </a:prstGeom>
              <a:noFill/>
            </p:spPr>
            <p:txBody>
              <a:bodyPr wrap="none" rtlCol="0">
                <a:spAutoFit/>
              </a:bodyPr>
              <a:lstStyle/>
              <a:p>
                <a:pPr/>
                <a14:m>
                  <m:oMathPara xmlns:m="http://schemas.openxmlformats.org/officeDocument/2006/math">
                    <m:oMath>
                      <m:r>
                        <a:rPr lang="en-US" b="0" i="1" smtClean="0">
                          <a:solidFill>
                            <a:srgbClr val="836967"/>
                          </a:solidFill>
                          <a:latin typeface="Cambria Math" panose="02040503050406030204" pitchFamily="18" charset="0"/>
                        </a:rPr>
                        <m:t>𝐻𝑒𝑎𝑙𝑡ℎ𝑦</m:t>
                      </m:r>
                    </m:oMath>
                  </m:oMathPara>
                </a14:m>
                <a:endParaRPr lang="en-US" dirty="0"/>
              </a:p>
            </p:txBody>
          </p:sp>
        </mc:Choice>
        <mc:Fallback xmlns="">
          <p:sp>
            <p:nvSpPr>
              <p:cNvPr id="27" name="TextBox 26">
                <a:extLst>
                  <a:ext uri="{FF2B5EF4-FFF2-40B4-BE49-F238E27FC236}">
                    <a16:creationId xmlns:a16="http://schemas.microsoft.com/office/drawing/2014/main" id="{82A063AB-0159-4A0C-9A25-84DA14F935C6}"/>
                  </a:ext>
                </a:extLst>
              </p:cNvPr>
              <p:cNvSpPr txBox="1">
                <a:spLocks noRot="1" noChangeAspect="1" noMove="1" noResize="1" noEditPoints="1" noAdjustHandles="1" noChangeArrowheads="1" noChangeShapeType="1" noTextEdit="1"/>
              </p:cNvSpPr>
              <p:nvPr/>
            </p:nvSpPr>
            <p:spPr>
              <a:xfrm>
                <a:off x="5791200" y="3685212"/>
                <a:ext cx="1084721" cy="369332"/>
              </a:xfrm>
              <a:prstGeom prst="rect">
                <a:avLst/>
              </a:prstGeom>
              <a:blipFill>
                <a:blip r:embed="rId10"/>
                <a:stretch>
                  <a:fillRect b="-16667"/>
                </a:stretch>
              </a:blipFill>
            </p:spPr>
            <p:txBody>
              <a:bodyPr/>
              <a:lstStyle/>
              <a:p>
                <a:r>
                  <a:rPr lang="en-US">
                    <a:noFill/>
                  </a:rPr>
                  <a:t> </a:t>
                </a:r>
              </a:p>
            </p:txBody>
          </p:sp>
        </mc:Fallback>
      </mc:AlternateContent>
      <p:pic>
        <p:nvPicPr>
          <p:cNvPr id="23" name="Picture 2" descr="RStudio - RStudio">
            <a:extLst>
              <a:ext uri="{FF2B5EF4-FFF2-40B4-BE49-F238E27FC236}">
                <a16:creationId xmlns:a16="http://schemas.microsoft.com/office/drawing/2014/main" id="{0D6C3AC1-0374-33DD-F06D-F0D0AE727FC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677400" y="525780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609317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7269480" cy="624840"/>
          </a:xfrm>
        </p:spPr>
        <p:txBody>
          <a:bodyPr>
            <a:normAutofit fontScale="90000"/>
          </a:bodyPr>
          <a:lstStyle/>
          <a:p>
            <a:r>
              <a:rPr lang="en-US" dirty="0">
                <a:latin typeface="Times New Roman" panose="02020603050405020304" pitchFamily="18" charset="0"/>
                <a:cs typeface="Times New Roman" panose="02020603050405020304" pitchFamily="18" charset="0"/>
              </a:rPr>
              <a:t>Bayes’ Rule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066801"/>
                <a:ext cx="10210800" cy="5141388"/>
              </a:xfrm>
            </p:spPr>
            <p:txBody>
              <a:bodyPr>
                <a:normAutofit/>
              </a:bodyPr>
              <a:lstStyle/>
              <a:p>
                <a:r>
                  <a:rPr lang="en-US" sz="2400" dirty="0">
                    <a:latin typeface="Times New Roman" panose="02020603050405020304" pitchFamily="18" charset="0"/>
                    <a:cs typeface="Times New Roman" panose="02020603050405020304" pitchFamily="18" charset="0"/>
                  </a:rPr>
                  <a:t>Given the occurrence of one event, how should we update our beliefs about subsequent events?</a:t>
                </a:r>
              </a:p>
              <a:p>
                <a:r>
                  <a:rPr lang="en-US" sz="2400" dirty="0">
                    <a:cs typeface="Times New Roman" panose="02020603050405020304" pitchFamily="18" charset="0"/>
                  </a:rPr>
                  <a:t>Suppose that I don’t know what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𝑃</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3</m:t>
                        </m:r>
                      </m:sub>
                    </m:sSub>
                    <m:r>
                      <a:rPr lang="en-US" sz="2400" b="0" i="1" smtClean="0">
                        <a:latin typeface="Cambria Math" panose="02040503050406030204" pitchFamily="18" charset="0"/>
                        <a:cs typeface="Times New Roman" panose="02020603050405020304" pitchFamily="18" charset="0"/>
                      </a:rPr>
                      <m:t>)</m:t>
                    </m:r>
                  </m:oMath>
                </a14:m>
                <a:r>
                  <a:rPr lang="en-US" sz="2400" dirty="0">
                    <a:latin typeface="Times New Roman" panose="02020603050405020304" pitchFamily="18" charset="0"/>
                    <a:cs typeface="Times New Roman" panose="02020603050405020304" pitchFamily="18" charset="0"/>
                  </a:rPr>
                  <a:t> is, but I think that it is 0.05</a:t>
                </a:r>
              </a:p>
              <a:p>
                <a:pPr lvl="1"/>
                <a:r>
                  <a:rPr lang="en-US" sz="2400" dirty="0">
                    <a:cs typeface="Times New Roman" panose="02020603050405020304" pitchFamily="18" charset="0"/>
                  </a:rPr>
                  <a:t>Then I observe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3</m:t>
                            </m:r>
                          </m:sub>
                        </m:sSub>
                      </m:e>
                    </m:d>
                  </m:oMath>
                </a14:m>
                <a:r>
                  <a:rPr lang="en-US" sz="2400" dirty="0">
                    <a:latin typeface="Times New Roman" panose="02020603050405020304" pitchFamily="18" charset="0"/>
                    <a:cs typeface="Times New Roman" panose="02020603050405020304" pitchFamily="18" charset="0"/>
                  </a:rPr>
                  <a:t> in my household</a:t>
                </a:r>
              </a:p>
              <a:p>
                <a:pPr lvl="1"/>
                <a:r>
                  <a:rPr lang="en-US" sz="2400" dirty="0">
                    <a:cs typeface="Times New Roman" panose="02020603050405020304" pitchFamily="18" charset="0"/>
                  </a:rPr>
                  <a:t>What is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3,</m:t>
                            </m:r>
                            <m:r>
                              <a:rPr lang="en-US" sz="2400" b="0" i="1" smtClean="0">
                                <a:latin typeface="Cambria Math" panose="02040503050406030204" pitchFamily="18" charset="0"/>
                                <a:cs typeface="Times New Roman" panose="02020603050405020304" pitchFamily="18" charset="0"/>
                              </a:rPr>
                              <m:t>𝑀𝐸</m:t>
                            </m:r>
                          </m:sub>
                        </m:sSub>
                      </m:e>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3,</m:t>
                            </m:r>
                            <m:r>
                              <a:rPr lang="en-US" sz="2400" b="0" i="1" smtClean="0">
                                <a:latin typeface="Cambria Math" panose="02040503050406030204" pitchFamily="18" charset="0"/>
                                <a:cs typeface="Times New Roman" panose="02020603050405020304" pitchFamily="18" charset="0"/>
                              </a:rPr>
                              <m:t>𝑌𝑂𝑈</m:t>
                            </m:r>
                          </m:sub>
                        </m:sSub>
                      </m:e>
                    </m:d>
                    <m:r>
                      <a:rPr lang="en-US" sz="2400" b="0" i="1" smtClean="0">
                        <a:latin typeface="Cambria Math" panose="02040503050406030204" pitchFamily="18" charset="0"/>
                        <a:cs typeface="Times New Roman" panose="02020603050405020304" pitchFamily="18" charset="0"/>
                      </a:rPr>
                      <m:t>?</m:t>
                    </m:r>
                  </m:oMath>
                </a14:m>
                <a:endParaRPr lang="en-US" sz="2400" dirty="0">
                  <a:latin typeface="Times New Roman" panose="02020603050405020304" pitchFamily="18" charset="0"/>
                  <a:cs typeface="Times New Roman" panose="02020603050405020304" pitchFamily="18" charset="0"/>
                </a:endParaRPr>
              </a:p>
              <a:p>
                <a:pPr lvl="1"/>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066801"/>
                <a:ext cx="10210800" cy="5141388"/>
              </a:xfrm>
              <a:blipFill>
                <a:blip r:embed="rId3"/>
                <a:stretch>
                  <a:fillRect l="-418" t="-1305"/>
                </a:stretch>
              </a:blipFill>
            </p:spPr>
            <p:txBody>
              <a:bodyPr/>
              <a:lstStyle/>
              <a:p>
                <a:r>
                  <a:rPr lang="en-US">
                    <a:noFill/>
                  </a:rPr>
                  <a:t> </a:t>
                </a:r>
              </a:p>
            </p:txBody>
          </p:sp>
        </mc:Fallback>
      </mc:AlternateContent>
    </p:spTree>
    <p:extLst>
      <p:ext uri="{BB962C8B-B14F-4D97-AF65-F5344CB8AC3E}">
        <p14:creationId xmlns:p14="http://schemas.microsoft.com/office/powerpoint/2010/main" val="203777624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7269480" cy="624840"/>
          </a:xfrm>
        </p:spPr>
        <p:txBody>
          <a:bodyPr>
            <a:normAutofit fontScale="90000"/>
          </a:bodyPr>
          <a:lstStyle/>
          <a:p>
            <a:r>
              <a:rPr lang="en-US" dirty="0">
                <a:latin typeface="Times New Roman" panose="02020603050405020304" pitchFamily="18" charset="0"/>
                <a:cs typeface="Times New Roman" panose="02020603050405020304" pitchFamily="18" charset="0"/>
              </a:rPr>
              <a:t>Bayes’ Rule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066801"/>
                <a:ext cx="10668000" cy="5141388"/>
              </a:xfrm>
            </p:spPr>
            <p:txBody>
              <a:bodyPr>
                <a:normAutofit/>
              </a:bodyPr>
              <a:lstStyle/>
              <a:p>
                <a:r>
                  <a:rPr lang="en-US" sz="2400" dirty="0">
                    <a:latin typeface="Times New Roman" panose="02020603050405020304" pitchFamily="18" charset="0"/>
                    <a:cs typeface="Times New Roman" panose="02020603050405020304" pitchFamily="18" charset="0"/>
                  </a:rPr>
                  <a:t>Given the occurrence of one event, how should we update our beliefs about subsequent events?</a:t>
                </a:r>
              </a:p>
              <a:p>
                <a:r>
                  <a:rPr lang="en-US" sz="2400" dirty="0">
                    <a:cs typeface="Times New Roman" panose="02020603050405020304" pitchFamily="18" charset="0"/>
                  </a:rPr>
                  <a:t>Suppose that I don’t know what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𝑃</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3</m:t>
                        </m:r>
                      </m:sub>
                    </m:sSub>
                    <m:r>
                      <a:rPr lang="en-US" sz="2400" b="0" i="1" smtClean="0">
                        <a:latin typeface="Cambria Math" panose="02040503050406030204" pitchFamily="18" charset="0"/>
                        <a:cs typeface="Times New Roman" panose="02020603050405020304" pitchFamily="18" charset="0"/>
                      </a:rPr>
                      <m:t>)</m:t>
                    </m:r>
                  </m:oMath>
                </a14:m>
                <a:r>
                  <a:rPr lang="en-US" sz="2400" dirty="0">
                    <a:latin typeface="Times New Roman" panose="02020603050405020304" pitchFamily="18" charset="0"/>
                    <a:cs typeface="Times New Roman" panose="02020603050405020304" pitchFamily="18" charset="0"/>
                  </a:rPr>
                  <a:t> is, but I think that it is 0.05</a:t>
                </a:r>
              </a:p>
              <a:p>
                <a:pPr lvl="1"/>
                <a:r>
                  <a:rPr lang="en-US" sz="2400" dirty="0">
                    <a:cs typeface="Times New Roman" panose="02020603050405020304" pitchFamily="18" charset="0"/>
                  </a:rPr>
                  <a:t>Then I observe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3</m:t>
                            </m:r>
                          </m:sub>
                        </m:sSub>
                      </m:e>
                    </m:d>
                  </m:oMath>
                </a14:m>
                <a:r>
                  <a:rPr lang="en-US" sz="2400" dirty="0">
                    <a:latin typeface="Times New Roman" panose="02020603050405020304" pitchFamily="18" charset="0"/>
                    <a:cs typeface="Times New Roman" panose="02020603050405020304" pitchFamily="18" charset="0"/>
                  </a:rPr>
                  <a:t> in my household</a:t>
                </a:r>
              </a:p>
              <a:p>
                <a:pPr lvl="1"/>
                <a:r>
                  <a:rPr lang="en-US" sz="2400" dirty="0">
                    <a:cs typeface="Times New Roman" panose="02020603050405020304" pitchFamily="18" charset="0"/>
                  </a:rPr>
                  <a:t>What is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3,</m:t>
                            </m:r>
                            <m:r>
                              <a:rPr lang="en-US" sz="2400" b="0" i="1" smtClean="0">
                                <a:latin typeface="Cambria Math" panose="02040503050406030204" pitchFamily="18" charset="0"/>
                                <a:cs typeface="Times New Roman" panose="02020603050405020304" pitchFamily="18" charset="0"/>
                              </a:rPr>
                              <m:t>𝑀𝐸</m:t>
                            </m:r>
                          </m:sub>
                        </m:sSub>
                      </m:e>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3,</m:t>
                            </m:r>
                            <m:r>
                              <a:rPr lang="en-US" sz="2400" b="0" i="1" smtClean="0">
                                <a:latin typeface="Cambria Math" panose="02040503050406030204" pitchFamily="18" charset="0"/>
                                <a:cs typeface="Times New Roman" panose="02020603050405020304" pitchFamily="18" charset="0"/>
                              </a:rPr>
                              <m:t>𝑌𝑂𝑈</m:t>
                            </m:r>
                          </m:sub>
                        </m:sSub>
                      </m:e>
                    </m:d>
                    <m:r>
                      <a:rPr lang="en-US" sz="2400" b="0" i="1" smtClean="0">
                        <a:latin typeface="Cambria Math" panose="02040503050406030204" pitchFamily="18" charset="0"/>
                        <a:cs typeface="Times New Roman" panose="02020603050405020304" pitchFamily="18" charset="0"/>
                      </a:rPr>
                      <m:t>?</m:t>
                    </m:r>
                  </m:oMath>
                </a14:m>
                <a:endParaRPr lang="en-US" sz="2400" dirty="0">
                  <a:latin typeface="Times New Roman" panose="02020603050405020304" pitchFamily="18" charset="0"/>
                  <a:cs typeface="Times New Roman" panose="02020603050405020304" pitchFamily="18" charset="0"/>
                </a:endParaRPr>
              </a:p>
              <a:p>
                <a:pPr marL="274320" lvl="1" indent="0">
                  <a:buNone/>
                </a:pPr>
                <a:endParaRPr lang="en-US" sz="2400" b="0" i="1" dirty="0">
                  <a:latin typeface="Cambria Math" panose="02040503050406030204" pitchFamily="18" charset="0"/>
                  <a:cs typeface="Times New Roman" panose="02020603050405020304" pitchFamily="18" charset="0"/>
                </a:endParaRPr>
              </a:p>
              <a:p>
                <a:r>
                  <a:rPr lang="en-US" sz="2400" b="1" dirty="0">
                    <a:latin typeface="Cambria Math" panose="02040503050406030204" pitchFamily="18" charset="0"/>
                    <a:cs typeface="Times New Roman" panose="02020603050405020304" pitchFamily="18" charset="0"/>
                  </a:rPr>
                  <a:t>Bayes’ Rule </a:t>
                </a:r>
                <a:r>
                  <a:rPr lang="en-US" sz="2400" dirty="0">
                    <a:latin typeface="Cambria Math" panose="02040503050406030204" pitchFamily="18" charset="0"/>
                    <a:cs typeface="Times New Roman" panose="02020603050405020304" pitchFamily="18" charset="0"/>
                  </a:rPr>
                  <a:t>relates conditional probabilities based on observed events: </a:t>
                </a:r>
              </a:p>
              <a:p>
                <a:pPr marL="0" indent="0">
                  <a:buNone/>
                </a:pPr>
                <a:endParaRPr lang="en-US" sz="2400" b="1" dirty="0">
                  <a:latin typeface="Cambria Math" panose="02040503050406030204" pitchFamily="18" charset="0"/>
                  <a:cs typeface="Times New Roman" panose="02020603050405020304" pitchFamily="18" charset="0"/>
                </a:endParaRPr>
              </a:p>
              <a:p>
                <a:pPr marL="274320" lvl="1" indent="0">
                  <a:buNone/>
                </a:pPr>
                <a14:m>
                  <m:oMathPara xmlns:m="http://schemas.openxmlformats.org/officeDocument/2006/math">
                    <m:oMath>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𝐴</m:t>
                          </m:r>
                        </m:e>
                        <m:e>
                          <m:r>
                            <a:rPr lang="en-US" sz="2400" b="0" i="1" smtClean="0">
                              <a:latin typeface="Cambria Math" panose="02040503050406030204" pitchFamily="18" charset="0"/>
                              <a:cs typeface="Times New Roman" panose="02020603050405020304" pitchFamily="18" charset="0"/>
                            </a:rPr>
                            <m:t>𝐵</m:t>
                          </m:r>
                        </m:e>
                      </m:d>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𝐵</m:t>
                              </m:r>
                            </m:e>
                            <m:e>
                              <m:r>
                                <a:rPr lang="en-US" sz="2400" b="0" i="1" smtClean="0">
                                  <a:latin typeface="Cambria Math" panose="02040503050406030204" pitchFamily="18" charset="0"/>
                                  <a:cs typeface="Times New Roman" panose="02020603050405020304" pitchFamily="18" charset="0"/>
                                </a:rPr>
                                <m:t>𝐴</m:t>
                              </m:r>
                            </m:e>
                          </m:d>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𝐴</m:t>
                              </m:r>
                            </m:e>
                          </m:d>
                        </m:num>
                        <m:den>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𝐵</m:t>
                              </m:r>
                            </m:e>
                          </m:d>
                        </m:den>
                      </m:f>
                    </m:oMath>
                  </m:oMathPara>
                </a14:m>
                <a:endParaRPr lang="en-US" sz="2400" b="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066801"/>
                <a:ext cx="10668000" cy="5141388"/>
              </a:xfrm>
              <a:blipFill>
                <a:blip r:embed="rId2"/>
                <a:stretch>
                  <a:fillRect l="-400" t="-1305"/>
                </a:stretch>
              </a:blipFill>
            </p:spPr>
            <p:txBody>
              <a:bodyPr/>
              <a:lstStyle/>
              <a:p>
                <a:r>
                  <a:rPr lang="en-US">
                    <a:noFill/>
                  </a:rPr>
                  <a:t> </a:t>
                </a:r>
              </a:p>
            </p:txBody>
          </p:sp>
        </mc:Fallback>
      </mc:AlternateContent>
    </p:spTree>
    <p:extLst>
      <p:ext uri="{BB962C8B-B14F-4D97-AF65-F5344CB8AC3E}">
        <p14:creationId xmlns:p14="http://schemas.microsoft.com/office/powerpoint/2010/main" val="61089418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7269480" cy="624840"/>
          </a:xfrm>
        </p:spPr>
        <p:txBody>
          <a:bodyPr>
            <a:normAutofit fontScale="90000"/>
          </a:bodyPr>
          <a:lstStyle/>
          <a:p>
            <a:r>
              <a:rPr lang="en-US" dirty="0">
                <a:latin typeface="Times New Roman" panose="02020603050405020304" pitchFamily="18" charset="0"/>
                <a:cs typeface="Times New Roman" panose="02020603050405020304" pitchFamily="18" charset="0"/>
              </a:rPr>
              <a:t>Bayes’ Rule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066801"/>
                <a:ext cx="10439400" cy="5141388"/>
              </a:xfrm>
            </p:spPr>
            <p:txBody>
              <a:bodyPr>
                <a:normAutofit/>
              </a:bodyPr>
              <a:lstStyle/>
              <a:p>
                <a:r>
                  <a:rPr lang="en-US" sz="2400" dirty="0">
                    <a:latin typeface="Times New Roman" panose="02020603050405020304" pitchFamily="18" charset="0"/>
                    <a:cs typeface="Times New Roman" panose="02020603050405020304" pitchFamily="18" charset="0"/>
                  </a:rPr>
                  <a:t>Given the occurrence of one event, how should we update our beliefs about subsequent events</a:t>
                </a:r>
              </a:p>
              <a:p>
                <a:r>
                  <a:rPr lang="en-US" sz="2400" dirty="0">
                    <a:cs typeface="Times New Roman" panose="02020603050405020304" pitchFamily="18" charset="0"/>
                  </a:rPr>
                  <a:t>Suppose that I don’t know what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𝑃</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3</m:t>
                        </m:r>
                      </m:sub>
                    </m:sSub>
                    <m:r>
                      <a:rPr lang="en-US" sz="2400" b="0" i="1" smtClean="0">
                        <a:latin typeface="Cambria Math" panose="02040503050406030204" pitchFamily="18" charset="0"/>
                        <a:cs typeface="Times New Roman" panose="02020603050405020304" pitchFamily="18" charset="0"/>
                      </a:rPr>
                      <m:t>)</m:t>
                    </m:r>
                  </m:oMath>
                </a14:m>
                <a:r>
                  <a:rPr lang="en-US" sz="2400" dirty="0">
                    <a:latin typeface="Times New Roman" panose="02020603050405020304" pitchFamily="18" charset="0"/>
                    <a:cs typeface="Times New Roman" panose="02020603050405020304" pitchFamily="18" charset="0"/>
                  </a:rPr>
                  <a:t> is, but I think that it is 0.05</a:t>
                </a:r>
              </a:p>
              <a:p>
                <a:pPr lvl="1"/>
                <a:r>
                  <a:rPr lang="en-US" sz="2400" dirty="0">
                    <a:cs typeface="Times New Roman" panose="02020603050405020304" pitchFamily="18" charset="0"/>
                  </a:rPr>
                  <a:t>Then I observe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3</m:t>
                            </m:r>
                          </m:sub>
                        </m:sSub>
                      </m:e>
                    </m:d>
                  </m:oMath>
                </a14:m>
                <a:r>
                  <a:rPr lang="en-US" sz="2400" dirty="0">
                    <a:latin typeface="Times New Roman" panose="02020603050405020304" pitchFamily="18" charset="0"/>
                    <a:cs typeface="Times New Roman" panose="02020603050405020304" pitchFamily="18" charset="0"/>
                  </a:rPr>
                  <a:t> in my household</a:t>
                </a:r>
              </a:p>
              <a:p>
                <a:pPr lvl="1"/>
                <a:r>
                  <a:rPr lang="en-US" sz="2400" dirty="0">
                    <a:cs typeface="Times New Roman" panose="02020603050405020304" pitchFamily="18" charset="0"/>
                  </a:rPr>
                  <a:t>What is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3,</m:t>
                            </m:r>
                            <m:r>
                              <a:rPr lang="en-US" sz="2400" b="0" i="1" smtClean="0">
                                <a:latin typeface="Cambria Math" panose="02040503050406030204" pitchFamily="18" charset="0"/>
                                <a:cs typeface="Times New Roman" panose="02020603050405020304" pitchFamily="18" charset="0"/>
                              </a:rPr>
                              <m:t>𝑀𝐸</m:t>
                            </m:r>
                          </m:sub>
                        </m:sSub>
                      </m:e>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3,</m:t>
                            </m:r>
                            <m:r>
                              <a:rPr lang="en-US" sz="2400" b="0" i="1" smtClean="0">
                                <a:latin typeface="Cambria Math" panose="02040503050406030204" pitchFamily="18" charset="0"/>
                                <a:cs typeface="Times New Roman" panose="02020603050405020304" pitchFamily="18" charset="0"/>
                              </a:rPr>
                              <m:t>𝑌𝑂𝑈</m:t>
                            </m:r>
                          </m:sub>
                        </m:sSub>
                      </m:e>
                    </m:d>
                    <m:r>
                      <a:rPr lang="en-US" sz="2400" b="0" i="1" smtClean="0">
                        <a:latin typeface="Cambria Math" panose="02040503050406030204" pitchFamily="18" charset="0"/>
                        <a:cs typeface="Times New Roman" panose="02020603050405020304" pitchFamily="18" charset="0"/>
                      </a:rPr>
                      <m:t>?</m:t>
                    </m:r>
                  </m:oMath>
                </a14:m>
                <a:endParaRPr lang="en-US" sz="2400" dirty="0">
                  <a:latin typeface="Times New Roman" panose="02020603050405020304" pitchFamily="18" charset="0"/>
                  <a:cs typeface="Times New Roman" panose="02020603050405020304" pitchFamily="18" charset="0"/>
                </a:endParaRPr>
              </a:p>
              <a:p>
                <a:pPr marL="274320" lvl="1" indent="0">
                  <a:buNone/>
                </a:pPr>
                <a:endParaRPr lang="en-US" sz="2400" b="0" i="1" dirty="0">
                  <a:latin typeface="Cambria Math" panose="02040503050406030204" pitchFamily="18" charset="0"/>
                  <a:cs typeface="Times New Roman" panose="02020603050405020304" pitchFamily="18" charset="0"/>
                </a:endParaRPr>
              </a:p>
              <a:p>
                <a:r>
                  <a:rPr lang="en-US" sz="2400" b="1" dirty="0">
                    <a:latin typeface="Cambria Math" panose="02040503050406030204" pitchFamily="18" charset="0"/>
                    <a:cs typeface="Times New Roman" panose="02020603050405020304" pitchFamily="18" charset="0"/>
                  </a:rPr>
                  <a:t>Bayes’ Rule </a:t>
                </a:r>
                <a:r>
                  <a:rPr lang="en-US" sz="2400" dirty="0">
                    <a:latin typeface="Cambria Math" panose="02040503050406030204" pitchFamily="18" charset="0"/>
                    <a:cs typeface="Times New Roman" panose="02020603050405020304" pitchFamily="18" charset="0"/>
                  </a:rPr>
                  <a:t>relates conditional probabilities based on observed events: </a:t>
                </a:r>
              </a:p>
              <a:p>
                <a:pPr marL="0" indent="0">
                  <a:buNone/>
                </a:pPr>
                <a:endParaRPr lang="en-US" sz="2400" b="1" dirty="0">
                  <a:latin typeface="Cambria Math" panose="02040503050406030204" pitchFamily="18" charset="0"/>
                  <a:cs typeface="Times New Roman" panose="02020603050405020304" pitchFamily="18" charset="0"/>
                </a:endParaRPr>
              </a:p>
              <a:p>
                <a:pPr marL="274320" lvl="1" indent="0">
                  <a:buNone/>
                </a:pPr>
                <a14:m>
                  <m:oMathPara xmlns:m="http://schemas.openxmlformats.org/officeDocument/2006/math">
                    <m:oMath>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𝐴</m:t>
                          </m:r>
                        </m:e>
                        <m:e>
                          <m:r>
                            <a:rPr lang="en-US" sz="2400" b="0" i="1" smtClean="0">
                              <a:latin typeface="Cambria Math" panose="02040503050406030204" pitchFamily="18" charset="0"/>
                              <a:cs typeface="Times New Roman" panose="02020603050405020304" pitchFamily="18" charset="0"/>
                            </a:rPr>
                            <m:t>𝐵</m:t>
                          </m:r>
                        </m:e>
                      </m:d>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𝐵</m:t>
                              </m:r>
                            </m:e>
                            <m:e>
                              <m:r>
                                <a:rPr lang="en-US" sz="2400" b="0" i="1" smtClean="0">
                                  <a:latin typeface="Cambria Math" panose="02040503050406030204" pitchFamily="18" charset="0"/>
                                  <a:cs typeface="Times New Roman" panose="02020603050405020304" pitchFamily="18" charset="0"/>
                                </a:rPr>
                                <m:t>𝐴</m:t>
                              </m:r>
                            </m:e>
                          </m:d>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𝐴</m:t>
                              </m:r>
                            </m:e>
                          </m:d>
                        </m:num>
                        <m:den>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𝐵</m:t>
                              </m:r>
                            </m:e>
                          </m:d>
                        </m:den>
                      </m:f>
                    </m:oMath>
                  </m:oMathPara>
                </a14:m>
                <a:endParaRPr lang="en-US" sz="2400" b="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066801"/>
                <a:ext cx="10439400" cy="5141388"/>
              </a:xfrm>
              <a:blipFill>
                <a:blip r:embed="rId3"/>
                <a:stretch>
                  <a:fillRect l="-409" t="-1305"/>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8D1350E5-65C3-4BB5-A8DF-98BFA58DD7A6}"/>
              </a:ext>
            </a:extLst>
          </p:cNvPr>
          <p:cNvSpPr txBox="1"/>
          <p:nvPr/>
        </p:nvSpPr>
        <p:spPr>
          <a:xfrm flipH="1">
            <a:off x="2438400" y="4724400"/>
            <a:ext cx="1828800" cy="461665"/>
          </a:xfrm>
          <a:prstGeom prst="rect">
            <a:avLst/>
          </a:prstGeom>
          <a:noFill/>
        </p:spPr>
        <p:txBody>
          <a:bodyPr wrap="square" rtlCol="0">
            <a:spAutoFit/>
          </a:bodyPr>
          <a:lstStyle/>
          <a:p>
            <a:r>
              <a:rPr lang="en-US" sz="2400" b="1" dirty="0">
                <a:solidFill>
                  <a:srgbClr val="0070C0"/>
                </a:solidFill>
              </a:rPr>
              <a:t>Posterior</a:t>
            </a:r>
          </a:p>
        </p:txBody>
      </p:sp>
      <p:sp>
        <p:nvSpPr>
          <p:cNvPr id="5" name="TextBox 4">
            <a:extLst>
              <a:ext uri="{FF2B5EF4-FFF2-40B4-BE49-F238E27FC236}">
                <a16:creationId xmlns:a16="http://schemas.microsoft.com/office/drawing/2014/main" id="{F388C5C4-6393-422B-BD42-04501FA178A1}"/>
              </a:ext>
            </a:extLst>
          </p:cNvPr>
          <p:cNvSpPr txBox="1"/>
          <p:nvPr/>
        </p:nvSpPr>
        <p:spPr>
          <a:xfrm flipH="1">
            <a:off x="5105400" y="5955268"/>
            <a:ext cx="2286000" cy="461665"/>
          </a:xfrm>
          <a:prstGeom prst="rect">
            <a:avLst/>
          </a:prstGeom>
          <a:noFill/>
        </p:spPr>
        <p:txBody>
          <a:bodyPr wrap="square" rtlCol="0">
            <a:spAutoFit/>
          </a:bodyPr>
          <a:lstStyle/>
          <a:p>
            <a:r>
              <a:rPr lang="en-US" sz="2400" b="1" dirty="0">
                <a:solidFill>
                  <a:srgbClr val="0070C0"/>
                </a:solidFill>
              </a:rPr>
              <a:t>Likelihood</a:t>
            </a:r>
          </a:p>
        </p:txBody>
      </p:sp>
      <p:sp>
        <p:nvSpPr>
          <p:cNvPr id="6" name="TextBox 5">
            <a:extLst>
              <a:ext uri="{FF2B5EF4-FFF2-40B4-BE49-F238E27FC236}">
                <a16:creationId xmlns:a16="http://schemas.microsoft.com/office/drawing/2014/main" id="{D00012C3-3DBA-4524-A5AE-F8C5C14B16BE}"/>
              </a:ext>
            </a:extLst>
          </p:cNvPr>
          <p:cNvSpPr txBox="1"/>
          <p:nvPr/>
        </p:nvSpPr>
        <p:spPr>
          <a:xfrm flipH="1">
            <a:off x="8305800" y="4431268"/>
            <a:ext cx="1828800" cy="461665"/>
          </a:xfrm>
          <a:prstGeom prst="rect">
            <a:avLst/>
          </a:prstGeom>
          <a:noFill/>
        </p:spPr>
        <p:txBody>
          <a:bodyPr wrap="square" rtlCol="0">
            <a:spAutoFit/>
          </a:bodyPr>
          <a:lstStyle/>
          <a:p>
            <a:r>
              <a:rPr lang="en-US" sz="2400" b="1" dirty="0">
                <a:solidFill>
                  <a:srgbClr val="0070C0"/>
                </a:solidFill>
              </a:rPr>
              <a:t>Prior</a:t>
            </a:r>
          </a:p>
        </p:txBody>
      </p:sp>
      <p:cxnSp>
        <p:nvCxnSpPr>
          <p:cNvPr id="8" name="Straight Arrow Connector 7">
            <a:extLst>
              <a:ext uri="{FF2B5EF4-FFF2-40B4-BE49-F238E27FC236}">
                <a16:creationId xmlns:a16="http://schemas.microsoft.com/office/drawing/2014/main" id="{232E8C75-23D3-48A2-8A8A-3E791E41785A}"/>
              </a:ext>
            </a:extLst>
          </p:cNvPr>
          <p:cNvCxnSpPr>
            <a:cxnSpLocks/>
          </p:cNvCxnSpPr>
          <p:nvPr/>
        </p:nvCxnSpPr>
        <p:spPr>
          <a:xfrm>
            <a:off x="3733800" y="5181600"/>
            <a:ext cx="685800"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425EBBAB-8C89-4208-BD6D-A7979D8599B6}"/>
              </a:ext>
            </a:extLst>
          </p:cNvPr>
          <p:cNvCxnSpPr>
            <a:cxnSpLocks/>
          </p:cNvCxnSpPr>
          <p:nvPr/>
        </p:nvCxnSpPr>
        <p:spPr>
          <a:xfrm flipV="1">
            <a:off x="5932581" y="5449802"/>
            <a:ext cx="315819" cy="505466"/>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26CC2C0-2BC4-4C80-BEDA-390C2A04E569}"/>
              </a:ext>
            </a:extLst>
          </p:cNvPr>
          <p:cNvCxnSpPr>
            <a:cxnSpLocks/>
            <a:stCxn id="6" idx="3"/>
          </p:cNvCxnSpPr>
          <p:nvPr/>
        </p:nvCxnSpPr>
        <p:spPr>
          <a:xfrm flipH="1">
            <a:off x="7531959" y="4662101"/>
            <a:ext cx="773841" cy="73967"/>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144247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7269480" cy="624840"/>
          </a:xfrm>
        </p:spPr>
        <p:txBody>
          <a:bodyPr>
            <a:normAutofit fontScale="90000"/>
          </a:bodyPr>
          <a:lstStyle/>
          <a:p>
            <a:r>
              <a:rPr lang="en-US" dirty="0">
                <a:latin typeface="Times New Roman" panose="02020603050405020304" pitchFamily="18" charset="0"/>
                <a:cs typeface="Times New Roman" panose="02020603050405020304" pitchFamily="18" charset="0"/>
              </a:rPr>
              <a:t>Bayes’ Rule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066801"/>
                <a:ext cx="10515600" cy="5141388"/>
              </a:xfrm>
            </p:spPr>
            <p:txBody>
              <a:bodyPr>
                <a:noAutofit/>
              </a:bodyPr>
              <a:lstStyle/>
              <a:p>
                <a:r>
                  <a:rPr lang="en-US" sz="2400" dirty="0">
                    <a:latin typeface="Times New Roman" panose="02020603050405020304" pitchFamily="18" charset="0"/>
                    <a:cs typeface="Times New Roman" panose="02020603050405020304" pitchFamily="18" charset="0"/>
                  </a:rPr>
                  <a:t>How should we update our beliefs about subsequent events?</a:t>
                </a:r>
              </a:p>
              <a:p>
                <a:r>
                  <a:rPr lang="en-US" sz="2400" dirty="0">
                    <a:cs typeface="Times New Roman" panose="02020603050405020304" pitchFamily="18" charset="0"/>
                  </a:rPr>
                  <a:t>Suppose that I don’t know what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𝑃</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3</m:t>
                        </m:r>
                      </m:sub>
                    </m:sSub>
                    <m:r>
                      <a:rPr lang="en-US" sz="2400" b="0" i="1" smtClean="0">
                        <a:latin typeface="Cambria Math" panose="02040503050406030204" pitchFamily="18" charset="0"/>
                        <a:cs typeface="Times New Roman" panose="02020603050405020304" pitchFamily="18" charset="0"/>
                      </a:rPr>
                      <m:t>)</m:t>
                    </m:r>
                  </m:oMath>
                </a14:m>
                <a:r>
                  <a:rPr lang="en-US" sz="2400" dirty="0">
                    <a:latin typeface="Times New Roman" panose="02020603050405020304" pitchFamily="18" charset="0"/>
                    <a:cs typeface="Times New Roman" panose="02020603050405020304" pitchFamily="18" charset="0"/>
                  </a:rPr>
                  <a:t> is, but I think that it is 0.05</a:t>
                </a:r>
              </a:p>
              <a:p>
                <a:pPr lvl="1"/>
                <a:r>
                  <a:rPr lang="en-US" sz="2400" dirty="0">
                    <a:cs typeface="Times New Roman" panose="02020603050405020304" pitchFamily="18" charset="0"/>
                  </a:rPr>
                  <a:t>Then I observe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3</m:t>
                            </m:r>
                          </m:sub>
                        </m:sSub>
                      </m:e>
                    </m:d>
                  </m:oMath>
                </a14:m>
                <a:r>
                  <a:rPr lang="en-US" sz="2400" dirty="0">
                    <a:latin typeface="Times New Roman" panose="02020603050405020304" pitchFamily="18" charset="0"/>
                    <a:cs typeface="Times New Roman" panose="02020603050405020304" pitchFamily="18" charset="0"/>
                  </a:rPr>
                  <a:t> in my household</a:t>
                </a:r>
              </a:p>
              <a:p>
                <a:pPr lvl="1"/>
                <a:r>
                  <a:rPr lang="en-US" sz="2400" dirty="0">
                    <a:cs typeface="Times New Roman" panose="02020603050405020304" pitchFamily="18" charset="0"/>
                  </a:rPr>
                  <a:t>What is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3,</m:t>
                            </m:r>
                            <m:r>
                              <a:rPr lang="en-US" sz="2400" b="0" i="1" smtClean="0">
                                <a:latin typeface="Cambria Math" panose="02040503050406030204" pitchFamily="18" charset="0"/>
                                <a:cs typeface="Times New Roman" panose="02020603050405020304" pitchFamily="18" charset="0"/>
                              </a:rPr>
                              <m:t>𝑀𝐸</m:t>
                            </m:r>
                          </m:sub>
                        </m:sSub>
                      </m:e>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3,</m:t>
                            </m:r>
                            <m:r>
                              <a:rPr lang="en-US" sz="2400" b="0" i="1" smtClean="0">
                                <a:latin typeface="Cambria Math" panose="02040503050406030204" pitchFamily="18" charset="0"/>
                                <a:cs typeface="Times New Roman" panose="02020603050405020304" pitchFamily="18" charset="0"/>
                              </a:rPr>
                              <m:t>𝑌𝑂𝑈</m:t>
                            </m:r>
                          </m:sub>
                        </m:sSub>
                      </m:e>
                    </m:d>
                    <m:r>
                      <a:rPr lang="en-US" sz="2400" b="0" i="1" smtClean="0">
                        <a:latin typeface="Cambria Math" panose="02040503050406030204" pitchFamily="18" charset="0"/>
                        <a:cs typeface="Times New Roman" panose="02020603050405020304" pitchFamily="18" charset="0"/>
                      </a:rPr>
                      <m:t>?</m:t>
                    </m:r>
                  </m:oMath>
                </a14:m>
                <a:endParaRPr lang="en-US" sz="2400" b="0" i="1" dirty="0">
                  <a:latin typeface="Cambria Math" panose="02040503050406030204" pitchFamily="18" charset="0"/>
                  <a:cs typeface="Times New Roman" panose="02020603050405020304" pitchFamily="18" charset="0"/>
                </a:endParaRPr>
              </a:p>
              <a:p>
                <a:r>
                  <a:rPr lang="en-US" sz="2400" b="1" dirty="0">
                    <a:latin typeface="Cambria Math" panose="02040503050406030204" pitchFamily="18" charset="0"/>
                    <a:cs typeface="Times New Roman" panose="02020603050405020304" pitchFamily="18" charset="0"/>
                  </a:rPr>
                  <a:t>Bayes’ Rule </a:t>
                </a:r>
                <a:r>
                  <a:rPr lang="en-US" sz="2400" dirty="0">
                    <a:latin typeface="Cambria Math" panose="02040503050406030204" pitchFamily="18" charset="0"/>
                    <a:cs typeface="Times New Roman" panose="02020603050405020304" pitchFamily="18" charset="0"/>
                  </a:rPr>
                  <a:t>relates conditional probabilities based on observed events: </a:t>
                </a:r>
              </a:p>
              <a:p>
                <a:endParaRPr lang="en-US" sz="500" b="1" dirty="0">
                  <a:latin typeface="Cambria Math" panose="02040503050406030204" pitchFamily="18" charset="0"/>
                  <a:cs typeface="Times New Roman" panose="02020603050405020304" pitchFamily="18" charset="0"/>
                </a:endParaRPr>
              </a:p>
              <a:p>
                <a:pPr marL="274320" lvl="1" indent="0">
                  <a:buNone/>
                </a:pPr>
                <a14:m>
                  <m:oMathPara xmlns:m="http://schemas.openxmlformats.org/officeDocument/2006/math">
                    <m:oMath>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𝐴</m:t>
                          </m:r>
                        </m:e>
                        <m:e>
                          <m:r>
                            <a:rPr lang="en-US" sz="2400" b="0" i="1" smtClean="0">
                              <a:latin typeface="Cambria Math" panose="02040503050406030204" pitchFamily="18" charset="0"/>
                              <a:cs typeface="Times New Roman" panose="02020603050405020304" pitchFamily="18" charset="0"/>
                            </a:rPr>
                            <m:t>𝐵</m:t>
                          </m:r>
                        </m:e>
                      </m:d>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𝐵</m:t>
                              </m:r>
                            </m:e>
                            <m:e>
                              <m:r>
                                <a:rPr lang="en-US" sz="2400" b="0" i="1" smtClean="0">
                                  <a:latin typeface="Cambria Math" panose="02040503050406030204" pitchFamily="18" charset="0"/>
                                  <a:cs typeface="Times New Roman" panose="02020603050405020304" pitchFamily="18" charset="0"/>
                                </a:rPr>
                                <m:t>𝐴</m:t>
                              </m:r>
                            </m:e>
                          </m:d>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𝐴</m:t>
                              </m:r>
                            </m:e>
                          </m:d>
                        </m:num>
                        <m:den>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𝐵</m:t>
                              </m:r>
                            </m:e>
                          </m:d>
                        </m:den>
                      </m:f>
                    </m:oMath>
                  </m:oMathPara>
                </a14:m>
                <a:endParaRPr lang="en-US" sz="2400" b="0" dirty="0">
                  <a:cs typeface="Times New Roman" panose="02020603050405020304" pitchFamily="18" charset="0"/>
                </a:endParaRPr>
              </a:p>
              <a:p>
                <a:r>
                  <a:rPr lang="en-US" sz="2400" dirty="0">
                    <a:cs typeface="Times New Roman" panose="02020603050405020304" pitchFamily="18" charset="0"/>
                  </a:rPr>
                  <a:t>If I am “learning” about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𝑃</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3</m:t>
                        </m:r>
                      </m:sub>
                    </m:sSub>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by observing health states in my family:</a:t>
                </a:r>
              </a:p>
              <a:p>
                <a14:m>
                  <m:oMath xmlns:m="http://schemas.openxmlformats.org/officeDocument/2006/math">
                    <m:r>
                      <a:rPr lang="en-US" sz="2400" i="1">
                        <a:latin typeface="Cambria Math" panose="02040503050406030204" pitchFamily="18" charset="0"/>
                        <a:cs typeface="Times New Roman" panose="02020603050405020304" pitchFamily="18" charset="0"/>
                      </a:rPr>
                      <m:t>𝑃</m:t>
                    </m:r>
                    <m:d>
                      <m:dPr>
                        <m:ctrlPr>
                          <a:rPr lang="en-US" sz="2400" i="1">
                            <a:latin typeface="Cambria Math" panose="02040503050406030204" pitchFamily="18" charset="0"/>
                            <a:cs typeface="Times New Roman" panose="02020603050405020304" pitchFamily="18" charset="0"/>
                          </a:rPr>
                        </m:ctrlPr>
                      </m:dPr>
                      <m:e>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𝑥</m:t>
                            </m:r>
                          </m:e>
                          <m:sub>
                            <m:r>
                              <a:rPr lang="en-US" sz="2400" i="1">
                                <a:latin typeface="Cambria Math" panose="02040503050406030204" pitchFamily="18" charset="0"/>
                                <a:cs typeface="Times New Roman" panose="02020603050405020304" pitchFamily="18" charset="0"/>
                              </a:rPr>
                              <m:t>3,</m:t>
                            </m:r>
                            <m:r>
                              <a:rPr lang="en-US" sz="2400" i="1">
                                <a:latin typeface="Cambria Math" panose="02040503050406030204" pitchFamily="18" charset="0"/>
                                <a:cs typeface="Times New Roman" panose="02020603050405020304" pitchFamily="18" charset="0"/>
                              </a:rPr>
                              <m:t>𝑀𝐸</m:t>
                            </m:r>
                          </m:sub>
                        </m:sSub>
                      </m:e>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𝑌𝑂𝑈</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e>
                    </m:d>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𝑌𝑂𝑈</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d>
                              <m:dPr>
                                <m:begChr m:val="|"/>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𝑀𝐸</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3</m:t>
                                    </m:r>
                                  </m:sub>
                                </m:sSub>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𝑃</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𝑀𝐸</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3</m:t>
                                </m:r>
                              </m:sub>
                            </m:sSub>
                          </m:e>
                        </m:d>
                      </m:num>
                      <m:den>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𝑌𝑂𝑈</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e>
                        </m:d>
                      </m:den>
                    </m:f>
                  </m:oMath>
                </a14:m>
                <a:endParaRPr lang="en-US" sz="2400" b="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066801"/>
                <a:ext cx="10515600" cy="5141388"/>
              </a:xfrm>
              <a:blipFill>
                <a:blip r:embed="rId3"/>
                <a:stretch>
                  <a:fillRect l="-406" t="-1305"/>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349D2183-2730-4CF8-9463-346EEA041A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1200" y="518160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315918"/>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View</Template>
  <TotalTime>1734</TotalTime>
  <Words>7628</Words>
  <Application>Microsoft Office PowerPoint</Application>
  <PresentationFormat>Widescreen</PresentationFormat>
  <Paragraphs>851</Paragraphs>
  <Slides>89</Slides>
  <Notes>81</Notes>
  <HiddenSlides>20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89</vt:i4>
      </vt:variant>
    </vt:vector>
  </HeadingPairs>
  <TitlesOfParts>
    <vt:vector size="100" baseType="lpstr">
      <vt:lpstr>Aptos</vt:lpstr>
      <vt:lpstr>Arial</vt:lpstr>
      <vt:lpstr>Calibri</vt:lpstr>
      <vt:lpstr>Cambria Math</vt:lpstr>
      <vt:lpstr>Century Schoolbook</vt:lpstr>
      <vt:lpstr>Georgia</vt:lpstr>
      <vt:lpstr>Open Sans</vt:lpstr>
      <vt:lpstr>Symbol</vt:lpstr>
      <vt:lpstr>Times New Roman</vt:lpstr>
      <vt:lpstr>Wingdings 2</vt:lpstr>
      <vt:lpstr>View</vt:lpstr>
      <vt:lpstr>Quantitative Methods for HSR I </vt:lpstr>
      <vt:lpstr>Last time:</vt:lpstr>
      <vt:lpstr>Last time:</vt:lpstr>
      <vt:lpstr>Prelude: Some Coding Organization</vt:lpstr>
      <vt:lpstr>Comments are your Friend!</vt:lpstr>
      <vt:lpstr>Assignment 0: Review and Questions</vt:lpstr>
      <vt:lpstr>Probability/Math Review</vt:lpstr>
      <vt:lpstr>Probability Review</vt:lpstr>
      <vt:lpstr>Probability Review</vt:lpstr>
      <vt:lpstr>Joint and Conditional Probabilities</vt:lpstr>
      <vt:lpstr>Joint and Conditional Probabilities</vt:lpstr>
      <vt:lpstr>Joint and Conditional Probabilities</vt:lpstr>
      <vt:lpstr>Expectations of Random Variables</vt:lpstr>
      <vt:lpstr>Expectations of Random Variables</vt:lpstr>
      <vt:lpstr>Variance of Random Variables</vt:lpstr>
      <vt:lpstr>Variance of Random Variables</vt:lpstr>
      <vt:lpstr>Regression</vt:lpstr>
      <vt:lpstr>Population Model </vt:lpstr>
      <vt:lpstr>Population Model </vt:lpstr>
      <vt:lpstr>Population Model </vt:lpstr>
      <vt:lpstr>Population Model </vt:lpstr>
      <vt:lpstr>Population Model </vt:lpstr>
      <vt:lpstr>Population Model </vt:lpstr>
      <vt:lpstr>Population Model </vt:lpstr>
      <vt:lpstr>Population Model</vt:lpstr>
      <vt:lpstr>Population Model: Assumptions</vt:lpstr>
      <vt:lpstr>Population Model: Assumptions</vt:lpstr>
      <vt:lpstr>Population Model: Assumptions</vt:lpstr>
      <vt:lpstr>Population Model: Assumptions</vt:lpstr>
      <vt:lpstr>Estimating a Regression: Intuition</vt:lpstr>
      <vt:lpstr>Estimating a Regression: Intuition</vt:lpstr>
      <vt:lpstr>Ordinary Least Squares (OLS) </vt:lpstr>
      <vt:lpstr>Interpreting the Results</vt:lpstr>
      <vt:lpstr>Interpreting the Results</vt:lpstr>
      <vt:lpstr>Interpreting the Results: Conditional Expected Mean</vt:lpstr>
      <vt:lpstr>Goodness of Fit</vt:lpstr>
      <vt:lpstr>Goodness of Fit</vt:lpstr>
      <vt:lpstr>Goodness of Fit</vt:lpstr>
      <vt:lpstr>Goodness of Fit</vt:lpstr>
      <vt:lpstr>Goodness of Fit</vt:lpstr>
      <vt:lpstr>Where does univariate regression fit?</vt:lpstr>
      <vt:lpstr>Univariate regressions are simple – are they too simple?</vt:lpstr>
      <vt:lpstr>Univariate regressions are simple – are they too simple?</vt:lpstr>
      <vt:lpstr>Descriptive Statistics are Your Friend!</vt:lpstr>
      <vt:lpstr>Descriptive Statistics are Your Friend!</vt:lpstr>
      <vt:lpstr>Descriptive Statistics are Your Friend!</vt:lpstr>
      <vt:lpstr>Descriptive Statistics are Your Friend!</vt:lpstr>
      <vt:lpstr>Descriptive Statistics are Your Friend!</vt:lpstr>
      <vt:lpstr>Descriptive Statistics are Your Friend!</vt:lpstr>
      <vt:lpstr>Descriptive Statistics are Your Friend!</vt:lpstr>
      <vt:lpstr>Descriptive Statistics are Your Friend!</vt:lpstr>
      <vt:lpstr>Descriptive Statistics are Your Friend!</vt:lpstr>
      <vt:lpstr>Descriptive Statistics are Your Friend!</vt:lpstr>
      <vt:lpstr>Univariate regressions are simple – are they too simple?</vt:lpstr>
      <vt:lpstr>Univariate regressions are simple – are they too simple?</vt:lpstr>
      <vt:lpstr>Univariate regressions are simple – are they too simple?</vt:lpstr>
      <vt:lpstr>Unbiasedness: Estimating Causal POI</vt:lpstr>
      <vt:lpstr>Unbiasedness: Estimating Causal POI</vt:lpstr>
      <vt:lpstr>Unbiasedness: Estimating Causal POI</vt:lpstr>
      <vt:lpstr>Unbiasedness: Estimating Causal POI</vt:lpstr>
      <vt:lpstr>Consistency: Does data help us answer our question? </vt:lpstr>
      <vt:lpstr>Inference on Regression Coefficients</vt:lpstr>
      <vt:lpstr>Inference: How well does our data answer our question?</vt:lpstr>
      <vt:lpstr>Inference: How well does our data answer our question?</vt:lpstr>
      <vt:lpstr>A Simulation Example</vt:lpstr>
      <vt:lpstr>A Simulation Example</vt:lpstr>
      <vt:lpstr>Sampling Distribution of (β_i ) ̂</vt:lpstr>
      <vt:lpstr>Sampling Distribution of (β_i ) ̂</vt:lpstr>
      <vt:lpstr>Sampling Distribution of (β_i ) ̂</vt:lpstr>
      <vt:lpstr>Sampling Distribution of (β_i ) ̂</vt:lpstr>
      <vt:lpstr>Standard Errors </vt:lpstr>
      <vt:lpstr>Hypothesis Testing</vt:lpstr>
      <vt:lpstr>Hypothesis Testing</vt:lpstr>
      <vt:lpstr>Statistical Tests on Coefficients</vt:lpstr>
      <vt:lpstr>Statistical Significance </vt:lpstr>
      <vt:lpstr>Types of Significance </vt:lpstr>
      <vt:lpstr>Types of Significance </vt:lpstr>
      <vt:lpstr>Omitted Variable Bias</vt:lpstr>
      <vt:lpstr>Does a new drug make patients worse off?</vt:lpstr>
      <vt:lpstr>Omitted variables (and selection)</vt:lpstr>
      <vt:lpstr>What omitted variables do to your estimate</vt:lpstr>
      <vt:lpstr>What happens when you include omitted variables</vt:lpstr>
      <vt:lpstr>Next time:</vt:lpstr>
      <vt:lpstr>Appendix</vt:lpstr>
      <vt:lpstr>Multiple Events</vt:lpstr>
      <vt:lpstr>Bayes’ Rule</vt:lpstr>
      <vt:lpstr>Bayes’ Rule</vt:lpstr>
      <vt:lpstr>Bayes’ Rule</vt:lpstr>
      <vt:lpstr>Bayes’ Rule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Econometrics I:</dc:title>
  <dc:creator>Audrey Laporte</dc:creator>
  <cp:lastModifiedBy>Alexander Hoagland</cp:lastModifiedBy>
  <cp:revision>120</cp:revision>
  <dcterms:created xsi:type="dcterms:W3CDTF">2011-01-10T00:42:42Z</dcterms:created>
  <dcterms:modified xsi:type="dcterms:W3CDTF">2026-09-21T14:20:32Z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34a106e-6316-442c-ad35-738afd673d2b_Enabled">
    <vt:lpwstr>True</vt:lpwstr>
  </property>
  <property fmtid="{D5CDD505-2E9C-101B-9397-08002B2CF9AE}" pid="3" name="MSIP_Label_034a106e-6316-442c-ad35-738afd673d2b_SiteId">
    <vt:lpwstr>cddc1229-ac2a-4b97-b78a-0e5cacb5865c</vt:lpwstr>
  </property>
  <property fmtid="{D5CDD505-2E9C-101B-9397-08002B2CF9AE}" pid="4" name="MSIP_Label_034a106e-6316-442c-ad35-738afd673d2b_Owner">
    <vt:lpwstr>Eric.Nauenberg@ontario.ca</vt:lpwstr>
  </property>
  <property fmtid="{D5CDD505-2E9C-101B-9397-08002B2CF9AE}" pid="5" name="MSIP_Label_034a106e-6316-442c-ad35-738afd673d2b_SetDate">
    <vt:lpwstr>2020-08-28T20:23:07.5369310Z</vt:lpwstr>
  </property>
  <property fmtid="{D5CDD505-2E9C-101B-9397-08002B2CF9AE}" pid="6" name="MSIP_Label_034a106e-6316-442c-ad35-738afd673d2b_Name">
    <vt:lpwstr>OPS - Unclassified Information</vt:lpwstr>
  </property>
  <property fmtid="{D5CDD505-2E9C-101B-9397-08002B2CF9AE}" pid="7" name="MSIP_Label_034a106e-6316-442c-ad35-738afd673d2b_Application">
    <vt:lpwstr>Microsoft Azure Information Protection</vt:lpwstr>
  </property>
  <property fmtid="{D5CDD505-2E9C-101B-9397-08002B2CF9AE}" pid="8" name="MSIP_Label_034a106e-6316-442c-ad35-738afd673d2b_ActionId">
    <vt:lpwstr>e0d92f5a-28a2-4725-917b-84a82b221364</vt:lpwstr>
  </property>
  <property fmtid="{D5CDD505-2E9C-101B-9397-08002B2CF9AE}" pid="9" name="MSIP_Label_034a106e-6316-442c-ad35-738afd673d2b_Extended_MSFT_Method">
    <vt:lpwstr>Automatic</vt:lpwstr>
  </property>
  <property fmtid="{D5CDD505-2E9C-101B-9397-08002B2CF9AE}" pid="10" name="Sensitivity">
    <vt:lpwstr>OPS - Unclassified Information</vt:lpwstr>
  </property>
</Properties>
</file>