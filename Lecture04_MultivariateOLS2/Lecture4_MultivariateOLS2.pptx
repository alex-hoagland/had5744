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ink/ink1.xml" ContentType="application/inkml+xml"/>
  <Override PartName="/ppt/ink/ink2.xml" ContentType="application/inkml+xml"/>
  <Override PartName="/ppt/notesSlides/notesSlide70.xml" ContentType="application/vnd.openxmlformats-officedocument.presentationml.notesSlide+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notesSlides/notesSlide71.xml" ContentType="application/vnd.openxmlformats-officedocument.presentationml.notesSlide+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8" r:id="rId1"/>
  </p:sldMasterIdLst>
  <p:notesMasterIdLst>
    <p:notesMasterId r:id="rId89"/>
  </p:notesMasterIdLst>
  <p:sldIdLst>
    <p:sldId id="256" r:id="rId2"/>
    <p:sldId id="397" r:id="rId3"/>
    <p:sldId id="526" r:id="rId4"/>
    <p:sldId id="646" r:id="rId5"/>
    <p:sldId id="489" r:id="rId6"/>
    <p:sldId id="490" r:id="rId7"/>
    <p:sldId id="492" r:id="rId8"/>
    <p:sldId id="493" r:id="rId9"/>
    <p:sldId id="494" r:id="rId10"/>
    <p:sldId id="488" r:id="rId11"/>
    <p:sldId id="420" r:id="rId12"/>
    <p:sldId id="479" r:id="rId13"/>
    <p:sldId id="485" r:id="rId14"/>
    <p:sldId id="487" r:id="rId15"/>
    <p:sldId id="486" r:id="rId16"/>
    <p:sldId id="421" r:id="rId17"/>
    <p:sldId id="423" r:id="rId18"/>
    <p:sldId id="422" r:id="rId19"/>
    <p:sldId id="425" r:id="rId20"/>
    <p:sldId id="426" r:id="rId21"/>
    <p:sldId id="424" r:id="rId22"/>
    <p:sldId id="427" r:id="rId23"/>
    <p:sldId id="428" r:id="rId24"/>
    <p:sldId id="430" r:id="rId25"/>
    <p:sldId id="435" r:id="rId26"/>
    <p:sldId id="431" r:id="rId27"/>
    <p:sldId id="432" r:id="rId28"/>
    <p:sldId id="433" r:id="rId29"/>
    <p:sldId id="434" r:id="rId30"/>
    <p:sldId id="436" r:id="rId31"/>
    <p:sldId id="437" r:id="rId32"/>
    <p:sldId id="401" r:id="rId33"/>
    <p:sldId id="439" r:id="rId34"/>
    <p:sldId id="440" r:id="rId35"/>
    <p:sldId id="441" r:id="rId36"/>
    <p:sldId id="474" r:id="rId37"/>
    <p:sldId id="475" r:id="rId38"/>
    <p:sldId id="442" r:id="rId39"/>
    <p:sldId id="480" r:id="rId40"/>
    <p:sldId id="445" r:id="rId41"/>
    <p:sldId id="444" r:id="rId42"/>
    <p:sldId id="446" r:id="rId43"/>
    <p:sldId id="670" r:id="rId44"/>
    <p:sldId id="671" r:id="rId45"/>
    <p:sldId id="672" r:id="rId46"/>
    <p:sldId id="673" r:id="rId47"/>
    <p:sldId id="674" r:id="rId48"/>
    <p:sldId id="438" r:id="rId49"/>
    <p:sldId id="464" r:id="rId50"/>
    <p:sldId id="465" r:id="rId51"/>
    <p:sldId id="471" r:id="rId52"/>
    <p:sldId id="676" r:id="rId53"/>
    <p:sldId id="677" r:id="rId54"/>
    <p:sldId id="678" r:id="rId55"/>
    <p:sldId id="466" r:id="rId56"/>
    <p:sldId id="468" r:id="rId57"/>
    <p:sldId id="478" r:id="rId58"/>
    <p:sldId id="476" r:id="rId59"/>
    <p:sldId id="477" r:id="rId60"/>
    <p:sldId id="679" r:id="rId61"/>
    <p:sldId id="467" r:id="rId62"/>
    <p:sldId id="469" r:id="rId63"/>
    <p:sldId id="470" r:id="rId64"/>
    <p:sldId id="669" r:id="rId65"/>
    <p:sldId id="396" r:id="rId66"/>
    <p:sldId id="382" r:id="rId67"/>
    <p:sldId id="454" r:id="rId68"/>
    <p:sldId id="453" r:id="rId69"/>
    <p:sldId id="455" r:id="rId70"/>
    <p:sldId id="456" r:id="rId71"/>
    <p:sldId id="457" r:id="rId72"/>
    <p:sldId id="458" r:id="rId73"/>
    <p:sldId id="459" r:id="rId74"/>
    <p:sldId id="460" r:id="rId75"/>
    <p:sldId id="463" r:id="rId76"/>
    <p:sldId id="481" r:id="rId77"/>
    <p:sldId id="482" r:id="rId78"/>
    <p:sldId id="483" r:id="rId79"/>
    <p:sldId id="461" r:id="rId80"/>
    <p:sldId id="462" r:id="rId81"/>
    <p:sldId id="402" r:id="rId82"/>
    <p:sldId id="447" r:id="rId83"/>
    <p:sldId id="448" r:id="rId84"/>
    <p:sldId id="449" r:id="rId85"/>
    <p:sldId id="450" r:id="rId86"/>
    <p:sldId id="452" r:id="rId87"/>
    <p:sldId id="451" r:id="rId88"/>
  </p:sldIdLst>
  <p:sldSz cx="12192000" cy="6858000"/>
  <p:notesSz cx="7010400" cy="92964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08"/>
    <p:restoredTop sz="74217" autoAdjust="0"/>
  </p:normalViewPr>
  <p:slideViewPr>
    <p:cSldViewPr>
      <p:cViewPr varScale="1">
        <p:scale>
          <a:sx n="47" d="100"/>
          <a:sy n="47" d="100"/>
        </p:scale>
        <p:origin x="1392" y="24"/>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notesMaster" Target="notesMasters/notesMaster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presProps" Target="presProp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heme" Target="theme/theme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30T00:10:43.175"/>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4096 98 2561,'-19'1'1245,"-18"-4"-217,-38-13 763,42 8-1381,0 2 0,-50-3 0,-52 6 479,-197-9 583,162-2-1371,-319-13 255,123 34-106,103 0-100,-384 22 714,207-33-471,201-5 62,-198 14-229,351-7-997,-126-18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30T00:10:45.808"/>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19879 119 296,'-4'-1'21,"-49"-6"-72,49 6 92,0 0-1,1 0 1,-1 0-1,1-1 1,-1 1-1,1-1 1,-1 0-1,1 0 1,0 0-1,0 0 1,-5-6-1,4 4 237,0 1 0,-1-1 0,1 1 0,-1 0 0,0 0 0,0 0 0,0 1 0,0-1 0,-1 1 0,-9-2 0,-9-2 499,-28-2 0,26 4-360,-43-3 723,0 2 0,-77 6 0,47 1-336,40-2-512,-584-12 2135,3 0-1539,365 11-558,-369 9 370,184-6-535,6-1 255,-233-4-144,207 4 36,189 3-229,-581 6 737,629 1-785,-52 0-5,-336 14 224,77-11-196,299-11-37,-304 2 25,-228 6 264,396-7-233,-12 0 30,-306-3-14,659-2-82,-197 6 117,42-1-74,-474 0 186,16-6-133,199-1-19,-17-4-57,-152 2-4,214-1-17,-138 4 6,-188 12 5,617-10-17,-272-21 24,148 4-4,-19 1-14,-59-3-3,-3 21-6,-304 4 8,354-8 9,-240-5 54,505 6-70,-440-1 45,432 2-47,9-1-8,1 1 0,-1 1-1,-27 5 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30T00:10:43.175"/>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4096 98 2561,'-19'1'1245,"-18"-4"-217,-38-13 763,42 8-1381,0 2 0,-50-3 0,-52 6 479,-197-9 583,162-2-1371,-319-13 255,123 34-106,103 0-100,-384 22 714,207-33-471,201-5 62,-198 14-229,351-7-997,-126-18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30T00:10:45.808"/>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19879 119 296,'-4'-1'21,"-49"-6"-72,49 6 92,0 0-1,1 0 1,-1 0-1,1-1 1,-1 1-1,1-1 1,-1 0-1,1 0 1,0 0-1,0 0 1,-5-6-1,4 4 237,0 1 0,-1-1 0,1 1 0,-1 0 0,0 0 0,0 0 0,0 1 0,0-1 0,-1 1 0,-9-2 0,-9-2 499,-28-2 0,26 4-360,-43-3 723,0 2 0,-77 6 0,47 1-336,40-2-512,-584-12 2135,3 0-1539,365 11-558,-369 9 370,184-6-535,6-1 255,-233-4-144,207 4 36,189 3-229,-581 6 737,629 1-785,-52 0-5,-336 14 224,77-11-196,299-11-37,-304 2 25,-228 6 264,396-7-233,-12 0 30,-306-3-14,659-2-82,-197 6 117,42-1-74,-474 0 186,16-6-133,199-1-19,-17-4-57,-152 2-4,214-1-17,-138 4 6,-188 12 5,617-10-17,-272-21 24,148 4-4,-19 1-14,-59-3-3,-3 21-6,-304 4 8,354-8 9,-240-5 54,505 6-70,-440-1 45,432 2-47,9-1-8,1 1 0,-1 1-1,-27 5 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30T00:11:15.220"/>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7621 79 1136,'16'-3'7266,"-17"2"-7128,-1-1 0,0 1 1,0 0-1,0 0 0,1 0 0,-1 0 1,0 0-1,0 0 0,0 1 0,0-1 1,-4 0-1,-64-16 621,0 3 1,-115-7-1,-149 12-219,146 7 45,-992 3 34,661 0-545,-168 4 21,470 0-74,-186 11 76,-384 25 24,367-19-99,-146 1 3,-21-12-14,202-3 22,145-3 172,-223 1 98,162-21-742,292 15 69</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30T00:11:17.173"/>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12359 414 5329,'-188'-18'1412,"99"8"-355,1-3-1,-128-36 0,14 2-472,-443-41 980,574 81-1258,-486-45 901,203 21-535,-650-18 375,-11 30-375,836 10-548,-338-12 140,-2 23-98,178 15-134,-546 13 337,37 10-134,187-14 242,100-7-388,336-4-12,-608 22 183,389-29 34,228-3-72,-270-14-21,-61 2-64,124 35-17,246-4-3252,135-17 1902</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30T00:11:18.587"/>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5726 93 2433,'6'-3'174,"3"-2"871,1-1 0,16-12 0,-24 17-907,-1 0-1,1-1 1,-1 1 0,1 0 0,-1-1-1,0 1 1,0-1 0,0 1-1,0-1 1,0 0 0,0 1 0,0-1-1,0 0 1,0 0 0,-1 1 0,1-1-1,-1 0 1,0 0 0,1 0-1,-1 0 1,0 0 0,0 0 0,-1-3-1,1 4-80,-1 0 1,1 0-1,-1 0 0,0 0 0,1 0 0,-1 0 0,0 0 0,0 0 0,0 0 1,0 0-1,0 1 0,0-1 0,0 0 0,0 1 0,0-1 0,0 1 1,0-1-1,0 1 0,-1-1 0,1 1 0,0 0 0,0 0 0,0-1 0,-1 1 1,0 0-1,-41 0 764,32 0-618,-1206 21 3287,600-13-2427,180-12-656,118-2-107,18 0-152,-158 2 97,122 6-176,122-2-39,-53 1 81,-257 6-15,125-6-48,43 4-34,226 0-36,109-4-2,5-1-60,0 0 0,0 2 0,-33 6 0,49-8 42,1 0 0,0 0 0,-1 0 0,1 0 0,0 0 0,-1 0 0,1 0 0,0 0 0,-1 1 0,1-1 0,0 0 1,-1 0-1,1 0 0,0 0 0,-1 0 0,-2 7-964,3-6 964,0-1 0,0 0 0,0 1 0,0-1 0,0 0 0,0 1 0,0-1 0,0 0 0,1 1 0,13 10-798</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30T00:10:43.175"/>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4096 98 2561,'-19'1'1245,"-18"-4"-217,-38-13 763,42 8-1381,0 2 0,-50-3 0,-52 6 479,-197-9 583,162-2-1371,-319-13 255,123 34-106,103 0-100,-384 22 714,207-33-471,201-5 62,-198 14-229,351-7-997,-126-18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30T00:10:45.808"/>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19879 119 296,'-4'-1'21,"-49"-6"-72,49 6 92,0 0-1,1 0 1,-1 0-1,1-1 1,-1 1-1,1-1 1,-1 0-1,1 0 1,0 0-1,0 0 1,-5-6-1,4 4 237,0 1 0,-1-1 0,1 1 0,-1 0 0,0 0 0,0 0 0,0 1 0,0-1 0,-1 1 0,-9-2 0,-9-2 499,-28-2 0,26 4-360,-43-3 723,0 2 0,-77 6 0,47 1-336,40-2-512,-584-12 2135,3 0-1539,365 11-558,-369 9 370,184-6-535,6-1 255,-233-4-144,207 4 36,189 3-229,-581 6 737,629 1-785,-52 0-5,-336 14 224,77-11-196,299-11-37,-304 2 25,-228 6 264,396-7-233,-12 0 30,-306-3-14,659-2-82,-197 6 117,42-1-74,-474 0 186,16-6-133,199-1-19,-17-4-57,-152 2-4,214-1-17,-138 4 6,-188 12 5,617-10-17,-272-21 24,148 4-4,-19 1-14,-59-3-3,-3 21-6,-304 4 8,354-8 9,-240-5 54,505 6-70,-440-1 45,432 2-47,9-1-8,1 1 0,-1 1-1,-27 5 1</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30T00:11:15.220"/>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7621 79 1136,'16'-3'7266,"-17"2"-7128,-1-1 0,0 1 1,0 0-1,0 0 0,1 0 0,-1 0 1,0 0-1,0 0 0,0 1 0,0-1 1,-4 0-1,-64-16 621,0 3 1,-115-7-1,-149 12-219,146 7 45,-992 3 34,661 0-545,-168 4 21,470 0-74,-186 11 76,-384 25 24,367-19-99,-146 1 3,-21-12-14,202-3 22,145-3 172,-223 1 98,162-21-742,292 15 69</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30T00:11:17.173"/>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12359 414 5329,'-188'-18'1412,"99"8"-355,1-3-1,-128-36 0,14 2-472,-443-41 980,574 81-1258,-486-45 901,203 21-535,-650-18 375,-11 30-375,836 10-548,-338-12 140,-2 23-98,178 15-134,-546 13 337,37 10-134,187-14 242,100-7-388,336-4-12,-608 22 183,389-29 34,228-3-72,-270-14-21,-61 2-64,124 35-17,246-4-3252,135-17 1902</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30T00:11:18.587"/>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5726 93 2433,'6'-3'174,"3"-2"871,1-1 0,16-12 0,-24 17-907,-1 0-1,1-1 1,-1 1 0,1 0 0,-1-1-1,0 1 1,0-1 0,0 1-1,0-1 1,0 0 0,0 1 0,0-1-1,0 0 1,0 0 0,-1 1 0,1-1-1,-1 0 1,0 0 0,1 0-1,-1 0 1,0 0 0,0 0 0,-1-3-1,1 4-80,-1 0 1,1 0-1,-1 0 0,0 0 0,1 0 0,-1 0 0,0 0 0,0 0 0,0 0 1,0 0-1,0 1 0,0-1 0,0 0 0,0 1 0,0-1 0,0 1 1,0-1-1,0 1 0,-1-1 0,1 1 0,0 0 0,0 0 0,0-1 0,-1 1 1,0 0-1,-41 0 764,32 0-618,-1206 21 3287,600-13-2427,180-12-656,118-2-107,18 0-152,-158 2 97,122 6-176,122-2-39,-53 1 81,-257 6-15,125-6-48,43 4-34,226 0-36,109-4-2,5-1-60,0 0 0,0 2 0,-33 6 0,49-8 42,1 0 0,0 0 0,-1 0 0,1 0 0,0 0 0,-1 0 0,1 0 0,0 0 0,-1 1 0,1-1 0,0 0 1,-1 0-1,1 0 0,0 0 0,-1 0 0,-2 7-964,3-6 964,0-1 0,0 0 0,0 1 0,0-1 0,0 0 0,0 1 0,0-1 0,0 0 0,1 1 0,13 10-798</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30T00:11:47.972"/>
    </inkml:context>
    <inkml:brush xml:id="br0">
      <inkml:brushProperty name="width" value="0.05" units="cm"/>
      <inkml:brushProperty name="height" value="0.05" units="cm"/>
      <inkml:brushProperty name="color" value="#E71224"/>
    </inkml:brush>
  </inkml:definitions>
  <inkml:trace contextRef="#ctx0" brushRef="#br0">0 111 1136,'1'0'103,"-1"-1"1,0 0-1,0 1 0,1-1 0,-1 1 1,0-1-1,1 0 0,-1 1 0,1-1 1,-1 1-1,0-1 0,1 1 0,-1-1 1,1 1-1,0-1 0,-1 1 0,1 0 1,-1-1-1,1 1 0,0 0 0,-1-1 1,1 1-1,0 0 0,-1 0 0,1 0 1,0 0-1,-1 0 0,1-1 0,0 1 1,-1 0-1,1 0 0,0 1 0,-1-1 1,1 0-1,1 0 0,31 5 658,-27-4-560,31 5 288,-3-1-45,0 1 0,55 18 0,-64-14-245,1-2 0,1-2-1,-1 0 1,48 4 0,170-5 2030,-14-2-1823,3-10 615,-35-1-712,-84 11-152,282-6 403,-12-8-428,-226 10 100,34 5 101,75-4-231,179-4 469,-197-2-300,-87-1-167,50-4 17,-87 3 182,150 5 44,-25 1-324,371 4 48,-528 0-47,365-14 177,5 5 68,-291 8-233,244 6 150,112 0-22,-114 2-130,-80 5 28,-217-10-44,205-4 20,-175 1-24,188 6 244,126 6-40,197 2-178,-259-22 16,56-11 46,-345 16-99,199-1 4,415-24 73,-509 2-58,168-13-12,53 25 7,-84 4 22,255-24 114,-326 22-24,-66 4-99,534 14 26,-570-1-43,122 7 14,137 7 16,-214-12-29,88 1 9,-163-10-9,-96-1-5,-1 2 0,54 7 0,-74-4 3,56-1-1,-48-3-4,-17 7-61,-23-6-27,1 0-1,-1 0 0,1 0 0,-1 0 0,0 0 0,1 0 0,-1 0 0,0 0 0,1 0 0,-1 1 1,1-1-1,-1 0 0,0 0 0,1 0 0,-1 0 0,0 1 0,0-1 0,1 0 0,-1 0 0,0 1 1,1-1-1,-1 0 0,0 1 0,0-1 0,0 0 0,1 1 0,-1-1 0,0 0 0,0 1 0,0-1 1,0 1-1,0-1 0,0 0 0,1 1 0,-1-1 0,0 0 0,0 1 0,0-1 0,0 1 0,0-1 1,-1 0-1,1 1 0,0 0 0,-13 19-2591,2 4 1738</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30T00:11:51.007"/>
    </inkml:context>
    <inkml:brush xml:id="br0">
      <inkml:brushProperty name="width" value="0.05" units="cm"/>
      <inkml:brushProperty name="height" value="0.05" units="cm"/>
      <inkml:brushProperty name="color" value="#E71224"/>
    </inkml:brush>
  </inkml:definitions>
  <inkml:trace contextRef="#ctx0" brushRef="#br0">16928 193 688,'3'-6'251,"-1"0"-1,1 0 1,0 0-1,1 1 0,-1-1 1,1 1-1,0 0 1,1 0-1,-1 0 1,1 1-1,0-1 1,0 1-1,0 0 1,1 1-1,-1-1 1,1 1-1,0 0 0,0 0 1,0 1-1,0 0 1,1 0-1,-1 0 1,0 1-1,1 0 1,8 0-1,-44 16 1860,10-11-1873,1 0 0,-1 0-1,0-2 1,0 0 0,-21-2 0,-99-10 198,68 4-111,43 4-220,-310-15 1458,-117 2-315,90 2-473,155 5-607,-52 1 87,145 7-47,-815-17 953,801 16-916,-133 15 0,-71 1 188,179-23-397,81 3 102,-1 3 1,-102 10-1,89-1-74,-155-7-1,95-4 45,-650 19 508,297-24-245,59-2-155,115 3-144,-66 2 57,11 1-51,225-2-25,-88 8 55,86 1-52,19 0 9,-140-3 5,-42 4 47,253 0-96,-604-10 81,330-4-25,7 11 4,-86-2 3,-61-5 151,41 1-174,-169 13-22,326 3-29,73-3 1,-183-8 8,63-3-5,69 13-8,-185 2 6,-242 0 21,365-7 3,-22 0-13,-210 5 182,405-6-156,38-2-23,-201 28-1,282-24-12,-1-1-1,0-2 0,0-1 0,-51-6 0,74 3-40,8 2 0,0-1-1,0 0 0,0 1 1,0-1-1,0 1 0,0 0 1,1 1-1,-1-1 0,0 1 1,0-1-1,0 1 0,-4 2 1,8-3-36,0 0 0,-1 0 0,1 0 0,0 1 0,0-1 0,0 0 0,-1 0 0,1 1 0,0-1 0,0 0 0,0 0 0,0 1 0,0-1 0,0 0 0,-1 1 0,1-1 0,0 0 0,0 1 0,0-1 0,0 0 0,0 0 0,0 1 0,0-1 0,0 0 0,0 1 0,0-1 0,1 0 0,-1 1 0,0-1 0,0 0 0,0 0 0,0 1 1,0-1-1,0 0 0,1 0 0,-1 1 0,0-1 0,0 0 0,0 0 0,1 1 0,-1-1 0,0 0 0,0 0 0,1 0 0,-1 1 0,0-1 0,0 0 0,1 0 0,-1 0 0,1 0 0,16 8-2995,12-1 808</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30T00:12:03.326"/>
    </inkml:context>
    <inkml:brush xml:id="br0">
      <inkml:brushProperty name="width" value="0.3" units="cm"/>
      <inkml:brushProperty name="height" value="0.6" units="cm"/>
      <inkml:brushProperty name="color" value="#EF0C4D"/>
      <inkml:brushProperty name="tip" value="rectangle"/>
      <inkml:brushProperty name="rasterOp" value="maskPen"/>
    </inkml:brush>
  </inkml:definitions>
  <inkml:trace contextRef="#ctx0" brushRef="#br0">4859 158 4169,'4'-2'133,"15"-4"233,-19 6-330,1 0 0,-1 0 0,0 0 0,3-3 397,-3 3-397,1 0 0,-1 0 0,0-1 0,0 1 0,0 0 0,0 0 1,0-1-1,0 1 0,1 0 0,-1-1 0,0 1 0,0 0 0,0-1 0,0 1 0,0 0 0,0-1 0,0 1 0,0 0 0,0 0 0,-1-1 0,1 1 0,0 0 0,0-1 0,0 1 1,0 0-1,0-1 0,0 0 14,0 0 0,0 1-1,0-1 1,1 0 0,-1 0 0,0 1 0,1-1 0,-1 0 0,0 0 0,1 1 0,-1-1 0,1 0 0,-1 1 0,1-1 0,0 1-1,-1-1 1,1 0 0,0 1 0,-1 0 0,1-1 0,0 1 0,-1-1 0,1 1 0,2-1 0,13-12 732,-15 13-748,-1-1-1,0 1 0,1 0 1,-1-1-1,0 1 0,1-1 1,-1 1-1,0-1 0,0 1 0,1 0 1,-1-1-1,0 1 0,0-1 1,0 1-1,0-1 0,0 0 1,1 1-1,-1-1 0,0 1 1,0-1-1,0 1 0,0-1 0,-1 1 1,1-1-1,0 1 0,0-1 1,0 1-1,0-1 0,-1 0 1,-2-4 163,-1 0 1,0 1-1,0-1 1,0 1 0,-1 0-1,0 0 1,0 0 0,0 0-1,0 1 1,0 0-1,-1 0 1,1 1 0,-8-3-1,-1 0-105,1 1-1,-1 0 0,0 1 1,-23-2-1,-88 4-48,58-6-27,8 0 43,0 3-1,-110 6 1,-67 29 70,-28 3-54,182-27 97,-104-5 0,-8-11 174,-234 20 0,117 1-309,2-22 194,-96 0 337,300 11-519,-494-10 30,207-5 100,207 15-143,-200-27 0,380 25-54,-90-5 0,84 6-206,0 1 1,0 0-1,0 0 0,0 1 1,0 1-1,-13 4 0,23-7 135,1 0-1,-1 0 1,0 1-1,1-1 1,-1 0-1,1 37-3747</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30T00:12:10.239"/>
    </inkml:context>
    <inkml:brush xml:id="br0">
      <inkml:brushProperty name="width" value="0.3" units="cm"/>
      <inkml:brushProperty name="height" value="0.6" units="cm"/>
      <inkml:brushProperty name="color" value="#EF0C4D"/>
      <inkml:brushProperty name="tip" value="rectangle"/>
      <inkml:brushProperty name="rasterOp" value="maskPen"/>
    </inkml:brush>
  </inkml:definitions>
  <inkml:trace contextRef="#ctx0" brushRef="#br0">19655 182 1344,'-7'9'1570,"6"-9"-1472,0 1 0,0-1 0,1 0 0,-1 0 0,0 1 0,1-1 0,-1 0 0,0 0 1,0 0-1,0 0 0,-24 2 585,-174 1 2448,-272-11-1219,121-11-834,160 10-733,-138-2 40,39 2-210,-677-11 1286,767 19-1431,-558-2 64,439 21 202,23 0-164,-84-21-97,-257 9-5,-130-3 36,713-5-69,-273 6 11,10-3 5,204-3-7,56 2-5,-408 1 283,157-6-258,81 0-17,-134-3 96,76 1-45,-50-3-41,-153 1-6,224 2 0,28-1 5,136 9-17,-261-7-1,-127-2 28,205 7-16,-568-1-5,573-3-5,8 3 12,33 1-5,-595-41 439,383 30-440,-27 8 131,-187 2 18,-294-2-109,-7-11-41,717 20-10,39 0-9,-916 38 3,1070-39 6,-394 12-417,272-16 424,147 2-300,1 0 1,-1 3 0,1 0-1,-34 11 1,39-5-1216,13 3 542</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30T00:12:18.307"/>
    </inkml:context>
    <inkml:brush xml:id="br0">
      <inkml:brushProperty name="width" value="0.3" units="cm"/>
      <inkml:brushProperty name="height" value="0.6" units="cm"/>
      <inkml:brushProperty name="color" value="#EF0C4D"/>
      <inkml:brushProperty name="tip" value="rectangle"/>
      <inkml:brushProperty name="rasterOp" value="maskPen"/>
    </inkml:brush>
  </inkml:definitions>
  <inkml:trace contextRef="#ctx0" brushRef="#br0">5981 139 2985,'-43'16'1285,"36"-13"-1077,-1 0 0,1 0 0,-1 0 0,1-1 0,-1 0 0,0-1-1,-12 1 1,13-1 13,-1 0-1,1 0 1,0 1-1,0 0 1,0 0-1,0 0 1,1 1-1,-11 6 1,9-6-147,1 1-1,-1-1 1,0 0 0,-15 3 0,-10-3 471,0-1 1,-61-5-1,56 1 137,-49 3 1,54 1-659,-1-1 1,-1-2-1,2-1 1,-1-1 0,0-2-1,-40-11 1,37 7 155,-1 2 0,0 1 0,-69-1 0,75 5-85,0-1-1,0-2 1,-41-11 0,2 0 17,-145-38 24,-2-1-114,164 49 103,-1 1-1,0 3 0,-75 7 1,-41-1 92,-321-1-142,325 18-71,27-2 27,-237 28 583,-78 24-399,237-40-201,100-17-3,18-5 24,-201-8 0,82-4-33,-333-17 52,444 5-35,-11-1 2,-255 5-1035,372 11 950,-60 5-3725,49-1 2704</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30T00:12:27"/>
    </inkml:context>
    <inkml:brush xml:id="br0">
      <inkml:brushProperty name="width" value="0.3" units="cm"/>
      <inkml:brushProperty name="height" value="0.6" units="cm"/>
      <inkml:brushProperty name="color" value="#EF0C4D"/>
      <inkml:brushProperty name="tip" value="rectangle"/>
      <inkml:brushProperty name="rasterOp" value="maskPen"/>
    </inkml:brush>
  </inkml:definitions>
  <inkml:trace contextRef="#ctx0" brushRef="#br0">15295 44 1152,'-7'5'3034,"7"-5"-3011,-1 0 38,0 0-1,0-1 1,0 1 0,0 0 0,0 0 0,0 0-1,0 0 1,0 1 0,-1-1 0,1 0 0,0 0-1,0 1 1,1-1 0,-1 0 0,0 1-1,0-1 1,0 1 0,0-1 0,0 1 0,0 0-1,0-1 1,1 1 0,-1 0 0,0 0-1,1-1 1,-2 2 0,-4 3 72,-1-1 3,-1 0 0,1-1 0,-1 0 0,0 0 0,0-1 0,0 0-1,-10 1 1,-59 0 978,20-1-891,-255 0 131,219-6-25,-302-20 871,-85-8-446,342 25-634,-257-9 309,187 10-236,-103 0 180,-221 13-99,-336 8-100,323 1-16,-106-19 237,-412 16-231,399-12 84,-44 2 111,-8 5-313,650-7-43,-200-2 10,-248 6 16,-1039 36 255,1278-42-276,-325 9 16,443-1-23,-327 12-9,337-17 10,-388-2 19,-104-2-5,12 10-22,302-3 103,-47 0 208,311-7-379,0 2 1,-112 17 0,139-12-777,-35 1-1,57-3-301,12 5 413</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672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6725"/>
          </a:xfrm>
          <a:prstGeom prst="rect">
            <a:avLst/>
          </a:prstGeom>
        </p:spPr>
        <p:txBody>
          <a:bodyPr vert="horz" lIns="91440" tIns="45720" rIns="91440" bIns="45720" rtlCol="0"/>
          <a:lstStyle>
            <a:lvl1pPr algn="r">
              <a:defRPr sz="1200"/>
            </a:lvl1pPr>
          </a:lstStyle>
          <a:p>
            <a:fld id="{EF911157-0FC2-4F06-8D61-FD647FE4E19D}" type="datetimeFigureOut">
              <a:rPr lang="en-US" smtClean="0"/>
              <a:t>7/22/2026</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73575"/>
            <a:ext cx="5607050" cy="3660775"/>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6725"/>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6725"/>
          </a:xfrm>
          <a:prstGeom prst="rect">
            <a:avLst/>
          </a:prstGeom>
        </p:spPr>
        <p:txBody>
          <a:bodyPr vert="horz" lIns="91440" tIns="45720" rIns="91440" bIns="45720" rtlCol="0" anchor="b"/>
          <a:lstStyle>
            <a:lvl1pPr algn="r">
              <a:defRPr sz="1200"/>
            </a:lvl1pPr>
          </a:lstStyle>
          <a:p>
            <a:fld id="{4AF79E1B-2C51-4B9B-8EA4-26DE9E345AFF}" type="slidenum">
              <a:rPr lang="en-US" smtClean="0"/>
              <a:t>‹#›</a:t>
            </a:fld>
            <a:endParaRPr lang="en-US"/>
          </a:p>
        </p:txBody>
      </p:sp>
    </p:spTree>
    <p:extLst>
      <p:ext uri="{BB962C8B-B14F-4D97-AF65-F5344CB8AC3E}">
        <p14:creationId xmlns:p14="http://schemas.microsoft.com/office/powerpoint/2010/main" val="8367260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7550" y="1162050"/>
            <a:ext cx="5575300" cy="3136900"/>
          </a:xfrm>
        </p:spPr>
      </p:sp>
      <p:sp>
        <p:nvSpPr>
          <p:cNvPr id="3" name="Notes Placeholder 2"/>
          <p:cNvSpPr>
            <a:spLocks noGrp="1"/>
          </p:cNvSpPr>
          <p:nvPr>
            <p:ph type="body" idx="1"/>
          </p:nvPr>
        </p:nvSpPr>
        <p:spPr/>
        <p:txBody>
          <a:bodyPr/>
          <a:lstStyle/>
          <a:p>
            <a:pPr marL="0" indent="0">
              <a:buFont typeface="Arial" panose="020B0604020202020204" pitchFamily="34" charset="0"/>
              <a:buNone/>
            </a:pPr>
            <a:r>
              <a:rPr lang="en-US" dirty="0"/>
              <a:t>Mention: Next week’s class will be about data cleaning and research designs (broadly), so please come with your research questions at least half-baked, so we can talk specifics. Project proposal ideas coming up in 3 weeks. Also make sure to watch the correct (old) version of the video so we can talk about this (only need to watch parts </a:t>
            </a:r>
            <a:r>
              <a:rPr lang="en-US"/>
              <a:t>1 through 3). </a:t>
            </a:r>
            <a:endParaRPr lang="en-US" dirty="0"/>
          </a:p>
          <a:p>
            <a:pPr marL="0" indent="0">
              <a:buFont typeface="Arial" panose="020B0604020202020204" pitchFamily="34" charset="0"/>
              <a:buNone/>
            </a:pPr>
            <a:endParaRPr lang="en-US" dirty="0"/>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What do you do if you don’t have a question? Read through the data dictionaries here, then do some descriptive work! And also watch the video for next week, thinking about your questions! </a:t>
            </a:r>
          </a:p>
          <a:p>
            <a:pPr marL="0" indent="0">
              <a:buFont typeface="Arial" panose="020B0604020202020204" pitchFamily="34" charset="0"/>
              <a:buNone/>
            </a:pPr>
            <a:endParaRPr lang="en-US" b="1" dirty="0"/>
          </a:p>
        </p:txBody>
      </p:sp>
      <p:sp>
        <p:nvSpPr>
          <p:cNvPr id="4" name="Slide Number Placeholder 3"/>
          <p:cNvSpPr>
            <a:spLocks noGrp="1"/>
          </p:cNvSpPr>
          <p:nvPr>
            <p:ph type="sldNum" sz="quarter" idx="5"/>
          </p:nvPr>
        </p:nvSpPr>
        <p:spPr/>
        <p:txBody>
          <a:bodyPr/>
          <a:lstStyle/>
          <a:p>
            <a:fld id="{4AF79E1B-2C51-4B9B-8EA4-26DE9E345AFF}" type="slidenum">
              <a:rPr lang="en-US" smtClean="0"/>
              <a:t>1</a:t>
            </a:fld>
            <a:endParaRPr lang="en-US"/>
          </a:p>
        </p:txBody>
      </p:sp>
    </p:spTree>
    <p:extLst>
      <p:ext uri="{BB962C8B-B14F-4D97-AF65-F5344CB8AC3E}">
        <p14:creationId xmlns:p14="http://schemas.microsoft.com/office/powerpoint/2010/main" val="36117099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 this to beginning of another lecture for next time. Link here: https://hadley.github.io/genzplyr/. </a:t>
            </a:r>
          </a:p>
        </p:txBody>
      </p:sp>
      <p:sp>
        <p:nvSpPr>
          <p:cNvPr id="4" name="Slide Number Placeholder 3"/>
          <p:cNvSpPr>
            <a:spLocks noGrp="1"/>
          </p:cNvSpPr>
          <p:nvPr>
            <p:ph type="sldNum" sz="quarter" idx="5"/>
          </p:nvPr>
        </p:nvSpPr>
        <p:spPr/>
        <p:txBody>
          <a:bodyPr/>
          <a:lstStyle/>
          <a:p>
            <a:fld id="{4AF79E1B-2C51-4B9B-8EA4-26DE9E345AFF}" type="slidenum">
              <a:rPr lang="en-US" smtClean="0"/>
              <a:t>3</a:t>
            </a:fld>
            <a:endParaRPr lang="en-US"/>
          </a:p>
        </p:txBody>
      </p:sp>
    </p:spTree>
    <p:extLst>
      <p:ext uri="{BB962C8B-B14F-4D97-AF65-F5344CB8AC3E}">
        <p14:creationId xmlns:p14="http://schemas.microsoft.com/office/powerpoint/2010/main" val="211662694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DC7C6E-8B35-E59D-7510-35BA90F709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DA8A05-3B1B-8C35-8D48-EE8466D9DA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EAC7BD-A59B-3CFD-B624-BEE5B6EC797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26CD589-F905-AA73-02C6-403EAF869B7E}"/>
              </a:ext>
            </a:extLst>
          </p:cNvPr>
          <p:cNvSpPr>
            <a:spLocks noGrp="1"/>
          </p:cNvSpPr>
          <p:nvPr>
            <p:ph type="sldNum" sz="quarter" idx="5"/>
          </p:nvPr>
        </p:nvSpPr>
        <p:spPr/>
        <p:txBody>
          <a:bodyPr/>
          <a:lstStyle/>
          <a:p>
            <a:fld id="{4AF79E1B-2C51-4B9B-8EA4-26DE9E345AFF}" type="slidenum">
              <a:rPr lang="en-US" smtClean="0"/>
              <a:t>4</a:t>
            </a:fld>
            <a:endParaRPr lang="en-US"/>
          </a:p>
        </p:txBody>
      </p:sp>
    </p:spTree>
    <p:extLst>
      <p:ext uri="{BB962C8B-B14F-4D97-AF65-F5344CB8AC3E}">
        <p14:creationId xmlns:p14="http://schemas.microsoft.com/office/powerpoint/2010/main" val="30907707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We’re going in and out of what’s actually in the paper, but we’re going to use it to frame all of the things we talk about today. </a:t>
            </a:r>
          </a:p>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5</a:t>
            </a:fld>
            <a:endParaRPr lang="en-US"/>
          </a:p>
        </p:txBody>
      </p:sp>
    </p:spTree>
    <p:extLst>
      <p:ext uri="{BB962C8B-B14F-4D97-AF65-F5344CB8AC3E}">
        <p14:creationId xmlns:p14="http://schemas.microsoft.com/office/powerpoint/2010/main" val="31842830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care about whether government policy actually affects health. Example here: Medicaid in the US. These results matter because Medicaid costs half a trillion dollars per year and is among the most expensive items in federal and state budgets</a:t>
            </a:r>
          </a:p>
        </p:txBody>
      </p:sp>
      <p:sp>
        <p:nvSpPr>
          <p:cNvPr id="4" name="Slide Number Placeholder 3"/>
          <p:cNvSpPr>
            <a:spLocks noGrp="1"/>
          </p:cNvSpPr>
          <p:nvPr>
            <p:ph type="sldNum" sz="quarter" idx="5"/>
          </p:nvPr>
        </p:nvSpPr>
        <p:spPr/>
        <p:txBody>
          <a:bodyPr/>
          <a:lstStyle/>
          <a:p>
            <a:fld id="{4AF79E1B-2C51-4B9B-8EA4-26DE9E345AFF}" type="slidenum">
              <a:rPr lang="en-US" smtClean="0"/>
              <a:t>6</a:t>
            </a:fld>
            <a:endParaRPr lang="en-US"/>
          </a:p>
        </p:txBody>
      </p:sp>
    </p:spTree>
    <p:extLst>
      <p:ext uri="{BB962C8B-B14F-4D97-AF65-F5344CB8AC3E}">
        <p14:creationId xmlns:p14="http://schemas.microsoft.com/office/powerpoint/2010/main" val="8063150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961E75-8BFE-CB3D-3D01-C60724A270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868ABF-6AFF-4F88-2DE1-1E22C3ED47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407A46-E455-1051-F64D-F7BE9CE5187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442FB59-1333-DCE2-106E-A224CC2CB9EF}"/>
              </a:ext>
            </a:extLst>
          </p:cNvPr>
          <p:cNvSpPr>
            <a:spLocks noGrp="1"/>
          </p:cNvSpPr>
          <p:nvPr>
            <p:ph type="sldNum" sz="quarter" idx="5"/>
          </p:nvPr>
        </p:nvSpPr>
        <p:spPr/>
        <p:txBody>
          <a:bodyPr/>
          <a:lstStyle/>
          <a:p>
            <a:fld id="{4AF79E1B-2C51-4B9B-8EA4-26DE9E345AFF}" type="slidenum">
              <a:rPr lang="en-US" smtClean="0"/>
              <a:t>7</a:t>
            </a:fld>
            <a:endParaRPr lang="en-US"/>
          </a:p>
        </p:txBody>
      </p:sp>
    </p:spTree>
    <p:extLst>
      <p:ext uri="{BB962C8B-B14F-4D97-AF65-F5344CB8AC3E}">
        <p14:creationId xmlns:p14="http://schemas.microsoft.com/office/powerpoint/2010/main" val="4871498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B688F4-B6BF-EE90-1F41-26F5C40FF5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FEB7AB-D53A-B709-EB04-232F906465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B50A75-5A01-C069-94AD-4EF0C700475E}"/>
              </a:ext>
            </a:extLst>
          </p:cNvPr>
          <p:cNvSpPr>
            <a:spLocks noGrp="1"/>
          </p:cNvSpPr>
          <p:nvPr>
            <p:ph type="body" idx="1"/>
          </p:nvPr>
        </p:nvSpPr>
        <p:spPr/>
        <p:txBody>
          <a:bodyPr/>
          <a:lstStyle/>
          <a:p>
            <a:r>
              <a:rPr lang="en-US" dirty="0"/>
              <a:t>We care about whether government policy actually affects health. Example here: Medicaid in the US. </a:t>
            </a:r>
          </a:p>
        </p:txBody>
      </p:sp>
      <p:sp>
        <p:nvSpPr>
          <p:cNvPr id="4" name="Slide Number Placeholder 3">
            <a:extLst>
              <a:ext uri="{FF2B5EF4-FFF2-40B4-BE49-F238E27FC236}">
                <a16:creationId xmlns:a16="http://schemas.microsoft.com/office/drawing/2014/main" id="{9422FA48-90E2-0699-5FDC-87654485BC5E}"/>
              </a:ext>
            </a:extLst>
          </p:cNvPr>
          <p:cNvSpPr>
            <a:spLocks noGrp="1"/>
          </p:cNvSpPr>
          <p:nvPr>
            <p:ph type="sldNum" sz="quarter" idx="5"/>
          </p:nvPr>
        </p:nvSpPr>
        <p:spPr/>
        <p:txBody>
          <a:bodyPr/>
          <a:lstStyle/>
          <a:p>
            <a:fld id="{4AF79E1B-2C51-4B9B-8EA4-26DE9E345AFF}" type="slidenum">
              <a:rPr lang="en-US" smtClean="0"/>
              <a:t>8</a:t>
            </a:fld>
            <a:endParaRPr lang="en-US"/>
          </a:p>
        </p:txBody>
      </p:sp>
    </p:spTree>
    <p:extLst>
      <p:ext uri="{BB962C8B-B14F-4D97-AF65-F5344CB8AC3E}">
        <p14:creationId xmlns:p14="http://schemas.microsoft.com/office/powerpoint/2010/main" val="291223281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BDB6FB-399F-8EB0-4D5F-CB9B24DDA2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1DD015-DA73-025D-440F-EEAF2B0D5F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4F5D08-081F-460E-CCD9-9458587DBD74}"/>
              </a:ext>
            </a:extLst>
          </p:cNvPr>
          <p:cNvSpPr>
            <a:spLocks noGrp="1"/>
          </p:cNvSpPr>
          <p:nvPr>
            <p:ph type="body" idx="1"/>
          </p:nvPr>
        </p:nvSpPr>
        <p:spPr/>
        <p:txBody>
          <a:bodyPr/>
          <a:lstStyle/>
          <a:p>
            <a:r>
              <a:rPr lang="en-US" dirty="0"/>
              <a:t>The primary one is selection across treatment and any plausible “control” group. Conditional on income (qualifying for Medicaid), those who have worse health are more likely to actually </a:t>
            </a:r>
            <a:r>
              <a:rPr lang="en-US" dirty="0" err="1"/>
              <a:t>enrol</a:t>
            </a:r>
            <a:r>
              <a:rPr lang="en-US" dirty="0"/>
              <a:t>. So you’re not comparing apples and oranges to look at recipients and nonrecipients. </a:t>
            </a:r>
          </a:p>
          <a:p>
            <a:r>
              <a:rPr lang="en-US" dirty="0"/>
              <a:t>- Other problems include missing data in your admin datasets (income, like last time), and private information to participants that we don’t have. </a:t>
            </a:r>
          </a:p>
          <a:p>
            <a:pPr marL="171450" indent="-171450">
              <a:buFontTx/>
              <a:buChar char="-"/>
            </a:pPr>
            <a:r>
              <a:rPr lang="en-US" dirty="0"/>
              <a:t>“To interpret the adjusted differences as causal effects, the control variables must completely account for factors that make patients less healthy and lead them to qualify for </a:t>
            </a:r>
            <a:r>
              <a:rPr lang="en-US" i="0" u="sng" dirty="0"/>
              <a:t>and take up </a:t>
            </a:r>
            <a:r>
              <a:rPr lang="en-US" dirty="0"/>
              <a:t>Medicaid coverage.” (the last bit is the hardest to control for)</a:t>
            </a:r>
          </a:p>
          <a:p>
            <a:pPr marL="171450" indent="-171450">
              <a:buFontTx/>
              <a:buChar char="-"/>
            </a:pPr>
            <a:r>
              <a:rPr lang="en-US" dirty="0"/>
              <a:t> The paper will replicate a big finding of the day, toy with the model (add more controls), and then examine how selection could contribute to this difference. </a:t>
            </a:r>
          </a:p>
          <a:p>
            <a:pPr marL="171450" indent="-171450">
              <a:buFontTx/>
              <a:buChar char="-"/>
            </a:pPr>
            <a:endParaRPr lang="en-US" dirty="0"/>
          </a:p>
        </p:txBody>
      </p:sp>
      <p:sp>
        <p:nvSpPr>
          <p:cNvPr id="4" name="Slide Number Placeholder 3">
            <a:extLst>
              <a:ext uri="{FF2B5EF4-FFF2-40B4-BE49-F238E27FC236}">
                <a16:creationId xmlns:a16="http://schemas.microsoft.com/office/drawing/2014/main" id="{692B13A7-8F37-4B3B-5B26-1CB53A6CE4FD}"/>
              </a:ext>
            </a:extLst>
          </p:cNvPr>
          <p:cNvSpPr>
            <a:spLocks noGrp="1"/>
          </p:cNvSpPr>
          <p:nvPr>
            <p:ph type="sldNum" sz="quarter" idx="5"/>
          </p:nvPr>
        </p:nvSpPr>
        <p:spPr/>
        <p:txBody>
          <a:bodyPr/>
          <a:lstStyle/>
          <a:p>
            <a:fld id="{4AF79E1B-2C51-4B9B-8EA4-26DE9E345AFF}" type="slidenum">
              <a:rPr lang="en-US" smtClean="0"/>
              <a:t>9</a:t>
            </a:fld>
            <a:endParaRPr lang="en-US"/>
          </a:p>
        </p:txBody>
      </p:sp>
    </p:spTree>
    <p:extLst>
      <p:ext uri="{BB962C8B-B14F-4D97-AF65-F5344CB8AC3E}">
        <p14:creationId xmlns:p14="http://schemas.microsoft.com/office/powerpoint/2010/main" val="42361617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let’s introduce a few more ideas. </a:t>
            </a:r>
          </a:p>
        </p:txBody>
      </p:sp>
      <p:sp>
        <p:nvSpPr>
          <p:cNvPr id="4" name="Slide Number Placeholder 3"/>
          <p:cNvSpPr>
            <a:spLocks noGrp="1"/>
          </p:cNvSpPr>
          <p:nvPr>
            <p:ph type="sldNum" sz="quarter" idx="5"/>
          </p:nvPr>
        </p:nvSpPr>
        <p:spPr/>
        <p:txBody>
          <a:bodyPr/>
          <a:lstStyle/>
          <a:p>
            <a:fld id="{4AF79E1B-2C51-4B9B-8EA4-26DE9E345AFF}" type="slidenum">
              <a:rPr lang="en-US" smtClean="0"/>
              <a:t>10</a:t>
            </a:fld>
            <a:endParaRPr lang="en-US"/>
          </a:p>
        </p:txBody>
      </p:sp>
    </p:spTree>
    <p:extLst>
      <p:ext uri="{BB962C8B-B14F-4D97-AF65-F5344CB8AC3E}">
        <p14:creationId xmlns:p14="http://schemas.microsoft.com/office/powerpoint/2010/main" val="41547006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directly related to the idea that if beta is the ME of 1, then the ME of 100 is 100*beta. May come in useful for your homework assignment – feel free to rescale variables as desired. </a:t>
            </a:r>
          </a:p>
        </p:txBody>
      </p:sp>
      <p:sp>
        <p:nvSpPr>
          <p:cNvPr id="4" name="Slide Number Placeholder 3"/>
          <p:cNvSpPr>
            <a:spLocks noGrp="1"/>
          </p:cNvSpPr>
          <p:nvPr>
            <p:ph type="sldNum" sz="quarter" idx="5"/>
          </p:nvPr>
        </p:nvSpPr>
        <p:spPr/>
        <p:txBody>
          <a:bodyPr/>
          <a:lstStyle/>
          <a:p>
            <a:fld id="{4AF79E1B-2C51-4B9B-8EA4-26DE9E345AFF}" type="slidenum">
              <a:rPr lang="en-US" smtClean="0"/>
              <a:t>11</a:t>
            </a:fld>
            <a:endParaRPr lang="en-US"/>
          </a:p>
        </p:txBody>
      </p:sp>
    </p:spTree>
    <p:extLst>
      <p:ext uri="{BB962C8B-B14F-4D97-AF65-F5344CB8AC3E}">
        <p14:creationId xmlns:p14="http://schemas.microsoft.com/office/powerpoint/2010/main" val="77123297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 all change by the same amount</a:t>
            </a:r>
          </a:p>
        </p:txBody>
      </p:sp>
      <p:sp>
        <p:nvSpPr>
          <p:cNvPr id="4" name="Slide Number Placeholder 3"/>
          <p:cNvSpPr>
            <a:spLocks noGrp="1"/>
          </p:cNvSpPr>
          <p:nvPr>
            <p:ph type="sldNum" sz="quarter" idx="5"/>
          </p:nvPr>
        </p:nvSpPr>
        <p:spPr/>
        <p:txBody>
          <a:bodyPr/>
          <a:lstStyle/>
          <a:p>
            <a:fld id="{4AF79E1B-2C51-4B9B-8EA4-26DE9E345AFF}" type="slidenum">
              <a:rPr lang="en-US" smtClean="0"/>
              <a:t>12</a:t>
            </a:fld>
            <a:endParaRPr lang="en-US"/>
          </a:p>
        </p:txBody>
      </p:sp>
    </p:spTree>
    <p:extLst>
      <p:ext uri="{BB962C8B-B14F-4D97-AF65-F5344CB8AC3E}">
        <p14:creationId xmlns:p14="http://schemas.microsoft.com/office/powerpoint/2010/main" val="358278475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Briefly mention scaling regressors, which we talked about last time. Here, each point is a state in the US; do we want all states to be counted equally in our regression? </a:t>
            </a:r>
          </a:p>
        </p:txBody>
      </p:sp>
      <p:sp>
        <p:nvSpPr>
          <p:cNvPr id="4" name="Slide Number Placeholder 3"/>
          <p:cNvSpPr>
            <a:spLocks noGrp="1"/>
          </p:cNvSpPr>
          <p:nvPr>
            <p:ph type="sldNum" sz="quarter" idx="5"/>
          </p:nvPr>
        </p:nvSpPr>
        <p:spPr/>
        <p:txBody>
          <a:bodyPr/>
          <a:lstStyle/>
          <a:p>
            <a:fld id="{4AF79E1B-2C51-4B9B-8EA4-26DE9E345AFF}" type="slidenum">
              <a:rPr lang="en-US" smtClean="0"/>
              <a:t>13</a:t>
            </a:fld>
            <a:endParaRPr lang="en-US"/>
          </a:p>
        </p:txBody>
      </p:sp>
    </p:spTree>
    <p:extLst>
      <p:ext uri="{BB962C8B-B14F-4D97-AF65-F5344CB8AC3E}">
        <p14:creationId xmlns:p14="http://schemas.microsoft.com/office/powerpoint/2010/main" val="75721355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without smoothing</a:t>
            </a:r>
          </a:p>
        </p:txBody>
      </p:sp>
      <p:sp>
        <p:nvSpPr>
          <p:cNvPr id="4" name="Slide Number Placeholder 3"/>
          <p:cNvSpPr>
            <a:spLocks noGrp="1"/>
          </p:cNvSpPr>
          <p:nvPr>
            <p:ph type="sldNum" sz="quarter" idx="5"/>
          </p:nvPr>
        </p:nvSpPr>
        <p:spPr/>
        <p:txBody>
          <a:bodyPr/>
          <a:lstStyle/>
          <a:p>
            <a:fld id="{4AF79E1B-2C51-4B9B-8EA4-26DE9E345AFF}" type="slidenum">
              <a:rPr lang="en-US" smtClean="0"/>
              <a:t>14</a:t>
            </a:fld>
            <a:endParaRPr lang="en-US"/>
          </a:p>
        </p:txBody>
      </p:sp>
    </p:spTree>
    <p:extLst>
      <p:ext uri="{BB962C8B-B14F-4D97-AF65-F5344CB8AC3E}">
        <p14:creationId xmlns:p14="http://schemas.microsoft.com/office/powerpoint/2010/main" val="133811044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is the difference? Are we over-stating or under-stating the true effect here without the weighting (overstating, the line is steeper)</a:t>
            </a:r>
          </a:p>
          <a:p>
            <a:r>
              <a:rPr lang="en-US" dirty="0"/>
              <a:t>What causes the differences here? </a:t>
            </a:r>
          </a:p>
          <a:p>
            <a:r>
              <a:rPr lang="en-US" dirty="0"/>
              <a:t>Note: does our case study use weighting? Yes! By the NIS provided discharge weight to make </a:t>
            </a:r>
            <a:r>
              <a:rPr lang="en-US" i="1" dirty="0"/>
              <a:t>procedures </a:t>
            </a:r>
            <a:r>
              <a:rPr lang="en-US" i="0" dirty="0"/>
              <a:t>nationally representative. </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15</a:t>
            </a:fld>
            <a:endParaRPr lang="en-US"/>
          </a:p>
        </p:txBody>
      </p:sp>
    </p:spTree>
    <p:extLst>
      <p:ext uri="{BB962C8B-B14F-4D97-AF65-F5344CB8AC3E}">
        <p14:creationId xmlns:p14="http://schemas.microsoft.com/office/powerpoint/2010/main" val="211711240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talked about this last week</a:t>
            </a:r>
          </a:p>
        </p:txBody>
      </p:sp>
      <p:sp>
        <p:nvSpPr>
          <p:cNvPr id="4" name="Slide Number Placeholder 3"/>
          <p:cNvSpPr>
            <a:spLocks noGrp="1"/>
          </p:cNvSpPr>
          <p:nvPr>
            <p:ph type="sldNum" sz="quarter" idx="5"/>
          </p:nvPr>
        </p:nvSpPr>
        <p:spPr/>
        <p:txBody>
          <a:bodyPr/>
          <a:lstStyle/>
          <a:p>
            <a:fld id="{4AF79E1B-2C51-4B9B-8EA4-26DE9E345AFF}" type="slidenum">
              <a:rPr lang="en-US" smtClean="0"/>
              <a:t>16</a:t>
            </a:fld>
            <a:endParaRPr lang="en-US"/>
          </a:p>
        </p:txBody>
      </p:sp>
    </p:spTree>
    <p:extLst>
      <p:ext uri="{BB962C8B-B14F-4D97-AF65-F5344CB8AC3E}">
        <p14:creationId xmlns:p14="http://schemas.microsoft.com/office/powerpoint/2010/main" val="154759287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17</a:t>
            </a:fld>
            <a:endParaRPr lang="en-US"/>
          </a:p>
        </p:txBody>
      </p:sp>
    </p:spTree>
    <p:extLst>
      <p:ext uri="{BB962C8B-B14F-4D97-AF65-F5344CB8AC3E}">
        <p14:creationId xmlns:p14="http://schemas.microsoft.com/office/powerpoint/2010/main" val="386099548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18</a:t>
            </a:fld>
            <a:endParaRPr lang="en-US"/>
          </a:p>
        </p:txBody>
      </p:sp>
    </p:spTree>
    <p:extLst>
      <p:ext uri="{BB962C8B-B14F-4D97-AF65-F5344CB8AC3E}">
        <p14:creationId xmlns:p14="http://schemas.microsoft.com/office/powerpoint/2010/main" val="28435627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cs typeface="Times New Roman" panose="02020603050405020304" pitchFamily="18" charset="0"/>
              </a:rPr>
              <a:t>Example: income distribution </a:t>
            </a:r>
          </a:p>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19</a:t>
            </a:fld>
            <a:endParaRPr lang="en-US"/>
          </a:p>
        </p:txBody>
      </p:sp>
    </p:spTree>
    <p:extLst>
      <p:ext uri="{BB962C8B-B14F-4D97-AF65-F5344CB8AC3E}">
        <p14:creationId xmlns:p14="http://schemas.microsoft.com/office/powerpoint/2010/main" val="12213517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does it mean to get selective with your data? That’s a bold move. </a:t>
            </a:r>
          </a:p>
        </p:txBody>
      </p:sp>
      <p:sp>
        <p:nvSpPr>
          <p:cNvPr id="4" name="Slide Number Placeholder 3"/>
          <p:cNvSpPr>
            <a:spLocks noGrp="1"/>
          </p:cNvSpPr>
          <p:nvPr>
            <p:ph type="sldNum" sz="quarter" idx="5"/>
          </p:nvPr>
        </p:nvSpPr>
        <p:spPr/>
        <p:txBody>
          <a:bodyPr/>
          <a:lstStyle/>
          <a:p>
            <a:fld id="{4AF79E1B-2C51-4B9B-8EA4-26DE9E345AFF}" type="slidenum">
              <a:rPr lang="en-US" smtClean="0"/>
              <a:t>20</a:t>
            </a:fld>
            <a:endParaRPr lang="en-US"/>
          </a:p>
        </p:txBody>
      </p:sp>
    </p:spTree>
    <p:extLst>
      <p:ext uri="{BB962C8B-B14F-4D97-AF65-F5344CB8AC3E}">
        <p14:creationId xmlns:p14="http://schemas.microsoft.com/office/powerpoint/2010/main" val="108625819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all about interpretation – what does it mean to interpret a single marginal effect if the distribution is wonky? Change from 10000 to 20000 annually versus change from 200000 to 210000</a:t>
            </a:r>
          </a:p>
        </p:txBody>
      </p:sp>
      <p:sp>
        <p:nvSpPr>
          <p:cNvPr id="4" name="Slide Number Placeholder 3"/>
          <p:cNvSpPr>
            <a:spLocks noGrp="1"/>
          </p:cNvSpPr>
          <p:nvPr>
            <p:ph type="sldNum" sz="quarter" idx="5"/>
          </p:nvPr>
        </p:nvSpPr>
        <p:spPr/>
        <p:txBody>
          <a:bodyPr/>
          <a:lstStyle/>
          <a:p>
            <a:fld id="{4AF79E1B-2C51-4B9B-8EA4-26DE9E345AFF}" type="slidenum">
              <a:rPr lang="en-US" smtClean="0"/>
              <a:t>21</a:t>
            </a:fld>
            <a:endParaRPr lang="en-US"/>
          </a:p>
        </p:txBody>
      </p:sp>
    </p:spTree>
    <p:extLst>
      <p:ext uri="{BB962C8B-B14F-4D97-AF65-F5344CB8AC3E}">
        <p14:creationId xmlns:p14="http://schemas.microsoft.com/office/powerpoint/2010/main" val="274186118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22</a:t>
            </a:fld>
            <a:endParaRPr lang="en-US"/>
          </a:p>
        </p:txBody>
      </p:sp>
    </p:spTree>
    <p:extLst>
      <p:ext uri="{BB962C8B-B14F-4D97-AF65-F5344CB8AC3E}">
        <p14:creationId xmlns:p14="http://schemas.microsoft.com/office/powerpoint/2010/main" val="50848148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get this in a regression? Use the natural log! Do this on the board. </a:t>
            </a:r>
          </a:p>
        </p:txBody>
      </p:sp>
      <p:sp>
        <p:nvSpPr>
          <p:cNvPr id="4" name="Slide Number Placeholder 3"/>
          <p:cNvSpPr>
            <a:spLocks noGrp="1"/>
          </p:cNvSpPr>
          <p:nvPr>
            <p:ph type="sldNum" sz="quarter" idx="5"/>
          </p:nvPr>
        </p:nvSpPr>
        <p:spPr/>
        <p:txBody>
          <a:bodyPr/>
          <a:lstStyle/>
          <a:p>
            <a:fld id="{4AF79E1B-2C51-4B9B-8EA4-26DE9E345AFF}" type="slidenum">
              <a:rPr lang="en-US" smtClean="0"/>
              <a:t>23</a:t>
            </a:fld>
            <a:endParaRPr lang="en-US"/>
          </a:p>
        </p:txBody>
      </p:sp>
    </p:spTree>
    <p:extLst>
      <p:ext uri="{BB962C8B-B14F-4D97-AF65-F5344CB8AC3E}">
        <p14:creationId xmlns:p14="http://schemas.microsoft.com/office/powerpoint/2010/main" val="80890763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24</a:t>
            </a:fld>
            <a:endParaRPr lang="en-US"/>
          </a:p>
        </p:txBody>
      </p:sp>
    </p:spTree>
    <p:extLst>
      <p:ext uri="{BB962C8B-B14F-4D97-AF65-F5344CB8AC3E}">
        <p14:creationId xmlns:p14="http://schemas.microsoft.com/office/powerpoint/2010/main" val="368353235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x is large, log(x+1) \approx. log(x). So this works for like health spending or income data, and is defined for 0s. Hence, percentages don’t really work for small x. </a:t>
            </a:r>
          </a:p>
          <a:p>
            <a:endParaRPr lang="en-US" dirty="0"/>
          </a:p>
          <a:p>
            <a:r>
              <a:rPr lang="en-US" dirty="0"/>
              <a:t>There are others, </a:t>
            </a:r>
            <a:r>
              <a:rPr lang="en-US" dirty="0" err="1"/>
              <a:t>sinh</a:t>
            </a:r>
            <a:r>
              <a:rPr lang="en-US" dirty="0"/>
              <a:t>^{-1}, square root, etc. (coming up in a few slides)</a:t>
            </a:r>
          </a:p>
        </p:txBody>
      </p:sp>
      <p:sp>
        <p:nvSpPr>
          <p:cNvPr id="4" name="Slide Number Placeholder 3"/>
          <p:cNvSpPr>
            <a:spLocks noGrp="1"/>
          </p:cNvSpPr>
          <p:nvPr>
            <p:ph type="sldNum" sz="quarter" idx="5"/>
          </p:nvPr>
        </p:nvSpPr>
        <p:spPr/>
        <p:txBody>
          <a:bodyPr/>
          <a:lstStyle/>
          <a:p>
            <a:fld id="{4AF79E1B-2C51-4B9B-8EA4-26DE9E345AFF}" type="slidenum">
              <a:rPr lang="en-US" smtClean="0"/>
              <a:t>25</a:t>
            </a:fld>
            <a:endParaRPr lang="en-US"/>
          </a:p>
        </p:txBody>
      </p:sp>
    </p:spTree>
    <p:extLst>
      <p:ext uri="{BB962C8B-B14F-4D97-AF65-F5344CB8AC3E}">
        <p14:creationId xmlns:p14="http://schemas.microsoft.com/office/powerpoint/2010/main" val="28822015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26</a:t>
            </a:fld>
            <a:endParaRPr lang="en-US"/>
          </a:p>
        </p:txBody>
      </p:sp>
    </p:spTree>
    <p:extLst>
      <p:ext uri="{BB962C8B-B14F-4D97-AF65-F5344CB8AC3E}">
        <p14:creationId xmlns:p14="http://schemas.microsoft.com/office/powerpoint/2010/main" val="365048145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27</a:t>
            </a:fld>
            <a:endParaRPr lang="en-US"/>
          </a:p>
        </p:txBody>
      </p:sp>
    </p:spTree>
    <p:extLst>
      <p:ext uri="{BB962C8B-B14F-4D97-AF65-F5344CB8AC3E}">
        <p14:creationId xmlns:p14="http://schemas.microsoft.com/office/powerpoint/2010/main" val="41108369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 the same as before, but one of the variables is in percent and one is in levels – just depends which one you want</a:t>
            </a:r>
          </a:p>
        </p:txBody>
      </p:sp>
      <p:sp>
        <p:nvSpPr>
          <p:cNvPr id="4" name="Slide Number Placeholder 3"/>
          <p:cNvSpPr>
            <a:spLocks noGrp="1"/>
          </p:cNvSpPr>
          <p:nvPr>
            <p:ph type="sldNum" sz="quarter" idx="5"/>
          </p:nvPr>
        </p:nvSpPr>
        <p:spPr/>
        <p:txBody>
          <a:bodyPr/>
          <a:lstStyle/>
          <a:p>
            <a:fld id="{4AF79E1B-2C51-4B9B-8EA4-26DE9E345AFF}" type="slidenum">
              <a:rPr lang="en-US" smtClean="0"/>
              <a:t>28</a:t>
            </a:fld>
            <a:endParaRPr lang="en-US"/>
          </a:p>
        </p:txBody>
      </p:sp>
    </p:spTree>
    <p:extLst>
      <p:ext uri="{BB962C8B-B14F-4D97-AF65-F5344CB8AC3E}">
        <p14:creationId xmlns:p14="http://schemas.microsoft.com/office/powerpoint/2010/main" val="328910550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version where both are in percentages. </a:t>
            </a:r>
          </a:p>
          <a:p>
            <a:r>
              <a:rPr lang="en-US" dirty="0"/>
              <a:t>Quick example on logs: suppose we do </a:t>
            </a:r>
          </a:p>
          <a:p>
            <a:pPr marL="228600" indent="-228600">
              <a:buAutoNum type="arabicPeriod"/>
            </a:pPr>
            <a:r>
              <a:rPr lang="en-US" dirty="0"/>
              <a:t>y=bx, where b=5. Then how do we interpret? </a:t>
            </a:r>
          </a:p>
          <a:p>
            <a:pPr marL="228600" indent="-228600">
              <a:buAutoNum type="arabicPeriod"/>
            </a:pPr>
            <a:r>
              <a:rPr lang="en-US" dirty="0"/>
              <a:t>Y=b*log(x) where b = 5. Then a 1% increase in x corresponds to a 5*.01 = 0.05 unit increase in y </a:t>
            </a:r>
          </a:p>
          <a:p>
            <a:pPr marL="228600" indent="-228600">
              <a:buAutoNum type="arabicPeriod"/>
            </a:pPr>
            <a:r>
              <a:rPr lang="en-US" dirty="0"/>
              <a:t>Log(y) = b*x where b = 5. Then a 1 unit increase in x corresponds to a 500% (5-fold increase) in y</a:t>
            </a:r>
          </a:p>
          <a:p>
            <a:pPr marL="228600" indent="-228600">
              <a:buAutoNum type="arabicPeriod"/>
            </a:pPr>
            <a:r>
              <a:rPr lang="en-US" dirty="0"/>
              <a:t>Log(y) = b*log(x). Then a 1% increase in x corresponds to a 0.05 increase in log(y), so roughly a 5% increase in y.</a:t>
            </a:r>
          </a:p>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29</a:t>
            </a:fld>
            <a:endParaRPr lang="en-US"/>
          </a:p>
        </p:txBody>
      </p:sp>
    </p:spTree>
    <p:extLst>
      <p:ext uri="{BB962C8B-B14F-4D97-AF65-F5344CB8AC3E}">
        <p14:creationId xmlns:p14="http://schemas.microsoft.com/office/powerpoint/2010/main" val="341641180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hipster one – do it and you’re cool. Can also handle negative numbers if you need </a:t>
            </a:r>
          </a:p>
        </p:txBody>
      </p:sp>
      <p:sp>
        <p:nvSpPr>
          <p:cNvPr id="4" name="Slide Number Placeholder 3"/>
          <p:cNvSpPr>
            <a:spLocks noGrp="1"/>
          </p:cNvSpPr>
          <p:nvPr>
            <p:ph type="sldNum" sz="quarter" idx="5"/>
          </p:nvPr>
        </p:nvSpPr>
        <p:spPr/>
        <p:txBody>
          <a:bodyPr/>
          <a:lstStyle/>
          <a:p>
            <a:fld id="{4AF79E1B-2C51-4B9B-8EA4-26DE9E345AFF}" type="slidenum">
              <a:rPr lang="en-US" smtClean="0"/>
              <a:t>30</a:t>
            </a:fld>
            <a:endParaRPr lang="en-US"/>
          </a:p>
        </p:txBody>
      </p:sp>
    </p:spTree>
    <p:extLst>
      <p:ext uri="{BB962C8B-B14F-4D97-AF65-F5344CB8AC3E}">
        <p14:creationId xmlns:p14="http://schemas.microsoft.com/office/powerpoint/2010/main" val="424107779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common practice if the units are already weird (e.g., points on a happiness scale), and moves to more data-driven units.  (another not shown is square root)</a:t>
            </a:r>
          </a:p>
        </p:txBody>
      </p:sp>
      <p:sp>
        <p:nvSpPr>
          <p:cNvPr id="4" name="Slide Number Placeholder 3"/>
          <p:cNvSpPr>
            <a:spLocks noGrp="1"/>
          </p:cNvSpPr>
          <p:nvPr>
            <p:ph type="sldNum" sz="quarter" idx="5"/>
          </p:nvPr>
        </p:nvSpPr>
        <p:spPr/>
        <p:txBody>
          <a:bodyPr/>
          <a:lstStyle/>
          <a:p>
            <a:fld id="{4AF79E1B-2C51-4B9B-8EA4-26DE9E345AFF}" type="slidenum">
              <a:rPr lang="en-US" smtClean="0"/>
              <a:t>31</a:t>
            </a:fld>
            <a:endParaRPr lang="en-US"/>
          </a:p>
        </p:txBody>
      </p:sp>
    </p:spTree>
    <p:extLst>
      <p:ext uri="{BB962C8B-B14F-4D97-AF65-F5344CB8AC3E}">
        <p14:creationId xmlns:p14="http://schemas.microsoft.com/office/powerpoint/2010/main" val="241361055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Example: </a:t>
            </a:r>
            <a:r>
              <a:rPr lang="en-US" sz="1200" dirty="0">
                <a:cs typeface="Times New Roman" panose="02020603050405020304" pitchFamily="18" charset="0"/>
              </a:rPr>
              <a:t>what is the effect of radiology on survival? Well that depends on different groups of cancer patients </a:t>
            </a:r>
          </a:p>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33</a:t>
            </a:fld>
            <a:endParaRPr lang="en-US"/>
          </a:p>
        </p:txBody>
      </p:sp>
    </p:spTree>
    <p:extLst>
      <p:ext uri="{BB962C8B-B14F-4D97-AF65-F5344CB8AC3E}">
        <p14:creationId xmlns:p14="http://schemas.microsoft.com/office/powerpoint/2010/main" val="283677369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add what’s called an interaction term – here, X is the effect of radiation, and Z is an indicator variable for different type of cancer. What do each of the coefficients mean? </a:t>
            </a:r>
          </a:p>
        </p:txBody>
      </p:sp>
      <p:sp>
        <p:nvSpPr>
          <p:cNvPr id="4" name="Slide Number Placeholder 3"/>
          <p:cNvSpPr>
            <a:spLocks noGrp="1"/>
          </p:cNvSpPr>
          <p:nvPr>
            <p:ph type="sldNum" sz="quarter" idx="5"/>
          </p:nvPr>
        </p:nvSpPr>
        <p:spPr/>
        <p:txBody>
          <a:bodyPr/>
          <a:lstStyle/>
          <a:p>
            <a:fld id="{4AF79E1B-2C51-4B9B-8EA4-26DE9E345AFF}" type="slidenum">
              <a:rPr lang="en-US" smtClean="0"/>
              <a:t>34</a:t>
            </a:fld>
            <a:endParaRPr lang="en-US"/>
          </a:p>
        </p:txBody>
      </p:sp>
    </p:spTree>
    <p:extLst>
      <p:ext uri="{BB962C8B-B14F-4D97-AF65-F5344CB8AC3E}">
        <p14:creationId xmlns:p14="http://schemas.microsoft.com/office/powerpoint/2010/main" val="321162527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can interpret </a:t>
            </a:r>
            <a:r>
              <a:rPr lang="en-US" dirty="0" err="1"/>
              <a:t>coefs</a:t>
            </a:r>
            <a:r>
              <a:rPr lang="en-US" dirty="0"/>
              <a:t> 1 and 2 easily, what about 3?</a:t>
            </a:r>
          </a:p>
        </p:txBody>
      </p:sp>
      <p:sp>
        <p:nvSpPr>
          <p:cNvPr id="4" name="Slide Number Placeholder 3"/>
          <p:cNvSpPr>
            <a:spLocks noGrp="1"/>
          </p:cNvSpPr>
          <p:nvPr>
            <p:ph type="sldNum" sz="quarter" idx="5"/>
          </p:nvPr>
        </p:nvSpPr>
        <p:spPr/>
        <p:txBody>
          <a:bodyPr/>
          <a:lstStyle/>
          <a:p>
            <a:fld id="{4AF79E1B-2C51-4B9B-8EA4-26DE9E345AFF}" type="slidenum">
              <a:rPr lang="en-US" smtClean="0"/>
              <a:t>35</a:t>
            </a:fld>
            <a:endParaRPr lang="en-US"/>
          </a:p>
        </p:txBody>
      </p:sp>
    </p:spTree>
    <p:extLst>
      <p:ext uri="{BB962C8B-B14F-4D97-AF65-F5344CB8AC3E}">
        <p14:creationId xmlns:p14="http://schemas.microsoft.com/office/powerpoint/2010/main" val="300695264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don’t have an interaction model in our case study (what might it be?) so let’s circle back there. This is from last time – the impact of including a dummy is an intercept shift</a:t>
            </a:r>
          </a:p>
        </p:txBody>
      </p:sp>
      <p:sp>
        <p:nvSpPr>
          <p:cNvPr id="4" name="Slide Number Placeholder 3"/>
          <p:cNvSpPr>
            <a:spLocks noGrp="1"/>
          </p:cNvSpPr>
          <p:nvPr>
            <p:ph type="sldNum" sz="quarter" idx="5"/>
          </p:nvPr>
        </p:nvSpPr>
        <p:spPr/>
        <p:txBody>
          <a:bodyPr/>
          <a:lstStyle/>
          <a:p>
            <a:fld id="{4AF79E1B-2C51-4B9B-8EA4-26DE9E345AFF}" type="slidenum">
              <a:rPr lang="en-US" smtClean="0"/>
              <a:t>36</a:t>
            </a:fld>
            <a:endParaRPr lang="en-US"/>
          </a:p>
        </p:txBody>
      </p:sp>
    </p:spTree>
    <p:extLst>
      <p:ext uri="{BB962C8B-B14F-4D97-AF65-F5344CB8AC3E}">
        <p14:creationId xmlns:p14="http://schemas.microsoft.com/office/powerpoint/2010/main" val="362116465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interaction is a change in slope for two groups – here, we estimate happiness as a function of life expectancy * (</a:t>
            </a:r>
            <a:r>
              <a:rPr lang="en-US" dirty="0" err="1"/>
              <a:t>latin</a:t>
            </a:r>
            <a:r>
              <a:rPr lang="en-US" dirty="0"/>
              <a:t> America) to get </a:t>
            </a:r>
            <a:r>
              <a:rPr lang="en-US" b="1" dirty="0"/>
              <a:t>separate slopes </a:t>
            </a:r>
            <a:r>
              <a:rPr lang="en-US" b="0" dirty="0"/>
              <a:t>for each region. Show on board that we really have to do both. </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37</a:t>
            </a:fld>
            <a:endParaRPr lang="en-US"/>
          </a:p>
        </p:txBody>
      </p:sp>
    </p:spTree>
    <p:extLst>
      <p:ext uri="{BB962C8B-B14F-4D97-AF65-F5344CB8AC3E}">
        <p14:creationId xmlns:p14="http://schemas.microsoft.com/office/powerpoint/2010/main" val="363271575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Interaction terms are everywhere in risk adjustment! </a:t>
            </a:r>
          </a:p>
        </p:txBody>
      </p:sp>
      <p:sp>
        <p:nvSpPr>
          <p:cNvPr id="4" name="Slide Number Placeholder 3"/>
          <p:cNvSpPr>
            <a:spLocks noGrp="1"/>
          </p:cNvSpPr>
          <p:nvPr>
            <p:ph type="sldNum" sz="quarter" idx="5"/>
          </p:nvPr>
        </p:nvSpPr>
        <p:spPr/>
        <p:txBody>
          <a:bodyPr/>
          <a:lstStyle/>
          <a:p>
            <a:fld id="{4AF79E1B-2C51-4B9B-8EA4-26DE9E345AFF}" type="slidenum">
              <a:rPr lang="en-US" smtClean="0"/>
              <a:t>38</a:t>
            </a:fld>
            <a:endParaRPr lang="en-US"/>
          </a:p>
        </p:txBody>
      </p:sp>
    </p:spTree>
    <p:extLst>
      <p:ext uri="{BB962C8B-B14F-4D97-AF65-F5344CB8AC3E}">
        <p14:creationId xmlns:p14="http://schemas.microsoft.com/office/powerpoint/2010/main" val="397973503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just a level shift, but different margin here. </a:t>
            </a:r>
          </a:p>
        </p:txBody>
      </p:sp>
      <p:sp>
        <p:nvSpPr>
          <p:cNvPr id="4" name="Slide Number Placeholder 3"/>
          <p:cNvSpPr>
            <a:spLocks noGrp="1"/>
          </p:cNvSpPr>
          <p:nvPr>
            <p:ph type="sldNum" sz="quarter" idx="5"/>
          </p:nvPr>
        </p:nvSpPr>
        <p:spPr/>
        <p:txBody>
          <a:bodyPr/>
          <a:lstStyle/>
          <a:p>
            <a:fld id="{4AF79E1B-2C51-4B9B-8EA4-26DE9E345AFF}" type="slidenum">
              <a:rPr lang="en-US" smtClean="0"/>
              <a:t>39</a:t>
            </a:fld>
            <a:endParaRPr lang="en-US"/>
          </a:p>
        </p:txBody>
      </p:sp>
    </p:spTree>
    <p:extLst>
      <p:ext uri="{BB962C8B-B14F-4D97-AF65-F5344CB8AC3E}">
        <p14:creationId xmlns:p14="http://schemas.microsoft.com/office/powerpoint/2010/main" val="53753029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Typically, interactions make more sense when one of the variables is categorical, but you can estimate this. For interpretation, you would generally “pin down” a comparison (e.g., say the change in marginal effect of BMI on costs for a 50-yo to a 60-yo)</a:t>
            </a:r>
          </a:p>
        </p:txBody>
      </p:sp>
      <p:sp>
        <p:nvSpPr>
          <p:cNvPr id="4" name="Slide Number Placeholder 3"/>
          <p:cNvSpPr>
            <a:spLocks noGrp="1"/>
          </p:cNvSpPr>
          <p:nvPr>
            <p:ph type="sldNum" sz="quarter" idx="5"/>
          </p:nvPr>
        </p:nvSpPr>
        <p:spPr/>
        <p:txBody>
          <a:bodyPr/>
          <a:lstStyle/>
          <a:p>
            <a:fld id="{4AF79E1B-2C51-4B9B-8EA4-26DE9E345AFF}" type="slidenum">
              <a:rPr lang="en-US" smtClean="0"/>
              <a:t>40</a:t>
            </a:fld>
            <a:endParaRPr lang="en-US"/>
          </a:p>
        </p:txBody>
      </p:sp>
    </p:spTree>
    <p:extLst>
      <p:ext uri="{BB962C8B-B14F-4D97-AF65-F5344CB8AC3E}">
        <p14:creationId xmlns:p14="http://schemas.microsoft.com/office/powerpoint/2010/main" val="32615710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41</a:t>
            </a:fld>
            <a:endParaRPr lang="en-US"/>
          </a:p>
        </p:txBody>
      </p:sp>
    </p:spTree>
    <p:extLst>
      <p:ext uri="{BB962C8B-B14F-4D97-AF65-F5344CB8AC3E}">
        <p14:creationId xmlns:p14="http://schemas.microsoft.com/office/powerpoint/2010/main" val="391130400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on 1 – R will mostly do this for you, but don’t leave it up to chance. You have to do this to not keep open back doors (DAG) Note on 2: if we let the data do whatever it wants, we’ll find results that don’t mean much. </a:t>
            </a:r>
          </a:p>
        </p:txBody>
      </p:sp>
      <p:sp>
        <p:nvSpPr>
          <p:cNvPr id="4" name="Slide Number Placeholder 3"/>
          <p:cNvSpPr>
            <a:spLocks noGrp="1"/>
          </p:cNvSpPr>
          <p:nvPr>
            <p:ph type="sldNum" sz="quarter" idx="5"/>
          </p:nvPr>
        </p:nvSpPr>
        <p:spPr/>
        <p:txBody>
          <a:bodyPr/>
          <a:lstStyle/>
          <a:p>
            <a:fld id="{4AF79E1B-2C51-4B9B-8EA4-26DE9E345AFF}" type="slidenum">
              <a:rPr lang="en-US" smtClean="0"/>
              <a:t>42</a:t>
            </a:fld>
            <a:endParaRPr lang="en-US"/>
          </a:p>
        </p:txBody>
      </p:sp>
    </p:spTree>
    <p:extLst>
      <p:ext uri="{BB962C8B-B14F-4D97-AF65-F5344CB8AC3E}">
        <p14:creationId xmlns:p14="http://schemas.microsoft.com/office/powerpoint/2010/main" val="43564376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3E8F9F-B7E9-8820-CA29-73B28033BD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4EECB8-2E4B-A803-B827-71DC1622D5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78B451-6149-DB45-E346-C6AF233160D0}"/>
              </a:ext>
            </a:extLst>
          </p:cNvPr>
          <p:cNvSpPr>
            <a:spLocks noGrp="1"/>
          </p:cNvSpPr>
          <p:nvPr>
            <p:ph type="body" idx="1"/>
          </p:nvPr>
        </p:nvSpPr>
        <p:spPr/>
        <p:txBody>
          <a:bodyPr/>
          <a:lstStyle/>
          <a:p>
            <a:r>
              <a:rPr lang="en-US" dirty="0"/>
              <a:t>Let’s start with some descriptives here – what does this tell you? Who are these groups? Who is the adequate control group (the benchmark study they replicate uses the private insurance group, is that the right control group?)? </a:t>
            </a:r>
          </a:p>
        </p:txBody>
      </p:sp>
      <p:sp>
        <p:nvSpPr>
          <p:cNvPr id="4" name="Slide Number Placeholder 3">
            <a:extLst>
              <a:ext uri="{FF2B5EF4-FFF2-40B4-BE49-F238E27FC236}">
                <a16:creationId xmlns:a16="http://schemas.microsoft.com/office/drawing/2014/main" id="{E2919854-F36D-CC81-F270-989FA1147A58}"/>
              </a:ext>
            </a:extLst>
          </p:cNvPr>
          <p:cNvSpPr>
            <a:spLocks noGrp="1"/>
          </p:cNvSpPr>
          <p:nvPr>
            <p:ph type="sldNum" sz="quarter" idx="5"/>
          </p:nvPr>
        </p:nvSpPr>
        <p:spPr/>
        <p:txBody>
          <a:bodyPr/>
          <a:lstStyle/>
          <a:p>
            <a:fld id="{4AF79E1B-2C51-4B9B-8EA4-26DE9E345AFF}" type="slidenum">
              <a:rPr lang="en-US" smtClean="0"/>
              <a:t>43</a:t>
            </a:fld>
            <a:endParaRPr lang="en-US"/>
          </a:p>
        </p:txBody>
      </p:sp>
    </p:spTree>
    <p:extLst>
      <p:ext uri="{BB962C8B-B14F-4D97-AF65-F5344CB8AC3E}">
        <p14:creationId xmlns:p14="http://schemas.microsoft.com/office/powerpoint/2010/main" val="250761089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EEA8E6-F212-1C3B-D40A-923EB53E01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FC34A8-981B-D992-39B8-3DB261DC58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DE5AB5-6F1F-80B7-3468-3B9B1DA3086E}"/>
              </a:ext>
            </a:extLst>
          </p:cNvPr>
          <p:cNvSpPr>
            <a:spLocks noGrp="1"/>
          </p:cNvSpPr>
          <p:nvPr>
            <p:ph type="body" idx="1"/>
          </p:nvPr>
        </p:nvSpPr>
        <p:spPr/>
        <p:txBody>
          <a:bodyPr/>
          <a:lstStyle/>
          <a:p>
            <a:r>
              <a:rPr lang="en-US" dirty="0"/>
              <a:t>We’re going to ignore the logit bit for now and just focus on coefficient sizes.</a:t>
            </a:r>
          </a:p>
        </p:txBody>
      </p:sp>
      <p:sp>
        <p:nvSpPr>
          <p:cNvPr id="4" name="Slide Number Placeholder 3">
            <a:extLst>
              <a:ext uri="{FF2B5EF4-FFF2-40B4-BE49-F238E27FC236}">
                <a16:creationId xmlns:a16="http://schemas.microsoft.com/office/drawing/2014/main" id="{712C3E84-39C0-CCC5-126A-84FD514377D8}"/>
              </a:ext>
            </a:extLst>
          </p:cNvPr>
          <p:cNvSpPr>
            <a:spLocks noGrp="1"/>
          </p:cNvSpPr>
          <p:nvPr>
            <p:ph type="sldNum" sz="quarter" idx="5"/>
          </p:nvPr>
        </p:nvSpPr>
        <p:spPr/>
        <p:txBody>
          <a:bodyPr/>
          <a:lstStyle/>
          <a:p>
            <a:fld id="{4AF79E1B-2C51-4B9B-8EA4-26DE9E345AFF}" type="slidenum">
              <a:rPr lang="en-US" smtClean="0"/>
              <a:t>44</a:t>
            </a:fld>
            <a:endParaRPr lang="en-US"/>
          </a:p>
        </p:txBody>
      </p:sp>
    </p:spTree>
    <p:extLst>
      <p:ext uri="{BB962C8B-B14F-4D97-AF65-F5344CB8AC3E}">
        <p14:creationId xmlns:p14="http://schemas.microsoft.com/office/powerpoint/2010/main" val="49044794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EE6FC1-81CE-BA06-4F94-73B632EF5F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9014E4-2056-3A12-08CA-CD9F2A7DF0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9C0B9B-6B4B-740B-A442-A59EE3F89391}"/>
              </a:ext>
            </a:extLst>
          </p:cNvPr>
          <p:cNvSpPr>
            <a:spLocks noGrp="1"/>
          </p:cNvSpPr>
          <p:nvPr>
            <p:ph type="body" idx="1"/>
          </p:nvPr>
        </p:nvSpPr>
        <p:spPr/>
        <p:txBody>
          <a:bodyPr/>
          <a:lstStyle/>
          <a:p>
            <a:r>
              <a:rPr lang="en-US" dirty="0"/>
              <a:t>These include indicators for height below the25th percentile for age and sex, diabetes diagnosis before age 18, smoking initiation before age 16, current or past homelessness, and reported current mental health difficulty. </a:t>
            </a:r>
          </a:p>
        </p:txBody>
      </p:sp>
      <p:sp>
        <p:nvSpPr>
          <p:cNvPr id="4" name="Slide Number Placeholder 3">
            <a:extLst>
              <a:ext uri="{FF2B5EF4-FFF2-40B4-BE49-F238E27FC236}">
                <a16:creationId xmlns:a16="http://schemas.microsoft.com/office/drawing/2014/main" id="{7D958AD2-BD26-9F85-1E7F-6CD8B89DF298}"/>
              </a:ext>
            </a:extLst>
          </p:cNvPr>
          <p:cNvSpPr>
            <a:spLocks noGrp="1"/>
          </p:cNvSpPr>
          <p:nvPr>
            <p:ph type="sldNum" sz="quarter" idx="5"/>
          </p:nvPr>
        </p:nvSpPr>
        <p:spPr/>
        <p:txBody>
          <a:bodyPr/>
          <a:lstStyle/>
          <a:p>
            <a:fld id="{4AF79E1B-2C51-4B9B-8EA4-26DE9E345AFF}" type="slidenum">
              <a:rPr lang="en-US" smtClean="0"/>
              <a:t>45</a:t>
            </a:fld>
            <a:endParaRPr lang="en-US"/>
          </a:p>
        </p:txBody>
      </p:sp>
    </p:spTree>
    <p:extLst>
      <p:ext uri="{BB962C8B-B14F-4D97-AF65-F5344CB8AC3E}">
        <p14:creationId xmlns:p14="http://schemas.microsoft.com/office/powerpoint/2010/main" val="208534607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55039F-C46D-5ACD-3384-BA85E75036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B78CFE-5D71-6610-5F53-410936A4C8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0BC915-78E5-662C-7278-ACF1670EC79C}"/>
              </a:ext>
            </a:extLst>
          </p:cNvPr>
          <p:cNvSpPr>
            <a:spLocks noGrp="1"/>
          </p:cNvSpPr>
          <p:nvPr>
            <p:ph type="body" idx="1"/>
          </p:nvPr>
        </p:nvSpPr>
        <p:spPr/>
        <p:txBody>
          <a:bodyPr/>
          <a:lstStyle/>
          <a:p>
            <a:r>
              <a:rPr lang="en-US" dirty="0"/>
              <a:t>Here just focusing on one of the datasets for brevity. This is just the main replication, where Medicaid patients are roughly twice as likely to die compared to privately-insured patients. The bottom panel is what happens when the authors add their controls. Why might that be true? </a:t>
            </a:r>
          </a:p>
        </p:txBody>
      </p:sp>
      <p:sp>
        <p:nvSpPr>
          <p:cNvPr id="4" name="Slide Number Placeholder 3">
            <a:extLst>
              <a:ext uri="{FF2B5EF4-FFF2-40B4-BE49-F238E27FC236}">
                <a16:creationId xmlns:a16="http://schemas.microsoft.com/office/drawing/2014/main" id="{D6EF57F7-F1C1-048C-0317-AAEB43726898}"/>
              </a:ext>
            </a:extLst>
          </p:cNvPr>
          <p:cNvSpPr>
            <a:spLocks noGrp="1"/>
          </p:cNvSpPr>
          <p:nvPr>
            <p:ph type="sldNum" sz="quarter" idx="5"/>
          </p:nvPr>
        </p:nvSpPr>
        <p:spPr/>
        <p:txBody>
          <a:bodyPr/>
          <a:lstStyle/>
          <a:p>
            <a:fld id="{4AF79E1B-2C51-4B9B-8EA4-26DE9E345AFF}" type="slidenum">
              <a:rPr lang="en-US" smtClean="0"/>
              <a:t>46</a:t>
            </a:fld>
            <a:endParaRPr lang="en-US"/>
          </a:p>
        </p:txBody>
      </p:sp>
    </p:spTree>
    <p:extLst>
      <p:ext uri="{BB962C8B-B14F-4D97-AF65-F5344CB8AC3E}">
        <p14:creationId xmlns:p14="http://schemas.microsoft.com/office/powerpoint/2010/main" val="21096496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A9159-707F-0467-7FD2-F923CD1C95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FD0E44-5CDE-1F26-4B57-4DFF325849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6D2355-2FCC-8964-44ED-4078F08F8C50}"/>
              </a:ext>
            </a:extLst>
          </p:cNvPr>
          <p:cNvSpPr>
            <a:spLocks noGrp="1"/>
          </p:cNvSpPr>
          <p:nvPr>
            <p:ph type="body" idx="1"/>
          </p:nvPr>
        </p:nvSpPr>
        <p:spPr/>
        <p:txBody>
          <a:bodyPr/>
          <a:lstStyle/>
          <a:p>
            <a:r>
              <a:rPr lang="en-US" dirty="0"/>
              <a:t>But the two groups aren’t even comparable after adjusting for observable covariates! What does this tell us? </a:t>
            </a:r>
          </a:p>
        </p:txBody>
      </p:sp>
      <p:sp>
        <p:nvSpPr>
          <p:cNvPr id="4" name="Slide Number Placeholder 3">
            <a:extLst>
              <a:ext uri="{FF2B5EF4-FFF2-40B4-BE49-F238E27FC236}">
                <a16:creationId xmlns:a16="http://schemas.microsoft.com/office/drawing/2014/main" id="{14011B61-587C-E6F6-BA09-64889A26B97A}"/>
              </a:ext>
            </a:extLst>
          </p:cNvPr>
          <p:cNvSpPr>
            <a:spLocks noGrp="1"/>
          </p:cNvSpPr>
          <p:nvPr>
            <p:ph type="sldNum" sz="quarter" idx="5"/>
          </p:nvPr>
        </p:nvSpPr>
        <p:spPr/>
        <p:txBody>
          <a:bodyPr/>
          <a:lstStyle/>
          <a:p>
            <a:fld id="{4AF79E1B-2C51-4B9B-8EA4-26DE9E345AFF}" type="slidenum">
              <a:rPr lang="en-US" smtClean="0"/>
              <a:t>47</a:t>
            </a:fld>
            <a:endParaRPr lang="en-US"/>
          </a:p>
        </p:txBody>
      </p:sp>
    </p:spTree>
    <p:extLst>
      <p:ext uri="{BB962C8B-B14F-4D97-AF65-F5344CB8AC3E}">
        <p14:creationId xmlns:p14="http://schemas.microsoft.com/office/powerpoint/2010/main" val="131461322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dirty="0"/>
                  <a:t>Quick example on logs: suppose we do </a:t>
                </a:r>
              </a:p>
              <a:p>
                <a:pPr marL="228600" indent="-228600">
                  <a:buAutoNum type="arabicPeriod"/>
                </a:pPr>
                <a:r>
                  <a:rPr lang="en-US" dirty="0"/>
                  <a:t>y=bx, where b=5. Then how do we interpret? </a:t>
                </a:r>
              </a:p>
              <a:p>
                <a:pPr marL="228600" indent="-228600">
                  <a:buAutoNum type="arabicPeriod"/>
                </a:pPr>
                <a:r>
                  <a:rPr lang="en-US" dirty="0"/>
                  <a:t>Y=b*log(x) where b = 5. Then a 1% increase in x corresponds to a 5*.01 = 0.05 unit increase in y </a:t>
                </a:r>
              </a:p>
              <a:p>
                <a:pPr marL="228600" indent="-228600">
                  <a:buAutoNum type="arabicPeriod"/>
                </a:pPr>
                <a:r>
                  <a:rPr lang="en-US" dirty="0"/>
                  <a:t>Log(y) = b*x where b = 5. Then a 1 unit increase in x corresponds to a 500% (5-fold increase) in y</a:t>
                </a:r>
              </a:p>
              <a:p>
                <a:pPr marL="228600" indent="-228600">
                  <a:buAutoNum type="arabicPeriod"/>
                </a:pPr>
                <a:r>
                  <a:rPr lang="en-US" dirty="0"/>
                  <a:t>Log(y) = b*log(x). Then a 1% increase in x corresponds to a 0.05 increase in log(y), so roughly a 5% increase in y.</a:t>
                </a:r>
              </a:p>
            </p:txBody>
          </p:sp>
        </mc:Choice>
        <mc:Fallback xmlns="">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i="0" dirty="0"/>
                  <a:t>Here are two examples</a:t>
                </a:r>
                <a:r>
                  <a:rPr lang="en-CA" i="0" baseline="0" dirty="0"/>
                  <a:t> where assumption </a:t>
                </a:r>
                <a:r>
                  <a:rPr lang="en-CA" sz="1200"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𝐸(𝜖</a:t>
                </a:r>
                <a:r>
                  <a:rPr lang="en-US" sz="1200" b="0" i="0">
                    <a:solidFill>
                      <a:schemeClr val="tx1">
                        <a:lumMod val="75000"/>
                        <a:lumOff val="25000"/>
                      </a:schemeClr>
                    </a:solidFill>
                    <a:latin typeface="Cambria Math"/>
                    <a:ea typeface="Open Sans" panose="020B0606030504020204" pitchFamily="34" charset="0"/>
                    <a:cs typeface="Open Sans" panose="020B0606030504020204" pitchFamily="34" charset="0"/>
                  </a:rPr>
                  <a:t>|𝑥</a:t>
                </a:r>
                <a:r>
                  <a:rPr lang="en-US" sz="1200" b="0"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a:t>
                </a:r>
                <a:r>
                  <a:rPr lang="en-CA" sz="1200"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=0</a:t>
                </a:r>
                <a:r>
                  <a:rPr lang="en-US" sz="1200" dirty="0"/>
                  <a:t>, is violated.</a:t>
                </a:r>
              </a:p>
              <a:p>
                <a:endParaRPr lang="en-CA" i="0" baseline="0" dirty="0"/>
              </a:p>
              <a:p>
                <a:pPr marL="0" marR="0" indent="0" algn="l" defTabSz="914400" rtl="0" eaLnBrk="1" fontAlgn="auto" latinLnBrk="0" hangingPunct="1">
                  <a:lnSpc>
                    <a:spcPct val="100000"/>
                  </a:lnSpc>
                  <a:spcBef>
                    <a:spcPts val="0"/>
                  </a:spcBef>
                  <a:spcAft>
                    <a:spcPts val="0"/>
                  </a:spcAft>
                  <a:buClrTx/>
                  <a:buSzTx/>
                  <a:buFontTx/>
                  <a:buNone/>
                  <a:tabLst/>
                  <a:defRPr/>
                </a:pPr>
                <a:r>
                  <a:rPr lang="en-CA" i="0" dirty="0"/>
                  <a:t>Effect of Addiction on health (confounding): </a:t>
                </a:r>
                <a:r>
                  <a:rPr lang="en-CA" i="0" dirty="0">
                    <a:latin typeface="+mn-lt"/>
                  </a:rPr>
                  <a:t>Here</a:t>
                </a:r>
                <a:r>
                  <a:rPr lang="en-US" b="0" i="0">
                    <a:solidFill>
                      <a:schemeClr val="tx1">
                        <a:lumMod val="75000"/>
                        <a:lumOff val="25000"/>
                      </a:schemeClr>
                    </a:solidFill>
                    <a:latin typeface="Cambria Math"/>
                    <a:ea typeface="Open Sans" panose="020B0606030504020204" pitchFamily="34" charset="0"/>
                    <a:cs typeface="Open Sans" panose="020B0606030504020204" pitchFamily="34" charset="0"/>
                  </a:rPr>
                  <a:t> </a:t>
                </a:r>
                <a:r>
                  <a:rPr lang="en-CA"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𝐸(𝜖</a:t>
                </a:r>
                <a:r>
                  <a:rPr lang="en-US" i="0">
                    <a:solidFill>
                      <a:schemeClr val="tx1">
                        <a:lumMod val="75000"/>
                        <a:lumOff val="25000"/>
                      </a:schemeClr>
                    </a:solidFill>
                    <a:latin typeface="Cambria Math"/>
                    <a:ea typeface="Open Sans" panose="020B0606030504020204" pitchFamily="34" charset="0"/>
                    <a:cs typeface="Open Sans" panose="020B0606030504020204" pitchFamily="34" charset="0"/>
                  </a:rPr>
                  <a:t>|𝑥</a:t>
                </a:r>
                <a:r>
                  <a:rPr lang="en-US"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a:t>
                </a:r>
                <a:r>
                  <a:rPr lang="en-US" i="0">
                    <a:solidFill>
                      <a:schemeClr val="tx1">
                        <a:lumMod val="75000"/>
                        <a:lumOff val="25000"/>
                      </a:schemeClr>
                    </a:solidFill>
                    <a:latin typeface="Cambria Math"/>
                    <a:ea typeface="Open Sans" panose="020B0606030504020204" pitchFamily="34" charset="0"/>
                    <a:cs typeface="Open Sans" panose="020B0606030504020204" pitchFamily="34" charset="0"/>
                  </a:rPr>
                  <a:t>≠</a:t>
                </a:r>
                <a:r>
                  <a:rPr lang="en-CA"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0</a:t>
                </a:r>
                <a:r>
                  <a:rPr lang="en-US" b="0" i="0">
                    <a:solidFill>
                      <a:schemeClr val="tx1">
                        <a:lumMod val="75000"/>
                        <a:lumOff val="25000"/>
                      </a:schemeClr>
                    </a:solidFill>
                    <a:latin typeface="Cambria Math"/>
                    <a:ea typeface="Open Sans" panose="020B0606030504020204" pitchFamily="34" charset="0"/>
                    <a:cs typeface="Open Sans" panose="020B0606030504020204" pitchFamily="34" charset="0"/>
                  </a:rPr>
                  <a:t> </a:t>
                </a:r>
                <a:r>
                  <a:rPr lang="en-CA" i="0" dirty="0">
                    <a:latin typeface="+mn-lt"/>
                  </a:rPr>
                  <a:t>where there may be factors that are omitted that correlate with the included</a:t>
                </a:r>
                <a:r>
                  <a:rPr lang="en-CA" i="0" baseline="0" dirty="0">
                    <a:latin typeface="+mn-lt"/>
                  </a:rPr>
                  <a:t> explanatory variables.</a:t>
                </a:r>
                <a:endParaRPr lang="en-CA" i="0" dirty="0">
                  <a:latin typeface="+mn-lt"/>
                </a:endParaRPr>
              </a:p>
              <a:p>
                <a:endParaRPr lang="en-CA" dirty="0"/>
              </a:p>
              <a:p>
                <a:r>
                  <a:rPr lang="en-CA" dirty="0"/>
                  <a:t>Censored data: Treatment effectiveness, Number of physician</a:t>
                </a:r>
                <a:r>
                  <a:rPr lang="en-CA" baseline="0" dirty="0"/>
                  <a:t> v</a:t>
                </a:r>
                <a:r>
                  <a:rPr lang="en-CA" dirty="0"/>
                  <a:t>isits in claims data (sample selection):</a:t>
                </a:r>
                <a:r>
                  <a:rPr lang="en-CA" baseline="0" dirty="0"/>
                  <a:t> Wherein the observations on the explanatory variables may be correlated with the error term as a selection rule must be satisfied for observations to be observed. </a:t>
                </a:r>
                <a:endParaRPr lang="en-CA" dirty="0"/>
              </a:p>
              <a:p>
                <a:endParaRPr lang="en-CA" dirty="0"/>
              </a:p>
              <a:p>
                <a:endParaRPr lang="en-CA" dirty="0"/>
              </a:p>
              <a:p>
                <a:endParaRPr lang="en-US" dirty="0"/>
              </a:p>
            </p:txBody>
          </p:sp>
        </mc:Fallback>
      </mc:AlternateContent>
      <p:sp>
        <p:nvSpPr>
          <p:cNvPr id="4" name="Slide Number Placeholder 3"/>
          <p:cNvSpPr>
            <a:spLocks noGrp="1"/>
          </p:cNvSpPr>
          <p:nvPr>
            <p:ph type="sldNum" sz="quarter" idx="5"/>
          </p:nvPr>
        </p:nvSpPr>
        <p:spPr/>
        <p:txBody>
          <a:bodyPr/>
          <a:lstStyle/>
          <a:p>
            <a:fld id="{4AF79E1B-2C51-4B9B-8EA4-26DE9E345AFF}" type="slidenum">
              <a:rPr lang="en-US" smtClean="0"/>
              <a:t>48</a:t>
            </a:fld>
            <a:endParaRPr lang="en-US"/>
          </a:p>
        </p:txBody>
      </p:sp>
    </p:spTree>
    <p:extLst>
      <p:ext uri="{BB962C8B-B14F-4D97-AF65-F5344CB8AC3E}">
        <p14:creationId xmlns:p14="http://schemas.microsoft.com/office/powerpoint/2010/main" val="206736984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We’re </a:t>
            </a:r>
            <a:r>
              <a:rPr lang="en-CA" dirty="0" err="1"/>
              <a:t>gonna</a:t>
            </a:r>
            <a:r>
              <a:rPr lang="en-CA" dirty="0"/>
              <a:t> touch on more threats to internal validity now. </a:t>
            </a:r>
          </a:p>
        </p:txBody>
      </p:sp>
      <p:sp>
        <p:nvSpPr>
          <p:cNvPr id="4" name="Slide Number Placeholder 3"/>
          <p:cNvSpPr>
            <a:spLocks noGrp="1"/>
          </p:cNvSpPr>
          <p:nvPr>
            <p:ph type="sldNum" sz="quarter" idx="5"/>
          </p:nvPr>
        </p:nvSpPr>
        <p:spPr/>
        <p:txBody>
          <a:bodyPr/>
          <a:lstStyle/>
          <a:p>
            <a:fld id="{4AF79E1B-2C51-4B9B-8EA4-26DE9E345AFF}" type="slidenum">
              <a:rPr lang="en-US" smtClean="0"/>
              <a:t>49</a:t>
            </a:fld>
            <a:endParaRPr lang="en-US"/>
          </a:p>
        </p:txBody>
      </p:sp>
    </p:spTree>
    <p:extLst>
      <p:ext uri="{BB962C8B-B14F-4D97-AF65-F5344CB8AC3E}">
        <p14:creationId xmlns:p14="http://schemas.microsoft.com/office/powerpoint/2010/main" val="97719283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Leaving a back door open is a big problem in design-based inference. We’ve talked about this a lot, let’s look at some math real quick. </a:t>
            </a:r>
          </a:p>
        </p:txBody>
      </p:sp>
      <p:sp>
        <p:nvSpPr>
          <p:cNvPr id="4" name="Slide Number Placeholder 3"/>
          <p:cNvSpPr>
            <a:spLocks noGrp="1"/>
          </p:cNvSpPr>
          <p:nvPr>
            <p:ph type="sldNum" sz="quarter" idx="5"/>
          </p:nvPr>
        </p:nvSpPr>
        <p:spPr/>
        <p:txBody>
          <a:bodyPr/>
          <a:lstStyle/>
          <a:p>
            <a:fld id="{4AF79E1B-2C51-4B9B-8EA4-26DE9E345AFF}" type="slidenum">
              <a:rPr lang="en-US" smtClean="0"/>
              <a:t>50</a:t>
            </a:fld>
            <a:endParaRPr lang="en-US"/>
          </a:p>
        </p:txBody>
      </p:sp>
    </p:spTree>
    <p:extLst>
      <p:ext uri="{BB962C8B-B14F-4D97-AF65-F5344CB8AC3E}">
        <p14:creationId xmlns:p14="http://schemas.microsoft.com/office/powerpoint/2010/main" val="217335906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What is the parameter of interest? Alpha. </a:t>
            </a:r>
          </a:p>
          <a:p>
            <a:pPr marL="171450" indent="-171450">
              <a:buFontTx/>
              <a:buChar char="-"/>
            </a:pPr>
            <a:r>
              <a:rPr lang="en-US" dirty="0"/>
              <a:t>What goes in u? Respondents could have high values of u if they spend down their assets to qualify for Medicaid, if they have large medical bills that grant them medically needy status, if they lack employer-sponsored insurance, or if they anticipate costly health problems in the future.</a:t>
            </a:r>
          </a:p>
          <a:p>
            <a:pPr marL="171450" indent="-171450">
              <a:buFontTx/>
              <a:buChar char="-"/>
            </a:pPr>
            <a:r>
              <a:rPr lang="en-US" dirty="0"/>
              <a:t>What unobserved confounders are in epsilon? </a:t>
            </a:r>
          </a:p>
          <a:p>
            <a:pPr marL="171450" indent="-171450">
              <a:buFontTx/>
              <a:buChar char="-"/>
            </a:pPr>
            <a:r>
              <a:rPr lang="en-US" dirty="0"/>
              <a:t>What is the “identifying assumption” here in math? That error term is uncorrelated with regressors, which here means that u and epsilon are not correlated (that is, that rho = 0). Can you imagine a circumstance where “taste” for Medicaid affects mortality risk? Of course! The example in the paper is job loss. </a:t>
            </a:r>
          </a:p>
        </p:txBody>
      </p:sp>
      <p:sp>
        <p:nvSpPr>
          <p:cNvPr id="4" name="Slide Number Placeholder 3"/>
          <p:cNvSpPr>
            <a:spLocks noGrp="1"/>
          </p:cNvSpPr>
          <p:nvPr>
            <p:ph type="sldNum" sz="quarter" idx="5"/>
          </p:nvPr>
        </p:nvSpPr>
        <p:spPr/>
        <p:txBody>
          <a:bodyPr/>
          <a:lstStyle/>
          <a:p>
            <a:fld id="{4AF79E1B-2C51-4B9B-8EA4-26DE9E345AFF}" type="slidenum">
              <a:rPr lang="en-US" smtClean="0"/>
              <a:t>52</a:t>
            </a:fld>
            <a:endParaRPr lang="en-US"/>
          </a:p>
        </p:txBody>
      </p:sp>
    </p:spTree>
    <p:extLst>
      <p:ext uri="{BB962C8B-B14F-4D97-AF65-F5344CB8AC3E}">
        <p14:creationId xmlns:p14="http://schemas.microsoft.com/office/powerpoint/2010/main" val="249562047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AC7035-3FF5-2EDF-6C8E-B9BE497392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ACE4BB-960C-4002-DABD-C757AC1511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E9CE70-A68F-7502-A8A0-C3B14A8B3F8D}"/>
              </a:ext>
            </a:extLst>
          </p:cNvPr>
          <p:cNvSpPr>
            <a:spLocks noGrp="1"/>
          </p:cNvSpPr>
          <p:nvPr>
            <p:ph type="body" idx="1"/>
          </p:nvPr>
        </p:nvSpPr>
        <p:spPr/>
        <p:txBody>
          <a:bodyPr/>
          <a:lstStyle/>
          <a:p>
            <a:r>
              <a:rPr lang="en-US" dirty="0"/>
              <a:t>Specifically, let’s assume that rho varies and recalculate our estimates adjusting for the OVB. There is more in the paper but this is about all we have time for today. </a:t>
            </a:r>
          </a:p>
        </p:txBody>
      </p:sp>
      <p:sp>
        <p:nvSpPr>
          <p:cNvPr id="4" name="Slide Number Placeholder 3">
            <a:extLst>
              <a:ext uri="{FF2B5EF4-FFF2-40B4-BE49-F238E27FC236}">
                <a16:creationId xmlns:a16="http://schemas.microsoft.com/office/drawing/2014/main" id="{253B15B7-8EC7-8DFA-FDD4-BADB6599C503}"/>
              </a:ext>
            </a:extLst>
          </p:cNvPr>
          <p:cNvSpPr>
            <a:spLocks noGrp="1"/>
          </p:cNvSpPr>
          <p:nvPr>
            <p:ph type="sldNum" sz="quarter" idx="5"/>
          </p:nvPr>
        </p:nvSpPr>
        <p:spPr/>
        <p:txBody>
          <a:bodyPr/>
          <a:lstStyle/>
          <a:p>
            <a:fld id="{4AF79E1B-2C51-4B9B-8EA4-26DE9E345AFF}" type="slidenum">
              <a:rPr lang="en-US" smtClean="0"/>
              <a:t>53</a:t>
            </a:fld>
            <a:endParaRPr lang="en-US"/>
          </a:p>
        </p:txBody>
      </p:sp>
    </p:spTree>
    <p:extLst>
      <p:ext uri="{BB962C8B-B14F-4D97-AF65-F5344CB8AC3E}">
        <p14:creationId xmlns:p14="http://schemas.microsoft.com/office/powerpoint/2010/main" val="83454184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4A3E6-0C44-2E1F-9461-555C02C01D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4836D5-1E6B-64D4-92FA-D1D09595CCB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A3BB36C-F54F-CC02-D775-A91DCC9AB491}"/>
              </a:ext>
            </a:extLst>
          </p:cNvPr>
          <p:cNvSpPr>
            <a:spLocks noGrp="1"/>
          </p:cNvSpPr>
          <p:nvPr>
            <p:ph type="body" idx="1"/>
          </p:nvPr>
        </p:nvSpPr>
        <p:spPr/>
        <p:txBody>
          <a:bodyPr/>
          <a:lstStyle/>
          <a:p>
            <a:r>
              <a:rPr lang="en-US" dirty="0"/>
              <a:t>What’s the takeaway? Even small correlation = complete </a:t>
            </a:r>
            <a:r>
              <a:rPr lang="en-US" dirty="0" err="1"/>
              <a:t>uninterpretability</a:t>
            </a:r>
            <a:r>
              <a:rPr lang="en-US" dirty="0"/>
              <a:t>! </a:t>
            </a:r>
          </a:p>
          <a:p>
            <a:r>
              <a:rPr lang="en-US" dirty="0"/>
              <a:t>- Another result that is in the paper that we can’t discuss here: </a:t>
            </a:r>
            <a:r>
              <a:rPr lang="en-US" dirty="0" err="1"/>
              <a:t>unobservables</a:t>
            </a:r>
            <a:r>
              <a:rPr lang="en-US" dirty="0"/>
              <a:t> (like income) needed to vary only by 16%–28% as much as the observables to explain the cross-sectional relationship between Medicaid and mortality.</a:t>
            </a:r>
          </a:p>
        </p:txBody>
      </p:sp>
      <p:sp>
        <p:nvSpPr>
          <p:cNvPr id="4" name="Slide Number Placeholder 3">
            <a:extLst>
              <a:ext uri="{FF2B5EF4-FFF2-40B4-BE49-F238E27FC236}">
                <a16:creationId xmlns:a16="http://schemas.microsoft.com/office/drawing/2014/main" id="{D85D7B93-610E-4F72-E544-24FA51435F40}"/>
              </a:ext>
            </a:extLst>
          </p:cNvPr>
          <p:cNvSpPr>
            <a:spLocks noGrp="1"/>
          </p:cNvSpPr>
          <p:nvPr>
            <p:ph type="sldNum" sz="quarter" idx="5"/>
          </p:nvPr>
        </p:nvSpPr>
        <p:spPr/>
        <p:txBody>
          <a:bodyPr/>
          <a:lstStyle/>
          <a:p>
            <a:fld id="{4AF79E1B-2C51-4B9B-8EA4-26DE9E345AFF}" type="slidenum">
              <a:rPr lang="en-US" smtClean="0"/>
              <a:t>54</a:t>
            </a:fld>
            <a:endParaRPr lang="en-US"/>
          </a:p>
        </p:txBody>
      </p:sp>
    </p:spTree>
    <p:extLst>
      <p:ext uri="{BB962C8B-B14F-4D97-AF65-F5344CB8AC3E}">
        <p14:creationId xmlns:p14="http://schemas.microsoft.com/office/powerpoint/2010/main" val="406451664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Attenuation is a common refrain in published papers, but measurement error is more complicated than that!</a:t>
            </a:r>
          </a:p>
        </p:txBody>
      </p:sp>
      <p:sp>
        <p:nvSpPr>
          <p:cNvPr id="4" name="Slide Number Placeholder 3"/>
          <p:cNvSpPr>
            <a:spLocks noGrp="1"/>
          </p:cNvSpPr>
          <p:nvPr>
            <p:ph type="sldNum" sz="quarter" idx="5"/>
          </p:nvPr>
        </p:nvSpPr>
        <p:spPr/>
        <p:txBody>
          <a:bodyPr/>
          <a:lstStyle/>
          <a:p>
            <a:fld id="{4AF79E1B-2C51-4B9B-8EA4-26DE9E345AFF}" type="slidenum">
              <a:rPr lang="en-US" smtClean="0"/>
              <a:t>55</a:t>
            </a:fld>
            <a:endParaRPr lang="en-US"/>
          </a:p>
        </p:txBody>
      </p:sp>
    </p:spTree>
    <p:extLst>
      <p:ext uri="{BB962C8B-B14F-4D97-AF65-F5344CB8AC3E}">
        <p14:creationId xmlns:p14="http://schemas.microsoft.com/office/powerpoint/2010/main" val="333907246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might be mismeasured in this data? The authors focus specifically on income, and show that measurement error alone could explain the results in LaPar et al.! </a:t>
            </a:r>
          </a:p>
        </p:txBody>
      </p:sp>
      <p:sp>
        <p:nvSpPr>
          <p:cNvPr id="4" name="Slide Number Placeholder 3"/>
          <p:cNvSpPr>
            <a:spLocks noGrp="1"/>
          </p:cNvSpPr>
          <p:nvPr>
            <p:ph type="sldNum" sz="quarter" idx="5"/>
          </p:nvPr>
        </p:nvSpPr>
        <p:spPr/>
        <p:txBody>
          <a:bodyPr/>
          <a:lstStyle/>
          <a:p>
            <a:fld id="{4AF79E1B-2C51-4B9B-8EA4-26DE9E345AFF}" type="slidenum">
              <a:rPr lang="en-US" smtClean="0"/>
              <a:t>56</a:t>
            </a:fld>
            <a:endParaRPr lang="en-US"/>
          </a:p>
        </p:txBody>
      </p:sp>
    </p:spTree>
    <p:extLst>
      <p:ext uri="{BB962C8B-B14F-4D97-AF65-F5344CB8AC3E}">
        <p14:creationId xmlns:p14="http://schemas.microsoft.com/office/powerpoint/2010/main" val="33330942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when is it really classical? </a:t>
            </a:r>
          </a:p>
        </p:txBody>
      </p:sp>
      <p:sp>
        <p:nvSpPr>
          <p:cNvPr id="4" name="Slide Number Placeholder 3"/>
          <p:cNvSpPr>
            <a:spLocks noGrp="1"/>
          </p:cNvSpPr>
          <p:nvPr>
            <p:ph type="sldNum" sz="quarter" idx="5"/>
          </p:nvPr>
        </p:nvSpPr>
        <p:spPr/>
        <p:txBody>
          <a:bodyPr/>
          <a:lstStyle/>
          <a:p>
            <a:fld id="{4AF79E1B-2C51-4B9B-8EA4-26DE9E345AFF}" type="slidenum">
              <a:rPr lang="en-US" smtClean="0"/>
              <a:t>57</a:t>
            </a:fld>
            <a:endParaRPr lang="en-US"/>
          </a:p>
        </p:txBody>
      </p:sp>
    </p:spTree>
    <p:extLst>
      <p:ext uri="{BB962C8B-B14F-4D97-AF65-F5344CB8AC3E}">
        <p14:creationId xmlns:p14="http://schemas.microsoft.com/office/powerpoint/2010/main" val="399258493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Measurement error can be the result of an open back door, or selection – what health examples are there? </a:t>
            </a:r>
          </a:p>
        </p:txBody>
      </p:sp>
      <p:sp>
        <p:nvSpPr>
          <p:cNvPr id="4" name="Slide Number Placeholder 3"/>
          <p:cNvSpPr>
            <a:spLocks noGrp="1"/>
          </p:cNvSpPr>
          <p:nvPr>
            <p:ph type="sldNum" sz="quarter" idx="5"/>
          </p:nvPr>
        </p:nvSpPr>
        <p:spPr/>
        <p:txBody>
          <a:bodyPr/>
          <a:lstStyle/>
          <a:p>
            <a:fld id="{4AF79E1B-2C51-4B9B-8EA4-26DE9E345AFF}" type="slidenum">
              <a:rPr lang="en-US" smtClean="0"/>
              <a:t>58</a:t>
            </a:fld>
            <a:endParaRPr lang="en-US"/>
          </a:p>
        </p:txBody>
      </p:sp>
    </p:spTree>
    <p:extLst>
      <p:ext uri="{BB962C8B-B14F-4D97-AF65-F5344CB8AC3E}">
        <p14:creationId xmlns:p14="http://schemas.microsoft.com/office/powerpoint/2010/main" val="2337618453"/>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 whole literature on risk adjustment exists to (try to) solve this issue!</a:t>
            </a:r>
          </a:p>
        </p:txBody>
      </p:sp>
      <p:sp>
        <p:nvSpPr>
          <p:cNvPr id="4" name="Slide Number Placeholder 3"/>
          <p:cNvSpPr>
            <a:spLocks noGrp="1"/>
          </p:cNvSpPr>
          <p:nvPr>
            <p:ph type="sldNum" sz="quarter" idx="5"/>
          </p:nvPr>
        </p:nvSpPr>
        <p:spPr/>
        <p:txBody>
          <a:bodyPr/>
          <a:lstStyle/>
          <a:p>
            <a:fld id="{4AF79E1B-2C51-4B9B-8EA4-26DE9E345AFF}" type="slidenum">
              <a:rPr lang="en-US" smtClean="0"/>
              <a:t>59</a:t>
            </a:fld>
            <a:endParaRPr lang="en-US"/>
          </a:p>
        </p:txBody>
      </p:sp>
    </p:spTree>
    <p:extLst>
      <p:ext uri="{BB962C8B-B14F-4D97-AF65-F5344CB8AC3E}">
        <p14:creationId xmlns:p14="http://schemas.microsoft.com/office/powerpoint/2010/main" val="1681335857"/>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5AC24-3E59-FD17-BDF6-1559473FB7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C63714-13FE-4692-EEFA-072FFAC527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3365D7-6BEA-6770-065F-23CCCD58E82B}"/>
              </a:ext>
            </a:extLst>
          </p:cNvPr>
          <p:cNvSpPr>
            <a:spLocks noGrp="1"/>
          </p:cNvSpPr>
          <p:nvPr>
            <p:ph type="body" idx="1"/>
          </p:nvPr>
        </p:nvSpPr>
        <p:spPr/>
        <p:txBody>
          <a:bodyPr/>
          <a:lstStyle/>
          <a:p>
            <a:r>
              <a:rPr lang="en-CA" dirty="0"/>
              <a:t>A whole literature on risk adjustment exists to (try to) solve this issue!</a:t>
            </a:r>
          </a:p>
        </p:txBody>
      </p:sp>
      <p:sp>
        <p:nvSpPr>
          <p:cNvPr id="4" name="Slide Number Placeholder 3">
            <a:extLst>
              <a:ext uri="{FF2B5EF4-FFF2-40B4-BE49-F238E27FC236}">
                <a16:creationId xmlns:a16="http://schemas.microsoft.com/office/drawing/2014/main" id="{4BFDD62B-842C-F839-A5CF-BF0FCDA167A0}"/>
              </a:ext>
            </a:extLst>
          </p:cNvPr>
          <p:cNvSpPr>
            <a:spLocks noGrp="1"/>
          </p:cNvSpPr>
          <p:nvPr>
            <p:ph type="sldNum" sz="quarter" idx="5"/>
          </p:nvPr>
        </p:nvSpPr>
        <p:spPr/>
        <p:txBody>
          <a:bodyPr/>
          <a:lstStyle/>
          <a:p>
            <a:fld id="{4AF79E1B-2C51-4B9B-8EA4-26DE9E345AFF}" type="slidenum">
              <a:rPr lang="en-US" smtClean="0"/>
              <a:t>60</a:t>
            </a:fld>
            <a:endParaRPr lang="en-US"/>
          </a:p>
        </p:txBody>
      </p:sp>
    </p:spTree>
    <p:extLst>
      <p:ext uri="{BB962C8B-B14F-4D97-AF65-F5344CB8AC3E}">
        <p14:creationId xmlns:p14="http://schemas.microsoft.com/office/powerpoint/2010/main" val="219755317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I include age and height in a regression to close back doors, how do I know what is explained by age and what is explained by height? Here, this might not matter (we just care about “growth” as the causal pathway) but what if we could consider a policy that would randomly make people taller. Would that help health? </a:t>
            </a:r>
            <a:r>
              <a:rPr lang="en-US" dirty="0" err="1"/>
              <a:t>Shrugh</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61</a:t>
            </a:fld>
            <a:endParaRPr lang="en-US"/>
          </a:p>
        </p:txBody>
      </p:sp>
    </p:spTree>
    <p:extLst>
      <p:ext uri="{BB962C8B-B14F-4D97-AF65-F5344CB8AC3E}">
        <p14:creationId xmlns:p14="http://schemas.microsoft.com/office/powerpoint/2010/main" val="375110589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have we seen perfect collinearity? Dummy variable trap? </a:t>
            </a:r>
          </a:p>
        </p:txBody>
      </p:sp>
      <p:sp>
        <p:nvSpPr>
          <p:cNvPr id="4" name="Slide Number Placeholder 3"/>
          <p:cNvSpPr>
            <a:spLocks noGrp="1"/>
          </p:cNvSpPr>
          <p:nvPr>
            <p:ph type="sldNum" sz="quarter" idx="5"/>
          </p:nvPr>
        </p:nvSpPr>
        <p:spPr/>
        <p:txBody>
          <a:bodyPr/>
          <a:lstStyle/>
          <a:p>
            <a:fld id="{4AF79E1B-2C51-4B9B-8EA4-26DE9E345AFF}" type="slidenum">
              <a:rPr lang="en-US" smtClean="0"/>
              <a:t>62</a:t>
            </a:fld>
            <a:endParaRPr lang="en-US"/>
          </a:p>
        </p:txBody>
      </p:sp>
    </p:spTree>
    <p:extLst>
      <p:ext uri="{BB962C8B-B14F-4D97-AF65-F5344CB8AC3E}">
        <p14:creationId xmlns:p14="http://schemas.microsoft.com/office/powerpoint/2010/main" val="206608469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about how much it really matters – collinearity is a problem if it messes with the causal parameter of interest, but doesn’t matter if age and height are both controls. What would this mean in the case study? </a:t>
            </a:r>
          </a:p>
          <a:p>
            <a:r>
              <a:rPr lang="en-US" dirty="0"/>
              <a:t>- Main point: when thinking about a causal regression, collinearity is an identification/data problem much more than it is a fixable one. If your main parameter is colinear with another covariate, then you can’t separate out which is causing the main effect, and that’s a fundamentally unfixable problem. The VIF adjustments, etc., aren’t helpful here. You need </a:t>
            </a:r>
            <a:r>
              <a:rPr lang="en-US"/>
              <a:t>exogenous variation!</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63</a:t>
            </a:fld>
            <a:endParaRPr lang="en-US"/>
          </a:p>
        </p:txBody>
      </p:sp>
    </p:spTree>
    <p:extLst>
      <p:ext uri="{BB962C8B-B14F-4D97-AF65-F5344CB8AC3E}">
        <p14:creationId xmlns:p14="http://schemas.microsoft.com/office/powerpoint/2010/main" val="1318691156"/>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D017BE-2D00-D81D-DEFE-AAA70A20DC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CD8716-FEC9-2680-4E62-F629BB7E9C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E27656-6F29-9B71-4466-C294179147A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CA867E-3504-FC60-7A9F-CBF06BDE947F}"/>
              </a:ext>
            </a:extLst>
          </p:cNvPr>
          <p:cNvSpPr>
            <a:spLocks noGrp="1"/>
          </p:cNvSpPr>
          <p:nvPr>
            <p:ph type="sldNum" sz="quarter" idx="5"/>
          </p:nvPr>
        </p:nvSpPr>
        <p:spPr/>
        <p:txBody>
          <a:bodyPr/>
          <a:lstStyle/>
          <a:p>
            <a:fld id="{4AF79E1B-2C51-4B9B-8EA4-26DE9E345AFF}" type="slidenum">
              <a:rPr lang="en-US" smtClean="0"/>
              <a:t>64</a:t>
            </a:fld>
            <a:endParaRPr lang="en-US"/>
          </a:p>
        </p:txBody>
      </p:sp>
    </p:spTree>
    <p:extLst>
      <p:ext uri="{BB962C8B-B14F-4D97-AF65-F5344CB8AC3E}">
        <p14:creationId xmlns:p14="http://schemas.microsoft.com/office/powerpoint/2010/main" val="2848301266"/>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endParaRPr lang="en-US" dirty="0"/>
              </a:p>
            </p:txBody>
          </p:sp>
        </mc:Choice>
        <mc:Fallback xmlns="">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i="0" dirty="0"/>
                  <a:t>Here are two examples</a:t>
                </a:r>
                <a:r>
                  <a:rPr lang="en-CA" i="0" baseline="0" dirty="0"/>
                  <a:t> where assumption </a:t>
                </a:r>
                <a:r>
                  <a:rPr lang="en-CA" sz="1200"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𝐸(𝜖</a:t>
                </a:r>
                <a:r>
                  <a:rPr lang="en-US" sz="1200" b="0" i="0">
                    <a:solidFill>
                      <a:schemeClr val="tx1">
                        <a:lumMod val="75000"/>
                        <a:lumOff val="25000"/>
                      </a:schemeClr>
                    </a:solidFill>
                    <a:latin typeface="Cambria Math"/>
                    <a:ea typeface="Open Sans" panose="020B0606030504020204" pitchFamily="34" charset="0"/>
                    <a:cs typeface="Open Sans" panose="020B0606030504020204" pitchFamily="34" charset="0"/>
                  </a:rPr>
                  <a:t>|𝑥</a:t>
                </a:r>
                <a:r>
                  <a:rPr lang="en-US" sz="1200" b="0"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a:t>
                </a:r>
                <a:r>
                  <a:rPr lang="en-CA" sz="1200"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=0</a:t>
                </a:r>
                <a:r>
                  <a:rPr lang="en-US" sz="1200" dirty="0"/>
                  <a:t>, is violated.</a:t>
                </a:r>
              </a:p>
              <a:p>
                <a:endParaRPr lang="en-CA" i="0" baseline="0" dirty="0"/>
              </a:p>
              <a:p>
                <a:pPr marL="0" marR="0" indent="0" algn="l" defTabSz="914400" rtl="0" eaLnBrk="1" fontAlgn="auto" latinLnBrk="0" hangingPunct="1">
                  <a:lnSpc>
                    <a:spcPct val="100000"/>
                  </a:lnSpc>
                  <a:spcBef>
                    <a:spcPts val="0"/>
                  </a:spcBef>
                  <a:spcAft>
                    <a:spcPts val="0"/>
                  </a:spcAft>
                  <a:buClrTx/>
                  <a:buSzTx/>
                  <a:buFontTx/>
                  <a:buNone/>
                  <a:tabLst/>
                  <a:defRPr/>
                </a:pPr>
                <a:r>
                  <a:rPr lang="en-CA" i="0" dirty="0"/>
                  <a:t>Effect of Addiction on health (confounding): </a:t>
                </a:r>
                <a:r>
                  <a:rPr lang="en-CA" i="0" dirty="0">
                    <a:latin typeface="+mn-lt"/>
                  </a:rPr>
                  <a:t>Here</a:t>
                </a:r>
                <a:r>
                  <a:rPr lang="en-US" b="0" i="0">
                    <a:solidFill>
                      <a:schemeClr val="tx1">
                        <a:lumMod val="75000"/>
                        <a:lumOff val="25000"/>
                      </a:schemeClr>
                    </a:solidFill>
                    <a:latin typeface="Cambria Math"/>
                    <a:ea typeface="Open Sans" panose="020B0606030504020204" pitchFamily="34" charset="0"/>
                    <a:cs typeface="Open Sans" panose="020B0606030504020204" pitchFamily="34" charset="0"/>
                  </a:rPr>
                  <a:t> </a:t>
                </a:r>
                <a:r>
                  <a:rPr lang="en-CA"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𝐸(𝜖</a:t>
                </a:r>
                <a:r>
                  <a:rPr lang="en-US" i="0">
                    <a:solidFill>
                      <a:schemeClr val="tx1">
                        <a:lumMod val="75000"/>
                        <a:lumOff val="25000"/>
                      </a:schemeClr>
                    </a:solidFill>
                    <a:latin typeface="Cambria Math"/>
                    <a:ea typeface="Open Sans" panose="020B0606030504020204" pitchFamily="34" charset="0"/>
                    <a:cs typeface="Open Sans" panose="020B0606030504020204" pitchFamily="34" charset="0"/>
                  </a:rPr>
                  <a:t>|𝑥</a:t>
                </a:r>
                <a:r>
                  <a:rPr lang="en-US"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a:t>
                </a:r>
                <a:r>
                  <a:rPr lang="en-US" i="0">
                    <a:solidFill>
                      <a:schemeClr val="tx1">
                        <a:lumMod val="75000"/>
                        <a:lumOff val="25000"/>
                      </a:schemeClr>
                    </a:solidFill>
                    <a:latin typeface="Cambria Math"/>
                    <a:ea typeface="Open Sans" panose="020B0606030504020204" pitchFamily="34" charset="0"/>
                    <a:cs typeface="Open Sans" panose="020B0606030504020204" pitchFamily="34" charset="0"/>
                  </a:rPr>
                  <a:t>≠</a:t>
                </a:r>
                <a:r>
                  <a:rPr lang="en-CA"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0</a:t>
                </a:r>
                <a:r>
                  <a:rPr lang="en-US" b="0" i="0">
                    <a:solidFill>
                      <a:schemeClr val="tx1">
                        <a:lumMod val="75000"/>
                        <a:lumOff val="25000"/>
                      </a:schemeClr>
                    </a:solidFill>
                    <a:latin typeface="Cambria Math"/>
                    <a:ea typeface="Open Sans" panose="020B0606030504020204" pitchFamily="34" charset="0"/>
                    <a:cs typeface="Open Sans" panose="020B0606030504020204" pitchFamily="34" charset="0"/>
                  </a:rPr>
                  <a:t> </a:t>
                </a:r>
                <a:r>
                  <a:rPr lang="en-CA" i="0" dirty="0">
                    <a:latin typeface="+mn-lt"/>
                  </a:rPr>
                  <a:t>where there may be factors that are omitted that correlate with the included</a:t>
                </a:r>
                <a:r>
                  <a:rPr lang="en-CA" i="0" baseline="0" dirty="0">
                    <a:latin typeface="+mn-lt"/>
                  </a:rPr>
                  <a:t> explanatory variables.</a:t>
                </a:r>
                <a:endParaRPr lang="en-CA" i="0" dirty="0">
                  <a:latin typeface="+mn-lt"/>
                </a:endParaRPr>
              </a:p>
              <a:p>
                <a:endParaRPr lang="en-CA" dirty="0"/>
              </a:p>
              <a:p>
                <a:r>
                  <a:rPr lang="en-CA" dirty="0"/>
                  <a:t>Censored data: Treatment effectiveness, Number of physician</a:t>
                </a:r>
                <a:r>
                  <a:rPr lang="en-CA" baseline="0" dirty="0"/>
                  <a:t> v</a:t>
                </a:r>
                <a:r>
                  <a:rPr lang="en-CA" dirty="0"/>
                  <a:t>isits in claims data (sample selection):</a:t>
                </a:r>
                <a:r>
                  <a:rPr lang="en-CA" baseline="0" dirty="0"/>
                  <a:t> Wherein the observations on the explanatory variables may be correlated with the error term as a selection rule must be satisfied for observations to be observed. </a:t>
                </a:r>
                <a:endParaRPr lang="en-CA" dirty="0"/>
              </a:p>
              <a:p>
                <a:endParaRPr lang="en-CA" dirty="0"/>
              </a:p>
              <a:p>
                <a:endParaRPr lang="en-CA" dirty="0"/>
              </a:p>
              <a:p>
                <a:endParaRPr lang="en-US" dirty="0"/>
              </a:p>
            </p:txBody>
          </p:sp>
        </mc:Fallback>
      </mc:AlternateContent>
      <p:sp>
        <p:nvSpPr>
          <p:cNvPr id="4" name="Slide Number Placeholder 3"/>
          <p:cNvSpPr>
            <a:spLocks noGrp="1"/>
          </p:cNvSpPr>
          <p:nvPr>
            <p:ph type="sldNum" sz="quarter" idx="5"/>
          </p:nvPr>
        </p:nvSpPr>
        <p:spPr/>
        <p:txBody>
          <a:bodyPr/>
          <a:lstStyle/>
          <a:p>
            <a:fld id="{4AF79E1B-2C51-4B9B-8EA4-26DE9E345AFF}" type="slidenum">
              <a:rPr lang="en-US" smtClean="0"/>
              <a:t>65</a:t>
            </a:fld>
            <a:endParaRPr lang="en-US"/>
          </a:p>
        </p:txBody>
      </p:sp>
    </p:spTree>
    <p:extLst>
      <p:ext uri="{BB962C8B-B14F-4D97-AF65-F5344CB8AC3E}">
        <p14:creationId xmlns:p14="http://schemas.microsoft.com/office/powerpoint/2010/main" val="220586930"/>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less of a problem in our data, because we rarely use time series data (which is different from panel). We’ll come back to this a little next semester – takeaway is that beta is still unbiased and inconsistent, but we will tend to overestimate significance (we need to inflate our standard errors to account for correlation) </a:t>
            </a:r>
          </a:p>
        </p:txBody>
      </p:sp>
      <p:sp>
        <p:nvSpPr>
          <p:cNvPr id="4" name="Slide Number Placeholder 3"/>
          <p:cNvSpPr>
            <a:spLocks noGrp="1"/>
          </p:cNvSpPr>
          <p:nvPr>
            <p:ph type="sldNum" sz="quarter" idx="5"/>
          </p:nvPr>
        </p:nvSpPr>
        <p:spPr/>
        <p:txBody>
          <a:bodyPr/>
          <a:lstStyle/>
          <a:p>
            <a:fld id="{4AF79E1B-2C51-4B9B-8EA4-26DE9E345AFF}" type="slidenum">
              <a:rPr lang="en-US" smtClean="0"/>
              <a:t>68</a:t>
            </a:fld>
            <a:endParaRPr lang="en-US"/>
          </a:p>
        </p:txBody>
      </p:sp>
    </p:spTree>
    <p:extLst>
      <p:ext uri="{BB962C8B-B14F-4D97-AF65-F5344CB8AC3E}">
        <p14:creationId xmlns:p14="http://schemas.microsoft.com/office/powerpoint/2010/main" val="7411257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big one for us!</a:t>
            </a:r>
          </a:p>
        </p:txBody>
      </p:sp>
      <p:sp>
        <p:nvSpPr>
          <p:cNvPr id="4" name="Slide Number Placeholder 3"/>
          <p:cNvSpPr>
            <a:spLocks noGrp="1"/>
          </p:cNvSpPr>
          <p:nvPr>
            <p:ph type="sldNum" sz="quarter" idx="5"/>
          </p:nvPr>
        </p:nvSpPr>
        <p:spPr/>
        <p:txBody>
          <a:bodyPr/>
          <a:lstStyle/>
          <a:p>
            <a:fld id="{4AF79E1B-2C51-4B9B-8EA4-26DE9E345AFF}" type="slidenum">
              <a:rPr lang="en-US" smtClean="0"/>
              <a:t>69</a:t>
            </a:fld>
            <a:endParaRPr lang="en-US"/>
          </a:p>
        </p:txBody>
      </p:sp>
    </p:spTree>
    <p:extLst>
      <p:ext uri="{BB962C8B-B14F-4D97-AF65-F5344CB8AC3E}">
        <p14:creationId xmlns:p14="http://schemas.microsoft.com/office/powerpoint/2010/main" val="2861280562"/>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Multiple testing – we’ve talked about this. </a:t>
            </a:r>
          </a:p>
        </p:txBody>
      </p:sp>
      <p:sp>
        <p:nvSpPr>
          <p:cNvPr id="4" name="Slide Number Placeholder 3"/>
          <p:cNvSpPr>
            <a:spLocks noGrp="1"/>
          </p:cNvSpPr>
          <p:nvPr>
            <p:ph type="sldNum" sz="quarter" idx="5"/>
          </p:nvPr>
        </p:nvSpPr>
        <p:spPr/>
        <p:txBody>
          <a:bodyPr/>
          <a:lstStyle/>
          <a:p>
            <a:fld id="{4AF79E1B-2C51-4B9B-8EA4-26DE9E345AFF}" type="slidenum">
              <a:rPr lang="en-US" smtClean="0"/>
              <a:t>70</a:t>
            </a:fld>
            <a:endParaRPr lang="en-US"/>
          </a:p>
        </p:txBody>
      </p:sp>
    </p:spTree>
    <p:extLst>
      <p:ext uri="{BB962C8B-B14F-4D97-AF65-F5344CB8AC3E}">
        <p14:creationId xmlns:p14="http://schemas.microsoft.com/office/powerpoint/2010/main" val="1899994466"/>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introduce robust errors – what we will usually use more is clustered robust. </a:t>
            </a:r>
          </a:p>
        </p:txBody>
      </p:sp>
      <p:sp>
        <p:nvSpPr>
          <p:cNvPr id="4" name="Slide Number Placeholder 3"/>
          <p:cNvSpPr>
            <a:spLocks noGrp="1"/>
          </p:cNvSpPr>
          <p:nvPr>
            <p:ph type="sldNum" sz="quarter" idx="5"/>
          </p:nvPr>
        </p:nvSpPr>
        <p:spPr/>
        <p:txBody>
          <a:bodyPr/>
          <a:lstStyle/>
          <a:p>
            <a:fld id="{4AF79E1B-2C51-4B9B-8EA4-26DE9E345AFF}" type="slidenum">
              <a:rPr lang="en-US" smtClean="0"/>
              <a:t>73</a:t>
            </a:fld>
            <a:endParaRPr lang="en-US"/>
          </a:p>
        </p:txBody>
      </p:sp>
    </p:spTree>
    <p:extLst>
      <p:ext uri="{BB962C8B-B14F-4D97-AF65-F5344CB8AC3E}">
        <p14:creationId xmlns:p14="http://schemas.microsoft.com/office/powerpoint/2010/main" val="54111876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again, we need to inflate our </a:t>
            </a:r>
            <a:r>
              <a:rPr lang="en-US" dirty="0" err="1"/>
              <a:t>Ses</a:t>
            </a:r>
            <a:r>
              <a:rPr lang="en-US" dirty="0"/>
              <a:t> to deal with this. </a:t>
            </a:r>
          </a:p>
        </p:txBody>
      </p:sp>
      <p:sp>
        <p:nvSpPr>
          <p:cNvPr id="4" name="Slide Number Placeholder 3"/>
          <p:cNvSpPr>
            <a:spLocks noGrp="1"/>
          </p:cNvSpPr>
          <p:nvPr>
            <p:ph type="sldNum" sz="quarter" idx="5"/>
          </p:nvPr>
        </p:nvSpPr>
        <p:spPr/>
        <p:txBody>
          <a:bodyPr/>
          <a:lstStyle/>
          <a:p>
            <a:fld id="{4AF79E1B-2C51-4B9B-8EA4-26DE9E345AFF}" type="slidenum">
              <a:rPr lang="en-US" smtClean="0"/>
              <a:t>74</a:t>
            </a:fld>
            <a:endParaRPr lang="en-US"/>
          </a:p>
        </p:txBody>
      </p:sp>
    </p:spTree>
    <p:extLst>
      <p:ext uri="{BB962C8B-B14F-4D97-AF65-F5344CB8AC3E}">
        <p14:creationId xmlns:p14="http://schemas.microsoft.com/office/powerpoint/2010/main" val="1043674570"/>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Sandwich estimator is an econometrician’s fav thing. What do they do with standard errors in this paper? (trick question cause they don’t do anything)</a:t>
            </a:r>
          </a:p>
        </p:txBody>
      </p:sp>
      <p:sp>
        <p:nvSpPr>
          <p:cNvPr id="4" name="Slide Number Placeholder 3"/>
          <p:cNvSpPr>
            <a:spLocks noGrp="1"/>
          </p:cNvSpPr>
          <p:nvPr>
            <p:ph type="sldNum" sz="quarter" idx="5"/>
          </p:nvPr>
        </p:nvSpPr>
        <p:spPr/>
        <p:txBody>
          <a:bodyPr/>
          <a:lstStyle/>
          <a:p>
            <a:fld id="{4AF79E1B-2C51-4B9B-8EA4-26DE9E345AFF}" type="slidenum">
              <a:rPr lang="en-US" smtClean="0"/>
              <a:t>75</a:t>
            </a:fld>
            <a:endParaRPr lang="en-US"/>
          </a:p>
        </p:txBody>
      </p:sp>
    </p:spTree>
    <p:extLst>
      <p:ext uri="{BB962C8B-B14F-4D97-AF65-F5344CB8AC3E}">
        <p14:creationId xmlns:p14="http://schemas.microsoft.com/office/powerpoint/2010/main" val="279387596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Should You Adjust Standard Errors for Clustering? Alberto Abadie, Susan Athey, Guido W. </a:t>
            </a:r>
            <a:r>
              <a:rPr lang="en-US" dirty="0" err="1"/>
              <a:t>Imbens</a:t>
            </a:r>
            <a:r>
              <a:rPr lang="en-US" dirty="0"/>
              <a:t>, and Jeffrey Wooldridge (metrics avengers)</a:t>
            </a:r>
          </a:p>
        </p:txBody>
      </p:sp>
      <p:sp>
        <p:nvSpPr>
          <p:cNvPr id="4" name="Slide Number Placeholder 3"/>
          <p:cNvSpPr>
            <a:spLocks noGrp="1"/>
          </p:cNvSpPr>
          <p:nvPr>
            <p:ph type="sldNum" sz="quarter" idx="5"/>
          </p:nvPr>
        </p:nvSpPr>
        <p:spPr/>
        <p:txBody>
          <a:bodyPr/>
          <a:lstStyle/>
          <a:p>
            <a:fld id="{4AF79E1B-2C51-4B9B-8EA4-26DE9E345AFF}" type="slidenum">
              <a:rPr lang="en-US" smtClean="0"/>
              <a:t>76</a:t>
            </a:fld>
            <a:endParaRPr lang="en-US"/>
          </a:p>
        </p:txBody>
      </p:sp>
    </p:spTree>
    <p:extLst>
      <p:ext uri="{BB962C8B-B14F-4D97-AF65-F5344CB8AC3E}">
        <p14:creationId xmlns:p14="http://schemas.microsoft.com/office/powerpoint/2010/main" val="307668593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you choose what to cluster?</a:t>
            </a:r>
          </a:p>
        </p:txBody>
      </p:sp>
      <p:sp>
        <p:nvSpPr>
          <p:cNvPr id="4" name="Slide Number Placeholder 3"/>
          <p:cNvSpPr>
            <a:spLocks noGrp="1"/>
          </p:cNvSpPr>
          <p:nvPr>
            <p:ph type="sldNum" sz="quarter" idx="5"/>
          </p:nvPr>
        </p:nvSpPr>
        <p:spPr/>
        <p:txBody>
          <a:bodyPr/>
          <a:lstStyle/>
          <a:p>
            <a:fld id="{4AF79E1B-2C51-4B9B-8EA4-26DE9E345AFF}" type="slidenum">
              <a:rPr lang="en-US" smtClean="0"/>
              <a:t>77</a:t>
            </a:fld>
            <a:endParaRPr lang="en-US"/>
          </a:p>
        </p:txBody>
      </p:sp>
    </p:spTree>
    <p:extLst>
      <p:ext uri="{BB962C8B-B14F-4D97-AF65-F5344CB8AC3E}">
        <p14:creationId xmlns:p14="http://schemas.microsoft.com/office/powerpoint/2010/main" val="113465130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 takeaways – cluster at the highest level (e.g., state, not county), but carefully consider when you should cluster (a Type II error is just as bad as a Type I). One rule when you should cluster: fixed effects + treatment heterogeneity. </a:t>
            </a:r>
          </a:p>
        </p:txBody>
      </p:sp>
      <p:sp>
        <p:nvSpPr>
          <p:cNvPr id="4" name="Slide Number Placeholder 3"/>
          <p:cNvSpPr>
            <a:spLocks noGrp="1"/>
          </p:cNvSpPr>
          <p:nvPr>
            <p:ph type="sldNum" sz="quarter" idx="5"/>
          </p:nvPr>
        </p:nvSpPr>
        <p:spPr/>
        <p:txBody>
          <a:bodyPr/>
          <a:lstStyle/>
          <a:p>
            <a:fld id="{4AF79E1B-2C51-4B9B-8EA4-26DE9E345AFF}" type="slidenum">
              <a:rPr lang="en-US" smtClean="0"/>
              <a:t>78</a:t>
            </a:fld>
            <a:endParaRPr lang="en-US"/>
          </a:p>
        </p:txBody>
      </p:sp>
    </p:spTree>
    <p:extLst>
      <p:ext uri="{BB962C8B-B14F-4D97-AF65-F5344CB8AC3E}">
        <p14:creationId xmlns:p14="http://schemas.microsoft.com/office/powerpoint/2010/main" val="164563721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Skip this bit if you want – or defer to appendix for future slides. </a:t>
            </a:r>
          </a:p>
        </p:txBody>
      </p:sp>
      <p:sp>
        <p:nvSpPr>
          <p:cNvPr id="4" name="Slide Number Placeholder 3"/>
          <p:cNvSpPr>
            <a:spLocks noGrp="1"/>
          </p:cNvSpPr>
          <p:nvPr>
            <p:ph type="sldNum" sz="quarter" idx="5"/>
          </p:nvPr>
        </p:nvSpPr>
        <p:spPr/>
        <p:txBody>
          <a:bodyPr/>
          <a:lstStyle/>
          <a:p>
            <a:fld id="{4AF79E1B-2C51-4B9B-8EA4-26DE9E345AFF}" type="slidenum">
              <a:rPr lang="en-US" smtClean="0"/>
              <a:t>81</a:t>
            </a:fld>
            <a:endParaRPr lang="en-US"/>
          </a:p>
        </p:txBody>
      </p:sp>
    </p:spTree>
    <p:extLst>
      <p:ext uri="{BB962C8B-B14F-4D97-AF65-F5344CB8AC3E}">
        <p14:creationId xmlns:p14="http://schemas.microsoft.com/office/powerpoint/2010/main" val="3361374026"/>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82</a:t>
            </a:fld>
            <a:endParaRPr lang="en-US"/>
          </a:p>
        </p:txBody>
      </p:sp>
    </p:spTree>
    <p:extLst>
      <p:ext uri="{BB962C8B-B14F-4D97-AF65-F5344CB8AC3E}">
        <p14:creationId xmlns:p14="http://schemas.microsoft.com/office/powerpoint/2010/main" val="2167178153"/>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83</a:t>
            </a:fld>
            <a:endParaRPr lang="en-US"/>
          </a:p>
        </p:txBody>
      </p:sp>
    </p:spTree>
    <p:extLst>
      <p:ext uri="{BB962C8B-B14F-4D97-AF65-F5344CB8AC3E}">
        <p14:creationId xmlns:p14="http://schemas.microsoft.com/office/powerpoint/2010/main" val="3209251084"/>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Remember, OLS is linear in parameters (not necessarily in data) – it just depends how you plan to interpret the parameters of the funky data you’re giving OLS</a:t>
            </a:r>
          </a:p>
        </p:txBody>
      </p:sp>
      <p:sp>
        <p:nvSpPr>
          <p:cNvPr id="4" name="Slide Number Placeholder 3"/>
          <p:cNvSpPr>
            <a:spLocks noGrp="1"/>
          </p:cNvSpPr>
          <p:nvPr>
            <p:ph type="sldNum" sz="quarter" idx="5"/>
          </p:nvPr>
        </p:nvSpPr>
        <p:spPr/>
        <p:txBody>
          <a:bodyPr/>
          <a:lstStyle/>
          <a:p>
            <a:fld id="{4AF79E1B-2C51-4B9B-8EA4-26DE9E345AFF}" type="slidenum">
              <a:rPr lang="en-US" smtClean="0"/>
              <a:t>84</a:t>
            </a:fld>
            <a:endParaRPr lang="en-US"/>
          </a:p>
        </p:txBody>
      </p:sp>
    </p:spTree>
    <p:extLst>
      <p:ext uri="{BB962C8B-B14F-4D97-AF65-F5344CB8AC3E}">
        <p14:creationId xmlns:p14="http://schemas.microsoft.com/office/powerpoint/2010/main" val="764653464"/>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85</a:t>
            </a:fld>
            <a:endParaRPr lang="en-US"/>
          </a:p>
        </p:txBody>
      </p:sp>
    </p:spTree>
    <p:extLst>
      <p:ext uri="{BB962C8B-B14F-4D97-AF65-F5344CB8AC3E}">
        <p14:creationId xmlns:p14="http://schemas.microsoft.com/office/powerpoint/2010/main" val="213469902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exactly do you do here? Have to generally pick a level of x (mean, for example) for this to make sense. </a:t>
            </a:r>
          </a:p>
        </p:txBody>
      </p:sp>
      <p:sp>
        <p:nvSpPr>
          <p:cNvPr id="4" name="Slide Number Placeholder 3"/>
          <p:cNvSpPr>
            <a:spLocks noGrp="1"/>
          </p:cNvSpPr>
          <p:nvPr>
            <p:ph type="sldNum" sz="quarter" idx="5"/>
          </p:nvPr>
        </p:nvSpPr>
        <p:spPr/>
        <p:txBody>
          <a:bodyPr/>
          <a:lstStyle/>
          <a:p>
            <a:fld id="{4AF79E1B-2C51-4B9B-8EA4-26DE9E345AFF}" type="slidenum">
              <a:rPr lang="en-US" smtClean="0"/>
              <a:t>86</a:t>
            </a:fld>
            <a:endParaRPr lang="en-US"/>
          </a:p>
        </p:txBody>
      </p:sp>
    </p:spTree>
    <p:extLst>
      <p:ext uri="{BB962C8B-B14F-4D97-AF65-F5344CB8AC3E}">
        <p14:creationId xmlns:p14="http://schemas.microsoft.com/office/powerpoint/2010/main" val="405876874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87</a:t>
            </a:fld>
            <a:endParaRPr lang="en-US"/>
          </a:p>
        </p:txBody>
      </p:sp>
    </p:spTree>
    <p:extLst>
      <p:ext uri="{BB962C8B-B14F-4D97-AF65-F5344CB8AC3E}">
        <p14:creationId xmlns:p14="http://schemas.microsoft.com/office/powerpoint/2010/main" val="294988608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0972D05C-DCFB-4BB6-B49C-AC126BF3ED2C}" type="datetimeFigureOut">
              <a:rPr lang="en-US" smtClean="0"/>
              <a:pPr/>
              <a:t>7/22/2026</a:t>
            </a:fld>
            <a:endParaRPr lang="en-US"/>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Tree>
    <p:extLst>
      <p:ext uri="{BB962C8B-B14F-4D97-AF65-F5344CB8AC3E}">
        <p14:creationId xmlns:p14="http://schemas.microsoft.com/office/powerpoint/2010/main" val="156941254"/>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2422212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a:t>Click to edit Master title style</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972D05C-DCFB-4BB6-B49C-AC126BF3ED2C}" type="datetimeFigureOut">
              <a:rPr lang="en-US" smtClean="0"/>
              <a:pPr/>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206479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972D05C-DCFB-4BB6-B49C-AC126BF3ED2C}" type="datetimeFigureOut">
              <a:rPr lang="en-US" smtClean="0"/>
              <a:pPr/>
              <a:t>7/22/2026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0468441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Times New Roman" panose="02020603050405020304" pitchFamily="18" charset="0"/>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en-US" dirty="0"/>
              <a:t>Click to 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972D05C-DCFB-4BB6-B49C-AC126BF3ED2C}" type="datetimeFigureOut">
              <a:rPr lang="en-US" smtClean="0"/>
              <a:pPr/>
              <a:t>7/22/2026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15981615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972D05C-DCFB-4BB6-B49C-AC126BF3ED2C}" type="datetimeFigureOut">
              <a:rPr lang="en-US" smtClean="0"/>
              <a:pPr/>
              <a:t>7/22/2026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810167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972D05C-DCFB-4BB6-B49C-AC126BF3ED2C}" type="datetimeFigureOut">
              <a:rPr lang="en-US" smtClean="0"/>
              <a:pPr/>
              <a:t>7/22/2026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645120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7/22/2026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1628827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1292840" cy="5128923"/>
          </a:xfrm>
          <a:solidFill>
            <a:schemeClr val="accent1"/>
          </a:solid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7/22/2026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9644337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38107662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3908046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latin typeface="Times New Roman" panose="02020603050405020304" pitchFamily="18" charset="0"/>
              </a:defRPr>
            </a:lvl1pPr>
          </a:lstStyle>
          <a:p>
            <a:fld id="{0972D05C-DCFB-4BB6-B49C-AC126BF3ED2C}" type="datetimeFigureOut">
              <a:rPr lang="en-US" smtClean="0"/>
              <a:pPr/>
              <a:t>7/22/2026</a:t>
            </a:fld>
            <a:endParaRPr lang="en-US" dirty="0"/>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latin typeface="Times New Roman" panose="02020603050405020304" pitchFamily="18" charset="0"/>
              </a:defRPr>
            </a:lvl1pPr>
          </a:lstStyle>
          <a:p>
            <a:endParaRPr lang="en-US" dirty="0"/>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latin typeface="Times New Roman" panose="02020603050405020304" pitchFamily="18" charset="0"/>
              </a:defRPr>
            </a:lvl1pPr>
          </a:lstStyle>
          <a:p>
            <a:fld id="{D55C3209-28DC-43DB-92C2-2AB8D1DA00B1}" type="slidenum">
              <a:rPr lang="en-US" smtClean="0"/>
              <a:pPr/>
              <a:t>‹#›</a:t>
            </a:fld>
            <a:endParaRPr lang="en-US" dirty="0"/>
          </a:p>
        </p:txBody>
      </p:sp>
    </p:spTree>
    <p:extLst>
      <p:ext uri="{BB962C8B-B14F-4D97-AF65-F5344CB8AC3E}">
        <p14:creationId xmlns:p14="http://schemas.microsoft.com/office/powerpoint/2010/main" val="3753244356"/>
      </p:ext>
    </p:extLst>
  </p:cSld>
  <p:clrMap bg1="lt1" tx1="dk1" bg2="lt2" tx2="dk2" accent1="accent1" accent2="accent2" accent3="accent3" accent4="accent4" accent5="accent5" accent6="accent6" hlink="hlink" folHlink="folHlink"/>
  <p:sldLayoutIdLst>
    <p:sldLayoutId id="2147483739" r:id="rId1"/>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Lst>
  <p:txStyles>
    <p:title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2.xml"/><Relationship Id="rId7" Type="http://schemas.openxmlformats.org/officeDocument/2006/relationships/image" Target="../media/image9.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10.png"/><Relationship Id="rId5" Type="http://schemas.openxmlformats.org/officeDocument/2006/relationships/image" Target="../media/image61.png"/><Relationship Id="rId4"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70.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10.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4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511.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521.png"/></Relationships>
</file>

<file path=ppt/slides/_rels/slide51.xml.rels><?xml version="1.0" encoding="UTF-8" standalone="yes"?>
<Relationships xmlns="http://schemas.openxmlformats.org/package/2006/relationships"><Relationship Id="rId3" Type="http://schemas.openxmlformats.org/officeDocument/2006/relationships/image" Target="../media/image520.png"/><Relationship Id="rId2" Type="http://schemas.openxmlformats.org/officeDocument/2006/relationships/image" Target="../media/image510.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5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530.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56.xm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38.jpe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600.pn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570.png"/><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notesSlide" Target="../notesSlides/notesSlide64.xml"/><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7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66.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68.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76.xml.rels><?xml version="1.0" encoding="UTF-8" standalone="yes"?>
<Relationships xmlns="http://schemas.openxmlformats.org/package/2006/relationships"><Relationship Id="rId8" Type="http://schemas.openxmlformats.org/officeDocument/2006/relationships/image" Target="../media/image420.png"/><Relationship Id="rId3" Type="http://schemas.openxmlformats.org/officeDocument/2006/relationships/image" Target="../media/image9.png"/><Relationship Id="rId7" Type="http://schemas.openxmlformats.org/officeDocument/2006/relationships/customXml" Target="../ink/ink2.xml"/><Relationship Id="rId2" Type="http://schemas.openxmlformats.org/officeDocument/2006/relationships/notesSlide" Target="../notesSlides/notesSlide69.xml"/><Relationship Id="rId1" Type="http://schemas.openxmlformats.org/officeDocument/2006/relationships/slideLayout" Target="../slideLayouts/slideLayout2.xml"/><Relationship Id="rId6" Type="http://schemas.openxmlformats.org/officeDocument/2006/relationships/image" Target="../media/image350.png"/><Relationship Id="rId5" Type="http://schemas.openxmlformats.org/officeDocument/2006/relationships/customXml" Target="../ink/ink1.xml"/><Relationship Id="rId4" Type="http://schemas.openxmlformats.org/officeDocument/2006/relationships/image" Target="../media/image43.png"/></Relationships>
</file>

<file path=ppt/slides/_rels/slide77.xml.rels><?xml version="1.0" encoding="UTF-8" standalone="yes"?>
<Relationships xmlns="http://schemas.openxmlformats.org/package/2006/relationships"><Relationship Id="rId8" Type="http://schemas.openxmlformats.org/officeDocument/2006/relationships/image" Target="../media/image420.png"/><Relationship Id="rId13" Type="http://schemas.openxmlformats.org/officeDocument/2006/relationships/customXml" Target="../ink/ink7.xml"/><Relationship Id="rId3" Type="http://schemas.openxmlformats.org/officeDocument/2006/relationships/image" Target="../media/image9.png"/><Relationship Id="rId7" Type="http://schemas.openxmlformats.org/officeDocument/2006/relationships/customXml" Target="../ink/ink4.xml"/><Relationship Id="rId12" Type="http://schemas.openxmlformats.org/officeDocument/2006/relationships/image" Target="../media/image44.png"/><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image" Target="../media/image350.png"/><Relationship Id="rId11" Type="http://schemas.openxmlformats.org/officeDocument/2006/relationships/customXml" Target="../ink/ink6.xml"/><Relationship Id="rId5" Type="http://schemas.openxmlformats.org/officeDocument/2006/relationships/customXml" Target="../ink/ink3.xml"/><Relationship Id="rId10" Type="http://schemas.openxmlformats.org/officeDocument/2006/relationships/image" Target="../media/image430.png"/><Relationship Id="rId4" Type="http://schemas.openxmlformats.org/officeDocument/2006/relationships/image" Target="../media/image43.png"/><Relationship Id="rId9" Type="http://schemas.openxmlformats.org/officeDocument/2006/relationships/customXml" Target="../ink/ink5.xml"/><Relationship Id="rId14" Type="http://schemas.openxmlformats.org/officeDocument/2006/relationships/image" Target="../media/image49.png"/></Relationships>
</file>

<file path=ppt/slides/_rels/slide78.xml.rels><?xml version="1.0" encoding="UTF-8" standalone="yes"?>
<Relationships xmlns="http://schemas.openxmlformats.org/package/2006/relationships"><Relationship Id="rId8" Type="http://schemas.openxmlformats.org/officeDocument/2006/relationships/image" Target="../media/image420.png"/><Relationship Id="rId13" Type="http://schemas.openxmlformats.org/officeDocument/2006/relationships/customXml" Target="../ink/ink12.xml"/><Relationship Id="rId18" Type="http://schemas.openxmlformats.org/officeDocument/2006/relationships/image" Target="../media/image51.png"/><Relationship Id="rId26" Type="http://schemas.openxmlformats.org/officeDocument/2006/relationships/image" Target="../media/image55.png"/><Relationship Id="rId3" Type="http://schemas.openxmlformats.org/officeDocument/2006/relationships/image" Target="../media/image9.png"/><Relationship Id="rId21" Type="http://schemas.openxmlformats.org/officeDocument/2006/relationships/customXml" Target="../ink/ink16.xml"/><Relationship Id="rId7" Type="http://schemas.openxmlformats.org/officeDocument/2006/relationships/customXml" Target="../ink/ink9.xml"/><Relationship Id="rId12" Type="http://schemas.openxmlformats.org/officeDocument/2006/relationships/image" Target="../media/image44.png"/><Relationship Id="rId17" Type="http://schemas.openxmlformats.org/officeDocument/2006/relationships/customXml" Target="../ink/ink14.xml"/><Relationship Id="rId25" Type="http://schemas.openxmlformats.org/officeDocument/2006/relationships/customXml" Target="../ink/ink18.xml"/><Relationship Id="rId2" Type="http://schemas.openxmlformats.org/officeDocument/2006/relationships/notesSlide" Target="../notesSlides/notesSlide71.xml"/><Relationship Id="rId16" Type="http://schemas.openxmlformats.org/officeDocument/2006/relationships/image" Target="../media/image50.png"/><Relationship Id="rId20" Type="http://schemas.openxmlformats.org/officeDocument/2006/relationships/image" Target="../media/image52.png"/><Relationship Id="rId1" Type="http://schemas.openxmlformats.org/officeDocument/2006/relationships/slideLayout" Target="../slideLayouts/slideLayout2.xml"/><Relationship Id="rId6" Type="http://schemas.openxmlformats.org/officeDocument/2006/relationships/image" Target="../media/image350.png"/><Relationship Id="rId11" Type="http://schemas.openxmlformats.org/officeDocument/2006/relationships/customXml" Target="../ink/ink11.xml"/><Relationship Id="rId24" Type="http://schemas.openxmlformats.org/officeDocument/2006/relationships/image" Target="../media/image54.png"/><Relationship Id="rId5" Type="http://schemas.openxmlformats.org/officeDocument/2006/relationships/customXml" Target="../ink/ink8.xml"/><Relationship Id="rId15" Type="http://schemas.openxmlformats.org/officeDocument/2006/relationships/customXml" Target="../ink/ink13.xml"/><Relationship Id="rId23" Type="http://schemas.openxmlformats.org/officeDocument/2006/relationships/customXml" Target="../ink/ink17.xml"/><Relationship Id="rId10" Type="http://schemas.openxmlformats.org/officeDocument/2006/relationships/image" Target="../media/image430.png"/><Relationship Id="rId19" Type="http://schemas.openxmlformats.org/officeDocument/2006/relationships/customXml" Target="../ink/ink15.xml"/><Relationship Id="rId4" Type="http://schemas.openxmlformats.org/officeDocument/2006/relationships/image" Target="../media/image43.png"/><Relationship Id="rId9" Type="http://schemas.openxmlformats.org/officeDocument/2006/relationships/customXml" Target="../ink/ink10.xml"/><Relationship Id="rId14" Type="http://schemas.openxmlformats.org/officeDocument/2006/relationships/image" Target="../media/image49.png"/><Relationship Id="rId22" Type="http://schemas.openxmlformats.org/officeDocument/2006/relationships/image" Target="../media/image53.png"/></Relationships>
</file>

<file path=ppt/slides/_rels/slide79.xml.rels><?xml version="1.0" encoding="UTF-8" standalone="yes"?>
<Relationships xmlns="http://schemas.openxmlformats.org/package/2006/relationships"><Relationship Id="rId2" Type="http://schemas.openxmlformats.org/officeDocument/2006/relationships/image" Target="../media/image500.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360.png"/><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370.png"/><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380.png"/><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390.png"/><Relationship Id="rId2" Type="http://schemas.openxmlformats.org/officeDocument/2006/relationships/notesSlide" Target="../notesSlides/notesSlide78.xml"/><Relationship Id="rId1" Type="http://schemas.openxmlformats.org/officeDocument/2006/relationships/slideLayout" Target="../slideLayouts/slideLayout2.xml"/><Relationship Id="rId4"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732020" y="2209800"/>
            <a:ext cx="10774180" cy="1894362"/>
          </a:xfrm>
        </p:spPr>
        <p:txBody>
          <a:bodyPr>
            <a:normAutofit/>
          </a:bodyPr>
          <a:lstStyle/>
          <a:p>
            <a:r>
              <a:rPr lang="en-US" dirty="0"/>
              <a:t>Quant Methods </a:t>
            </a:r>
            <a:r>
              <a:rPr lang="en-US"/>
              <a:t>for HSR I </a:t>
            </a:r>
            <a:endParaRPr lang="en-US" dirty="0"/>
          </a:p>
        </p:txBody>
      </p:sp>
      <p:sp>
        <p:nvSpPr>
          <p:cNvPr id="3" name="Subtitle 2"/>
          <p:cNvSpPr>
            <a:spLocks noGrp="1"/>
          </p:cNvSpPr>
          <p:nvPr>
            <p:ph type="subTitle" idx="1"/>
          </p:nvPr>
        </p:nvSpPr>
        <p:spPr>
          <a:xfrm>
            <a:off x="838200" y="4191000"/>
            <a:ext cx="10515600" cy="1981200"/>
          </a:xfrm>
        </p:spPr>
        <p:txBody>
          <a:bodyPr>
            <a:noAutofit/>
          </a:bodyPr>
          <a:lstStyle/>
          <a:p>
            <a:r>
              <a:rPr lang="en-US" sz="2400" dirty="0"/>
              <a:t>Lecture 4: Getting Fancier with Regression </a:t>
            </a:r>
          </a:p>
          <a:p>
            <a:r>
              <a:rPr lang="en-US" sz="2400" dirty="0"/>
              <a:t>October 5, 2026</a:t>
            </a:r>
          </a:p>
          <a:p>
            <a:endParaRPr lang="en-US" sz="2400" dirty="0"/>
          </a:p>
          <a:p>
            <a:r>
              <a:rPr lang="en-US" sz="2400" dirty="0"/>
              <a:t>HAD5744 </a:t>
            </a:r>
            <a:r>
              <a:rPr lang="en-US" sz="2400" dirty="0">
                <a:sym typeface="Symbol" panose="05050102010706020507" pitchFamily="18" charset="2"/>
              </a:rPr>
              <a:t> </a:t>
            </a:r>
            <a:r>
              <a:rPr lang="en-US" sz="2400" dirty="0"/>
              <a:t>Alex Hoagland, Ph.D.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Other Options with Regressions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066801"/>
            <a:ext cx="9862990" cy="5141388"/>
          </a:xfrm>
        </p:spPr>
        <p:txBody>
          <a:bodyPr>
            <a:normAutofit/>
          </a:bodyPr>
          <a:lstStyle/>
          <a:p>
            <a:r>
              <a:rPr lang="en-US" sz="2400" dirty="0">
                <a:cs typeface="Times New Roman" panose="02020603050405020304" pitchFamily="18" charset="0"/>
              </a:rPr>
              <a:t>There are multiple other things that can be done with a regression</a:t>
            </a:r>
          </a:p>
          <a:p>
            <a:r>
              <a:rPr lang="en-US" sz="2400" dirty="0">
                <a:cs typeface="Times New Roman" panose="02020603050405020304" pitchFamily="18" charset="0"/>
              </a:rPr>
              <a:t>Regression is a </a:t>
            </a:r>
            <a:r>
              <a:rPr lang="en-US" sz="2400" b="1" dirty="0">
                <a:solidFill>
                  <a:srgbClr val="0070C0"/>
                </a:solidFill>
                <a:cs typeface="Times New Roman" panose="02020603050405020304" pitchFamily="18" charset="0"/>
              </a:rPr>
              <a:t>very flexible tool</a:t>
            </a:r>
            <a:endParaRPr lang="en-US" sz="2400" dirty="0">
              <a:solidFill>
                <a:srgbClr val="0070C0"/>
              </a:solidFill>
              <a:cs typeface="Times New Roman" panose="02020603050405020304" pitchFamily="18" charset="0"/>
            </a:endParaRPr>
          </a:p>
          <a:p>
            <a:r>
              <a:rPr lang="en-US" sz="2400" dirty="0">
                <a:cs typeface="Times New Roman" panose="02020603050405020304" pitchFamily="18" charset="0"/>
              </a:rPr>
              <a:t>In class, we’ll cover: </a:t>
            </a:r>
          </a:p>
          <a:p>
            <a:pPr marL="731520" lvl="1" indent="-457200">
              <a:buFont typeface="+mj-lt"/>
              <a:buAutoNum type="arabicPeriod"/>
            </a:pPr>
            <a:r>
              <a:rPr lang="en-US" sz="2400" dirty="0">
                <a:cs typeface="Times New Roman" panose="02020603050405020304" pitchFamily="18" charset="0"/>
              </a:rPr>
              <a:t>Options for variables (scaling &amp; transformations) </a:t>
            </a:r>
          </a:p>
          <a:p>
            <a:pPr marL="731520" lvl="1" indent="-457200">
              <a:buFont typeface="+mj-lt"/>
              <a:buAutoNum type="arabicPeriod"/>
            </a:pPr>
            <a:r>
              <a:rPr lang="en-US" sz="2400" dirty="0">
                <a:cs typeface="Times New Roman" panose="02020603050405020304" pitchFamily="18" charset="0"/>
              </a:rPr>
              <a:t>Interactions</a:t>
            </a:r>
          </a:p>
          <a:p>
            <a:pPr marL="731520" lvl="1" indent="-457200">
              <a:buFont typeface="+mj-lt"/>
              <a:buAutoNum type="arabicPeriod"/>
            </a:pPr>
            <a:r>
              <a:rPr lang="en-US" sz="2400" dirty="0">
                <a:cs typeface="Times New Roman" panose="02020603050405020304" pitchFamily="18" charset="0"/>
              </a:rPr>
              <a:t>Nonlinear effects which are </a:t>
            </a:r>
            <a:r>
              <a:rPr lang="en-US" sz="2400" i="1" dirty="0">
                <a:cs typeface="Times New Roman" panose="02020603050405020304" pitchFamily="18" charset="0"/>
              </a:rPr>
              <a:t>linear</a:t>
            </a:r>
            <a:r>
              <a:rPr lang="en-US" sz="2400" dirty="0">
                <a:cs typeface="Times New Roman" panose="02020603050405020304" pitchFamily="18" charset="0"/>
              </a:rPr>
              <a:t> </a:t>
            </a:r>
            <a:r>
              <a:rPr lang="en-US" sz="2400" i="1" dirty="0">
                <a:cs typeface="Times New Roman" panose="02020603050405020304" pitchFamily="18" charset="0"/>
              </a:rPr>
              <a:t>in</a:t>
            </a:r>
            <a:r>
              <a:rPr lang="en-US" sz="2400" dirty="0">
                <a:cs typeface="Times New Roman" panose="02020603050405020304" pitchFamily="18" charset="0"/>
              </a:rPr>
              <a:t> </a:t>
            </a:r>
            <a:r>
              <a:rPr lang="en-US" sz="2400" i="1" dirty="0">
                <a:cs typeface="Times New Roman" panose="02020603050405020304" pitchFamily="18" charset="0"/>
              </a:rPr>
              <a:t>parameters</a:t>
            </a:r>
            <a:r>
              <a:rPr lang="en-US" sz="2400" dirty="0">
                <a:cs typeface="Times New Roman" panose="02020603050405020304" pitchFamily="18" charset="0"/>
              </a:rPr>
              <a:t> </a:t>
            </a:r>
            <a:r>
              <a:rPr lang="en-US" sz="2400" i="1" dirty="0">
                <a:cs typeface="Times New Roman" panose="02020603050405020304" pitchFamily="18" charset="0"/>
              </a:rPr>
              <a:t>(if there’s time)</a:t>
            </a:r>
          </a:p>
          <a:p>
            <a:pPr marL="731520" lvl="1" indent="-457200">
              <a:buFont typeface="+mj-lt"/>
              <a:buAutoNum type="arabicPeriod"/>
            </a:pPr>
            <a:r>
              <a:rPr lang="en-US" sz="2400" dirty="0">
                <a:cs typeface="Times New Roman" panose="02020603050405020304" pitchFamily="18" charset="0"/>
              </a:rPr>
              <a:t>Notes on standard errors</a:t>
            </a:r>
          </a:p>
          <a:p>
            <a:pPr marL="731520" lvl="1" indent="-457200">
              <a:buFont typeface="+mj-lt"/>
              <a:buAutoNum type="arabicPeriod"/>
            </a:pPr>
            <a:r>
              <a:rPr lang="en-US" sz="2400" dirty="0">
                <a:cs typeface="Times New Roman" panose="02020603050405020304" pitchFamily="18" charset="0"/>
              </a:rPr>
              <a:t>Notes on interpreting regressions with covariates as causal</a:t>
            </a:r>
          </a:p>
          <a:p>
            <a:r>
              <a:rPr lang="en-US" sz="2400" dirty="0">
                <a:cs typeface="Times New Roman" panose="02020603050405020304" pitchFamily="18" charset="0"/>
              </a:rPr>
              <a:t>Later, we’ll cover more nonlinear regression options: </a:t>
            </a:r>
          </a:p>
          <a:p>
            <a:pPr lvl="1"/>
            <a:r>
              <a:rPr lang="en-US" sz="2200" dirty="0">
                <a:cs typeface="Times New Roman" panose="02020603050405020304" pitchFamily="18" charset="0"/>
              </a:rPr>
              <a:t>Binary outcome variables (</a:t>
            </a:r>
            <a:r>
              <a:rPr lang="en-US" sz="2200" dirty="0" err="1">
                <a:cs typeface="Times New Roman" panose="02020603050405020304" pitchFamily="18" charset="0"/>
              </a:rPr>
              <a:t>probit</a:t>
            </a:r>
            <a:r>
              <a:rPr lang="en-US" sz="2200" dirty="0">
                <a:cs typeface="Times New Roman" panose="02020603050405020304" pitchFamily="18" charset="0"/>
              </a:rPr>
              <a:t>/logit)</a:t>
            </a:r>
          </a:p>
          <a:p>
            <a:pPr lvl="1"/>
            <a:r>
              <a:rPr lang="en-US" sz="2200" dirty="0">
                <a:cs typeface="Times New Roman" panose="02020603050405020304" pitchFamily="18" charset="0"/>
              </a:rPr>
              <a:t>General nonparametric approaches</a:t>
            </a:r>
          </a:p>
        </p:txBody>
      </p:sp>
    </p:spTree>
    <p:extLst>
      <p:ext uri="{BB962C8B-B14F-4D97-AF65-F5344CB8AC3E}">
        <p14:creationId xmlns:p14="http://schemas.microsoft.com/office/powerpoint/2010/main" val="8242856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But first…</a:t>
            </a:r>
          </a:p>
        </p:txBody>
      </p:sp>
      <p:pic>
        <p:nvPicPr>
          <p:cNvPr id="6" name="Picture 5">
            <a:extLst>
              <a:ext uri="{FF2B5EF4-FFF2-40B4-BE49-F238E27FC236}">
                <a16:creationId xmlns:a16="http://schemas.microsoft.com/office/drawing/2014/main" id="{18FABF23-63D4-8045-1F8F-6775C282DB0B}"/>
              </a:ext>
            </a:extLst>
          </p:cNvPr>
          <p:cNvPicPr>
            <a:picLocks noChangeAspect="1"/>
          </p:cNvPicPr>
          <p:nvPr/>
        </p:nvPicPr>
        <p:blipFill>
          <a:blip r:embed="rId3"/>
          <a:stretch>
            <a:fillRect/>
          </a:stretch>
        </p:blipFill>
        <p:spPr>
          <a:xfrm>
            <a:off x="32084" y="1143000"/>
            <a:ext cx="11774543" cy="5896798"/>
          </a:xfrm>
          <a:prstGeom prst="rect">
            <a:avLst/>
          </a:prstGeom>
        </p:spPr>
      </p:pic>
    </p:spTree>
    <p:extLst>
      <p:ext uri="{BB962C8B-B14F-4D97-AF65-F5344CB8AC3E}">
        <p14:creationId xmlns:p14="http://schemas.microsoft.com/office/powerpoint/2010/main" val="39494886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9F446-C813-A200-4803-DECAB82C61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4DE3A3-AF4B-8985-A02D-C074836BF1C7}"/>
              </a:ext>
            </a:extLst>
          </p:cNvPr>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But first…</a:t>
            </a:r>
          </a:p>
        </p:txBody>
      </p:sp>
      <p:pic>
        <p:nvPicPr>
          <p:cNvPr id="4" name="Picture 3">
            <a:extLst>
              <a:ext uri="{FF2B5EF4-FFF2-40B4-BE49-F238E27FC236}">
                <a16:creationId xmlns:a16="http://schemas.microsoft.com/office/drawing/2014/main" id="{07D30BFC-92FC-9D40-7964-36F920834C44}"/>
              </a:ext>
            </a:extLst>
          </p:cNvPr>
          <p:cNvPicPr>
            <a:picLocks noChangeAspect="1"/>
          </p:cNvPicPr>
          <p:nvPr/>
        </p:nvPicPr>
        <p:blipFill>
          <a:blip r:embed="rId3"/>
          <a:stretch>
            <a:fillRect/>
          </a:stretch>
        </p:blipFill>
        <p:spPr>
          <a:xfrm>
            <a:off x="0" y="116304"/>
            <a:ext cx="6219777" cy="3846096"/>
          </a:xfrm>
          <a:prstGeom prst="rect">
            <a:avLst/>
          </a:prstGeom>
        </p:spPr>
      </p:pic>
      <p:pic>
        <p:nvPicPr>
          <p:cNvPr id="7" name="Picture 6">
            <a:extLst>
              <a:ext uri="{FF2B5EF4-FFF2-40B4-BE49-F238E27FC236}">
                <a16:creationId xmlns:a16="http://schemas.microsoft.com/office/drawing/2014/main" id="{81C3A404-F206-4BBD-6A1B-D1C8C09D14C6}"/>
              </a:ext>
            </a:extLst>
          </p:cNvPr>
          <p:cNvPicPr>
            <a:picLocks noChangeAspect="1"/>
          </p:cNvPicPr>
          <p:nvPr/>
        </p:nvPicPr>
        <p:blipFill>
          <a:blip r:embed="rId4"/>
          <a:stretch>
            <a:fillRect/>
          </a:stretch>
        </p:blipFill>
        <p:spPr>
          <a:xfrm>
            <a:off x="6371247" y="3011904"/>
            <a:ext cx="5824764" cy="3810001"/>
          </a:xfrm>
          <a:prstGeom prst="rect">
            <a:avLst/>
          </a:prstGeom>
        </p:spPr>
      </p:pic>
    </p:spTree>
    <p:extLst>
      <p:ext uri="{BB962C8B-B14F-4D97-AF65-F5344CB8AC3E}">
        <p14:creationId xmlns:p14="http://schemas.microsoft.com/office/powerpoint/2010/main" val="18348836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a:xfrm>
            <a:off x="838200" y="758952"/>
            <a:ext cx="10896600" cy="4041648"/>
          </a:xfrm>
        </p:spPr>
        <p:txBody>
          <a:bodyPr>
            <a:normAutofit/>
          </a:bodyPr>
          <a:lstStyle/>
          <a:p>
            <a:r>
              <a:rPr lang="en-US" sz="6000" dirty="0">
                <a:solidFill>
                  <a:schemeClr val="accent1">
                    <a:lumMod val="60000"/>
                    <a:lumOff val="40000"/>
                  </a:schemeClr>
                </a:solidFill>
              </a:rPr>
              <a:t>Case Study: </a:t>
            </a:r>
            <a:br>
              <a:rPr lang="en-US" dirty="0"/>
            </a:br>
            <a:r>
              <a:rPr lang="en-US" dirty="0"/>
              <a:t>“</a:t>
            </a:r>
            <a:r>
              <a:rPr lang="en-US" sz="5500" dirty="0"/>
              <a:t>Observational Studies of the Effect of Medicaid on Health: </a:t>
            </a:r>
            <a:br>
              <a:rPr lang="en-US" sz="5500" dirty="0"/>
            </a:br>
            <a:r>
              <a:rPr lang="en-US" sz="5500" dirty="0"/>
              <a:t>Controls Are Not Enough”</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a:xfrm>
            <a:off x="838200" y="4800600"/>
            <a:ext cx="9841992" cy="1691640"/>
          </a:xfrm>
        </p:spPr>
        <p:txBody>
          <a:bodyPr/>
          <a:lstStyle/>
          <a:p>
            <a:r>
              <a:rPr lang="en-US" dirty="0"/>
              <a:t>Seth Freedman,  Andrew Goodman-Bacon, and Noah Hammarlund</a:t>
            </a:r>
          </a:p>
          <a:p>
            <a:r>
              <a:rPr lang="en-US" dirty="0"/>
              <a:t>Journal of Labor Economics, 2021</a:t>
            </a:r>
          </a:p>
        </p:txBody>
      </p:sp>
    </p:spTree>
    <p:extLst>
      <p:ext uri="{BB962C8B-B14F-4D97-AF65-F5344CB8AC3E}">
        <p14:creationId xmlns:p14="http://schemas.microsoft.com/office/powerpoint/2010/main" val="37621683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EA7A-5480-7CAE-008C-D9016996155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608D4D-71B7-298F-B210-AE96290E8424}"/>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What is the setting of this paper? Why is it important?</a:t>
            </a:r>
            <a:endParaRPr lang="en-US" sz="36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25925745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E5C944-ECA2-35F3-5FB1-97A4105B72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3F5E6A-1991-B894-D06A-93BEBF75D5C6}"/>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What is the setting of this paper? Why is it important?</a:t>
            </a:r>
            <a:endParaRPr lang="en-US" sz="3600" dirty="0">
              <a:latin typeface="Times New Roman" panose="02020603050405020304" pitchFamily="18" charset="0"/>
              <a:cs typeface="Times New Roman" panose="02020603050405020304" pitchFamily="18" charset="0"/>
            </a:endParaRPr>
          </a:p>
        </p:txBody>
      </p:sp>
      <p:sp>
        <p:nvSpPr>
          <p:cNvPr id="3" name="Title 1">
            <a:extLst>
              <a:ext uri="{FF2B5EF4-FFF2-40B4-BE49-F238E27FC236}">
                <a16:creationId xmlns:a16="http://schemas.microsoft.com/office/drawing/2014/main" id="{60580908-92B6-C4E7-A060-A2BF21E547BA}"/>
              </a:ext>
            </a:extLst>
          </p:cNvPr>
          <p:cNvSpPr txBox="1">
            <a:spLocks/>
          </p:cNvSpPr>
          <p:nvPr/>
        </p:nvSpPr>
        <p:spPr>
          <a:xfrm>
            <a:off x="762000" y="1066800"/>
            <a:ext cx="10439400" cy="624840"/>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r>
              <a:rPr lang="en-US" sz="3600">
                <a:cs typeface="Times New Roman" panose="02020603050405020304" pitchFamily="18" charset="0"/>
              </a:rPr>
              <a:t>What is this paper arguing?</a:t>
            </a:r>
            <a:endParaRPr lang="en-US" sz="3600" dirty="0">
              <a:cs typeface="Times New Roman" panose="02020603050405020304" pitchFamily="18" charset="0"/>
            </a:endParaRPr>
          </a:p>
        </p:txBody>
      </p:sp>
    </p:spTree>
    <p:extLst>
      <p:ext uri="{BB962C8B-B14F-4D97-AF65-F5344CB8AC3E}">
        <p14:creationId xmlns:p14="http://schemas.microsoft.com/office/powerpoint/2010/main" val="34813389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BC41D-2E34-2B27-5F55-2BCA470BED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B3FFC4-E8D8-8464-B27A-14BB62F7A2EF}"/>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What is the setting of this paper? Why is it important?</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1D362303-A2AE-2970-114D-334C1C4E0D79}"/>
              </a:ext>
            </a:extLst>
          </p:cNvPr>
          <p:cNvSpPr>
            <a:spLocks noGrp="1"/>
          </p:cNvSpPr>
          <p:nvPr>
            <p:ph idx="1"/>
          </p:nvPr>
        </p:nvSpPr>
        <p:spPr>
          <a:xfrm>
            <a:off x="762000" y="1981200"/>
            <a:ext cx="9095232" cy="4198937"/>
          </a:xfrm>
        </p:spPr>
        <p:txBody>
          <a:bodyPr>
            <a:normAutofit/>
          </a:bodyPr>
          <a:lstStyle/>
          <a:p>
            <a:r>
              <a:rPr lang="en-US" sz="2400" dirty="0"/>
              <a:t>Cross-sectional studies have found a lot of different results</a:t>
            </a:r>
          </a:p>
          <a:p>
            <a:r>
              <a:rPr lang="en-US" sz="2400" dirty="0"/>
              <a:t>Some argue Medicaid patients have </a:t>
            </a:r>
            <a:r>
              <a:rPr lang="en-US" sz="2400" i="1" dirty="0"/>
              <a:t>worse </a:t>
            </a:r>
            <a:r>
              <a:rPr lang="en-US" sz="2400" dirty="0"/>
              <a:t>outcomes compared to nonrecipients</a:t>
            </a:r>
          </a:p>
          <a:p>
            <a:r>
              <a:rPr lang="en-US" sz="2400" dirty="0"/>
              <a:t>Others use “plausibly exogenous” changes in Medicaid coverage and find benefits</a:t>
            </a:r>
          </a:p>
          <a:p>
            <a:r>
              <a:rPr lang="en-US" sz="2400" dirty="0"/>
              <a:t>Are there RCTs? What did they find? </a:t>
            </a:r>
          </a:p>
          <a:p>
            <a:endParaRPr lang="en-US" sz="2400" dirty="0"/>
          </a:p>
        </p:txBody>
      </p:sp>
      <p:sp>
        <p:nvSpPr>
          <p:cNvPr id="3" name="Title 1">
            <a:extLst>
              <a:ext uri="{FF2B5EF4-FFF2-40B4-BE49-F238E27FC236}">
                <a16:creationId xmlns:a16="http://schemas.microsoft.com/office/drawing/2014/main" id="{ADF1441A-9EC9-7851-10A5-B84FF05E47A6}"/>
              </a:ext>
            </a:extLst>
          </p:cNvPr>
          <p:cNvSpPr txBox="1">
            <a:spLocks/>
          </p:cNvSpPr>
          <p:nvPr/>
        </p:nvSpPr>
        <p:spPr>
          <a:xfrm>
            <a:off x="762000" y="1066800"/>
            <a:ext cx="10439400" cy="624840"/>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r>
              <a:rPr lang="en-US" sz="3600">
                <a:cs typeface="Times New Roman" panose="02020603050405020304" pitchFamily="18" charset="0"/>
              </a:rPr>
              <a:t>What is this paper arguing?</a:t>
            </a:r>
            <a:endParaRPr lang="en-US" sz="3600" dirty="0">
              <a:cs typeface="Times New Roman" panose="02020603050405020304" pitchFamily="18" charset="0"/>
            </a:endParaRPr>
          </a:p>
        </p:txBody>
      </p:sp>
    </p:spTree>
    <p:extLst>
      <p:ext uri="{BB962C8B-B14F-4D97-AF65-F5344CB8AC3E}">
        <p14:creationId xmlns:p14="http://schemas.microsoft.com/office/powerpoint/2010/main" val="56810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71D9AF-15E5-9881-5F7B-B7EB168F4B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805072-8A77-CEAD-F33B-AF920B57B4C3}"/>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What is the setting of this paper? Why is it important?</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9955ADEB-4348-8436-EB93-FADDC044E708}"/>
              </a:ext>
            </a:extLst>
          </p:cNvPr>
          <p:cNvSpPr>
            <a:spLocks noGrp="1"/>
          </p:cNvSpPr>
          <p:nvPr>
            <p:ph idx="1"/>
          </p:nvPr>
        </p:nvSpPr>
        <p:spPr>
          <a:xfrm>
            <a:off x="762000" y="2453640"/>
            <a:ext cx="9095232" cy="3726497"/>
          </a:xfrm>
        </p:spPr>
        <p:txBody>
          <a:bodyPr>
            <a:normAutofit/>
          </a:bodyPr>
          <a:lstStyle/>
          <a:p>
            <a:r>
              <a:rPr lang="en-US" sz="2400" dirty="0"/>
              <a:t>What are the identification threats here?</a:t>
            </a:r>
          </a:p>
          <a:p>
            <a:r>
              <a:rPr lang="en-US" sz="2400" dirty="0"/>
              <a:t>What is needed to identify a causal effect using </a:t>
            </a:r>
            <a:r>
              <a:rPr lang="en-US" sz="2400" i="1" dirty="0"/>
              <a:t>only </a:t>
            </a:r>
            <a:r>
              <a:rPr lang="en-US" sz="2400" dirty="0"/>
              <a:t>controls?</a:t>
            </a:r>
          </a:p>
          <a:p>
            <a:r>
              <a:rPr lang="en-US" sz="2400" dirty="0"/>
              <a:t>What is this paper going to show (broad strokes)? </a:t>
            </a:r>
          </a:p>
          <a:p>
            <a:endParaRPr lang="en-US" sz="2400" dirty="0"/>
          </a:p>
        </p:txBody>
      </p:sp>
      <p:sp>
        <p:nvSpPr>
          <p:cNvPr id="3" name="Title 1">
            <a:extLst>
              <a:ext uri="{FF2B5EF4-FFF2-40B4-BE49-F238E27FC236}">
                <a16:creationId xmlns:a16="http://schemas.microsoft.com/office/drawing/2014/main" id="{7DD76728-0D08-C8AE-762E-88868B9EAA89}"/>
              </a:ext>
            </a:extLst>
          </p:cNvPr>
          <p:cNvSpPr txBox="1">
            <a:spLocks/>
          </p:cNvSpPr>
          <p:nvPr/>
        </p:nvSpPr>
        <p:spPr>
          <a:xfrm>
            <a:off x="762000" y="1066800"/>
            <a:ext cx="10439400" cy="624840"/>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r>
              <a:rPr lang="en-US" sz="3600" dirty="0">
                <a:cs typeface="Times New Roman" panose="02020603050405020304" pitchFamily="18" charset="0"/>
              </a:rPr>
              <a:t>What is this paper arguing?</a:t>
            </a:r>
          </a:p>
        </p:txBody>
      </p:sp>
      <p:sp>
        <p:nvSpPr>
          <p:cNvPr id="4" name="Title 1">
            <a:extLst>
              <a:ext uri="{FF2B5EF4-FFF2-40B4-BE49-F238E27FC236}">
                <a16:creationId xmlns:a16="http://schemas.microsoft.com/office/drawing/2014/main" id="{E6B60A96-02EF-38D4-BFDD-83E1D879A4D4}"/>
              </a:ext>
            </a:extLst>
          </p:cNvPr>
          <p:cNvSpPr txBox="1">
            <a:spLocks/>
          </p:cNvSpPr>
          <p:nvPr/>
        </p:nvSpPr>
        <p:spPr>
          <a:xfrm>
            <a:off x="685800" y="1828800"/>
            <a:ext cx="10439400" cy="624840"/>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r>
              <a:rPr lang="en-US" sz="3600" dirty="0">
                <a:cs typeface="Times New Roman" panose="02020603050405020304" pitchFamily="18" charset="0"/>
              </a:rPr>
              <a:t>Why is it difficult to find a good causal effect?</a:t>
            </a:r>
          </a:p>
        </p:txBody>
      </p:sp>
    </p:spTree>
    <p:extLst>
      <p:ext uri="{BB962C8B-B14F-4D97-AF65-F5344CB8AC3E}">
        <p14:creationId xmlns:p14="http://schemas.microsoft.com/office/powerpoint/2010/main" val="27590036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p:txBody>
          <a:bodyPr/>
          <a:lstStyle/>
          <a:p>
            <a:r>
              <a:rPr lang="en-US" dirty="0"/>
              <a:t>Variable Selection: Transformations</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589251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Scaling </a:t>
            </a:r>
            <a:r>
              <a:rPr lang="en-US" sz="3600" b="1" dirty="0">
                <a:cs typeface="Times New Roman" panose="02020603050405020304" pitchFamily="18" charset="0"/>
              </a:rPr>
              <a:t>Regressors</a:t>
            </a:r>
            <a:endParaRPr lang="en-US" sz="3600" b="1"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599" y="1066801"/>
                <a:ext cx="10015391" cy="5141388"/>
              </a:xfrm>
            </p:spPr>
            <p:txBody>
              <a:bodyPr>
                <a:normAutofit/>
              </a:bodyPr>
              <a:lstStyle/>
              <a:p>
                <a:r>
                  <a:rPr lang="en-US" sz="2400" dirty="0">
                    <a:cs typeface="Times New Roman" panose="02020603050405020304" pitchFamily="18" charset="0"/>
                  </a:rPr>
                  <a:t>What if we want to change the measurement of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𝑖</m:t>
                        </m:r>
                      </m:sub>
                    </m:sSub>
                  </m:oMath>
                </a14:m>
                <a:r>
                  <a:rPr lang="en-US" sz="2400" dirty="0">
                    <a:cs typeface="Times New Roman" panose="02020603050405020304" pitchFamily="18" charset="0"/>
                  </a:rPr>
                  <a:t>? </a:t>
                </a:r>
              </a:p>
              <a:p>
                <a:r>
                  <a:rPr lang="en-US" sz="2400" dirty="0">
                    <a:cs typeface="Times New Roman" panose="02020603050405020304" pitchFamily="18" charset="0"/>
                  </a:rPr>
                  <a:t>Consider a change by dividing 𝑥 by some constant 𝑐.  Then, the regression must require the coefficient of 𝑥 must be multiplied by 𝑐:</a:t>
                </a:r>
              </a:p>
              <a:p>
                <a:pPr marL="0" indent="0">
                  <a:buNone/>
                </a:pPr>
                <a14:m>
                  <m:oMathPara xmlns:m="http://schemas.openxmlformats.org/officeDocument/2006/math">
                    <m:oMathParaPr>
                      <m:jc m:val="centerGroup"/>
                    </m:oMathParaPr>
                    <m:oMath xmlns:m="http://schemas.openxmlformats.org/officeDocument/2006/math">
                      <m:r>
                        <a:rPr lang="en-CA" sz="2400" b="0" i="1" smtClean="0">
                          <a:solidFill>
                            <a:schemeClr val="accent5">
                              <a:lumMod val="75000"/>
                            </a:schemeClr>
                          </a:solidFill>
                          <a:latin typeface="Cambria Math" panose="02040503050406030204" pitchFamily="18" charset="0"/>
                        </a:rPr>
                        <m:t>𝑦</m:t>
                      </m:r>
                      <m:r>
                        <a:rPr lang="en-CA" sz="2400" b="0" i="1" smtClean="0">
                          <a:solidFill>
                            <a:schemeClr val="tx1">
                              <a:lumMod val="50000"/>
                              <a:lumOff val="50000"/>
                            </a:schemeClr>
                          </a:solidFill>
                          <a:latin typeface="Cambria Math" panose="02040503050406030204" pitchFamily="18" charset="0"/>
                        </a:rPr>
                        <m:t>=</m:t>
                      </m:r>
                      <m:sSub>
                        <m:sSubPr>
                          <m:ctrlPr>
                            <a:rPr lang="en-CA" sz="2400" b="0" i="1" smtClean="0">
                              <a:solidFill>
                                <a:schemeClr val="tx1">
                                  <a:lumMod val="50000"/>
                                  <a:lumOff val="50000"/>
                                </a:schemeClr>
                              </a:solidFill>
                              <a:latin typeface="Cambria Math" panose="02040503050406030204" pitchFamily="18" charset="0"/>
                            </a:rPr>
                          </m:ctrlPr>
                        </m:sSubPr>
                        <m:e>
                          <m:r>
                            <a:rPr lang="en-CA" sz="2400" b="0" i="1" smtClean="0">
                              <a:solidFill>
                                <a:schemeClr val="tx1">
                                  <a:lumMod val="50000"/>
                                  <a:lumOff val="50000"/>
                                </a:schemeClr>
                              </a:solidFill>
                              <a:latin typeface="Cambria Math" panose="02040503050406030204" pitchFamily="18" charset="0"/>
                            </a:rPr>
                            <m:t>𝛽</m:t>
                          </m:r>
                        </m:e>
                        <m:sub>
                          <m:r>
                            <a:rPr lang="en-CA" sz="2400" b="0" i="1" smtClean="0">
                              <a:solidFill>
                                <a:schemeClr val="tx1">
                                  <a:lumMod val="50000"/>
                                  <a:lumOff val="50000"/>
                                </a:schemeClr>
                              </a:solidFill>
                              <a:latin typeface="Cambria Math" panose="02040503050406030204" pitchFamily="18" charset="0"/>
                            </a:rPr>
                            <m:t>1</m:t>
                          </m:r>
                        </m:sub>
                      </m:sSub>
                      <m:r>
                        <a:rPr lang="en-CA" sz="2400" b="0" i="1" smtClean="0">
                          <a:solidFill>
                            <a:schemeClr val="tx1">
                              <a:lumMod val="50000"/>
                              <a:lumOff val="50000"/>
                            </a:schemeClr>
                          </a:solidFill>
                          <a:latin typeface="Cambria Math" panose="02040503050406030204" pitchFamily="18" charset="0"/>
                        </a:rPr>
                        <m:t>+</m:t>
                      </m:r>
                      <m:sSub>
                        <m:sSubPr>
                          <m:ctrlPr>
                            <a:rPr lang="en-CA" sz="2400" b="0" i="1" smtClean="0">
                              <a:solidFill>
                                <a:schemeClr val="tx1">
                                  <a:lumMod val="50000"/>
                                  <a:lumOff val="50000"/>
                                </a:schemeClr>
                              </a:solidFill>
                              <a:latin typeface="Cambria Math" panose="02040503050406030204" pitchFamily="18" charset="0"/>
                            </a:rPr>
                          </m:ctrlPr>
                        </m:sSubPr>
                        <m:e>
                          <m:r>
                            <a:rPr lang="en-CA" sz="2400" b="0" i="1" smtClean="0">
                              <a:solidFill>
                                <a:schemeClr val="tx1">
                                  <a:lumMod val="50000"/>
                                  <a:lumOff val="50000"/>
                                </a:schemeClr>
                              </a:solidFill>
                              <a:latin typeface="Cambria Math" panose="02040503050406030204" pitchFamily="18" charset="0"/>
                            </a:rPr>
                            <m:t>𝛽</m:t>
                          </m:r>
                        </m:e>
                        <m:sub>
                          <m:r>
                            <a:rPr lang="en-CA" sz="2400" b="0" i="1" smtClean="0">
                              <a:solidFill>
                                <a:schemeClr val="tx1">
                                  <a:lumMod val="50000"/>
                                  <a:lumOff val="50000"/>
                                </a:schemeClr>
                              </a:solidFill>
                              <a:latin typeface="Cambria Math" panose="02040503050406030204" pitchFamily="18" charset="0"/>
                            </a:rPr>
                            <m:t>2</m:t>
                          </m:r>
                        </m:sub>
                      </m:sSub>
                      <m:r>
                        <a:rPr lang="en-CA" sz="2400" b="0" i="1" smtClean="0">
                          <a:solidFill>
                            <a:schemeClr val="accent5">
                              <a:lumMod val="75000"/>
                            </a:schemeClr>
                          </a:solidFill>
                          <a:latin typeface="Cambria Math" panose="02040503050406030204" pitchFamily="18" charset="0"/>
                        </a:rPr>
                        <m:t>𝑥</m:t>
                      </m:r>
                      <m:r>
                        <a:rPr lang="en-CA" sz="2400" b="0" i="1" smtClean="0">
                          <a:solidFill>
                            <a:schemeClr val="tx1">
                              <a:lumMod val="50000"/>
                              <a:lumOff val="50000"/>
                            </a:schemeClr>
                          </a:solidFill>
                          <a:latin typeface="Cambria Math" panose="02040503050406030204" pitchFamily="18" charset="0"/>
                        </a:rPr>
                        <m:t>+</m:t>
                      </m:r>
                      <m:r>
                        <a:rPr lang="en-CA" sz="2400" b="0" i="1" smtClean="0">
                          <a:solidFill>
                            <a:schemeClr val="tx1">
                              <a:lumMod val="50000"/>
                              <a:lumOff val="50000"/>
                            </a:schemeClr>
                          </a:solidFill>
                          <a:latin typeface="Cambria Math" panose="02040503050406030204" pitchFamily="18" charset="0"/>
                        </a:rPr>
                        <m:t>𝑒</m:t>
                      </m:r>
                      <m:r>
                        <a:rPr lang="en-CA" sz="2400" b="0" i="1" smtClean="0">
                          <a:solidFill>
                            <a:schemeClr val="tx1">
                              <a:lumMod val="50000"/>
                              <a:lumOff val="50000"/>
                            </a:schemeClr>
                          </a:solidFill>
                          <a:latin typeface="Cambria Math" panose="02040503050406030204" pitchFamily="18" charset="0"/>
                        </a:rPr>
                        <m:t>=</m:t>
                      </m:r>
                      <m:sSub>
                        <m:sSubPr>
                          <m:ctrlPr>
                            <a:rPr lang="en-CA" sz="2400" b="0" i="1" smtClean="0">
                              <a:solidFill>
                                <a:schemeClr val="tx1">
                                  <a:lumMod val="50000"/>
                                  <a:lumOff val="50000"/>
                                </a:schemeClr>
                              </a:solidFill>
                              <a:latin typeface="Cambria Math" panose="02040503050406030204" pitchFamily="18" charset="0"/>
                            </a:rPr>
                          </m:ctrlPr>
                        </m:sSubPr>
                        <m:e>
                          <m:r>
                            <a:rPr lang="en-CA" sz="2400" b="0" i="1" smtClean="0">
                              <a:solidFill>
                                <a:schemeClr val="tx1">
                                  <a:lumMod val="50000"/>
                                  <a:lumOff val="50000"/>
                                </a:schemeClr>
                              </a:solidFill>
                              <a:latin typeface="Cambria Math" panose="02040503050406030204" pitchFamily="18" charset="0"/>
                            </a:rPr>
                            <m:t>𝛽</m:t>
                          </m:r>
                        </m:e>
                        <m:sub>
                          <m:r>
                            <a:rPr lang="en-CA" sz="2400" b="0" i="1" smtClean="0">
                              <a:solidFill>
                                <a:schemeClr val="tx1">
                                  <a:lumMod val="50000"/>
                                  <a:lumOff val="50000"/>
                                </a:schemeClr>
                              </a:solidFill>
                              <a:latin typeface="Cambria Math" panose="02040503050406030204" pitchFamily="18" charset="0"/>
                            </a:rPr>
                            <m:t>1</m:t>
                          </m:r>
                        </m:sub>
                      </m:sSub>
                      <m:r>
                        <a:rPr lang="en-CA" sz="2400" b="0" i="1" smtClean="0">
                          <a:solidFill>
                            <a:schemeClr val="tx1">
                              <a:lumMod val="50000"/>
                              <a:lumOff val="50000"/>
                            </a:schemeClr>
                          </a:solidFill>
                          <a:latin typeface="Cambria Math" panose="02040503050406030204" pitchFamily="18" charset="0"/>
                        </a:rPr>
                        <m:t>+</m:t>
                      </m:r>
                      <m:d>
                        <m:dPr>
                          <m:ctrlPr>
                            <a:rPr lang="en-CA" sz="2400" b="0" i="1" smtClean="0">
                              <a:solidFill>
                                <a:schemeClr val="tx1">
                                  <a:lumMod val="50000"/>
                                  <a:lumOff val="50000"/>
                                </a:schemeClr>
                              </a:solidFill>
                              <a:latin typeface="Cambria Math" panose="02040503050406030204" pitchFamily="18" charset="0"/>
                            </a:rPr>
                          </m:ctrlPr>
                        </m:dPr>
                        <m:e>
                          <m:r>
                            <a:rPr lang="en-CA" sz="2400" b="0" i="1" smtClean="0">
                              <a:solidFill>
                                <a:srgbClr val="00B0F0"/>
                              </a:solidFill>
                              <a:latin typeface="Cambria Math" panose="02040503050406030204" pitchFamily="18" charset="0"/>
                            </a:rPr>
                            <m:t>𝑐</m:t>
                          </m:r>
                          <m:sSub>
                            <m:sSubPr>
                              <m:ctrlPr>
                                <a:rPr lang="en-CA" sz="2400" b="0" i="1" smtClean="0">
                                  <a:solidFill>
                                    <a:schemeClr val="tx1">
                                      <a:lumMod val="50000"/>
                                      <a:lumOff val="50000"/>
                                    </a:schemeClr>
                                  </a:solidFill>
                                  <a:latin typeface="Cambria Math" panose="02040503050406030204" pitchFamily="18" charset="0"/>
                                </a:rPr>
                              </m:ctrlPr>
                            </m:sSubPr>
                            <m:e>
                              <m:r>
                                <a:rPr lang="en-CA" sz="2400" b="0" i="1" smtClean="0">
                                  <a:solidFill>
                                    <a:schemeClr val="tx1">
                                      <a:lumMod val="50000"/>
                                      <a:lumOff val="50000"/>
                                    </a:schemeClr>
                                  </a:solidFill>
                                  <a:latin typeface="Cambria Math" panose="02040503050406030204" pitchFamily="18" charset="0"/>
                                </a:rPr>
                                <m:t>𝛽</m:t>
                              </m:r>
                            </m:e>
                            <m:sub>
                              <m:r>
                                <a:rPr lang="en-CA" sz="2400" b="0" i="1" smtClean="0">
                                  <a:solidFill>
                                    <a:schemeClr val="tx1">
                                      <a:lumMod val="50000"/>
                                      <a:lumOff val="50000"/>
                                    </a:schemeClr>
                                  </a:solidFill>
                                  <a:latin typeface="Cambria Math" panose="02040503050406030204" pitchFamily="18" charset="0"/>
                                </a:rPr>
                                <m:t>2</m:t>
                              </m:r>
                            </m:sub>
                          </m:sSub>
                        </m:e>
                      </m:d>
                      <m:d>
                        <m:dPr>
                          <m:ctrlPr>
                            <a:rPr lang="en-CA" sz="2400" b="0" i="1" smtClean="0">
                              <a:solidFill>
                                <a:schemeClr val="tx1">
                                  <a:lumMod val="50000"/>
                                  <a:lumOff val="50000"/>
                                </a:schemeClr>
                              </a:solidFill>
                              <a:latin typeface="Cambria Math" panose="02040503050406030204" pitchFamily="18" charset="0"/>
                            </a:rPr>
                          </m:ctrlPr>
                        </m:dPr>
                        <m:e>
                          <m:f>
                            <m:fPr>
                              <m:ctrlPr>
                                <a:rPr lang="en-CA" sz="2400" b="0" i="1" smtClean="0">
                                  <a:solidFill>
                                    <a:schemeClr val="tx1">
                                      <a:lumMod val="50000"/>
                                      <a:lumOff val="50000"/>
                                    </a:schemeClr>
                                  </a:solidFill>
                                  <a:latin typeface="Cambria Math" panose="02040503050406030204" pitchFamily="18" charset="0"/>
                                </a:rPr>
                              </m:ctrlPr>
                            </m:fPr>
                            <m:num>
                              <m:r>
                                <a:rPr lang="en-CA" sz="2400" b="0" i="1" smtClean="0">
                                  <a:solidFill>
                                    <a:srgbClr val="FF0000"/>
                                  </a:solidFill>
                                  <a:latin typeface="Cambria Math" panose="02040503050406030204" pitchFamily="18" charset="0"/>
                                </a:rPr>
                                <m:t>𝑥</m:t>
                              </m:r>
                            </m:num>
                            <m:den>
                              <m:r>
                                <a:rPr lang="en-CA" sz="2400" b="0" i="1" smtClean="0">
                                  <a:solidFill>
                                    <a:srgbClr val="00B0F0"/>
                                  </a:solidFill>
                                  <a:latin typeface="Cambria Math" panose="02040503050406030204" pitchFamily="18" charset="0"/>
                                </a:rPr>
                                <m:t>𝑐</m:t>
                              </m:r>
                            </m:den>
                          </m:f>
                        </m:e>
                      </m:d>
                      <m:r>
                        <a:rPr lang="en-CA" sz="2400" b="0" i="1" smtClean="0">
                          <a:solidFill>
                            <a:schemeClr val="tx1">
                              <a:lumMod val="50000"/>
                              <a:lumOff val="50000"/>
                            </a:schemeClr>
                          </a:solidFill>
                          <a:latin typeface="Cambria Math" panose="02040503050406030204" pitchFamily="18" charset="0"/>
                        </a:rPr>
                        <m:t>+</m:t>
                      </m:r>
                      <m:r>
                        <a:rPr lang="en-CA" sz="2400" b="0" i="1" smtClean="0">
                          <a:solidFill>
                            <a:schemeClr val="tx1">
                              <a:lumMod val="50000"/>
                              <a:lumOff val="50000"/>
                            </a:schemeClr>
                          </a:solidFill>
                          <a:latin typeface="Cambria Math" panose="02040503050406030204" pitchFamily="18" charset="0"/>
                        </a:rPr>
                        <m:t>𝑒</m:t>
                      </m:r>
                    </m:oMath>
                  </m:oMathPara>
                </a14:m>
                <a:endParaRPr lang="en-US" sz="2400" dirty="0">
                  <a:cs typeface="Times New Roman" panose="02020603050405020304" pitchFamily="18" charset="0"/>
                </a:endParaRPr>
              </a:p>
              <a:p>
                <a:r>
                  <a:rPr lang="en-US" sz="2400" dirty="0">
                    <a:cs typeface="Times New Roman" panose="02020603050405020304" pitchFamily="18" charset="0"/>
                  </a:rPr>
                  <a:t>What happens if we change 𝑥 from dollars to thousands of dollars?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599" y="1066801"/>
                <a:ext cx="10015391" cy="5141388"/>
              </a:xfrm>
              <a:blipFill>
                <a:blip r:embed="rId3"/>
                <a:stretch>
                  <a:fillRect l="-426" t="-1305"/>
                </a:stretch>
              </a:blipFill>
            </p:spPr>
            <p:txBody>
              <a:bodyPr/>
              <a:lstStyle/>
              <a:p>
                <a:r>
                  <a:rPr lang="en-US">
                    <a:noFill/>
                  </a:rPr>
                  <a:t> </a:t>
                </a:r>
              </a:p>
            </p:txBody>
          </p:sp>
        </mc:Fallback>
      </mc:AlternateContent>
    </p:spTree>
    <p:extLst>
      <p:ext uri="{BB962C8B-B14F-4D97-AF65-F5344CB8AC3E}">
        <p14:creationId xmlns:p14="http://schemas.microsoft.com/office/powerpoint/2010/main" val="18310655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Scaling Regressors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015390" cy="5141388"/>
              </a:xfrm>
            </p:spPr>
            <p:txBody>
              <a:bodyPr>
                <a:normAutofit/>
              </a:bodyPr>
              <a:lstStyle/>
              <a:p>
                <a:r>
                  <a:rPr lang="en-US" sz="2400" dirty="0">
                    <a:cs typeface="Times New Roman" panose="02020603050405020304" pitchFamily="18" charset="0"/>
                  </a:rPr>
                  <a:t>What if we want to change the measurement of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𝑖</m:t>
                        </m:r>
                      </m:sub>
                    </m:sSub>
                  </m:oMath>
                </a14:m>
                <a:r>
                  <a:rPr lang="en-US" sz="2400" dirty="0">
                    <a:cs typeface="Times New Roman" panose="02020603050405020304" pitchFamily="18" charset="0"/>
                  </a:rPr>
                  <a:t>? </a:t>
                </a:r>
              </a:p>
              <a:p>
                <a:r>
                  <a:rPr lang="en-US" sz="2400" dirty="0">
                    <a:cs typeface="Times New Roman" panose="02020603050405020304" pitchFamily="18" charset="0"/>
                  </a:rPr>
                  <a:t>Consider a change by dividing 𝑥 by some constant 𝑐.  Then, the regression must require the coefficient of 𝑥 must be multiplied by 𝑐:</a:t>
                </a:r>
              </a:p>
              <a:p>
                <a:pPr marL="0" indent="0">
                  <a:buNone/>
                </a:pPr>
                <a14:m>
                  <m:oMathPara xmlns:m="http://schemas.openxmlformats.org/officeDocument/2006/math">
                    <m:oMathParaPr>
                      <m:jc m:val="centerGroup"/>
                    </m:oMathParaPr>
                    <m:oMath xmlns:m="http://schemas.openxmlformats.org/officeDocument/2006/math">
                      <m:r>
                        <a:rPr lang="en-CA" sz="2400" b="0" i="1" smtClean="0">
                          <a:solidFill>
                            <a:schemeClr val="accent5">
                              <a:lumMod val="75000"/>
                            </a:schemeClr>
                          </a:solidFill>
                          <a:latin typeface="Cambria Math" panose="02040503050406030204" pitchFamily="18" charset="0"/>
                        </a:rPr>
                        <m:t>𝑦</m:t>
                      </m:r>
                      <m:r>
                        <a:rPr lang="en-CA" sz="2400" b="0" i="1" smtClean="0">
                          <a:solidFill>
                            <a:schemeClr val="tx1">
                              <a:lumMod val="50000"/>
                              <a:lumOff val="50000"/>
                            </a:schemeClr>
                          </a:solidFill>
                          <a:latin typeface="Cambria Math" panose="02040503050406030204" pitchFamily="18" charset="0"/>
                        </a:rPr>
                        <m:t>=</m:t>
                      </m:r>
                      <m:sSub>
                        <m:sSubPr>
                          <m:ctrlPr>
                            <a:rPr lang="en-CA" sz="2400" b="0" i="1" smtClean="0">
                              <a:solidFill>
                                <a:schemeClr val="tx1">
                                  <a:lumMod val="50000"/>
                                  <a:lumOff val="50000"/>
                                </a:schemeClr>
                              </a:solidFill>
                              <a:latin typeface="Cambria Math" panose="02040503050406030204" pitchFamily="18" charset="0"/>
                            </a:rPr>
                          </m:ctrlPr>
                        </m:sSubPr>
                        <m:e>
                          <m:r>
                            <a:rPr lang="en-CA" sz="2400" b="0" i="1" smtClean="0">
                              <a:solidFill>
                                <a:schemeClr val="tx1">
                                  <a:lumMod val="50000"/>
                                  <a:lumOff val="50000"/>
                                </a:schemeClr>
                              </a:solidFill>
                              <a:latin typeface="Cambria Math" panose="02040503050406030204" pitchFamily="18" charset="0"/>
                            </a:rPr>
                            <m:t>𝛽</m:t>
                          </m:r>
                        </m:e>
                        <m:sub>
                          <m:r>
                            <a:rPr lang="en-CA" sz="2400" b="0" i="1" smtClean="0">
                              <a:solidFill>
                                <a:schemeClr val="tx1">
                                  <a:lumMod val="50000"/>
                                  <a:lumOff val="50000"/>
                                </a:schemeClr>
                              </a:solidFill>
                              <a:latin typeface="Cambria Math" panose="02040503050406030204" pitchFamily="18" charset="0"/>
                            </a:rPr>
                            <m:t>1</m:t>
                          </m:r>
                        </m:sub>
                      </m:sSub>
                      <m:r>
                        <a:rPr lang="en-CA" sz="2400" b="0" i="1" smtClean="0">
                          <a:solidFill>
                            <a:schemeClr val="tx1">
                              <a:lumMod val="50000"/>
                              <a:lumOff val="50000"/>
                            </a:schemeClr>
                          </a:solidFill>
                          <a:latin typeface="Cambria Math" panose="02040503050406030204" pitchFamily="18" charset="0"/>
                        </a:rPr>
                        <m:t>+</m:t>
                      </m:r>
                      <m:sSub>
                        <m:sSubPr>
                          <m:ctrlPr>
                            <a:rPr lang="en-CA" sz="2400" b="0" i="1" smtClean="0">
                              <a:solidFill>
                                <a:schemeClr val="tx1">
                                  <a:lumMod val="50000"/>
                                  <a:lumOff val="50000"/>
                                </a:schemeClr>
                              </a:solidFill>
                              <a:latin typeface="Cambria Math" panose="02040503050406030204" pitchFamily="18" charset="0"/>
                            </a:rPr>
                          </m:ctrlPr>
                        </m:sSubPr>
                        <m:e>
                          <m:r>
                            <a:rPr lang="en-CA" sz="2400" b="0" i="1" smtClean="0">
                              <a:solidFill>
                                <a:schemeClr val="tx1">
                                  <a:lumMod val="50000"/>
                                  <a:lumOff val="50000"/>
                                </a:schemeClr>
                              </a:solidFill>
                              <a:latin typeface="Cambria Math" panose="02040503050406030204" pitchFamily="18" charset="0"/>
                            </a:rPr>
                            <m:t>𝛽</m:t>
                          </m:r>
                        </m:e>
                        <m:sub>
                          <m:r>
                            <a:rPr lang="en-CA" sz="2400" b="0" i="1" smtClean="0">
                              <a:solidFill>
                                <a:schemeClr val="tx1">
                                  <a:lumMod val="50000"/>
                                  <a:lumOff val="50000"/>
                                </a:schemeClr>
                              </a:solidFill>
                              <a:latin typeface="Cambria Math" panose="02040503050406030204" pitchFamily="18" charset="0"/>
                            </a:rPr>
                            <m:t>2</m:t>
                          </m:r>
                        </m:sub>
                      </m:sSub>
                      <m:r>
                        <a:rPr lang="en-CA" sz="2400" b="0" i="1" smtClean="0">
                          <a:solidFill>
                            <a:schemeClr val="accent5">
                              <a:lumMod val="75000"/>
                            </a:schemeClr>
                          </a:solidFill>
                          <a:latin typeface="Cambria Math" panose="02040503050406030204" pitchFamily="18" charset="0"/>
                        </a:rPr>
                        <m:t>𝑥</m:t>
                      </m:r>
                      <m:r>
                        <a:rPr lang="en-CA" sz="2400" b="0" i="1" smtClean="0">
                          <a:solidFill>
                            <a:schemeClr val="tx1">
                              <a:lumMod val="50000"/>
                              <a:lumOff val="50000"/>
                            </a:schemeClr>
                          </a:solidFill>
                          <a:latin typeface="Cambria Math" panose="02040503050406030204" pitchFamily="18" charset="0"/>
                        </a:rPr>
                        <m:t>+</m:t>
                      </m:r>
                      <m:r>
                        <a:rPr lang="en-CA" sz="2400" b="0" i="1" smtClean="0">
                          <a:solidFill>
                            <a:schemeClr val="tx1">
                              <a:lumMod val="50000"/>
                              <a:lumOff val="50000"/>
                            </a:schemeClr>
                          </a:solidFill>
                          <a:latin typeface="Cambria Math" panose="02040503050406030204" pitchFamily="18" charset="0"/>
                        </a:rPr>
                        <m:t>𝑒</m:t>
                      </m:r>
                      <m:r>
                        <a:rPr lang="en-CA" sz="2400" b="0" i="1" smtClean="0">
                          <a:solidFill>
                            <a:schemeClr val="tx1">
                              <a:lumMod val="50000"/>
                              <a:lumOff val="50000"/>
                            </a:schemeClr>
                          </a:solidFill>
                          <a:latin typeface="Cambria Math" panose="02040503050406030204" pitchFamily="18" charset="0"/>
                        </a:rPr>
                        <m:t>=</m:t>
                      </m:r>
                      <m:sSub>
                        <m:sSubPr>
                          <m:ctrlPr>
                            <a:rPr lang="en-CA" sz="2400" b="0" i="1" smtClean="0">
                              <a:solidFill>
                                <a:schemeClr val="tx1">
                                  <a:lumMod val="50000"/>
                                  <a:lumOff val="50000"/>
                                </a:schemeClr>
                              </a:solidFill>
                              <a:latin typeface="Cambria Math" panose="02040503050406030204" pitchFamily="18" charset="0"/>
                            </a:rPr>
                          </m:ctrlPr>
                        </m:sSubPr>
                        <m:e>
                          <m:r>
                            <a:rPr lang="en-CA" sz="2400" b="0" i="1" smtClean="0">
                              <a:solidFill>
                                <a:schemeClr val="tx1">
                                  <a:lumMod val="50000"/>
                                  <a:lumOff val="50000"/>
                                </a:schemeClr>
                              </a:solidFill>
                              <a:latin typeface="Cambria Math" panose="02040503050406030204" pitchFamily="18" charset="0"/>
                            </a:rPr>
                            <m:t>𝛽</m:t>
                          </m:r>
                        </m:e>
                        <m:sub>
                          <m:r>
                            <a:rPr lang="en-CA" sz="2400" b="0" i="1" smtClean="0">
                              <a:solidFill>
                                <a:schemeClr val="tx1">
                                  <a:lumMod val="50000"/>
                                  <a:lumOff val="50000"/>
                                </a:schemeClr>
                              </a:solidFill>
                              <a:latin typeface="Cambria Math" panose="02040503050406030204" pitchFamily="18" charset="0"/>
                            </a:rPr>
                            <m:t>1</m:t>
                          </m:r>
                        </m:sub>
                      </m:sSub>
                      <m:r>
                        <a:rPr lang="en-CA" sz="2400" b="0" i="1" smtClean="0">
                          <a:solidFill>
                            <a:schemeClr val="tx1">
                              <a:lumMod val="50000"/>
                              <a:lumOff val="50000"/>
                            </a:schemeClr>
                          </a:solidFill>
                          <a:latin typeface="Cambria Math" panose="02040503050406030204" pitchFamily="18" charset="0"/>
                        </a:rPr>
                        <m:t>+</m:t>
                      </m:r>
                      <m:d>
                        <m:dPr>
                          <m:ctrlPr>
                            <a:rPr lang="en-CA" sz="2400" b="0" i="1" smtClean="0">
                              <a:solidFill>
                                <a:schemeClr val="tx1">
                                  <a:lumMod val="50000"/>
                                  <a:lumOff val="50000"/>
                                </a:schemeClr>
                              </a:solidFill>
                              <a:latin typeface="Cambria Math" panose="02040503050406030204" pitchFamily="18" charset="0"/>
                            </a:rPr>
                          </m:ctrlPr>
                        </m:dPr>
                        <m:e>
                          <m:r>
                            <a:rPr lang="en-CA" sz="2400" b="0" i="1" smtClean="0">
                              <a:solidFill>
                                <a:srgbClr val="00B0F0"/>
                              </a:solidFill>
                              <a:latin typeface="Cambria Math" panose="02040503050406030204" pitchFamily="18" charset="0"/>
                            </a:rPr>
                            <m:t>𝑐</m:t>
                          </m:r>
                          <m:sSub>
                            <m:sSubPr>
                              <m:ctrlPr>
                                <a:rPr lang="en-CA" sz="2400" b="0" i="1" smtClean="0">
                                  <a:solidFill>
                                    <a:schemeClr val="tx1">
                                      <a:lumMod val="50000"/>
                                      <a:lumOff val="50000"/>
                                    </a:schemeClr>
                                  </a:solidFill>
                                  <a:latin typeface="Cambria Math" panose="02040503050406030204" pitchFamily="18" charset="0"/>
                                </a:rPr>
                              </m:ctrlPr>
                            </m:sSubPr>
                            <m:e>
                              <m:r>
                                <a:rPr lang="en-CA" sz="2400" b="0" i="1" smtClean="0">
                                  <a:solidFill>
                                    <a:schemeClr val="tx1">
                                      <a:lumMod val="50000"/>
                                      <a:lumOff val="50000"/>
                                    </a:schemeClr>
                                  </a:solidFill>
                                  <a:latin typeface="Cambria Math" panose="02040503050406030204" pitchFamily="18" charset="0"/>
                                </a:rPr>
                                <m:t>𝛽</m:t>
                              </m:r>
                            </m:e>
                            <m:sub>
                              <m:r>
                                <a:rPr lang="en-CA" sz="2400" b="0" i="1" smtClean="0">
                                  <a:solidFill>
                                    <a:schemeClr val="tx1">
                                      <a:lumMod val="50000"/>
                                      <a:lumOff val="50000"/>
                                    </a:schemeClr>
                                  </a:solidFill>
                                  <a:latin typeface="Cambria Math" panose="02040503050406030204" pitchFamily="18" charset="0"/>
                                </a:rPr>
                                <m:t>2</m:t>
                              </m:r>
                            </m:sub>
                          </m:sSub>
                        </m:e>
                      </m:d>
                      <m:d>
                        <m:dPr>
                          <m:ctrlPr>
                            <a:rPr lang="en-CA" sz="2400" b="0" i="1" smtClean="0">
                              <a:solidFill>
                                <a:schemeClr val="tx1">
                                  <a:lumMod val="50000"/>
                                  <a:lumOff val="50000"/>
                                </a:schemeClr>
                              </a:solidFill>
                              <a:latin typeface="Cambria Math" panose="02040503050406030204" pitchFamily="18" charset="0"/>
                            </a:rPr>
                          </m:ctrlPr>
                        </m:dPr>
                        <m:e>
                          <m:f>
                            <m:fPr>
                              <m:ctrlPr>
                                <a:rPr lang="en-CA" sz="2400" b="0" i="1" smtClean="0">
                                  <a:solidFill>
                                    <a:schemeClr val="tx1">
                                      <a:lumMod val="50000"/>
                                      <a:lumOff val="50000"/>
                                    </a:schemeClr>
                                  </a:solidFill>
                                  <a:latin typeface="Cambria Math" panose="02040503050406030204" pitchFamily="18" charset="0"/>
                                </a:rPr>
                              </m:ctrlPr>
                            </m:fPr>
                            <m:num>
                              <m:r>
                                <a:rPr lang="en-CA" sz="2400" b="0" i="1" smtClean="0">
                                  <a:solidFill>
                                    <a:srgbClr val="FF0000"/>
                                  </a:solidFill>
                                  <a:latin typeface="Cambria Math" panose="02040503050406030204" pitchFamily="18" charset="0"/>
                                </a:rPr>
                                <m:t>𝑥</m:t>
                              </m:r>
                            </m:num>
                            <m:den>
                              <m:r>
                                <a:rPr lang="en-CA" sz="2400" b="0" i="1" smtClean="0">
                                  <a:solidFill>
                                    <a:srgbClr val="00B0F0"/>
                                  </a:solidFill>
                                  <a:latin typeface="Cambria Math" panose="02040503050406030204" pitchFamily="18" charset="0"/>
                                </a:rPr>
                                <m:t>𝑐</m:t>
                              </m:r>
                            </m:den>
                          </m:f>
                        </m:e>
                      </m:d>
                      <m:r>
                        <a:rPr lang="en-CA" sz="2400" b="0" i="1" smtClean="0">
                          <a:solidFill>
                            <a:schemeClr val="tx1">
                              <a:lumMod val="50000"/>
                              <a:lumOff val="50000"/>
                            </a:schemeClr>
                          </a:solidFill>
                          <a:latin typeface="Cambria Math" panose="02040503050406030204" pitchFamily="18" charset="0"/>
                        </a:rPr>
                        <m:t>+</m:t>
                      </m:r>
                      <m:r>
                        <a:rPr lang="en-CA" sz="2400" b="0" i="1" smtClean="0">
                          <a:solidFill>
                            <a:schemeClr val="tx1">
                              <a:lumMod val="50000"/>
                              <a:lumOff val="50000"/>
                            </a:schemeClr>
                          </a:solidFill>
                          <a:latin typeface="Cambria Math" panose="02040503050406030204" pitchFamily="18" charset="0"/>
                        </a:rPr>
                        <m:t>𝑒</m:t>
                      </m:r>
                    </m:oMath>
                  </m:oMathPara>
                </a14:m>
                <a:endParaRPr lang="en-US" sz="2400" dirty="0">
                  <a:cs typeface="Times New Roman" panose="02020603050405020304" pitchFamily="18" charset="0"/>
                </a:endParaRPr>
              </a:p>
              <a:p>
                <a:r>
                  <a:rPr lang="en-US" sz="2400" dirty="0">
                    <a:cs typeface="Times New Roman" panose="02020603050405020304" pitchFamily="18" charset="0"/>
                  </a:rPr>
                  <a:t>What happens if we change 𝑥 from dollars to thousands of dollars? </a:t>
                </a:r>
              </a:p>
              <a:p>
                <a:r>
                  <a:rPr lang="en-US" sz="2400" dirty="0">
                    <a:cs typeface="Times New Roman" panose="02020603050405020304" pitchFamily="18" charset="0"/>
                  </a:rPr>
                  <a:t>Standard errors will change in proportion to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𝑐</m:t>
                    </m:r>
                  </m:oMath>
                </a14:m>
                <a:endParaRPr lang="en-US" sz="2400" dirty="0">
                  <a:solidFill>
                    <a:schemeClr val="accent3">
                      <a:lumMod val="75000"/>
                    </a:schemeClr>
                  </a:solidFill>
                  <a:cs typeface="Times New Roman" panose="02020603050405020304" pitchFamily="18" charset="0"/>
                </a:endParaRPr>
              </a:p>
              <a:p>
                <a:pPr lvl="1"/>
                <a:r>
                  <a:rPr lang="en-US" sz="2200" dirty="0">
                    <a:solidFill>
                      <a:schemeClr val="accent3">
                        <a:lumMod val="75000"/>
                      </a:schemeClr>
                    </a:solidFill>
                    <a:cs typeface="Times New Roman" panose="02020603050405020304" pitchFamily="18" charset="0"/>
                  </a:rPr>
                  <a:t>What do you think happens to standard errors and beta when you change </a:t>
                </a:r>
                <a14:m>
                  <m:oMath xmlns:m="http://schemas.openxmlformats.org/officeDocument/2006/math">
                    <m:r>
                      <a:rPr lang="en-US" sz="2200" b="0" i="1" smtClean="0">
                        <a:solidFill>
                          <a:schemeClr val="accent3">
                            <a:lumMod val="75000"/>
                          </a:schemeClr>
                        </a:solidFill>
                        <a:latin typeface="Cambria Math" panose="02040503050406030204" pitchFamily="18" charset="0"/>
                        <a:cs typeface="Times New Roman" panose="02020603050405020304" pitchFamily="18" charset="0"/>
                      </a:rPr>
                      <m:t>𝑦</m:t>
                    </m:r>
                    <m:r>
                      <a:rPr lang="en-US" sz="2200" b="0" i="1" smtClean="0">
                        <a:solidFill>
                          <a:schemeClr val="accent3">
                            <a:lumMod val="75000"/>
                          </a:schemeClr>
                        </a:solidFill>
                        <a:latin typeface="Cambria Math" panose="02040503050406030204" pitchFamily="18" charset="0"/>
                        <a:cs typeface="Times New Roman" panose="02020603050405020304" pitchFamily="18" charset="0"/>
                      </a:rPr>
                      <m:t>?</m:t>
                    </m:r>
                  </m:oMath>
                </a14:m>
                <a:endParaRPr lang="en-US" sz="2200" dirty="0">
                  <a:solidFill>
                    <a:schemeClr val="accent3">
                      <a:lumMod val="75000"/>
                    </a:schemeClr>
                  </a:solidFill>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015390" cy="5141388"/>
              </a:xfrm>
              <a:blipFill>
                <a:blip r:embed="rId3"/>
                <a:stretch>
                  <a:fillRect l="-426" t="-1305"/>
                </a:stretch>
              </a:blipFill>
            </p:spPr>
            <p:txBody>
              <a:bodyPr/>
              <a:lstStyle/>
              <a:p>
                <a:r>
                  <a:rPr lang="en-US">
                    <a:noFill/>
                  </a:rPr>
                  <a:t> </a:t>
                </a:r>
              </a:p>
            </p:txBody>
          </p:sp>
        </mc:Fallback>
      </mc:AlternateContent>
    </p:spTree>
    <p:extLst>
      <p:ext uri="{BB962C8B-B14F-4D97-AF65-F5344CB8AC3E}">
        <p14:creationId xmlns:p14="http://schemas.microsoft.com/office/powerpoint/2010/main" val="25846647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Scaling </a:t>
            </a:r>
            <a:r>
              <a:rPr lang="en-US" sz="3600" b="1" dirty="0">
                <a:cs typeface="Times New Roman" panose="02020603050405020304" pitchFamily="18" charset="0"/>
              </a:rPr>
              <a:t>Observations</a:t>
            </a:r>
            <a:endParaRPr lang="en-US" sz="3600" b="1"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rmAutofit/>
          </a:bodyPr>
          <a:lstStyle/>
          <a:p>
            <a:r>
              <a:rPr lang="en-US" sz="2400" dirty="0">
                <a:cs typeface="Times New Roman" panose="02020603050405020304" pitchFamily="18" charset="0"/>
              </a:rPr>
              <a:t>Should every observation count the same? </a:t>
            </a:r>
            <a:endParaRPr lang="en-US" sz="2200" dirty="0">
              <a:solidFill>
                <a:schemeClr val="accent3">
                  <a:lumMod val="75000"/>
                </a:schemeClr>
              </a:solidFill>
              <a:cs typeface="Times New Roman" panose="02020603050405020304" pitchFamily="18" charset="0"/>
            </a:endParaRPr>
          </a:p>
        </p:txBody>
      </p:sp>
      <p:pic>
        <p:nvPicPr>
          <p:cNvPr id="5" name="Picture 4">
            <a:extLst>
              <a:ext uri="{FF2B5EF4-FFF2-40B4-BE49-F238E27FC236}">
                <a16:creationId xmlns:a16="http://schemas.microsoft.com/office/drawing/2014/main" id="{3A268E48-D973-4B16-B415-0D72563910D3}"/>
              </a:ext>
            </a:extLst>
          </p:cNvPr>
          <p:cNvPicPr>
            <a:picLocks noChangeAspect="1"/>
          </p:cNvPicPr>
          <p:nvPr/>
        </p:nvPicPr>
        <p:blipFill>
          <a:blip r:embed="rId3"/>
          <a:stretch>
            <a:fillRect/>
          </a:stretch>
        </p:blipFill>
        <p:spPr>
          <a:xfrm>
            <a:off x="3429000" y="1565632"/>
            <a:ext cx="7574858" cy="5292368"/>
          </a:xfrm>
          <a:prstGeom prst="rect">
            <a:avLst/>
          </a:prstGeom>
        </p:spPr>
      </p:pic>
      <p:sp>
        <p:nvSpPr>
          <p:cNvPr id="6" name="TextBox 5">
            <a:extLst>
              <a:ext uri="{FF2B5EF4-FFF2-40B4-BE49-F238E27FC236}">
                <a16:creationId xmlns:a16="http://schemas.microsoft.com/office/drawing/2014/main" id="{F34385F4-0A1D-BC00-DD8C-B8A72ACEC914}"/>
              </a:ext>
            </a:extLst>
          </p:cNvPr>
          <p:cNvSpPr txBox="1"/>
          <p:nvPr/>
        </p:nvSpPr>
        <p:spPr>
          <a:xfrm>
            <a:off x="6400800" y="6477000"/>
            <a:ext cx="1828800" cy="381000"/>
          </a:xfrm>
          <a:prstGeom prst="rect">
            <a:avLst/>
          </a:prstGeom>
          <a:solidFill>
            <a:schemeClr val="bg1"/>
          </a:solidFill>
        </p:spPr>
        <p:txBody>
          <a:bodyPr wrap="square" rtlCol="0">
            <a:spAutoFit/>
          </a:bodyPr>
          <a:lstStyle/>
          <a:p>
            <a:r>
              <a:rPr lang="en-US" dirty="0"/>
              <a:t>Food insecurity</a:t>
            </a:r>
          </a:p>
        </p:txBody>
      </p:sp>
    </p:spTree>
    <p:extLst>
      <p:ext uri="{BB962C8B-B14F-4D97-AF65-F5344CB8AC3E}">
        <p14:creationId xmlns:p14="http://schemas.microsoft.com/office/powerpoint/2010/main" val="4462324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Scaling </a:t>
            </a:r>
            <a:r>
              <a:rPr lang="en-US" sz="3600" b="1" dirty="0">
                <a:cs typeface="Times New Roman" panose="02020603050405020304" pitchFamily="18" charset="0"/>
              </a:rPr>
              <a:t>Observations</a:t>
            </a:r>
            <a:endParaRPr lang="en-US" sz="3600" b="1"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rmAutofit/>
          </a:bodyPr>
          <a:lstStyle/>
          <a:p>
            <a:r>
              <a:rPr lang="en-US" sz="2400" dirty="0">
                <a:cs typeface="Times New Roman" panose="02020603050405020304" pitchFamily="18" charset="0"/>
              </a:rPr>
              <a:t>What if instead, we want to weight our observations differently? </a:t>
            </a:r>
            <a:endParaRPr lang="en-US" sz="2200" dirty="0">
              <a:solidFill>
                <a:schemeClr val="accent3">
                  <a:lumMod val="75000"/>
                </a:schemeClr>
              </a:solidFill>
              <a:cs typeface="Times New Roman" panose="02020603050405020304" pitchFamily="18" charset="0"/>
            </a:endParaRPr>
          </a:p>
        </p:txBody>
      </p:sp>
      <p:pic>
        <p:nvPicPr>
          <p:cNvPr id="6" name="Picture 5">
            <a:extLst>
              <a:ext uri="{FF2B5EF4-FFF2-40B4-BE49-F238E27FC236}">
                <a16:creationId xmlns:a16="http://schemas.microsoft.com/office/drawing/2014/main" id="{114804EE-09CE-B919-9335-4B3C6667A115}"/>
              </a:ext>
            </a:extLst>
          </p:cNvPr>
          <p:cNvPicPr>
            <a:picLocks noChangeAspect="1"/>
          </p:cNvPicPr>
          <p:nvPr/>
        </p:nvPicPr>
        <p:blipFill>
          <a:blip r:embed="rId3"/>
          <a:stretch>
            <a:fillRect/>
          </a:stretch>
        </p:blipFill>
        <p:spPr>
          <a:xfrm>
            <a:off x="3432513" y="1554718"/>
            <a:ext cx="7540287" cy="5294376"/>
          </a:xfrm>
          <a:prstGeom prst="rect">
            <a:avLst/>
          </a:prstGeom>
        </p:spPr>
      </p:pic>
      <p:sp>
        <p:nvSpPr>
          <p:cNvPr id="7" name="TextBox 6">
            <a:extLst>
              <a:ext uri="{FF2B5EF4-FFF2-40B4-BE49-F238E27FC236}">
                <a16:creationId xmlns:a16="http://schemas.microsoft.com/office/drawing/2014/main" id="{569F07BF-22F6-8429-2BE2-62A474A7369B}"/>
              </a:ext>
            </a:extLst>
          </p:cNvPr>
          <p:cNvSpPr txBox="1"/>
          <p:nvPr/>
        </p:nvSpPr>
        <p:spPr>
          <a:xfrm>
            <a:off x="6400800" y="6477000"/>
            <a:ext cx="1828800" cy="381000"/>
          </a:xfrm>
          <a:prstGeom prst="rect">
            <a:avLst/>
          </a:prstGeom>
          <a:solidFill>
            <a:schemeClr val="bg1"/>
          </a:solidFill>
        </p:spPr>
        <p:txBody>
          <a:bodyPr wrap="square" rtlCol="0">
            <a:spAutoFit/>
          </a:bodyPr>
          <a:lstStyle/>
          <a:p>
            <a:r>
              <a:rPr lang="en-US" dirty="0"/>
              <a:t>Food insecurity</a:t>
            </a:r>
          </a:p>
        </p:txBody>
      </p:sp>
    </p:spTree>
    <p:extLst>
      <p:ext uri="{BB962C8B-B14F-4D97-AF65-F5344CB8AC3E}">
        <p14:creationId xmlns:p14="http://schemas.microsoft.com/office/powerpoint/2010/main" val="8609575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Scaling </a:t>
            </a:r>
            <a:r>
              <a:rPr lang="en-US" sz="3600" b="1" dirty="0">
                <a:cs typeface="Times New Roman" panose="02020603050405020304" pitchFamily="18" charset="0"/>
              </a:rPr>
              <a:t>Observations</a:t>
            </a:r>
            <a:endParaRPr lang="en-US" sz="3600" b="1"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rmAutofit/>
          </a:bodyPr>
          <a:lstStyle/>
          <a:p>
            <a:r>
              <a:rPr lang="en-US" sz="2400" dirty="0">
                <a:cs typeface="Times New Roman" panose="02020603050405020304" pitchFamily="18" charset="0"/>
              </a:rPr>
              <a:t>What if instead, we want to weight our observations differently? </a:t>
            </a:r>
            <a:endParaRPr lang="en-US" sz="2200" dirty="0">
              <a:solidFill>
                <a:schemeClr val="accent3">
                  <a:lumMod val="75000"/>
                </a:schemeClr>
              </a:solidFill>
              <a:cs typeface="Times New Roman" panose="02020603050405020304" pitchFamily="18" charset="0"/>
            </a:endParaRPr>
          </a:p>
        </p:txBody>
      </p:sp>
      <p:pic>
        <p:nvPicPr>
          <p:cNvPr id="6" name="Picture 5">
            <a:extLst>
              <a:ext uri="{FF2B5EF4-FFF2-40B4-BE49-F238E27FC236}">
                <a16:creationId xmlns:a16="http://schemas.microsoft.com/office/drawing/2014/main" id="{45DD4EE0-BE09-E356-0A99-74CFA32A687D}"/>
              </a:ext>
            </a:extLst>
          </p:cNvPr>
          <p:cNvPicPr>
            <a:picLocks noChangeAspect="1"/>
          </p:cNvPicPr>
          <p:nvPr/>
        </p:nvPicPr>
        <p:blipFill>
          <a:blip r:embed="rId3"/>
          <a:stretch>
            <a:fillRect/>
          </a:stretch>
        </p:blipFill>
        <p:spPr>
          <a:xfrm>
            <a:off x="3530986" y="1447800"/>
            <a:ext cx="7518014" cy="5294376"/>
          </a:xfrm>
          <a:prstGeom prst="rect">
            <a:avLst/>
          </a:prstGeom>
        </p:spPr>
      </p:pic>
      <p:pic>
        <p:nvPicPr>
          <p:cNvPr id="7" name="Picture 2" descr="RStudio - RStudio">
            <a:extLst>
              <a:ext uri="{FF2B5EF4-FFF2-40B4-BE49-F238E27FC236}">
                <a16:creationId xmlns:a16="http://schemas.microsoft.com/office/drawing/2014/main" id="{CB3DE5E1-76FF-D59A-13A2-E3EDC3B4077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515600" y="5347815"/>
            <a:ext cx="1371600" cy="1371600"/>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8A3933C1-3F00-4443-4A79-A8703067C8C0}"/>
              </a:ext>
            </a:extLst>
          </p:cNvPr>
          <p:cNvSpPr txBox="1"/>
          <p:nvPr/>
        </p:nvSpPr>
        <p:spPr>
          <a:xfrm>
            <a:off x="6400800" y="6477000"/>
            <a:ext cx="1828800" cy="381000"/>
          </a:xfrm>
          <a:prstGeom prst="rect">
            <a:avLst/>
          </a:prstGeom>
          <a:solidFill>
            <a:schemeClr val="bg1"/>
          </a:solidFill>
        </p:spPr>
        <p:txBody>
          <a:bodyPr wrap="square" rtlCol="0">
            <a:spAutoFit/>
          </a:bodyPr>
          <a:lstStyle/>
          <a:p>
            <a:r>
              <a:rPr lang="en-US" dirty="0"/>
              <a:t>Food insecurity</a:t>
            </a:r>
          </a:p>
        </p:txBody>
      </p:sp>
    </p:spTree>
    <p:extLst>
      <p:ext uri="{BB962C8B-B14F-4D97-AF65-F5344CB8AC3E}">
        <p14:creationId xmlns:p14="http://schemas.microsoft.com/office/powerpoint/2010/main" val="9331506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Nonlinear Transformations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015390" cy="5141388"/>
              </a:xfrm>
            </p:spPr>
            <p:txBody>
              <a:bodyPr>
                <a:normAutofit/>
              </a:bodyPr>
              <a:lstStyle/>
              <a:p>
                <a:r>
                  <a:rPr lang="en-US" sz="2400" dirty="0">
                    <a:cs typeface="Times New Roman" panose="02020603050405020304" pitchFamily="18" charset="0"/>
                  </a:rPr>
                  <a:t>Scaling regressors is a form of a </a:t>
                </a:r>
                <a:r>
                  <a:rPr lang="en-US" sz="2400" b="1" dirty="0">
                    <a:cs typeface="Times New Roman" panose="02020603050405020304" pitchFamily="18" charset="0"/>
                  </a:rPr>
                  <a:t>linear transformation</a:t>
                </a:r>
                <a:endParaRPr lang="en-US" sz="2400" dirty="0">
                  <a:cs typeface="Times New Roman" panose="02020603050405020304" pitchFamily="18" charset="0"/>
                </a:endParaRPr>
              </a:p>
              <a:p>
                <a:pPr lvl="1"/>
                <a:r>
                  <a:rPr lang="en-US" sz="2200" dirty="0">
                    <a:cs typeface="Times New Roman" panose="02020603050405020304" pitchFamily="18" charset="0"/>
                  </a:rPr>
                  <a:t>Since our regression is linear, transformations are mathematically redundant</a:t>
                </a:r>
              </a:p>
              <a:p>
                <a:r>
                  <a:rPr lang="en-US" sz="2400" dirty="0">
                    <a:cs typeface="Times New Roman" panose="02020603050405020304" pitchFamily="18" charset="0"/>
                  </a:rPr>
                  <a:t>It might also make sense to make a </a:t>
                </a:r>
                <a:r>
                  <a:rPr lang="en-US" sz="2400" b="1" dirty="0">
                    <a:cs typeface="Times New Roman" panose="02020603050405020304" pitchFamily="18" charset="0"/>
                  </a:rPr>
                  <a:t>nonlinear transformation: </a:t>
                </a:r>
              </a:p>
              <a:p>
                <a:pPr marL="0" indent="0">
                  <a:buNone/>
                </a:pPr>
                <a14:m>
                  <m:oMathPara xmlns:m="http://schemas.openxmlformats.org/officeDocument/2006/math">
                    <m:oMathParaPr>
                      <m:jc m:val="centerGroup"/>
                    </m:oMathParaPr>
                    <m:oMath xmlns:m="http://schemas.openxmlformats.org/officeDocument/2006/math">
                      <m:r>
                        <a:rPr lang="en-US" sz="2400" b="0" i="1" smtClean="0">
                          <a:solidFill>
                            <a:schemeClr val="accent2">
                              <a:lumMod val="75000"/>
                            </a:schemeClr>
                          </a:solidFill>
                          <a:latin typeface="Cambria Math" panose="02040503050406030204" pitchFamily="18" charset="0"/>
                          <a:cs typeface="Times New Roman" panose="02020603050405020304" pitchFamily="18" charset="0"/>
                        </a:rPr>
                        <m:t>𝑦</m:t>
                      </m:r>
                      <m:r>
                        <a:rPr lang="en-US" sz="2400" b="0" i="1" smtClean="0">
                          <a:solidFill>
                            <a:schemeClr val="accent2">
                              <a:lumMod val="75000"/>
                            </a:schemeClr>
                          </a:solidFill>
                          <a:latin typeface="Cambria Math" panose="02040503050406030204" pitchFamily="18" charset="0"/>
                          <a:cs typeface="Times New Roman" panose="02020603050405020304" pitchFamily="18" charset="0"/>
                        </a:rPr>
                        <m:t>=</m:t>
                      </m:r>
                      <m:sSub>
                        <m:sSubPr>
                          <m:ctrlPr>
                            <a:rPr lang="en-US" sz="2400" b="0" i="1" smtClean="0">
                              <a:solidFill>
                                <a:schemeClr val="accent2">
                                  <a:lumMod val="75000"/>
                                </a:schemeClr>
                              </a:solidFill>
                              <a:latin typeface="Cambria Math" panose="02040503050406030204" pitchFamily="18" charset="0"/>
                              <a:cs typeface="Times New Roman" panose="02020603050405020304" pitchFamily="18" charset="0"/>
                            </a:rPr>
                          </m:ctrlPr>
                        </m:sSubPr>
                        <m:e>
                          <m:r>
                            <a:rPr lang="en-US" sz="2400" b="0" i="1" smtClean="0">
                              <a:solidFill>
                                <a:schemeClr val="accent2">
                                  <a:lumMod val="75000"/>
                                </a:schemeClr>
                              </a:solidFill>
                              <a:latin typeface="Cambria Math" panose="02040503050406030204" pitchFamily="18" charset="0"/>
                              <a:cs typeface="Times New Roman" panose="02020603050405020304" pitchFamily="18" charset="0"/>
                            </a:rPr>
                            <m:t>𝛽</m:t>
                          </m:r>
                        </m:e>
                        <m:sub>
                          <m:r>
                            <a:rPr lang="en-US" sz="2400" b="0" i="1" smtClean="0">
                              <a:solidFill>
                                <a:schemeClr val="accent2">
                                  <a:lumMod val="75000"/>
                                </a:schemeClr>
                              </a:solidFill>
                              <a:latin typeface="Cambria Math" panose="02040503050406030204" pitchFamily="18" charset="0"/>
                              <a:cs typeface="Times New Roman" panose="02020603050405020304" pitchFamily="18" charset="0"/>
                            </a:rPr>
                            <m:t>0</m:t>
                          </m:r>
                        </m:sub>
                      </m:sSub>
                      <m:r>
                        <a:rPr lang="en-US" sz="2400" b="0" i="1" smtClean="0">
                          <a:solidFill>
                            <a:schemeClr val="accent2">
                              <a:lumMod val="75000"/>
                            </a:schemeClr>
                          </a:solidFill>
                          <a:latin typeface="Cambria Math" panose="02040503050406030204" pitchFamily="18" charset="0"/>
                          <a:cs typeface="Times New Roman" panose="02020603050405020304" pitchFamily="18" charset="0"/>
                        </a:rPr>
                        <m:t>+</m:t>
                      </m:r>
                      <m:sSub>
                        <m:sSubPr>
                          <m:ctrlPr>
                            <a:rPr lang="en-US" sz="2400" b="0" i="1" smtClean="0">
                              <a:solidFill>
                                <a:schemeClr val="accent2">
                                  <a:lumMod val="75000"/>
                                </a:schemeClr>
                              </a:solidFill>
                              <a:latin typeface="Cambria Math" panose="02040503050406030204" pitchFamily="18" charset="0"/>
                              <a:cs typeface="Times New Roman" panose="02020603050405020304" pitchFamily="18" charset="0"/>
                            </a:rPr>
                          </m:ctrlPr>
                        </m:sSubPr>
                        <m:e>
                          <m:r>
                            <a:rPr lang="en-US" sz="2400" b="0" i="1" smtClean="0">
                              <a:solidFill>
                                <a:schemeClr val="accent2">
                                  <a:lumMod val="75000"/>
                                </a:schemeClr>
                              </a:solidFill>
                              <a:latin typeface="Cambria Math" panose="02040503050406030204" pitchFamily="18" charset="0"/>
                              <a:cs typeface="Times New Roman" panose="02020603050405020304" pitchFamily="18" charset="0"/>
                            </a:rPr>
                            <m:t>𝛽</m:t>
                          </m:r>
                        </m:e>
                        <m:sub>
                          <m:r>
                            <a:rPr lang="en-US" sz="2400" b="0" i="1" smtClean="0">
                              <a:solidFill>
                                <a:schemeClr val="accent2">
                                  <a:lumMod val="75000"/>
                                </a:schemeClr>
                              </a:solidFill>
                              <a:latin typeface="Cambria Math" panose="02040503050406030204" pitchFamily="18" charset="0"/>
                              <a:cs typeface="Times New Roman" panose="02020603050405020304" pitchFamily="18" charset="0"/>
                            </a:rPr>
                            <m:t>1</m:t>
                          </m:r>
                        </m:sub>
                      </m:sSub>
                      <m:sSub>
                        <m:sSubPr>
                          <m:ctrlPr>
                            <a:rPr lang="en-US" sz="2400" b="0" i="1" smtClean="0">
                              <a:solidFill>
                                <a:schemeClr val="accent2">
                                  <a:lumMod val="75000"/>
                                </a:schemeClr>
                              </a:solidFill>
                              <a:latin typeface="Cambria Math" panose="02040503050406030204" pitchFamily="18" charset="0"/>
                              <a:cs typeface="Times New Roman" panose="02020603050405020304" pitchFamily="18" charset="0"/>
                            </a:rPr>
                          </m:ctrlPr>
                        </m:sSubPr>
                        <m:e>
                          <m:r>
                            <a:rPr lang="en-US" sz="2400" b="0" i="1" smtClean="0">
                              <a:solidFill>
                                <a:schemeClr val="accent2">
                                  <a:lumMod val="75000"/>
                                </a:schemeClr>
                              </a:solidFill>
                              <a:latin typeface="Cambria Math" panose="02040503050406030204" pitchFamily="18" charset="0"/>
                              <a:cs typeface="Times New Roman" panose="02020603050405020304" pitchFamily="18" charset="0"/>
                            </a:rPr>
                            <m:t>𝑥</m:t>
                          </m:r>
                        </m:e>
                        <m:sub>
                          <m:r>
                            <a:rPr lang="en-US" sz="2400" b="0" i="1" smtClean="0">
                              <a:solidFill>
                                <a:schemeClr val="accent2">
                                  <a:lumMod val="75000"/>
                                </a:schemeClr>
                              </a:solidFill>
                              <a:latin typeface="Cambria Math" panose="02040503050406030204" pitchFamily="18" charset="0"/>
                              <a:cs typeface="Times New Roman" panose="02020603050405020304" pitchFamily="18" charset="0"/>
                            </a:rPr>
                            <m:t>1</m:t>
                          </m:r>
                        </m:sub>
                      </m:sSub>
                      <m:r>
                        <a:rPr lang="en-US" sz="2400" b="0" i="1" smtClean="0">
                          <a:solidFill>
                            <a:schemeClr val="accent2">
                              <a:lumMod val="75000"/>
                            </a:schemeClr>
                          </a:solidFill>
                          <a:latin typeface="Cambria Math" panose="02040503050406030204" pitchFamily="18" charset="0"/>
                          <a:cs typeface="Times New Roman" panose="02020603050405020304" pitchFamily="18" charset="0"/>
                        </a:rPr>
                        <m:t>+</m:t>
                      </m:r>
                      <m:sSub>
                        <m:sSubPr>
                          <m:ctrlPr>
                            <a:rPr lang="en-US" sz="2400" b="1" i="1" smtClean="0">
                              <a:solidFill>
                                <a:schemeClr val="accent2">
                                  <a:lumMod val="75000"/>
                                </a:schemeClr>
                              </a:solidFill>
                              <a:latin typeface="Cambria Math" panose="02040503050406030204" pitchFamily="18" charset="0"/>
                              <a:cs typeface="Times New Roman" panose="02020603050405020304" pitchFamily="18" charset="0"/>
                            </a:rPr>
                          </m:ctrlPr>
                        </m:sSubPr>
                        <m:e>
                          <m:r>
                            <a:rPr lang="en-US" sz="2400" b="1" i="1" smtClean="0">
                              <a:solidFill>
                                <a:schemeClr val="accent2">
                                  <a:lumMod val="75000"/>
                                </a:schemeClr>
                              </a:solidFill>
                              <a:latin typeface="Cambria Math" panose="02040503050406030204" pitchFamily="18" charset="0"/>
                              <a:cs typeface="Times New Roman" panose="02020603050405020304" pitchFamily="18" charset="0"/>
                            </a:rPr>
                            <m:t>𝜷</m:t>
                          </m:r>
                        </m:e>
                        <m:sub>
                          <m:r>
                            <a:rPr lang="en-US" sz="2400" b="1" i="1" smtClean="0">
                              <a:solidFill>
                                <a:schemeClr val="accent2">
                                  <a:lumMod val="75000"/>
                                </a:schemeClr>
                              </a:solidFill>
                              <a:latin typeface="Cambria Math" panose="02040503050406030204" pitchFamily="18" charset="0"/>
                              <a:cs typeface="Times New Roman" panose="02020603050405020304" pitchFamily="18" charset="0"/>
                            </a:rPr>
                            <m:t>𝟐</m:t>
                          </m:r>
                        </m:sub>
                      </m:sSub>
                      <m:r>
                        <a:rPr lang="en-US" sz="2400" b="1" i="1" smtClean="0">
                          <a:solidFill>
                            <a:schemeClr val="accent2">
                              <a:lumMod val="75000"/>
                            </a:schemeClr>
                          </a:solidFill>
                          <a:latin typeface="Cambria Math" panose="02040503050406030204" pitchFamily="18" charset="0"/>
                          <a:cs typeface="Times New Roman" panose="02020603050405020304" pitchFamily="18" charset="0"/>
                        </a:rPr>
                        <m:t>𝒍𝒏</m:t>
                      </m:r>
                      <m:d>
                        <m:dPr>
                          <m:ctrlPr>
                            <a:rPr lang="en-US" sz="2400" b="1" i="1" smtClean="0">
                              <a:solidFill>
                                <a:schemeClr val="accent2">
                                  <a:lumMod val="75000"/>
                                </a:schemeClr>
                              </a:solidFill>
                              <a:latin typeface="Cambria Math" panose="02040503050406030204" pitchFamily="18" charset="0"/>
                              <a:cs typeface="Times New Roman" panose="02020603050405020304" pitchFamily="18" charset="0"/>
                            </a:rPr>
                          </m:ctrlPr>
                        </m:dPr>
                        <m:e>
                          <m:sSub>
                            <m:sSubPr>
                              <m:ctrlPr>
                                <a:rPr lang="en-US" sz="2400" b="1" i="1" smtClean="0">
                                  <a:solidFill>
                                    <a:schemeClr val="accent2">
                                      <a:lumMod val="75000"/>
                                    </a:schemeClr>
                                  </a:solidFill>
                                  <a:latin typeface="Cambria Math" panose="02040503050406030204" pitchFamily="18" charset="0"/>
                                  <a:cs typeface="Times New Roman" panose="02020603050405020304" pitchFamily="18" charset="0"/>
                                </a:rPr>
                              </m:ctrlPr>
                            </m:sSubPr>
                            <m:e>
                              <m:r>
                                <a:rPr lang="en-US" sz="2400" b="1" i="1" smtClean="0">
                                  <a:solidFill>
                                    <a:schemeClr val="accent2">
                                      <a:lumMod val="75000"/>
                                    </a:schemeClr>
                                  </a:solidFill>
                                  <a:latin typeface="Cambria Math" panose="02040503050406030204" pitchFamily="18" charset="0"/>
                                  <a:cs typeface="Times New Roman" panose="02020603050405020304" pitchFamily="18" charset="0"/>
                                </a:rPr>
                                <m:t>𝒙</m:t>
                              </m:r>
                            </m:e>
                            <m:sub>
                              <m:r>
                                <a:rPr lang="en-US" sz="2400" b="1" i="1" smtClean="0">
                                  <a:solidFill>
                                    <a:schemeClr val="accent2">
                                      <a:lumMod val="75000"/>
                                    </a:schemeClr>
                                  </a:solidFill>
                                  <a:latin typeface="Cambria Math" panose="02040503050406030204" pitchFamily="18" charset="0"/>
                                  <a:cs typeface="Times New Roman" panose="02020603050405020304" pitchFamily="18" charset="0"/>
                                </a:rPr>
                                <m:t>𝟐</m:t>
                              </m:r>
                            </m:sub>
                          </m:sSub>
                        </m:e>
                      </m:d>
                      <m:r>
                        <a:rPr lang="en-US" sz="2400" b="0" i="1" smtClean="0">
                          <a:solidFill>
                            <a:schemeClr val="accent2">
                              <a:lumMod val="75000"/>
                            </a:schemeClr>
                          </a:solidFill>
                          <a:latin typeface="Cambria Math" panose="02040503050406030204" pitchFamily="18" charset="0"/>
                          <a:cs typeface="Times New Roman" panose="02020603050405020304" pitchFamily="18" charset="0"/>
                        </a:rPr>
                        <m:t>+</m:t>
                      </m:r>
                      <m:r>
                        <a:rPr lang="en-US" sz="2400" b="0" i="1" smtClean="0">
                          <a:solidFill>
                            <a:schemeClr val="accent2">
                              <a:lumMod val="75000"/>
                            </a:schemeClr>
                          </a:solidFill>
                          <a:latin typeface="Cambria Math" panose="02040503050406030204" pitchFamily="18" charset="0"/>
                          <a:cs typeface="Times New Roman" panose="02020603050405020304" pitchFamily="18" charset="0"/>
                        </a:rPr>
                        <m:t>𝜀</m:t>
                      </m:r>
                    </m:oMath>
                  </m:oMathPara>
                </a14:m>
                <a:endParaRPr lang="en-US" sz="2400" dirty="0">
                  <a:solidFill>
                    <a:schemeClr val="accent2">
                      <a:lumMod val="75000"/>
                    </a:schemeClr>
                  </a:solidFill>
                  <a:cs typeface="Times New Roman" panose="02020603050405020304" pitchFamily="18" charset="0"/>
                </a:endParaRPr>
              </a:p>
              <a:p>
                <a:pPr marL="0" indent="0">
                  <a:buNone/>
                </a:pPr>
                <a:r>
                  <a:rPr lang="en-US" sz="2400" dirty="0">
                    <a:solidFill>
                      <a:schemeClr val="tx1"/>
                    </a:solidFill>
                    <a:cs typeface="Times New Roman" panose="02020603050405020304" pitchFamily="18" charset="0"/>
                  </a:rPr>
                  <a:t>Where ln(</a:t>
                </a:r>
                <a14:m>
                  <m:oMath xmlns:m="http://schemas.openxmlformats.org/officeDocument/2006/math">
                    <m:sSub>
                      <m:sSubPr>
                        <m:ctrlPr>
                          <a:rPr lang="en-US" sz="2400" b="0" i="1" smtClean="0">
                            <a:solidFill>
                              <a:schemeClr val="tx1"/>
                            </a:solidFill>
                            <a:latin typeface="Cambria Math" panose="02040503050406030204" pitchFamily="18" charset="0"/>
                            <a:cs typeface="Times New Roman" panose="02020603050405020304" pitchFamily="18" charset="0"/>
                          </a:rPr>
                        </m:ctrlPr>
                      </m:sSubPr>
                      <m:e>
                        <m:r>
                          <a:rPr lang="en-US" sz="2400" b="0" i="1" smtClean="0">
                            <a:solidFill>
                              <a:schemeClr val="tx1"/>
                            </a:solidFill>
                            <a:latin typeface="Cambria Math" panose="02040503050406030204" pitchFamily="18" charset="0"/>
                            <a:cs typeface="Times New Roman" panose="02020603050405020304" pitchFamily="18" charset="0"/>
                          </a:rPr>
                          <m:t>𝑥</m:t>
                        </m:r>
                      </m:e>
                      <m:sub>
                        <m:r>
                          <a:rPr lang="en-US" sz="2400" b="0" i="1" smtClean="0">
                            <a:solidFill>
                              <a:schemeClr val="tx1"/>
                            </a:solidFill>
                            <a:latin typeface="Cambria Math" panose="02040503050406030204" pitchFamily="18" charset="0"/>
                            <a:cs typeface="Times New Roman" panose="02020603050405020304" pitchFamily="18" charset="0"/>
                          </a:rPr>
                          <m:t>2</m:t>
                        </m:r>
                      </m:sub>
                    </m:sSub>
                    <m:r>
                      <a:rPr lang="en-US" sz="2400" b="0" i="1" smtClean="0">
                        <a:solidFill>
                          <a:schemeClr val="tx1"/>
                        </a:solidFill>
                        <a:latin typeface="Cambria Math" panose="02040503050406030204" pitchFamily="18" charset="0"/>
                        <a:cs typeface="Times New Roman" panose="02020603050405020304" pitchFamily="18" charset="0"/>
                      </a:rPr>
                      <m:t>)</m:t>
                    </m:r>
                  </m:oMath>
                </a14:m>
                <a:r>
                  <a:rPr lang="en-US" sz="2400" dirty="0">
                    <a:solidFill>
                      <a:schemeClr val="tx1"/>
                    </a:solidFill>
                    <a:cs typeface="Times New Roman" panose="02020603050405020304" pitchFamily="18" charset="0"/>
                  </a:rPr>
                  <a:t> is the natural log or log base “</a:t>
                </a:r>
                <a14:m>
                  <m:oMath xmlns:m="http://schemas.openxmlformats.org/officeDocument/2006/math">
                    <m:r>
                      <a:rPr lang="en-US" sz="2400" b="0" i="1" smtClean="0">
                        <a:solidFill>
                          <a:schemeClr val="tx1"/>
                        </a:solidFill>
                        <a:latin typeface="Cambria Math" panose="02040503050406030204" pitchFamily="18" charset="0"/>
                        <a:cs typeface="Times New Roman" panose="02020603050405020304" pitchFamily="18" charset="0"/>
                      </a:rPr>
                      <m:t>𝑒</m:t>
                    </m:r>
                  </m:oMath>
                </a14:m>
                <a:r>
                  <a:rPr lang="en-US" sz="2400" dirty="0">
                    <a:solidFill>
                      <a:schemeClr val="tx1"/>
                    </a:solidFill>
                    <a:cs typeface="Times New Roman" panose="02020603050405020304" pitchFamily="18" charset="0"/>
                  </a:rPr>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015390" cy="5141388"/>
              </a:xfrm>
              <a:blipFill>
                <a:blip r:embed="rId3"/>
                <a:stretch>
                  <a:fillRect l="-913" t="-1305"/>
                </a:stretch>
              </a:blipFill>
            </p:spPr>
            <p:txBody>
              <a:bodyPr/>
              <a:lstStyle/>
              <a:p>
                <a:r>
                  <a:rPr lang="en-CA">
                    <a:noFill/>
                  </a:rPr>
                  <a:t> </a:t>
                </a:r>
              </a:p>
            </p:txBody>
          </p:sp>
        </mc:Fallback>
      </mc:AlternateContent>
    </p:spTree>
    <p:extLst>
      <p:ext uri="{BB962C8B-B14F-4D97-AF65-F5344CB8AC3E}">
        <p14:creationId xmlns:p14="http://schemas.microsoft.com/office/powerpoint/2010/main" val="11815549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Nonlinear Transformations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015390" cy="5141388"/>
              </a:xfrm>
            </p:spPr>
            <p:txBody>
              <a:bodyPr>
                <a:normAutofit/>
              </a:bodyPr>
              <a:lstStyle/>
              <a:p>
                <a:r>
                  <a:rPr lang="en-US" sz="2400" dirty="0">
                    <a:cs typeface="Times New Roman" panose="02020603050405020304" pitchFamily="18" charset="0"/>
                  </a:rPr>
                  <a:t>Scaling regressors is a form of a </a:t>
                </a:r>
                <a:r>
                  <a:rPr lang="en-US" sz="2400" b="1" dirty="0">
                    <a:cs typeface="Times New Roman" panose="02020603050405020304" pitchFamily="18" charset="0"/>
                  </a:rPr>
                  <a:t>linear transformation</a:t>
                </a:r>
                <a:endParaRPr lang="en-US" sz="2400" dirty="0">
                  <a:cs typeface="Times New Roman" panose="02020603050405020304" pitchFamily="18" charset="0"/>
                </a:endParaRPr>
              </a:p>
              <a:p>
                <a:pPr lvl="1"/>
                <a:r>
                  <a:rPr lang="en-US" sz="2200" dirty="0">
                    <a:cs typeface="Times New Roman" panose="02020603050405020304" pitchFamily="18" charset="0"/>
                  </a:rPr>
                  <a:t>Since our regression is linear, transformations are mathematically redundant</a:t>
                </a:r>
              </a:p>
              <a:p>
                <a:r>
                  <a:rPr lang="en-US" sz="2400" dirty="0">
                    <a:cs typeface="Times New Roman" panose="02020603050405020304" pitchFamily="18" charset="0"/>
                  </a:rPr>
                  <a:t>It might also make sense to make a </a:t>
                </a:r>
                <a:r>
                  <a:rPr lang="en-US" sz="2400" b="1" dirty="0">
                    <a:cs typeface="Times New Roman" panose="02020603050405020304" pitchFamily="18" charset="0"/>
                  </a:rPr>
                  <a:t>nonlinear transformation: </a:t>
                </a:r>
              </a:p>
              <a:p>
                <a:pPr marL="0" indent="0">
                  <a:buNone/>
                </a:pPr>
                <a14:m>
                  <m:oMathPara xmlns:m="http://schemas.openxmlformats.org/officeDocument/2006/math">
                    <m:oMathParaPr>
                      <m:jc m:val="centerGroup"/>
                    </m:oMathParaPr>
                    <m:oMath xmlns:m="http://schemas.openxmlformats.org/officeDocument/2006/math">
                      <m:r>
                        <a:rPr lang="en-US" sz="2400" b="0" i="1" smtClean="0">
                          <a:solidFill>
                            <a:schemeClr val="accent2">
                              <a:lumMod val="75000"/>
                            </a:schemeClr>
                          </a:solidFill>
                          <a:latin typeface="Cambria Math" panose="02040503050406030204" pitchFamily="18" charset="0"/>
                          <a:cs typeface="Times New Roman" panose="02020603050405020304" pitchFamily="18" charset="0"/>
                        </a:rPr>
                        <m:t>𝑦</m:t>
                      </m:r>
                      <m:r>
                        <a:rPr lang="en-US" sz="2400" b="0" i="1" smtClean="0">
                          <a:solidFill>
                            <a:schemeClr val="accent2">
                              <a:lumMod val="75000"/>
                            </a:schemeClr>
                          </a:solidFill>
                          <a:latin typeface="Cambria Math" panose="02040503050406030204" pitchFamily="18" charset="0"/>
                          <a:cs typeface="Times New Roman" panose="02020603050405020304" pitchFamily="18" charset="0"/>
                        </a:rPr>
                        <m:t>=</m:t>
                      </m:r>
                      <m:sSub>
                        <m:sSubPr>
                          <m:ctrlPr>
                            <a:rPr lang="en-US" sz="2400" b="0" i="1" smtClean="0">
                              <a:solidFill>
                                <a:schemeClr val="accent2">
                                  <a:lumMod val="75000"/>
                                </a:schemeClr>
                              </a:solidFill>
                              <a:latin typeface="Cambria Math" panose="02040503050406030204" pitchFamily="18" charset="0"/>
                              <a:cs typeface="Times New Roman" panose="02020603050405020304" pitchFamily="18" charset="0"/>
                            </a:rPr>
                          </m:ctrlPr>
                        </m:sSubPr>
                        <m:e>
                          <m:r>
                            <a:rPr lang="en-US" sz="2400" b="0" i="1" smtClean="0">
                              <a:solidFill>
                                <a:schemeClr val="accent2">
                                  <a:lumMod val="75000"/>
                                </a:schemeClr>
                              </a:solidFill>
                              <a:latin typeface="Cambria Math" panose="02040503050406030204" pitchFamily="18" charset="0"/>
                              <a:cs typeface="Times New Roman" panose="02020603050405020304" pitchFamily="18" charset="0"/>
                            </a:rPr>
                            <m:t>𝛽</m:t>
                          </m:r>
                        </m:e>
                        <m:sub>
                          <m:r>
                            <a:rPr lang="en-US" sz="2400" b="0" i="1" smtClean="0">
                              <a:solidFill>
                                <a:schemeClr val="accent2">
                                  <a:lumMod val="75000"/>
                                </a:schemeClr>
                              </a:solidFill>
                              <a:latin typeface="Cambria Math" panose="02040503050406030204" pitchFamily="18" charset="0"/>
                              <a:cs typeface="Times New Roman" panose="02020603050405020304" pitchFamily="18" charset="0"/>
                            </a:rPr>
                            <m:t>0</m:t>
                          </m:r>
                        </m:sub>
                      </m:sSub>
                      <m:r>
                        <a:rPr lang="en-US" sz="2400" b="0" i="1" smtClean="0">
                          <a:solidFill>
                            <a:schemeClr val="accent2">
                              <a:lumMod val="75000"/>
                            </a:schemeClr>
                          </a:solidFill>
                          <a:latin typeface="Cambria Math" panose="02040503050406030204" pitchFamily="18" charset="0"/>
                          <a:cs typeface="Times New Roman" panose="02020603050405020304" pitchFamily="18" charset="0"/>
                        </a:rPr>
                        <m:t>+</m:t>
                      </m:r>
                      <m:sSub>
                        <m:sSubPr>
                          <m:ctrlPr>
                            <a:rPr lang="en-US" sz="2400" b="0" i="1" smtClean="0">
                              <a:solidFill>
                                <a:schemeClr val="accent2">
                                  <a:lumMod val="75000"/>
                                </a:schemeClr>
                              </a:solidFill>
                              <a:latin typeface="Cambria Math" panose="02040503050406030204" pitchFamily="18" charset="0"/>
                              <a:cs typeface="Times New Roman" panose="02020603050405020304" pitchFamily="18" charset="0"/>
                            </a:rPr>
                          </m:ctrlPr>
                        </m:sSubPr>
                        <m:e>
                          <m:r>
                            <a:rPr lang="en-US" sz="2400" b="0" i="1" smtClean="0">
                              <a:solidFill>
                                <a:schemeClr val="accent2">
                                  <a:lumMod val="75000"/>
                                </a:schemeClr>
                              </a:solidFill>
                              <a:latin typeface="Cambria Math" panose="02040503050406030204" pitchFamily="18" charset="0"/>
                              <a:cs typeface="Times New Roman" panose="02020603050405020304" pitchFamily="18" charset="0"/>
                            </a:rPr>
                            <m:t>𝛽</m:t>
                          </m:r>
                        </m:e>
                        <m:sub>
                          <m:r>
                            <a:rPr lang="en-US" sz="2400" b="0" i="1" smtClean="0">
                              <a:solidFill>
                                <a:schemeClr val="accent2">
                                  <a:lumMod val="75000"/>
                                </a:schemeClr>
                              </a:solidFill>
                              <a:latin typeface="Cambria Math" panose="02040503050406030204" pitchFamily="18" charset="0"/>
                              <a:cs typeface="Times New Roman" panose="02020603050405020304" pitchFamily="18" charset="0"/>
                            </a:rPr>
                            <m:t>1</m:t>
                          </m:r>
                        </m:sub>
                      </m:sSub>
                      <m:sSub>
                        <m:sSubPr>
                          <m:ctrlPr>
                            <a:rPr lang="en-US" sz="2400" b="0" i="1" smtClean="0">
                              <a:solidFill>
                                <a:schemeClr val="accent2">
                                  <a:lumMod val="75000"/>
                                </a:schemeClr>
                              </a:solidFill>
                              <a:latin typeface="Cambria Math" panose="02040503050406030204" pitchFamily="18" charset="0"/>
                              <a:cs typeface="Times New Roman" panose="02020603050405020304" pitchFamily="18" charset="0"/>
                            </a:rPr>
                          </m:ctrlPr>
                        </m:sSubPr>
                        <m:e>
                          <m:r>
                            <a:rPr lang="en-US" sz="2400" b="0" i="1" smtClean="0">
                              <a:solidFill>
                                <a:schemeClr val="accent2">
                                  <a:lumMod val="75000"/>
                                </a:schemeClr>
                              </a:solidFill>
                              <a:latin typeface="Cambria Math" panose="02040503050406030204" pitchFamily="18" charset="0"/>
                              <a:cs typeface="Times New Roman" panose="02020603050405020304" pitchFamily="18" charset="0"/>
                            </a:rPr>
                            <m:t>𝑥</m:t>
                          </m:r>
                        </m:e>
                        <m:sub>
                          <m:r>
                            <a:rPr lang="en-US" sz="2400" b="0" i="1" smtClean="0">
                              <a:solidFill>
                                <a:schemeClr val="accent2">
                                  <a:lumMod val="75000"/>
                                </a:schemeClr>
                              </a:solidFill>
                              <a:latin typeface="Cambria Math" panose="02040503050406030204" pitchFamily="18" charset="0"/>
                              <a:cs typeface="Times New Roman" panose="02020603050405020304" pitchFamily="18" charset="0"/>
                            </a:rPr>
                            <m:t>1</m:t>
                          </m:r>
                        </m:sub>
                      </m:sSub>
                      <m:r>
                        <a:rPr lang="en-US" sz="2400" b="0" i="1" smtClean="0">
                          <a:solidFill>
                            <a:schemeClr val="accent2">
                              <a:lumMod val="75000"/>
                            </a:schemeClr>
                          </a:solidFill>
                          <a:latin typeface="Cambria Math" panose="02040503050406030204" pitchFamily="18" charset="0"/>
                          <a:cs typeface="Times New Roman" panose="02020603050405020304" pitchFamily="18" charset="0"/>
                        </a:rPr>
                        <m:t>+</m:t>
                      </m:r>
                      <m:sSub>
                        <m:sSubPr>
                          <m:ctrlPr>
                            <a:rPr lang="en-US" sz="2400" b="1" i="1" smtClean="0">
                              <a:solidFill>
                                <a:schemeClr val="accent2">
                                  <a:lumMod val="75000"/>
                                </a:schemeClr>
                              </a:solidFill>
                              <a:latin typeface="Cambria Math" panose="02040503050406030204" pitchFamily="18" charset="0"/>
                              <a:cs typeface="Times New Roman" panose="02020603050405020304" pitchFamily="18" charset="0"/>
                            </a:rPr>
                          </m:ctrlPr>
                        </m:sSubPr>
                        <m:e>
                          <m:r>
                            <a:rPr lang="en-US" sz="2400" b="1" i="1" smtClean="0">
                              <a:solidFill>
                                <a:schemeClr val="accent2">
                                  <a:lumMod val="75000"/>
                                </a:schemeClr>
                              </a:solidFill>
                              <a:latin typeface="Cambria Math" panose="02040503050406030204" pitchFamily="18" charset="0"/>
                              <a:cs typeface="Times New Roman" panose="02020603050405020304" pitchFamily="18" charset="0"/>
                            </a:rPr>
                            <m:t>𝜷</m:t>
                          </m:r>
                        </m:e>
                        <m:sub>
                          <m:r>
                            <a:rPr lang="en-US" sz="2400" b="1" i="1" smtClean="0">
                              <a:solidFill>
                                <a:schemeClr val="accent2">
                                  <a:lumMod val="75000"/>
                                </a:schemeClr>
                              </a:solidFill>
                              <a:latin typeface="Cambria Math" panose="02040503050406030204" pitchFamily="18" charset="0"/>
                              <a:cs typeface="Times New Roman" panose="02020603050405020304" pitchFamily="18" charset="0"/>
                            </a:rPr>
                            <m:t>𝟐</m:t>
                          </m:r>
                        </m:sub>
                      </m:sSub>
                      <m:r>
                        <a:rPr lang="en-US" sz="2400" b="1" i="1" smtClean="0">
                          <a:solidFill>
                            <a:schemeClr val="accent2">
                              <a:lumMod val="75000"/>
                            </a:schemeClr>
                          </a:solidFill>
                          <a:latin typeface="Cambria Math" panose="02040503050406030204" pitchFamily="18" charset="0"/>
                          <a:cs typeface="Times New Roman" panose="02020603050405020304" pitchFamily="18" charset="0"/>
                        </a:rPr>
                        <m:t>𝒍𝒏</m:t>
                      </m:r>
                      <m:d>
                        <m:dPr>
                          <m:ctrlPr>
                            <a:rPr lang="en-US" sz="2400" b="1" i="1" smtClean="0">
                              <a:solidFill>
                                <a:schemeClr val="accent2">
                                  <a:lumMod val="75000"/>
                                </a:schemeClr>
                              </a:solidFill>
                              <a:latin typeface="Cambria Math" panose="02040503050406030204" pitchFamily="18" charset="0"/>
                              <a:cs typeface="Times New Roman" panose="02020603050405020304" pitchFamily="18" charset="0"/>
                            </a:rPr>
                          </m:ctrlPr>
                        </m:dPr>
                        <m:e>
                          <m:sSub>
                            <m:sSubPr>
                              <m:ctrlPr>
                                <a:rPr lang="en-US" sz="2400" b="1" i="1" smtClean="0">
                                  <a:solidFill>
                                    <a:schemeClr val="accent2">
                                      <a:lumMod val="75000"/>
                                    </a:schemeClr>
                                  </a:solidFill>
                                  <a:latin typeface="Cambria Math" panose="02040503050406030204" pitchFamily="18" charset="0"/>
                                  <a:cs typeface="Times New Roman" panose="02020603050405020304" pitchFamily="18" charset="0"/>
                                </a:rPr>
                              </m:ctrlPr>
                            </m:sSubPr>
                            <m:e>
                              <m:r>
                                <a:rPr lang="en-US" sz="2400" b="1" i="1" smtClean="0">
                                  <a:solidFill>
                                    <a:schemeClr val="accent2">
                                      <a:lumMod val="75000"/>
                                    </a:schemeClr>
                                  </a:solidFill>
                                  <a:latin typeface="Cambria Math" panose="02040503050406030204" pitchFamily="18" charset="0"/>
                                  <a:cs typeface="Times New Roman" panose="02020603050405020304" pitchFamily="18" charset="0"/>
                                </a:rPr>
                                <m:t>𝒙</m:t>
                              </m:r>
                            </m:e>
                            <m:sub>
                              <m:r>
                                <a:rPr lang="en-US" sz="2400" b="1" i="1" smtClean="0">
                                  <a:solidFill>
                                    <a:schemeClr val="accent2">
                                      <a:lumMod val="75000"/>
                                    </a:schemeClr>
                                  </a:solidFill>
                                  <a:latin typeface="Cambria Math" panose="02040503050406030204" pitchFamily="18" charset="0"/>
                                  <a:cs typeface="Times New Roman" panose="02020603050405020304" pitchFamily="18" charset="0"/>
                                </a:rPr>
                                <m:t>𝟐</m:t>
                              </m:r>
                            </m:sub>
                          </m:sSub>
                        </m:e>
                      </m:d>
                      <m:r>
                        <a:rPr lang="en-US" sz="2400" b="0" i="1" smtClean="0">
                          <a:solidFill>
                            <a:schemeClr val="accent2">
                              <a:lumMod val="75000"/>
                            </a:schemeClr>
                          </a:solidFill>
                          <a:latin typeface="Cambria Math" panose="02040503050406030204" pitchFamily="18" charset="0"/>
                          <a:cs typeface="Times New Roman" panose="02020603050405020304" pitchFamily="18" charset="0"/>
                        </a:rPr>
                        <m:t>+</m:t>
                      </m:r>
                      <m:r>
                        <a:rPr lang="en-US" sz="2400" b="0" i="1" smtClean="0">
                          <a:solidFill>
                            <a:schemeClr val="accent2">
                              <a:lumMod val="75000"/>
                            </a:schemeClr>
                          </a:solidFill>
                          <a:latin typeface="Cambria Math" panose="02040503050406030204" pitchFamily="18" charset="0"/>
                          <a:cs typeface="Times New Roman" panose="02020603050405020304" pitchFamily="18" charset="0"/>
                        </a:rPr>
                        <m:t>𝜀</m:t>
                      </m:r>
                    </m:oMath>
                  </m:oMathPara>
                </a14:m>
                <a:endParaRPr lang="en-US" sz="2400" dirty="0">
                  <a:solidFill>
                    <a:schemeClr val="accent2">
                      <a:lumMod val="75000"/>
                    </a:schemeClr>
                  </a:solidFill>
                  <a:cs typeface="Times New Roman" panose="02020603050405020304" pitchFamily="18" charset="0"/>
                </a:endParaRPr>
              </a:p>
              <a:p>
                <a:pPr marL="0" indent="0">
                  <a:buNone/>
                </a:pPr>
                <a:r>
                  <a:rPr lang="en-US" sz="2400" dirty="0">
                    <a:solidFill>
                      <a:schemeClr val="tx1"/>
                    </a:solidFill>
                    <a:cs typeface="Times New Roman" panose="02020603050405020304" pitchFamily="18" charset="0"/>
                  </a:rPr>
                  <a:t>Where ln(</a:t>
                </a:r>
                <a14:m>
                  <m:oMath xmlns:m="http://schemas.openxmlformats.org/officeDocument/2006/math">
                    <m:sSub>
                      <m:sSubPr>
                        <m:ctrlPr>
                          <a:rPr lang="en-US" sz="2400" b="0" i="1" smtClean="0">
                            <a:solidFill>
                              <a:schemeClr val="tx1"/>
                            </a:solidFill>
                            <a:latin typeface="Cambria Math" panose="02040503050406030204" pitchFamily="18" charset="0"/>
                            <a:cs typeface="Times New Roman" panose="02020603050405020304" pitchFamily="18" charset="0"/>
                          </a:rPr>
                        </m:ctrlPr>
                      </m:sSubPr>
                      <m:e>
                        <m:r>
                          <a:rPr lang="en-US" sz="2400" b="0" i="1" smtClean="0">
                            <a:solidFill>
                              <a:schemeClr val="tx1"/>
                            </a:solidFill>
                            <a:latin typeface="Cambria Math" panose="02040503050406030204" pitchFamily="18" charset="0"/>
                            <a:cs typeface="Times New Roman" panose="02020603050405020304" pitchFamily="18" charset="0"/>
                          </a:rPr>
                          <m:t>𝑥</m:t>
                        </m:r>
                      </m:e>
                      <m:sub>
                        <m:r>
                          <a:rPr lang="en-US" sz="2400" b="0" i="1" smtClean="0">
                            <a:solidFill>
                              <a:schemeClr val="tx1"/>
                            </a:solidFill>
                            <a:latin typeface="Cambria Math" panose="02040503050406030204" pitchFamily="18" charset="0"/>
                            <a:cs typeface="Times New Roman" panose="02020603050405020304" pitchFamily="18" charset="0"/>
                          </a:rPr>
                          <m:t>2</m:t>
                        </m:r>
                      </m:sub>
                    </m:sSub>
                    <m:r>
                      <a:rPr lang="en-US" sz="2400" b="0" i="1" smtClean="0">
                        <a:solidFill>
                          <a:schemeClr val="tx1"/>
                        </a:solidFill>
                        <a:latin typeface="Cambria Math" panose="02040503050406030204" pitchFamily="18" charset="0"/>
                        <a:cs typeface="Times New Roman" panose="02020603050405020304" pitchFamily="18" charset="0"/>
                      </a:rPr>
                      <m:t>)</m:t>
                    </m:r>
                  </m:oMath>
                </a14:m>
                <a:r>
                  <a:rPr lang="en-US" sz="2400" dirty="0">
                    <a:solidFill>
                      <a:schemeClr val="tx1"/>
                    </a:solidFill>
                    <a:cs typeface="Times New Roman" panose="02020603050405020304" pitchFamily="18" charset="0"/>
                  </a:rPr>
                  <a:t> is the natural log or log base “</a:t>
                </a:r>
                <a14:m>
                  <m:oMath xmlns:m="http://schemas.openxmlformats.org/officeDocument/2006/math">
                    <m:r>
                      <a:rPr lang="en-US" sz="2400" b="0" i="1" smtClean="0">
                        <a:solidFill>
                          <a:schemeClr val="tx1"/>
                        </a:solidFill>
                        <a:latin typeface="Cambria Math" panose="02040503050406030204" pitchFamily="18" charset="0"/>
                        <a:cs typeface="Times New Roman" panose="02020603050405020304" pitchFamily="18" charset="0"/>
                      </a:rPr>
                      <m:t>𝑒</m:t>
                    </m:r>
                  </m:oMath>
                </a14:m>
                <a:r>
                  <a:rPr lang="en-US" sz="2400" dirty="0">
                    <a:solidFill>
                      <a:schemeClr val="tx1"/>
                    </a:solidFill>
                    <a:cs typeface="Times New Roman" panose="02020603050405020304" pitchFamily="18" charset="0"/>
                  </a:rPr>
                  <a:t>”</a:t>
                </a:r>
              </a:p>
              <a:p>
                <a:pPr marL="0" indent="0">
                  <a:buNone/>
                </a:pPr>
                <a:r>
                  <a:rPr lang="en-US" sz="2400" b="1" dirty="0">
                    <a:solidFill>
                      <a:schemeClr val="accent2">
                        <a:lumMod val="75000"/>
                      </a:schemeClr>
                    </a:solidFill>
                    <a:cs typeface="Times New Roman" panose="02020603050405020304" pitchFamily="18" charset="0"/>
                  </a:rPr>
                  <a:t>Why would we do this? </a:t>
                </a:r>
              </a:p>
              <a:p>
                <a:pPr marL="457200" indent="-457200">
                  <a:buFont typeface="+mj-lt"/>
                  <a:buAutoNum type="arabicPeriod"/>
                </a:pPr>
                <a:r>
                  <a:rPr lang="en-US" sz="2400" dirty="0">
                    <a:cs typeface="Times New Roman" panose="02020603050405020304" pitchFamily="18" charset="0"/>
                  </a:rPr>
                  <a:t>Deal with outliers</a:t>
                </a:r>
              </a:p>
              <a:p>
                <a:pPr marL="457200" indent="-457200">
                  <a:buFont typeface="+mj-lt"/>
                  <a:buAutoNum type="arabicPeriod"/>
                </a:pPr>
                <a:r>
                  <a:rPr lang="en-US" sz="2400" dirty="0">
                    <a:cs typeface="Times New Roman" panose="02020603050405020304" pitchFamily="18" charset="0"/>
                  </a:rPr>
                  <a:t>Better approximate a linear relationship</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015390" cy="5141388"/>
              </a:xfrm>
              <a:blipFill>
                <a:blip r:embed="rId3"/>
                <a:stretch>
                  <a:fillRect l="-913" t="-1305"/>
                </a:stretch>
              </a:blipFill>
            </p:spPr>
            <p:txBody>
              <a:bodyPr/>
              <a:lstStyle/>
              <a:p>
                <a:r>
                  <a:rPr lang="en-CA">
                    <a:noFill/>
                  </a:rPr>
                  <a:t> </a:t>
                </a:r>
              </a:p>
            </p:txBody>
          </p:sp>
        </mc:Fallback>
      </mc:AlternateContent>
    </p:spTree>
    <p:extLst>
      <p:ext uri="{BB962C8B-B14F-4D97-AF65-F5344CB8AC3E}">
        <p14:creationId xmlns:p14="http://schemas.microsoft.com/office/powerpoint/2010/main" val="253645810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Nonlinear Transformations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33400" y="1066801"/>
                <a:ext cx="10091591" cy="5141388"/>
              </a:xfrm>
            </p:spPr>
            <p:txBody>
              <a:bodyPr>
                <a:normAutofit/>
              </a:bodyPr>
              <a:lstStyle/>
              <a:p>
                <a:r>
                  <a:rPr lang="en-US" sz="2400" dirty="0">
                    <a:cs typeface="Times New Roman" panose="02020603050405020304" pitchFamily="18" charset="0"/>
                  </a:rPr>
                  <a:t>Scaling regressors is a form of a </a:t>
                </a:r>
                <a:r>
                  <a:rPr lang="en-US" sz="2400" b="1" dirty="0">
                    <a:cs typeface="Times New Roman" panose="02020603050405020304" pitchFamily="18" charset="0"/>
                  </a:rPr>
                  <a:t>linear transformation</a:t>
                </a:r>
                <a:endParaRPr lang="en-US" sz="2400" dirty="0">
                  <a:cs typeface="Times New Roman" panose="02020603050405020304" pitchFamily="18" charset="0"/>
                </a:endParaRPr>
              </a:p>
              <a:p>
                <a:pPr lvl="1"/>
                <a:r>
                  <a:rPr lang="en-US" sz="2200" dirty="0">
                    <a:cs typeface="Times New Roman" panose="02020603050405020304" pitchFamily="18" charset="0"/>
                  </a:rPr>
                  <a:t>Since our regression is linear, transformations are mathematically redundant</a:t>
                </a:r>
              </a:p>
              <a:p>
                <a:r>
                  <a:rPr lang="en-US" sz="2400" dirty="0">
                    <a:cs typeface="Times New Roman" panose="02020603050405020304" pitchFamily="18" charset="0"/>
                  </a:rPr>
                  <a:t>It might also make sense to make a </a:t>
                </a:r>
                <a:r>
                  <a:rPr lang="en-US" sz="2400" b="1" dirty="0">
                    <a:cs typeface="Times New Roman" panose="02020603050405020304" pitchFamily="18" charset="0"/>
                  </a:rPr>
                  <a:t>nonlinear transformation: </a:t>
                </a:r>
              </a:p>
              <a:p>
                <a:pPr marL="0" indent="0">
                  <a:buNone/>
                </a:pPr>
                <a14:m>
                  <m:oMathPara xmlns:m="http://schemas.openxmlformats.org/officeDocument/2006/math">
                    <m:oMathParaPr>
                      <m:jc m:val="centerGroup"/>
                    </m:oMathParaPr>
                    <m:oMath xmlns:m="http://schemas.openxmlformats.org/officeDocument/2006/math">
                      <m:r>
                        <a:rPr lang="en-US" sz="2400" b="0" i="1" smtClean="0">
                          <a:solidFill>
                            <a:schemeClr val="accent2">
                              <a:lumMod val="75000"/>
                            </a:schemeClr>
                          </a:solidFill>
                          <a:latin typeface="Cambria Math" panose="02040503050406030204" pitchFamily="18" charset="0"/>
                          <a:cs typeface="Times New Roman" panose="02020603050405020304" pitchFamily="18" charset="0"/>
                        </a:rPr>
                        <m:t>𝑦</m:t>
                      </m:r>
                      <m:r>
                        <a:rPr lang="en-US" sz="2400" b="0" i="1" smtClean="0">
                          <a:solidFill>
                            <a:schemeClr val="accent2">
                              <a:lumMod val="75000"/>
                            </a:schemeClr>
                          </a:solidFill>
                          <a:latin typeface="Cambria Math" panose="02040503050406030204" pitchFamily="18" charset="0"/>
                          <a:cs typeface="Times New Roman" panose="02020603050405020304" pitchFamily="18" charset="0"/>
                        </a:rPr>
                        <m:t>=</m:t>
                      </m:r>
                      <m:sSub>
                        <m:sSubPr>
                          <m:ctrlPr>
                            <a:rPr lang="en-US" sz="2400" b="0" i="1" smtClean="0">
                              <a:solidFill>
                                <a:schemeClr val="accent2">
                                  <a:lumMod val="75000"/>
                                </a:schemeClr>
                              </a:solidFill>
                              <a:latin typeface="Cambria Math" panose="02040503050406030204" pitchFamily="18" charset="0"/>
                              <a:cs typeface="Times New Roman" panose="02020603050405020304" pitchFamily="18" charset="0"/>
                            </a:rPr>
                          </m:ctrlPr>
                        </m:sSubPr>
                        <m:e>
                          <m:r>
                            <a:rPr lang="en-US" sz="2400" b="0" i="1" smtClean="0">
                              <a:solidFill>
                                <a:schemeClr val="accent2">
                                  <a:lumMod val="75000"/>
                                </a:schemeClr>
                              </a:solidFill>
                              <a:latin typeface="Cambria Math" panose="02040503050406030204" pitchFamily="18" charset="0"/>
                              <a:cs typeface="Times New Roman" panose="02020603050405020304" pitchFamily="18" charset="0"/>
                            </a:rPr>
                            <m:t>𝛽</m:t>
                          </m:r>
                        </m:e>
                        <m:sub>
                          <m:r>
                            <a:rPr lang="en-US" sz="2400" b="0" i="1" smtClean="0">
                              <a:solidFill>
                                <a:schemeClr val="accent2">
                                  <a:lumMod val="75000"/>
                                </a:schemeClr>
                              </a:solidFill>
                              <a:latin typeface="Cambria Math" panose="02040503050406030204" pitchFamily="18" charset="0"/>
                              <a:cs typeface="Times New Roman" panose="02020603050405020304" pitchFamily="18" charset="0"/>
                            </a:rPr>
                            <m:t>0</m:t>
                          </m:r>
                        </m:sub>
                      </m:sSub>
                      <m:r>
                        <a:rPr lang="en-US" sz="2400" b="0" i="1" smtClean="0">
                          <a:solidFill>
                            <a:schemeClr val="accent2">
                              <a:lumMod val="75000"/>
                            </a:schemeClr>
                          </a:solidFill>
                          <a:latin typeface="Cambria Math" panose="02040503050406030204" pitchFamily="18" charset="0"/>
                          <a:cs typeface="Times New Roman" panose="02020603050405020304" pitchFamily="18" charset="0"/>
                        </a:rPr>
                        <m:t>+</m:t>
                      </m:r>
                      <m:sSub>
                        <m:sSubPr>
                          <m:ctrlPr>
                            <a:rPr lang="en-US" sz="2400" b="0" i="1" smtClean="0">
                              <a:solidFill>
                                <a:schemeClr val="accent2">
                                  <a:lumMod val="75000"/>
                                </a:schemeClr>
                              </a:solidFill>
                              <a:latin typeface="Cambria Math" panose="02040503050406030204" pitchFamily="18" charset="0"/>
                              <a:cs typeface="Times New Roman" panose="02020603050405020304" pitchFamily="18" charset="0"/>
                            </a:rPr>
                          </m:ctrlPr>
                        </m:sSubPr>
                        <m:e>
                          <m:r>
                            <a:rPr lang="en-US" sz="2400" b="0" i="1" smtClean="0">
                              <a:solidFill>
                                <a:schemeClr val="accent2">
                                  <a:lumMod val="75000"/>
                                </a:schemeClr>
                              </a:solidFill>
                              <a:latin typeface="Cambria Math" panose="02040503050406030204" pitchFamily="18" charset="0"/>
                              <a:cs typeface="Times New Roman" panose="02020603050405020304" pitchFamily="18" charset="0"/>
                            </a:rPr>
                            <m:t>𝛽</m:t>
                          </m:r>
                        </m:e>
                        <m:sub>
                          <m:r>
                            <a:rPr lang="en-US" sz="2400" b="0" i="1" smtClean="0">
                              <a:solidFill>
                                <a:schemeClr val="accent2">
                                  <a:lumMod val="75000"/>
                                </a:schemeClr>
                              </a:solidFill>
                              <a:latin typeface="Cambria Math" panose="02040503050406030204" pitchFamily="18" charset="0"/>
                              <a:cs typeface="Times New Roman" panose="02020603050405020304" pitchFamily="18" charset="0"/>
                            </a:rPr>
                            <m:t>1</m:t>
                          </m:r>
                        </m:sub>
                      </m:sSub>
                      <m:sSub>
                        <m:sSubPr>
                          <m:ctrlPr>
                            <a:rPr lang="en-US" sz="2400" b="0" i="1" smtClean="0">
                              <a:solidFill>
                                <a:schemeClr val="accent2">
                                  <a:lumMod val="75000"/>
                                </a:schemeClr>
                              </a:solidFill>
                              <a:latin typeface="Cambria Math" panose="02040503050406030204" pitchFamily="18" charset="0"/>
                              <a:cs typeface="Times New Roman" panose="02020603050405020304" pitchFamily="18" charset="0"/>
                            </a:rPr>
                          </m:ctrlPr>
                        </m:sSubPr>
                        <m:e>
                          <m:r>
                            <a:rPr lang="en-US" sz="2400" b="0" i="1" smtClean="0">
                              <a:solidFill>
                                <a:schemeClr val="accent2">
                                  <a:lumMod val="75000"/>
                                </a:schemeClr>
                              </a:solidFill>
                              <a:latin typeface="Cambria Math" panose="02040503050406030204" pitchFamily="18" charset="0"/>
                              <a:cs typeface="Times New Roman" panose="02020603050405020304" pitchFamily="18" charset="0"/>
                            </a:rPr>
                            <m:t>𝑥</m:t>
                          </m:r>
                        </m:e>
                        <m:sub>
                          <m:r>
                            <a:rPr lang="en-US" sz="2400" b="0" i="1" smtClean="0">
                              <a:solidFill>
                                <a:schemeClr val="accent2">
                                  <a:lumMod val="75000"/>
                                </a:schemeClr>
                              </a:solidFill>
                              <a:latin typeface="Cambria Math" panose="02040503050406030204" pitchFamily="18" charset="0"/>
                              <a:cs typeface="Times New Roman" panose="02020603050405020304" pitchFamily="18" charset="0"/>
                            </a:rPr>
                            <m:t>1</m:t>
                          </m:r>
                        </m:sub>
                      </m:sSub>
                      <m:r>
                        <a:rPr lang="en-US" sz="2400" b="0" i="1" smtClean="0">
                          <a:solidFill>
                            <a:schemeClr val="accent2">
                              <a:lumMod val="75000"/>
                            </a:schemeClr>
                          </a:solidFill>
                          <a:latin typeface="Cambria Math" panose="02040503050406030204" pitchFamily="18" charset="0"/>
                          <a:cs typeface="Times New Roman" panose="02020603050405020304" pitchFamily="18" charset="0"/>
                        </a:rPr>
                        <m:t>+</m:t>
                      </m:r>
                      <m:sSub>
                        <m:sSubPr>
                          <m:ctrlPr>
                            <a:rPr lang="en-US" sz="2400" b="1" i="1" smtClean="0">
                              <a:solidFill>
                                <a:schemeClr val="accent2">
                                  <a:lumMod val="75000"/>
                                </a:schemeClr>
                              </a:solidFill>
                              <a:latin typeface="Cambria Math" panose="02040503050406030204" pitchFamily="18" charset="0"/>
                              <a:cs typeface="Times New Roman" panose="02020603050405020304" pitchFamily="18" charset="0"/>
                            </a:rPr>
                          </m:ctrlPr>
                        </m:sSubPr>
                        <m:e>
                          <m:r>
                            <a:rPr lang="en-US" sz="2400" b="1" i="1" smtClean="0">
                              <a:solidFill>
                                <a:schemeClr val="accent2">
                                  <a:lumMod val="75000"/>
                                </a:schemeClr>
                              </a:solidFill>
                              <a:latin typeface="Cambria Math" panose="02040503050406030204" pitchFamily="18" charset="0"/>
                              <a:cs typeface="Times New Roman" panose="02020603050405020304" pitchFamily="18" charset="0"/>
                            </a:rPr>
                            <m:t>𝜷</m:t>
                          </m:r>
                        </m:e>
                        <m:sub>
                          <m:r>
                            <a:rPr lang="en-US" sz="2400" b="1" i="1" smtClean="0">
                              <a:solidFill>
                                <a:schemeClr val="accent2">
                                  <a:lumMod val="75000"/>
                                </a:schemeClr>
                              </a:solidFill>
                              <a:latin typeface="Cambria Math" panose="02040503050406030204" pitchFamily="18" charset="0"/>
                              <a:cs typeface="Times New Roman" panose="02020603050405020304" pitchFamily="18" charset="0"/>
                            </a:rPr>
                            <m:t>𝟐</m:t>
                          </m:r>
                        </m:sub>
                      </m:sSub>
                      <m:r>
                        <a:rPr lang="en-US" sz="2400" b="1" i="1" smtClean="0">
                          <a:solidFill>
                            <a:schemeClr val="accent2">
                              <a:lumMod val="75000"/>
                            </a:schemeClr>
                          </a:solidFill>
                          <a:latin typeface="Cambria Math" panose="02040503050406030204" pitchFamily="18" charset="0"/>
                          <a:cs typeface="Times New Roman" panose="02020603050405020304" pitchFamily="18" charset="0"/>
                        </a:rPr>
                        <m:t>𝒍𝒏</m:t>
                      </m:r>
                      <m:d>
                        <m:dPr>
                          <m:ctrlPr>
                            <a:rPr lang="en-US" sz="2400" b="1" i="1" smtClean="0">
                              <a:solidFill>
                                <a:schemeClr val="accent2">
                                  <a:lumMod val="75000"/>
                                </a:schemeClr>
                              </a:solidFill>
                              <a:latin typeface="Cambria Math" panose="02040503050406030204" pitchFamily="18" charset="0"/>
                              <a:cs typeface="Times New Roman" panose="02020603050405020304" pitchFamily="18" charset="0"/>
                            </a:rPr>
                          </m:ctrlPr>
                        </m:dPr>
                        <m:e>
                          <m:sSub>
                            <m:sSubPr>
                              <m:ctrlPr>
                                <a:rPr lang="en-US" sz="2400" b="1" i="1" smtClean="0">
                                  <a:solidFill>
                                    <a:schemeClr val="accent2">
                                      <a:lumMod val="75000"/>
                                    </a:schemeClr>
                                  </a:solidFill>
                                  <a:latin typeface="Cambria Math" panose="02040503050406030204" pitchFamily="18" charset="0"/>
                                  <a:cs typeface="Times New Roman" panose="02020603050405020304" pitchFamily="18" charset="0"/>
                                </a:rPr>
                              </m:ctrlPr>
                            </m:sSubPr>
                            <m:e>
                              <m:r>
                                <a:rPr lang="en-US" sz="2400" b="1" i="1" smtClean="0">
                                  <a:solidFill>
                                    <a:schemeClr val="accent2">
                                      <a:lumMod val="75000"/>
                                    </a:schemeClr>
                                  </a:solidFill>
                                  <a:latin typeface="Cambria Math" panose="02040503050406030204" pitchFamily="18" charset="0"/>
                                  <a:cs typeface="Times New Roman" panose="02020603050405020304" pitchFamily="18" charset="0"/>
                                </a:rPr>
                                <m:t>𝒙</m:t>
                              </m:r>
                            </m:e>
                            <m:sub>
                              <m:r>
                                <a:rPr lang="en-US" sz="2400" b="1" i="1" smtClean="0">
                                  <a:solidFill>
                                    <a:schemeClr val="accent2">
                                      <a:lumMod val="75000"/>
                                    </a:schemeClr>
                                  </a:solidFill>
                                  <a:latin typeface="Cambria Math" panose="02040503050406030204" pitchFamily="18" charset="0"/>
                                  <a:cs typeface="Times New Roman" panose="02020603050405020304" pitchFamily="18" charset="0"/>
                                </a:rPr>
                                <m:t>𝟐</m:t>
                              </m:r>
                            </m:sub>
                          </m:sSub>
                        </m:e>
                      </m:d>
                      <m:r>
                        <a:rPr lang="en-US" sz="2400" b="0" i="1" smtClean="0">
                          <a:solidFill>
                            <a:schemeClr val="accent2">
                              <a:lumMod val="75000"/>
                            </a:schemeClr>
                          </a:solidFill>
                          <a:latin typeface="Cambria Math" panose="02040503050406030204" pitchFamily="18" charset="0"/>
                          <a:cs typeface="Times New Roman" panose="02020603050405020304" pitchFamily="18" charset="0"/>
                        </a:rPr>
                        <m:t>+</m:t>
                      </m:r>
                      <m:r>
                        <a:rPr lang="en-US" sz="2400" b="0" i="1" smtClean="0">
                          <a:solidFill>
                            <a:schemeClr val="accent2">
                              <a:lumMod val="75000"/>
                            </a:schemeClr>
                          </a:solidFill>
                          <a:latin typeface="Cambria Math" panose="02040503050406030204" pitchFamily="18" charset="0"/>
                          <a:cs typeface="Times New Roman" panose="02020603050405020304" pitchFamily="18" charset="0"/>
                        </a:rPr>
                        <m:t>𝜀</m:t>
                      </m:r>
                    </m:oMath>
                  </m:oMathPara>
                </a14:m>
                <a:endParaRPr lang="en-US" sz="2400" dirty="0">
                  <a:solidFill>
                    <a:schemeClr val="accent2">
                      <a:lumMod val="75000"/>
                    </a:schemeClr>
                  </a:solidFill>
                  <a:cs typeface="Times New Roman" panose="02020603050405020304" pitchFamily="18" charset="0"/>
                </a:endParaRPr>
              </a:p>
              <a:p>
                <a:pPr marL="0" indent="0">
                  <a:buNone/>
                </a:pPr>
                <a:r>
                  <a:rPr lang="en-US" sz="2400" dirty="0">
                    <a:solidFill>
                      <a:schemeClr val="tx1"/>
                    </a:solidFill>
                    <a:cs typeface="Times New Roman" panose="02020603050405020304" pitchFamily="18" charset="0"/>
                  </a:rPr>
                  <a:t>Where ln(</a:t>
                </a:r>
                <a14:m>
                  <m:oMath xmlns:m="http://schemas.openxmlformats.org/officeDocument/2006/math">
                    <m:sSub>
                      <m:sSubPr>
                        <m:ctrlPr>
                          <a:rPr lang="en-US" sz="2400" b="0" i="1" smtClean="0">
                            <a:solidFill>
                              <a:schemeClr val="tx1"/>
                            </a:solidFill>
                            <a:latin typeface="Cambria Math" panose="02040503050406030204" pitchFamily="18" charset="0"/>
                            <a:cs typeface="Times New Roman" panose="02020603050405020304" pitchFamily="18" charset="0"/>
                          </a:rPr>
                        </m:ctrlPr>
                      </m:sSubPr>
                      <m:e>
                        <m:r>
                          <a:rPr lang="en-US" sz="2400" b="0" i="1" smtClean="0">
                            <a:solidFill>
                              <a:schemeClr val="tx1"/>
                            </a:solidFill>
                            <a:latin typeface="Cambria Math" panose="02040503050406030204" pitchFamily="18" charset="0"/>
                            <a:cs typeface="Times New Roman" panose="02020603050405020304" pitchFamily="18" charset="0"/>
                          </a:rPr>
                          <m:t>𝑥</m:t>
                        </m:r>
                      </m:e>
                      <m:sub>
                        <m:r>
                          <a:rPr lang="en-US" sz="2400" b="0" i="1" smtClean="0">
                            <a:solidFill>
                              <a:schemeClr val="tx1"/>
                            </a:solidFill>
                            <a:latin typeface="Cambria Math" panose="02040503050406030204" pitchFamily="18" charset="0"/>
                            <a:cs typeface="Times New Roman" panose="02020603050405020304" pitchFamily="18" charset="0"/>
                          </a:rPr>
                          <m:t>2</m:t>
                        </m:r>
                      </m:sub>
                    </m:sSub>
                    <m:r>
                      <a:rPr lang="en-US" sz="2400" b="0" i="1" smtClean="0">
                        <a:solidFill>
                          <a:schemeClr val="tx1"/>
                        </a:solidFill>
                        <a:latin typeface="Cambria Math" panose="02040503050406030204" pitchFamily="18" charset="0"/>
                        <a:cs typeface="Times New Roman" panose="02020603050405020304" pitchFamily="18" charset="0"/>
                      </a:rPr>
                      <m:t>)</m:t>
                    </m:r>
                  </m:oMath>
                </a14:m>
                <a:r>
                  <a:rPr lang="en-US" sz="2400" dirty="0">
                    <a:solidFill>
                      <a:schemeClr val="tx1"/>
                    </a:solidFill>
                    <a:cs typeface="Times New Roman" panose="02020603050405020304" pitchFamily="18" charset="0"/>
                  </a:rPr>
                  <a:t> is the natural log or log base “</a:t>
                </a:r>
                <a14:m>
                  <m:oMath xmlns:m="http://schemas.openxmlformats.org/officeDocument/2006/math">
                    <m:r>
                      <a:rPr lang="en-US" sz="2400" b="0" i="1" smtClean="0">
                        <a:solidFill>
                          <a:schemeClr val="tx1"/>
                        </a:solidFill>
                        <a:latin typeface="Cambria Math" panose="02040503050406030204" pitchFamily="18" charset="0"/>
                        <a:cs typeface="Times New Roman" panose="02020603050405020304" pitchFamily="18" charset="0"/>
                      </a:rPr>
                      <m:t>𝑒</m:t>
                    </m:r>
                  </m:oMath>
                </a14:m>
                <a:r>
                  <a:rPr lang="en-US" sz="2400" dirty="0">
                    <a:solidFill>
                      <a:schemeClr val="tx1"/>
                    </a:solidFill>
                    <a:cs typeface="Times New Roman" panose="02020603050405020304" pitchFamily="18" charset="0"/>
                  </a:rPr>
                  <a:t>”</a:t>
                </a:r>
              </a:p>
              <a:p>
                <a:pPr marL="0" indent="0">
                  <a:buNone/>
                </a:pPr>
                <a:r>
                  <a:rPr lang="en-US" sz="2400" b="1" dirty="0">
                    <a:solidFill>
                      <a:schemeClr val="accent2">
                        <a:lumMod val="75000"/>
                      </a:schemeClr>
                    </a:solidFill>
                    <a:cs typeface="Times New Roman" panose="02020603050405020304" pitchFamily="18" charset="0"/>
                  </a:rPr>
                  <a:t>Why would we do this? </a:t>
                </a:r>
              </a:p>
              <a:p>
                <a:pPr marL="457200" indent="-457200">
                  <a:buFont typeface="+mj-lt"/>
                  <a:buAutoNum type="arabicPeriod"/>
                </a:pPr>
                <a:r>
                  <a:rPr lang="en-US" sz="2400" b="1" u="sng" dirty="0">
                    <a:solidFill>
                      <a:schemeClr val="accent3">
                        <a:lumMod val="75000"/>
                      </a:schemeClr>
                    </a:solidFill>
                    <a:cs typeface="Times New Roman" panose="02020603050405020304" pitchFamily="18" charset="0"/>
                  </a:rPr>
                  <a:t>Deal with outliers</a:t>
                </a:r>
              </a:p>
              <a:p>
                <a:pPr marL="457200" indent="-457200">
                  <a:buFont typeface="+mj-lt"/>
                  <a:buAutoNum type="arabicPeriod"/>
                </a:pPr>
                <a:r>
                  <a:rPr lang="en-US" sz="2400" dirty="0">
                    <a:cs typeface="Times New Roman" panose="02020603050405020304" pitchFamily="18" charset="0"/>
                  </a:rPr>
                  <a:t>Better approximate a linear relationship</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33400" y="1066801"/>
                <a:ext cx="10091591" cy="5141388"/>
              </a:xfrm>
              <a:blipFill>
                <a:blip r:embed="rId3"/>
                <a:stretch>
                  <a:fillRect l="-967" t="-1305"/>
                </a:stretch>
              </a:blipFill>
            </p:spPr>
            <p:txBody>
              <a:bodyPr/>
              <a:lstStyle/>
              <a:p>
                <a:r>
                  <a:rPr lang="en-CA">
                    <a:noFill/>
                  </a:rPr>
                  <a:t> </a:t>
                </a:r>
              </a:p>
            </p:txBody>
          </p:sp>
        </mc:Fallback>
      </mc:AlternateContent>
    </p:spTree>
    <p:extLst>
      <p:ext uri="{BB962C8B-B14F-4D97-AF65-F5344CB8AC3E}">
        <p14:creationId xmlns:p14="http://schemas.microsoft.com/office/powerpoint/2010/main" val="166067720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Nonlinear Transformations: Outliers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405791" cy="5141388"/>
              </a:xfrm>
            </p:spPr>
            <p:txBody>
              <a:bodyPr>
                <a:normAutofit/>
              </a:bodyPr>
              <a:lstStyle/>
              <a:p>
                <a:r>
                  <a:rPr lang="en-US" sz="2400" dirty="0">
                    <a:cs typeface="Times New Roman" panose="02020603050405020304" pitchFamily="18" charset="0"/>
                  </a:rPr>
                  <a:t>Data may be highly </a:t>
                </a:r>
                <a:r>
                  <a:rPr lang="en-US" sz="2400" b="1" dirty="0">
                    <a:cs typeface="Times New Roman" panose="02020603050405020304" pitchFamily="18" charset="0"/>
                  </a:rPr>
                  <a:t>skewed</a:t>
                </a:r>
                <a:r>
                  <a:rPr lang="en-US" sz="2400" dirty="0">
                    <a:cs typeface="Times New Roman" panose="02020603050405020304" pitchFamily="18" charset="0"/>
                  </a:rPr>
                  <a:t>, or influenced by the presence of outliers</a:t>
                </a:r>
              </a:p>
              <a:p>
                <a:r>
                  <a:rPr lang="en-US" sz="2400" dirty="0">
                    <a:cs typeface="Times New Roman" panose="02020603050405020304" pitchFamily="18" charset="0"/>
                  </a:rPr>
                  <a:t>These </a:t>
                </a:r>
                <a:r>
                  <a:rPr lang="en-US" sz="2400" b="1" dirty="0">
                    <a:solidFill>
                      <a:schemeClr val="accent2">
                        <a:lumMod val="75000"/>
                      </a:schemeClr>
                    </a:solidFill>
                    <a:cs typeface="Times New Roman" panose="02020603050405020304" pitchFamily="18" charset="0"/>
                  </a:rPr>
                  <a:t>nonlinearities</a:t>
                </a:r>
                <a:r>
                  <a:rPr lang="en-US" sz="2400" dirty="0">
                    <a:cs typeface="Times New Roman" panose="02020603050405020304" pitchFamily="18" charset="0"/>
                  </a:rPr>
                  <a:t> generate </a:t>
                </a:r>
                <a:r>
                  <a:rPr lang="en-US" sz="2400" b="1" dirty="0">
                    <a:cs typeface="Times New Roman" panose="02020603050405020304" pitchFamily="18" charset="0"/>
                  </a:rPr>
                  <a:t>large variations </a:t>
                </a:r>
                <a:r>
                  <a:rPr lang="en-US" sz="2400" dirty="0">
                    <a:cs typeface="Times New Roman" panose="02020603050405020304" pitchFamily="18" charset="0"/>
                  </a:rPr>
                  <a:t>in the estimate of a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𝑖</m:t>
                        </m:r>
                      </m:sub>
                    </m:sSub>
                  </m:oMath>
                </a14:m>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405791" cy="5141388"/>
              </a:xfrm>
              <a:blipFill>
                <a:blip r:embed="rId5"/>
                <a:stretch>
                  <a:fillRect l="-454" t="-1305"/>
                </a:stretch>
              </a:blipFill>
            </p:spPr>
            <p:txBody>
              <a:bodyPr/>
              <a:lstStyle/>
              <a:p>
                <a:r>
                  <a:rPr lang="en-US">
                    <a:noFill/>
                  </a:rPr>
                  <a:t> </a:t>
                </a:r>
              </a:p>
            </p:txBody>
          </p:sp>
        </mc:Fallback>
      </mc:AlternateContent>
      <p:pic>
        <p:nvPicPr>
          <p:cNvPr id="4" name="Screen Recording 3">
            <a:hlinkClick r:id="" action="ppaction://media"/>
            <a:extLst>
              <a:ext uri="{FF2B5EF4-FFF2-40B4-BE49-F238E27FC236}">
                <a16:creationId xmlns:a16="http://schemas.microsoft.com/office/drawing/2014/main" id="{9C7D9201-9904-8DA4-57C9-59CE7B492E96}"/>
              </a:ext>
            </a:extLst>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3276600" y="2055511"/>
            <a:ext cx="4648200" cy="4667407"/>
          </a:xfrm>
          <a:prstGeom prst="rect">
            <a:avLst/>
          </a:prstGeom>
        </p:spPr>
      </p:pic>
      <p:pic>
        <p:nvPicPr>
          <p:cNvPr id="6" name="Picture 2" descr="RStudio - RStudio">
            <a:extLst>
              <a:ext uri="{FF2B5EF4-FFF2-40B4-BE49-F238E27FC236}">
                <a16:creationId xmlns:a16="http://schemas.microsoft.com/office/drawing/2014/main" id="{50B11193-F879-CD3C-B8CE-B81AA000AE6E}"/>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986103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1582"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Nonlinear Transformations: Outliers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015390" cy="5141388"/>
              </a:xfrm>
            </p:spPr>
            <p:txBody>
              <a:bodyPr>
                <a:normAutofit/>
              </a:bodyPr>
              <a:lstStyle/>
              <a:p>
                <a:r>
                  <a:rPr lang="en-US" sz="2400" dirty="0">
                    <a:cs typeface="Times New Roman" panose="02020603050405020304" pitchFamily="18" charset="0"/>
                  </a:rPr>
                  <a:t>Data may be highly </a:t>
                </a:r>
                <a:r>
                  <a:rPr lang="en-US" sz="2400" b="1" dirty="0">
                    <a:cs typeface="Times New Roman" panose="02020603050405020304" pitchFamily="18" charset="0"/>
                  </a:rPr>
                  <a:t>skewed</a:t>
                </a:r>
                <a:r>
                  <a:rPr lang="en-US" sz="2400" dirty="0">
                    <a:cs typeface="Times New Roman" panose="02020603050405020304" pitchFamily="18" charset="0"/>
                  </a:rPr>
                  <a:t>, or influenced by the presence of outliers</a:t>
                </a:r>
              </a:p>
              <a:p>
                <a:r>
                  <a:rPr lang="en-US" sz="2400" dirty="0">
                    <a:cs typeface="Times New Roman" panose="02020603050405020304" pitchFamily="18" charset="0"/>
                  </a:rPr>
                  <a:t>These outliers generate </a:t>
                </a:r>
                <a:r>
                  <a:rPr lang="en-US" sz="2400" b="1" dirty="0">
                    <a:cs typeface="Times New Roman" panose="02020603050405020304" pitchFamily="18" charset="0"/>
                  </a:rPr>
                  <a:t>large variations </a:t>
                </a:r>
                <a:r>
                  <a:rPr lang="en-US" sz="2400" dirty="0">
                    <a:cs typeface="Times New Roman" panose="02020603050405020304" pitchFamily="18" charset="0"/>
                  </a:rPr>
                  <a:t>in the estimate of a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𝑖</m:t>
                        </m:r>
                      </m:sub>
                    </m:sSub>
                  </m:oMath>
                </a14:m>
                <a:endParaRPr lang="en-US" sz="2400" dirty="0">
                  <a:cs typeface="Times New Roman" panose="02020603050405020304" pitchFamily="18" charset="0"/>
                </a:endParaRPr>
              </a:p>
              <a:p>
                <a:pPr lvl="1"/>
                <a:r>
                  <a:rPr lang="en-US" sz="2200" dirty="0">
                    <a:cs typeface="Times New Roman" panose="02020603050405020304" pitchFamily="18" charset="0"/>
                  </a:rPr>
                  <a:t>Option 1: throw them out</a:t>
                </a:r>
              </a:p>
              <a:p>
                <a:pPr lvl="1"/>
                <a:r>
                  <a:rPr lang="en-US" sz="2200" dirty="0">
                    <a:solidFill>
                      <a:schemeClr val="tx1"/>
                    </a:solidFill>
                    <a:cs typeface="Times New Roman" panose="02020603050405020304" pitchFamily="18" charset="0"/>
                  </a:rPr>
                  <a:t>Option 2: “scrunch them down”</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015390" cy="5141388"/>
              </a:xfrm>
              <a:blipFill>
                <a:blip r:embed="rId3"/>
                <a:stretch>
                  <a:fillRect l="-426" t="-1305"/>
                </a:stretch>
              </a:blipFill>
            </p:spPr>
            <p:txBody>
              <a:bodyPr/>
              <a:lstStyle/>
              <a:p>
                <a:r>
                  <a:rPr lang="en-CA">
                    <a:noFill/>
                  </a:rPr>
                  <a:t> </a:t>
                </a:r>
              </a:p>
            </p:txBody>
          </p:sp>
        </mc:Fallback>
      </mc:AlternateContent>
      <p:pic>
        <p:nvPicPr>
          <p:cNvPr id="6" name="Picture 5">
            <a:extLst>
              <a:ext uri="{FF2B5EF4-FFF2-40B4-BE49-F238E27FC236}">
                <a16:creationId xmlns:a16="http://schemas.microsoft.com/office/drawing/2014/main" id="{E9E32F3E-A8D0-E082-41DF-E4479C668C4F}"/>
              </a:ext>
            </a:extLst>
          </p:cNvPr>
          <p:cNvPicPr>
            <a:picLocks noChangeAspect="1"/>
          </p:cNvPicPr>
          <p:nvPr/>
        </p:nvPicPr>
        <p:blipFill>
          <a:blip r:embed="rId4"/>
          <a:stretch>
            <a:fillRect/>
          </a:stretch>
        </p:blipFill>
        <p:spPr>
          <a:xfrm>
            <a:off x="1371600" y="2793787"/>
            <a:ext cx="8433865" cy="4064213"/>
          </a:xfrm>
          <a:prstGeom prst="rect">
            <a:avLst/>
          </a:prstGeom>
        </p:spPr>
      </p:pic>
    </p:spTree>
    <p:extLst>
      <p:ext uri="{BB962C8B-B14F-4D97-AF65-F5344CB8AC3E}">
        <p14:creationId xmlns:p14="http://schemas.microsoft.com/office/powerpoint/2010/main" val="187555865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Nonlinear Transformations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405791" cy="5141388"/>
              </a:xfrm>
            </p:spPr>
            <p:txBody>
              <a:bodyPr>
                <a:normAutofit/>
              </a:bodyPr>
              <a:lstStyle/>
              <a:p>
                <a:r>
                  <a:rPr lang="en-US" sz="2400" dirty="0">
                    <a:cs typeface="Times New Roman" panose="02020603050405020304" pitchFamily="18" charset="0"/>
                  </a:rPr>
                  <a:t>Scaling is a form of a </a:t>
                </a:r>
                <a:r>
                  <a:rPr lang="en-US" sz="2400" b="1" dirty="0">
                    <a:cs typeface="Times New Roman" panose="02020603050405020304" pitchFamily="18" charset="0"/>
                  </a:rPr>
                  <a:t>linear transformation</a:t>
                </a:r>
                <a:endParaRPr lang="en-US" sz="2400" dirty="0">
                  <a:cs typeface="Times New Roman" panose="02020603050405020304" pitchFamily="18" charset="0"/>
                </a:endParaRPr>
              </a:p>
              <a:p>
                <a:pPr lvl="1"/>
                <a:r>
                  <a:rPr lang="en-US" sz="2200" dirty="0">
                    <a:cs typeface="Times New Roman" panose="02020603050405020304" pitchFamily="18" charset="0"/>
                  </a:rPr>
                  <a:t>Since our regression is linear, transformations are mathematically redundant</a:t>
                </a:r>
              </a:p>
              <a:p>
                <a:r>
                  <a:rPr lang="en-US" sz="2400" dirty="0">
                    <a:cs typeface="Times New Roman" panose="02020603050405020304" pitchFamily="18" charset="0"/>
                  </a:rPr>
                  <a:t>It might also make sense to make a </a:t>
                </a:r>
                <a:r>
                  <a:rPr lang="en-US" sz="2400" b="1" dirty="0">
                    <a:cs typeface="Times New Roman" panose="02020603050405020304" pitchFamily="18" charset="0"/>
                  </a:rPr>
                  <a:t>nonlinear transformation: </a:t>
                </a:r>
              </a:p>
              <a:p>
                <a:pPr marL="0" indent="0">
                  <a:buNone/>
                </a:pPr>
                <a14:m>
                  <m:oMathPara xmlns:m="http://schemas.openxmlformats.org/officeDocument/2006/math">
                    <m:oMathParaPr>
                      <m:jc m:val="centerGroup"/>
                    </m:oMathParaPr>
                    <m:oMath xmlns:m="http://schemas.openxmlformats.org/officeDocument/2006/math">
                      <m:r>
                        <a:rPr lang="en-US" sz="2400" b="0" i="1" smtClean="0">
                          <a:solidFill>
                            <a:schemeClr val="accent2">
                              <a:lumMod val="75000"/>
                            </a:schemeClr>
                          </a:solidFill>
                          <a:latin typeface="Cambria Math" panose="02040503050406030204" pitchFamily="18" charset="0"/>
                          <a:cs typeface="Times New Roman" panose="02020603050405020304" pitchFamily="18" charset="0"/>
                        </a:rPr>
                        <m:t>𝑦</m:t>
                      </m:r>
                      <m:r>
                        <a:rPr lang="en-US" sz="2400" b="0" i="1" smtClean="0">
                          <a:solidFill>
                            <a:schemeClr val="accent2">
                              <a:lumMod val="75000"/>
                            </a:schemeClr>
                          </a:solidFill>
                          <a:latin typeface="Cambria Math" panose="02040503050406030204" pitchFamily="18" charset="0"/>
                          <a:cs typeface="Times New Roman" panose="02020603050405020304" pitchFamily="18" charset="0"/>
                        </a:rPr>
                        <m:t>=</m:t>
                      </m:r>
                      <m:sSub>
                        <m:sSubPr>
                          <m:ctrlPr>
                            <a:rPr lang="en-US" sz="2400" b="0" i="1" smtClean="0">
                              <a:solidFill>
                                <a:schemeClr val="accent2">
                                  <a:lumMod val="75000"/>
                                </a:schemeClr>
                              </a:solidFill>
                              <a:latin typeface="Cambria Math" panose="02040503050406030204" pitchFamily="18" charset="0"/>
                              <a:cs typeface="Times New Roman" panose="02020603050405020304" pitchFamily="18" charset="0"/>
                            </a:rPr>
                          </m:ctrlPr>
                        </m:sSubPr>
                        <m:e>
                          <m:r>
                            <a:rPr lang="en-US" sz="2400" b="0" i="1" smtClean="0">
                              <a:solidFill>
                                <a:schemeClr val="accent2">
                                  <a:lumMod val="75000"/>
                                </a:schemeClr>
                              </a:solidFill>
                              <a:latin typeface="Cambria Math" panose="02040503050406030204" pitchFamily="18" charset="0"/>
                              <a:cs typeface="Times New Roman" panose="02020603050405020304" pitchFamily="18" charset="0"/>
                            </a:rPr>
                            <m:t>𝛽</m:t>
                          </m:r>
                        </m:e>
                        <m:sub>
                          <m:r>
                            <a:rPr lang="en-US" sz="2400" b="0" i="1" smtClean="0">
                              <a:solidFill>
                                <a:schemeClr val="accent2">
                                  <a:lumMod val="75000"/>
                                </a:schemeClr>
                              </a:solidFill>
                              <a:latin typeface="Cambria Math" panose="02040503050406030204" pitchFamily="18" charset="0"/>
                              <a:cs typeface="Times New Roman" panose="02020603050405020304" pitchFamily="18" charset="0"/>
                            </a:rPr>
                            <m:t>0</m:t>
                          </m:r>
                        </m:sub>
                      </m:sSub>
                      <m:r>
                        <a:rPr lang="en-US" sz="2400" b="0" i="1" smtClean="0">
                          <a:solidFill>
                            <a:schemeClr val="accent2">
                              <a:lumMod val="75000"/>
                            </a:schemeClr>
                          </a:solidFill>
                          <a:latin typeface="Cambria Math" panose="02040503050406030204" pitchFamily="18" charset="0"/>
                          <a:cs typeface="Times New Roman" panose="02020603050405020304" pitchFamily="18" charset="0"/>
                        </a:rPr>
                        <m:t>+</m:t>
                      </m:r>
                      <m:sSub>
                        <m:sSubPr>
                          <m:ctrlPr>
                            <a:rPr lang="en-US" sz="2400" b="0" i="1" smtClean="0">
                              <a:solidFill>
                                <a:schemeClr val="accent2">
                                  <a:lumMod val="75000"/>
                                </a:schemeClr>
                              </a:solidFill>
                              <a:latin typeface="Cambria Math" panose="02040503050406030204" pitchFamily="18" charset="0"/>
                              <a:cs typeface="Times New Roman" panose="02020603050405020304" pitchFamily="18" charset="0"/>
                            </a:rPr>
                          </m:ctrlPr>
                        </m:sSubPr>
                        <m:e>
                          <m:r>
                            <a:rPr lang="en-US" sz="2400" b="0" i="1" smtClean="0">
                              <a:solidFill>
                                <a:schemeClr val="accent2">
                                  <a:lumMod val="75000"/>
                                </a:schemeClr>
                              </a:solidFill>
                              <a:latin typeface="Cambria Math" panose="02040503050406030204" pitchFamily="18" charset="0"/>
                              <a:cs typeface="Times New Roman" panose="02020603050405020304" pitchFamily="18" charset="0"/>
                            </a:rPr>
                            <m:t>𝛽</m:t>
                          </m:r>
                        </m:e>
                        <m:sub>
                          <m:r>
                            <a:rPr lang="en-US" sz="2400" b="0" i="1" smtClean="0">
                              <a:solidFill>
                                <a:schemeClr val="accent2">
                                  <a:lumMod val="75000"/>
                                </a:schemeClr>
                              </a:solidFill>
                              <a:latin typeface="Cambria Math" panose="02040503050406030204" pitchFamily="18" charset="0"/>
                              <a:cs typeface="Times New Roman" panose="02020603050405020304" pitchFamily="18" charset="0"/>
                            </a:rPr>
                            <m:t>1</m:t>
                          </m:r>
                        </m:sub>
                      </m:sSub>
                      <m:sSub>
                        <m:sSubPr>
                          <m:ctrlPr>
                            <a:rPr lang="en-US" sz="2400" b="0" i="1" smtClean="0">
                              <a:solidFill>
                                <a:schemeClr val="accent2">
                                  <a:lumMod val="75000"/>
                                </a:schemeClr>
                              </a:solidFill>
                              <a:latin typeface="Cambria Math" panose="02040503050406030204" pitchFamily="18" charset="0"/>
                              <a:cs typeface="Times New Roman" panose="02020603050405020304" pitchFamily="18" charset="0"/>
                            </a:rPr>
                          </m:ctrlPr>
                        </m:sSubPr>
                        <m:e>
                          <m:r>
                            <a:rPr lang="en-US" sz="2400" b="0" i="1" smtClean="0">
                              <a:solidFill>
                                <a:schemeClr val="accent2">
                                  <a:lumMod val="75000"/>
                                </a:schemeClr>
                              </a:solidFill>
                              <a:latin typeface="Cambria Math" panose="02040503050406030204" pitchFamily="18" charset="0"/>
                              <a:cs typeface="Times New Roman" panose="02020603050405020304" pitchFamily="18" charset="0"/>
                            </a:rPr>
                            <m:t>𝑥</m:t>
                          </m:r>
                        </m:e>
                        <m:sub>
                          <m:r>
                            <a:rPr lang="en-US" sz="2400" b="0" i="1" smtClean="0">
                              <a:solidFill>
                                <a:schemeClr val="accent2">
                                  <a:lumMod val="75000"/>
                                </a:schemeClr>
                              </a:solidFill>
                              <a:latin typeface="Cambria Math" panose="02040503050406030204" pitchFamily="18" charset="0"/>
                              <a:cs typeface="Times New Roman" panose="02020603050405020304" pitchFamily="18" charset="0"/>
                            </a:rPr>
                            <m:t>1</m:t>
                          </m:r>
                        </m:sub>
                      </m:sSub>
                      <m:r>
                        <a:rPr lang="en-US" sz="2400" b="0" i="1" smtClean="0">
                          <a:solidFill>
                            <a:schemeClr val="accent2">
                              <a:lumMod val="75000"/>
                            </a:schemeClr>
                          </a:solidFill>
                          <a:latin typeface="Cambria Math" panose="02040503050406030204" pitchFamily="18" charset="0"/>
                          <a:cs typeface="Times New Roman" panose="02020603050405020304" pitchFamily="18" charset="0"/>
                        </a:rPr>
                        <m:t>+</m:t>
                      </m:r>
                      <m:sSub>
                        <m:sSubPr>
                          <m:ctrlPr>
                            <a:rPr lang="en-US" sz="2400" b="1" i="1" smtClean="0">
                              <a:solidFill>
                                <a:schemeClr val="accent2">
                                  <a:lumMod val="75000"/>
                                </a:schemeClr>
                              </a:solidFill>
                              <a:latin typeface="Cambria Math" panose="02040503050406030204" pitchFamily="18" charset="0"/>
                              <a:cs typeface="Times New Roman" panose="02020603050405020304" pitchFamily="18" charset="0"/>
                            </a:rPr>
                          </m:ctrlPr>
                        </m:sSubPr>
                        <m:e>
                          <m:r>
                            <a:rPr lang="en-US" sz="2400" b="1" i="1" smtClean="0">
                              <a:solidFill>
                                <a:schemeClr val="accent2">
                                  <a:lumMod val="75000"/>
                                </a:schemeClr>
                              </a:solidFill>
                              <a:latin typeface="Cambria Math" panose="02040503050406030204" pitchFamily="18" charset="0"/>
                              <a:cs typeface="Times New Roman" panose="02020603050405020304" pitchFamily="18" charset="0"/>
                            </a:rPr>
                            <m:t>𝜷</m:t>
                          </m:r>
                        </m:e>
                        <m:sub>
                          <m:r>
                            <a:rPr lang="en-US" sz="2400" b="1" i="1" smtClean="0">
                              <a:solidFill>
                                <a:schemeClr val="accent2">
                                  <a:lumMod val="75000"/>
                                </a:schemeClr>
                              </a:solidFill>
                              <a:latin typeface="Cambria Math" panose="02040503050406030204" pitchFamily="18" charset="0"/>
                              <a:cs typeface="Times New Roman" panose="02020603050405020304" pitchFamily="18" charset="0"/>
                            </a:rPr>
                            <m:t>𝟐</m:t>
                          </m:r>
                        </m:sub>
                      </m:sSub>
                      <m:r>
                        <a:rPr lang="en-US" sz="2400" b="1" i="1" smtClean="0">
                          <a:solidFill>
                            <a:schemeClr val="accent2">
                              <a:lumMod val="75000"/>
                            </a:schemeClr>
                          </a:solidFill>
                          <a:latin typeface="Cambria Math" panose="02040503050406030204" pitchFamily="18" charset="0"/>
                          <a:cs typeface="Times New Roman" panose="02020603050405020304" pitchFamily="18" charset="0"/>
                        </a:rPr>
                        <m:t>𝒍𝒏</m:t>
                      </m:r>
                      <m:d>
                        <m:dPr>
                          <m:ctrlPr>
                            <a:rPr lang="en-US" sz="2400" b="1" i="1" smtClean="0">
                              <a:solidFill>
                                <a:schemeClr val="accent2">
                                  <a:lumMod val="75000"/>
                                </a:schemeClr>
                              </a:solidFill>
                              <a:latin typeface="Cambria Math" panose="02040503050406030204" pitchFamily="18" charset="0"/>
                              <a:cs typeface="Times New Roman" panose="02020603050405020304" pitchFamily="18" charset="0"/>
                            </a:rPr>
                          </m:ctrlPr>
                        </m:dPr>
                        <m:e>
                          <m:sSub>
                            <m:sSubPr>
                              <m:ctrlPr>
                                <a:rPr lang="en-US" sz="2400" b="1" i="1" smtClean="0">
                                  <a:solidFill>
                                    <a:schemeClr val="accent2">
                                      <a:lumMod val="75000"/>
                                    </a:schemeClr>
                                  </a:solidFill>
                                  <a:latin typeface="Cambria Math" panose="02040503050406030204" pitchFamily="18" charset="0"/>
                                  <a:cs typeface="Times New Roman" panose="02020603050405020304" pitchFamily="18" charset="0"/>
                                </a:rPr>
                              </m:ctrlPr>
                            </m:sSubPr>
                            <m:e>
                              <m:r>
                                <a:rPr lang="en-US" sz="2400" b="1" i="1" smtClean="0">
                                  <a:solidFill>
                                    <a:schemeClr val="accent2">
                                      <a:lumMod val="75000"/>
                                    </a:schemeClr>
                                  </a:solidFill>
                                  <a:latin typeface="Cambria Math" panose="02040503050406030204" pitchFamily="18" charset="0"/>
                                  <a:cs typeface="Times New Roman" panose="02020603050405020304" pitchFamily="18" charset="0"/>
                                </a:rPr>
                                <m:t>𝒙</m:t>
                              </m:r>
                            </m:e>
                            <m:sub>
                              <m:r>
                                <a:rPr lang="en-US" sz="2400" b="1" i="1" smtClean="0">
                                  <a:solidFill>
                                    <a:schemeClr val="accent2">
                                      <a:lumMod val="75000"/>
                                    </a:schemeClr>
                                  </a:solidFill>
                                  <a:latin typeface="Cambria Math" panose="02040503050406030204" pitchFamily="18" charset="0"/>
                                  <a:cs typeface="Times New Roman" panose="02020603050405020304" pitchFamily="18" charset="0"/>
                                </a:rPr>
                                <m:t>𝟐</m:t>
                              </m:r>
                            </m:sub>
                          </m:sSub>
                        </m:e>
                      </m:d>
                      <m:r>
                        <a:rPr lang="en-US" sz="2400" b="0" i="1" smtClean="0">
                          <a:solidFill>
                            <a:schemeClr val="accent2">
                              <a:lumMod val="75000"/>
                            </a:schemeClr>
                          </a:solidFill>
                          <a:latin typeface="Cambria Math" panose="02040503050406030204" pitchFamily="18" charset="0"/>
                          <a:cs typeface="Times New Roman" panose="02020603050405020304" pitchFamily="18" charset="0"/>
                        </a:rPr>
                        <m:t>+</m:t>
                      </m:r>
                      <m:r>
                        <a:rPr lang="en-US" sz="2400" b="0" i="1" smtClean="0">
                          <a:solidFill>
                            <a:schemeClr val="accent2">
                              <a:lumMod val="75000"/>
                            </a:schemeClr>
                          </a:solidFill>
                          <a:latin typeface="Cambria Math" panose="02040503050406030204" pitchFamily="18" charset="0"/>
                          <a:cs typeface="Times New Roman" panose="02020603050405020304" pitchFamily="18" charset="0"/>
                        </a:rPr>
                        <m:t>𝜀</m:t>
                      </m:r>
                    </m:oMath>
                  </m:oMathPara>
                </a14:m>
                <a:endParaRPr lang="en-US" sz="2400" dirty="0">
                  <a:solidFill>
                    <a:schemeClr val="accent2">
                      <a:lumMod val="75000"/>
                    </a:schemeClr>
                  </a:solidFill>
                  <a:cs typeface="Times New Roman" panose="02020603050405020304" pitchFamily="18" charset="0"/>
                </a:endParaRPr>
              </a:p>
              <a:p>
                <a:pPr marL="0" indent="0">
                  <a:buNone/>
                </a:pPr>
                <a:r>
                  <a:rPr lang="en-US" sz="2400" dirty="0">
                    <a:solidFill>
                      <a:schemeClr val="tx1"/>
                    </a:solidFill>
                    <a:cs typeface="Times New Roman" panose="02020603050405020304" pitchFamily="18" charset="0"/>
                  </a:rPr>
                  <a:t>Where ln(</a:t>
                </a:r>
                <a14:m>
                  <m:oMath xmlns:m="http://schemas.openxmlformats.org/officeDocument/2006/math">
                    <m:sSub>
                      <m:sSubPr>
                        <m:ctrlPr>
                          <a:rPr lang="en-US" sz="2400" b="0" i="1" smtClean="0">
                            <a:solidFill>
                              <a:schemeClr val="tx1"/>
                            </a:solidFill>
                            <a:latin typeface="Cambria Math" panose="02040503050406030204" pitchFamily="18" charset="0"/>
                            <a:cs typeface="Times New Roman" panose="02020603050405020304" pitchFamily="18" charset="0"/>
                          </a:rPr>
                        </m:ctrlPr>
                      </m:sSubPr>
                      <m:e>
                        <m:r>
                          <a:rPr lang="en-US" sz="2400" b="0" i="1" smtClean="0">
                            <a:solidFill>
                              <a:schemeClr val="tx1"/>
                            </a:solidFill>
                            <a:latin typeface="Cambria Math" panose="02040503050406030204" pitchFamily="18" charset="0"/>
                            <a:cs typeface="Times New Roman" panose="02020603050405020304" pitchFamily="18" charset="0"/>
                          </a:rPr>
                          <m:t>𝑥</m:t>
                        </m:r>
                      </m:e>
                      <m:sub>
                        <m:r>
                          <a:rPr lang="en-US" sz="2400" b="0" i="1" smtClean="0">
                            <a:solidFill>
                              <a:schemeClr val="tx1"/>
                            </a:solidFill>
                            <a:latin typeface="Cambria Math" panose="02040503050406030204" pitchFamily="18" charset="0"/>
                            <a:cs typeface="Times New Roman" panose="02020603050405020304" pitchFamily="18" charset="0"/>
                          </a:rPr>
                          <m:t>2</m:t>
                        </m:r>
                      </m:sub>
                    </m:sSub>
                    <m:r>
                      <a:rPr lang="en-US" sz="2400" b="0" i="1" smtClean="0">
                        <a:solidFill>
                          <a:schemeClr val="tx1"/>
                        </a:solidFill>
                        <a:latin typeface="Cambria Math" panose="02040503050406030204" pitchFamily="18" charset="0"/>
                        <a:cs typeface="Times New Roman" panose="02020603050405020304" pitchFamily="18" charset="0"/>
                      </a:rPr>
                      <m:t>)</m:t>
                    </m:r>
                  </m:oMath>
                </a14:m>
                <a:r>
                  <a:rPr lang="en-US" sz="2400" dirty="0">
                    <a:solidFill>
                      <a:schemeClr val="tx1"/>
                    </a:solidFill>
                    <a:cs typeface="Times New Roman" panose="02020603050405020304" pitchFamily="18" charset="0"/>
                  </a:rPr>
                  <a:t> is the natural log or log base “</a:t>
                </a:r>
                <a14:m>
                  <m:oMath xmlns:m="http://schemas.openxmlformats.org/officeDocument/2006/math">
                    <m:r>
                      <a:rPr lang="en-US" sz="2400" b="0" i="1" smtClean="0">
                        <a:solidFill>
                          <a:schemeClr val="tx1"/>
                        </a:solidFill>
                        <a:latin typeface="Cambria Math" panose="02040503050406030204" pitchFamily="18" charset="0"/>
                        <a:cs typeface="Times New Roman" panose="02020603050405020304" pitchFamily="18" charset="0"/>
                      </a:rPr>
                      <m:t>𝑒</m:t>
                    </m:r>
                  </m:oMath>
                </a14:m>
                <a:r>
                  <a:rPr lang="en-US" sz="2400" dirty="0">
                    <a:solidFill>
                      <a:schemeClr val="tx1"/>
                    </a:solidFill>
                    <a:cs typeface="Times New Roman" panose="02020603050405020304" pitchFamily="18" charset="0"/>
                  </a:rPr>
                  <a:t>”</a:t>
                </a:r>
              </a:p>
              <a:p>
                <a:pPr marL="0" indent="0">
                  <a:buNone/>
                </a:pPr>
                <a:r>
                  <a:rPr lang="en-US" sz="2400" b="1" dirty="0">
                    <a:solidFill>
                      <a:schemeClr val="accent2">
                        <a:lumMod val="75000"/>
                      </a:schemeClr>
                    </a:solidFill>
                    <a:cs typeface="Times New Roman" panose="02020603050405020304" pitchFamily="18" charset="0"/>
                  </a:rPr>
                  <a:t>Why would we do this? </a:t>
                </a:r>
              </a:p>
              <a:p>
                <a:pPr marL="457200" indent="-457200">
                  <a:buFont typeface="+mj-lt"/>
                  <a:buAutoNum type="arabicPeriod"/>
                </a:pPr>
                <a:r>
                  <a:rPr lang="en-US" sz="2400" dirty="0">
                    <a:cs typeface="Times New Roman" panose="02020603050405020304" pitchFamily="18" charset="0"/>
                  </a:rPr>
                  <a:t>Deal with outliers</a:t>
                </a:r>
              </a:p>
              <a:p>
                <a:pPr marL="457200" indent="-457200">
                  <a:buFont typeface="+mj-lt"/>
                  <a:buAutoNum type="arabicPeriod"/>
                </a:pPr>
                <a:r>
                  <a:rPr lang="en-US" sz="2400" b="1" u="sng" dirty="0">
                    <a:solidFill>
                      <a:schemeClr val="accent3">
                        <a:lumMod val="75000"/>
                      </a:schemeClr>
                    </a:solidFill>
                    <a:cs typeface="Times New Roman" panose="02020603050405020304" pitchFamily="18" charset="0"/>
                  </a:rPr>
                  <a:t>Better approximate a linear relationship</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405791" cy="5141388"/>
              </a:xfrm>
              <a:blipFill>
                <a:blip r:embed="rId3"/>
                <a:stretch>
                  <a:fillRect l="-972" t="-1305"/>
                </a:stretch>
              </a:blipFill>
            </p:spPr>
            <p:txBody>
              <a:bodyPr/>
              <a:lstStyle/>
              <a:p>
                <a:r>
                  <a:rPr lang="en-US">
                    <a:noFill/>
                  </a:rPr>
                  <a:t> </a:t>
                </a:r>
              </a:p>
            </p:txBody>
          </p:sp>
        </mc:Fallback>
      </mc:AlternateContent>
    </p:spTree>
    <p:extLst>
      <p:ext uri="{BB962C8B-B14F-4D97-AF65-F5344CB8AC3E}">
        <p14:creationId xmlns:p14="http://schemas.microsoft.com/office/powerpoint/2010/main" val="11314283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Nonlinear Transformations: Achieving “Linearity” (?) </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829801" cy="5141388"/>
              </a:xfrm>
            </p:spPr>
            <p:txBody>
              <a:bodyPr>
                <a:normAutofit/>
              </a:bodyPr>
              <a:lstStyle/>
              <a:p>
                <a:r>
                  <a:rPr lang="en-US" sz="2400" dirty="0">
                    <a:cs typeface="Times New Roman" panose="02020603050405020304" pitchFamily="18" charset="0"/>
                  </a:rPr>
                  <a:t>Remember that OLS only fits linear relationships (in parameters)</a:t>
                </a:r>
              </a:p>
              <a:p>
                <a:pPr lvl="1"/>
                <a:r>
                  <a:rPr lang="en-US" sz="2400" u="sng" dirty="0">
                    <a:solidFill>
                      <a:schemeClr val="accent3">
                        <a:lumMod val="75000"/>
                      </a:schemeClr>
                    </a:solidFill>
                    <a:cs typeface="Times New Roman" panose="02020603050405020304" pitchFamily="18" charset="0"/>
                  </a:rPr>
                  <a:t>So what kind of model are you trying to fit? </a:t>
                </a:r>
              </a:p>
              <a:p>
                <a:r>
                  <a:rPr lang="en-US" sz="2400" dirty="0">
                    <a:cs typeface="Times New Roman" panose="02020603050405020304" pitchFamily="18" charset="0"/>
                  </a:rPr>
                  <a:t>Should a 1-unit increase in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𝑥</m:t>
                    </m:r>
                  </m:oMath>
                </a14:m>
                <a:r>
                  <a:rPr lang="en-US" sz="2400" dirty="0">
                    <a:cs typeface="Times New Roman" panose="02020603050405020304" pitchFamily="18" charset="0"/>
                  </a:rPr>
                  <a:t> correspond to a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oMath>
                </a14:m>
                <a:r>
                  <a:rPr lang="en-US" sz="2400" dirty="0">
                    <a:cs typeface="Times New Roman" panose="02020603050405020304" pitchFamily="18" charset="0"/>
                  </a:rPr>
                  <a:t>-unit increase in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𝑦</m:t>
                    </m:r>
                  </m:oMath>
                </a14:m>
                <a:r>
                  <a:rPr lang="en-US" sz="2400" dirty="0">
                    <a:cs typeface="Times New Roman" panose="02020603050405020304" pitchFamily="18" charset="0"/>
                  </a:rPr>
                  <a:t>? (</a:t>
                </a:r>
                <a:r>
                  <a:rPr lang="en-US" sz="2400" u="sng" dirty="0">
                    <a:cs typeface="Times New Roman" panose="02020603050405020304" pitchFamily="18" charset="0"/>
                  </a:rPr>
                  <a:t>levels</a:t>
                </a:r>
                <a:r>
                  <a:rPr lang="en-US" sz="2400" dirty="0">
                    <a:cs typeface="Times New Roman" panose="02020603050405020304" pitchFamily="18" charset="0"/>
                  </a:rPr>
                  <a:t>)</a:t>
                </a:r>
              </a:p>
              <a:p>
                <a:r>
                  <a:rPr lang="en-US" sz="2400" dirty="0">
                    <a:cs typeface="Times New Roman" panose="02020603050405020304" pitchFamily="18" charset="0"/>
                  </a:rPr>
                  <a:t>Or should a 1-unit increase in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𝑥</m:t>
                    </m:r>
                  </m:oMath>
                </a14:m>
                <a:r>
                  <a:rPr lang="en-US" sz="2400" dirty="0">
                    <a:cs typeface="Times New Roman" panose="02020603050405020304" pitchFamily="18" charset="0"/>
                  </a:rPr>
                  <a:t> correspond to a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oMath>
                </a14:m>
                <a:r>
                  <a:rPr lang="en-US" sz="2400" dirty="0">
                    <a:cs typeface="Times New Roman" panose="02020603050405020304" pitchFamily="18" charset="0"/>
                  </a:rPr>
                  <a:t>% increase in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𝑦</m:t>
                    </m:r>
                  </m:oMath>
                </a14:m>
                <a:r>
                  <a:rPr lang="en-US" sz="2400" dirty="0">
                    <a:cs typeface="Times New Roman" panose="02020603050405020304" pitchFamily="18" charset="0"/>
                  </a:rPr>
                  <a:t>?</a:t>
                </a:r>
              </a:p>
              <a:p>
                <a:r>
                  <a:rPr lang="en-US" sz="2400" dirty="0">
                    <a:cs typeface="Times New Roman" panose="02020603050405020304" pitchFamily="18" charset="0"/>
                  </a:rPr>
                  <a:t>Or should a 1% increase in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𝑥</m:t>
                    </m:r>
                  </m:oMath>
                </a14:m>
                <a:r>
                  <a:rPr lang="en-US" sz="2400" dirty="0">
                    <a:cs typeface="Times New Roman" panose="02020603050405020304" pitchFamily="18" charset="0"/>
                  </a:rPr>
                  <a:t> correspond to a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oMath>
                </a14:m>
                <a:r>
                  <a:rPr lang="en-US" sz="2400" dirty="0">
                    <a:cs typeface="Times New Roman" panose="02020603050405020304" pitchFamily="18" charset="0"/>
                  </a:rPr>
                  <a:t>% increase in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𝑦</m:t>
                    </m:r>
                  </m:oMath>
                </a14:m>
                <a:r>
                  <a:rPr lang="en-US" sz="2400" dirty="0">
                    <a:cs typeface="Times New Roman" panose="02020603050405020304" pitchFamily="18" charset="0"/>
                  </a:rPr>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829801" cy="5141388"/>
              </a:xfrm>
              <a:blipFill>
                <a:blip r:embed="rId3"/>
                <a:stretch>
                  <a:fillRect l="-434" t="-1305"/>
                </a:stretch>
              </a:blipFill>
            </p:spPr>
            <p:txBody>
              <a:bodyPr/>
              <a:lstStyle/>
              <a:p>
                <a:r>
                  <a:rPr lang="en-US">
                    <a:noFill/>
                  </a:rPr>
                  <a:t> </a:t>
                </a:r>
              </a:p>
            </p:txBody>
          </p:sp>
        </mc:Fallback>
      </mc:AlternateContent>
    </p:spTree>
    <p:extLst>
      <p:ext uri="{BB962C8B-B14F-4D97-AF65-F5344CB8AC3E}">
        <p14:creationId xmlns:p14="http://schemas.microsoft.com/office/powerpoint/2010/main" val="364409716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Nonlinear Transformations: Achieving “Linearity” (?) </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829801" cy="5141388"/>
              </a:xfrm>
            </p:spPr>
            <p:txBody>
              <a:bodyPr>
                <a:normAutofit/>
              </a:bodyPr>
              <a:lstStyle/>
              <a:p>
                <a:r>
                  <a:rPr lang="en-US" sz="2400" dirty="0">
                    <a:cs typeface="Times New Roman" panose="02020603050405020304" pitchFamily="18" charset="0"/>
                  </a:rPr>
                  <a:t>Remember that OLS only fits linear relationships (in parameters)</a:t>
                </a:r>
              </a:p>
              <a:p>
                <a:pPr lvl="1"/>
                <a:r>
                  <a:rPr lang="en-US" sz="2400" u="sng" dirty="0">
                    <a:solidFill>
                      <a:schemeClr val="accent3">
                        <a:lumMod val="75000"/>
                      </a:schemeClr>
                    </a:solidFill>
                    <a:cs typeface="Times New Roman" panose="02020603050405020304" pitchFamily="18" charset="0"/>
                  </a:rPr>
                  <a:t>So what kind of model are you trying to fit? </a:t>
                </a:r>
              </a:p>
              <a:p>
                <a:r>
                  <a:rPr lang="en-US" sz="2400" dirty="0">
                    <a:cs typeface="Times New Roman" panose="02020603050405020304" pitchFamily="18" charset="0"/>
                  </a:rPr>
                  <a:t>Should a 1-unit increase in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𝑥</m:t>
                    </m:r>
                  </m:oMath>
                </a14:m>
                <a:r>
                  <a:rPr lang="en-US" sz="2400" dirty="0">
                    <a:cs typeface="Times New Roman" panose="02020603050405020304" pitchFamily="18" charset="0"/>
                  </a:rPr>
                  <a:t> correspond to a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oMath>
                </a14:m>
                <a:r>
                  <a:rPr lang="en-US" sz="2400" dirty="0">
                    <a:cs typeface="Times New Roman" panose="02020603050405020304" pitchFamily="18" charset="0"/>
                  </a:rPr>
                  <a:t>-unit increase in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𝑦</m:t>
                    </m:r>
                  </m:oMath>
                </a14:m>
                <a:r>
                  <a:rPr lang="en-US" sz="2400" dirty="0">
                    <a:cs typeface="Times New Roman" panose="02020603050405020304" pitchFamily="18" charset="0"/>
                  </a:rPr>
                  <a:t>? (</a:t>
                </a:r>
                <a:r>
                  <a:rPr lang="en-US" sz="2400" u="sng" dirty="0">
                    <a:cs typeface="Times New Roman" panose="02020603050405020304" pitchFamily="18" charset="0"/>
                  </a:rPr>
                  <a:t>levels</a:t>
                </a:r>
                <a:r>
                  <a:rPr lang="en-US" sz="2400" dirty="0">
                    <a:cs typeface="Times New Roman" panose="02020603050405020304" pitchFamily="18" charset="0"/>
                  </a:rPr>
                  <a:t>)</a:t>
                </a:r>
              </a:p>
              <a:p>
                <a:r>
                  <a:rPr lang="en-US" sz="2400" dirty="0">
                    <a:cs typeface="Times New Roman" panose="02020603050405020304" pitchFamily="18" charset="0"/>
                  </a:rPr>
                  <a:t>Or should a 1-unit increase in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𝑥</m:t>
                    </m:r>
                  </m:oMath>
                </a14:m>
                <a:r>
                  <a:rPr lang="en-US" sz="2400" dirty="0">
                    <a:cs typeface="Times New Roman" panose="02020603050405020304" pitchFamily="18" charset="0"/>
                  </a:rPr>
                  <a:t> correspond to a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oMath>
                </a14:m>
                <a:r>
                  <a:rPr lang="en-US" sz="2400" dirty="0">
                    <a:cs typeface="Times New Roman" panose="02020603050405020304" pitchFamily="18" charset="0"/>
                  </a:rPr>
                  <a:t>% increase in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𝑦</m:t>
                    </m:r>
                  </m:oMath>
                </a14:m>
                <a:r>
                  <a:rPr lang="en-US" sz="2400" dirty="0">
                    <a:cs typeface="Times New Roman" panose="02020603050405020304" pitchFamily="18" charset="0"/>
                  </a:rPr>
                  <a:t>?</a:t>
                </a:r>
              </a:p>
              <a:p>
                <a:r>
                  <a:rPr lang="en-US" sz="2400" dirty="0">
                    <a:cs typeface="Times New Roman" panose="02020603050405020304" pitchFamily="18" charset="0"/>
                  </a:rPr>
                  <a:t>Or should a 1% increase in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𝑥</m:t>
                    </m:r>
                  </m:oMath>
                </a14:m>
                <a:r>
                  <a:rPr lang="en-US" sz="2400" dirty="0">
                    <a:cs typeface="Times New Roman" panose="02020603050405020304" pitchFamily="18" charset="0"/>
                  </a:rPr>
                  <a:t> correspond to a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oMath>
                </a14:m>
                <a:r>
                  <a:rPr lang="en-US" sz="2400" dirty="0">
                    <a:cs typeface="Times New Roman" panose="02020603050405020304" pitchFamily="18" charset="0"/>
                  </a:rPr>
                  <a:t>% increase in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𝑦</m:t>
                    </m:r>
                  </m:oMath>
                </a14:m>
                <a:r>
                  <a:rPr lang="en-US" sz="2400" dirty="0">
                    <a:cs typeface="Times New Roman" panose="02020603050405020304" pitchFamily="18" charset="0"/>
                  </a:rPr>
                  <a:t>?</a:t>
                </a:r>
              </a:p>
              <a:p>
                <a:pPr marL="0" indent="0">
                  <a:buNone/>
                </a:pPr>
                <a:r>
                  <a:rPr lang="en-US" sz="2400" b="1" dirty="0">
                    <a:solidFill>
                      <a:schemeClr val="accent2">
                        <a:lumMod val="75000"/>
                      </a:schemeClr>
                    </a:solidFill>
                    <a:cs typeface="Times New Roman" panose="02020603050405020304" pitchFamily="18" charset="0"/>
                  </a:rPr>
                  <a:t>Example</a:t>
                </a:r>
                <a:r>
                  <a:rPr lang="en-US" sz="2400" b="1" dirty="0">
                    <a:cs typeface="Times New Roman" panose="02020603050405020304" pitchFamily="18" charset="0"/>
                  </a:rPr>
                  <a:t>: </a:t>
                </a:r>
                <a:r>
                  <a:rPr lang="en-US" sz="2400" dirty="0">
                    <a:cs typeface="Times New Roman" panose="02020603050405020304" pitchFamily="18" charset="0"/>
                  </a:rPr>
                  <a:t>wealth as a function of investment interest rate</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𝑊𝑒𝑎𝑙𝑡h</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𝐼𝑛𝑖𝑡𝑖𝑎𝑙𝑊𝑒𝑎𝑙𝑡h</m:t>
                      </m:r>
                      <m:r>
                        <a:rPr lang="en-US" sz="2400" b="0" i="1" smtClean="0">
                          <a:latin typeface="Cambria Math" panose="02040503050406030204" pitchFamily="18" charset="0"/>
                          <a:cs typeface="Times New Roman" panose="02020603050405020304" pitchFamily="18" charset="0"/>
                        </a:rPr>
                        <m:t>⋅</m:t>
                      </m:r>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𝑒</m:t>
                          </m:r>
                        </m:e>
                        <m:sup>
                          <m:r>
                            <a:rPr lang="en-US" sz="2400" b="0" i="1" smtClean="0">
                              <a:latin typeface="Cambria Math" panose="02040503050406030204" pitchFamily="18" charset="0"/>
                              <a:cs typeface="Times New Roman" panose="02020603050405020304" pitchFamily="18" charset="0"/>
                            </a:rPr>
                            <m:t>𝛽</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𝐼𝑛𝑡𝑒𝑟𝑒𝑠𝑡𝑅𝑎𝑡𝑒</m:t>
                          </m:r>
                        </m:sup>
                      </m:sSup>
                    </m:oMath>
                  </m:oMathPara>
                </a14:m>
                <a:endParaRPr lang="en-US" sz="2400" dirty="0">
                  <a:cs typeface="Times New Roman" panose="02020603050405020304" pitchFamily="18" charset="0"/>
                </a:endParaRPr>
              </a:p>
              <a:p>
                <a:r>
                  <a:rPr lang="en-US" sz="2400" dirty="0">
                    <a:cs typeface="Times New Roman" panose="02020603050405020304" pitchFamily="18" charset="0"/>
                  </a:rPr>
                  <a:t>Here, the true effect should be </a:t>
                </a:r>
                <a:r>
                  <a:rPr lang="en-US" sz="2400" b="1" dirty="0">
                    <a:solidFill>
                      <a:schemeClr val="accent2">
                        <a:lumMod val="75000"/>
                      </a:schemeClr>
                    </a:solidFill>
                    <a:cs typeface="Times New Roman" panose="02020603050405020304" pitchFamily="18" charset="0"/>
                  </a:rPr>
                  <a:t>multiplicative</a:t>
                </a:r>
                <a:r>
                  <a:rPr lang="en-US" sz="2400" dirty="0">
                    <a:cs typeface="Times New Roman" panose="02020603050405020304" pitchFamily="18" charset="0"/>
                  </a:rPr>
                  <a:t>, not linear</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829801" cy="5141388"/>
              </a:xfrm>
              <a:blipFill>
                <a:blip r:embed="rId3"/>
                <a:stretch>
                  <a:fillRect l="-930" t="-1305"/>
                </a:stretch>
              </a:blipFill>
            </p:spPr>
            <p:txBody>
              <a:bodyPr/>
              <a:lstStyle/>
              <a:p>
                <a:r>
                  <a:rPr lang="en-US">
                    <a:noFill/>
                  </a:rPr>
                  <a:t> </a:t>
                </a:r>
              </a:p>
            </p:txBody>
          </p:sp>
        </mc:Fallback>
      </mc:AlternateContent>
    </p:spTree>
    <p:extLst>
      <p:ext uri="{BB962C8B-B14F-4D97-AF65-F5344CB8AC3E}">
        <p14:creationId xmlns:p14="http://schemas.microsoft.com/office/powerpoint/2010/main" val="129619464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What kinds of transformations exist?</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829801" cy="5141388"/>
          </a:xfrm>
        </p:spPr>
        <p:txBody>
          <a:bodyPr>
            <a:normAutofit/>
          </a:bodyPr>
          <a:lstStyle/>
          <a:p>
            <a:r>
              <a:rPr lang="en-US" sz="2400" dirty="0">
                <a:cs typeface="Times New Roman" panose="02020603050405020304" pitchFamily="18" charset="0"/>
              </a:rPr>
              <a:t>See “The Effect” for a (more) exhaustive list (pg. 214)</a:t>
            </a:r>
          </a:p>
          <a:p>
            <a:pPr marL="457200" indent="-457200">
              <a:buFont typeface="+mj-lt"/>
              <a:buAutoNum type="arabicPeriod"/>
            </a:pPr>
            <a:r>
              <a:rPr lang="en-US" sz="2400" b="1" dirty="0">
                <a:solidFill>
                  <a:schemeClr val="accent2">
                    <a:lumMod val="75000"/>
                  </a:schemeClr>
                </a:solidFill>
                <a:cs typeface="Times New Roman" panose="02020603050405020304" pitchFamily="18" charset="0"/>
              </a:rPr>
              <a:t>Natural Log </a:t>
            </a:r>
            <a:r>
              <a:rPr lang="en-US" sz="2400" dirty="0">
                <a:cs typeface="Times New Roman" panose="02020603050405020304" pitchFamily="18" charset="0"/>
              </a:rPr>
              <a:t>– tried and true</a:t>
            </a:r>
          </a:p>
          <a:p>
            <a:pPr lvl="1"/>
            <a:r>
              <a:rPr lang="en-US" sz="2200" dirty="0">
                <a:cs typeface="Times New Roman" panose="02020603050405020304" pitchFamily="18" charset="0"/>
              </a:rPr>
              <a:t>But, recall that ln(0) is undefined – what if we have zero-valued data? </a:t>
            </a:r>
          </a:p>
        </p:txBody>
      </p:sp>
    </p:spTree>
    <p:extLst>
      <p:ext uri="{BB962C8B-B14F-4D97-AF65-F5344CB8AC3E}">
        <p14:creationId xmlns:p14="http://schemas.microsoft.com/office/powerpoint/2010/main" val="394648604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What kinds of transformations exist?</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829801" cy="5141388"/>
              </a:xfrm>
            </p:spPr>
            <p:txBody>
              <a:bodyPr>
                <a:normAutofit/>
              </a:bodyPr>
              <a:lstStyle/>
              <a:p>
                <a:r>
                  <a:rPr lang="en-US" sz="2400" dirty="0">
                    <a:cs typeface="Times New Roman" panose="02020603050405020304" pitchFamily="18" charset="0"/>
                  </a:rPr>
                  <a:t>See “The Effect” for a (more) exhaustive list (pg. 214)</a:t>
                </a:r>
              </a:p>
              <a:p>
                <a:pPr marL="457200" indent="-457200">
                  <a:buFont typeface="+mj-lt"/>
                  <a:buAutoNum type="arabicPeriod"/>
                </a:pPr>
                <a:r>
                  <a:rPr lang="en-US" sz="2400" b="1" dirty="0">
                    <a:solidFill>
                      <a:schemeClr val="accent2">
                        <a:lumMod val="75000"/>
                      </a:schemeClr>
                    </a:solidFill>
                    <a:cs typeface="Times New Roman" panose="02020603050405020304" pitchFamily="18" charset="0"/>
                  </a:rPr>
                  <a:t>Natural Log </a:t>
                </a:r>
                <a:r>
                  <a:rPr lang="en-US" sz="2400" dirty="0">
                    <a:cs typeface="Times New Roman" panose="02020603050405020304" pitchFamily="18" charset="0"/>
                  </a:rPr>
                  <a:t>– tried and true</a:t>
                </a:r>
              </a:p>
              <a:p>
                <a:pPr lvl="1"/>
                <a:r>
                  <a:rPr lang="en-US" sz="2200" dirty="0">
                    <a:cs typeface="Times New Roman" panose="02020603050405020304" pitchFamily="18" charset="0"/>
                  </a:rPr>
                  <a:t>But, recall that ln(0) is undefined – what if we have zero-valued data? </a:t>
                </a:r>
              </a:p>
              <a:p>
                <a:pPr marL="457200" indent="-457200">
                  <a:buFont typeface="+mj-lt"/>
                  <a:buAutoNum type="arabicPeriod"/>
                </a:pPr>
                <a:r>
                  <a:rPr lang="en-US" sz="2400" b="1" dirty="0">
                    <a:solidFill>
                      <a:schemeClr val="accent2">
                        <a:lumMod val="75000"/>
                      </a:schemeClr>
                    </a:solidFill>
                    <a:cs typeface="Times New Roman" panose="02020603050405020304" pitchFamily="18" charset="0"/>
                  </a:rPr>
                  <a:t>The Cheater</a:t>
                </a:r>
                <a:r>
                  <a:rPr lang="en-US" sz="2400" dirty="0">
                    <a:cs typeface="Times New Roman" panose="02020603050405020304" pitchFamily="18" charset="0"/>
                  </a:rPr>
                  <a:t>: </a:t>
                </a:r>
                <a14:m>
                  <m:oMath xmlns:m="http://schemas.openxmlformats.org/officeDocument/2006/math">
                    <m:r>
                      <m:rPr>
                        <m:sty m:val="p"/>
                      </m:rPr>
                      <a:rPr lang="en-US" sz="2400" b="0" i="1" smtClean="0">
                        <a:latin typeface="Cambria Math" panose="02040503050406030204" pitchFamily="18" charset="0"/>
                        <a:cs typeface="Times New Roman" panose="02020603050405020304" pitchFamily="18" charset="0"/>
                      </a:rPr>
                      <m:t>ln</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𝑥</m:t>
                        </m:r>
                        <m:r>
                          <a:rPr lang="en-US" sz="2400" b="0" i="1" smtClean="0">
                            <a:latin typeface="Cambria Math" panose="02040503050406030204" pitchFamily="18" charset="0"/>
                            <a:cs typeface="Times New Roman" panose="02020603050405020304" pitchFamily="18" charset="0"/>
                          </a:rPr>
                          <m:t>+1</m:t>
                        </m:r>
                      </m:e>
                    </m:d>
                  </m:oMath>
                </a14:m>
                <a:endParaRPr lang="en-US" sz="2400" b="1" dirty="0">
                  <a:cs typeface="Times New Roman" panose="02020603050405020304" pitchFamily="18" charset="0"/>
                </a:endParaRPr>
              </a:p>
              <a:p>
                <a:pPr lvl="1"/>
                <a:r>
                  <a:rPr lang="en-US" sz="2200" dirty="0">
                    <a:cs typeface="Times New Roman" panose="02020603050405020304" pitchFamily="18" charset="0"/>
                  </a:rPr>
                  <a:t>Common workaround, but loses some useful properties of the log</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829801" cy="5141388"/>
              </a:xfrm>
              <a:blipFill>
                <a:blip r:embed="rId3"/>
                <a:stretch>
                  <a:fillRect l="-496" t="-1305"/>
                </a:stretch>
              </a:blipFill>
            </p:spPr>
            <p:txBody>
              <a:bodyPr/>
              <a:lstStyle/>
              <a:p>
                <a:r>
                  <a:rPr lang="en-US">
                    <a:noFill/>
                  </a:rPr>
                  <a:t> </a:t>
                </a:r>
              </a:p>
            </p:txBody>
          </p:sp>
        </mc:Fallback>
      </mc:AlternateContent>
    </p:spTree>
    <p:extLst>
      <p:ext uri="{BB962C8B-B14F-4D97-AF65-F5344CB8AC3E}">
        <p14:creationId xmlns:p14="http://schemas.microsoft.com/office/powerpoint/2010/main" val="6307101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How to interpret coefficients on transformed variables?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62001" y="1066801"/>
                <a:ext cx="10287000" cy="5141388"/>
              </a:xfrm>
            </p:spPr>
            <p:txBody>
              <a:bodyPr>
                <a:normAutofit/>
              </a:bodyPr>
              <a:lstStyle/>
              <a:p>
                <a:r>
                  <a:rPr lang="en-US" sz="2400" dirty="0">
                    <a:cs typeface="Times New Roman" panose="02020603050405020304" pitchFamily="18" charset="0"/>
                  </a:rPr>
                  <a:t>Let’s focus on </a:t>
                </a:r>
                <a14:m>
                  <m:oMath xmlns:m="http://schemas.openxmlformats.org/officeDocument/2006/math">
                    <m:r>
                      <m:rPr>
                        <m:sty m:val="p"/>
                      </m:rPr>
                      <a:rPr lang="en-US" sz="2400" b="0" i="0" smtClean="0">
                        <a:latin typeface="Cambria Math" panose="02040503050406030204" pitchFamily="18" charset="0"/>
                        <a:cs typeface="Times New Roman" panose="02020603050405020304" pitchFamily="18" charset="0"/>
                      </a:rPr>
                      <m:t>ln</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𝑥</m:t>
                    </m:r>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for now: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𝑦</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func>
                      <m:funcPr>
                        <m:ctrlPr>
                          <a:rPr lang="en-US" sz="2400" b="0" i="1" smtClean="0">
                            <a:latin typeface="Cambria Math" panose="02040503050406030204" pitchFamily="18" charset="0"/>
                            <a:cs typeface="Times New Roman" panose="02020603050405020304" pitchFamily="18" charset="0"/>
                          </a:rPr>
                        </m:ctrlPr>
                      </m:funcPr>
                      <m:fName>
                        <m:r>
                          <m:rPr>
                            <m:sty m:val="p"/>
                          </m:rPr>
                          <a:rPr lang="en-US" sz="2400" b="0" i="0" smtClean="0">
                            <a:latin typeface="Cambria Math" panose="02040503050406030204" pitchFamily="18" charset="0"/>
                            <a:cs typeface="Times New Roman" panose="02020603050405020304" pitchFamily="18" charset="0"/>
                          </a:rPr>
                          <m:t>ln</m:t>
                        </m:r>
                      </m:fName>
                      <m:e>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e>
                        </m:d>
                      </m:e>
                    </m:func>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𝜀</m:t>
                    </m:r>
                  </m:oMath>
                </a14:m>
                <a:endParaRPr lang="en-US" sz="2400" dirty="0">
                  <a:cs typeface="Times New Roman" panose="02020603050405020304" pitchFamily="18" charset="0"/>
                </a:endParaRPr>
              </a:p>
              <a:p>
                <a:pPr lvl="1"/>
                <a:r>
                  <a:rPr lang="en-US" sz="2400" dirty="0">
                    <a:cs typeface="Times New Roman" panose="02020603050405020304" pitchFamily="18" charset="0"/>
                  </a:rPr>
                  <a:t>If </a:t>
                </a:r>
                <a14:m>
                  <m:oMath xmlns:m="http://schemas.openxmlformats.org/officeDocument/2006/math">
                    <m:func>
                      <m:funcPr>
                        <m:ctrlPr>
                          <a:rPr lang="en-US" sz="2400" b="0" i="1" smtClean="0">
                            <a:latin typeface="Cambria Math" panose="02040503050406030204" pitchFamily="18" charset="0"/>
                            <a:cs typeface="Times New Roman" panose="02020603050405020304" pitchFamily="18" charset="0"/>
                          </a:rPr>
                        </m:ctrlPr>
                      </m:funcPr>
                      <m:fName>
                        <m:r>
                          <m:rPr>
                            <m:sty m:val="p"/>
                          </m:rPr>
                          <a:rPr lang="en-US" sz="2400" b="0" i="0" smtClean="0">
                            <a:latin typeface="Cambria Math" panose="02040503050406030204" pitchFamily="18" charset="0"/>
                            <a:cs typeface="Times New Roman" panose="02020603050405020304" pitchFamily="18" charset="0"/>
                          </a:rPr>
                          <m:t>ln</m:t>
                        </m:r>
                      </m:fName>
                      <m:e>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e>
                        </m:d>
                      </m:e>
                    </m:func>
                  </m:oMath>
                </a14:m>
                <a:r>
                  <a:rPr lang="en-US" sz="2400" dirty="0">
                    <a:cs typeface="Times New Roman" panose="02020603050405020304" pitchFamily="18" charset="0"/>
                  </a:rPr>
                  <a:t> goes up by </a:t>
                </a:r>
                <a14:m>
                  <m:oMath xmlns:m="http://schemas.openxmlformats.org/officeDocument/2006/math">
                    <m:r>
                      <a:rPr lang="en-US" sz="2400" b="0" i="0" smtClean="0">
                        <a:latin typeface="Cambria Math" panose="02040503050406030204" pitchFamily="18" charset="0"/>
                        <a:cs typeface="Times New Roman" panose="02020603050405020304" pitchFamily="18" charset="0"/>
                      </a:rPr>
                      <m:t>1</m:t>
                    </m:r>
                  </m:oMath>
                </a14:m>
                <a:r>
                  <a:rPr lang="en-US" sz="2400" dirty="0">
                    <a:cs typeface="Times New Roman" panose="02020603050405020304" pitchFamily="18" charset="0"/>
                  </a:rPr>
                  <a:t>, then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𝑦</m:t>
                    </m:r>
                  </m:oMath>
                </a14:m>
                <a:r>
                  <a:rPr lang="en-US" sz="2400" dirty="0">
                    <a:cs typeface="Times New Roman" panose="02020603050405020304" pitchFamily="18" charset="0"/>
                  </a:rPr>
                  <a:t> increases by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oMath>
                </a14:m>
                <a:endParaRPr lang="en-US" sz="2400" dirty="0">
                  <a:cs typeface="Times New Roman" panose="02020603050405020304" pitchFamily="18" charset="0"/>
                </a:endParaRPr>
              </a:p>
              <a:p>
                <a:pPr lvl="1"/>
                <a:r>
                  <a:rPr lang="en-US" sz="2400" dirty="0">
                    <a:cs typeface="Times New Roman" panose="02020603050405020304" pitchFamily="18" charset="0"/>
                  </a:rPr>
                  <a:t>Okay, but what does it mean for ln</a:t>
                </a:r>
                <a14:m>
                  <m:oMath xmlns:m="http://schemas.openxmlformats.org/officeDocument/2006/math">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e>
                    </m:d>
                  </m:oMath>
                </a14:m>
                <a:r>
                  <a:rPr lang="en-US" sz="2400" dirty="0">
                    <a:cs typeface="Times New Roman" panose="02020603050405020304" pitchFamily="18" charset="0"/>
                  </a:rPr>
                  <a:t> to change by a certain amount? </a:t>
                </a:r>
              </a:p>
              <a:p>
                <a:pPr lvl="1"/>
                <a:r>
                  <a:rPr lang="en-US" sz="2400" dirty="0">
                    <a:cs typeface="Times New Roman" panose="02020603050405020304" pitchFamily="18" charset="0"/>
                  </a:rPr>
                  <a:t>It’s helpful to think about </a:t>
                </a:r>
                <a:r>
                  <a:rPr lang="en-US" sz="2400" b="1" dirty="0">
                    <a:solidFill>
                      <a:schemeClr val="accent2">
                        <a:lumMod val="75000"/>
                      </a:schemeClr>
                    </a:solidFill>
                    <a:cs typeface="Times New Roman" panose="02020603050405020304" pitchFamily="18" charset="0"/>
                  </a:rPr>
                  <a:t>percentage changes </a:t>
                </a:r>
                <a:r>
                  <a:rPr lang="en-US" sz="2400" dirty="0">
                    <a:cs typeface="Times New Roman" panose="02020603050405020304" pitchFamily="18" charset="0"/>
                  </a:rPr>
                  <a:t>in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oMath>
                </a14:m>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62001" y="1066801"/>
                <a:ext cx="10287000" cy="5141388"/>
              </a:xfrm>
              <a:blipFill>
                <a:blip r:embed="rId3"/>
                <a:stretch>
                  <a:fillRect l="-415" t="-1305"/>
                </a:stretch>
              </a:blipFill>
            </p:spPr>
            <p:txBody>
              <a:bodyPr/>
              <a:lstStyle/>
              <a:p>
                <a:r>
                  <a:rPr lang="en-CA">
                    <a:noFill/>
                  </a:rPr>
                  <a:t> </a:t>
                </a:r>
              </a:p>
            </p:txBody>
          </p:sp>
        </mc:Fallback>
      </mc:AlternateContent>
    </p:spTree>
    <p:extLst>
      <p:ext uri="{BB962C8B-B14F-4D97-AF65-F5344CB8AC3E}">
        <p14:creationId xmlns:p14="http://schemas.microsoft.com/office/powerpoint/2010/main" val="846681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How to interpret coefficients on transformed variables?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1" y="1066801"/>
                <a:ext cx="10363200" cy="5141388"/>
              </a:xfrm>
            </p:spPr>
            <p:txBody>
              <a:bodyPr>
                <a:normAutofit/>
              </a:bodyPr>
              <a:lstStyle/>
              <a:p>
                <a:r>
                  <a:rPr lang="en-US" sz="2400" dirty="0">
                    <a:cs typeface="Times New Roman" panose="02020603050405020304" pitchFamily="18" charset="0"/>
                  </a:rPr>
                  <a:t>Let’s focus on </a:t>
                </a:r>
                <a14:m>
                  <m:oMath xmlns:m="http://schemas.openxmlformats.org/officeDocument/2006/math">
                    <m:r>
                      <m:rPr>
                        <m:sty m:val="p"/>
                      </m:rPr>
                      <a:rPr lang="en-US" sz="2400" b="0" i="0" smtClean="0">
                        <a:latin typeface="Cambria Math" panose="02040503050406030204" pitchFamily="18" charset="0"/>
                        <a:cs typeface="Times New Roman" panose="02020603050405020304" pitchFamily="18" charset="0"/>
                      </a:rPr>
                      <m:t>ln</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𝑥</m:t>
                    </m:r>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for now: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𝑦</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func>
                      <m:funcPr>
                        <m:ctrlPr>
                          <a:rPr lang="en-US" sz="2400" b="0" i="1" smtClean="0">
                            <a:latin typeface="Cambria Math" panose="02040503050406030204" pitchFamily="18" charset="0"/>
                            <a:cs typeface="Times New Roman" panose="02020603050405020304" pitchFamily="18" charset="0"/>
                          </a:rPr>
                        </m:ctrlPr>
                      </m:funcPr>
                      <m:fName>
                        <m:r>
                          <m:rPr>
                            <m:sty m:val="p"/>
                          </m:rPr>
                          <a:rPr lang="en-US" sz="2400" b="0" i="0" smtClean="0">
                            <a:latin typeface="Cambria Math" panose="02040503050406030204" pitchFamily="18" charset="0"/>
                            <a:cs typeface="Times New Roman" panose="02020603050405020304" pitchFamily="18" charset="0"/>
                          </a:rPr>
                          <m:t>ln</m:t>
                        </m:r>
                      </m:fName>
                      <m:e>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e>
                        </m:d>
                      </m:e>
                    </m:func>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𝜀</m:t>
                    </m:r>
                  </m:oMath>
                </a14:m>
                <a:endParaRPr lang="en-US" sz="2400" dirty="0">
                  <a:cs typeface="Times New Roman" panose="02020603050405020304" pitchFamily="18" charset="0"/>
                </a:endParaRPr>
              </a:p>
              <a:p>
                <a:pPr lvl="1"/>
                <a:r>
                  <a:rPr lang="en-US" sz="2400" dirty="0">
                    <a:cs typeface="Times New Roman" panose="02020603050405020304" pitchFamily="18" charset="0"/>
                  </a:rPr>
                  <a:t>If </a:t>
                </a:r>
                <a14:m>
                  <m:oMath xmlns:m="http://schemas.openxmlformats.org/officeDocument/2006/math">
                    <m:func>
                      <m:funcPr>
                        <m:ctrlPr>
                          <a:rPr lang="en-US" sz="2400" b="0" i="1" smtClean="0">
                            <a:latin typeface="Cambria Math" panose="02040503050406030204" pitchFamily="18" charset="0"/>
                            <a:cs typeface="Times New Roman" panose="02020603050405020304" pitchFamily="18" charset="0"/>
                          </a:rPr>
                        </m:ctrlPr>
                      </m:funcPr>
                      <m:fName>
                        <m:r>
                          <m:rPr>
                            <m:sty m:val="p"/>
                          </m:rPr>
                          <a:rPr lang="en-US" sz="2400" b="0" i="0" smtClean="0">
                            <a:latin typeface="Cambria Math" panose="02040503050406030204" pitchFamily="18" charset="0"/>
                            <a:cs typeface="Times New Roman" panose="02020603050405020304" pitchFamily="18" charset="0"/>
                          </a:rPr>
                          <m:t>ln</m:t>
                        </m:r>
                      </m:fName>
                      <m:e>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e>
                        </m:d>
                      </m:e>
                    </m:func>
                  </m:oMath>
                </a14:m>
                <a:r>
                  <a:rPr lang="en-US" sz="2400" dirty="0">
                    <a:cs typeface="Times New Roman" panose="02020603050405020304" pitchFamily="18" charset="0"/>
                  </a:rPr>
                  <a:t> goes up by </a:t>
                </a:r>
                <a14:m>
                  <m:oMath xmlns:m="http://schemas.openxmlformats.org/officeDocument/2006/math">
                    <m:r>
                      <a:rPr lang="en-US" sz="2400" b="0" i="0" smtClean="0">
                        <a:latin typeface="Cambria Math" panose="02040503050406030204" pitchFamily="18" charset="0"/>
                        <a:cs typeface="Times New Roman" panose="02020603050405020304" pitchFamily="18" charset="0"/>
                      </a:rPr>
                      <m:t>1</m:t>
                    </m:r>
                  </m:oMath>
                </a14:m>
                <a:r>
                  <a:rPr lang="en-US" sz="2400" dirty="0">
                    <a:cs typeface="Times New Roman" panose="02020603050405020304" pitchFamily="18" charset="0"/>
                  </a:rPr>
                  <a:t>, then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𝑦</m:t>
                    </m:r>
                  </m:oMath>
                </a14:m>
                <a:r>
                  <a:rPr lang="en-US" sz="2400" dirty="0">
                    <a:cs typeface="Times New Roman" panose="02020603050405020304" pitchFamily="18" charset="0"/>
                  </a:rPr>
                  <a:t> increases by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oMath>
                </a14:m>
                <a:endParaRPr lang="en-US" sz="2400" dirty="0">
                  <a:cs typeface="Times New Roman" panose="02020603050405020304" pitchFamily="18" charset="0"/>
                </a:endParaRPr>
              </a:p>
              <a:p>
                <a:pPr lvl="1"/>
                <a:r>
                  <a:rPr lang="en-US" sz="2400" dirty="0">
                    <a:cs typeface="Times New Roman" panose="02020603050405020304" pitchFamily="18" charset="0"/>
                  </a:rPr>
                  <a:t>Okay, but what does it mean for ln</a:t>
                </a:r>
                <a14:m>
                  <m:oMath xmlns:m="http://schemas.openxmlformats.org/officeDocument/2006/math">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e>
                    </m:d>
                  </m:oMath>
                </a14:m>
                <a:r>
                  <a:rPr lang="en-US" sz="2400" dirty="0">
                    <a:cs typeface="Times New Roman" panose="02020603050405020304" pitchFamily="18" charset="0"/>
                  </a:rPr>
                  <a:t> to change by a certain amount? </a:t>
                </a:r>
              </a:p>
              <a:p>
                <a:pPr lvl="1"/>
                <a:r>
                  <a:rPr lang="en-US" sz="2400" dirty="0">
                    <a:cs typeface="Times New Roman" panose="02020603050405020304" pitchFamily="18" charset="0"/>
                  </a:rPr>
                  <a:t>It’s helpful to think about </a:t>
                </a:r>
                <a:r>
                  <a:rPr lang="en-US" sz="2400" b="1" dirty="0">
                    <a:solidFill>
                      <a:schemeClr val="accent2">
                        <a:lumMod val="75000"/>
                      </a:schemeClr>
                    </a:solidFill>
                    <a:cs typeface="Times New Roman" panose="02020603050405020304" pitchFamily="18" charset="0"/>
                  </a:rPr>
                  <a:t>percentage changes </a:t>
                </a:r>
                <a:r>
                  <a:rPr lang="en-US" sz="2400" dirty="0">
                    <a:cs typeface="Times New Roman" panose="02020603050405020304" pitchFamily="18" charset="0"/>
                  </a:rPr>
                  <a:t>in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oMath>
                </a14:m>
                <a:endParaRPr lang="en-US" sz="2400" dirty="0">
                  <a:cs typeface="Times New Roman" panose="02020603050405020304" pitchFamily="18" charset="0"/>
                </a:endParaRPr>
              </a:p>
              <a:p>
                <a:r>
                  <a:rPr lang="en-US" sz="2600" dirty="0">
                    <a:cs typeface="Times New Roman" panose="02020603050405020304" pitchFamily="18" charset="0"/>
                  </a:rPr>
                  <a:t>Relies on a mathematical approximation: </a:t>
                </a:r>
                <a14:m>
                  <m:oMath xmlns:m="http://schemas.openxmlformats.org/officeDocument/2006/math">
                    <m:r>
                      <a:rPr lang="en-US" sz="2600" b="0" i="1" smtClean="0">
                        <a:latin typeface="Cambria Math" panose="02040503050406030204" pitchFamily="18" charset="0"/>
                        <a:cs typeface="Times New Roman" panose="02020603050405020304" pitchFamily="18" charset="0"/>
                      </a:rPr>
                      <m:t>1+</m:t>
                    </m:r>
                    <m:r>
                      <a:rPr lang="en-US" sz="2600" b="0" i="1" smtClean="0">
                        <a:latin typeface="Cambria Math" panose="02040503050406030204" pitchFamily="18" charset="0"/>
                        <a:cs typeface="Times New Roman" panose="02020603050405020304" pitchFamily="18" charset="0"/>
                      </a:rPr>
                      <m:t>𝑐</m:t>
                    </m:r>
                    <m:r>
                      <a:rPr lang="en-US" sz="2600" b="0" i="1" smtClean="0">
                        <a:latin typeface="Cambria Math" panose="02040503050406030204" pitchFamily="18" charset="0"/>
                        <a:cs typeface="Times New Roman" panose="02020603050405020304" pitchFamily="18" charset="0"/>
                      </a:rPr>
                      <m:t>≈</m:t>
                    </m:r>
                    <m:sSup>
                      <m:sSupPr>
                        <m:ctrlPr>
                          <a:rPr lang="en-US" sz="2600" b="0" i="1" smtClean="0">
                            <a:latin typeface="Cambria Math" panose="02040503050406030204" pitchFamily="18" charset="0"/>
                            <a:cs typeface="Times New Roman" panose="02020603050405020304" pitchFamily="18" charset="0"/>
                          </a:rPr>
                        </m:ctrlPr>
                      </m:sSupPr>
                      <m:e>
                        <m:r>
                          <a:rPr lang="en-US" sz="2600" b="0" i="1" smtClean="0">
                            <a:latin typeface="Cambria Math" panose="02040503050406030204" pitchFamily="18" charset="0"/>
                            <a:cs typeface="Times New Roman" panose="02020603050405020304" pitchFamily="18" charset="0"/>
                          </a:rPr>
                          <m:t>𝑒</m:t>
                        </m:r>
                      </m:e>
                      <m:sup>
                        <m:r>
                          <a:rPr lang="en-US" sz="2600" b="0" i="1" smtClean="0">
                            <a:latin typeface="Cambria Math" panose="02040503050406030204" pitchFamily="18" charset="0"/>
                            <a:cs typeface="Times New Roman" panose="02020603050405020304" pitchFamily="18" charset="0"/>
                          </a:rPr>
                          <m:t>𝑐</m:t>
                        </m:r>
                      </m:sup>
                    </m:sSup>
                    <m:r>
                      <a:rPr lang="en-US" sz="2600" b="0" i="1" smtClean="0">
                        <a:latin typeface="Cambria Math" panose="02040503050406030204" pitchFamily="18" charset="0"/>
                        <a:cs typeface="Times New Roman" panose="02020603050405020304" pitchFamily="18" charset="0"/>
                      </a:rPr>
                      <m:t> </m:t>
                    </m:r>
                  </m:oMath>
                </a14:m>
                <a:r>
                  <a:rPr lang="en-US" sz="2600" dirty="0">
                    <a:cs typeface="Times New Roman" panose="02020603050405020304" pitchFamily="18" charset="0"/>
                  </a:rPr>
                  <a:t>when </a:t>
                </a:r>
                <a14:m>
                  <m:oMath xmlns:m="http://schemas.openxmlformats.org/officeDocument/2006/math">
                    <m:r>
                      <a:rPr lang="en-US" sz="2600" b="0" i="1" smtClean="0">
                        <a:latin typeface="Cambria Math" panose="02040503050406030204" pitchFamily="18" charset="0"/>
                        <a:cs typeface="Times New Roman" panose="02020603050405020304" pitchFamily="18" charset="0"/>
                      </a:rPr>
                      <m:t>𝑐</m:t>
                    </m:r>
                    <m:r>
                      <a:rPr lang="en-US" sz="2600" b="0" i="1" smtClean="0">
                        <a:latin typeface="Cambria Math" panose="02040503050406030204" pitchFamily="18" charset="0"/>
                        <a:cs typeface="Times New Roman" panose="02020603050405020304" pitchFamily="18" charset="0"/>
                      </a:rPr>
                      <m:t> </m:t>
                    </m:r>
                  </m:oMath>
                </a14:m>
                <a:r>
                  <a:rPr lang="en-US" sz="2600" dirty="0">
                    <a:cs typeface="Times New Roman" panose="02020603050405020304" pitchFamily="18" charset="0"/>
                  </a:rPr>
                  <a:t>is small</a:t>
                </a:r>
              </a:p>
              <a:p>
                <a:pPr lvl="1"/>
                <a:r>
                  <a:rPr lang="en-US" sz="2400" dirty="0">
                    <a:cs typeface="Times New Roman" panose="02020603050405020304" pitchFamily="18" charset="0"/>
                  </a:rPr>
                  <a:t>If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oMath>
                </a14:m>
                <a:r>
                  <a:rPr lang="en-US" sz="2400" dirty="0">
                    <a:cs typeface="Times New Roman" panose="02020603050405020304" pitchFamily="18" charset="0"/>
                  </a:rPr>
                  <a:t> increases by 10%, then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𝑐</m:t>
                    </m:r>
                    <m:r>
                      <a:rPr lang="en-US" sz="2400" b="0" i="1" smtClean="0">
                        <a:latin typeface="Cambria Math" panose="02040503050406030204" pitchFamily="18" charset="0"/>
                        <a:cs typeface="Times New Roman" panose="02020603050405020304" pitchFamily="18" charset="0"/>
                      </a:rPr>
                      <m:t>=.1</m:t>
                    </m:r>
                  </m:oMath>
                </a14:m>
                <a:endParaRPr lang="en-US" sz="2400" dirty="0">
                  <a:cs typeface="Times New Roman" panose="02020603050405020304" pitchFamily="18" charset="0"/>
                </a:endParaRPr>
              </a:p>
              <a:p>
                <a:pPr lvl="1"/>
                <a:r>
                  <a:rPr lang="en-US" sz="2400" dirty="0">
                    <a:cs typeface="Times New Roman" panose="02020603050405020304" pitchFamily="18" charset="0"/>
                  </a:rPr>
                  <a:t>Hence, </a:t>
                </a:r>
                <a14:m>
                  <m:oMath xmlns:m="http://schemas.openxmlformats.org/officeDocument/2006/math">
                    <m:r>
                      <m:rPr>
                        <m:sty m:val="p"/>
                      </m:rPr>
                      <a:rPr lang="en-US" sz="2400" b="0" i="0" smtClean="0">
                        <a:latin typeface="Cambria Math" panose="02040503050406030204" pitchFamily="18" charset="0"/>
                        <a:cs typeface="Times New Roman" panose="02020603050405020304" pitchFamily="18" charset="0"/>
                      </a:rPr>
                      <m:t>Δ</m:t>
                    </m:r>
                    <m:func>
                      <m:funcPr>
                        <m:ctrlPr>
                          <a:rPr lang="en-US" sz="2400" b="0" i="1" smtClean="0">
                            <a:latin typeface="Cambria Math" panose="02040503050406030204" pitchFamily="18" charset="0"/>
                            <a:cs typeface="Times New Roman" panose="02020603050405020304" pitchFamily="18" charset="0"/>
                          </a:rPr>
                        </m:ctrlPr>
                      </m:funcPr>
                      <m:fName>
                        <m:r>
                          <m:rPr>
                            <m:sty m:val="p"/>
                          </m:rPr>
                          <a:rPr lang="en-US" sz="2400" b="0" i="0" smtClean="0">
                            <a:latin typeface="Cambria Math" panose="02040503050406030204" pitchFamily="18" charset="0"/>
                            <a:cs typeface="Times New Roman" panose="02020603050405020304" pitchFamily="18" charset="0"/>
                          </a:rPr>
                          <m:t>ln</m:t>
                        </m:r>
                      </m:fName>
                      <m:e>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e>
                        </m:d>
                      </m:e>
                    </m:func>
                    <m:r>
                      <a:rPr lang="en-US" sz="2400" b="0" i="1" smtClean="0">
                        <a:latin typeface="Cambria Math" panose="02040503050406030204" pitchFamily="18" charset="0"/>
                        <a:cs typeface="Times New Roman" panose="02020603050405020304" pitchFamily="18" charset="0"/>
                      </a:rPr>
                      <m:t>≈.1</m:t>
                    </m:r>
                  </m:oMath>
                </a14:m>
                <a:r>
                  <a:rPr lang="en-US" sz="2400" dirty="0">
                    <a:cs typeface="Times New Roman" panose="02020603050405020304" pitchFamily="18" charset="0"/>
                  </a:rPr>
                  <a:t> as well</a:t>
                </a:r>
              </a:p>
              <a:p>
                <a:pPr lvl="1"/>
                <a:r>
                  <a:rPr lang="en-US" sz="2400" dirty="0">
                    <a:cs typeface="Times New Roman" panose="02020603050405020304" pitchFamily="18" charset="0"/>
                  </a:rPr>
                  <a:t>Therefore, a 10% increase in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oMath>
                </a14:m>
                <a:r>
                  <a:rPr lang="en-US" sz="2400" dirty="0">
                    <a:cs typeface="Times New Roman" panose="02020603050405020304" pitchFamily="18" charset="0"/>
                  </a:rPr>
                  <a:t> is associated with a </a:t>
                </a:r>
                <a14:m>
                  <m:oMath xmlns:m="http://schemas.openxmlformats.org/officeDocument/2006/math">
                    <m:r>
                      <a:rPr lang="en-US" sz="2400" b="0" i="1" smtClean="0">
                        <a:latin typeface="Cambria Math" panose="02040503050406030204" pitchFamily="18" charset="0"/>
                        <a:cs typeface="Times New Roman" panose="02020603050405020304" pitchFamily="18" charset="0"/>
                      </a:rPr>
                      <m:t>.1⋅</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oMath>
                </a14:m>
                <a:r>
                  <a:rPr lang="en-US" sz="2400" dirty="0">
                    <a:cs typeface="Times New Roman" panose="02020603050405020304" pitchFamily="18" charset="0"/>
                  </a:rPr>
                  <a:t> increase in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𝑦</m:t>
                    </m:r>
                  </m:oMath>
                </a14:m>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1" y="1066801"/>
                <a:ext cx="10363200" cy="5141388"/>
              </a:xfrm>
              <a:blipFill>
                <a:blip r:embed="rId3"/>
                <a:stretch>
                  <a:fillRect l="-588" t="-1305"/>
                </a:stretch>
              </a:blipFill>
            </p:spPr>
            <p:txBody>
              <a:bodyPr/>
              <a:lstStyle/>
              <a:p>
                <a:r>
                  <a:rPr lang="en-CA">
                    <a:noFill/>
                  </a:rPr>
                  <a:t> </a:t>
                </a:r>
              </a:p>
            </p:txBody>
          </p:sp>
        </mc:Fallback>
      </mc:AlternateContent>
    </p:spTree>
    <p:extLst>
      <p:ext uri="{BB962C8B-B14F-4D97-AF65-F5344CB8AC3E}">
        <p14:creationId xmlns:p14="http://schemas.microsoft.com/office/powerpoint/2010/main" val="286579840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How to interpret coefficients on transformed variables?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rmAutofit/>
              </a:bodyPr>
              <a:lstStyle/>
              <a:p>
                <a:r>
                  <a:rPr lang="en-US" sz="2400" dirty="0">
                    <a:cs typeface="Times New Roman" panose="02020603050405020304" pitchFamily="18" charset="0"/>
                  </a:rPr>
                  <a:t>Let’s focus on </a:t>
                </a:r>
                <a14:m>
                  <m:oMath xmlns:m="http://schemas.openxmlformats.org/officeDocument/2006/math">
                    <m:r>
                      <m:rPr>
                        <m:sty m:val="p"/>
                      </m:rPr>
                      <a:rPr lang="en-US" sz="2400" b="0" i="0" smtClean="0">
                        <a:latin typeface="Cambria Math" panose="02040503050406030204" pitchFamily="18" charset="0"/>
                        <a:cs typeface="Times New Roman" panose="02020603050405020304" pitchFamily="18" charset="0"/>
                      </a:rPr>
                      <m:t>ln</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𝑥</m:t>
                    </m:r>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for now: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𝑦</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func>
                      <m:funcPr>
                        <m:ctrlPr>
                          <a:rPr lang="en-US" sz="2400" b="0" i="1" smtClean="0">
                            <a:latin typeface="Cambria Math" panose="02040503050406030204" pitchFamily="18" charset="0"/>
                            <a:cs typeface="Times New Roman" panose="02020603050405020304" pitchFamily="18" charset="0"/>
                          </a:rPr>
                        </m:ctrlPr>
                      </m:funcPr>
                      <m:fName>
                        <m:r>
                          <m:rPr>
                            <m:sty m:val="p"/>
                          </m:rPr>
                          <a:rPr lang="en-US" sz="2400" b="0" i="0" smtClean="0">
                            <a:latin typeface="Cambria Math" panose="02040503050406030204" pitchFamily="18" charset="0"/>
                            <a:cs typeface="Times New Roman" panose="02020603050405020304" pitchFamily="18" charset="0"/>
                          </a:rPr>
                          <m:t>ln</m:t>
                        </m:r>
                      </m:fName>
                      <m:e>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e>
                        </m:d>
                      </m:e>
                    </m:func>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𝜀</m:t>
                    </m:r>
                  </m:oMath>
                </a14:m>
                <a:endParaRPr lang="en-US" sz="2400" dirty="0">
                  <a:cs typeface="Times New Roman" panose="02020603050405020304" pitchFamily="18" charset="0"/>
                </a:endParaRPr>
              </a:p>
              <a:p>
                <a:pPr lvl="1"/>
                <a:r>
                  <a:rPr lang="en-US" sz="2400" dirty="0">
                    <a:cs typeface="Times New Roman" panose="02020603050405020304" pitchFamily="18" charset="0"/>
                  </a:rPr>
                  <a:t>If </a:t>
                </a:r>
                <a14:m>
                  <m:oMath xmlns:m="http://schemas.openxmlformats.org/officeDocument/2006/math">
                    <m:func>
                      <m:funcPr>
                        <m:ctrlPr>
                          <a:rPr lang="en-US" sz="2400" b="0" i="1" smtClean="0">
                            <a:latin typeface="Cambria Math" panose="02040503050406030204" pitchFamily="18" charset="0"/>
                            <a:cs typeface="Times New Roman" panose="02020603050405020304" pitchFamily="18" charset="0"/>
                          </a:rPr>
                        </m:ctrlPr>
                      </m:funcPr>
                      <m:fName>
                        <m:r>
                          <m:rPr>
                            <m:sty m:val="p"/>
                          </m:rPr>
                          <a:rPr lang="en-US" sz="2400" b="0" i="0" smtClean="0">
                            <a:latin typeface="Cambria Math" panose="02040503050406030204" pitchFamily="18" charset="0"/>
                            <a:cs typeface="Times New Roman" panose="02020603050405020304" pitchFamily="18" charset="0"/>
                          </a:rPr>
                          <m:t>ln</m:t>
                        </m:r>
                      </m:fName>
                      <m:e>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e>
                        </m:d>
                      </m:e>
                    </m:func>
                  </m:oMath>
                </a14:m>
                <a:r>
                  <a:rPr lang="en-US" sz="2400" dirty="0">
                    <a:cs typeface="Times New Roman" panose="02020603050405020304" pitchFamily="18" charset="0"/>
                  </a:rPr>
                  <a:t> goes up by </a:t>
                </a:r>
                <a14:m>
                  <m:oMath xmlns:m="http://schemas.openxmlformats.org/officeDocument/2006/math">
                    <m:r>
                      <a:rPr lang="en-US" sz="2400" b="0" i="0" smtClean="0">
                        <a:latin typeface="Cambria Math" panose="02040503050406030204" pitchFamily="18" charset="0"/>
                        <a:cs typeface="Times New Roman" panose="02020603050405020304" pitchFamily="18" charset="0"/>
                      </a:rPr>
                      <m:t>1</m:t>
                    </m:r>
                  </m:oMath>
                </a14:m>
                <a:r>
                  <a:rPr lang="en-US" sz="2400" dirty="0">
                    <a:cs typeface="Times New Roman" panose="02020603050405020304" pitchFamily="18" charset="0"/>
                  </a:rPr>
                  <a:t>, then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𝑦</m:t>
                    </m:r>
                  </m:oMath>
                </a14:m>
                <a:r>
                  <a:rPr lang="en-US" sz="2400" dirty="0">
                    <a:cs typeface="Times New Roman" panose="02020603050405020304" pitchFamily="18" charset="0"/>
                  </a:rPr>
                  <a:t> increases by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oMath>
                </a14:m>
                <a:endParaRPr lang="en-US" sz="2400" dirty="0">
                  <a:cs typeface="Times New Roman" panose="02020603050405020304" pitchFamily="18" charset="0"/>
                </a:endParaRPr>
              </a:p>
              <a:p>
                <a:pPr lvl="1"/>
                <a:r>
                  <a:rPr lang="en-US" sz="2400" dirty="0">
                    <a:cs typeface="Times New Roman" panose="02020603050405020304" pitchFamily="18" charset="0"/>
                  </a:rPr>
                  <a:t>Okay, but what does it mean for ln</a:t>
                </a:r>
                <a14:m>
                  <m:oMath xmlns:m="http://schemas.openxmlformats.org/officeDocument/2006/math">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e>
                    </m:d>
                  </m:oMath>
                </a14:m>
                <a:r>
                  <a:rPr lang="en-US" sz="2400" dirty="0">
                    <a:cs typeface="Times New Roman" panose="02020603050405020304" pitchFamily="18" charset="0"/>
                  </a:rPr>
                  <a:t> to change by a certain amount? </a:t>
                </a:r>
              </a:p>
              <a:p>
                <a:pPr lvl="1"/>
                <a:r>
                  <a:rPr lang="en-US" sz="2400" dirty="0">
                    <a:cs typeface="Times New Roman" panose="02020603050405020304" pitchFamily="18" charset="0"/>
                  </a:rPr>
                  <a:t>It’s helpful to think about </a:t>
                </a:r>
                <a:r>
                  <a:rPr lang="en-US" sz="2400" b="1" dirty="0">
                    <a:solidFill>
                      <a:schemeClr val="accent2">
                        <a:lumMod val="75000"/>
                      </a:schemeClr>
                    </a:solidFill>
                    <a:cs typeface="Times New Roman" panose="02020603050405020304" pitchFamily="18" charset="0"/>
                  </a:rPr>
                  <a:t>percentage changes </a:t>
                </a:r>
                <a:r>
                  <a:rPr lang="en-US" sz="2400" dirty="0">
                    <a:cs typeface="Times New Roman" panose="02020603050405020304" pitchFamily="18" charset="0"/>
                  </a:rPr>
                  <a:t>in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oMath>
                </a14:m>
                <a:endParaRPr lang="en-US" sz="2400" dirty="0">
                  <a:cs typeface="Times New Roman" panose="02020603050405020304" pitchFamily="18" charset="0"/>
                </a:endParaRPr>
              </a:p>
              <a:p>
                <a:r>
                  <a:rPr lang="en-US" sz="2600" dirty="0">
                    <a:cs typeface="Times New Roman" panose="02020603050405020304" pitchFamily="18" charset="0"/>
                  </a:rPr>
                  <a:t>A </a:t>
                </a:r>
                <a:r>
                  <a:rPr lang="en-US" sz="2600" b="1" dirty="0">
                    <a:solidFill>
                      <a:schemeClr val="accent3">
                        <a:lumMod val="75000"/>
                      </a:schemeClr>
                    </a:solidFill>
                    <a:cs typeface="Times New Roman" panose="02020603050405020304" pitchFamily="18" charset="0"/>
                  </a:rPr>
                  <a:t>10% increase in </a:t>
                </a:r>
                <a14:m>
                  <m:oMath xmlns:m="http://schemas.openxmlformats.org/officeDocument/2006/math">
                    <m:sSub>
                      <m:sSubPr>
                        <m:ctrlPr>
                          <a:rPr lang="en-US" sz="2600" b="1" i="1" smtClean="0">
                            <a:solidFill>
                              <a:schemeClr val="accent3">
                                <a:lumMod val="75000"/>
                              </a:schemeClr>
                            </a:solidFill>
                            <a:latin typeface="Cambria Math" panose="02040503050406030204" pitchFamily="18" charset="0"/>
                            <a:cs typeface="Times New Roman" panose="02020603050405020304" pitchFamily="18" charset="0"/>
                          </a:rPr>
                        </m:ctrlPr>
                      </m:sSubPr>
                      <m:e>
                        <m:r>
                          <a:rPr lang="en-US" sz="2600" b="1" i="1" smtClean="0">
                            <a:solidFill>
                              <a:schemeClr val="accent3">
                                <a:lumMod val="75000"/>
                              </a:schemeClr>
                            </a:solidFill>
                            <a:latin typeface="Cambria Math" panose="02040503050406030204" pitchFamily="18" charset="0"/>
                            <a:cs typeface="Times New Roman" panose="02020603050405020304" pitchFamily="18" charset="0"/>
                          </a:rPr>
                          <m:t>𝒙</m:t>
                        </m:r>
                      </m:e>
                      <m:sub>
                        <m:r>
                          <a:rPr lang="en-US" sz="2600" b="1" i="1" smtClean="0">
                            <a:solidFill>
                              <a:schemeClr val="accent3">
                                <a:lumMod val="75000"/>
                              </a:schemeClr>
                            </a:solidFill>
                            <a:latin typeface="Cambria Math" panose="02040503050406030204" pitchFamily="18" charset="0"/>
                            <a:cs typeface="Times New Roman" panose="02020603050405020304" pitchFamily="18" charset="0"/>
                          </a:rPr>
                          <m:t>𝟏</m:t>
                        </m:r>
                      </m:sub>
                    </m:sSub>
                  </m:oMath>
                </a14:m>
                <a:r>
                  <a:rPr lang="en-US" sz="2600" b="1" dirty="0">
                    <a:solidFill>
                      <a:schemeClr val="accent3">
                        <a:lumMod val="75000"/>
                      </a:schemeClr>
                    </a:solidFill>
                    <a:cs typeface="Times New Roman" panose="02020603050405020304" pitchFamily="18" charset="0"/>
                  </a:rPr>
                  <a:t> is associated with a </a:t>
                </a:r>
                <a14:m>
                  <m:oMath xmlns:m="http://schemas.openxmlformats.org/officeDocument/2006/math">
                    <m:r>
                      <a:rPr lang="en-US" sz="2600" b="1" i="1" smtClean="0">
                        <a:solidFill>
                          <a:schemeClr val="accent3">
                            <a:lumMod val="75000"/>
                          </a:schemeClr>
                        </a:solidFill>
                        <a:latin typeface="Cambria Math" panose="02040503050406030204" pitchFamily="18" charset="0"/>
                        <a:cs typeface="Times New Roman" panose="02020603050405020304" pitchFamily="18" charset="0"/>
                      </a:rPr>
                      <m:t>.</m:t>
                    </m:r>
                    <m:r>
                      <a:rPr lang="en-US" sz="2600" b="1" i="1" smtClean="0">
                        <a:solidFill>
                          <a:schemeClr val="accent3">
                            <a:lumMod val="75000"/>
                          </a:schemeClr>
                        </a:solidFill>
                        <a:latin typeface="Cambria Math" panose="02040503050406030204" pitchFamily="18" charset="0"/>
                        <a:cs typeface="Times New Roman" panose="02020603050405020304" pitchFamily="18" charset="0"/>
                      </a:rPr>
                      <m:t>𝟏</m:t>
                    </m:r>
                    <m:r>
                      <a:rPr lang="en-US" sz="2600" b="1" i="1" smtClean="0">
                        <a:solidFill>
                          <a:schemeClr val="accent3">
                            <a:lumMod val="75000"/>
                          </a:schemeClr>
                        </a:solidFill>
                        <a:latin typeface="Cambria Math" panose="02040503050406030204" pitchFamily="18" charset="0"/>
                        <a:cs typeface="Times New Roman" panose="02020603050405020304" pitchFamily="18" charset="0"/>
                      </a:rPr>
                      <m:t>⋅</m:t>
                    </m:r>
                    <m:sSub>
                      <m:sSubPr>
                        <m:ctrlPr>
                          <a:rPr lang="en-US" sz="2600" b="1" i="1" smtClean="0">
                            <a:solidFill>
                              <a:schemeClr val="accent3">
                                <a:lumMod val="75000"/>
                              </a:schemeClr>
                            </a:solidFill>
                            <a:latin typeface="Cambria Math" panose="02040503050406030204" pitchFamily="18" charset="0"/>
                            <a:cs typeface="Times New Roman" panose="02020603050405020304" pitchFamily="18" charset="0"/>
                          </a:rPr>
                        </m:ctrlPr>
                      </m:sSubPr>
                      <m:e>
                        <m:r>
                          <a:rPr lang="en-US" sz="2600" b="1" i="1" smtClean="0">
                            <a:solidFill>
                              <a:schemeClr val="accent3">
                                <a:lumMod val="75000"/>
                              </a:schemeClr>
                            </a:solidFill>
                            <a:latin typeface="Cambria Math" panose="02040503050406030204" pitchFamily="18" charset="0"/>
                            <a:cs typeface="Times New Roman" panose="02020603050405020304" pitchFamily="18" charset="0"/>
                          </a:rPr>
                          <m:t>𝜷</m:t>
                        </m:r>
                      </m:e>
                      <m:sub>
                        <m:r>
                          <a:rPr lang="en-US" sz="2600" b="1" i="1" smtClean="0">
                            <a:solidFill>
                              <a:schemeClr val="accent3">
                                <a:lumMod val="75000"/>
                              </a:schemeClr>
                            </a:solidFill>
                            <a:latin typeface="Cambria Math" panose="02040503050406030204" pitchFamily="18" charset="0"/>
                            <a:cs typeface="Times New Roman" panose="02020603050405020304" pitchFamily="18" charset="0"/>
                          </a:rPr>
                          <m:t>𝟏</m:t>
                        </m:r>
                      </m:sub>
                    </m:sSub>
                  </m:oMath>
                </a14:m>
                <a:r>
                  <a:rPr lang="en-US" sz="2600" b="1" dirty="0">
                    <a:solidFill>
                      <a:schemeClr val="accent3">
                        <a:lumMod val="75000"/>
                      </a:schemeClr>
                    </a:solidFill>
                    <a:cs typeface="Times New Roman" panose="02020603050405020304" pitchFamily="18" charset="0"/>
                  </a:rPr>
                  <a:t> increase in </a:t>
                </a:r>
                <a14:m>
                  <m:oMath xmlns:m="http://schemas.openxmlformats.org/officeDocument/2006/math">
                    <m:r>
                      <a:rPr lang="en-US" sz="2600" b="1" i="1" smtClean="0">
                        <a:solidFill>
                          <a:schemeClr val="accent3">
                            <a:lumMod val="75000"/>
                          </a:schemeClr>
                        </a:solidFill>
                        <a:latin typeface="Cambria Math" panose="02040503050406030204" pitchFamily="18" charset="0"/>
                        <a:cs typeface="Times New Roman" panose="02020603050405020304" pitchFamily="18" charset="0"/>
                      </a:rPr>
                      <m:t>𝒚</m:t>
                    </m:r>
                  </m:oMath>
                </a14:m>
                <a:endParaRPr lang="en-US" sz="2600" b="1" dirty="0">
                  <a:solidFill>
                    <a:schemeClr val="accent3">
                      <a:lumMod val="75000"/>
                    </a:schemeClr>
                  </a:solidFill>
                  <a:cs typeface="Times New Roman" panose="02020603050405020304" pitchFamily="18" charset="0"/>
                </a:endParaRPr>
              </a:p>
              <a:p>
                <a:r>
                  <a:rPr lang="en-US" sz="2600" dirty="0">
                    <a:cs typeface="Times New Roman" panose="02020603050405020304" pitchFamily="18" charset="0"/>
                  </a:rPr>
                  <a:t>What about the model: </a:t>
                </a:r>
                <a14:m>
                  <m:oMath xmlns:m="http://schemas.openxmlformats.org/officeDocument/2006/math">
                    <m:r>
                      <m:rPr>
                        <m:sty m:val="p"/>
                      </m:rPr>
                      <a:rPr lang="en-US" sz="2600" b="0" i="1" smtClean="0">
                        <a:latin typeface="Cambria Math" panose="02040503050406030204" pitchFamily="18" charset="0"/>
                        <a:cs typeface="Times New Roman" panose="02020603050405020304" pitchFamily="18" charset="0"/>
                      </a:rPr>
                      <m:t>ln</m:t>
                    </m:r>
                    <m:d>
                      <m:dPr>
                        <m:ctrlPr>
                          <a:rPr lang="en-US" sz="2600" b="0" i="1" smtClean="0">
                            <a:latin typeface="Cambria Math" panose="02040503050406030204" pitchFamily="18" charset="0"/>
                            <a:cs typeface="Times New Roman" panose="02020603050405020304" pitchFamily="18" charset="0"/>
                          </a:rPr>
                        </m:ctrlPr>
                      </m:dPr>
                      <m:e>
                        <m:r>
                          <a:rPr lang="en-US" sz="2600" b="0" i="1" smtClean="0">
                            <a:latin typeface="Cambria Math" panose="02040503050406030204" pitchFamily="18" charset="0"/>
                            <a:cs typeface="Times New Roman" panose="02020603050405020304" pitchFamily="18" charset="0"/>
                          </a:rPr>
                          <m:t>𝑦</m:t>
                        </m:r>
                      </m:e>
                    </m:d>
                    <m:r>
                      <a:rPr lang="en-US" sz="2600" b="0" i="1" smtClean="0">
                        <a:latin typeface="Cambria Math" panose="02040503050406030204" pitchFamily="18" charset="0"/>
                        <a:cs typeface="Times New Roman" panose="02020603050405020304" pitchFamily="18" charset="0"/>
                      </a:rPr>
                      <m:t>=</m:t>
                    </m:r>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𝛽</m:t>
                        </m:r>
                      </m:e>
                      <m:sub>
                        <m:r>
                          <a:rPr lang="en-US" sz="2600" b="0" i="1" smtClean="0">
                            <a:latin typeface="Cambria Math" panose="02040503050406030204" pitchFamily="18" charset="0"/>
                            <a:cs typeface="Times New Roman" panose="02020603050405020304" pitchFamily="18" charset="0"/>
                          </a:rPr>
                          <m:t>0</m:t>
                        </m:r>
                      </m:sub>
                    </m:sSub>
                    <m:r>
                      <a:rPr lang="en-US" sz="2600" b="0" i="1" smtClean="0">
                        <a:latin typeface="Cambria Math" panose="02040503050406030204" pitchFamily="18" charset="0"/>
                        <a:cs typeface="Times New Roman" panose="02020603050405020304" pitchFamily="18" charset="0"/>
                      </a:rPr>
                      <m:t>+</m:t>
                    </m:r>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𝛽</m:t>
                        </m:r>
                      </m:e>
                      <m:sub>
                        <m:r>
                          <a:rPr lang="en-US" sz="2600" b="0" i="1" smtClean="0">
                            <a:latin typeface="Cambria Math" panose="02040503050406030204" pitchFamily="18" charset="0"/>
                            <a:cs typeface="Times New Roman" panose="02020603050405020304" pitchFamily="18" charset="0"/>
                          </a:rPr>
                          <m:t>1</m:t>
                        </m:r>
                      </m:sub>
                    </m:sSub>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𝑥</m:t>
                        </m:r>
                      </m:e>
                      <m:sub>
                        <m:r>
                          <a:rPr lang="en-US" sz="2600" b="0" i="1" smtClean="0">
                            <a:latin typeface="Cambria Math" panose="02040503050406030204" pitchFamily="18" charset="0"/>
                            <a:cs typeface="Times New Roman" panose="02020603050405020304" pitchFamily="18" charset="0"/>
                          </a:rPr>
                          <m:t>1</m:t>
                        </m:r>
                      </m:sub>
                    </m:sSub>
                    <m:r>
                      <a:rPr lang="en-US" sz="2600" b="0" i="1" smtClean="0">
                        <a:latin typeface="Cambria Math" panose="02040503050406030204" pitchFamily="18" charset="0"/>
                        <a:cs typeface="Times New Roman" panose="02020603050405020304" pitchFamily="18" charset="0"/>
                      </a:rPr>
                      <m:t>+</m:t>
                    </m:r>
                    <m:r>
                      <a:rPr lang="en-US" sz="2600" b="0" i="1" smtClean="0">
                        <a:latin typeface="Cambria Math" panose="02040503050406030204" pitchFamily="18" charset="0"/>
                        <a:cs typeface="Times New Roman" panose="02020603050405020304" pitchFamily="18" charset="0"/>
                      </a:rPr>
                      <m:t>𝜀</m:t>
                    </m:r>
                  </m:oMath>
                </a14:m>
                <a:r>
                  <a:rPr lang="en-US" sz="2600" dirty="0">
                    <a:cs typeface="Times New Roman" panose="02020603050405020304" pitchFamily="18" charset="0"/>
                  </a:rPr>
                  <a:t>?</a:t>
                </a:r>
              </a:p>
              <a:p>
                <a:pPr lvl="1"/>
                <a:r>
                  <a:rPr lang="en-US" sz="2400" dirty="0">
                    <a:cs typeface="Times New Roman" panose="02020603050405020304" pitchFamily="18" charset="0"/>
                  </a:rPr>
                  <a:t>Now, a 1-unit change in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oMath>
                </a14:m>
                <a:r>
                  <a:rPr lang="en-US" sz="2400" dirty="0">
                    <a:cs typeface="Times New Roman" panose="02020603050405020304" pitchFamily="18" charset="0"/>
                  </a:rPr>
                  <a:t> is associated with a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⋅100%</m:t>
                    </m:r>
                  </m:oMath>
                </a14:m>
                <a:r>
                  <a:rPr lang="en-US" sz="2400" dirty="0">
                    <a:cs typeface="Times New Roman" panose="02020603050405020304" pitchFamily="18" charset="0"/>
                  </a:rPr>
                  <a:t> change in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𝑦</m:t>
                    </m:r>
                  </m:oMath>
                </a14:m>
                <a:r>
                  <a:rPr lang="en-US" sz="2400" dirty="0">
                    <a:cs typeface="Times New Roman" panose="02020603050405020304" pitchFamily="18" charset="0"/>
                  </a:rPr>
                  <a:t>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3"/>
                <a:stretch>
                  <a:fillRect l="-525" t="-1305"/>
                </a:stretch>
              </a:blipFill>
            </p:spPr>
            <p:txBody>
              <a:bodyPr/>
              <a:lstStyle/>
              <a:p>
                <a:r>
                  <a:rPr lang="en-CA">
                    <a:noFill/>
                  </a:rPr>
                  <a:t> </a:t>
                </a:r>
              </a:p>
            </p:txBody>
          </p:sp>
        </mc:Fallback>
      </mc:AlternateContent>
    </p:spTree>
    <p:extLst>
      <p:ext uri="{BB962C8B-B14F-4D97-AF65-F5344CB8AC3E}">
        <p14:creationId xmlns:p14="http://schemas.microsoft.com/office/powerpoint/2010/main" val="342432517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How to interpret coefficients on transformed variables?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rmAutofit/>
              </a:bodyPr>
              <a:lstStyle/>
              <a:p>
                <a:r>
                  <a:rPr lang="en-US" sz="2400" dirty="0">
                    <a:cs typeface="Times New Roman" panose="02020603050405020304" pitchFamily="18" charset="0"/>
                  </a:rPr>
                  <a:t>Let’s focus on </a:t>
                </a:r>
                <a14:m>
                  <m:oMath xmlns:m="http://schemas.openxmlformats.org/officeDocument/2006/math">
                    <m:r>
                      <m:rPr>
                        <m:sty m:val="p"/>
                      </m:rPr>
                      <a:rPr lang="en-US" sz="2400" b="0" i="0" smtClean="0">
                        <a:latin typeface="Cambria Math" panose="02040503050406030204" pitchFamily="18" charset="0"/>
                        <a:cs typeface="Times New Roman" panose="02020603050405020304" pitchFamily="18" charset="0"/>
                      </a:rPr>
                      <m:t>ln</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𝑥</m:t>
                    </m:r>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for now: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𝑦</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func>
                      <m:funcPr>
                        <m:ctrlPr>
                          <a:rPr lang="en-US" sz="2400" b="0" i="1" smtClean="0">
                            <a:latin typeface="Cambria Math" panose="02040503050406030204" pitchFamily="18" charset="0"/>
                            <a:cs typeface="Times New Roman" panose="02020603050405020304" pitchFamily="18" charset="0"/>
                          </a:rPr>
                        </m:ctrlPr>
                      </m:funcPr>
                      <m:fName>
                        <m:r>
                          <m:rPr>
                            <m:sty m:val="p"/>
                          </m:rPr>
                          <a:rPr lang="en-US" sz="2400" b="0" i="0" smtClean="0">
                            <a:latin typeface="Cambria Math" panose="02040503050406030204" pitchFamily="18" charset="0"/>
                            <a:cs typeface="Times New Roman" panose="02020603050405020304" pitchFamily="18" charset="0"/>
                          </a:rPr>
                          <m:t>ln</m:t>
                        </m:r>
                      </m:fName>
                      <m:e>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e>
                        </m:d>
                      </m:e>
                    </m:func>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𝜀</m:t>
                    </m:r>
                  </m:oMath>
                </a14:m>
                <a:endParaRPr lang="en-US" sz="2400" dirty="0">
                  <a:cs typeface="Times New Roman" panose="02020603050405020304" pitchFamily="18" charset="0"/>
                </a:endParaRPr>
              </a:p>
              <a:p>
                <a:pPr lvl="1"/>
                <a:r>
                  <a:rPr lang="en-US" sz="2400" dirty="0">
                    <a:cs typeface="Times New Roman" panose="02020603050405020304" pitchFamily="18" charset="0"/>
                  </a:rPr>
                  <a:t>If </a:t>
                </a:r>
                <a14:m>
                  <m:oMath xmlns:m="http://schemas.openxmlformats.org/officeDocument/2006/math">
                    <m:func>
                      <m:funcPr>
                        <m:ctrlPr>
                          <a:rPr lang="en-US" sz="2400" b="0" i="1" smtClean="0">
                            <a:latin typeface="Cambria Math" panose="02040503050406030204" pitchFamily="18" charset="0"/>
                            <a:cs typeface="Times New Roman" panose="02020603050405020304" pitchFamily="18" charset="0"/>
                          </a:rPr>
                        </m:ctrlPr>
                      </m:funcPr>
                      <m:fName>
                        <m:r>
                          <m:rPr>
                            <m:sty m:val="p"/>
                          </m:rPr>
                          <a:rPr lang="en-US" sz="2400" b="0" i="0" smtClean="0">
                            <a:latin typeface="Cambria Math" panose="02040503050406030204" pitchFamily="18" charset="0"/>
                            <a:cs typeface="Times New Roman" panose="02020603050405020304" pitchFamily="18" charset="0"/>
                          </a:rPr>
                          <m:t>ln</m:t>
                        </m:r>
                      </m:fName>
                      <m:e>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e>
                        </m:d>
                      </m:e>
                    </m:func>
                  </m:oMath>
                </a14:m>
                <a:r>
                  <a:rPr lang="en-US" sz="2400" dirty="0">
                    <a:cs typeface="Times New Roman" panose="02020603050405020304" pitchFamily="18" charset="0"/>
                  </a:rPr>
                  <a:t> goes up by </a:t>
                </a:r>
                <a14:m>
                  <m:oMath xmlns:m="http://schemas.openxmlformats.org/officeDocument/2006/math">
                    <m:r>
                      <a:rPr lang="en-US" sz="2400" b="0" i="0" smtClean="0">
                        <a:latin typeface="Cambria Math" panose="02040503050406030204" pitchFamily="18" charset="0"/>
                        <a:cs typeface="Times New Roman" panose="02020603050405020304" pitchFamily="18" charset="0"/>
                      </a:rPr>
                      <m:t>1</m:t>
                    </m:r>
                  </m:oMath>
                </a14:m>
                <a:r>
                  <a:rPr lang="en-US" sz="2400" dirty="0">
                    <a:cs typeface="Times New Roman" panose="02020603050405020304" pitchFamily="18" charset="0"/>
                  </a:rPr>
                  <a:t>, then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𝑦</m:t>
                    </m:r>
                  </m:oMath>
                </a14:m>
                <a:r>
                  <a:rPr lang="en-US" sz="2400" dirty="0">
                    <a:cs typeface="Times New Roman" panose="02020603050405020304" pitchFamily="18" charset="0"/>
                  </a:rPr>
                  <a:t> increases by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oMath>
                </a14:m>
                <a:endParaRPr lang="en-US" sz="2400" dirty="0">
                  <a:cs typeface="Times New Roman" panose="02020603050405020304" pitchFamily="18" charset="0"/>
                </a:endParaRPr>
              </a:p>
              <a:p>
                <a:pPr lvl="1"/>
                <a:r>
                  <a:rPr lang="en-US" sz="2400" dirty="0">
                    <a:cs typeface="Times New Roman" panose="02020603050405020304" pitchFamily="18" charset="0"/>
                  </a:rPr>
                  <a:t>Okay, but what does it mean for ln</a:t>
                </a:r>
                <a14:m>
                  <m:oMath xmlns:m="http://schemas.openxmlformats.org/officeDocument/2006/math">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e>
                    </m:d>
                  </m:oMath>
                </a14:m>
                <a:r>
                  <a:rPr lang="en-US" sz="2400" dirty="0">
                    <a:cs typeface="Times New Roman" panose="02020603050405020304" pitchFamily="18" charset="0"/>
                  </a:rPr>
                  <a:t> to change by a certain amount? </a:t>
                </a:r>
              </a:p>
              <a:p>
                <a:pPr lvl="1"/>
                <a:r>
                  <a:rPr lang="en-US" sz="2400" dirty="0">
                    <a:cs typeface="Times New Roman" panose="02020603050405020304" pitchFamily="18" charset="0"/>
                  </a:rPr>
                  <a:t>It’s helpful to think about </a:t>
                </a:r>
                <a:r>
                  <a:rPr lang="en-US" sz="2400" b="1" dirty="0">
                    <a:solidFill>
                      <a:schemeClr val="accent2">
                        <a:lumMod val="75000"/>
                      </a:schemeClr>
                    </a:solidFill>
                    <a:cs typeface="Times New Roman" panose="02020603050405020304" pitchFamily="18" charset="0"/>
                  </a:rPr>
                  <a:t>percentage changes </a:t>
                </a:r>
                <a:r>
                  <a:rPr lang="en-US" sz="2400" dirty="0">
                    <a:cs typeface="Times New Roman" panose="02020603050405020304" pitchFamily="18" charset="0"/>
                  </a:rPr>
                  <a:t>in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oMath>
                </a14:m>
                <a:endParaRPr lang="en-US" sz="2400" dirty="0">
                  <a:cs typeface="Times New Roman" panose="02020603050405020304" pitchFamily="18" charset="0"/>
                </a:endParaRPr>
              </a:p>
              <a:p>
                <a:r>
                  <a:rPr lang="en-US" sz="2600" dirty="0">
                    <a:cs typeface="Times New Roman" panose="02020603050405020304" pitchFamily="18" charset="0"/>
                  </a:rPr>
                  <a:t>A 10% increase in </a:t>
                </a:r>
                <a14:m>
                  <m:oMath xmlns:m="http://schemas.openxmlformats.org/officeDocument/2006/math">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𝑥</m:t>
                        </m:r>
                      </m:e>
                      <m:sub>
                        <m:r>
                          <a:rPr lang="en-US" sz="2600" b="0" i="1" smtClean="0">
                            <a:latin typeface="Cambria Math" panose="02040503050406030204" pitchFamily="18" charset="0"/>
                            <a:cs typeface="Times New Roman" panose="02020603050405020304" pitchFamily="18" charset="0"/>
                          </a:rPr>
                          <m:t>1</m:t>
                        </m:r>
                      </m:sub>
                    </m:sSub>
                  </m:oMath>
                </a14:m>
                <a:r>
                  <a:rPr lang="en-US" sz="2600" dirty="0">
                    <a:cs typeface="Times New Roman" panose="02020603050405020304" pitchFamily="18" charset="0"/>
                  </a:rPr>
                  <a:t> is associated with a </a:t>
                </a:r>
                <a14:m>
                  <m:oMath xmlns:m="http://schemas.openxmlformats.org/officeDocument/2006/math">
                    <m:r>
                      <a:rPr lang="en-US" sz="2600" b="0" i="1" smtClean="0">
                        <a:latin typeface="Cambria Math" panose="02040503050406030204" pitchFamily="18" charset="0"/>
                        <a:cs typeface="Times New Roman" panose="02020603050405020304" pitchFamily="18" charset="0"/>
                      </a:rPr>
                      <m:t>.1⋅</m:t>
                    </m:r>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𝛽</m:t>
                        </m:r>
                      </m:e>
                      <m:sub>
                        <m:r>
                          <a:rPr lang="en-US" sz="2600" b="0" i="1" smtClean="0">
                            <a:latin typeface="Cambria Math" panose="02040503050406030204" pitchFamily="18" charset="0"/>
                            <a:cs typeface="Times New Roman" panose="02020603050405020304" pitchFamily="18" charset="0"/>
                          </a:rPr>
                          <m:t>1</m:t>
                        </m:r>
                      </m:sub>
                    </m:sSub>
                  </m:oMath>
                </a14:m>
                <a:r>
                  <a:rPr lang="en-US" sz="2600" dirty="0">
                    <a:cs typeface="Times New Roman" panose="02020603050405020304" pitchFamily="18" charset="0"/>
                  </a:rPr>
                  <a:t> increase in </a:t>
                </a:r>
                <a14:m>
                  <m:oMath xmlns:m="http://schemas.openxmlformats.org/officeDocument/2006/math">
                    <m:r>
                      <a:rPr lang="en-US" sz="2600" b="0" i="1" smtClean="0">
                        <a:latin typeface="Cambria Math" panose="02040503050406030204" pitchFamily="18" charset="0"/>
                        <a:cs typeface="Times New Roman" panose="02020603050405020304" pitchFamily="18" charset="0"/>
                      </a:rPr>
                      <m:t>𝑦</m:t>
                    </m:r>
                  </m:oMath>
                </a14:m>
                <a:endParaRPr lang="en-US" sz="2600" dirty="0">
                  <a:cs typeface="Times New Roman" panose="02020603050405020304" pitchFamily="18" charset="0"/>
                </a:endParaRPr>
              </a:p>
              <a:p>
                <a:r>
                  <a:rPr lang="en-US" sz="2600" dirty="0">
                    <a:cs typeface="Times New Roman" panose="02020603050405020304" pitchFamily="18" charset="0"/>
                  </a:rPr>
                  <a:t>What about the model: </a:t>
                </a:r>
                <a14:m>
                  <m:oMath xmlns:m="http://schemas.openxmlformats.org/officeDocument/2006/math">
                    <m:r>
                      <m:rPr>
                        <m:sty m:val="p"/>
                      </m:rPr>
                      <a:rPr lang="en-US" sz="2600" b="0" i="1" smtClean="0">
                        <a:latin typeface="Cambria Math" panose="02040503050406030204" pitchFamily="18" charset="0"/>
                        <a:cs typeface="Times New Roman" panose="02020603050405020304" pitchFamily="18" charset="0"/>
                      </a:rPr>
                      <m:t>ln</m:t>
                    </m:r>
                    <m:d>
                      <m:dPr>
                        <m:ctrlPr>
                          <a:rPr lang="en-US" sz="2600" b="0" i="1" smtClean="0">
                            <a:latin typeface="Cambria Math" panose="02040503050406030204" pitchFamily="18" charset="0"/>
                            <a:cs typeface="Times New Roman" panose="02020603050405020304" pitchFamily="18" charset="0"/>
                          </a:rPr>
                        </m:ctrlPr>
                      </m:dPr>
                      <m:e>
                        <m:r>
                          <a:rPr lang="en-US" sz="2600" b="0" i="1" smtClean="0">
                            <a:latin typeface="Cambria Math" panose="02040503050406030204" pitchFamily="18" charset="0"/>
                            <a:cs typeface="Times New Roman" panose="02020603050405020304" pitchFamily="18" charset="0"/>
                          </a:rPr>
                          <m:t>𝑦</m:t>
                        </m:r>
                      </m:e>
                    </m:d>
                    <m:r>
                      <a:rPr lang="en-US" sz="2600" b="0" i="1" smtClean="0">
                        <a:latin typeface="Cambria Math" panose="02040503050406030204" pitchFamily="18" charset="0"/>
                        <a:cs typeface="Times New Roman" panose="02020603050405020304" pitchFamily="18" charset="0"/>
                      </a:rPr>
                      <m:t>=</m:t>
                    </m:r>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𝛽</m:t>
                        </m:r>
                      </m:e>
                      <m:sub>
                        <m:r>
                          <a:rPr lang="en-US" sz="2600" b="0" i="1" smtClean="0">
                            <a:latin typeface="Cambria Math" panose="02040503050406030204" pitchFamily="18" charset="0"/>
                            <a:cs typeface="Times New Roman" panose="02020603050405020304" pitchFamily="18" charset="0"/>
                          </a:rPr>
                          <m:t>0</m:t>
                        </m:r>
                      </m:sub>
                    </m:sSub>
                    <m:r>
                      <a:rPr lang="en-US" sz="2600" b="0" i="1" smtClean="0">
                        <a:latin typeface="Cambria Math" panose="02040503050406030204" pitchFamily="18" charset="0"/>
                        <a:cs typeface="Times New Roman" panose="02020603050405020304" pitchFamily="18" charset="0"/>
                      </a:rPr>
                      <m:t>+</m:t>
                    </m:r>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𝛽</m:t>
                        </m:r>
                      </m:e>
                      <m:sub>
                        <m:r>
                          <a:rPr lang="en-US" sz="2600" b="0" i="1" smtClean="0">
                            <a:latin typeface="Cambria Math" panose="02040503050406030204" pitchFamily="18" charset="0"/>
                            <a:cs typeface="Times New Roman" panose="02020603050405020304" pitchFamily="18" charset="0"/>
                          </a:rPr>
                          <m:t>1</m:t>
                        </m:r>
                      </m:sub>
                    </m:sSub>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𝑥</m:t>
                        </m:r>
                      </m:e>
                      <m:sub>
                        <m:r>
                          <a:rPr lang="en-US" sz="2600" b="0" i="1" smtClean="0">
                            <a:latin typeface="Cambria Math" panose="02040503050406030204" pitchFamily="18" charset="0"/>
                            <a:cs typeface="Times New Roman" panose="02020603050405020304" pitchFamily="18" charset="0"/>
                          </a:rPr>
                          <m:t>1</m:t>
                        </m:r>
                      </m:sub>
                    </m:sSub>
                    <m:r>
                      <a:rPr lang="en-US" sz="2600" b="0" i="1" smtClean="0">
                        <a:latin typeface="Cambria Math" panose="02040503050406030204" pitchFamily="18" charset="0"/>
                        <a:cs typeface="Times New Roman" panose="02020603050405020304" pitchFamily="18" charset="0"/>
                      </a:rPr>
                      <m:t>+</m:t>
                    </m:r>
                    <m:r>
                      <a:rPr lang="en-US" sz="2600" b="0" i="1" smtClean="0">
                        <a:latin typeface="Cambria Math" panose="02040503050406030204" pitchFamily="18" charset="0"/>
                        <a:cs typeface="Times New Roman" panose="02020603050405020304" pitchFamily="18" charset="0"/>
                      </a:rPr>
                      <m:t>𝜀</m:t>
                    </m:r>
                  </m:oMath>
                </a14:m>
                <a:r>
                  <a:rPr lang="en-US" sz="2600" dirty="0">
                    <a:cs typeface="Times New Roman" panose="02020603050405020304" pitchFamily="18" charset="0"/>
                  </a:rPr>
                  <a:t>?</a:t>
                </a:r>
              </a:p>
              <a:p>
                <a:pPr lvl="1"/>
                <a:r>
                  <a:rPr lang="en-US" sz="2400" dirty="0">
                    <a:cs typeface="Times New Roman" panose="02020603050405020304" pitchFamily="18" charset="0"/>
                  </a:rPr>
                  <a:t>Now, a 1-unit change in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oMath>
                </a14:m>
                <a:r>
                  <a:rPr lang="en-US" sz="2400" dirty="0">
                    <a:cs typeface="Times New Roman" panose="02020603050405020304" pitchFamily="18" charset="0"/>
                  </a:rPr>
                  <a:t> is associated with a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⋅100%</m:t>
                    </m:r>
                  </m:oMath>
                </a14:m>
                <a:r>
                  <a:rPr lang="en-US" sz="2400" dirty="0">
                    <a:cs typeface="Times New Roman" panose="02020603050405020304" pitchFamily="18" charset="0"/>
                  </a:rPr>
                  <a:t> change in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𝑦</m:t>
                    </m:r>
                  </m:oMath>
                </a14:m>
                <a:r>
                  <a:rPr lang="en-US" sz="2400" dirty="0">
                    <a:cs typeface="Times New Roman" panose="02020603050405020304" pitchFamily="18" charset="0"/>
                  </a:rPr>
                  <a:t> </a:t>
                </a:r>
              </a:p>
              <a:p>
                <a:r>
                  <a:rPr lang="en-US" sz="2600" dirty="0">
                    <a:cs typeface="Times New Roman" panose="02020603050405020304" pitchFamily="18" charset="0"/>
                  </a:rPr>
                  <a:t>What about the model: </a:t>
                </a:r>
                <a14:m>
                  <m:oMath xmlns:m="http://schemas.openxmlformats.org/officeDocument/2006/math">
                    <m:r>
                      <m:rPr>
                        <m:sty m:val="p"/>
                      </m:rPr>
                      <a:rPr lang="en-US" sz="2600" b="0" i="1" smtClean="0">
                        <a:latin typeface="Cambria Math" panose="02040503050406030204" pitchFamily="18" charset="0"/>
                        <a:cs typeface="Times New Roman" panose="02020603050405020304" pitchFamily="18" charset="0"/>
                      </a:rPr>
                      <m:t>ln</m:t>
                    </m:r>
                    <m:d>
                      <m:dPr>
                        <m:ctrlPr>
                          <a:rPr lang="en-US" sz="2600" b="0" i="1" smtClean="0">
                            <a:latin typeface="Cambria Math" panose="02040503050406030204" pitchFamily="18" charset="0"/>
                            <a:cs typeface="Times New Roman" panose="02020603050405020304" pitchFamily="18" charset="0"/>
                          </a:rPr>
                        </m:ctrlPr>
                      </m:dPr>
                      <m:e>
                        <m:r>
                          <a:rPr lang="en-US" sz="2600" b="0" i="1" smtClean="0">
                            <a:latin typeface="Cambria Math" panose="02040503050406030204" pitchFamily="18" charset="0"/>
                            <a:cs typeface="Times New Roman" panose="02020603050405020304" pitchFamily="18" charset="0"/>
                          </a:rPr>
                          <m:t>𝑦</m:t>
                        </m:r>
                      </m:e>
                    </m:d>
                    <m:r>
                      <a:rPr lang="en-US" sz="2600" b="0" i="1" smtClean="0">
                        <a:latin typeface="Cambria Math" panose="02040503050406030204" pitchFamily="18" charset="0"/>
                        <a:cs typeface="Times New Roman" panose="02020603050405020304" pitchFamily="18" charset="0"/>
                      </a:rPr>
                      <m:t>=</m:t>
                    </m:r>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𝛽</m:t>
                        </m:r>
                      </m:e>
                      <m:sub>
                        <m:r>
                          <a:rPr lang="en-US" sz="2600" b="0" i="1" smtClean="0">
                            <a:latin typeface="Cambria Math" panose="02040503050406030204" pitchFamily="18" charset="0"/>
                            <a:cs typeface="Times New Roman" panose="02020603050405020304" pitchFamily="18" charset="0"/>
                          </a:rPr>
                          <m:t>0</m:t>
                        </m:r>
                      </m:sub>
                    </m:sSub>
                    <m:r>
                      <a:rPr lang="en-US" sz="2600" b="0" i="1" smtClean="0">
                        <a:latin typeface="Cambria Math" panose="02040503050406030204" pitchFamily="18" charset="0"/>
                        <a:cs typeface="Times New Roman" panose="02020603050405020304" pitchFamily="18" charset="0"/>
                      </a:rPr>
                      <m:t>+</m:t>
                    </m:r>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𝛽</m:t>
                        </m:r>
                      </m:e>
                      <m:sub>
                        <m:r>
                          <a:rPr lang="en-US" sz="2600" b="0" i="1" smtClean="0">
                            <a:latin typeface="Cambria Math" panose="02040503050406030204" pitchFamily="18" charset="0"/>
                            <a:cs typeface="Times New Roman" panose="02020603050405020304" pitchFamily="18" charset="0"/>
                          </a:rPr>
                          <m:t>1</m:t>
                        </m:r>
                      </m:sub>
                    </m:sSub>
                    <m:sSub>
                      <m:sSubPr>
                        <m:ctrlPr>
                          <a:rPr lang="en-US" sz="2600" b="0" i="1" smtClean="0">
                            <a:latin typeface="Cambria Math" panose="02040503050406030204" pitchFamily="18" charset="0"/>
                            <a:cs typeface="Times New Roman" panose="02020603050405020304" pitchFamily="18" charset="0"/>
                          </a:rPr>
                        </m:ctrlPr>
                      </m:sSubPr>
                      <m:e>
                        <m:r>
                          <m:rPr>
                            <m:sty m:val="p"/>
                          </m:rPr>
                          <a:rPr lang="en-US" sz="2600" b="0" i="0" smtClean="0">
                            <a:latin typeface="Cambria Math" panose="02040503050406030204" pitchFamily="18" charset="0"/>
                            <a:cs typeface="Times New Roman" panose="02020603050405020304" pitchFamily="18" charset="0"/>
                          </a:rPr>
                          <m:t>ln</m:t>
                        </m:r>
                        <m:r>
                          <a:rPr lang="en-US" sz="2600" b="0" i="1" smtClean="0">
                            <a:latin typeface="Cambria Math" panose="02040503050406030204" pitchFamily="18" charset="0"/>
                            <a:cs typeface="Times New Roman" panose="02020603050405020304" pitchFamily="18" charset="0"/>
                          </a:rPr>
                          <m:t>⁡(</m:t>
                        </m:r>
                        <m:r>
                          <a:rPr lang="en-US" sz="2600" b="0" i="1" smtClean="0">
                            <a:latin typeface="Cambria Math" panose="02040503050406030204" pitchFamily="18" charset="0"/>
                            <a:cs typeface="Times New Roman" panose="02020603050405020304" pitchFamily="18" charset="0"/>
                          </a:rPr>
                          <m:t>𝑥</m:t>
                        </m:r>
                      </m:e>
                      <m:sub>
                        <m:r>
                          <a:rPr lang="en-US" sz="2600" b="0" i="1" smtClean="0">
                            <a:latin typeface="Cambria Math" panose="02040503050406030204" pitchFamily="18" charset="0"/>
                            <a:cs typeface="Times New Roman" panose="02020603050405020304" pitchFamily="18" charset="0"/>
                          </a:rPr>
                          <m:t>1</m:t>
                        </m:r>
                      </m:sub>
                    </m:sSub>
                    <m:r>
                      <a:rPr lang="en-US" sz="2600" b="0" i="1" smtClean="0">
                        <a:latin typeface="Cambria Math" panose="02040503050406030204" pitchFamily="18" charset="0"/>
                        <a:cs typeface="Times New Roman" panose="02020603050405020304" pitchFamily="18" charset="0"/>
                      </a:rPr>
                      <m:t>)+</m:t>
                    </m:r>
                    <m:r>
                      <a:rPr lang="en-US" sz="2600" b="0" i="1" smtClean="0">
                        <a:latin typeface="Cambria Math" panose="02040503050406030204" pitchFamily="18" charset="0"/>
                        <a:cs typeface="Times New Roman" panose="02020603050405020304" pitchFamily="18" charset="0"/>
                      </a:rPr>
                      <m:t>𝜀</m:t>
                    </m:r>
                  </m:oMath>
                </a14:m>
                <a:r>
                  <a:rPr lang="en-US" sz="2600" dirty="0">
                    <a:cs typeface="Times New Roman" panose="02020603050405020304" pitchFamily="18" charset="0"/>
                  </a:rPr>
                  <a:t>?</a:t>
                </a:r>
              </a:p>
              <a:p>
                <a:pPr lvl="1"/>
                <a:r>
                  <a:rPr lang="en-US" sz="2400" dirty="0">
                    <a:cs typeface="Times New Roman" panose="02020603050405020304" pitchFamily="18" charset="0"/>
                  </a:rPr>
                  <a:t>Referred to as a “log-log” model</a:t>
                </a:r>
              </a:p>
              <a:p>
                <a:pPr lvl="1"/>
                <a:r>
                  <a:rPr lang="en-US" sz="2400" dirty="0">
                    <a:cs typeface="Times New Roman" panose="02020603050405020304" pitchFamily="18" charset="0"/>
                  </a:rPr>
                  <a:t>Now, an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𝛼</m:t>
                    </m:r>
                  </m:oMath>
                </a14:m>
                <a:r>
                  <a:rPr lang="en-US" sz="2400" dirty="0">
                    <a:cs typeface="Times New Roman" panose="02020603050405020304" pitchFamily="18" charset="0"/>
                  </a:rPr>
                  <a:t>% increase in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oMath>
                </a14:m>
                <a:r>
                  <a:rPr lang="en-US" sz="2400" dirty="0">
                    <a:cs typeface="Times New Roman" panose="02020603050405020304" pitchFamily="18" charset="0"/>
                  </a:rPr>
                  <a:t> is associated with a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𝛼</m:t>
                    </m:r>
                  </m:oMath>
                </a14:m>
                <a:r>
                  <a:rPr lang="en-US" sz="2400" dirty="0">
                    <a:cs typeface="Times New Roman" panose="02020603050405020304" pitchFamily="18" charset="0"/>
                  </a:rPr>
                  <a:t>% increase in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𝑦</m:t>
                    </m:r>
                  </m:oMath>
                </a14:m>
                <a:endParaRPr lang="en-US" sz="2400" dirty="0">
                  <a:cs typeface="Times New Roman" panose="02020603050405020304" pitchFamily="18" charset="0"/>
                </a:endParaRPr>
              </a:p>
              <a:p>
                <a:endParaRPr lang="en-US" sz="26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3"/>
                <a:stretch>
                  <a:fillRect l="-525" t="-1305"/>
                </a:stretch>
              </a:blipFill>
            </p:spPr>
            <p:txBody>
              <a:bodyPr/>
              <a:lstStyle/>
              <a:p>
                <a:r>
                  <a:rPr lang="en-CA">
                    <a:noFill/>
                  </a:rPr>
                  <a:t> </a:t>
                </a:r>
              </a:p>
            </p:txBody>
          </p:sp>
        </mc:Fallback>
      </mc:AlternateContent>
    </p:spTree>
    <p:extLst>
      <p:ext uri="{BB962C8B-B14F-4D97-AF65-F5344CB8AC3E}">
        <p14:creationId xmlns:p14="http://schemas.microsoft.com/office/powerpoint/2010/main" val="37451979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What kinds of transformations exist?</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62001" y="1066801"/>
                <a:ext cx="10287000" cy="5141388"/>
              </a:xfrm>
            </p:spPr>
            <p:txBody>
              <a:bodyPr>
                <a:normAutofit/>
              </a:bodyPr>
              <a:lstStyle/>
              <a:p>
                <a:r>
                  <a:rPr lang="en-US" sz="2400" dirty="0">
                    <a:cs typeface="Times New Roman" panose="02020603050405020304" pitchFamily="18" charset="0"/>
                  </a:rPr>
                  <a:t>See “The Effect” for a (more) exhaustive list (pg. 214)</a:t>
                </a:r>
              </a:p>
              <a:p>
                <a:pPr marL="457200" indent="-457200">
                  <a:buFont typeface="+mj-lt"/>
                  <a:buAutoNum type="arabicPeriod"/>
                </a:pPr>
                <a:r>
                  <a:rPr lang="en-US" sz="2400" b="1" dirty="0">
                    <a:solidFill>
                      <a:schemeClr val="accent2">
                        <a:lumMod val="75000"/>
                      </a:schemeClr>
                    </a:solidFill>
                    <a:cs typeface="Times New Roman" panose="02020603050405020304" pitchFamily="18" charset="0"/>
                  </a:rPr>
                  <a:t>Natural Log </a:t>
                </a:r>
                <a:r>
                  <a:rPr lang="en-US" sz="2400" dirty="0">
                    <a:cs typeface="Times New Roman" panose="02020603050405020304" pitchFamily="18" charset="0"/>
                  </a:rPr>
                  <a:t>– tried and true</a:t>
                </a:r>
              </a:p>
              <a:p>
                <a:pPr lvl="1"/>
                <a:r>
                  <a:rPr lang="en-US" sz="2200" dirty="0">
                    <a:cs typeface="Times New Roman" panose="02020603050405020304" pitchFamily="18" charset="0"/>
                  </a:rPr>
                  <a:t>But, recall that ln(0) is undefined – what if we have zero-valued data? </a:t>
                </a:r>
              </a:p>
              <a:p>
                <a:pPr marL="457200" indent="-457200">
                  <a:buFont typeface="+mj-lt"/>
                  <a:buAutoNum type="arabicPeriod"/>
                </a:pPr>
                <a:r>
                  <a:rPr lang="en-US" sz="2400" b="1" dirty="0">
                    <a:solidFill>
                      <a:schemeClr val="accent2">
                        <a:lumMod val="75000"/>
                      </a:schemeClr>
                    </a:solidFill>
                    <a:cs typeface="Times New Roman" panose="02020603050405020304" pitchFamily="18" charset="0"/>
                  </a:rPr>
                  <a:t>The Cheater</a:t>
                </a:r>
                <a:r>
                  <a:rPr lang="en-US" sz="2400" dirty="0">
                    <a:cs typeface="Times New Roman" panose="02020603050405020304" pitchFamily="18" charset="0"/>
                  </a:rPr>
                  <a:t>: </a:t>
                </a:r>
                <a14:m>
                  <m:oMath xmlns:m="http://schemas.openxmlformats.org/officeDocument/2006/math">
                    <m:r>
                      <m:rPr>
                        <m:sty m:val="p"/>
                      </m:rPr>
                      <a:rPr lang="en-US" sz="2400" b="0" i="1" smtClean="0">
                        <a:latin typeface="Cambria Math" panose="02040503050406030204" pitchFamily="18" charset="0"/>
                        <a:cs typeface="Times New Roman" panose="02020603050405020304" pitchFamily="18" charset="0"/>
                      </a:rPr>
                      <m:t>ln</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𝑥</m:t>
                        </m:r>
                        <m:r>
                          <a:rPr lang="en-US" sz="2400" b="0" i="1" smtClean="0">
                            <a:latin typeface="Cambria Math" panose="02040503050406030204" pitchFamily="18" charset="0"/>
                            <a:cs typeface="Times New Roman" panose="02020603050405020304" pitchFamily="18" charset="0"/>
                          </a:rPr>
                          <m:t>+1</m:t>
                        </m:r>
                      </m:e>
                    </m:d>
                  </m:oMath>
                </a14:m>
                <a:endParaRPr lang="en-US" sz="2400" b="1" dirty="0">
                  <a:cs typeface="Times New Roman" panose="02020603050405020304" pitchFamily="18" charset="0"/>
                </a:endParaRPr>
              </a:p>
              <a:p>
                <a:pPr lvl="1"/>
                <a:r>
                  <a:rPr lang="en-US" sz="2200" dirty="0">
                    <a:cs typeface="Times New Roman" panose="02020603050405020304" pitchFamily="18" charset="0"/>
                  </a:rPr>
                  <a:t>Common workaround, but loses some useful properties of the log</a:t>
                </a:r>
              </a:p>
              <a:p>
                <a:pPr marL="457200" indent="-457200">
                  <a:buFont typeface="+mj-lt"/>
                  <a:buAutoNum type="arabicPeriod"/>
                </a:pPr>
                <a:r>
                  <a:rPr lang="en-US" sz="2400" b="1" dirty="0">
                    <a:solidFill>
                      <a:schemeClr val="accent2">
                        <a:lumMod val="75000"/>
                      </a:schemeClr>
                    </a:solidFill>
                    <a:cs typeface="Times New Roman" panose="02020603050405020304" pitchFamily="18" charset="0"/>
                  </a:rPr>
                  <a:t>Inverse Hyperbolic Sine</a:t>
                </a:r>
                <a:r>
                  <a:rPr lang="en-US" sz="2400" b="1" dirty="0">
                    <a:cs typeface="Times New Roman" panose="02020603050405020304" pitchFamily="18" charset="0"/>
                  </a:rPr>
                  <a:t>: </a:t>
                </a:r>
                <a14:m>
                  <m:oMath xmlns:m="http://schemas.openxmlformats.org/officeDocument/2006/math">
                    <m:func>
                      <m:funcPr>
                        <m:ctrlPr>
                          <a:rPr lang="en-US" sz="2400" b="0" i="1" smtClean="0">
                            <a:latin typeface="Cambria Math" panose="02040503050406030204" pitchFamily="18" charset="0"/>
                            <a:cs typeface="Times New Roman" panose="02020603050405020304" pitchFamily="18" charset="0"/>
                          </a:rPr>
                        </m:ctrlPr>
                      </m:funcPr>
                      <m:fName>
                        <m:sSup>
                          <m:sSupPr>
                            <m:ctrlPr>
                              <a:rPr lang="en-US" sz="2400" b="0" i="1" smtClean="0">
                                <a:latin typeface="Cambria Math" panose="02040503050406030204" pitchFamily="18" charset="0"/>
                                <a:cs typeface="Times New Roman" panose="02020603050405020304" pitchFamily="18" charset="0"/>
                              </a:rPr>
                            </m:ctrlPr>
                          </m:sSupPr>
                          <m:e>
                            <m:r>
                              <m:rPr>
                                <m:sty m:val="p"/>
                              </m:rPr>
                              <a:rPr lang="en-US" sz="2400" b="0" i="0" smtClean="0">
                                <a:latin typeface="Cambria Math" panose="02040503050406030204" pitchFamily="18" charset="0"/>
                                <a:cs typeface="Times New Roman" panose="02020603050405020304" pitchFamily="18" charset="0"/>
                              </a:rPr>
                              <m:t>sinh</m:t>
                            </m:r>
                          </m:e>
                          <m:sup>
                            <m:r>
                              <a:rPr lang="en-US" sz="2400" b="0" i="1" smtClean="0">
                                <a:latin typeface="Cambria Math" panose="02040503050406030204" pitchFamily="18" charset="0"/>
                                <a:cs typeface="Times New Roman" panose="02020603050405020304" pitchFamily="18" charset="0"/>
                              </a:rPr>
                              <m:t>−1</m:t>
                            </m:r>
                          </m:sup>
                        </m:sSup>
                      </m:fName>
                      <m:e>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𝑥</m:t>
                        </m:r>
                        <m:r>
                          <a:rPr lang="en-US" sz="2400" b="0" i="1" smtClean="0">
                            <a:latin typeface="Cambria Math" panose="02040503050406030204" pitchFamily="18" charset="0"/>
                            <a:cs typeface="Times New Roman" panose="02020603050405020304" pitchFamily="18" charset="0"/>
                          </a:rPr>
                          <m:t>)</m:t>
                        </m:r>
                      </m:e>
                    </m:func>
                  </m:oMath>
                </a14:m>
                <a:endParaRPr lang="en-US" sz="2400" b="0" dirty="0">
                  <a:cs typeface="Times New Roman" panose="02020603050405020304" pitchFamily="18" charset="0"/>
                </a:endParaRPr>
              </a:p>
              <a:p>
                <a:pPr lvl="1"/>
                <a:r>
                  <a:rPr lang="en-US" sz="2200" dirty="0">
                    <a:cs typeface="Times New Roman" panose="02020603050405020304" pitchFamily="18" charset="0"/>
                  </a:rPr>
                  <a:t>When </a:t>
                </a:r>
                <a14:m>
                  <m:oMath xmlns:m="http://schemas.openxmlformats.org/officeDocument/2006/math">
                    <m:r>
                      <a:rPr lang="en-US" sz="2200" b="0" i="1" smtClean="0">
                        <a:latin typeface="Cambria Math" panose="02040503050406030204" pitchFamily="18" charset="0"/>
                        <a:cs typeface="Times New Roman" panose="02020603050405020304" pitchFamily="18" charset="0"/>
                      </a:rPr>
                      <m:t>𝑥</m:t>
                    </m:r>
                  </m:oMath>
                </a14:m>
                <a:r>
                  <a:rPr lang="en-US" sz="2200" dirty="0">
                    <a:cs typeface="Times New Roman" panose="02020603050405020304" pitchFamily="18" charset="0"/>
                  </a:rPr>
                  <a:t> is large (&gt;10), approximates (1) nicely</a:t>
                </a:r>
              </a:p>
              <a:p>
                <a:pPr lvl="1"/>
                <a:r>
                  <a:rPr lang="en-US" sz="2200" dirty="0">
                    <a:cs typeface="Times New Roman" panose="02020603050405020304" pitchFamily="18" charset="0"/>
                  </a:rPr>
                  <a:t>Plus, </a:t>
                </a:r>
                <a14:m>
                  <m:oMath xmlns:m="http://schemas.openxmlformats.org/officeDocument/2006/math">
                    <m:func>
                      <m:funcPr>
                        <m:ctrlPr>
                          <a:rPr lang="en-US" sz="2200" b="0" i="1" smtClean="0">
                            <a:latin typeface="Cambria Math" panose="02040503050406030204" pitchFamily="18" charset="0"/>
                            <a:cs typeface="Times New Roman" panose="02020603050405020304" pitchFamily="18" charset="0"/>
                          </a:rPr>
                        </m:ctrlPr>
                      </m:funcPr>
                      <m:fName>
                        <m:sSup>
                          <m:sSupPr>
                            <m:ctrlPr>
                              <a:rPr lang="en-US" sz="2200" b="0" i="1" smtClean="0">
                                <a:latin typeface="Cambria Math" panose="02040503050406030204" pitchFamily="18" charset="0"/>
                                <a:cs typeface="Times New Roman" panose="02020603050405020304" pitchFamily="18" charset="0"/>
                              </a:rPr>
                            </m:ctrlPr>
                          </m:sSupPr>
                          <m:e>
                            <m:r>
                              <m:rPr>
                                <m:sty m:val="p"/>
                              </m:rPr>
                              <a:rPr lang="en-US" sz="2200" b="0" i="0" smtClean="0">
                                <a:latin typeface="Cambria Math" panose="02040503050406030204" pitchFamily="18" charset="0"/>
                                <a:cs typeface="Times New Roman" panose="02020603050405020304" pitchFamily="18" charset="0"/>
                              </a:rPr>
                              <m:t>sinh</m:t>
                            </m:r>
                          </m:e>
                          <m:sup>
                            <m:r>
                              <a:rPr lang="en-US" sz="2200" b="0" i="1" smtClean="0">
                                <a:latin typeface="Cambria Math" panose="02040503050406030204" pitchFamily="18" charset="0"/>
                                <a:cs typeface="Times New Roman" panose="02020603050405020304" pitchFamily="18" charset="0"/>
                              </a:rPr>
                              <m:t>−1</m:t>
                            </m:r>
                          </m:sup>
                        </m:sSup>
                      </m:fName>
                      <m:e>
                        <m:d>
                          <m:dPr>
                            <m:ctrlPr>
                              <a:rPr lang="en-US" sz="2200" b="0" i="1" smtClean="0">
                                <a:latin typeface="Cambria Math" panose="02040503050406030204" pitchFamily="18" charset="0"/>
                                <a:cs typeface="Times New Roman" panose="02020603050405020304" pitchFamily="18" charset="0"/>
                              </a:rPr>
                            </m:ctrlPr>
                          </m:dPr>
                          <m:e>
                            <m:r>
                              <a:rPr lang="en-US" sz="2200" b="0" i="1" smtClean="0">
                                <a:latin typeface="Cambria Math" panose="02040503050406030204" pitchFamily="18" charset="0"/>
                                <a:cs typeface="Times New Roman" panose="02020603050405020304" pitchFamily="18" charset="0"/>
                              </a:rPr>
                              <m:t>0</m:t>
                            </m:r>
                          </m:e>
                        </m:d>
                        <m:r>
                          <a:rPr lang="en-US" sz="2200" b="0" i="1" smtClean="0">
                            <a:latin typeface="Cambria Math" panose="02040503050406030204" pitchFamily="18" charset="0"/>
                            <a:cs typeface="Times New Roman" panose="02020603050405020304" pitchFamily="18" charset="0"/>
                          </a:rPr>
                          <m:t>=0</m:t>
                        </m:r>
                      </m:e>
                    </m:func>
                  </m:oMath>
                </a14:m>
                <a:endParaRPr lang="en-US" sz="2200" dirty="0">
                  <a:cs typeface="Times New Roman" panose="02020603050405020304" pitchFamily="18" charset="0"/>
                </a:endParaRPr>
              </a:p>
              <a:p>
                <a:pPr lvl="1"/>
                <a:r>
                  <a:rPr lang="en-US" sz="2200" dirty="0">
                    <a:cs typeface="Times New Roman" panose="02020603050405020304" pitchFamily="18" charset="0"/>
                  </a:rPr>
                  <a:t>This is what I recommend</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62001" y="1066801"/>
                <a:ext cx="10287000" cy="5141388"/>
              </a:xfrm>
              <a:blipFill>
                <a:blip r:embed="rId3"/>
                <a:stretch>
                  <a:fillRect l="-474" t="-1305"/>
                </a:stretch>
              </a:blipFill>
            </p:spPr>
            <p:txBody>
              <a:bodyPr/>
              <a:lstStyle/>
              <a:p>
                <a:r>
                  <a:rPr lang="en-CA">
                    <a:noFill/>
                  </a:rPr>
                  <a:t> </a:t>
                </a:r>
              </a:p>
            </p:txBody>
          </p:sp>
        </mc:Fallback>
      </mc:AlternateContent>
    </p:spTree>
    <p:extLst>
      <p:ext uri="{BB962C8B-B14F-4D97-AF65-F5344CB8AC3E}">
        <p14:creationId xmlns:p14="http://schemas.microsoft.com/office/powerpoint/2010/main" val="376259605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What kinds of transformations exist?</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829801" cy="5141388"/>
              </a:xfrm>
            </p:spPr>
            <p:txBody>
              <a:bodyPr>
                <a:normAutofit/>
              </a:bodyPr>
              <a:lstStyle/>
              <a:p>
                <a:r>
                  <a:rPr lang="en-US" sz="2400" dirty="0">
                    <a:cs typeface="Times New Roman" panose="02020603050405020304" pitchFamily="18" charset="0"/>
                  </a:rPr>
                  <a:t>See “The Effect” for a (more) exhaustive list (pg. 214)</a:t>
                </a:r>
              </a:p>
              <a:p>
                <a:pPr marL="457200" indent="-457200">
                  <a:buFont typeface="+mj-lt"/>
                  <a:buAutoNum type="arabicPeriod"/>
                </a:pPr>
                <a:r>
                  <a:rPr lang="en-US" sz="2400" b="1" dirty="0">
                    <a:solidFill>
                      <a:schemeClr val="accent2">
                        <a:lumMod val="75000"/>
                      </a:schemeClr>
                    </a:solidFill>
                    <a:cs typeface="Times New Roman" panose="02020603050405020304" pitchFamily="18" charset="0"/>
                  </a:rPr>
                  <a:t>Natural Log </a:t>
                </a:r>
                <a:r>
                  <a:rPr lang="en-US" sz="2400" dirty="0">
                    <a:cs typeface="Times New Roman" panose="02020603050405020304" pitchFamily="18" charset="0"/>
                  </a:rPr>
                  <a:t>– tried and true</a:t>
                </a:r>
              </a:p>
              <a:p>
                <a:pPr lvl="1"/>
                <a:r>
                  <a:rPr lang="en-US" sz="2200" dirty="0">
                    <a:cs typeface="Times New Roman" panose="02020603050405020304" pitchFamily="18" charset="0"/>
                  </a:rPr>
                  <a:t>But, recall that ln(0) is undefined – what if we have zero-valued data? </a:t>
                </a:r>
              </a:p>
              <a:p>
                <a:pPr marL="457200" indent="-457200">
                  <a:buFont typeface="+mj-lt"/>
                  <a:buAutoNum type="arabicPeriod"/>
                </a:pPr>
                <a:r>
                  <a:rPr lang="en-US" sz="2400" b="1" dirty="0">
                    <a:solidFill>
                      <a:schemeClr val="accent2">
                        <a:lumMod val="75000"/>
                      </a:schemeClr>
                    </a:solidFill>
                    <a:cs typeface="Times New Roman" panose="02020603050405020304" pitchFamily="18" charset="0"/>
                  </a:rPr>
                  <a:t>The Cheater</a:t>
                </a:r>
                <a:r>
                  <a:rPr lang="en-US" sz="2400" dirty="0">
                    <a:cs typeface="Times New Roman" panose="02020603050405020304" pitchFamily="18" charset="0"/>
                  </a:rPr>
                  <a:t>: </a:t>
                </a:r>
                <a14:m>
                  <m:oMath xmlns:m="http://schemas.openxmlformats.org/officeDocument/2006/math">
                    <m:r>
                      <m:rPr>
                        <m:sty m:val="p"/>
                      </m:rPr>
                      <a:rPr lang="en-US" sz="2400" b="0" i="1" smtClean="0">
                        <a:latin typeface="Cambria Math" panose="02040503050406030204" pitchFamily="18" charset="0"/>
                        <a:cs typeface="Times New Roman" panose="02020603050405020304" pitchFamily="18" charset="0"/>
                      </a:rPr>
                      <m:t>ln</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𝑥</m:t>
                        </m:r>
                        <m:r>
                          <a:rPr lang="en-US" sz="2400" b="0" i="1" smtClean="0">
                            <a:latin typeface="Cambria Math" panose="02040503050406030204" pitchFamily="18" charset="0"/>
                            <a:cs typeface="Times New Roman" panose="02020603050405020304" pitchFamily="18" charset="0"/>
                          </a:rPr>
                          <m:t>+1</m:t>
                        </m:r>
                      </m:e>
                    </m:d>
                  </m:oMath>
                </a14:m>
                <a:endParaRPr lang="en-US" sz="2400" b="1" dirty="0">
                  <a:cs typeface="Times New Roman" panose="02020603050405020304" pitchFamily="18" charset="0"/>
                </a:endParaRPr>
              </a:p>
              <a:p>
                <a:pPr lvl="1"/>
                <a:r>
                  <a:rPr lang="en-US" sz="2200" dirty="0">
                    <a:cs typeface="Times New Roman" panose="02020603050405020304" pitchFamily="18" charset="0"/>
                  </a:rPr>
                  <a:t>Common workaround, but loses some useful properties of the log</a:t>
                </a:r>
              </a:p>
              <a:p>
                <a:pPr marL="457200" indent="-457200">
                  <a:buFont typeface="+mj-lt"/>
                  <a:buAutoNum type="arabicPeriod"/>
                </a:pPr>
                <a:r>
                  <a:rPr lang="en-US" sz="2400" b="1" dirty="0">
                    <a:solidFill>
                      <a:schemeClr val="accent2">
                        <a:lumMod val="75000"/>
                      </a:schemeClr>
                    </a:solidFill>
                    <a:cs typeface="Times New Roman" panose="02020603050405020304" pitchFamily="18" charset="0"/>
                  </a:rPr>
                  <a:t>Inverse Hyperbolic Sine</a:t>
                </a:r>
                <a:r>
                  <a:rPr lang="en-US" sz="2400" b="1" dirty="0">
                    <a:cs typeface="Times New Roman" panose="02020603050405020304" pitchFamily="18" charset="0"/>
                  </a:rPr>
                  <a:t>: </a:t>
                </a:r>
                <a14:m>
                  <m:oMath xmlns:m="http://schemas.openxmlformats.org/officeDocument/2006/math">
                    <m:func>
                      <m:funcPr>
                        <m:ctrlPr>
                          <a:rPr lang="en-US" sz="2400" b="0" i="1" smtClean="0">
                            <a:latin typeface="Cambria Math" panose="02040503050406030204" pitchFamily="18" charset="0"/>
                            <a:cs typeface="Times New Roman" panose="02020603050405020304" pitchFamily="18" charset="0"/>
                          </a:rPr>
                        </m:ctrlPr>
                      </m:funcPr>
                      <m:fName>
                        <m:sSup>
                          <m:sSupPr>
                            <m:ctrlPr>
                              <a:rPr lang="en-US" sz="2400" b="0" i="1" smtClean="0">
                                <a:latin typeface="Cambria Math" panose="02040503050406030204" pitchFamily="18" charset="0"/>
                                <a:cs typeface="Times New Roman" panose="02020603050405020304" pitchFamily="18" charset="0"/>
                              </a:rPr>
                            </m:ctrlPr>
                          </m:sSupPr>
                          <m:e>
                            <m:r>
                              <m:rPr>
                                <m:sty m:val="p"/>
                              </m:rPr>
                              <a:rPr lang="en-US" sz="2400" b="0" i="0" smtClean="0">
                                <a:latin typeface="Cambria Math" panose="02040503050406030204" pitchFamily="18" charset="0"/>
                                <a:cs typeface="Times New Roman" panose="02020603050405020304" pitchFamily="18" charset="0"/>
                              </a:rPr>
                              <m:t>sinh</m:t>
                            </m:r>
                          </m:e>
                          <m:sup>
                            <m:r>
                              <a:rPr lang="en-US" sz="2400" b="0" i="1" smtClean="0">
                                <a:latin typeface="Cambria Math" panose="02040503050406030204" pitchFamily="18" charset="0"/>
                                <a:cs typeface="Times New Roman" panose="02020603050405020304" pitchFamily="18" charset="0"/>
                              </a:rPr>
                              <m:t>−1</m:t>
                            </m:r>
                          </m:sup>
                        </m:sSup>
                      </m:fName>
                      <m:e>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𝑥</m:t>
                        </m:r>
                        <m:r>
                          <a:rPr lang="en-US" sz="2400" b="0" i="1" smtClean="0">
                            <a:latin typeface="Cambria Math" panose="02040503050406030204" pitchFamily="18" charset="0"/>
                            <a:cs typeface="Times New Roman" panose="02020603050405020304" pitchFamily="18" charset="0"/>
                          </a:rPr>
                          <m:t>)</m:t>
                        </m:r>
                      </m:e>
                    </m:func>
                  </m:oMath>
                </a14:m>
                <a:endParaRPr lang="en-US" sz="2400" b="0" dirty="0">
                  <a:cs typeface="Times New Roman" panose="02020603050405020304" pitchFamily="18" charset="0"/>
                </a:endParaRPr>
              </a:p>
              <a:p>
                <a:pPr lvl="1"/>
                <a:r>
                  <a:rPr lang="en-US" sz="2200" dirty="0">
                    <a:cs typeface="Times New Roman" panose="02020603050405020304" pitchFamily="18" charset="0"/>
                  </a:rPr>
                  <a:t>When </a:t>
                </a:r>
                <a14:m>
                  <m:oMath xmlns:m="http://schemas.openxmlformats.org/officeDocument/2006/math">
                    <m:r>
                      <a:rPr lang="en-US" sz="2200" b="0" i="1" smtClean="0">
                        <a:latin typeface="Cambria Math" panose="02040503050406030204" pitchFamily="18" charset="0"/>
                        <a:cs typeface="Times New Roman" panose="02020603050405020304" pitchFamily="18" charset="0"/>
                      </a:rPr>
                      <m:t>𝑥</m:t>
                    </m:r>
                  </m:oMath>
                </a14:m>
                <a:r>
                  <a:rPr lang="en-US" sz="2200" dirty="0">
                    <a:cs typeface="Times New Roman" panose="02020603050405020304" pitchFamily="18" charset="0"/>
                  </a:rPr>
                  <a:t> is large (&gt;10), approximates (1) nicely</a:t>
                </a:r>
              </a:p>
              <a:p>
                <a:pPr lvl="1"/>
                <a:r>
                  <a:rPr lang="en-US" sz="2200" dirty="0">
                    <a:cs typeface="Times New Roman" panose="02020603050405020304" pitchFamily="18" charset="0"/>
                  </a:rPr>
                  <a:t>Plus, </a:t>
                </a:r>
                <a14:m>
                  <m:oMath xmlns:m="http://schemas.openxmlformats.org/officeDocument/2006/math">
                    <m:func>
                      <m:funcPr>
                        <m:ctrlPr>
                          <a:rPr lang="en-US" sz="2200" b="0" i="1" smtClean="0">
                            <a:latin typeface="Cambria Math" panose="02040503050406030204" pitchFamily="18" charset="0"/>
                            <a:cs typeface="Times New Roman" panose="02020603050405020304" pitchFamily="18" charset="0"/>
                          </a:rPr>
                        </m:ctrlPr>
                      </m:funcPr>
                      <m:fName>
                        <m:sSup>
                          <m:sSupPr>
                            <m:ctrlPr>
                              <a:rPr lang="en-US" sz="2200" b="0" i="1" smtClean="0">
                                <a:latin typeface="Cambria Math" panose="02040503050406030204" pitchFamily="18" charset="0"/>
                                <a:cs typeface="Times New Roman" panose="02020603050405020304" pitchFamily="18" charset="0"/>
                              </a:rPr>
                            </m:ctrlPr>
                          </m:sSupPr>
                          <m:e>
                            <m:r>
                              <m:rPr>
                                <m:sty m:val="p"/>
                              </m:rPr>
                              <a:rPr lang="en-US" sz="2200" b="0" i="0" smtClean="0">
                                <a:latin typeface="Cambria Math" panose="02040503050406030204" pitchFamily="18" charset="0"/>
                                <a:cs typeface="Times New Roman" panose="02020603050405020304" pitchFamily="18" charset="0"/>
                              </a:rPr>
                              <m:t>sinh</m:t>
                            </m:r>
                          </m:e>
                          <m:sup>
                            <m:r>
                              <a:rPr lang="en-US" sz="2200" b="0" i="1" smtClean="0">
                                <a:latin typeface="Cambria Math" panose="02040503050406030204" pitchFamily="18" charset="0"/>
                                <a:cs typeface="Times New Roman" panose="02020603050405020304" pitchFamily="18" charset="0"/>
                              </a:rPr>
                              <m:t>−1</m:t>
                            </m:r>
                          </m:sup>
                        </m:sSup>
                      </m:fName>
                      <m:e>
                        <m:d>
                          <m:dPr>
                            <m:ctrlPr>
                              <a:rPr lang="en-US" sz="2200" b="0" i="1" smtClean="0">
                                <a:latin typeface="Cambria Math" panose="02040503050406030204" pitchFamily="18" charset="0"/>
                                <a:cs typeface="Times New Roman" panose="02020603050405020304" pitchFamily="18" charset="0"/>
                              </a:rPr>
                            </m:ctrlPr>
                          </m:dPr>
                          <m:e>
                            <m:r>
                              <a:rPr lang="en-US" sz="2200" b="0" i="1" smtClean="0">
                                <a:latin typeface="Cambria Math" panose="02040503050406030204" pitchFamily="18" charset="0"/>
                                <a:cs typeface="Times New Roman" panose="02020603050405020304" pitchFamily="18" charset="0"/>
                              </a:rPr>
                              <m:t>0</m:t>
                            </m:r>
                          </m:e>
                        </m:d>
                        <m:r>
                          <a:rPr lang="en-US" sz="2200" b="0" i="1" smtClean="0">
                            <a:latin typeface="Cambria Math" panose="02040503050406030204" pitchFamily="18" charset="0"/>
                            <a:cs typeface="Times New Roman" panose="02020603050405020304" pitchFamily="18" charset="0"/>
                          </a:rPr>
                          <m:t>=0</m:t>
                        </m:r>
                      </m:e>
                    </m:func>
                  </m:oMath>
                </a14:m>
                <a:endParaRPr lang="en-US" sz="2200" dirty="0">
                  <a:cs typeface="Times New Roman" panose="02020603050405020304" pitchFamily="18" charset="0"/>
                </a:endParaRPr>
              </a:p>
              <a:p>
                <a:pPr marL="457200" indent="-457200">
                  <a:buFont typeface="+mj-lt"/>
                  <a:buAutoNum type="arabicPeriod"/>
                </a:pPr>
                <a:r>
                  <a:rPr lang="en-US" sz="2400" b="1" dirty="0">
                    <a:solidFill>
                      <a:schemeClr val="accent2">
                        <a:lumMod val="75000"/>
                      </a:schemeClr>
                    </a:solidFill>
                    <a:cs typeface="Times New Roman" panose="02020603050405020304" pitchFamily="18" charset="0"/>
                  </a:rPr>
                  <a:t>Standardizing Variables</a:t>
                </a:r>
                <a:r>
                  <a:rPr lang="en-US" sz="2400" b="1" dirty="0">
                    <a:cs typeface="Times New Roman" panose="02020603050405020304" pitchFamily="18" charset="0"/>
                  </a:rPr>
                  <a:t>: </a:t>
                </a:r>
                <a14:m>
                  <m:oMath xmlns:m="http://schemas.openxmlformats.org/officeDocument/2006/math">
                    <m:f>
                      <m:fPr>
                        <m:ctrlPr>
                          <a:rPr lang="en-US" sz="2400" b="0" i="1" smtClean="0">
                            <a:latin typeface="Cambria Math" panose="02040503050406030204" pitchFamily="18" charset="0"/>
                            <a:cs typeface="Times New Roman" panose="02020603050405020304" pitchFamily="18" charset="0"/>
                          </a:rPr>
                        </m:ctrlPr>
                      </m:fPr>
                      <m:num>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𝜇</m:t>
                            </m:r>
                          </m:e>
                          <m:sub>
                            <m:r>
                              <a:rPr lang="en-US" sz="2400" b="0" i="1" smtClean="0">
                                <a:latin typeface="Cambria Math" panose="02040503050406030204" pitchFamily="18" charset="0"/>
                                <a:cs typeface="Times New Roman" panose="02020603050405020304" pitchFamily="18" charset="0"/>
                              </a:rPr>
                              <m:t>𝑋</m:t>
                            </m:r>
                          </m:sub>
                        </m:sSub>
                      </m:num>
                      <m:den>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𝜎</m:t>
                            </m:r>
                          </m:e>
                          <m:sub>
                            <m:r>
                              <a:rPr lang="en-US" sz="2400" b="0" i="1" smtClean="0">
                                <a:latin typeface="Cambria Math" panose="02040503050406030204" pitchFamily="18" charset="0"/>
                                <a:cs typeface="Times New Roman" panose="02020603050405020304" pitchFamily="18" charset="0"/>
                              </a:rPr>
                              <m:t>𝑥</m:t>
                            </m:r>
                          </m:sub>
                        </m:sSub>
                      </m:den>
                    </m:f>
                  </m:oMath>
                </a14:m>
                <a:endParaRPr lang="en-US" sz="2400" dirty="0">
                  <a:cs typeface="Times New Roman" panose="02020603050405020304" pitchFamily="18" charset="0"/>
                </a:endParaRPr>
              </a:p>
              <a:p>
                <a:pPr lvl="1"/>
                <a:r>
                  <a:rPr lang="en-US" sz="2200" dirty="0">
                    <a:cs typeface="Times New Roman" panose="02020603050405020304" pitchFamily="18" charset="0"/>
                  </a:rPr>
                  <a:t>Helps with interpretation of the model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829801" cy="5141388"/>
              </a:xfrm>
              <a:blipFill>
                <a:blip r:embed="rId3"/>
                <a:stretch>
                  <a:fillRect l="-496" t="-1305"/>
                </a:stretch>
              </a:blipFill>
            </p:spPr>
            <p:txBody>
              <a:bodyPr/>
              <a:lstStyle/>
              <a:p>
                <a:r>
                  <a:rPr lang="en-CA">
                    <a:noFill/>
                  </a:rPr>
                  <a:t> </a:t>
                </a:r>
              </a:p>
            </p:txBody>
          </p:sp>
        </mc:Fallback>
      </mc:AlternateContent>
      <p:sp>
        <p:nvSpPr>
          <p:cNvPr id="4" name="TextBox 3">
            <a:extLst>
              <a:ext uri="{FF2B5EF4-FFF2-40B4-BE49-F238E27FC236}">
                <a16:creationId xmlns:a16="http://schemas.microsoft.com/office/drawing/2014/main" id="{F6D73B5A-C8A3-6B57-A0F2-FD43B23C24BE}"/>
              </a:ext>
            </a:extLst>
          </p:cNvPr>
          <p:cNvSpPr txBox="1"/>
          <p:nvPr/>
        </p:nvSpPr>
        <p:spPr>
          <a:xfrm>
            <a:off x="7239000" y="4419600"/>
            <a:ext cx="3657600" cy="830997"/>
          </a:xfrm>
          <a:prstGeom prst="rect">
            <a:avLst/>
          </a:prstGeom>
          <a:solidFill>
            <a:schemeClr val="accent2"/>
          </a:solidFill>
        </p:spPr>
        <p:txBody>
          <a:bodyPr wrap="square" rtlCol="0">
            <a:spAutoFit/>
          </a:bodyPr>
          <a:lstStyle/>
          <a:p>
            <a:r>
              <a:rPr lang="en-US" sz="2400" dirty="0">
                <a:solidFill>
                  <a:schemeClr val="bg1"/>
                </a:solidFill>
                <a:latin typeface="Aptos" panose="020B0004020202020204" pitchFamily="34" charset="0"/>
              </a:rPr>
              <a:t>What does our case study from last time use?</a:t>
            </a:r>
          </a:p>
        </p:txBody>
      </p:sp>
      <p:pic>
        <p:nvPicPr>
          <p:cNvPr id="5" name="Picture 2" descr="RStudio - RStudio">
            <a:extLst>
              <a:ext uri="{FF2B5EF4-FFF2-40B4-BE49-F238E27FC236}">
                <a16:creationId xmlns:a16="http://schemas.microsoft.com/office/drawing/2014/main" id="{7C716F7A-4788-75DF-3347-FDBDC1C335B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263161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p:txBody>
          <a:bodyPr/>
          <a:lstStyle/>
          <a:p>
            <a:r>
              <a:rPr lang="en-US" dirty="0"/>
              <a:t>Interaction Effects</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9347544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What is an Interaction?</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829801" cy="5141388"/>
              </a:xfrm>
            </p:spPr>
            <p:txBody>
              <a:bodyPr>
                <a:normAutofit/>
              </a:bodyPr>
              <a:lstStyle/>
              <a:p>
                <a:r>
                  <a:rPr lang="en-US" sz="2400" dirty="0">
                    <a:cs typeface="Times New Roman" panose="02020603050405020304" pitchFamily="18" charset="0"/>
                  </a:rPr>
                  <a:t>Suppose we want to know the effect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dirty="0">
                    <a:cs typeface="Times New Roman" panose="02020603050405020304" pitchFamily="18" charset="0"/>
                  </a:rPr>
                  <a:t> on </a:t>
                </a:r>
                <a14:m>
                  <m:oMath xmlns:m="http://schemas.openxmlformats.org/officeDocument/2006/math">
                    <m:r>
                      <a:rPr lang="en-US" sz="2400" b="0" i="1" smtClean="0">
                        <a:solidFill>
                          <a:srgbClr val="0070C0"/>
                        </a:solidFill>
                        <a:latin typeface="Cambria Math" panose="02040503050406030204" pitchFamily="18" charset="0"/>
                        <a:cs typeface="Times New Roman" panose="02020603050405020304" pitchFamily="18" charset="0"/>
                      </a:rPr>
                      <m:t>𝑌</m:t>
                    </m:r>
                  </m:oMath>
                </a14:m>
                <a:r>
                  <a:rPr lang="en-US" sz="2400" dirty="0">
                    <a:solidFill>
                      <a:srgbClr val="0070C0"/>
                    </a:solidFill>
                    <a:cs typeface="Times New Roman" panose="02020603050405020304" pitchFamily="18" charset="0"/>
                  </a:rPr>
                  <a:t> </a:t>
                </a:r>
                <a:r>
                  <a:rPr lang="en-US" sz="2400" b="1" dirty="0">
                    <a:solidFill>
                      <a:srgbClr val="0070C0"/>
                    </a:solidFill>
                    <a:cs typeface="Times New Roman" panose="02020603050405020304" pitchFamily="18" charset="0"/>
                  </a:rPr>
                  <a:t>specific to </a:t>
                </a:r>
                <a:r>
                  <a:rPr lang="en-US" sz="2400" dirty="0">
                    <a:cs typeface="Times New Roman" panose="02020603050405020304" pitchFamily="18" charset="0"/>
                  </a:rPr>
                  <a:t>groups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𝑍</m:t>
                    </m:r>
                  </m:oMath>
                </a14:m>
                <a:endParaRPr lang="en-US" sz="2400" dirty="0">
                  <a:cs typeface="Times New Roman" panose="02020603050405020304" pitchFamily="18" charset="0"/>
                </a:endParaRPr>
              </a:p>
              <a:p>
                <a:endParaRPr lang="en-US" sz="26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829801" cy="5141388"/>
              </a:xfrm>
              <a:blipFill>
                <a:blip r:embed="rId3"/>
                <a:stretch>
                  <a:fillRect l="-434" t="-1305"/>
                </a:stretch>
              </a:blipFill>
            </p:spPr>
            <p:txBody>
              <a:bodyPr/>
              <a:lstStyle/>
              <a:p>
                <a:r>
                  <a:rPr lang="en-US">
                    <a:noFill/>
                  </a:rPr>
                  <a:t> </a:t>
                </a:r>
              </a:p>
            </p:txBody>
          </p:sp>
        </mc:Fallback>
      </mc:AlternateContent>
    </p:spTree>
    <p:extLst>
      <p:ext uri="{BB962C8B-B14F-4D97-AF65-F5344CB8AC3E}">
        <p14:creationId xmlns:p14="http://schemas.microsoft.com/office/powerpoint/2010/main" val="221769443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What is an Interaction?</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829801" cy="5141388"/>
              </a:xfrm>
            </p:spPr>
            <p:txBody>
              <a:bodyPr>
                <a:normAutofit/>
              </a:bodyPr>
              <a:lstStyle/>
              <a:p>
                <a:r>
                  <a:rPr lang="en-US" sz="2400" dirty="0">
                    <a:cs typeface="Times New Roman" panose="02020603050405020304" pitchFamily="18" charset="0"/>
                  </a:rPr>
                  <a:t>Suppose we want to know the effect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dirty="0">
                    <a:cs typeface="Times New Roman" panose="02020603050405020304" pitchFamily="18" charset="0"/>
                  </a:rPr>
                  <a:t> on </a:t>
                </a:r>
                <a14:m>
                  <m:oMath xmlns:m="http://schemas.openxmlformats.org/officeDocument/2006/math">
                    <m:r>
                      <a:rPr lang="en-US" sz="2400" b="0" i="1" smtClean="0">
                        <a:solidFill>
                          <a:srgbClr val="0070C0"/>
                        </a:solidFill>
                        <a:latin typeface="Cambria Math" panose="02040503050406030204" pitchFamily="18" charset="0"/>
                        <a:cs typeface="Times New Roman" panose="02020603050405020304" pitchFamily="18" charset="0"/>
                      </a:rPr>
                      <m:t>𝑌</m:t>
                    </m:r>
                  </m:oMath>
                </a14:m>
                <a:r>
                  <a:rPr lang="en-US" sz="2400" dirty="0">
                    <a:solidFill>
                      <a:srgbClr val="0070C0"/>
                    </a:solidFill>
                    <a:cs typeface="Times New Roman" panose="02020603050405020304" pitchFamily="18" charset="0"/>
                  </a:rPr>
                  <a:t> </a:t>
                </a:r>
                <a:r>
                  <a:rPr lang="en-US" sz="2400" b="1" dirty="0">
                    <a:solidFill>
                      <a:srgbClr val="0070C0"/>
                    </a:solidFill>
                    <a:cs typeface="Times New Roman" panose="02020603050405020304" pitchFamily="18" charset="0"/>
                  </a:rPr>
                  <a:t>specific to </a:t>
                </a:r>
                <a:r>
                  <a:rPr lang="en-US" sz="2400" dirty="0">
                    <a:cs typeface="Times New Roman" panose="02020603050405020304" pitchFamily="18" charset="0"/>
                  </a:rPr>
                  <a:t>groups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𝑍</m:t>
                    </m:r>
                  </m:oMath>
                </a14:m>
                <a:endParaRPr lang="en-US" sz="2400" b="0" dirty="0">
                  <a:cs typeface="Times New Roman" panose="02020603050405020304" pitchFamily="18" charset="0"/>
                </a:endParaRPr>
              </a:p>
              <a:p>
                <a:r>
                  <a:rPr lang="en-US" sz="2400" dirty="0">
                    <a:cs typeface="Times New Roman" panose="02020603050405020304" pitchFamily="18" charset="0"/>
                  </a:rPr>
                  <a:t>We want to flexibly model how a relationship between two variables </a:t>
                </a:r>
                <a:r>
                  <a:rPr lang="en-US" sz="2400" b="1" dirty="0">
                    <a:solidFill>
                      <a:srgbClr val="0070C0"/>
                    </a:solidFill>
                    <a:cs typeface="Times New Roman" panose="02020603050405020304" pitchFamily="18" charset="0"/>
                  </a:rPr>
                  <a:t>may depend on the levels of a third</a:t>
                </a:r>
              </a:p>
              <a:p>
                <a:pPr marL="0" indent="0">
                  <a:buNone/>
                </a:pPr>
                <a14:m>
                  <m:oMathPara xmlns:m="http://schemas.openxmlformats.org/officeDocument/2006/math">
                    <m:oMathParaPr>
                      <m:jc m:val="centerGroup"/>
                    </m:oMathParaPr>
                    <m:oMath xmlns:m="http://schemas.openxmlformats.org/officeDocument/2006/math">
                      <m:r>
                        <a:rPr lang="en-US" sz="2400" b="0" i="1" smtClean="0">
                          <a:solidFill>
                            <a:srgbClr val="0070C0"/>
                          </a:solidFill>
                          <a:latin typeface="Cambria Math" panose="02040503050406030204" pitchFamily="18" charset="0"/>
                          <a:cs typeface="Times New Roman" panose="02020603050405020304" pitchFamily="18" charset="0"/>
                        </a:rPr>
                        <m:t>𝑌</m:t>
                      </m:r>
                      <m:r>
                        <a:rPr lang="en-US" sz="2400" b="0" i="1" smtClean="0">
                          <a:solidFill>
                            <a:srgbClr val="0070C0"/>
                          </a:solidFill>
                          <a:latin typeface="Cambria Math" panose="02040503050406030204" pitchFamily="18" charset="0"/>
                          <a:cs typeface="Times New Roman" panose="02020603050405020304" pitchFamily="18" charset="0"/>
                        </a:rPr>
                        <m:t>=</m:t>
                      </m:r>
                      <m:sSub>
                        <m:sSubPr>
                          <m:ctrlPr>
                            <a:rPr lang="en-US" sz="2400" b="0" i="1" smtClean="0">
                              <a:solidFill>
                                <a:srgbClr val="0070C0"/>
                              </a:solidFill>
                              <a:latin typeface="Cambria Math" panose="02040503050406030204" pitchFamily="18" charset="0"/>
                              <a:cs typeface="Times New Roman" panose="02020603050405020304" pitchFamily="18" charset="0"/>
                            </a:rPr>
                          </m:ctrlPr>
                        </m:sSubPr>
                        <m:e>
                          <m:r>
                            <a:rPr lang="en-US" sz="2400" b="0" i="1" smtClean="0">
                              <a:solidFill>
                                <a:srgbClr val="0070C0"/>
                              </a:solidFill>
                              <a:latin typeface="Cambria Math" panose="02040503050406030204" pitchFamily="18" charset="0"/>
                              <a:cs typeface="Times New Roman" panose="02020603050405020304" pitchFamily="18" charset="0"/>
                            </a:rPr>
                            <m:t>𝛽</m:t>
                          </m:r>
                        </m:e>
                        <m:sub>
                          <m:r>
                            <a:rPr lang="en-US" sz="2400" b="0" i="1" smtClean="0">
                              <a:solidFill>
                                <a:srgbClr val="0070C0"/>
                              </a:solidFill>
                              <a:latin typeface="Cambria Math" panose="02040503050406030204" pitchFamily="18" charset="0"/>
                              <a:cs typeface="Times New Roman" panose="02020603050405020304" pitchFamily="18" charset="0"/>
                            </a:rPr>
                            <m:t>0</m:t>
                          </m:r>
                        </m:sub>
                      </m:sSub>
                      <m:r>
                        <a:rPr lang="en-US" sz="2400" b="0" i="1" smtClean="0">
                          <a:solidFill>
                            <a:srgbClr val="0070C0"/>
                          </a:solidFill>
                          <a:latin typeface="Cambria Math" panose="02040503050406030204" pitchFamily="18" charset="0"/>
                          <a:cs typeface="Times New Roman" panose="02020603050405020304" pitchFamily="18" charset="0"/>
                        </a:rPr>
                        <m:t>+</m:t>
                      </m:r>
                      <m:sSub>
                        <m:sSubPr>
                          <m:ctrlPr>
                            <a:rPr lang="en-US" sz="2400" b="0" i="1" smtClean="0">
                              <a:solidFill>
                                <a:srgbClr val="0070C0"/>
                              </a:solidFill>
                              <a:latin typeface="Cambria Math" panose="02040503050406030204" pitchFamily="18" charset="0"/>
                              <a:cs typeface="Times New Roman" panose="02020603050405020304" pitchFamily="18" charset="0"/>
                            </a:rPr>
                          </m:ctrlPr>
                        </m:sSubPr>
                        <m:e>
                          <m:r>
                            <a:rPr lang="en-US" sz="2400" b="0" i="1" smtClean="0">
                              <a:solidFill>
                                <a:srgbClr val="0070C0"/>
                              </a:solidFill>
                              <a:latin typeface="Cambria Math" panose="02040503050406030204" pitchFamily="18" charset="0"/>
                              <a:cs typeface="Times New Roman" panose="02020603050405020304" pitchFamily="18" charset="0"/>
                            </a:rPr>
                            <m:t>𝛽</m:t>
                          </m:r>
                        </m:e>
                        <m:sub>
                          <m:r>
                            <a:rPr lang="en-US" sz="2400" b="0" i="1" smtClean="0">
                              <a:solidFill>
                                <a:srgbClr val="0070C0"/>
                              </a:solidFill>
                              <a:latin typeface="Cambria Math" panose="02040503050406030204" pitchFamily="18" charset="0"/>
                              <a:cs typeface="Times New Roman" panose="02020603050405020304" pitchFamily="18" charset="0"/>
                            </a:rPr>
                            <m:t>1</m:t>
                          </m:r>
                        </m:sub>
                      </m:sSub>
                      <m:r>
                        <a:rPr lang="en-US" sz="2400" b="0" i="1" smtClean="0">
                          <a:solidFill>
                            <a:srgbClr val="0070C0"/>
                          </a:solidFill>
                          <a:latin typeface="Cambria Math" panose="02040503050406030204" pitchFamily="18" charset="0"/>
                          <a:cs typeface="Times New Roman" panose="02020603050405020304" pitchFamily="18" charset="0"/>
                        </a:rPr>
                        <m:t>𝑋</m:t>
                      </m:r>
                      <m:r>
                        <a:rPr lang="en-US" sz="2400" b="0" i="1" smtClean="0">
                          <a:solidFill>
                            <a:srgbClr val="0070C0"/>
                          </a:solidFill>
                          <a:latin typeface="Cambria Math" panose="02040503050406030204" pitchFamily="18" charset="0"/>
                          <a:cs typeface="Times New Roman" panose="02020603050405020304" pitchFamily="18" charset="0"/>
                        </a:rPr>
                        <m:t>+</m:t>
                      </m:r>
                      <m:sSub>
                        <m:sSubPr>
                          <m:ctrlPr>
                            <a:rPr lang="en-US" sz="2400" b="0" i="1" smtClean="0">
                              <a:solidFill>
                                <a:srgbClr val="0070C0"/>
                              </a:solidFill>
                              <a:latin typeface="Cambria Math" panose="02040503050406030204" pitchFamily="18" charset="0"/>
                              <a:cs typeface="Times New Roman" panose="02020603050405020304" pitchFamily="18" charset="0"/>
                            </a:rPr>
                          </m:ctrlPr>
                        </m:sSubPr>
                        <m:e>
                          <m:r>
                            <a:rPr lang="en-US" sz="2400" b="0" i="1" smtClean="0">
                              <a:solidFill>
                                <a:srgbClr val="0070C0"/>
                              </a:solidFill>
                              <a:latin typeface="Cambria Math" panose="02040503050406030204" pitchFamily="18" charset="0"/>
                              <a:cs typeface="Times New Roman" panose="02020603050405020304" pitchFamily="18" charset="0"/>
                            </a:rPr>
                            <m:t>𝛽</m:t>
                          </m:r>
                        </m:e>
                        <m:sub>
                          <m:r>
                            <a:rPr lang="en-US" sz="2400" b="0" i="1" smtClean="0">
                              <a:solidFill>
                                <a:srgbClr val="0070C0"/>
                              </a:solidFill>
                              <a:latin typeface="Cambria Math" panose="02040503050406030204" pitchFamily="18" charset="0"/>
                              <a:cs typeface="Times New Roman" panose="02020603050405020304" pitchFamily="18" charset="0"/>
                            </a:rPr>
                            <m:t>2</m:t>
                          </m:r>
                        </m:sub>
                      </m:sSub>
                      <m:r>
                        <a:rPr lang="en-US" sz="2400" b="0" i="1" smtClean="0">
                          <a:solidFill>
                            <a:srgbClr val="0070C0"/>
                          </a:solidFill>
                          <a:latin typeface="Cambria Math" panose="02040503050406030204" pitchFamily="18" charset="0"/>
                          <a:cs typeface="Times New Roman" panose="02020603050405020304" pitchFamily="18" charset="0"/>
                        </a:rPr>
                        <m:t>𝑍</m:t>
                      </m:r>
                      <m:r>
                        <a:rPr lang="en-US" sz="2400" b="0" i="1" smtClean="0">
                          <a:solidFill>
                            <a:srgbClr val="0070C0"/>
                          </a:solidFill>
                          <a:latin typeface="Cambria Math" panose="02040503050406030204" pitchFamily="18" charset="0"/>
                          <a:cs typeface="Times New Roman" panose="02020603050405020304" pitchFamily="18" charset="0"/>
                        </a:rPr>
                        <m:t>+</m:t>
                      </m:r>
                      <m:sSub>
                        <m:sSubPr>
                          <m:ctrlPr>
                            <a:rPr lang="en-US" sz="2400" b="0" i="1" smtClean="0">
                              <a:solidFill>
                                <a:srgbClr val="0070C0"/>
                              </a:solidFill>
                              <a:latin typeface="Cambria Math" panose="02040503050406030204" pitchFamily="18" charset="0"/>
                              <a:cs typeface="Times New Roman" panose="02020603050405020304" pitchFamily="18" charset="0"/>
                            </a:rPr>
                          </m:ctrlPr>
                        </m:sSubPr>
                        <m:e>
                          <m:r>
                            <a:rPr lang="en-US" sz="2400" b="0" i="1" smtClean="0">
                              <a:solidFill>
                                <a:srgbClr val="0070C0"/>
                              </a:solidFill>
                              <a:latin typeface="Cambria Math" panose="02040503050406030204" pitchFamily="18" charset="0"/>
                              <a:cs typeface="Times New Roman" panose="02020603050405020304" pitchFamily="18" charset="0"/>
                            </a:rPr>
                            <m:t>𝛽</m:t>
                          </m:r>
                        </m:e>
                        <m:sub>
                          <m:r>
                            <a:rPr lang="en-US" sz="2400" b="0" i="1" smtClean="0">
                              <a:solidFill>
                                <a:srgbClr val="0070C0"/>
                              </a:solidFill>
                              <a:latin typeface="Cambria Math" panose="02040503050406030204" pitchFamily="18" charset="0"/>
                              <a:cs typeface="Times New Roman" panose="02020603050405020304" pitchFamily="18" charset="0"/>
                            </a:rPr>
                            <m:t>3</m:t>
                          </m:r>
                        </m:sub>
                      </m:sSub>
                      <m:d>
                        <m:dPr>
                          <m:ctrlPr>
                            <a:rPr lang="en-US" sz="2400" b="0" i="1" smtClean="0">
                              <a:solidFill>
                                <a:srgbClr val="0070C0"/>
                              </a:solidFill>
                              <a:latin typeface="Cambria Math" panose="02040503050406030204" pitchFamily="18" charset="0"/>
                              <a:cs typeface="Times New Roman" panose="02020603050405020304" pitchFamily="18" charset="0"/>
                            </a:rPr>
                          </m:ctrlPr>
                        </m:dPr>
                        <m:e>
                          <m:r>
                            <a:rPr lang="en-US" sz="2400" b="0" i="1" smtClean="0">
                              <a:solidFill>
                                <a:srgbClr val="0070C0"/>
                              </a:solidFill>
                              <a:latin typeface="Cambria Math" panose="02040503050406030204" pitchFamily="18" charset="0"/>
                              <a:cs typeface="Times New Roman" panose="02020603050405020304" pitchFamily="18" charset="0"/>
                            </a:rPr>
                            <m:t>𝑋</m:t>
                          </m:r>
                          <m:r>
                            <a:rPr lang="en-US" sz="2400" b="0" i="1" smtClean="0">
                              <a:solidFill>
                                <a:srgbClr val="0070C0"/>
                              </a:solidFill>
                              <a:latin typeface="Cambria Math" panose="02040503050406030204" pitchFamily="18" charset="0"/>
                              <a:cs typeface="Times New Roman" panose="02020603050405020304" pitchFamily="18" charset="0"/>
                            </a:rPr>
                            <m:t>⋅</m:t>
                          </m:r>
                          <m:r>
                            <a:rPr lang="en-US" sz="2400" b="0" i="1" smtClean="0">
                              <a:solidFill>
                                <a:srgbClr val="0070C0"/>
                              </a:solidFill>
                              <a:latin typeface="Cambria Math" panose="02040503050406030204" pitchFamily="18" charset="0"/>
                              <a:cs typeface="Times New Roman" panose="02020603050405020304" pitchFamily="18" charset="0"/>
                            </a:rPr>
                            <m:t>𝑍</m:t>
                          </m:r>
                        </m:e>
                      </m:d>
                      <m:r>
                        <a:rPr lang="en-US" sz="2400" b="0" i="1" smtClean="0">
                          <a:solidFill>
                            <a:srgbClr val="0070C0"/>
                          </a:solidFill>
                          <a:latin typeface="Cambria Math" panose="02040503050406030204" pitchFamily="18" charset="0"/>
                          <a:cs typeface="Times New Roman" panose="02020603050405020304" pitchFamily="18" charset="0"/>
                        </a:rPr>
                        <m:t>+</m:t>
                      </m:r>
                      <m:r>
                        <a:rPr lang="en-US" sz="2400" b="0" i="1" smtClean="0">
                          <a:solidFill>
                            <a:srgbClr val="0070C0"/>
                          </a:solidFill>
                          <a:latin typeface="Cambria Math" panose="02040503050406030204" pitchFamily="18" charset="0"/>
                          <a:cs typeface="Times New Roman" panose="02020603050405020304" pitchFamily="18" charset="0"/>
                        </a:rPr>
                        <m:t>𝜀</m:t>
                      </m:r>
                    </m:oMath>
                  </m:oMathPara>
                </a14:m>
                <a:endParaRPr lang="en-US" sz="2400" dirty="0">
                  <a:solidFill>
                    <a:srgbClr val="0070C0"/>
                  </a:solidFill>
                  <a:cs typeface="Times New Roman" panose="02020603050405020304" pitchFamily="18" charset="0"/>
                </a:endParaRPr>
              </a:p>
              <a:p>
                <a:endParaRPr lang="en-US" sz="26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829801" cy="5141388"/>
              </a:xfrm>
              <a:blipFill>
                <a:blip r:embed="rId3"/>
                <a:stretch>
                  <a:fillRect l="-434" t="-1305"/>
                </a:stretch>
              </a:blipFill>
            </p:spPr>
            <p:txBody>
              <a:bodyPr/>
              <a:lstStyle/>
              <a:p>
                <a:r>
                  <a:rPr lang="en-US">
                    <a:noFill/>
                  </a:rPr>
                  <a:t> </a:t>
                </a:r>
              </a:p>
            </p:txBody>
          </p:sp>
        </mc:Fallback>
      </mc:AlternateContent>
    </p:spTree>
    <p:extLst>
      <p:ext uri="{BB962C8B-B14F-4D97-AF65-F5344CB8AC3E}">
        <p14:creationId xmlns:p14="http://schemas.microsoft.com/office/powerpoint/2010/main" val="33419326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What is an Interaction?</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829801" cy="5141388"/>
              </a:xfrm>
            </p:spPr>
            <p:txBody>
              <a:bodyPr>
                <a:normAutofit/>
              </a:bodyPr>
              <a:lstStyle/>
              <a:p>
                <a:r>
                  <a:rPr lang="en-US" sz="2400" dirty="0">
                    <a:cs typeface="Times New Roman" panose="02020603050405020304" pitchFamily="18" charset="0"/>
                  </a:rPr>
                  <a:t>Suppose we want to know the effect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dirty="0">
                    <a:cs typeface="Times New Roman" panose="02020603050405020304" pitchFamily="18" charset="0"/>
                  </a:rPr>
                  <a:t> on </a:t>
                </a:r>
                <a14:m>
                  <m:oMath xmlns:m="http://schemas.openxmlformats.org/officeDocument/2006/math">
                    <m:r>
                      <a:rPr lang="en-US" sz="2400" b="0" i="1" smtClean="0">
                        <a:solidFill>
                          <a:srgbClr val="0070C0"/>
                        </a:solidFill>
                        <a:latin typeface="Cambria Math" panose="02040503050406030204" pitchFamily="18" charset="0"/>
                        <a:cs typeface="Times New Roman" panose="02020603050405020304" pitchFamily="18" charset="0"/>
                      </a:rPr>
                      <m:t>𝑌</m:t>
                    </m:r>
                  </m:oMath>
                </a14:m>
                <a:r>
                  <a:rPr lang="en-US" sz="2400" dirty="0">
                    <a:solidFill>
                      <a:srgbClr val="0070C0"/>
                    </a:solidFill>
                    <a:cs typeface="Times New Roman" panose="02020603050405020304" pitchFamily="18" charset="0"/>
                  </a:rPr>
                  <a:t> </a:t>
                </a:r>
                <a:r>
                  <a:rPr lang="en-US" sz="2400" b="1" dirty="0">
                    <a:solidFill>
                      <a:srgbClr val="0070C0"/>
                    </a:solidFill>
                    <a:cs typeface="Times New Roman" panose="02020603050405020304" pitchFamily="18" charset="0"/>
                  </a:rPr>
                  <a:t>specific to </a:t>
                </a:r>
                <a:r>
                  <a:rPr lang="en-US" sz="2400" dirty="0">
                    <a:cs typeface="Times New Roman" panose="02020603050405020304" pitchFamily="18" charset="0"/>
                  </a:rPr>
                  <a:t>groups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𝑍</m:t>
                    </m:r>
                  </m:oMath>
                </a14:m>
                <a:endParaRPr lang="en-US" sz="2400" dirty="0">
                  <a:cs typeface="Times New Roman" panose="02020603050405020304" pitchFamily="18" charset="0"/>
                </a:endParaRPr>
              </a:p>
              <a:p>
                <a:r>
                  <a:rPr lang="en-US" sz="2400" dirty="0">
                    <a:cs typeface="Times New Roman" panose="02020603050405020304" pitchFamily="18" charset="0"/>
                  </a:rPr>
                  <a:t>We want to flexibly model how a relationship between two variables </a:t>
                </a:r>
                <a:r>
                  <a:rPr lang="en-US" sz="2400" b="1" dirty="0">
                    <a:solidFill>
                      <a:srgbClr val="0070C0"/>
                    </a:solidFill>
                    <a:cs typeface="Times New Roman" panose="02020603050405020304" pitchFamily="18" charset="0"/>
                  </a:rPr>
                  <a:t>may depend on the levels of a third</a:t>
                </a:r>
              </a:p>
              <a:p>
                <a:pPr marL="0" indent="0">
                  <a:buNone/>
                </a:pPr>
                <a14:m>
                  <m:oMathPara xmlns:m="http://schemas.openxmlformats.org/officeDocument/2006/math">
                    <m:oMathParaPr>
                      <m:jc m:val="centerGroup"/>
                    </m:oMathParaPr>
                    <m:oMath xmlns:m="http://schemas.openxmlformats.org/officeDocument/2006/math">
                      <m:r>
                        <a:rPr lang="en-US" sz="2400" b="0" i="1" smtClean="0">
                          <a:solidFill>
                            <a:srgbClr val="0070C0"/>
                          </a:solidFill>
                          <a:latin typeface="Cambria Math" panose="02040503050406030204" pitchFamily="18" charset="0"/>
                          <a:cs typeface="Times New Roman" panose="02020603050405020304" pitchFamily="18" charset="0"/>
                        </a:rPr>
                        <m:t>𝑌</m:t>
                      </m:r>
                      <m:r>
                        <a:rPr lang="en-US" sz="2400" b="0" i="1" smtClean="0">
                          <a:solidFill>
                            <a:srgbClr val="0070C0"/>
                          </a:solidFill>
                          <a:latin typeface="Cambria Math" panose="02040503050406030204" pitchFamily="18" charset="0"/>
                          <a:cs typeface="Times New Roman" panose="02020603050405020304" pitchFamily="18" charset="0"/>
                        </a:rPr>
                        <m:t>=</m:t>
                      </m:r>
                      <m:sSub>
                        <m:sSubPr>
                          <m:ctrlPr>
                            <a:rPr lang="en-US" sz="2400" b="0" i="1" smtClean="0">
                              <a:solidFill>
                                <a:srgbClr val="0070C0"/>
                              </a:solidFill>
                              <a:latin typeface="Cambria Math" panose="02040503050406030204" pitchFamily="18" charset="0"/>
                              <a:cs typeface="Times New Roman" panose="02020603050405020304" pitchFamily="18" charset="0"/>
                            </a:rPr>
                          </m:ctrlPr>
                        </m:sSubPr>
                        <m:e>
                          <m:r>
                            <a:rPr lang="en-US" sz="2400" b="0" i="1" smtClean="0">
                              <a:solidFill>
                                <a:srgbClr val="0070C0"/>
                              </a:solidFill>
                              <a:latin typeface="Cambria Math" panose="02040503050406030204" pitchFamily="18" charset="0"/>
                              <a:cs typeface="Times New Roman" panose="02020603050405020304" pitchFamily="18" charset="0"/>
                            </a:rPr>
                            <m:t>𝛽</m:t>
                          </m:r>
                        </m:e>
                        <m:sub>
                          <m:r>
                            <a:rPr lang="en-US" sz="2400" b="0" i="1" smtClean="0">
                              <a:solidFill>
                                <a:srgbClr val="0070C0"/>
                              </a:solidFill>
                              <a:latin typeface="Cambria Math" panose="02040503050406030204" pitchFamily="18" charset="0"/>
                              <a:cs typeface="Times New Roman" panose="02020603050405020304" pitchFamily="18" charset="0"/>
                            </a:rPr>
                            <m:t>0</m:t>
                          </m:r>
                        </m:sub>
                      </m:sSub>
                      <m:r>
                        <a:rPr lang="en-US" sz="2400" b="0" i="1" smtClean="0">
                          <a:solidFill>
                            <a:srgbClr val="0070C0"/>
                          </a:solidFill>
                          <a:latin typeface="Cambria Math" panose="02040503050406030204" pitchFamily="18" charset="0"/>
                          <a:cs typeface="Times New Roman" panose="02020603050405020304" pitchFamily="18" charset="0"/>
                        </a:rPr>
                        <m:t>+</m:t>
                      </m:r>
                      <m:sSub>
                        <m:sSubPr>
                          <m:ctrlPr>
                            <a:rPr lang="en-US" sz="2400" b="0" i="1" smtClean="0">
                              <a:solidFill>
                                <a:srgbClr val="0070C0"/>
                              </a:solidFill>
                              <a:latin typeface="Cambria Math" panose="02040503050406030204" pitchFamily="18" charset="0"/>
                              <a:cs typeface="Times New Roman" panose="02020603050405020304" pitchFamily="18" charset="0"/>
                            </a:rPr>
                          </m:ctrlPr>
                        </m:sSubPr>
                        <m:e>
                          <m:r>
                            <a:rPr lang="en-US" sz="2400" b="0" i="1" smtClean="0">
                              <a:solidFill>
                                <a:srgbClr val="0070C0"/>
                              </a:solidFill>
                              <a:latin typeface="Cambria Math" panose="02040503050406030204" pitchFamily="18" charset="0"/>
                              <a:cs typeface="Times New Roman" panose="02020603050405020304" pitchFamily="18" charset="0"/>
                            </a:rPr>
                            <m:t>𝛽</m:t>
                          </m:r>
                        </m:e>
                        <m:sub>
                          <m:r>
                            <a:rPr lang="en-US" sz="2400" b="0" i="1" smtClean="0">
                              <a:solidFill>
                                <a:srgbClr val="0070C0"/>
                              </a:solidFill>
                              <a:latin typeface="Cambria Math" panose="02040503050406030204" pitchFamily="18" charset="0"/>
                              <a:cs typeface="Times New Roman" panose="02020603050405020304" pitchFamily="18" charset="0"/>
                            </a:rPr>
                            <m:t>1</m:t>
                          </m:r>
                        </m:sub>
                      </m:sSub>
                      <m:r>
                        <a:rPr lang="en-US" sz="2400" b="0" i="1" smtClean="0">
                          <a:solidFill>
                            <a:srgbClr val="0070C0"/>
                          </a:solidFill>
                          <a:latin typeface="Cambria Math" panose="02040503050406030204" pitchFamily="18" charset="0"/>
                          <a:cs typeface="Times New Roman" panose="02020603050405020304" pitchFamily="18" charset="0"/>
                        </a:rPr>
                        <m:t>𝑋</m:t>
                      </m:r>
                      <m:r>
                        <a:rPr lang="en-US" sz="2400" b="0" i="1" smtClean="0">
                          <a:solidFill>
                            <a:srgbClr val="0070C0"/>
                          </a:solidFill>
                          <a:latin typeface="Cambria Math" panose="02040503050406030204" pitchFamily="18" charset="0"/>
                          <a:cs typeface="Times New Roman" panose="02020603050405020304" pitchFamily="18" charset="0"/>
                        </a:rPr>
                        <m:t>+</m:t>
                      </m:r>
                      <m:sSub>
                        <m:sSubPr>
                          <m:ctrlPr>
                            <a:rPr lang="en-US" sz="2400" b="0" i="1" smtClean="0">
                              <a:solidFill>
                                <a:srgbClr val="0070C0"/>
                              </a:solidFill>
                              <a:latin typeface="Cambria Math" panose="02040503050406030204" pitchFamily="18" charset="0"/>
                              <a:cs typeface="Times New Roman" panose="02020603050405020304" pitchFamily="18" charset="0"/>
                            </a:rPr>
                          </m:ctrlPr>
                        </m:sSubPr>
                        <m:e>
                          <m:r>
                            <a:rPr lang="en-US" sz="2400" b="0" i="1" smtClean="0">
                              <a:solidFill>
                                <a:srgbClr val="0070C0"/>
                              </a:solidFill>
                              <a:latin typeface="Cambria Math" panose="02040503050406030204" pitchFamily="18" charset="0"/>
                              <a:cs typeface="Times New Roman" panose="02020603050405020304" pitchFamily="18" charset="0"/>
                            </a:rPr>
                            <m:t>𝛽</m:t>
                          </m:r>
                        </m:e>
                        <m:sub>
                          <m:r>
                            <a:rPr lang="en-US" sz="2400" b="0" i="1" smtClean="0">
                              <a:solidFill>
                                <a:srgbClr val="0070C0"/>
                              </a:solidFill>
                              <a:latin typeface="Cambria Math" panose="02040503050406030204" pitchFamily="18" charset="0"/>
                              <a:cs typeface="Times New Roman" panose="02020603050405020304" pitchFamily="18" charset="0"/>
                            </a:rPr>
                            <m:t>2</m:t>
                          </m:r>
                        </m:sub>
                      </m:sSub>
                      <m:r>
                        <a:rPr lang="en-US" sz="2400" b="0" i="1" smtClean="0">
                          <a:solidFill>
                            <a:srgbClr val="0070C0"/>
                          </a:solidFill>
                          <a:latin typeface="Cambria Math" panose="02040503050406030204" pitchFamily="18" charset="0"/>
                          <a:cs typeface="Times New Roman" panose="02020603050405020304" pitchFamily="18" charset="0"/>
                        </a:rPr>
                        <m:t>𝑍</m:t>
                      </m:r>
                      <m:r>
                        <a:rPr lang="en-US" sz="2400" b="0" i="1" smtClean="0">
                          <a:solidFill>
                            <a:srgbClr val="0070C0"/>
                          </a:solidFill>
                          <a:latin typeface="Cambria Math" panose="02040503050406030204" pitchFamily="18" charset="0"/>
                          <a:cs typeface="Times New Roman" panose="02020603050405020304" pitchFamily="18" charset="0"/>
                        </a:rPr>
                        <m:t>+</m:t>
                      </m:r>
                      <m:sSub>
                        <m:sSubPr>
                          <m:ctrlPr>
                            <a:rPr lang="en-US" sz="2400" b="0" i="1" smtClean="0">
                              <a:solidFill>
                                <a:srgbClr val="0070C0"/>
                              </a:solidFill>
                              <a:latin typeface="Cambria Math" panose="02040503050406030204" pitchFamily="18" charset="0"/>
                              <a:cs typeface="Times New Roman" panose="02020603050405020304" pitchFamily="18" charset="0"/>
                            </a:rPr>
                          </m:ctrlPr>
                        </m:sSubPr>
                        <m:e>
                          <m:r>
                            <a:rPr lang="en-US" sz="2400" b="0" i="1" smtClean="0">
                              <a:solidFill>
                                <a:srgbClr val="0070C0"/>
                              </a:solidFill>
                              <a:latin typeface="Cambria Math" panose="02040503050406030204" pitchFamily="18" charset="0"/>
                              <a:cs typeface="Times New Roman" panose="02020603050405020304" pitchFamily="18" charset="0"/>
                            </a:rPr>
                            <m:t>𝛽</m:t>
                          </m:r>
                        </m:e>
                        <m:sub>
                          <m:r>
                            <a:rPr lang="en-US" sz="2400" b="0" i="1" smtClean="0">
                              <a:solidFill>
                                <a:srgbClr val="0070C0"/>
                              </a:solidFill>
                              <a:latin typeface="Cambria Math" panose="02040503050406030204" pitchFamily="18" charset="0"/>
                              <a:cs typeface="Times New Roman" panose="02020603050405020304" pitchFamily="18" charset="0"/>
                            </a:rPr>
                            <m:t>3</m:t>
                          </m:r>
                        </m:sub>
                      </m:sSub>
                      <m:d>
                        <m:dPr>
                          <m:ctrlPr>
                            <a:rPr lang="en-US" sz="2400" b="0" i="1" smtClean="0">
                              <a:solidFill>
                                <a:srgbClr val="0070C0"/>
                              </a:solidFill>
                              <a:latin typeface="Cambria Math" panose="02040503050406030204" pitchFamily="18" charset="0"/>
                              <a:cs typeface="Times New Roman" panose="02020603050405020304" pitchFamily="18" charset="0"/>
                            </a:rPr>
                          </m:ctrlPr>
                        </m:dPr>
                        <m:e>
                          <m:r>
                            <a:rPr lang="en-US" sz="2400" b="0" i="1" smtClean="0">
                              <a:solidFill>
                                <a:srgbClr val="0070C0"/>
                              </a:solidFill>
                              <a:latin typeface="Cambria Math" panose="02040503050406030204" pitchFamily="18" charset="0"/>
                              <a:cs typeface="Times New Roman" panose="02020603050405020304" pitchFamily="18" charset="0"/>
                            </a:rPr>
                            <m:t>𝑋</m:t>
                          </m:r>
                          <m:r>
                            <a:rPr lang="en-US" sz="2400" b="0" i="1" smtClean="0">
                              <a:solidFill>
                                <a:srgbClr val="0070C0"/>
                              </a:solidFill>
                              <a:latin typeface="Cambria Math" panose="02040503050406030204" pitchFamily="18" charset="0"/>
                              <a:cs typeface="Times New Roman" panose="02020603050405020304" pitchFamily="18" charset="0"/>
                            </a:rPr>
                            <m:t>⋅</m:t>
                          </m:r>
                          <m:r>
                            <a:rPr lang="en-US" sz="2400" b="0" i="1" smtClean="0">
                              <a:solidFill>
                                <a:srgbClr val="0070C0"/>
                              </a:solidFill>
                              <a:latin typeface="Cambria Math" panose="02040503050406030204" pitchFamily="18" charset="0"/>
                              <a:cs typeface="Times New Roman" panose="02020603050405020304" pitchFamily="18" charset="0"/>
                            </a:rPr>
                            <m:t>𝑍</m:t>
                          </m:r>
                        </m:e>
                      </m:d>
                      <m:r>
                        <a:rPr lang="en-US" sz="2400" b="0" i="1" smtClean="0">
                          <a:solidFill>
                            <a:srgbClr val="0070C0"/>
                          </a:solidFill>
                          <a:latin typeface="Cambria Math" panose="02040503050406030204" pitchFamily="18" charset="0"/>
                          <a:cs typeface="Times New Roman" panose="02020603050405020304" pitchFamily="18" charset="0"/>
                        </a:rPr>
                        <m:t>+</m:t>
                      </m:r>
                      <m:r>
                        <a:rPr lang="en-US" sz="2400" b="0" i="1" smtClean="0">
                          <a:solidFill>
                            <a:srgbClr val="0070C0"/>
                          </a:solidFill>
                          <a:latin typeface="Cambria Math" panose="02040503050406030204" pitchFamily="18" charset="0"/>
                          <a:cs typeface="Times New Roman" panose="02020603050405020304" pitchFamily="18" charset="0"/>
                        </a:rPr>
                        <m:t>𝜀</m:t>
                      </m:r>
                    </m:oMath>
                  </m:oMathPara>
                </a14:m>
                <a:endParaRPr lang="en-US" sz="2400" dirty="0">
                  <a:solidFill>
                    <a:srgbClr val="0070C0"/>
                  </a:solidFill>
                  <a:cs typeface="Times New Roman" panose="02020603050405020304" pitchFamily="18" charset="0"/>
                </a:endParaRPr>
              </a:p>
              <a:p>
                <a:r>
                  <a:rPr lang="en-US" sz="2600" dirty="0">
                    <a:cs typeface="Times New Roman" panose="02020603050405020304" pitchFamily="18" charset="0"/>
                  </a:rPr>
                  <a:t>Main question: how do we interpret interaction terms?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829801" cy="5141388"/>
              </a:xfrm>
              <a:blipFill>
                <a:blip r:embed="rId3"/>
                <a:stretch>
                  <a:fillRect l="-558" t="-1305"/>
                </a:stretch>
              </a:blipFill>
            </p:spPr>
            <p:txBody>
              <a:bodyPr/>
              <a:lstStyle/>
              <a:p>
                <a:r>
                  <a:rPr lang="en-US">
                    <a:noFill/>
                  </a:rPr>
                  <a:t> </a:t>
                </a:r>
              </a:p>
            </p:txBody>
          </p:sp>
        </mc:Fallback>
      </mc:AlternateContent>
    </p:spTree>
    <p:extLst>
      <p:ext uri="{BB962C8B-B14F-4D97-AF65-F5344CB8AC3E}">
        <p14:creationId xmlns:p14="http://schemas.microsoft.com/office/powerpoint/2010/main" val="403237291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Discrete Regressors </a:t>
            </a:r>
            <a:endParaRPr lang="en-US" sz="3600" dirty="0">
              <a:latin typeface="Times New Roman" panose="02020603050405020304" pitchFamily="18" charset="0"/>
              <a:cs typeface="Times New Roman" panose="02020603050405020304" pitchFamily="18" charset="0"/>
            </a:endParaRPr>
          </a:p>
        </p:txBody>
      </p:sp>
      <p:sp>
        <p:nvSpPr>
          <p:cNvPr id="4" name="Content Placeholder 3">
            <a:extLst>
              <a:ext uri="{FF2B5EF4-FFF2-40B4-BE49-F238E27FC236}">
                <a16:creationId xmlns:a16="http://schemas.microsoft.com/office/drawing/2014/main" id="{FC090224-F0D7-141A-ABD0-0F81A3283FE4}"/>
              </a:ext>
            </a:extLst>
          </p:cNvPr>
          <p:cNvSpPr>
            <a:spLocks noGrp="1"/>
          </p:cNvSpPr>
          <p:nvPr>
            <p:ph idx="1"/>
          </p:nvPr>
        </p:nvSpPr>
        <p:spPr/>
        <p:txBody>
          <a:bodyPr/>
          <a:lstStyle/>
          <a:p>
            <a:endParaRPr lang="en-US"/>
          </a:p>
        </p:txBody>
      </p:sp>
      <p:pic>
        <p:nvPicPr>
          <p:cNvPr id="5" name="Picture 4">
            <a:extLst>
              <a:ext uri="{FF2B5EF4-FFF2-40B4-BE49-F238E27FC236}">
                <a16:creationId xmlns:a16="http://schemas.microsoft.com/office/drawing/2014/main" id="{0CF25538-BA28-96A4-30C3-1B5231BC887C}"/>
              </a:ext>
            </a:extLst>
          </p:cNvPr>
          <p:cNvPicPr>
            <a:picLocks noChangeAspect="1"/>
          </p:cNvPicPr>
          <p:nvPr/>
        </p:nvPicPr>
        <p:blipFill>
          <a:blip r:embed="rId3"/>
          <a:stretch>
            <a:fillRect/>
          </a:stretch>
        </p:blipFill>
        <p:spPr>
          <a:xfrm>
            <a:off x="609600" y="962232"/>
            <a:ext cx="10058400" cy="5223782"/>
          </a:xfrm>
          <a:prstGeom prst="rect">
            <a:avLst/>
          </a:prstGeom>
        </p:spPr>
      </p:pic>
    </p:spTree>
    <p:extLst>
      <p:ext uri="{BB962C8B-B14F-4D97-AF65-F5344CB8AC3E}">
        <p14:creationId xmlns:p14="http://schemas.microsoft.com/office/powerpoint/2010/main" val="183737373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Discrete Regressors </a:t>
            </a:r>
            <a:endParaRPr lang="en-US" sz="3600" dirty="0">
              <a:latin typeface="Times New Roman" panose="02020603050405020304" pitchFamily="18" charset="0"/>
              <a:cs typeface="Times New Roman" panose="02020603050405020304" pitchFamily="18" charset="0"/>
            </a:endParaRPr>
          </a:p>
        </p:txBody>
      </p:sp>
      <p:sp>
        <p:nvSpPr>
          <p:cNvPr id="4" name="Content Placeholder 3">
            <a:extLst>
              <a:ext uri="{FF2B5EF4-FFF2-40B4-BE49-F238E27FC236}">
                <a16:creationId xmlns:a16="http://schemas.microsoft.com/office/drawing/2014/main" id="{FC090224-F0D7-141A-ABD0-0F81A3283FE4}"/>
              </a:ext>
            </a:extLst>
          </p:cNvPr>
          <p:cNvSpPr>
            <a:spLocks noGrp="1"/>
          </p:cNvSpPr>
          <p:nvPr>
            <p:ph idx="1"/>
          </p:nvPr>
        </p:nvSpPr>
        <p:spPr/>
        <p:txBody>
          <a:bodyPr/>
          <a:lstStyle/>
          <a:p>
            <a:endParaRPr lang="en-US"/>
          </a:p>
        </p:txBody>
      </p:sp>
      <p:pic>
        <p:nvPicPr>
          <p:cNvPr id="6" name="Picture 5">
            <a:extLst>
              <a:ext uri="{FF2B5EF4-FFF2-40B4-BE49-F238E27FC236}">
                <a16:creationId xmlns:a16="http://schemas.microsoft.com/office/drawing/2014/main" id="{6277A6ED-387F-668B-FBF9-A499F6CFA73C}"/>
              </a:ext>
            </a:extLst>
          </p:cNvPr>
          <p:cNvPicPr>
            <a:picLocks noChangeAspect="1"/>
          </p:cNvPicPr>
          <p:nvPr/>
        </p:nvPicPr>
        <p:blipFill>
          <a:blip r:embed="rId3"/>
          <a:stretch>
            <a:fillRect/>
          </a:stretch>
        </p:blipFill>
        <p:spPr>
          <a:xfrm>
            <a:off x="643128" y="1066800"/>
            <a:ext cx="10058400" cy="5258312"/>
          </a:xfrm>
          <a:prstGeom prst="rect">
            <a:avLst/>
          </a:prstGeom>
        </p:spPr>
      </p:pic>
    </p:spTree>
    <p:extLst>
      <p:ext uri="{BB962C8B-B14F-4D97-AF65-F5344CB8AC3E}">
        <p14:creationId xmlns:p14="http://schemas.microsoft.com/office/powerpoint/2010/main" val="238191707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How do we Interpret Interaction Terms?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829801" cy="5141388"/>
              </a:xfrm>
            </p:spPr>
            <p:txBody>
              <a:bodyPr>
                <a:normAutofit/>
              </a:bodyPr>
              <a:lstStyle/>
              <a:p>
                <a:r>
                  <a:rPr lang="en-US" sz="2400" dirty="0">
                    <a:cs typeface="Times New Roman" panose="02020603050405020304" pitchFamily="18" charset="0"/>
                  </a:rPr>
                  <a:t>Example: risk adjustment (predicting health costs) </a:t>
                </a:r>
              </a:p>
              <a:p>
                <a:pPr marL="0" indent="0" algn="ctr">
                  <a:buNone/>
                </a:pPr>
                <a14:m>
                  <m:oMath xmlns:m="http://schemas.openxmlformats.org/officeDocument/2006/math">
                    <m:r>
                      <a:rPr lang="en-US" sz="2400" b="0" i="1" smtClean="0">
                        <a:latin typeface="Cambria Math" panose="02040503050406030204" pitchFamily="18" charset="0"/>
                        <a:cs typeface="Times New Roman" panose="02020603050405020304" pitchFamily="18" charset="0"/>
                      </a:rPr>
                      <m:t>𝑐𝑜𝑠</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𝑡</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𝑐𝑎𝑛𝑐𝑒𝑟</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𝑠</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2</m:t>
                        </m:r>
                      </m:sub>
                    </m:sSub>
                    <m:r>
                      <a:rPr lang="en-US" sz="2400" b="0" i="1" smtClean="0">
                        <a:latin typeface="Cambria Math" panose="02040503050406030204" pitchFamily="18" charset="0"/>
                        <a:cs typeface="Times New Roman" panose="02020603050405020304" pitchFamily="18" charset="0"/>
                      </a:rPr>
                      <m:t>𝑚𝑎𝑙</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𝑒</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3</m:t>
                        </m:r>
                      </m:sub>
                    </m:sSub>
                    <m:r>
                      <a:rPr lang="en-US" sz="2400" b="0" i="1" smtClean="0">
                        <a:latin typeface="Cambria Math" panose="02040503050406030204" pitchFamily="18" charset="0"/>
                        <a:cs typeface="Times New Roman" panose="02020603050405020304" pitchFamily="18" charset="0"/>
                      </a:rPr>
                      <m:t>𝑐𝑎𝑛𝑐𝑒𝑟</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𝑠</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𝑚𝑎𝑙</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𝑒</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acc>
                      <m:accPr>
                        <m:chr m:val="⃗"/>
                        <m:ctrlPr>
                          <a:rPr lang="en-US" sz="2400" b="0" i="1" smtClean="0">
                            <a:latin typeface="Cambria Math" panose="02040503050406030204" pitchFamily="18" charset="0"/>
                            <a:cs typeface="Times New Roman" panose="02020603050405020304" pitchFamily="18" charset="0"/>
                          </a:rPr>
                        </m:ctrlPr>
                      </m:accPr>
                      <m:e>
                        <m:r>
                          <a:rPr lang="en-US" sz="2400" b="0" i="1" smtClean="0">
                            <a:latin typeface="Cambria Math" panose="02040503050406030204" pitchFamily="18" charset="0"/>
                            <a:cs typeface="Times New Roman" panose="02020603050405020304" pitchFamily="18" charset="0"/>
                          </a:rPr>
                          <m:t>𝛾</m:t>
                        </m:r>
                      </m:e>
                    </m:acc>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𝑍</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𝜀</m:t>
                        </m:r>
                      </m:e>
                      <m:sub>
                        <m:r>
                          <a:rPr lang="en-US" sz="2400" b="0" i="1" smtClean="0">
                            <a:latin typeface="Cambria Math" panose="02040503050406030204" pitchFamily="18" charset="0"/>
                            <a:cs typeface="Times New Roman" panose="02020603050405020304" pitchFamily="18" charset="0"/>
                          </a:rPr>
                          <m:t>𝑖</m:t>
                        </m:r>
                      </m:sub>
                    </m:sSub>
                  </m:oMath>
                </a14:m>
                <a:r>
                  <a:rPr lang="en-US" sz="2400" dirty="0">
                    <a:cs typeface="Times New Roman" panose="02020603050405020304" pitchFamily="18" charset="0"/>
                  </a:rPr>
                  <a:t> </a:t>
                </a:r>
              </a:p>
              <a:p>
                <a:r>
                  <a:rPr lang="en-US" sz="2400" b="1" dirty="0">
                    <a:solidFill>
                      <a:srgbClr val="0070C0"/>
                    </a:solidFill>
                    <a:cs typeface="Times New Roman" panose="02020603050405020304" pitchFamily="18" charset="0"/>
                  </a:rPr>
                  <a:t>What is the effect of cancer on predicted costs?  </a:t>
                </a:r>
              </a:p>
              <a:p>
                <a:pPr lvl="1"/>
                <a:r>
                  <a:rPr lang="en-US" sz="2400" dirty="0">
                    <a:solidFill>
                      <a:srgbClr val="0070C0"/>
                    </a:solidFill>
                    <a:cs typeface="Times New Roman" panose="02020603050405020304" pitchFamily="18" charset="0"/>
                  </a:rPr>
                  <a:t>To find this, just take the derivative: </a:t>
                </a:r>
              </a:p>
              <a:p>
                <a:pPr marL="274320" lvl="1" indent="0">
                  <a:buNone/>
                </a:pPr>
                <a14:m>
                  <m:oMathPara xmlns:m="http://schemas.openxmlformats.org/officeDocument/2006/math">
                    <m:oMathParaPr>
                      <m:jc m:val="centerGroup"/>
                    </m:oMathParaPr>
                    <m:oMath xmlns:m="http://schemas.openxmlformats.org/officeDocument/2006/math">
                      <m:f>
                        <m:fPr>
                          <m:ctrlPr>
                            <a:rPr lang="en-US" sz="2400" i="1" smtClean="0">
                              <a:solidFill>
                                <a:srgbClr val="0070C0"/>
                              </a:solidFill>
                              <a:latin typeface="Cambria Math" panose="02040503050406030204" pitchFamily="18" charset="0"/>
                              <a:cs typeface="Times New Roman" panose="02020603050405020304" pitchFamily="18" charset="0"/>
                            </a:rPr>
                          </m:ctrlPr>
                        </m:fPr>
                        <m:num>
                          <m:r>
                            <a:rPr lang="en-US" sz="2400" b="0" i="1" smtClean="0">
                              <a:solidFill>
                                <a:srgbClr val="0070C0"/>
                              </a:solidFill>
                              <a:latin typeface="Cambria Math" panose="02040503050406030204" pitchFamily="18" charset="0"/>
                              <a:cs typeface="Times New Roman" panose="02020603050405020304" pitchFamily="18" charset="0"/>
                            </a:rPr>
                            <m:t>𝜕</m:t>
                          </m:r>
                          <m:r>
                            <a:rPr lang="en-US" sz="2400" b="0" i="1" smtClean="0">
                              <a:solidFill>
                                <a:srgbClr val="0070C0"/>
                              </a:solidFill>
                              <a:latin typeface="Cambria Math" panose="02040503050406030204" pitchFamily="18" charset="0"/>
                              <a:cs typeface="Times New Roman" panose="02020603050405020304" pitchFamily="18" charset="0"/>
                            </a:rPr>
                            <m:t>𝑐𝑜𝑠</m:t>
                          </m:r>
                          <m:sSub>
                            <m:sSubPr>
                              <m:ctrlPr>
                                <a:rPr lang="en-US" sz="2400" i="1" smtClean="0">
                                  <a:solidFill>
                                    <a:srgbClr val="0070C0"/>
                                  </a:solidFill>
                                  <a:latin typeface="Cambria Math" panose="02040503050406030204" pitchFamily="18" charset="0"/>
                                  <a:cs typeface="Times New Roman" panose="02020603050405020304" pitchFamily="18" charset="0"/>
                                </a:rPr>
                              </m:ctrlPr>
                            </m:sSubPr>
                            <m:e>
                              <m:r>
                                <a:rPr lang="en-US" sz="2400" b="0" i="1" smtClean="0">
                                  <a:solidFill>
                                    <a:srgbClr val="0070C0"/>
                                  </a:solidFill>
                                  <a:latin typeface="Cambria Math" panose="02040503050406030204" pitchFamily="18" charset="0"/>
                                  <a:cs typeface="Times New Roman" panose="02020603050405020304" pitchFamily="18" charset="0"/>
                                </a:rPr>
                                <m:t>𝑡</m:t>
                              </m:r>
                            </m:e>
                            <m:sub>
                              <m:r>
                                <a:rPr lang="en-US" sz="2400" b="0" i="1" smtClean="0">
                                  <a:solidFill>
                                    <a:srgbClr val="0070C0"/>
                                  </a:solidFill>
                                  <a:latin typeface="Cambria Math" panose="02040503050406030204" pitchFamily="18" charset="0"/>
                                  <a:cs typeface="Times New Roman" panose="02020603050405020304" pitchFamily="18" charset="0"/>
                                </a:rPr>
                                <m:t>𝑖</m:t>
                              </m:r>
                            </m:sub>
                          </m:sSub>
                        </m:num>
                        <m:den>
                          <m:r>
                            <a:rPr lang="en-US" sz="2400" b="0" i="1" smtClean="0">
                              <a:solidFill>
                                <a:srgbClr val="0070C0"/>
                              </a:solidFill>
                              <a:latin typeface="Cambria Math" panose="02040503050406030204" pitchFamily="18" charset="0"/>
                              <a:cs typeface="Times New Roman" panose="02020603050405020304" pitchFamily="18" charset="0"/>
                            </a:rPr>
                            <m:t>𝜕</m:t>
                          </m:r>
                          <m:r>
                            <a:rPr lang="en-US" sz="2400" b="0" i="1" smtClean="0">
                              <a:solidFill>
                                <a:srgbClr val="0070C0"/>
                              </a:solidFill>
                              <a:latin typeface="Cambria Math" panose="02040503050406030204" pitchFamily="18" charset="0"/>
                              <a:cs typeface="Times New Roman" panose="02020603050405020304" pitchFamily="18" charset="0"/>
                            </a:rPr>
                            <m:t>𝑐𝑎𝑛𝑐𝑒𝑟</m:t>
                          </m:r>
                          <m:sSub>
                            <m:sSubPr>
                              <m:ctrlPr>
                                <a:rPr lang="en-US" sz="2400" i="1" smtClean="0">
                                  <a:solidFill>
                                    <a:srgbClr val="0070C0"/>
                                  </a:solidFill>
                                  <a:latin typeface="Cambria Math" panose="02040503050406030204" pitchFamily="18" charset="0"/>
                                  <a:cs typeface="Times New Roman" panose="02020603050405020304" pitchFamily="18" charset="0"/>
                                </a:rPr>
                              </m:ctrlPr>
                            </m:sSubPr>
                            <m:e>
                              <m:r>
                                <a:rPr lang="en-US" sz="2400" b="0" i="1" smtClean="0">
                                  <a:solidFill>
                                    <a:srgbClr val="0070C0"/>
                                  </a:solidFill>
                                  <a:latin typeface="Cambria Math" panose="02040503050406030204" pitchFamily="18" charset="0"/>
                                  <a:cs typeface="Times New Roman" panose="02020603050405020304" pitchFamily="18" charset="0"/>
                                </a:rPr>
                                <m:t>𝑠</m:t>
                              </m:r>
                            </m:e>
                            <m:sub>
                              <m:r>
                                <a:rPr lang="en-US" sz="2400" b="0" i="1" smtClean="0">
                                  <a:solidFill>
                                    <a:srgbClr val="0070C0"/>
                                  </a:solidFill>
                                  <a:latin typeface="Cambria Math" panose="02040503050406030204" pitchFamily="18" charset="0"/>
                                  <a:cs typeface="Times New Roman" panose="02020603050405020304" pitchFamily="18" charset="0"/>
                                </a:rPr>
                                <m:t>𝑖</m:t>
                              </m:r>
                            </m:sub>
                          </m:sSub>
                        </m:den>
                      </m:f>
                      <m:r>
                        <a:rPr lang="en-US" sz="2400" b="0" i="1" smtClean="0">
                          <a:solidFill>
                            <a:srgbClr val="0070C0"/>
                          </a:solidFill>
                          <a:latin typeface="Cambria Math" panose="02040503050406030204" pitchFamily="18" charset="0"/>
                          <a:cs typeface="Times New Roman" panose="02020603050405020304" pitchFamily="18" charset="0"/>
                        </a:rPr>
                        <m:t>=</m:t>
                      </m:r>
                      <m:sSub>
                        <m:sSubPr>
                          <m:ctrlPr>
                            <a:rPr lang="en-US" sz="2400" i="1" smtClean="0">
                              <a:solidFill>
                                <a:srgbClr val="0070C0"/>
                              </a:solidFill>
                              <a:latin typeface="Cambria Math" panose="02040503050406030204" pitchFamily="18" charset="0"/>
                              <a:cs typeface="Times New Roman" panose="02020603050405020304" pitchFamily="18" charset="0"/>
                            </a:rPr>
                          </m:ctrlPr>
                        </m:sSubPr>
                        <m:e>
                          <m:r>
                            <a:rPr lang="en-US" sz="2400" b="0" i="1" smtClean="0">
                              <a:solidFill>
                                <a:srgbClr val="0070C0"/>
                              </a:solidFill>
                              <a:latin typeface="Cambria Math" panose="02040503050406030204" pitchFamily="18" charset="0"/>
                              <a:cs typeface="Times New Roman" panose="02020603050405020304" pitchFamily="18" charset="0"/>
                            </a:rPr>
                            <m:t>𝛽</m:t>
                          </m:r>
                        </m:e>
                        <m:sub>
                          <m:r>
                            <a:rPr lang="en-US" sz="2400" b="0" i="1" smtClean="0">
                              <a:solidFill>
                                <a:srgbClr val="0070C0"/>
                              </a:solidFill>
                              <a:latin typeface="Cambria Math" panose="02040503050406030204" pitchFamily="18" charset="0"/>
                              <a:cs typeface="Times New Roman" panose="02020603050405020304" pitchFamily="18" charset="0"/>
                            </a:rPr>
                            <m:t>1</m:t>
                          </m:r>
                        </m:sub>
                      </m:sSub>
                      <m:r>
                        <a:rPr lang="en-US" sz="2400" b="0" i="1" smtClean="0">
                          <a:solidFill>
                            <a:srgbClr val="0070C0"/>
                          </a:solidFill>
                          <a:latin typeface="Cambria Math" panose="02040503050406030204" pitchFamily="18" charset="0"/>
                          <a:cs typeface="Times New Roman" panose="02020603050405020304" pitchFamily="18" charset="0"/>
                        </a:rPr>
                        <m:t>+</m:t>
                      </m:r>
                      <m:sSub>
                        <m:sSubPr>
                          <m:ctrlPr>
                            <a:rPr lang="en-US" sz="2400" i="1" smtClean="0">
                              <a:solidFill>
                                <a:srgbClr val="0070C0"/>
                              </a:solidFill>
                              <a:latin typeface="Cambria Math" panose="02040503050406030204" pitchFamily="18" charset="0"/>
                              <a:cs typeface="Times New Roman" panose="02020603050405020304" pitchFamily="18" charset="0"/>
                            </a:rPr>
                          </m:ctrlPr>
                        </m:sSubPr>
                        <m:e>
                          <m:r>
                            <a:rPr lang="en-US" sz="2400" b="0" i="1" smtClean="0">
                              <a:solidFill>
                                <a:srgbClr val="0070C0"/>
                              </a:solidFill>
                              <a:latin typeface="Cambria Math" panose="02040503050406030204" pitchFamily="18" charset="0"/>
                              <a:cs typeface="Times New Roman" panose="02020603050405020304" pitchFamily="18" charset="0"/>
                            </a:rPr>
                            <m:t>𝛽</m:t>
                          </m:r>
                        </m:e>
                        <m:sub>
                          <m:r>
                            <a:rPr lang="en-US" sz="2400" b="0" i="1" smtClean="0">
                              <a:solidFill>
                                <a:srgbClr val="0070C0"/>
                              </a:solidFill>
                              <a:latin typeface="Cambria Math" panose="02040503050406030204" pitchFamily="18" charset="0"/>
                              <a:cs typeface="Times New Roman" panose="02020603050405020304" pitchFamily="18" charset="0"/>
                            </a:rPr>
                            <m:t>3</m:t>
                          </m:r>
                        </m:sub>
                      </m:sSub>
                      <m:r>
                        <a:rPr lang="en-US" sz="2400" b="0" i="1" smtClean="0">
                          <a:solidFill>
                            <a:srgbClr val="0070C0"/>
                          </a:solidFill>
                          <a:latin typeface="Cambria Math" panose="02040503050406030204" pitchFamily="18" charset="0"/>
                          <a:cs typeface="Times New Roman" panose="02020603050405020304" pitchFamily="18" charset="0"/>
                        </a:rPr>
                        <m:t>∗</m:t>
                      </m:r>
                      <m:r>
                        <a:rPr lang="en-US" sz="2400" b="0" i="1" smtClean="0">
                          <a:solidFill>
                            <a:srgbClr val="0070C0"/>
                          </a:solidFill>
                          <a:latin typeface="Cambria Math" panose="02040503050406030204" pitchFamily="18" charset="0"/>
                          <a:cs typeface="Times New Roman" panose="02020603050405020304" pitchFamily="18" charset="0"/>
                        </a:rPr>
                        <m:t>𝑚𝑎𝑙</m:t>
                      </m:r>
                      <m:sSub>
                        <m:sSubPr>
                          <m:ctrlPr>
                            <a:rPr lang="en-US" sz="2400" i="1" smtClean="0">
                              <a:solidFill>
                                <a:srgbClr val="0070C0"/>
                              </a:solidFill>
                              <a:latin typeface="Cambria Math" panose="02040503050406030204" pitchFamily="18" charset="0"/>
                              <a:cs typeface="Times New Roman" panose="02020603050405020304" pitchFamily="18" charset="0"/>
                            </a:rPr>
                          </m:ctrlPr>
                        </m:sSubPr>
                        <m:e>
                          <m:r>
                            <a:rPr lang="en-US" sz="2400" b="0" i="1" smtClean="0">
                              <a:solidFill>
                                <a:srgbClr val="0070C0"/>
                              </a:solidFill>
                              <a:latin typeface="Cambria Math" panose="02040503050406030204" pitchFamily="18" charset="0"/>
                              <a:cs typeface="Times New Roman" panose="02020603050405020304" pitchFamily="18" charset="0"/>
                            </a:rPr>
                            <m:t>𝑒</m:t>
                          </m:r>
                        </m:e>
                        <m:sub>
                          <m:r>
                            <a:rPr lang="en-US" sz="2400" b="0" i="1" smtClean="0">
                              <a:solidFill>
                                <a:srgbClr val="0070C0"/>
                              </a:solidFill>
                              <a:latin typeface="Cambria Math" panose="02040503050406030204" pitchFamily="18" charset="0"/>
                              <a:cs typeface="Times New Roman" panose="02020603050405020304" pitchFamily="18" charset="0"/>
                            </a:rPr>
                            <m:t>𝑖</m:t>
                          </m:r>
                        </m:sub>
                      </m:sSub>
                    </m:oMath>
                  </m:oMathPara>
                </a14:m>
                <a:endParaRPr lang="en-US" sz="2400" dirty="0">
                  <a:solidFill>
                    <a:srgbClr val="0070C0"/>
                  </a:solidFill>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829801" cy="5141388"/>
              </a:xfrm>
              <a:blipFill>
                <a:blip r:embed="rId3"/>
                <a:stretch>
                  <a:fillRect l="-434" t="-1305"/>
                </a:stretch>
              </a:blipFill>
            </p:spPr>
            <p:txBody>
              <a:bodyPr/>
              <a:lstStyle/>
              <a:p>
                <a:r>
                  <a:rPr lang="en-US">
                    <a:noFill/>
                  </a:rPr>
                  <a:t> </a:t>
                </a:r>
              </a:p>
            </p:txBody>
          </p:sp>
        </mc:Fallback>
      </mc:AlternateContent>
    </p:spTree>
    <p:extLst>
      <p:ext uri="{BB962C8B-B14F-4D97-AF65-F5344CB8AC3E}">
        <p14:creationId xmlns:p14="http://schemas.microsoft.com/office/powerpoint/2010/main" val="332739288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How do we Interpret Interaction Terms?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829801" cy="5141388"/>
              </a:xfrm>
            </p:spPr>
            <p:txBody>
              <a:bodyPr>
                <a:normAutofit/>
              </a:bodyPr>
              <a:lstStyle/>
              <a:p>
                <a:r>
                  <a:rPr lang="en-US" sz="2400" dirty="0">
                    <a:cs typeface="Times New Roman" panose="02020603050405020304" pitchFamily="18" charset="0"/>
                  </a:rPr>
                  <a:t>Example: risk adjustment (predicting health costs) </a:t>
                </a:r>
              </a:p>
              <a:p>
                <a:pPr marL="0" indent="0" algn="ctr">
                  <a:buNone/>
                </a:pPr>
                <a14:m>
                  <m:oMath xmlns:m="http://schemas.openxmlformats.org/officeDocument/2006/math">
                    <m:r>
                      <a:rPr lang="en-US" sz="2400" b="0" i="1" smtClean="0">
                        <a:latin typeface="Cambria Math" panose="02040503050406030204" pitchFamily="18" charset="0"/>
                        <a:cs typeface="Times New Roman" panose="02020603050405020304" pitchFamily="18" charset="0"/>
                      </a:rPr>
                      <m:t>𝑐𝑜𝑠</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𝑡</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𝑐𝑎𝑛𝑐𝑒𝑟</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𝑠</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2</m:t>
                        </m:r>
                      </m:sub>
                    </m:sSub>
                    <m:r>
                      <a:rPr lang="en-US" sz="2400" b="0" i="1" smtClean="0">
                        <a:latin typeface="Cambria Math" panose="02040503050406030204" pitchFamily="18" charset="0"/>
                        <a:cs typeface="Times New Roman" panose="02020603050405020304" pitchFamily="18" charset="0"/>
                      </a:rPr>
                      <m:t>𝑚𝑎𝑙</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𝑒</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3</m:t>
                        </m:r>
                      </m:sub>
                    </m:sSub>
                    <m:r>
                      <a:rPr lang="en-US" sz="2400" b="0" i="1" smtClean="0">
                        <a:latin typeface="Cambria Math" panose="02040503050406030204" pitchFamily="18" charset="0"/>
                        <a:cs typeface="Times New Roman" panose="02020603050405020304" pitchFamily="18" charset="0"/>
                      </a:rPr>
                      <m:t>𝑐𝑎𝑛𝑐𝑒𝑟</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𝑠</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𝑚𝑎𝑙</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𝑒</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acc>
                      <m:accPr>
                        <m:chr m:val="⃗"/>
                        <m:ctrlPr>
                          <a:rPr lang="en-US" sz="2400" b="0" i="1" smtClean="0">
                            <a:latin typeface="Cambria Math" panose="02040503050406030204" pitchFamily="18" charset="0"/>
                            <a:cs typeface="Times New Roman" panose="02020603050405020304" pitchFamily="18" charset="0"/>
                          </a:rPr>
                        </m:ctrlPr>
                      </m:accPr>
                      <m:e>
                        <m:r>
                          <a:rPr lang="en-US" sz="2400" b="0" i="1" smtClean="0">
                            <a:latin typeface="Cambria Math" panose="02040503050406030204" pitchFamily="18" charset="0"/>
                            <a:cs typeface="Times New Roman" panose="02020603050405020304" pitchFamily="18" charset="0"/>
                          </a:rPr>
                          <m:t>𝛾</m:t>
                        </m:r>
                      </m:e>
                    </m:acc>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𝑍</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𝜀</m:t>
                        </m:r>
                      </m:e>
                      <m:sub>
                        <m:r>
                          <a:rPr lang="en-US" sz="2400" b="0" i="1" smtClean="0">
                            <a:latin typeface="Cambria Math" panose="02040503050406030204" pitchFamily="18" charset="0"/>
                            <a:cs typeface="Times New Roman" panose="02020603050405020304" pitchFamily="18" charset="0"/>
                          </a:rPr>
                          <m:t>𝑖</m:t>
                        </m:r>
                      </m:sub>
                    </m:sSub>
                  </m:oMath>
                </a14:m>
                <a:r>
                  <a:rPr lang="en-US" sz="2400" dirty="0">
                    <a:cs typeface="Times New Roman" panose="02020603050405020304" pitchFamily="18" charset="0"/>
                  </a:rPr>
                  <a:t> </a:t>
                </a:r>
              </a:p>
              <a:p>
                <a:r>
                  <a:rPr lang="en-US" sz="2400" b="1" dirty="0">
                    <a:solidFill>
                      <a:srgbClr val="0070C0"/>
                    </a:solidFill>
                    <a:cs typeface="Times New Roman" panose="02020603050405020304" pitchFamily="18" charset="0"/>
                  </a:rPr>
                  <a:t>What is the effect of cancer on predicted costs?  </a:t>
                </a:r>
              </a:p>
              <a:p>
                <a:pPr lvl="1"/>
                <a:r>
                  <a:rPr lang="en-US" sz="2400" dirty="0">
                    <a:solidFill>
                      <a:srgbClr val="0070C0"/>
                    </a:solidFill>
                    <a:cs typeface="Times New Roman" panose="02020603050405020304" pitchFamily="18" charset="0"/>
                  </a:rPr>
                  <a:t>To find this, just take the derivative: </a:t>
                </a:r>
              </a:p>
              <a:p>
                <a:pPr marL="274320" lvl="1" indent="0">
                  <a:buNone/>
                </a:pPr>
                <a14:m>
                  <m:oMathPara xmlns:m="http://schemas.openxmlformats.org/officeDocument/2006/math">
                    <m:oMathParaPr>
                      <m:jc m:val="centerGroup"/>
                    </m:oMathParaPr>
                    <m:oMath xmlns:m="http://schemas.openxmlformats.org/officeDocument/2006/math">
                      <m:f>
                        <m:fPr>
                          <m:ctrlPr>
                            <a:rPr lang="en-US" sz="2400" i="1" smtClean="0">
                              <a:solidFill>
                                <a:srgbClr val="0070C0"/>
                              </a:solidFill>
                              <a:latin typeface="Cambria Math" panose="02040503050406030204" pitchFamily="18" charset="0"/>
                              <a:cs typeface="Times New Roman" panose="02020603050405020304" pitchFamily="18" charset="0"/>
                            </a:rPr>
                          </m:ctrlPr>
                        </m:fPr>
                        <m:num>
                          <m:r>
                            <a:rPr lang="en-US" sz="2400" b="0" i="1" smtClean="0">
                              <a:solidFill>
                                <a:srgbClr val="0070C0"/>
                              </a:solidFill>
                              <a:latin typeface="Cambria Math" panose="02040503050406030204" pitchFamily="18" charset="0"/>
                              <a:cs typeface="Times New Roman" panose="02020603050405020304" pitchFamily="18" charset="0"/>
                            </a:rPr>
                            <m:t>𝜕</m:t>
                          </m:r>
                          <m:r>
                            <a:rPr lang="en-US" sz="2400" b="0" i="1" smtClean="0">
                              <a:solidFill>
                                <a:srgbClr val="0070C0"/>
                              </a:solidFill>
                              <a:latin typeface="Cambria Math" panose="02040503050406030204" pitchFamily="18" charset="0"/>
                              <a:cs typeface="Times New Roman" panose="02020603050405020304" pitchFamily="18" charset="0"/>
                            </a:rPr>
                            <m:t>𝑐𝑜𝑠</m:t>
                          </m:r>
                          <m:sSub>
                            <m:sSubPr>
                              <m:ctrlPr>
                                <a:rPr lang="en-US" sz="2400" i="1" smtClean="0">
                                  <a:solidFill>
                                    <a:srgbClr val="0070C0"/>
                                  </a:solidFill>
                                  <a:latin typeface="Cambria Math" panose="02040503050406030204" pitchFamily="18" charset="0"/>
                                  <a:cs typeface="Times New Roman" panose="02020603050405020304" pitchFamily="18" charset="0"/>
                                </a:rPr>
                              </m:ctrlPr>
                            </m:sSubPr>
                            <m:e>
                              <m:r>
                                <a:rPr lang="en-US" sz="2400" b="0" i="1" smtClean="0">
                                  <a:solidFill>
                                    <a:srgbClr val="0070C0"/>
                                  </a:solidFill>
                                  <a:latin typeface="Cambria Math" panose="02040503050406030204" pitchFamily="18" charset="0"/>
                                  <a:cs typeface="Times New Roman" panose="02020603050405020304" pitchFamily="18" charset="0"/>
                                </a:rPr>
                                <m:t>𝑡</m:t>
                              </m:r>
                            </m:e>
                            <m:sub>
                              <m:r>
                                <a:rPr lang="en-US" sz="2400" b="0" i="1" smtClean="0">
                                  <a:solidFill>
                                    <a:srgbClr val="0070C0"/>
                                  </a:solidFill>
                                  <a:latin typeface="Cambria Math" panose="02040503050406030204" pitchFamily="18" charset="0"/>
                                  <a:cs typeface="Times New Roman" panose="02020603050405020304" pitchFamily="18" charset="0"/>
                                </a:rPr>
                                <m:t>𝑖</m:t>
                              </m:r>
                            </m:sub>
                          </m:sSub>
                        </m:num>
                        <m:den>
                          <m:r>
                            <a:rPr lang="en-US" sz="2400" b="0" i="1" smtClean="0">
                              <a:solidFill>
                                <a:srgbClr val="0070C0"/>
                              </a:solidFill>
                              <a:latin typeface="Cambria Math" panose="02040503050406030204" pitchFamily="18" charset="0"/>
                              <a:cs typeface="Times New Roman" panose="02020603050405020304" pitchFamily="18" charset="0"/>
                            </a:rPr>
                            <m:t>𝜕</m:t>
                          </m:r>
                          <m:r>
                            <a:rPr lang="en-US" sz="2400" b="0" i="1" smtClean="0">
                              <a:solidFill>
                                <a:srgbClr val="0070C0"/>
                              </a:solidFill>
                              <a:latin typeface="Cambria Math" panose="02040503050406030204" pitchFamily="18" charset="0"/>
                              <a:cs typeface="Times New Roman" panose="02020603050405020304" pitchFamily="18" charset="0"/>
                            </a:rPr>
                            <m:t>𝑐𝑎𝑛𝑐𝑒𝑟</m:t>
                          </m:r>
                          <m:sSub>
                            <m:sSubPr>
                              <m:ctrlPr>
                                <a:rPr lang="en-US" sz="2400" i="1" smtClean="0">
                                  <a:solidFill>
                                    <a:srgbClr val="0070C0"/>
                                  </a:solidFill>
                                  <a:latin typeface="Cambria Math" panose="02040503050406030204" pitchFamily="18" charset="0"/>
                                  <a:cs typeface="Times New Roman" panose="02020603050405020304" pitchFamily="18" charset="0"/>
                                </a:rPr>
                              </m:ctrlPr>
                            </m:sSubPr>
                            <m:e>
                              <m:r>
                                <a:rPr lang="en-US" sz="2400" b="0" i="1" smtClean="0">
                                  <a:solidFill>
                                    <a:srgbClr val="0070C0"/>
                                  </a:solidFill>
                                  <a:latin typeface="Cambria Math" panose="02040503050406030204" pitchFamily="18" charset="0"/>
                                  <a:cs typeface="Times New Roman" panose="02020603050405020304" pitchFamily="18" charset="0"/>
                                </a:rPr>
                                <m:t>𝑠</m:t>
                              </m:r>
                            </m:e>
                            <m:sub>
                              <m:r>
                                <a:rPr lang="en-US" sz="2400" b="0" i="1" smtClean="0">
                                  <a:solidFill>
                                    <a:srgbClr val="0070C0"/>
                                  </a:solidFill>
                                  <a:latin typeface="Cambria Math" panose="02040503050406030204" pitchFamily="18" charset="0"/>
                                  <a:cs typeface="Times New Roman" panose="02020603050405020304" pitchFamily="18" charset="0"/>
                                </a:rPr>
                                <m:t>𝑖</m:t>
                              </m:r>
                            </m:sub>
                          </m:sSub>
                        </m:den>
                      </m:f>
                      <m:r>
                        <a:rPr lang="en-US" sz="2400" b="0" i="1" smtClean="0">
                          <a:solidFill>
                            <a:srgbClr val="0070C0"/>
                          </a:solidFill>
                          <a:latin typeface="Cambria Math" panose="02040503050406030204" pitchFamily="18" charset="0"/>
                          <a:cs typeface="Times New Roman" panose="02020603050405020304" pitchFamily="18" charset="0"/>
                        </a:rPr>
                        <m:t>=</m:t>
                      </m:r>
                      <m:sSub>
                        <m:sSubPr>
                          <m:ctrlPr>
                            <a:rPr lang="en-US" sz="2400" i="1" smtClean="0">
                              <a:solidFill>
                                <a:srgbClr val="0070C0"/>
                              </a:solidFill>
                              <a:latin typeface="Cambria Math" panose="02040503050406030204" pitchFamily="18" charset="0"/>
                              <a:cs typeface="Times New Roman" panose="02020603050405020304" pitchFamily="18" charset="0"/>
                            </a:rPr>
                          </m:ctrlPr>
                        </m:sSubPr>
                        <m:e>
                          <m:r>
                            <a:rPr lang="en-US" sz="2400" b="0" i="1" smtClean="0">
                              <a:solidFill>
                                <a:srgbClr val="0070C0"/>
                              </a:solidFill>
                              <a:latin typeface="Cambria Math" panose="02040503050406030204" pitchFamily="18" charset="0"/>
                              <a:cs typeface="Times New Roman" panose="02020603050405020304" pitchFamily="18" charset="0"/>
                            </a:rPr>
                            <m:t>𝛽</m:t>
                          </m:r>
                        </m:e>
                        <m:sub>
                          <m:r>
                            <a:rPr lang="en-US" sz="2400" b="0" i="1" smtClean="0">
                              <a:solidFill>
                                <a:srgbClr val="0070C0"/>
                              </a:solidFill>
                              <a:latin typeface="Cambria Math" panose="02040503050406030204" pitchFamily="18" charset="0"/>
                              <a:cs typeface="Times New Roman" panose="02020603050405020304" pitchFamily="18" charset="0"/>
                            </a:rPr>
                            <m:t>1</m:t>
                          </m:r>
                        </m:sub>
                      </m:sSub>
                      <m:r>
                        <a:rPr lang="en-US" sz="2400" b="0" i="1" smtClean="0">
                          <a:solidFill>
                            <a:srgbClr val="0070C0"/>
                          </a:solidFill>
                          <a:latin typeface="Cambria Math" panose="02040503050406030204" pitchFamily="18" charset="0"/>
                          <a:cs typeface="Times New Roman" panose="02020603050405020304" pitchFamily="18" charset="0"/>
                        </a:rPr>
                        <m:t>+</m:t>
                      </m:r>
                      <m:sSub>
                        <m:sSubPr>
                          <m:ctrlPr>
                            <a:rPr lang="en-US" sz="2400" i="1" smtClean="0">
                              <a:solidFill>
                                <a:srgbClr val="0070C0"/>
                              </a:solidFill>
                              <a:latin typeface="Cambria Math" panose="02040503050406030204" pitchFamily="18" charset="0"/>
                              <a:cs typeface="Times New Roman" panose="02020603050405020304" pitchFamily="18" charset="0"/>
                            </a:rPr>
                          </m:ctrlPr>
                        </m:sSubPr>
                        <m:e>
                          <m:r>
                            <a:rPr lang="en-US" sz="2400" b="0" i="1" smtClean="0">
                              <a:solidFill>
                                <a:srgbClr val="0070C0"/>
                              </a:solidFill>
                              <a:latin typeface="Cambria Math" panose="02040503050406030204" pitchFamily="18" charset="0"/>
                              <a:cs typeface="Times New Roman" panose="02020603050405020304" pitchFamily="18" charset="0"/>
                            </a:rPr>
                            <m:t>𝛽</m:t>
                          </m:r>
                        </m:e>
                        <m:sub>
                          <m:r>
                            <a:rPr lang="en-US" sz="2400" b="0" i="1" smtClean="0">
                              <a:solidFill>
                                <a:srgbClr val="0070C0"/>
                              </a:solidFill>
                              <a:latin typeface="Cambria Math" panose="02040503050406030204" pitchFamily="18" charset="0"/>
                              <a:cs typeface="Times New Roman" panose="02020603050405020304" pitchFamily="18" charset="0"/>
                            </a:rPr>
                            <m:t>3</m:t>
                          </m:r>
                        </m:sub>
                      </m:sSub>
                      <m:r>
                        <a:rPr lang="en-US" sz="2400" b="0" i="1" smtClean="0">
                          <a:solidFill>
                            <a:srgbClr val="0070C0"/>
                          </a:solidFill>
                          <a:latin typeface="Cambria Math" panose="02040503050406030204" pitchFamily="18" charset="0"/>
                          <a:cs typeface="Times New Roman" panose="02020603050405020304" pitchFamily="18" charset="0"/>
                        </a:rPr>
                        <m:t>∗</m:t>
                      </m:r>
                      <m:r>
                        <a:rPr lang="en-US" sz="2400" b="0" i="1" smtClean="0">
                          <a:solidFill>
                            <a:srgbClr val="0070C0"/>
                          </a:solidFill>
                          <a:latin typeface="Cambria Math" panose="02040503050406030204" pitchFamily="18" charset="0"/>
                          <a:cs typeface="Times New Roman" panose="02020603050405020304" pitchFamily="18" charset="0"/>
                        </a:rPr>
                        <m:t>𝑚𝑎𝑙</m:t>
                      </m:r>
                      <m:sSub>
                        <m:sSubPr>
                          <m:ctrlPr>
                            <a:rPr lang="en-US" sz="2400" i="1" smtClean="0">
                              <a:solidFill>
                                <a:srgbClr val="0070C0"/>
                              </a:solidFill>
                              <a:latin typeface="Cambria Math" panose="02040503050406030204" pitchFamily="18" charset="0"/>
                              <a:cs typeface="Times New Roman" panose="02020603050405020304" pitchFamily="18" charset="0"/>
                            </a:rPr>
                          </m:ctrlPr>
                        </m:sSubPr>
                        <m:e>
                          <m:r>
                            <a:rPr lang="en-US" sz="2400" b="0" i="1" smtClean="0">
                              <a:solidFill>
                                <a:srgbClr val="0070C0"/>
                              </a:solidFill>
                              <a:latin typeface="Cambria Math" panose="02040503050406030204" pitchFamily="18" charset="0"/>
                              <a:cs typeface="Times New Roman" panose="02020603050405020304" pitchFamily="18" charset="0"/>
                            </a:rPr>
                            <m:t>𝑒</m:t>
                          </m:r>
                        </m:e>
                        <m:sub>
                          <m:r>
                            <a:rPr lang="en-US" sz="2400" b="0" i="1" smtClean="0">
                              <a:solidFill>
                                <a:srgbClr val="0070C0"/>
                              </a:solidFill>
                              <a:latin typeface="Cambria Math" panose="02040503050406030204" pitchFamily="18" charset="0"/>
                              <a:cs typeface="Times New Roman" panose="02020603050405020304" pitchFamily="18" charset="0"/>
                            </a:rPr>
                            <m:t>𝑖</m:t>
                          </m:r>
                        </m:sub>
                      </m:sSub>
                    </m:oMath>
                  </m:oMathPara>
                </a14:m>
                <a:endParaRPr lang="en-US" sz="2400" dirty="0">
                  <a:solidFill>
                    <a:srgbClr val="0070C0"/>
                  </a:solidFill>
                  <a:cs typeface="Times New Roman" panose="02020603050405020304" pitchFamily="18" charset="0"/>
                </a:endParaRPr>
              </a:p>
              <a:p>
                <a:pPr lvl="1"/>
                <a:r>
                  <a:rPr lang="en-US" sz="2400" dirty="0">
                    <a:solidFill>
                      <a:schemeClr val="tx1"/>
                    </a:solidFill>
                    <a:cs typeface="Times New Roman" panose="02020603050405020304" pitchFamily="18" charset="0"/>
                  </a:rPr>
                  <a:t>Hence, predictions are different across sexes:</a:t>
                </a:r>
              </a:p>
              <a:p>
                <a:pPr lvl="2"/>
                <a:r>
                  <a:rPr lang="en-US" sz="2200" dirty="0">
                    <a:solidFill>
                      <a:schemeClr val="tx1"/>
                    </a:solidFill>
                    <a:cs typeface="Times New Roman" panose="02020603050405020304" pitchFamily="18" charset="0"/>
                  </a:rPr>
                  <a:t>For females: </a:t>
                </a:r>
                <a14:m>
                  <m:oMath xmlns:m="http://schemas.openxmlformats.org/officeDocument/2006/math">
                    <m:sSub>
                      <m:sSubPr>
                        <m:ctrlPr>
                          <a:rPr lang="en-US" sz="2200" b="0" i="1" smtClean="0">
                            <a:solidFill>
                              <a:schemeClr val="tx1"/>
                            </a:solidFill>
                            <a:latin typeface="Cambria Math" panose="02040503050406030204" pitchFamily="18" charset="0"/>
                            <a:cs typeface="Times New Roman" panose="02020603050405020304" pitchFamily="18" charset="0"/>
                          </a:rPr>
                        </m:ctrlPr>
                      </m:sSubPr>
                      <m:e>
                        <m:r>
                          <a:rPr lang="en-US" sz="2200" b="0" i="1" smtClean="0">
                            <a:solidFill>
                              <a:schemeClr val="tx1"/>
                            </a:solidFill>
                            <a:latin typeface="Cambria Math" panose="02040503050406030204" pitchFamily="18" charset="0"/>
                            <a:cs typeface="Times New Roman" panose="02020603050405020304" pitchFamily="18" charset="0"/>
                          </a:rPr>
                          <m:t>𝛽</m:t>
                        </m:r>
                      </m:e>
                      <m:sub>
                        <m:r>
                          <a:rPr lang="en-US" sz="2200" b="0" i="1" smtClean="0">
                            <a:solidFill>
                              <a:schemeClr val="tx1"/>
                            </a:solidFill>
                            <a:latin typeface="Cambria Math" panose="02040503050406030204" pitchFamily="18" charset="0"/>
                            <a:cs typeface="Times New Roman" panose="02020603050405020304" pitchFamily="18" charset="0"/>
                          </a:rPr>
                          <m:t>1</m:t>
                        </m:r>
                      </m:sub>
                    </m:sSub>
                  </m:oMath>
                </a14:m>
                <a:endParaRPr lang="en-US" sz="2200" dirty="0">
                  <a:solidFill>
                    <a:schemeClr val="tx1"/>
                  </a:solidFill>
                  <a:cs typeface="Times New Roman" panose="02020603050405020304" pitchFamily="18" charset="0"/>
                </a:endParaRPr>
              </a:p>
              <a:p>
                <a:pPr lvl="2"/>
                <a:r>
                  <a:rPr lang="en-US" sz="2200" dirty="0">
                    <a:solidFill>
                      <a:schemeClr val="tx1"/>
                    </a:solidFill>
                    <a:cs typeface="Times New Roman" panose="02020603050405020304" pitchFamily="18" charset="0"/>
                  </a:rPr>
                  <a:t>For males: </a:t>
                </a:r>
                <a14:m>
                  <m:oMath xmlns:m="http://schemas.openxmlformats.org/officeDocument/2006/math">
                    <m:sSub>
                      <m:sSubPr>
                        <m:ctrlPr>
                          <a:rPr lang="en-US" sz="2200" b="0" i="1" smtClean="0">
                            <a:solidFill>
                              <a:schemeClr val="tx1"/>
                            </a:solidFill>
                            <a:latin typeface="Cambria Math" panose="02040503050406030204" pitchFamily="18" charset="0"/>
                            <a:cs typeface="Times New Roman" panose="02020603050405020304" pitchFamily="18" charset="0"/>
                          </a:rPr>
                        </m:ctrlPr>
                      </m:sSubPr>
                      <m:e>
                        <m:r>
                          <a:rPr lang="en-US" sz="2200" b="0" i="1" smtClean="0">
                            <a:solidFill>
                              <a:schemeClr val="tx1"/>
                            </a:solidFill>
                            <a:latin typeface="Cambria Math" panose="02040503050406030204" pitchFamily="18" charset="0"/>
                            <a:cs typeface="Times New Roman" panose="02020603050405020304" pitchFamily="18" charset="0"/>
                          </a:rPr>
                          <m:t>𝛽</m:t>
                        </m:r>
                      </m:e>
                      <m:sub>
                        <m:r>
                          <a:rPr lang="en-US" sz="2200" b="0" i="1" smtClean="0">
                            <a:solidFill>
                              <a:schemeClr val="tx1"/>
                            </a:solidFill>
                            <a:latin typeface="Cambria Math" panose="02040503050406030204" pitchFamily="18" charset="0"/>
                            <a:cs typeface="Times New Roman" panose="02020603050405020304" pitchFamily="18" charset="0"/>
                          </a:rPr>
                          <m:t>1</m:t>
                        </m:r>
                      </m:sub>
                    </m:sSub>
                    <m:r>
                      <a:rPr lang="en-US" sz="2200" b="0" i="1" smtClean="0">
                        <a:solidFill>
                          <a:schemeClr val="accent3">
                            <a:lumMod val="75000"/>
                          </a:schemeClr>
                        </a:solidFill>
                        <a:latin typeface="Cambria Math" panose="02040503050406030204" pitchFamily="18" charset="0"/>
                        <a:cs typeface="Times New Roman" panose="02020603050405020304" pitchFamily="18" charset="0"/>
                      </a:rPr>
                      <m:t>+</m:t>
                    </m:r>
                    <m:sSub>
                      <m:sSubPr>
                        <m:ctrlPr>
                          <a:rPr lang="en-US" sz="2200" b="0" i="1" smtClean="0">
                            <a:solidFill>
                              <a:schemeClr val="accent3">
                                <a:lumMod val="75000"/>
                              </a:schemeClr>
                            </a:solidFill>
                            <a:latin typeface="Cambria Math" panose="02040503050406030204" pitchFamily="18" charset="0"/>
                            <a:cs typeface="Times New Roman" panose="02020603050405020304" pitchFamily="18" charset="0"/>
                          </a:rPr>
                        </m:ctrlPr>
                      </m:sSubPr>
                      <m:e>
                        <m:r>
                          <a:rPr lang="en-US" sz="2200" b="0" i="1" smtClean="0">
                            <a:solidFill>
                              <a:schemeClr val="accent3">
                                <a:lumMod val="75000"/>
                              </a:schemeClr>
                            </a:solidFill>
                            <a:latin typeface="Cambria Math" panose="02040503050406030204" pitchFamily="18" charset="0"/>
                            <a:cs typeface="Times New Roman" panose="02020603050405020304" pitchFamily="18" charset="0"/>
                          </a:rPr>
                          <m:t>𝛽</m:t>
                        </m:r>
                      </m:e>
                      <m:sub>
                        <m:r>
                          <a:rPr lang="en-US" sz="2200" b="0" i="1" smtClean="0">
                            <a:solidFill>
                              <a:schemeClr val="accent3">
                                <a:lumMod val="75000"/>
                              </a:schemeClr>
                            </a:solidFill>
                            <a:latin typeface="Cambria Math" panose="02040503050406030204" pitchFamily="18" charset="0"/>
                            <a:cs typeface="Times New Roman" panose="02020603050405020304" pitchFamily="18" charset="0"/>
                          </a:rPr>
                          <m:t>3</m:t>
                        </m:r>
                      </m:sub>
                    </m:sSub>
                  </m:oMath>
                </a14:m>
                <a:endParaRPr lang="en-US" sz="2200" dirty="0">
                  <a:solidFill>
                    <a:schemeClr val="tx1"/>
                  </a:solidFill>
                  <a:cs typeface="Times New Roman" panose="02020603050405020304" pitchFamily="18" charset="0"/>
                </a:endParaRPr>
              </a:p>
              <a:p>
                <a:pPr lvl="1"/>
                <a14:m>
                  <m:oMath xmlns:m="http://schemas.openxmlformats.org/officeDocument/2006/math">
                    <m:sSub>
                      <m:sSubPr>
                        <m:ctrlPr>
                          <a:rPr lang="en-US" sz="2400" b="0" i="1" smtClean="0">
                            <a:solidFill>
                              <a:schemeClr val="tx1"/>
                            </a:solidFill>
                            <a:latin typeface="Cambria Math" panose="02040503050406030204" pitchFamily="18" charset="0"/>
                            <a:cs typeface="Times New Roman" panose="02020603050405020304" pitchFamily="18" charset="0"/>
                          </a:rPr>
                        </m:ctrlPr>
                      </m:sSubPr>
                      <m:e>
                        <m:r>
                          <a:rPr lang="en-US" sz="2400" b="0" i="1" smtClean="0">
                            <a:solidFill>
                              <a:schemeClr val="tx1"/>
                            </a:solidFill>
                            <a:latin typeface="Cambria Math" panose="02040503050406030204" pitchFamily="18" charset="0"/>
                            <a:cs typeface="Times New Roman" panose="02020603050405020304" pitchFamily="18" charset="0"/>
                          </a:rPr>
                          <m:t>𝛽</m:t>
                        </m:r>
                      </m:e>
                      <m:sub>
                        <m:r>
                          <a:rPr lang="en-US" sz="2400" b="0" i="1" smtClean="0">
                            <a:solidFill>
                              <a:schemeClr val="tx1"/>
                            </a:solidFill>
                            <a:latin typeface="Cambria Math" panose="02040503050406030204" pitchFamily="18" charset="0"/>
                            <a:cs typeface="Times New Roman" panose="02020603050405020304" pitchFamily="18" charset="0"/>
                          </a:rPr>
                          <m:t>3</m:t>
                        </m:r>
                      </m:sub>
                    </m:sSub>
                  </m:oMath>
                </a14:m>
                <a:r>
                  <a:rPr lang="en-US" sz="2400" dirty="0">
                    <a:solidFill>
                      <a:schemeClr val="tx1"/>
                    </a:solidFill>
                    <a:cs typeface="Times New Roman" panose="02020603050405020304" pitchFamily="18" charset="0"/>
                  </a:rPr>
                  <a:t> tells you the </a:t>
                </a:r>
                <a:r>
                  <a:rPr lang="en-US" sz="2400" b="1" dirty="0">
                    <a:solidFill>
                      <a:schemeClr val="accent3">
                        <a:lumMod val="75000"/>
                      </a:schemeClr>
                    </a:solidFill>
                    <a:cs typeface="Times New Roman" panose="02020603050405020304" pitchFamily="18" charset="0"/>
                  </a:rPr>
                  <a:t>differential marginal</a:t>
                </a:r>
                <a:r>
                  <a:rPr lang="en-US" sz="2400" b="1" dirty="0">
                    <a:solidFill>
                      <a:schemeClr val="tx1"/>
                    </a:solidFill>
                    <a:cs typeface="Times New Roman" panose="02020603050405020304" pitchFamily="18" charset="0"/>
                  </a:rPr>
                  <a:t> </a:t>
                </a:r>
                <a:r>
                  <a:rPr lang="en-US" sz="2400" dirty="0">
                    <a:solidFill>
                      <a:schemeClr val="tx1"/>
                    </a:solidFill>
                    <a:cs typeface="Times New Roman" panose="02020603050405020304" pitchFamily="18" charset="0"/>
                  </a:rPr>
                  <a:t>cost of cancer for males</a:t>
                </a:r>
              </a:p>
              <a:p>
                <a:pPr marL="274320" lvl="1" indent="0">
                  <a:buNone/>
                </a:pPr>
                <a:endParaRPr lang="en-US" sz="2400" dirty="0">
                  <a:solidFill>
                    <a:srgbClr val="0070C0"/>
                  </a:solidFill>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829801" cy="5141388"/>
              </a:xfrm>
              <a:blipFill>
                <a:blip r:embed="rId3"/>
                <a:stretch>
                  <a:fillRect l="-434" t="-1305"/>
                </a:stretch>
              </a:blipFill>
            </p:spPr>
            <p:txBody>
              <a:bodyPr/>
              <a:lstStyle/>
              <a:p>
                <a:r>
                  <a:rPr lang="en-US">
                    <a:noFill/>
                  </a:rPr>
                  <a:t> </a:t>
                </a:r>
              </a:p>
            </p:txBody>
          </p:sp>
        </mc:Fallback>
      </mc:AlternateContent>
    </p:spTree>
    <p:extLst>
      <p:ext uri="{BB962C8B-B14F-4D97-AF65-F5344CB8AC3E}">
        <p14:creationId xmlns:p14="http://schemas.microsoft.com/office/powerpoint/2010/main" val="374609449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What about Continuous Interactions?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829801" cy="5141388"/>
              </a:xfrm>
            </p:spPr>
            <p:txBody>
              <a:bodyPr>
                <a:normAutofit/>
              </a:bodyPr>
              <a:lstStyle/>
              <a:p>
                <a:r>
                  <a:rPr lang="en-US" sz="2400" dirty="0">
                    <a:cs typeface="Times New Roman" panose="02020603050405020304" pitchFamily="18" charset="0"/>
                  </a:rPr>
                  <a:t>Example: risk adjustment (predicting health costs) </a:t>
                </a:r>
              </a:p>
              <a:p>
                <a:pPr marL="0" indent="0" algn="ctr">
                  <a:buNone/>
                </a:pPr>
                <a14:m>
                  <m:oMath xmlns:m="http://schemas.openxmlformats.org/officeDocument/2006/math">
                    <m:r>
                      <a:rPr lang="en-US" sz="2400" b="0" i="1" smtClean="0">
                        <a:latin typeface="Cambria Math" panose="02040503050406030204" pitchFamily="18" charset="0"/>
                        <a:cs typeface="Times New Roman" panose="02020603050405020304" pitchFamily="18" charset="0"/>
                      </a:rPr>
                      <m:t>𝑐𝑜𝑠</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𝑡</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𝐵𝑀</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𝐼</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2</m:t>
                        </m:r>
                      </m:sub>
                    </m:sSub>
                    <m:r>
                      <a:rPr lang="en-US" sz="2400" b="0" i="1" smtClean="0">
                        <a:latin typeface="Cambria Math" panose="02040503050406030204" pitchFamily="18" charset="0"/>
                        <a:cs typeface="Times New Roman" panose="02020603050405020304" pitchFamily="18" charset="0"/>
                      </a:rPr>
                      <m:t>𝐴𝑔</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𝑒</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3</m:t>
                        </m:r>
                      </m:sub>
                    </m:sSub>
                    <m:r>
                      <a:rPr lang="en-US" sz="2400" b="0" i="1" smtClean="0">
                        <a:latin typeface="Cambria Math" panose="02040503050406030204" pitchFamily="18" charset="0"/>
                        <a:cs typeface="Times New Roman" panose="02020603050405020304" pitchFamily="18" charset="0"/>
                      </a:rPr>
                      <m:t>𝐴𝑔</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𝑒</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𝐵𝑀</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𝐼</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acc>
                      <m:accPr>
                        <m:chr m:val="⃗"/>
                        <m:ctrlPr>
                          <a:rPr lang="en-US" sz="2400" b="0" i="1" smtClean="0">
                            <a:latin typeface="Cambria Math" panose="02040503050406030204" pitchFamily="18" charset="0"/>
                            <a:cs typeface="Times New Roman" panose="02020603050405020304" pitchFamily="18" charset="0"/>
                          </a:rPr>
                        </m:ctrlPr>
                      </m:accPr>
                      <m:e>
                        <m:r>
                          <a:rPr lang="en-US" sz="2400" b="0" i="1" smtClean="0">
                            <a:latin typeface="Cambria Math" panose="02040503050406030204" pitchFamily="18" charset="0"/>
                            <a:cs typeface="Times New Roman" panose="02020603050405020304" pitchFamily="18" charset="0"/>
                          </a:rPr>
                          <m:t>𝛾</m:t>
                        </m:r>
                      </m:e>
                    </m:acc>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𝑍</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𝜀</m:t>
                        </m:r>
                      </m:e>
                      <m:sub>
                        <m:r>
                          <a:rPr lang="en-US" sz="2400" b="0" i="1" smtClean="0">
                            <a:latin typeface="Cambria Math" panose="02040503050406030204" pitchFamily="18" charset="0"/>
                            <a:cs typeface="Times New Roman" panose="02020603050405020304" pitchFamily="18" charset="0"/>
                          </a:rPr>
                          <m:t>𝑖</m:t>
                        </m:r>
                      </m:sub>
                    </m:sSub>
                  </m:oMath>
                </a14:m>
                <a:r>
                  <a:rPr lang="en-US" sz="2400" dirty="0">
                    <a:cs typeface="Times New Roman" panose="02020603050405020304" pitchFamily="18" charset="0"/>
                  </a:rPr>
                  <a:t> </a:t>
                </a:r>
              </a:p>
              <a:p>
                <a:r>
                  <a:rPr lang="en-US" sz="2400" b="1" dirty="0">
                    <a:solidFill>
                      <a:srgbClr val="0070C0"/>
                    </a:solidFill>
                    <a:cs typeface="Times New Roman" panose="02020603050405020304" pitchFamily="18" charset="0"/>
                  </a:rPr>
                  <a:t>What is the effect of BMI on predicted costs?  </a:t>
                </a:r>
              </a:p>
              <a:p>
                <a:pPr lvl="1"/>
                <a:r>
                  <a:rPr lang="en-US" sz="2400" dirty="0">
                    <a:solidFill>
                      <a:srgbClr val="0070C0"/>
                    </a:solidFill>
                    <a:cs typeface="Times New Roman" panose="02020603050405020304" pitchFamily="18" charset="0"/>
                  </a:rPr>
                  <a:t>To find this, just take the derivative: </a:t>
                </a:r>
              </a:p>
              <a:p>
                <a:pPr marL="274320" lvl="1" indent="0">
                  <a:buNone/>
                </a:pPr>
                <a14:m>
                  <m:oMathPara xmlns:m="http://schemas.openxmlformats.org/officeDocument/2006/math">
                    <m:oMathParaPr>
                      <m:jc m:val="centerGroup"/>
                    </m:oMathParaPr>
                    <m:oMath xmlns:m="http://schemas.openxmlformats.org/officeDocument/2006/math">
                      <m:f>
                        <m:fPr>
                          <m:ctrlPr>
                            <a:rPr lang="en-US" sz="2400" i="1" smtClean="0">
                              <a:solidFill>
                                <a:srgbClr val="0070C0"/>
                              </a:solidFill>
                              <a:latin typeface="Cambria Math" panose="02040503050406030204" pitchFamily="18" charset="0"/>
                              <a:cs typeface="Times New Roman" panose="02020603050405020304" pitchFamily="18" charset="0"/>
                            </a:rPr>
                          </m:ctrlPr>
                        </m:fPr>
                        <m:num>
                          <m:r>
                            <a:rPr lang="en-US" sz="2400" b="0" i="1" smtClean="0">
                              <a:solidFill>
                                <a:srgbClr val="0070C0"/>
                              </a:solidFill>
                              <a:latin typeface="Cambria Math" panose="02040503050406030204" pitchFamily="18" charset="0"/>
                              <a:cs typeface="Times New Roman" panose="02020603050405020304" pitchFamily="18" charset="0"/>
                            </a:rPr>
                            <m:t>𝜕</m:t>
                          </m:r>
                          <m:r>
                            <a:rPr lang="en-US" sz="2400" b="0" i="1" smtClean="0">
                              <a:solidFill>
                                <a:srgbClr val="0070C0"/>
                              </a:solidFill>
                              <a:latin typeface="Cambria Math" panose="02040503050406030204" pitchFamily="18" charset="0"/>
                              <a:cs typeface="Times New Roman" panose="02020603050405020304" pitchFamily="18" charset="0"/>
                            </a:rPr>
                            <m:t>𝑐𝑜𝑠</m:t>
                          </m:r>
                          <m:sSub>
                            <m:sSubPr>
                              <m:ctrlPr>
                                <a:rPr lang="en-US" sz="2400" i="1" smtClean="0">
                                  <a:solidFill>
                                    <a:srgbClr val="0070C0"/>
                                  </a:solidFill>
                                  <a:latin typeface="Cambria Math" panose="02040503050406030204" pitchFamily="18" charset="0"/>
                                  <a:cs typeface="Times New Roman" panose="02020603050405020304" pitchFamily="18" charset="0"/>
                                </a:rPr>
                              </m:ctrlPr>
                            </m:sSubPr>
                            <m:e>
                              <m:r>
                                <a:rPr lang="en-US" sz="2400" b="0" i="1" smtClean="0">
                                  <a:solidFill>
                                    <a:srgbClr val="0070C0"/>
                                  </a:solidFill>
                                  <a:latin typeface="Cambria Math" panose="02040503050406030204" pitchFamily="18" charset="0"/>
                                  <a:cs typeface="Times New Roman" panose="02020603050405020304" pitchFamily="18" charset="0"/>
                                </a:rPr>
                                <m:t>𝑡</m:t>
                              </m:r>
                            </m:e>
                            <m:sub>
                              <m:r>
                                <a:rPr lang="en-US" sz="2400" b="0" i="1" smtClean="0">
                                  <a:solidFill>
                                    <a:srgbClr val="0070C0"/>
                                  </a:solidFill>
                                  <a:latin typeface="Cambria Math" panose="02040503050406030204" pitchFamily="18" charset="0"/>
                                  <a:cs typeface="Times New Roman" panose="02020603050405020304" pitchFamily="18" charset="0"/>
                                </a:rPr>
                                <m:t>𝑖</m:t>
                              </m:r>
                            </m:sub>
                          </m:sSub>
                        </m:num>
                        <m:den>
                          <m:r>
                            <a:rPr lang="en-US" sz="2400" b="0" i="1" smtClean="0">
                              <a:solidFill>
                                <a:srgbClr val="0070C0"/>
                              </a:solidFill>
                              <a:latin typeface="Cambria Math" panose="02040503050406030204" pitchFamily="18" charset="0"/>
                              <a:cs typeface="Times New Roman" panose="02020603050405020304" pitchFamily="18" charset="0"/>
                            </a:rPr>
                            <m:t>𝜕</m:t>
                          </m:r>
                          <m:r>
                            <a:rPr lang="en-US" sz="2400" b="0" i="1" smtClean="0">
                              <a:solidFill>
                                <a:srgbClr val="0070C0"/>
                              </a:solidFill>
                              <a:latin typeface="Cambria Math" panose="02040503050406030204" pitchFamily="18" charset="0"/>
                              <a:cs typeface="Times New Roman" panose="02020603050405020304" pitchFamily="18" charset="0"/>
                            </a:rPr>
                            <m:t>𝐵𝑀</m:t>
                          </m:r>
                          <m:sSub>
                            <m:sSubPr>
                              <m:ctrlPr>
                                <a:rPr lang="en-US" sz="2400" b="0" i="1" smtClean="0">
                                  <a:solidFill>
                                    <a:srgbClr val="0070C0"/>
                                  </a:solidFill>
                                  <a:latin typeface="Cambria Math" panose="02040503050406030204" pitchFamily="18" charset="0"/>
                                  <a:cs typeface="Times New Roman" panose="02020603050405020304" pitchFamily="18" charset="0"/>
                                </a:rPr>
                              </m:ctrlPr>
                            </m:sSubPr>
                            <m:e>
                              <m:r>
                                <a:rPr lang="en-US" sz="2400" b="0" i="1" smtClean="0">
                                  <a:solidFill>
                                    <a:srgbClr val="0070C0"/>
                                  </a:solidFill>
                                  <a:latin typeface="Cambria Math" panose="02040503050406030204" pitchFamily="18" charset="0"/>
                                  <a:cs typeface="Times New Roman" panose="02020603050405020304" pitchFamily="18" charset="0"/>
                                </a:rPr>
                                <m:t>𝐼</m:t>
                              </m:r>
                            </m:e>
                            <m:sub>
                              <m:r>
                                <a:rPr lang="en-US" sz="2400" b="0" i="1" smtClean="0">
                                  <a:solidFill>
                                    <a:srgbClr val="0070C0"/>
                                  </a:solidFill>
                                  <a:latin typeface="Cambria Math" panose="02040503050406030204" pitchFamily="18" charset="0"/>
                                  <a:cs typeface="Times New Roman" panose="02020603050405020304" pitchFamily="18" charset="0"/>
                                </a:rPr>
                                <m:t>𝑖</m:t>
                              </m:r>
                            </m:sub>
                          </m:sSub>
                        </m:den>
                      </m:f>
                      <m:r>
                        <a:rPr lang="en-US" sz="2400" b="0" i="1" smtClean="0">
                          <a:solidFill>
                            <a:srgbClr val="0070C0"/>
                          </a:solidFill>
                          <a:latin typeface="Cambria Math" panose="02040503050406030204" pitchFamily="18" charset="0"/>
                          <a:cs typeface="Times New Roman" panose="02020603050405020304" pitchFamily="18" charset="0"/>
                        </a:rPr>
                        <m:t>=</m:t>
                      </m:r>
                      <m:sSub>
                        <m:sSubPr>
                          <m:ctrlPr>
                            <a:rPr lang="en-US" sz="2400" i="1" smtClean="0">
                              <a:solidFill>
                                <a:srgbClr val="0070C0"/>
                              </a:solidFill>
                              <a:latin typeface="Cambria Math" panose="02040503050406030204" pitchFamily="18" charset="0"/>
                              <a:cs typeface="Times New Roman" panose="02020603050405020304" pitchFamily="18" charset="0"/>
                            </a:rPr>
                          </m:ctrlPr>
                        </m:sSubPr>
                        <m:e>
                          <m:r>
                            <a:rPr lang="en-US" sz="2400" b="0" i="1" smtClean="0">
                              <a:solidFill>
                                <a:srgbClr val="0070C0"/>
                              </a:solidFill>
                              <a:latin typeface="Cambria Math" panose="02040503050406030204" pitchFamily="18" charset="0"/>
                              <a:cs typeface="Times New Roman" panose="02020603050405020304" pitchFamily="18" charset="0"/>
                            </a:rPr>
                            <m:t>𝛽</m:t>
                          </m:r>
                        </m:e>
                        <m:sub>
                          <m:r>
                            <a:rPr lang="en-US" sz="2400" b="0" i="1" smtClean="0">
                              <a:solidFill>
                                <a:srgbClr val="0070C0"/>
                              </a:solidFill>
                              <a:latin typeface="Cambria Math" panose="02040503050406030204" pitchFamily="18" charset="0"/>
                              <a:cs typeface="Times New Roman" panose="02020603050405020304" pitchFamily="18" charset="0"/>
                            </a:rPr>
                            <m:t>1</m:t>
                          </m:r>
                        </m:sub>
                      </m:sSub>
                      <m:r>
                        <a:rPr lang="en-US" sz="2400" b="0" i="1" smtClean="0">
                          <a:solidFill>
                            <a:srgbClr val="0070C0"/>
                          </a:solidFill>
                          <a:latin typeface="Cambria Math" panose="02040503050406030204" pitchFamily="18" charset="0"/>
                          <a:cs typeface="Times New Roman" panose="02020603050405020304" pitchFamily="18" charset="0"/>
                        </a:rPr>
                        <m:t>+</m:t>
                      </m:r>
                      <m:sSub>
                        <m:sSubPr>
                          <m:ctrlPr>
                            <a:rPr lang="en-US" sz="2400" i="1" smtClean="0">
                              <a:solidFill>
                                <a:srgbClr val="0070C0"/>
                              </a:solidFill>
                              <a:latin typeface="Cambria Math" panose="02040503050406030204" pitchFamily="18" charset="0"/>
                              <a:cs typeface="Times New Roman" panose="02020603050405020304" pitchFamily="18" charset="0"/>
                            </a:rPr>
                          </m:ctrlPr>
                        </m:sSubPr>
                        <m:e>
                          <m:r>
                            <a:rPr lang="en-US" sz="2400" b="0" i="1" smtClean="0">
                              <a:solidFill>
                                <a:srgbClr val="0070C0"/>
                              </a:solidFill>
                              <a:latin typeface="Cambria Math" panose="02040503050406030204" pitchFamily="18" charset="0"/>
                              <a:cs typeface="Times New Roman" panose="02020603050405020304" pitchFamily="18" charset="0"/>
                            </a:rPr>
                            <m:t>𝛽</m:t>
                          </m:r>
                        </m:e>
                        <m:sub>
                          <m:r>
                            <a:rPr lang="en-US" sz="2400" b="0" i="1" smtClean="0">
                              <a:solidFill>
                                <a:srgbClr val="0070C0"/>
                              </a:solidFill>
                              <a:latin typeface="Cambria Math" panose="02040503050406030204" pitchFamily="18" charset="0"/>
                              <a:cs typeface="Times New Roman" panose="02020603050405020304" pitchFamily="18" charset="0"/>
                            </a:rPr>
                            <m:t>3</m:t>
                          </m:r>
                        </m:sub>
                      </m:sSub>
                      <m:r>
                        <a:rPr lang="en-US" sz="2400" b="0" i="1" smtClean="0">
                          <a:solidFill>
                            <a:srgbClr val="0070C0"/>
                          </a:solidFill>
                          <a:latin typeface="Cambria Math" panose="02040503050406030204" pitchFamily="18" charset="0"/>
                          <a:cs typeface="Times New Roman" panose="02020603050405020304" pitchFamily="18" charset="0"/>
                        </a:rPr>
                        <m:t>∗</m:t>
                      </m:r>
                      <m:r>
                        <a:rPr lang="en-US" sz="2400" b="0" i="1" smtClean="0">
                          <a:solidFill>
                            <a:srgbClr val="0070C0"/>
                          </a:solidFill>
                          <a:latin typeface="Cambria Math" panose="02040503050406030204" pitchFamily="18" charset="0"/>
                          <a:cs typeface="Times New Roman" panose="02020603050405020304" pitchFamily="18" charset="0"/>
                        </a:rPr>
                        <m:t>𝐴𝑔</m:t>
                      </m:r>
                      <m:sSub>
                        <m:sSubPr>
                          <m:ctrlPr>
                            <a:rPr lang="en-US" sz="2400" i="1" smtClean="0">
                              <a:solidFill>
                                <a:srgbClr val="0070C0"/>
                              </a:solidFill>
                              <a:latin typeface="Cambria Math" panose="02040503050406030204" pitchFamily="18" charset="0"/>
                              <a:cs typeface="Times New Roman" panose="02020603050405020304" pitchFamily="18" charset="0"/>
                            </a:rPr>
                          </m:ctrlPr>
                        </m:sSubPr>
                        <m:e>
                          <m:r>
                            <a:rPr lang="en-US" sz="2400" b="0" i="1" smtClean="0">
                              <a:solidFill>
                                <a:srgbClr val="0070C0"/>
                              </a:solidFill>
                              <a:latin typeface="Cambria Math" panose="02040503050406030204" pitchFamily="18" charset="0"/>
                              <a:cs typeface="Times New Roman" panose="02020603050405020304" pitchFamily="18" charset="0"/>
                            </a:rPr>
                            <m:t>𝑒</m:t>
                          </m:r>
                        </m:e>
                        <m:sub>
                          <m:r>
                            <a:rPr lang="en-US" sz="2400" b="0" i="1" smtClean="0">
                              <a:solidFill>
                                <a:srgbClr val="0070C0"/>
                              </a:solidFill>
                              <a:latin typeface="Cambria Math" panose="02040503050406030204" pitchFamily="18" charset="0"/>
                              <a:cs typeface="Times New Roman" panose="02020603050405020304" pitchFamily="18" charset="0"/>
                            </a:rPr>
                            <m:t>𝑖</m:t>
                          </m:r>
                        </m:sub>
                      </m:sSub>
                    </m:oMath>
                  </m:oMathPara>
                </a14:m>
                <a:endParaRPr lang="en-US" sz="2400" dirty="0">
                  <a:solidFill>
                    <a:srgbClr val="0070C0"/>
                  </a:solidFill>
                  <a:cs typeface="Times New Roman" panose="02020603050405020304" pitchFamily="18" charset="0"/>
                </a:endParaRPr>
              </a:p>
              <a:p>
                <a:pPr lvl="1"/>
                <a:r>
                  <a:rPr lang="en-US" sz="2400" dirty="0">
                    <a:solidFill>
                      <a:schemeClr val="tx1"/>
                    </a:solidFill>
                    <a:cs typeface="Times New Roman" panose="02020603050405020304" pitchFamily="18" charset="0"/>
                  </a:rPr>
                  <a:t>Now, interpretation is harder:</a:t>
                </a:r>
              </a:p>
              <a:p>
                <a:pPr lvl="2"/>
                <a:r>
                  <a:rPr lang="en-US" sz="2200" dirty="0">
                    <a:solidFill>
                      <a:schemeClr val="tx1"/>
                    </a:solidFill>
                    <a:cs typeface="Times New Roman" panose="02020603050405020304" pitchFamily="18" charset="0"/>
                  </a:rPr>
                  <a:t>As BMI increases, costs are expected to change by </a:t>
                </a:r>
                <a14:m>
                  <m:oMath xmlns:m="http://schemas.openxmlformats.org/officeDocument/2006/math">
                    <m:sSub>
                      <m:sSubPr>
                        <m:ctrlPr>
                          <a:rPr lang="en-US" sz="2200" b="0" i="1" smtClean="0">
                            <a:solidFill>
                              <a:schemeClr val="tx1"/>
                            </a:solidFill>
                            <a:latin typeface="Cambria Math" panose="02040503050406030204" pitchFamily="18" charset="0"/>
                            <a:cs typeface="Times New Roman" panose="02020603050405020304" pitchFamily="18" charset="0"/>
                          </a:rPr>
                        </m:ctrlPr>
                      </m:sSubPr>
                      <m:e>
                        <m:r>
                          <a:rPr lang="en-US" sz="2200" b="0" i="1" smtClean="0">
                            <a:solidFill>
                              <a:schemeClr val="tx1"/>
                            </a:solidFill>
                            <a:latin typeface="Cambria Math" panose="02040503050406030204" pitchFamily="18" charset="0"/>
                            <a:cs typeface="Times New Roman" panose="02020603050405020304" pitchFamily="18" charset="0"/>
                          </a:rPr>
                          <m:t>𝛽</m:t>
                        </m:r>
                      </m:e>
                      <m:sub>
                        <m:r>
                          <a:rPr lang="en-US" sz="2200" b="0" i="1" smtClean="0">
                            <a:solidFill>
                              <a:schemeClr val="tx1"/>
                            </a:solidFill>
                            <a:latin typeface="Cambria Math" panose="02040503050406030204" pitchFamily="18" charset="0"/>
                            <a:cs typeface="Times New Roman" panose="02020603050405020304" pitchFamily="18" charset="0"/>
                          </a:rPr>
                          <m:t>1</m:t>
                        </m:r>
                      </m:sub>
                    </m:sSub>
                  </m:oMath>
                </a14:m>
                <a:endParaRPr lang="en-US" sz="2200" dirty="0">
                  <a:solidFill>
                    <a:schemeClr val="tx1"/>
                  </a:solidFill>
                  <a:cs typeface="Times New Roman" panose="02020603050405020304" pitchFamily="18" charset="0"/>
                </a:endParaRPr>
              </a:p>
              <a:p>
                <a:pPr lvl="2"/>
                <a:r>
                  <a:rPr lang="en-US" sz="2200" dirty="0">
                    <a:solidFill>
                      <a:schemeClr val="tx1"/>
                    </a:solidFill>
                    <a:cs typeface="Times New Roman" panose="02020603050405020304" pitchFamily="18" charset="0"/>
                  </a:rPr>
                  <a:t>But as age increases, effect of BMI is also changing by </a:t>
                </a:r>
                <a14:m>
                  <m:oMath xmlns:m="http://schemas.openxmlformats.org/officeDocument/2006/math">
                    <m:sSub>
                      <m:sSubPr>
                        <m:ctrlPr>
                          <a:rPr lang="en-US" sz="2200" b="0" i="1" smtClean="0">
                            <a:solidFill>
                              <a:schemeClr val="tx1"/>
                            </a:solidFill>
                            <a:latin typeface="Cambria Math" panose="02040503050406030204" pitchFamily="18" charset="0"/>
                            <a:cs typeface="Times New Roman" panose="02020603050405020304" pitchFamily="18" charset="0"/>
                          </a:rPr>
                        </m:ctrlPr>
                      </m:sSubPr>
                      <m:e>
                        <m:r>
                          <a:rPr lang="en-US" sz="2200" b="0" i="1" smtClean="0">
                            <a:solidFill>
                              <a:schemeClr val="tx1"/>
                            </a:solidFill>
                            <a:latin typeface="Cambria Math" panose="02040503050406030204" pitchFamily="18" charset="0"/>
                            <a:cs typeface="Times New Roman" panose="02020603050405020304" pitchFamily="18" charset="0"/>
                          </a:rPr>
                          <m:t>𝛽</m:t>
                        </m:r>
                      </m:e>
                      <m:sub>
                        <m:r>
                          <a:rPr lang="en-US" sz="2200" b="0" i="1" smtClean="0">
                            <a:solidFill>
                              <a:schemeClr val="tx1"/>
                            </a:solidFill>
                            <a:latin typeface="Cambria Math" panose="02040503050406030204" pitchFamily="18" charset="0"/>
                            <a:cs typeface="Times New Roman" panose="02020603050405020304" pitchFamily="18" charset="0"/>
                          </a:rPr>
                          <m:t>3</m:t>
                        </m:r>
                      </m:sub>
                    </m:sSub>
                  </m:oMath>
                </a14:m>
                <a:endParaRPr lang="en-US" sz="2200" dirty="0">
                  <a:solidFill>
                    <a:schemeClr val="tx1"/>
                  </a:solidFill>
                  <a:cs typeface="Times New Roman" panose="02020603050405020304" pitchFamily="18" charset="0"/>
                </a:endParaRPr>
              </a:p>
              <a:p>
                <a:pPr lvl="1"/>
                <a:endParaRPr lang="en-US" sz="2400" dirty="0">
                  <a:solidFill>
                    <a:schemeClr val="accent3">
                      <a:lumMod val="75000"/>
                    </a:schemeClr>
                  </a:solidFill>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829801" cy="5141388"/>
              </a:xfrm>
              <a:blipFill>
                <a:blip r:embed="rId3"/>
                <a:stretch>
                  <a:fillRect l="-434" t="-1305"/>
                </a:stretch>
              </a:blipFill>
            </p:spPr>
            <p:txBody>
              <a:bodyPr/>
              <a:lstStyle/>
              <a:p>
                <a:r>
                  <a:rPr lang="en-US">
                    <a:noFill/>
                  </a:rPr>
                  <a:t> </a:t>
                </a:r>
              </a:p>
            </p:txBody>
          </p:sp>
        </mc:Fallback>
      </mc:AlternateContent>
    </p:spTree>
    <p:extLst>
      <p:ext uri="{BB962C8B-B14F-4D97-AF65-F5344CB8AC3E}">
        <p14:creationId xmlns:p14="http://schemas.microsoft.com/office/powerpoint/2010/main" val="252617212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What about Continuous Interactions?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829801" cy="5141388"/>
              </a:xfrm>
            </p:spPr>
            <p:txBody>
              <a:bodyPr>
                <a:normAutofit/>
              </a:bodyPr>
              <a:lstStyle/>
              <a:p>
                <a:r>
                  <a:rPr lang="en-US" sz="2400" dirty="0">
                    <a:cs typeface="Times New Roman" panose="02020603050405020304" pitchFamily="18" charset="0"/>
                  </a:rPr>
                  <a:t>Example: risk adjustment (predicting health costs) </a:t>
                </a:r>
              </a:p>
              <a:p>
                <a:pPr marL="0" indent="0" algn="ctr">
                  <a:buNone/>
                </a:pPr>
                <a14:m>
                  <m:oMath xmlns:m="http://schemas.openxmlformats.org/officeDocument/2006/math">
                    <m:r>
                      <a:rPr lang="en-US" sz="2400" b="0" i="1" smtClean="0">
                        <a:latin typeface="Cambria Math" panose="02040503050406030204" pitchFamily="18" charset="0"/>
                        <a:cs typeface="Times New Roman" panose="02020603050405020304" pitchFamily="18" charset="0"/>
                      </a:rPr>
                      <m:t>𝑐𝑜𝑠</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𝑡</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𝐵𝑀</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𝐼</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2</m:t>
                        </m:r>
                      </m:sub>
                    </m:sSub>
                    <m:r>
                      <a:rPr lang="en-US" sz="2400" b="0" i="1" smtClean="0">
                        <a:latin typeface="Cambria Math" panose="02040503050406030204" pitchFamily="18" charset="0"/>
                        <a:cs typeface="Times New Roman" panose="02020603050405020304" pitchFamily="18" charset="0"/>
                      </a:rPr>
                      <m:t>𝐴𝑔</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𝑒</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3</m:t>
                        </m:r>
                      </m:sub>
                    </m:sSub>
                    <m:r>
                      <a:rPr lang="en-US" sz="2400" b="0" i="1" smtClean="0">
                        <a:latin typeface="Cambria Math" panose="02040503050406030204" pitchFamily="18" charset="0"/>
                        <a:cs typeface="Times New Roman" panose="02020603050405020304" pitchFamily="18" charset="0"/>
                      </a:rPr>
                      <m:t>𝐴𝑔</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𝑒</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𝐵𝑀</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𝐼</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acc>
                      <m:accPr>
                        <m:chr m:val="⃗"/>
                        <m:ctrlPr>
                          <a:rPr lang="en-US" sz="2400" b="0" i="1" smtClean="0">
                            <a:latin typeface="Cambria Math" panose="02040503050406030204" pitchFamily="18" charset="0"/>
                            <a:cs typeface="Times New Roman" panose="02020603050405020304" pitchFamily="18" charset="0"/>
                          </a:rPr>
                        </m:ctrlPr>
                      </m:accPr>
                      <m:e>
                        <m:r>
                          <a:rPr lang="en-US" sz="2400" b="0" i="1" smtClean="0">
                            <a:latin typeface="Cambria Math" panose="02040503050406030204" pitchFamily="18" charset="0"/>
                            <a:cs typeface="Times New Roman" panose="02020603050405020304" pitchFamily="18" charset="0"/>
                          </a:rPr>
                          <m:t>𝛾</m:t>
                        </m:r>
                      </m:e>
                    </m:acc>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𝑍</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𝜀</m:t>
                        </m:r>
                      </m:e>
                      <m:sub>
                        <m:r>
                          <a:rPr lang="en-US" sz="2400" b="0" i="1" smtClean="0">
                            <a:latin typeface="Cambria Math" panose="02040503050406030204" pitchFamily="18" charset="0"/>
                            <a:cs typeface="Times New Roman" panose="02020603050405020304" pitchFamily="18" charset="0"/>
                          </a:rPr>
                          <m:t>𝑖</m:t>
                        </m:r>
                      </m:sub>
                    </m:sSub>
                  </m:oMath>
                </a14:m>
                <a:r>
                  <a:rPr lang="en-US" sz="2400" dirty="0">
                    <a:cs typeface="Times New Roman" panose="02020603050405020304" pitchFamily="18" charset="0"/>
                  </a:rPr>
                  <a:t> </a:t>
                </a:r>
              </a:p>
              <a:p>
                <a:r>
                  <a:rPr lang="en-US" sz="2400" b="1" dirty="0">
                    <a:solidFill>
                      <a:srgbClr val="0070C0"/>
                    </a:solidFill>
                    <a:cs typeface="Times New Roman" panose="02020603050405020304" pitchFamily="18" charset="0"/>
                  </a:rPr>
                  <a:t>What is the effect of BMI on predicted costs?  </a:t>
                </a:r>
              </a:p>
              <a:p>
                <a:pPr lvl="1"/>
                <a:r>
                  <a:rPr lang="en-US" sz="2400" dirty="0">
                    <a:solidFill>
                      <a:srgbClr val="0070C0"/>
                    </a:solidFill>
                    <a:cs typeface="Times New Roman" panose="02020603050405020304" pitchFamily="18" charset="0"/>
                  </a:rPr>
                  <a:t>To find this, just take the derivative: </a:t>
                </a:r>
              </a:p>
              <a:p>
                <a:pPr marL="274320" lvl="1" indent="0">
                  <a:buNone/>
                </a:pPr>
                <a14:m>
                  <m:oMathPara xmlns:m="http://schemas.openxmlformats.org/officeDocument/2006/math">
                    <m:oMathParaPr>
                      <m:jc m:val="centerGroup"/>
                    </m:oMathParaPr>
                    <m:oMath xmlns:m="http://schemas.openxmlformats.org/officeDocument/2006/math">
                      <m:f>
                        <m:fPr>
                          <m:ctrlPr>
                            <a:rPr lang="en-US" sz="2400" i="1" smtClean="0">
                              <a:solidFill>
                                <a:srgbClr val="0070C0"/>
                              </a:solidFill>
                              <a:latin typeface="Cambria Math" panose="02040503050406030204" pitchFamily="18" charset="0"/>
                              <a:cs typeface="Times New Roman" panose="02020603050405020304" pitchFamily="18" charset="0"/>
                            </a:rPr>
                          </m:ctrlPr>
                        </m:fPr>
                        <m:num>
                          <m:r>
                            <a:rPr lang="en-US" sz="2400" b="0" i="1" smtClean="0">
                              <a:solidFill>
                                <a:srgbClr val="0070C0"/>
                              </a:solidFill>
                              <a:latin typeface="Cambria Math" panose="02040503050406030204" pitchFamily="18" charset="0"/>
                              <a:cs typeface="Times New Roman" panose="02020603050405020304" pitchFamily="18" charset="0"/>
                            </a:rPr>
                            <m:t>𝜕</m:t>
                          </m:r>
                          <m:r>
                            <a:rPr lang="en-US" sz="2400" b="0" i="1" smtClean="0">
                              <a:solidFill>
                                <a:srgbClr val="0070C0"/>
                              </a:solidFill>
                              <a:latin typeface="Cambria Math" panose="02040503050406030204" pitchFamily="18" charset="0"/>
                              <a:cs typeface="Times New Roman" panose="02020603050405020304" pitchFamily="18" charset="0"/>
                            </a:rPr>
                            <m:t>𝑐𝑜𝑠</m:t>
                          </m:r>
                          <m:sSub>
                            <m:sSubPr>
                              <m:ctrlPr>
                                <a:rPr lang="en-US" sz="2400" i="1" smtClean="0">
                                  <a:solidFill>
                                    <a:srgbClr val="0070C0"/>
                                  </a:solidFill>
                                  <a:latin typeface="Cambria Math" panose="02040503050406030204" pitchFamily="18" charset="0"/>
                                  <a:cs typeface="Times New Roman" panose="02020603050405020304" pitchFamily="18" charset="0"/>
                                </a:rPr>
                              </m:ctrlPr>
                            </m:sSubPr>
                            <m:e>
                              <m:r>
                                <a:rPr lang="en-US" sz="2400" b="0" i="1" smtClean="0">
                                  <a:solidFill>
                                    <a:srgbClr val="0070C0"/>
                                  </a:solidFill>
                                  <a:latin typeface="Cambria Math" panose="02040503050406030204" pitchFamily="18" charset="0"/>
                                  <a:cs typeface="Times New Roman" panose="02020603050405020304" pitchFamily="18" charset="0"/>
                                </a:rPr>
                                <m:t>𝑡</m:t>
                              </m:r>
                            </m:e>
                            <m:sub>
                              <m:r>
                                <a:rPr lang="en-US" sz="2400" b="0" i="1" smtClean="0">
                                  <a:solidFill>
                                    <a:srgbClr val="0070C0"/>
                                  </a:solidFill>
                                  <a:latin typeface="Cambria Math" panose="02040503050406030204" pitchFamily="18" charset="0"/>
                                  <a:cs typeface="Times New Roman" panose="02020603050405020304" pitchFamily="18" charset="0"/>
                                </a:rPr>
                                <m:t>𝑖</m:t>
                              </m:r>
                            </m:sub>
                          </m:sSub>
                        </m:num>
                        <m:den>
                          <m:r>
                            <a:rPr lang="en-US" sz="2400" b="0" i="1" smtClean="0">
                              <a:solidFill>
                                <a:srgbClr val="0070C0"/>
                              </a:solidFill>
                              <a:latin typeface="Cambria Math" panose="02040503050406030204" pitchFamily="18" charset="0"/>
                              <a:cs typeface="Times New Roman" panose="02020603050405020304" pitchFamily="18" charset="0"/>
                            </a:rPr>
                            <m:t>𝜕</m:t>
                          </m:r>
                          <m:r>
                            <a:rPr lang="en-US" sz="2400" b="0" i="1" smtClean="0">
                              <a:solidFill>
                                <a:srgbClr val="0070C0"/>
                              </a:solidFill>
                              <a:latin typeface="Cambria Math" panose="02040503050406030204" pitchFamily="18" charset="0"/>
                              <a:cs typeface="Times New Roman" panose="02020603050405020304" pitchFamily="18" charset="0"/>
                            </a:rPr>
                            <m:t>𝐵𝑀</m:t>
                          </m:r>
                          <m:sSub>
                            <m:sSubPr>
                              <m:ctrlPr>
                                <a:rPr lang="en-US" sz="2400" b="0" i="1" smtClean="0">
                                  <a:solidFill>
                                    <a:srgbClr val="0070C0"/>
                                  </a:solidFill>
                                  <a:latin typeface="Cambria Math" panose="02040503050406030204" pitchFamily="18" charset="0"/>
                                  <a:cs typeface="Times New Roman" panose="02020603050405020304" pitchFamily="18" charset="0"/>
                                </a:rPr>
                              </m:ctrlPr>
                            </m:sSubPr>
                            <m:e>
                              <m:r>
                                <a:rPr lang="en-US" sz="2400" b="0" i="1" smtClean="0">
                                  <a:solidFill>
                                    <a:srgbClr val="0070C0"/>
                                  </a:solidFill>
                                  <a:latin typeface="Cambria Math" panose="02040503050406030204" pitchFamily="18" charset="0"/>
                                  <a:cs typeface="Times New Roman" panose="02020603050405020304" pitchFamily="18" charset="0"/>
                                </a:rPr>
                                <m:t>𝐼</m:t>
                              </m:r>
                            </m:e>
                            <m:sub>
                              <m:r>
                                <a:rPr lang="en-US" sz="2400" b="0" i="1" smtClean="0">
                                  <a:solidFill>
                                    <a:srgbClr val="0070C0"/>
                                  </a:solidFill>
                                  <a:latin typeface="Cambria Math" panose="02040503050406030204" pitchFamily="18" charset="0"/>
                                  <a:cs typeface="Times New Roman" panose="02020603050405020304" pitchFamily="18" charset="0"/>
                                </a:rPr>
                                <m:t>𝑖</m:t>
                              </m:r>
                            </m:sub>
                          </m:sSub>
                        </m:den>
                      </m:f>
                      <m:r>
                        <a:rPr lang="en-US" sz="2400" b="0" i="1" smtClean="0">
                          <a:solidFill>
                            <a:srgbClr val="0070C0"/>
                          </a:solidFill>
                          <a:latin typeface="Cambria Math" panose="02040503050406030204" pitchFamily="18" charset="0"/>
                          <a:cs typeface="Times New Roman" panose="02020603050405020304" pitchFamily="18" charset="0"/>
                        </a:rPr>
                        <m:t>=</m:t>
                      </m:r>
                      <m:sSub>
                        <m:sSubPr>
                          <m:ctrlPr>
                            <a:rPr lang="en-US" sz="2400" i="1" smtClean="0">
                              <a:solidFill>
                                <a:srgbClr val="0070C0"/>
                              </a:solidFill>
                              <a:latin typeface="Cambria Math" panose="02040503050406030204" pitchFamily="18" charset="0"/>
                              <a:cs typeface="Times New Roman" panose="02020603050405020304" pitchFamily="18" charset="0"/>
                            </a:rPr>
                          </m:ctrlPr>
                        </m:sSubPr>
                        <m:e>
                          <m:r>
                            <a:rPr lang="en-US" sz="2400" b="0" i="1" smtClean="0">
                              <a:solidFill>
                                <a:srgbClr val="0070C0"/>
                              </a:solidFill>
                              <a:latin typeface="Cambria Math" panose="02040503050406030204" pitchFamily="18" charset="0"/>
                              <a:cs typeface="Times New Roman" panose="02020603050405020304" pitchFamily="18" charset="0"/>
                            </a:rPr>
                            <m:t>𝛽</m:t>
                          </m:r>
                        </m:e>
                        <m:sub>
                          <m:r>
                            <a:rPr lang="en-US" sz="2400" b="0" i="1" smtClean="0">
                              <a:solidFill>
                                <a:srgbClr val="0070C0"/>
                              </a:solidFill>
                              <a:latin typeface="Cambria Math" panose="02040503050406030204" pitchFamily="18" charset="0"/>
                              <a:cs typeface="Times New Roman" panose="02020603050405020304" pitchFamily="18" charset="0"/>
                            </a:rPr>
                            <m:t>1</m:t>
                          </m:r>
                        </m:sub>
                      </m:sSub>
                      <m:r>
                        <a:rPr lang="en-US" sz="2400" b="0" i="1" smtClean="0">
                          <a:solidFill>
                            <a:srgbClr val="0070C0"/>
                          </a:solidFill>
                          <a:latin typeface="Cambria Math" panose="02040503050406030204" pitchFamily="18" charset="0"/>
                          <a:cs typeface="Times New Roman" panose="02020603050405020304" pitchFamily="18" charset="0"/>
                        </a:rPr>
                        <m:t>+</m:t>
                      </m:r>
                      <m:sSub>
                        <m:sSubPr>
                          <m:ctrlPr>
                            <a:rPr lang="en-US" sz="2400" i="1" smtClean="0">
                              <a:solidFill>
                                <a:srgbClr val="0070C0"/>
                              </a:solidFill>
                              <a:latin typeface="Cambria Math" panose="02040503050406030204" pitchFamily="18" charset="0"/>
                              <a:cs typeface="Times New Roman" panose="02020603050405020304" pitchFamily="18" charset="0"/>
                            </a:rPr>
                          </m:ctrlPr>
                        </m:sSubPr>
                        <m:e>
                          <m:r>
                            <a:rPr lang="en-US" sz="2400" b="0" i="1" smtClean="0">
                              <a:solidFill>
                                <a:srgbClr val="0070C0"/>
                              </a:solidFill>
                              <a:latin typeface="Cambria Math" panose="02040503050406030204" pitchFamily="18" charset="0"/>
                              <a:cs typeface="Times New Roman" panose="02020603050405020304" pitchFamily="18" charset="0"/>
                            </a:rPr>
                            <m:t>𝛽</m:t>
                          </m:r>
                        </m:e>
                        <m:sub>
                          <m:r>
                            <a:rPr lang="en-US" sz="2400" b="0" i="1" smtClean="0">
                              <a:solidFill>
                                <a:srgbClr val="0070C0"/>
                              </a:solidFill>
                              <a:latin typeface="Cambria Math" panose="02040503050406030204" pitchFamily="18" charset="0"/>
                              <a:cs typeface="Times New Roman" panose="02020603050405020304" pitchFamily="18" charset="0"/>
                            </a:rPr>
                            <m:t>3</m:t>
                          </m:r>
                        </m:sub>
                      </m:sSub>
                      <m:r>
                        <a:rPr lang="en-US" sz="2400" b="0" i="1" smtClean="0">
                          <a:solidFill>
                            <a:srgbClr val="0070C0"/>
                          </a:solidFill>
                          <a:latin typeface="Cambria Math" panose="02040503050406030204" pitchFamily="18" charset="0"/>
                          <a:cs typeface="Times New Roman" panose="02020603050405020304" pitchFamily="18" charset="0"/>
                        </a:rPr>
                        <m:t>∗</m:t>
                      </m:r>
                      <m:r>
                        <a:rPr lang="en-US" sz="2400" b="0" i="1" smtClean="0">
                          <a:solidFill>
                            <a:srgbClr val="0070C0"/>
                          </a:solidFill>
                          <a:latin typeface="Cambria Math" panose="02040503050406030204" pitchFamily="18" charset="0"/>
                          <a:cs typeface="Times New Roman" panose="02020603050405020304" pitchFamily="18" charset="0"/>
                        </a:rPr>
                        <m:t>𝐴𝑔</m:t>
                      </m:r>
                      <m:sSub>
                        <m:sSubPr>
                          <m:ctrlPr>
                            <a:rPr lang="en-US" sz="2400" i="1" smtClean="0">
                              <a:solidFill>
                                <a:srgbClr val="0070C0"/>
                              </a:solidFill>
                              <a:latin typeface="Cambria Math" panose="02040503050406030204" pitchFamily="18" charset="0"/>
                              <a:cs typeface="Times New Roman" panose="02020603050405020304" pitchFamily="18" charset="0"/>
                            </a:rPr>
                          </m:ctrlPr>
                        </m:sSubPr>
                        <m:e>
                          <m:r>
                            <a:rPr lang="en-US" sz="2400" b="0" i="1" smtClean="0">
                              <a:solidFill>
                                <a:srgbClr val="0070C0"/>
                              </a:solidFill>
                              <a:latin typeface="Cambria Math" panose="02040503050406030204" pitchFamily="18" charset="0"/>
                              <a:cs typeface="Times New Roman" panose="02020603050405020304" pitchFamily="18" charset="0"/>
                            </a:rPr>
                            <m:t>𝑒</m:t>
                          </m:r>
                        </m:e>
                        <m:sub>
                          <m:r>
                            <a:rPr lang="en-US" sz="2400" b="0" i="1" smtClean="0">
                              <a:solidFill>
                                <a:srgbClr val="0070C0"/>
                              </a:solidFill>
                              <a:latin typeface="Cambria Math" panose="02040503050406030204" pitchFamily="18" charset="0"/>
                              <a:cs typeface="Times New Roman" panose="02020603050405020304" pitchFamily="18" charset="0"/>
                            </a:rPr>
                            <m:t>𝑖</m:t>
                          </m:r>
                        </m:sub>
                      </m:sSub>
                    </m:oMath>
                  </m:oMathPara>
                </a14:m>
                <a:endParaRPr lang="en-US" sz="2400" dirty="0">
                  <a:solidFill>
                    <a:srgbClr val="0070C0"/>
                  </a:solidFill>
                  <a:cs typeface="Times New Roman" panose="02020603050405020304" pitchFamily="18" charset="0"/>
                </a:endParaRPr>
              </a:p>
              <a:p>
                <a:pPr lvl="1"/>
                <a:r>
                  <a:rPr lang="en-US" sz="2400" dirty="0">
                    <a:solidFill>
                      <a:schemeClr val="tx1"/>
                    </a:solidFill>
                    <a:cs typeface="Times New Roman" panose="02020603050405020304" pitchFamily="18" charset="0"/>
                  </a:rPr>
                  <a:t>Now, interpretation is harder:</a:t>
                </a:r>
              </a:p>
              <a:p>
                <a:pPr lvl="2"/>
                <a:r>
                  <a:rPr lang="en-US" sz="2200" dirty="0">
                    <a:solidFill>
                      <a:schemeClr val="tx1"/>
                    </a:solidFill>
                    <a:cs typeface="Times New Roman" panose="02020603050405020304" pitchFamily="18" charset="0"/>
                  </a:rPr>
                  <a:t>As BMI increases, costs are expected to change by </a:t>
                </a:r>
                <a14:m>
                  <m:oMath xmlns:m="http://schemas.openxmlformats.org/officeDocument/2006/math">
                    <m:sSub>
                      <m:sSubPr>
                        <m:ctrlPr>
                          <a:rPr lang="en-US" sz="2200" b="0" i="1" smtClean="0">
                            <a:solidFill>
                              <a:schemeClr val="tx1"/>
                            </a:solidFill>
                            <a:latin typeface="Cambria Math" panose="02040503050406030204" pitchFamily="18" charset="0"/>
                            <a:cs typeface="Times New Roman" panose="02020603050405020304" pitchFamily="18" charset="0"/>
                          </a:rPr>
                        </m:ctrlPr>
                      </m:sSubPr>
                      <m:e>
                        <m:r>
                          <a:rPr lang="en-US" sz="2200" b="0" i="1" smtClean="0">
                            <a:solidFill>
                              <a:schemeClr val="tx1"/>
                            </a:solidFill>
                            <a:latin typeface="Cambria Math" panose="02040503050406030204" pitchFamily="18" charset="0"/>
                            <a:cs typeface="Times New Roman" panose="02020603050405020304" pitchFamily="18" charset="0"/>
                          </a:rPr>
                          <m:t>𝛽</m:t>
                        </m:r>
                      </m:e>
                      <m:sub>
                        <m:r>
                          <a:rPr lang="en-US" sz="2200" b="0" i="1" smtClean="0">
                            <a:solidFill>
                              <a:schemeClr val="tx1"/>
                            </a:solidFill>
                            <a:latin typeface="Cambria Math" panose="02040503050406030204" pitchFamily="18" charset="0"/>
                            <a:cs typeface="Times New Roman" panose="02020603050405020304" pitchFamily="18" charset="0"/>
                          </a:rPr>
                          <m:t>1</m:t>
                        </m:r>
                      </m:sub>
                    </m:sSub>
                  </m:oMath>
                </a14:m>
                <a:endParaRPr lang="en-US" sz="2200" dirty="0">
                  <a:solidFill>
                    <a:schemeClr val="tx1"/>
                  </a:solidFill>
                  <a:cs typeface="Times New Roman" panose="02020603050405020304" pitchFamily="18" charset="0"/>
                </a:endParaRPr>
              </a:p>
              <a:p>
                <a:pPr lvl="2"/>
                <a:r>
                  <a:rPr lang="en-US" sz="2200" dirty="0">
                    <a:solidFill>
                      <a:schemeClr val="tx1"/>
                    </a:solidFill>
                    <a:cs typeface="Times New Roman" panose="02020603050405020304" pitchFamily="18" charset="0"/>
                  </a:rPr>
                  <a:t>But as age increases, effect of BMI is also changing by </a:t>
                </a:r>
                <a14:m>
                  <m:oMath xmlns:m="http://schemas.openxmlformats.org/officeDocument/2006/math">
                    <m:sSub>
                      <m:sSubPr>
                        <m:ctrlPr>
                          <a:rPr lang="en-US" sz="2200" b="0" i="1" smtClean="0">
                            <a:solidFill>
                              <a:schemeClr val="tx1"/>
                            </a:solidFill>
                            <a:latin typeface="Cambria Math" panose="02040503050406030204" pitchFamily="18" charset="0"/>
                            <a:cs typeface="Times New Roman" panose="02020603050405020304" pitchFamily="18" charset="0"/>
                          </a:rPr>
                        </m:ctrlPr>
                      </m:sSubPr>
                      <m:e>
                        <m:r>
                          <a:rPr lang="en-US" sz="2200" b="0" i="1" smtClean="0">
                            <a:solidFill>
                              <a:schemeClr val="tx1"/>
                            </a:solidFill>
                            <a:latin typeface="Cambria Math" panose="02040503050406030204" pitchFamily="18" charset="0"/>
                            <a:cs typeface="Times New Roman" panose="02020603050405020304" pitchFamily="18" charset="0"/>
                          </a:rPr>
                          <m:t>𝛽</m:t>
                        </m:r>
                      </m:e>
                      <m:sub>
                        <m:r>
                          <a:rPr lang="en-US" sz="2200" b="0" i="1" smtClean="0">
                            <a:solidFill>
                              <a:schemeClr val="tx1"/>
                            </a:solidFill>
                            <a:latin typeface="Cambria Math" panose="02040503050406030204" pitchFamily="18" charset="0"/>
                            <a:cs typeface="Times New Roman" panose="02020603050405020304" pitchFamily="18" charset="0"/>
                          </a:rPr>
                          <m:t>3</m:t>
                        </m:r>
                      </m:sub>
                    </m:sSub>
                  </m:oMath>
                </a14:m>
                <a:endParaRPr lang="en-US" sz="2200" dirty="0">
                  <a:solidFill>
                    <a:schemeClr val="tx1"/>
                  </a:solidFill>
                  <a:cs typeface="Times New Roman" panose="02020603050405020304" pitchFamily="18" charset="0"/>
                </a:endParaRPr>
              </a:p>
              <a:p>
                <a:pPr marL="274320" lvl="1" indent="0">
                  <a:buNone/>
                </a:pPr>
                <a14:m>
                  <m:oMath xmlns:m="http://schemas.openxmlformats.org/officeDocument/2006/math">
                    <m:sSub>
                      <m:sSubPr>
                        <m:ctrlPr>
                          <a:rPr lang="en-US" sz="2400" b="0" i="1" smtClean="0">
                            <a:solidFill>
                              <a:schemeClr val="tx1"/>
                            </a:solidFill>
                            <a:latin typeface="Cambria Math" panose="02040503050406030204" pitchFamily="18" charset="0"/>
                            <a:cs typeface="Times New Roman" panose="02020603050405020304" pitchFamily="18" charset="0"/>
                          </a:rPr>
                        </m:ctrlPr>
                      </m:sSubPr>
                      <m:e>
                        <m:r>
                          <a:rPr lang="en-US" sz="2400" b="0" i="1" smtClean="0">
                            <a:solidFill>
                              <a:schemeClr val="tx1"/>
                            </a:solidFill>
                            <a:latin typeface="Cambria Math" panose="02040503050406030204" pitchFamily="18" charset="0"/>
                            <a:cs typeface="Times New Roman" panose="02020603050405020304" pitchFamily="18" charset="0"/>
                          </a:rPr>
                          <m:t>𝛽</m:t>
                        </m:r>
                      </m:e>
                      <m:sub>
                        <m:r>
                          <a:rPr lang="en-US" sz="2400" b="0" i="1" smtClean="0">
                            <a:solidFill>
                              <a:schemeClr val="tx1"/>
                            </a:solidFill>
                            <a:latin typeface="Cambria Math" panose="02040503050406030204" pitchFamily="18" charset="0"/>
                            <a:cs typeface="Times New Roman" panose="02020603050405020304" pitchFamily="18" charset="0"/>
                          </a:rPr>
                          <m:t>3</m:t>
                        </m:r>
                      </m:sub>
                    </m:sSub>
                  </m:oMath>
                </a14:m>
                <a:r>
                  <a:rPr lang="en-US" sz="2400" dirty="0">
                    <a:solidFill>
                      <a:schemeClr val="tx1"/>
                    </a:solidFill>
                    <a:cs typeface="Times New Roman" panose="02020603050405020304" pitchFamily="18" charset="0"/>
                  </a:rPr>
                  <a:t> tells you </a:t>
                </a:r>
                <a:r>
                  <a:rPr lang="en-US" sz="2400" dirty="0">
                    <a:solidFill>
                      <a:schemeClr val="accent3">
                        <a:lumMod val="75000"/>
                      </a:schemeClr>
                    </a:solidFill>
                    <a:cs typeface="Times New Roman" panose="02020603050405020304" pitchFamily="18" charset="0"/>
                  </a:rPr>
                  <a:t>how much stronger </a:t>
                </a:r>
                <a:r>
                  <a:rPr lang="en-US" sz="2400" dirty="0">
                    <a:solidFill>
                      <a:schemeClr val="tx1"/>
                    </a:solidFill>
                    <a:cs typeface="Times New Roman" panose="02020603050405020304" pitchFamily="18" charset="0"/>
                  </a:rPr>
                  <a:t>the effect of BMI on costs gets</a:t>
                </a:r>
                <a:r>
                  <a:rPr lang="en-US" sz="2400" dirty="0">
                    <a:solidFill>
                      <a:schemeClr val="accent3">
                        <a:lumMod val="75000"/>
                      </a:schemeClr>
                    </a:solidFill>
                    <a:cs typeface="Times New Roman" panose="02020603050405020304" pitchFamily="18" charset="0"/>
                  </a:rPr>
                  <a:t> as a patient gets older</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829801" cy="5141388"/>
              </a:xfrm>
              <a:blipFill>
                <a:blip r:embed="rId3"/>
                <a:stretch>
                  <a:fillRect l="-434" t="-1305"/>
                </a:stretch>
              </a:blipFill>
            </p:spPr>
            <p:txBody>
              <a:bodyPr/>
              <a:lstStyle/>
              <a:p>
                <a:r>
                  <a:rPr lang="en-US">
                    <a:noFill/>
                  </a:rPr>
                  <a:t> </a:t>
                </a:r>
              </a:p>
            </p:txBody>
          </p:sp>
        </mc:Fallback>
      </mc:AlternateContent>
    </p:spTree>
    <p:extLst>
      <p:ext uri="{BB962C8B-B14F-4D97-AF65-F5344CB8AC3E}">
        <p14:creationId xmlns:p14="http://schemas.microsoft.com/office/powerpoint/2010/main" val="18553144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Interactions in Practice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066801"/>
            <a:ext cx="10287000" cy="5141388"/>
          </a:xfrm>
        </p:spPr>
        <p:txBody>
          <a:bodyPr>
            <a:normAutofit/>
          </a:bodyPr>
          <a:lstStyle/>
          <a:p>
            <a:pPr marL="457200" indent="-457200">
              <a:buFont typeface="+mj-lt"/>
              <a:buAutoNum type="arabicPeriod"/>
            </a:pPr>
            <a:r>
              <a:rPr lang="en-US" sz="2400" b="1" dirty="0">
                <a:solidFill>
                  <a:schemeClr val="accent3">
                    <a:lumMod val="75000"/>
                  </a:schemeClr>
                </a:solidFill>
                <a:cs typeface="Times New Roman" panose="02020603050405020304" pitchFamily="18" charset="0"/>
              </a:rPr>
              <a:t>Always </a:t>
            </a:r>
            <a:r>
              <a:rPr lang="en-US" sz="2400" dirty="0">
                <a:cs typeface="Times New Roman" panose="02020603050405020304" pitchFamily="18" charset="0"/>
              </a:rPr>
              <a:t>include all pieces of an interaction in the full model</a:t>
            </a:r>
          </a:p>
          <a:p>
            <a:pPr lvl="1"/>
            <a:r>
              <a:rPr lang="en-US" sz="2400" dirty="0">
                <a:cs typeface="Times New Roman" panose="02020603050405020304" pitchFamily="18" charset="0"/>
              </a:rPr>
              <a:t>Much harder to interpret </a:t>
            </a:r>
          </a:p>
          <a:p>
            <a:pPr marL="457200" indent="-457200">
              <a:buFont typeface="+mj-lt"/>
              <a:buAutoNum type="arabicPeriod"/>
            </a:pPr>
            <a:r>
              <a:rPr lang="en-US" sz="2400" dirty="0">
                <a:cs typeface="Times New Roman" panose="02020603050405020304" pitchFamily="18" charset="0"/>
              </a:rPr>
              <a:t>Have a </a:t>
            </a:r>
            <a:r>
              <a:rPr lang="en-US" sz="2400" b="1" dirty="0">
                <a:solidFill>
                  <a:schemeClr val="accent3">
                    <a:lumMod val="75000"/>
                  </a:schemeClr>
                </a:solidFill>
                <a:cs typeface="Times New Roman" panose="02020603050405020304" pitchFamily="18" charset="0"/>
              </a:rPr>
              <a:t>strong theoretical reason </a:t>
            </a:r>
            <a:r>
              <a:rPr lang="en-US" sz="2400" dirty="0">
                <a:cs typeface="Times New Roman" panose="02020603050405020304" pitchFamily="18" charset="0"/>
              </a:rPr>
              <a:t>to justify inclusion</a:t>
            </a:r>
          </a:p>
          <a:p>
            <a:pPr lvl="1"/>
            <a:r>
              <a:rPr lang="en-US" sz="2400" dirty="0">
                <a:cs typeface="Times New Roman" panose="02020603050405020304" pitchFamily="18" charset="0"/>
              </a:rPr>
              <a:t>Too easy to get false positives</a:t>
            </a:r>
          </a:p>
          <a:p>
            <a:pPr lvl="1"/>
            <a:endParaRPr lang="en-US" sz="2400" dirty="0">
              <a:cs typeface="Times New Roman" panose="02020603050405020304" pitchFamily="18" charset="0"/>
            </a:endParaRPr>
          </a:p>
          <a:p>
            <a:pPr lvl="1"/>
            <a:endParaRPr lang="en-US" sz="2400" dirty="0">
              <a:cs typeface="Times New Roman" panose="02020603050405020304" pitchFamily="18" charset="0"/>
            </a:endParaRPr>
          </a:p>
          <a:p>
            <a:pPr marL="274320" lvl="1" indent="0">
              <a:buNone/>
            </a:pPr>
            <a:endParaRPr lang="en-US" sz="2400" dirty="0">
              <a:cs typeface="Times New Roman" panose="02020603050405020304" pitchFamily="18" charset="0"/>
            </a:endParaRPr>
          </a:p>
          <a:p>
            <a:pPr marL="457200" indent="-457200">
              <a:buFont typeface="+mj-lt"/>
              <a:buAutoNum type="arabicPeriod"/>
            </a:pPr>
            <a:endParaRPr lang="en-US" sz="2400" dirty="0">
              <a:cs typeface="Times New Roman" panose="02020603050405020304" pitchFamily="18" charset="0"/>
            </a:endParaRPr>
          </a:p>
          <a:p>
            <a:pPr marL="457200" indent="-457200">
              <a:buFont typeface="+mj-lt"/>
              <a:buAutoNum type="arabicPeriod"/>
            </a:pPr>
            <a:r>
              <a:rPr lang="en-US" sz="2400" dirty="0">
                <a:cs typeface="Times New Roman" panose="02020603050405020304" pitchFamily="18" charset="0"/>
              </a:rPr>
              <a:t>Effects are generally </a:t>
            </a:r>
            <a:r>
              <a:rPr lang="en-US" sz="2400" b="1" dirty="0">
                <a:solidFill>
                  <a:schemeClr val="accent3">
                    <a:lumMod val="75000"/>
                  </a:schemeClr>
                </a:solidFill>
                <a:cs typeface="Times New Roman" panose="02020603050405020304" pitchFamily="18" charset="0"/>
              </a:rPr>
              <a:t>noisy</a:t>
            </a:r>
          </a:p>
          <a:p>
            <a:pPr lvl="1"/>
            <a:r>
              <a:rPr lang="en-US" sz="2400" dirty="0">
                <a:cs typeface="Times New Roman" panose="02020603050405020304" pitchFamily="18" charset="0"/>
              </a:rPr>
              <a:t>You’re exploiting variation across 2 noisy variables already</a:t>
            </a:r>
          </a:p>
          <a:p>
            <a:pPr lvl="1"/>
            <a:r>
              <a:rPr lang="en-US" sz="2400" dirty="0">
                <a:cs typeface="Times New Roman" panose="02020603050405020304" pitchFamily="18" charset="0"/>
              </a:rPr>
              <a:t>Will need large sample size</a:t>
            </a:r>
          </a:p>
          <a:p>
            <a:pPr marL="457200" indent="-457200">
              <a:buFont typeface="+mj-lt"/>
              <a:buAutoNum type="arabicPeriod"/>
            </a:pPr>
            <a:endParaRPr lang="en-US" sz="2400" b="1" dirty="0">
              <a:cs typeface="Times New Roman" panose="02020603050405020304" pitchFamily="18" charset="0"/>
            </a:endParaRPr>
          </a:p>
        </p:txBody>
      </p:sp>
      <p:pic>
        <p:nvPicPr>
          <p:cNvPr id="4" name="Picture 2" descr="RStudio - RStudio">
            <a:extLst>
              <a:ext uri="{FF2B5EF4-FFF2-40B4-BE49-F238E27FC236}">
                <a16:creationId xmlns:a16="http://schemas.microsoft.com/office/drawing/2014/main" id="{6080C2B9-1470-472A-875F-411D52333F2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a:extLst>
              <a:ext uri="{FF2B5EF4-FFF2-40B4-BE49-F238E27FC236}">
                <a16:creationId xmlns:a16="http://schemas.microsoft.com/office/drawing/2014/main" id="{49FF7977-F952-530F-C4DB-EC40297280CB}"/>
              </a:ext>
            </a:extLst>
          </p:cNvPr>
          <p:cNvPicPr>
            <a:picLocks noChangeAspect="1"/>
          </p:cNvPicPr>
          <p:nvPr/>
        </p:nvPicPr>
        <p:blipFill>
          <a:blip r:embed="rId4"/>
          <a:stretch>
            <a:fillRect/>
          </a:stretch>
        </p:blipFill>
        <p:spPr>
          <a:xfrm>
            <a:off x="3657600" y="2895600"/>
            <a:ext cx="4438389" cy="1828800"/>
          </a:xfrm>
          <a:prstGeom prst="rect">
            <a:avLst/>
          </a:prstGeom>
        </p:spPr>
      </p:pic>
    </p:spTree>
    <p:extLst>
      <p:ext uri="{BB962C8B-B14F-4D97-AF65-F5344CB8AC3E}">
        <p14:creationId xmlns:p14="http://schemas.microsoft.com/office/powerpoint/2010/main" val="250811653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D753B2-006D-4E8E-8FFA-6F2333A8AAE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F0F4CD-E609-9BEC-5A6A-9B9B05A01D21}"/>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Case study: what controls are included?</a:t>
            </a:r>
            <a:endParaRPr lang="en-US" sz="3600" dirty="0">
              <a:latin typeface="Times New Roman" panose="02020603050405020304" pitchFamily="18" charset="0"/>
              <a:cs typeface="Times New Roman" panose="02020603050405020304" pitchFamily="18" charset="0"/>
            </a:endParaRPr>
          </a:p>
        </p:txBody>
      </p:sp>
      <p:pic>
        <p:nvPicPr>
          <p:cNvPr id="6" name="Content Placeholder 5">
            <a:extLst>
              <a:ext uri="{FF2B5EF4-FFF2-40B4-BE49-F238E27FC236}">
                <a16:creationId xmlns:a16="http://schemas.microsoft.com/office/drawing/2014/main" id="{6EE1B3A0-AE03-FA64-2C4A-48BF11250E74}"/>
              </a:ext>
            </a:extLst>
          </p:cNvPr>
          <p:cNvPicPr>
            <a:picLocks noGrp="1" noChangeAspect="1"/>
          </p:cNvPicPr>
          <p:nvPr>
            <p:ph idx="1"/>
          </p:nvPr>
        </p:nvPicPr>
        <p:blipFill>
          <a:blip r:embed="rId3"/>
          <a:stretch>
            <a:fillRect/>
          </a:stretch>
        </p:blipFill>
        <p:spPr>
          <a:xfrm>
            <a:off x="609600" y="942354"/>
            <a:ext cx="9383434" cy="4639322"/>
          </a:xfrm>
          <a:prstGeom prst="rect">
            <a:avLst/>
          </a:prstGeom>
        </p:spPr>
      </p:pic>
    </p:spTree>
    <p:extLst>
      <p:ext uri="{BB962C8B-B14F-4D97-AF65-F5344CB8AC3E}">
        <p14:creationId xmlns:p14="http://schemas.microsoft.com/office/powerpoint/2010/main" val="406052625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49868A-EAFF-71C6-612D-883E071685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0A1898-B35A-4E01-7FBC-287EBA40B883}"/>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Case study: what controls are included?</a:t>
            </a:r>
            <a:endParaRPr lang="en-US" sz="3600" dirty="0">
              <a:latin typeface="Times New Roman" panose="02020603050405020304" pitchFamily="18" charset="0"/>
              <a:cs typeface="Times New Roman" panose="02020603050405020304" pitchFamily="18" charset="0"/>
            </a:endParaRPr>
          </a:p>
        </p:txBody>
      </p:sp>
      <p:sp>
        <p:nvSpPr>
          <p:cNvPr id="4" name="Content Placeholder 3">
            <a:extLst>
              <a:ext uri="{FF2B5EF4-FFF2-40B4-BE49-F238E27FC236}">
                <a16:creationId xmlns:a16="http://schemas.microsoft.com/office/drawing/2014/main" id="{7EC8CA6E-E685-E061-A292-5BCB2F91659D}"/>
              </a:ext>
            </a:extLst>
          </p:cNvPr>
          <p:cNvSpPr>
            <a:spLocks noGrp="1"/>
          </p:cNvSpPr>
          <p:nvPr>
            <p:ph idx="1"/>
          </p:nvPr>
        </p:nvSpPr>
        <p:spPr>
          <a:xfrm>
            <a:off x="609600" y="1143000"/>
            <a:ext cx="10287000" cy="5037137"/>
          </a:xfrm>
        </p:spPr>
        <p:txBody>
          <a:bodyPr>
            <a:normAutofit/>
          </a:bodyPr>
          <a:lstStyle/>
          <a:p>
            <a:r>
              <a:rPr lang="en-US" sz="2400" dirty="0"/>
              <a:t>Outcome: dummy variable for surgical mortality (what does this mean for context validity?)</a:t>
            </a:r>
          </a:p>
          <a:p>
            <a:r>
              <a:rPr lang="en-US" sz="2400" dirty="0"/>
              <a:t>BASE covariates include: </a:t>
            </a:r>
          </a:p>
          <a:p>
            <a:pPr lvl="1"/>
            <a:r>
              <a:rPr lang="en-US" sz="2200" dirty="0"/>
              <a:t>(linear) age</a:t>
            </a:r>
          </a:p>
          <a:p>
            <a:pPr lvl="1"/>
            <a:r>
              <a:rPr lang="en-US" sz="2200" dirty="0"/>
              <a:t>Gender</a:t>
            </a:r>
          </a:p>
          <a:p>
            <a:pPr lvl="1"/>
            <a:r>
              <a:rPr lang="en-US" sz="2200" dirty="0"/>
              <a:t>elective operative status</a:t>
            </a:r>
          </a:p>
          <a:p>
            <a:pPr lvl="1"/>
            <a:r>
              <a:rPr lang="en-US" sz="2200" dirty="0"/>
              <a:t>quartiles of mean zip code income</a:t>
            </a:r>
          </a:p>
          <a:p>
            <a:pPr lvl="1"/>
            <a:r>
              <a:rPr lang="en-US" sz="2200" dirty="0"/>
              <a:t>hospital geographic region</a:t>
            </a:r>
          </a:p>
          <a:p>
            <a:pPr lvl="1"/>
            <a:r>
              <a:rPr lang="en-US" sz="2200" dirty="0"/>
              <a:t>teaching hospital status</a:t>
            </a:r>
          </a:p>
          <a:p>
            <a:pPr lvl="1"/>
            <a:r>
              <a:rPr lang="en-US" sz="2200" dirty="0"/>
              <a:t>type of surgical operation</a:t>
            </a:r>
          </a:p>
          <a:p>
            <a:pPr lvl="1"/>
            <a:r>
              <a:rPr lang="en-US" sz="2200" dirty="0"/>
              <a:t>primary payer status</a:t>
            </a:r>
          </a:p>
          <a:p>
            <a:pPr lvl="1"/>
            <a:r>
              <a:rPr lang="en-US" sz="2200" dirty="0"/>
              <a:t>Comorbidities </a:t>
            </a:r>
          </a:p>
        </p:txBody>
      </p:sp>
    </p:spTree>
    <p:extLst>
      <p:ext uri="{BB962C8B-B14F-4D97-AF65-F5344CB8AC3E}">
        <p14:creationId xmlns:p14="http://schemas.microsoft.com/office/powerpoint/2010/main" val="308881917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78FD50-6BAA-B6B9-DE87-DAA9A0BE19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EEFC09-51C3-940C-3F3A-3399FC75B212}"/>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Case study: what controls are included?</a:t>
            </a:r>
            <a:endParaRPr lang="en-US" sz="3600" dirty="0">
              <a:latin typeface="Times New Roman" panose="02020603050405020304" pitchFamily="18" charset="0"/>
              <a:cs typeface="Times New Roman" panose="02020603050405020304" pitchFamily="18" charset="0"/>
            </a:endParaRPr>
          </a:p>
        </p:txBody>
      </p:sp>
      <p:sp>
        <p:nvSpPr>
          <p:cNvPr id="4" name="Content Placeholder 3">
            <a:extLst>
              <a:ext uri="{FF2B5EF4-FFF2-40B4-BE49-F238E27FC236}">
                <a16:creationId xmlns:a16="http://schemas.microsoft.com/office/drawing/2014/main" id="{20A21D0A-D42F-E5BA-5B60-FBD4A9BA8C49}"/>
              </a:ext>
            </a:extLst>
          </p:cNvPr>
          <p:cNvSpPr>
            <a:spLocks noGrp="1"/>
          </p:cNvSpPr>
          <p:nvPr>
            <p:ph idx="1"/>
          </p:nvPr>
        </p:nvSpPr>
        <p:spPr>
          <a:xfrm>
            <a:off x="609600" y="1143000"/>
            <a:ext cx="10287000" cy="5037137"/>
          </a:xfrm>
        </p:spPr>
        <p:txBody>
          <a:bodyPr>
            <a:normAutofit/>
          </a:bodyPr>
          <a:lstStyle/>
          <a:p>
            <a:r>
              <a:rPr lang="en-US" sz="2400" dirty="0"/>
              <a:t>Outcome: dummy variable for surgical mortality (</a:t>
            </a:r>
            <a:r>
              <a:rPr lang="en-US" sz="2400" i="1" dirty="0"/>
              <a:t>what other outcomes are studied in the replication</a:t>
            </a:r>
            <a:r>
              <a:rPr lang="en-US" sz="2400" dirty="0"/>
              <a:t>?)</a:t>
            </a:r>
          </a:p>
          <a:p>
            <a:r>
              <a:rPr lang="en-US" sz="2400" dirty="0"/>
              <a:t>New covariates tested by the authors include: </a:t>
            </a:r>
          </a:p>
          <a:p>
            <a:pPr lvl="1"/>
            <a:r>
              <a:rPr lang="en-US" sz="2200" dirty="0"/>
              <a:t>“Full” set of ethnicity and race categories</a:t>
            </a:r>
          </a:p>
          <a:p>
            <a:pPr lvl="1"/>
            <a:r>
              <a:rPr lang="en-US" sz="2200" dirty="0"/>
              <a:t>Continuous ages</a:t>
            </a:r>
          </a:p>
          <a:p>
            <a:pPr lvl="1"/>
            <a:r>
              <a:rPr lang="en-US" sz="2200" dirty="0"/>
              <a:t>Year “fixed effects”</a:t>
            </a:r>
          </a:p>
          <a:p>
            <a:pPr lvl="1"/>
            <a:r>
              <a:rPr lang="en-US" sz="2200" dirty="0"/>
              <a:t>Citizenship status, college completion, employment status, poverty status, marital status, and smoking status</a:t>
            </a:r>
          </a:p>
          <a:p>
            <a:pPr lvl="1"/>
            <a:r>
              <a:rPr lang="en-US" sz="2200" dirty="0"/>
              <a:t>LASSO models</a:t>
            </a:r>
          </a:p>
          <a:p>
            <a:pPr lvl="1"/>
            <a:r>
              <a:rPr lang="en-US" sz="2200" dirty="0"/>
              <a:t>Weekend admission (a proxy for an unavoidable hospital visit) </a:t>
            </a:r>
          </a:p>
          <a:p>
            <a:pPr lvl="1"/>
            <a:r>
              <a:rPr lang="en-US" sz="2200" dirty="0"/>
              <a:t>“high” disease severity or mortality risk</a:t>
            </a:r>
          </a:p>
        </p:txBody>
      </p:sp>
    </p:spTree>
    <p:extLst>
      <p:ext uri="{BB962C8B-B14F-4D97-AF65-F5344CB8AC3E}">
        <p14:creationId xmlns:p14="http://schemas.microsoft.com/office/powerpoint/2010/main" val="254878125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DC29455-41E2-946C-6437-9108FD428EE5}"/>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5D5E0904-721C-4D68-9EB8-1C9752E329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4" name="Rectangle 13">
            <a:extLst>
              <a:ext uri="{FF2B5EF4-FFF2-40B4-BE49-F238E27FC236}">
                <a16:creationId xmlns:a16="http://schemas.microsoft.com/office/drawing/2014/main" id="{B298ECBA-3258-45DF-8FD4-7581736BCC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244"/>
            <a:ext cx="457200" cy="6858000"/>
          </a:xfrm>
          <a:prstGeom prst="rect">
            <a:avLst/>
          </a:prstGeom>
          <a:solidFill>
            <a:srgbClr val="6F6F7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B62BF453-BD82-4B90-9FE7-5170313380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7200" y="0"/>
            <a:ext cx="10835640" cy="6858000"/>
          </a:xfrm>
          <a:prstGeom prst="rect">
            <a:avLst/>
          </a:prstGeom>
          <a:solidFill>
            <a:srgbClr val="353537"/>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13769EAE-EE21-2DB6-40CE-6191A7652DF2}"/>
              </a:ext>
            </a:extLst>
          </p:cNvPr>
          <p:cNvSpPr>
            <a:spLocks noGrp="1"/>
          </p:cNvSpPr>
          <p:nvPr>
            <p:ph type="title"/>
          </p:nvPr>
        </p:nvSpPr>
        <p:spPr>
          <a:xfrm>
            <a:off x="8318090" y="758952"/>
            <a:ext cx="2802194" cy="4041648"/>
          </a:xfrm>
        </p:spPr>
        <p:txBody>
          <a:bodyPr vert="horz" lIns="91440" tIns="45720" rIns="91440" bIns="45720" rtlCol="0" anchor="b">
            <a:normAutofit/>
          </a:bodyPr>
          <a:lstStyle/>
          <a:p>
            <a:pPr>
              <a:lnSpc>
                <a:spcPct val="85000"/>
              </a:lnSpc>
            </a:pPr>
            <a:r>
              <a:rPr lang="en-US">
                <a:solidFill>
                  <a:srgbClr val="FFFFFF"/>
                </a:solidFill>
                <a:latin typeface="+mj-lt"/>
              </a:rPr>
              <a:t>What do they find?</a:t>
            </a:r>
          </a:p>
        </p:txBody>
      </p:sp>
      <p:sp useBgFill="1">
        <p:nvSpPr>
          <p:cNvPr id="18" name="Rectangle 17">
            <a:extLst>
              <a:ext uri="{FF2B5EF4-FFF2-40B4-BE49-F238E27FC236}">
                <a16:creationId xmlns:a16="http://schemas.microsoft.com/office/drawing/2014/main" id="{072366D3-9B5C-42E1-9906-77FF6BB55E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2283" y="0"/>
            <a:ext cx="7561007"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Content Placeholder 6" descr="A graph with black and white lines&#10;&#10;AI-generated content may be incorrect.">
            <a:extLst>
              <a:ext uri="{FF2B5EF4-FFF2-40B4-BE49-F238E27FC236}">
                <a16:creationId xmlns:a16="http://schemas.microsoft.com/office/drawing/2014/main" id="{46F42670-CA7E-960C-8D3C-5F64DC6708B0}"/>
              </a:ext>
            </a:extLst>
          </p:cNvPr>
          <p:cNvPicPr>
            <a:picLocks noGrp="1" noChangeAspect="1"/>
          </p:cNvPicPr>
          <p:nvPr>
            <p:ph idx="1"/>
          </p:nvPr>
        </p:nvPicPr>
        <p:blipFill>
          <a:blip r:embed="rId3"/>
          <a:stretch>
            <a:fillRect/>
          </a:stretch>
        </p:blipFill>
        <p:spPr>
          <a:xfrm>
            <a:off x="924375" y="1870803"/>
            <a:ext cx="6616823" cy="3109905"/>
          </a:xfrm>
          <a:prstGeom prst="rect">
            <a:avLst/>
          </a:prstGeom>
        </p:spPr>
      </p:pic>
      <p:sp>
        <p:nvSpPr>
          <p:cNvPr id="20" name="Rectangle 19">
            <a:extLst>
              <a:ext uri="{FF2B5EF4-FFF2-40B4-BE49-F238E27FC236}">
                <a16:creationId xmlns:a16="http://schemas.microsoft.com/office/drawing/2014/main" id="{121F5E60-4E89-4B16-A245-12BD993599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92840" y="0"/>
            <a:ext cx="899160" cy="6858000"/>
          </a:xfrm>
          <a:prstGeom prst="rect">
            <a:avLst/>
          </a:prstGeom>
          <a:solidFill>
            <a:srgbClr val="3535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9894324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F11E5E7-4A92-C052-0961-325E6D63F29D}"/>
            </a:ext>
          </a:extLst>
        </p:cNvPr>
        <p:cNvGrpSpPr/>
        <p:nvPr/>
      </p:nvGrpSpPr>
      <p:grpSpPr>
        <a:xfrm>
          <a:off x="0" y="0"/>
          <a:ext cx="0" cy="0"/>
          <a:chOff x="0" y="0"/>
          <a:chExt cx="0" cy="0"/>
        </a:xfrm>
      </p:grpSpPr>
      <p:sp>
        <p:nvSpPr>
          <p:cNvPr id="11" name="Rectangle 10">
            <a:extLst>
              <a:ext uri="{FF2B5EF4-FFF2-40B4-BE49-F238E27FC236}">
                <a16:creationId xmlns:a16="http://schemas.microsoft.com/office/drawing/2014/main" id="{5D5E0904-721C-4D68-9EB8-1C9752E329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3" name="Rectangle 12">
            <a:extLst>
              <a:ext uri="{FF2B5EF4-FFF2-40B4-BE49-F238E27FC236}">
                <a16:creationId xmlns:a16="http://schemas.microsoft.com/office/drawing/2014/main" id="{B298ECBA-3258-45DF-8FD4-7581736BCC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244"/>
            <a:ext cx="457200" cy="6858000"/>
          </a:xfrm>
          <a:prstGeom prst="rect">
            <a:avLst/>
          </a:prstGeom>
          <a:solidFill>
            <a:srgbClr val="6F6F7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62BF453-BD82-4B90-9FE7-5170313380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7200" y="0"/>
            <a:ext cx="10835640" cy="6858000"/>
          </a:xfrm>
          <a:prstGeom prst="rect">
            <a:avLst/>
          </a:prstGeom>
          <a:solidFill>
            <a:srgbClr val="353537"/>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8FD2E5F5-E213-CFD6-69E4-8D7333DF7CA9}"/>
              </a:ext>
            </a:extLst>
          </p:cNvPr>
          <p:cNvSpPr>
            <a:spLocks noGrp="1"/>
          </p:cNvSpPr>
          <p:nvPr>
            <p:ph type="title"/>
          </p:nvPr>
        </p:nvSpPr>
        <p:spPr>
          <a:xfrm>
            <a:off x="8318090" y="758952"/>
            <a:ext cx="3416710" cy="4041648"/>
          </a:xfrm>
        </p:spPr>
        <p:txBody>
          <a:bodyPr vert="horz" lIns="91440" tIns="45720" rIns="91440" bIns="45720" rtlCol="0" anchor="b">
            <a:normAutofit/>
          </a:bodyPr>
          <a:lstStyle/>
          <a:p>
            <a:pPr>
              <a:lnSpc>
                <a:spcPct val="85000"/>
              </a:lnSpc>
            </a:pPr>
            <a:r>
              <a:rPr lang="en-US" dirty="0">
                <a:solidFill>
                  <a:srgbClr val="FFFFFF"/>
                </a:solidFill>
                <a:latin typeface="+mj-lt"/>
              </a:rPr>
              <a:t>Is the comparison good?</a:t>
            </a:r>
          </a:p>
        </p:txBody>
      </p:sp>
      <p:sp useBgFill="1">
        <p:nvSpPr>
          <p:cNvPr id="17" name="Rectangle 16">
            <a:extLst>
              <a:ext uri="{FF2B5EF4-FFF2-40B4-BE49-F238E27FC236}">
                <a16:creationId xmlns:a16="http://schemas.microsoft.com/office/drawing/2014/main" id="{072366D3-9B5C-42E1-9906-77FF6BB55E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2283" y="0"/>
            <a:ext cx="7561007"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Content Placeholder 5">
            <a:extLst>
              <a:ext uri="{FF2B5EF4-FFF2-40B4-BE49-F238E27FC236}">
                <a16:creationId xmlns:a16="http://schemas.microsoft.com/office/drawing/2014/main" id="{0AA3E765-96F8-8B9C-3D0A-05260D8D3053}"/>
              </a:ext>
            </a:extLst>
          </p:cNvPr>
          <p:cNvPicPr>
            <a:picLocks noGrp="1" noChangeAspect="1"/>
          </p:cNvPicPr>
          <p:nvPr>
            <p:ph idx="1"/>
          </p:nvPr>
        </p:nvPicPr>
        <p:blipFill>
          <a:blip r:embed="rId3"/>
          <a:stretch>
            <a:fillRect/>
          </a:stretch>
        </p:blipFill>
        <p:spPr>
          <a:xfrm>
            <a:off x="943398" y="457200"/>
            <a:ext cx="6616823" cy="2233176"/>
          </a:xfrm>
          <a:prstGeom prst="rect">
            <a:avLst/>
          </a:prstGeom>
        </p:spPr>
      </p:pic>
      <p:sp>
        <p:nvSpPr>
          <p:cNvPr id="19" name="Rectangle 18">
            <a:extLst>
              <a:ext uri="{FF2B5EF4-FFF2-40B4-BE49-F238E27FC236}">
                <a16:creationId xmlns:a16="http://schemas.microsoft.com/office/drawing/2014/main" id="{121F5E60-4E89-4B16-A245-12BD993599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92840" y="0"/>
            <a:ext cx="899160" cy="6858000"/>
          </a:xfrm>
          <a:prstGeom prst="rect">
            <a:avLst/>
          </a:prstGeom>
          <a:solidFill>
            <a:srgbClr val="3535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AC038D0E-B6EE-82F1-326E-14A6E8E2E264}"/>
              </a:ext>
            </a:extLst>
          </p:cNvPr>
          <p:cNvPicPr>
            <a:picLocks noChangeAspect="1"/>
          </p:cNvPicPr>
          <p:nvPr/>
        </p:nvPicPr>
        <p:blipFill>
          <a:blip r:embed="rId4"/>
          <a:stretch>
            <a:fillRect/>
          </a:stretch>
        </p:blipFill>
        <p:spPr>
          <a:xfrm>
            <a:off x="1524000" y="2916616"/>
            <a:ext cx="4740821" cy="3454367"/>
          </a:xfrm>
          <a:prstGeom prst="rect">
            <a:avLst/>
          </a:prstGeom>
        </p:spPr>
      </p:pic>
    </p:spTree>
    <p:extLst>
      <p:ext uri="{BB962C8B-B14F-4D97-AF65-F5344CB8AC3E}">
        <p14:creationId xmlns:p14="http://schemas.microsoft.com/office/powerpoint/2010/main" val="77700552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10625328" cy="4041648"/>
          </a:xfrm>
        </p:spPr>
        <p:txBody>
          <a:bodyPr>
            <a:normAutofit/>
          </a:bodyPr>
          <a:lstStyle/>
          <a:p>
            <a:r>
              <a:rPr lang="en-US" sz="5400" dirty="0">
                <a:latin typeface="Times New Roman" panose="02020603050405020304" pitchFamily="18" charset="0"/>
                <a:cs typeface="Times New Roman" panose="02020603050405020304" pitchFamily="18" charset="0"/>
              </a:rPr>
              <a:t>Notes on Causality and Bias</a:t>
            </a:r>
          </a:p>
        </p:txBody>
      </p:sp>
      <p:sp>
        <p:nvSpPr>
          <p:cNvPr id="3" name="Content Placeholder 2"/>
          <p:cNvSpPr>
            <a:spLocks noGrp="1"/>
          </p:cNvSpPr>
          <p:nvPr>
            <p:ph type="subTitle" idx="1"/>
          </p:nvPr>
        </p:nvSpPr>
        <p:spPr/>
        <p:txBody>
          <a:bodyPr>
            <a:normAutofit/>
          </a:bodyPr>
          <a:lstStyle/>
          <a:p>
            <a:pPr marL="274320" lvl="1" indent="0">
              <a:buNone/>
            </a:pPr>
            <a:endParaRPr lang="en-CA" sz="2000" dirty="0">
              <a:solidFill>
                <a:schemeClr val="tx1"/>
              </a:solidFill>
              <a:latin typeface="Open Sans"/>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44683438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Interpreting your results causally (One more time)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990600" y="954612"/>
            <a:ext cx="9982201" cy="5141388"/>
          </a:xfrm>
        </p:spPr>
        <p:txBody>
          <a:bodyPr>
            <a:noAutofit/>
          </a:bodyPr>
          <a:lstStyle/>
          <a:p>
            <a:pPr marL="0" indent="0">
              <a:buNone/>
            </a:pPr>
            <a:r>
              <a:rPr lang="en-US" sz="2400" b="1" dirty="0">
                <a:solidFill>
                  <a:schemeClr val="accent2">
                    <a:lumMod val="75000"/>
                  </a:schemeClr>
                </a:solidFill>
                <a:cs typeface="Times New Roman" panose="02020603050405020304" pitchFamily="18" charset="0"/>
              </a:rPr>
              <a:t>Remember that causality is hard!</a:t>
            </a:r>
          </a:p>
          <a:p>
            <a:pPr marL="0" indent="0">
              <a:buNone/>
            </a:pPr>
            <a:r>
              <a:rPr lang="en-US" sz="2400" dirty="0">
                <a:cs typeface="Times New Roman" panose="02020603050405020304" pitchFamily="18" charset="0"/>
              </a:rPr>
              <a:t>Even after specifying your model, other things could go wrong: </a:t>
            </a:r>
          </a:p>
          <a:p>
            <a:pPr marL="457200" indent="-457200">
              <a:buFont typeface="+mj-lt"/>
              <a:buAutoNum type="arabicPeriod"/>
            </a:pPr>
            <a:r>
              <a:rPr lang="en-US" sz="2400" dirty="0">
                <a:cs typeface="Times New Roman" panose="02020603050405020304" pitchFamily="18" charset="0"/>
              </a:rPr>
              <a:t>Omitted Variables: missing data can </a:t>
            </a:r>
            <a:r>
              <a:rPr lang="en-US" sz="2400" u="sng" dirty="0">
                <a:cs typeface="Times New Roman" panose="02020603050405020304" pitchFamily="18" charset="0"/>
              </a:rPr>
              <a:t>bias</a:t>
            </a:r>
            <a:r>
              <a:rPr lang="en-US" sz="2400" dirty="0">
                <a:cs typeface="Times New Roman" panose="02020603050405020304" pitchFamily="18" charset="0"/>
              </a:rPr>
              <a:t> your estimates</a:t>
            </a:r>
          </a:p>
          <a:p>
            <a:pPr marL="457200" indent="-457200">
              <a:buFont typeface="+mj-lt"/>
              <a:buAutoNum type="arabicPeriod"/>
            </a:pPr>
            <a:r>
              <a:rPr lang="en-US" sz="2400" dirty="0">
                <a:cs typeface="Times New Roman" panose="02020603050405020304" pitchFamily="18" charset="0"/>
              </a:rPr>
              <a:t>Measurement Error: mismeasured data can </a:t>
            </a:r>
            <a:r>
              <a:rPr lang="en-US" sz="2400" u="sng" dirty="0">
                <a:cs typeface="Times New Roman" panose="02020603050405020304" pitchFamily="18" charset="0"/>
              </a:rPr>
              <a:t>bias </a:t>
            </a:r>
            <a:r>
              <a:rPr lang="en-US" sz="2400" dirty="0">
                <a:cs typeface="Times New Roman" panose="02020603050405020304" pitchFamily="18" charset="0"/>
              </a:rPr>
              <a:t>your estimates</a:t>
            </a:r>
          </a:p>
          <a:p>
            <a:pPr marL="457200" indent="-457200">
              <a:buFont typeface="+mj-lt"/>
              <a:buAutoNum type="arabicPeriod"/>
            </a:pPr>
            <a:r>
              <a:rPr lang="en-US" sz="2400" dirty="0">
                <a:cs typeface="Times New Roman" panose="02020603050405020304" pitchFamily="18" charset="0"/>
              </a:rPr>
              <a:t>Collinearity: correlation between variables can limit </a:t>
            </a:r>
            <a:r>
              <a:rPr lang="en-US" sz="2400" u="sng" dirty="0">
                <a:cs typeface="Times New Roman" panose="02020603050405020304" pitchFamily="18" charset="0"/>
              </a:rPr>
              <a:t>inferences</a:t>
            </a:r>
            <a:endParaRPr lang="en-US" sz="2400" dirty="0">
              <a:cs typeface="Times New Roman" panose="02020603050405020304" pitchFamily="18" charset="0"/>
            </a:endParaRPr>
          </a:p>
          <a:p>
            <a:endParaRPr lang="en-US" sz="2400" b="1" dirty="0">
              <a:solidFill>
                <a:schemeClr val="accent2">
                  <a:lumMod val="75000"/>
                </a:schemeClr>
              </a:solidFill>
              <a:cs typeface="Times New Roman" panose="02020603050405020304" pitchFamily="18" charset="0"/>
            </a:endParaRPr>
          </a:p>
        </p:txBody>
      </p:sp>
    </p:spTree>
    <p:extLst>
      <p:ext uri="{BB962C8B-B14F-4D97-AF65-F5344CB8AC3E}">
        <p14:creationId xmlns:p14="http://schemas.microsoft.com/office/powerpoint/2010/main" val="89746741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Omitted Variables </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90600" y="954612"/>
                <a:ext cx="9982201" cy="5141388"/>
              </a:xfrm>
            </p:spPr>
            <p:txBody>
              <a:bodyPr>
                <a:noAutofit/>
              </a:bodyPr>
              <a:lstStyle/>
              <a:p>
                <a:r>
                  <a:rPr lang="en-US" sz="2400" dirty="0"/>
                  <a:t>Maybe you didn’t have data on a specific variable </a:t>
                </a:r>
                <a14:m>
                  <m:oMath xmlns:m="http://schemas.openxmlformats.org/officeDocument/2006/math">
                    <m:r>
                      <a:rPr lang="en-US" sz="2400" b="0" i="1" smtClean="0">
                        <a:latin typeface="Cambria Math" panose="02040503050406030204" pitchFamily="18" charset="0"/>
                      </a:rPr>
                      <m:t>𝑧</m:t>
                    </m:r>
                  </m:oMath>
                </a14:m>
                <a:endParaRPr lang="en-US" sz="2400" dirty="0"/>
              </a:p>
              <a:p>
                <a:r>
                  <a:rPr lang="en-US" sz="2400" dirty="0"/>
                  <a:t>But if </a:t>
                </a:r>
                <a14:m>
                  <m:oMath xmlns:m="http://schemas.openxmlformats.org/officeDocument/2006/math">
                    <m:r>
                      <a:rPr lang="en-US" sz="2400" b="0" i="1" smtClean="0">
                        <a:latin typeface="Cambria Math" panose="02040503050406030204" pitchFamily="18" charset="0"/>
                      </a:rPr>
                      <m:t>𝐶𝑜𝑟𝑟</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r>
                          <a:rPr lang="en-US" sz="2400" b="0" i="1" smtClean="0">
                            <a:latin typeface="Cambria Math" panose="02040503050406030204" pitchFamily="18" charset="0"/>
                          </a:rPr>
                          <m:t>,</m:t>
                        </m:r>
                        <m:r>
                          <a:rPr lang="en-US" sz="2400" b="0" i="1" smtClean="0">
                            <a:latin typeface="Cambria Math" panose="02040503050406030204" pitchFamily="18" charset="0"/>
                          </a:rPr>
                          <m:t>𝑧</m:t>
                        </m:r>
                      </m:e>
                    </m:d>
                    <m:r>
                      <a:rPr lang="en-US" sz="2400" b="0" i="1" smtClean="0">
                        <a:latin typeface="Cambria Math" panose="02040503050406030204" pitchFamily="18" charset="0"/>
                      </a:rPr>
                      <m:t>≠0</m:t>
                    </m:r>
                  </m:oMath>
                </a14:m>
                <a:r>
                  <a:rPr lang="en-US" sz="2400" dirty="0"/>
                  <a:t>, then omitting </a:t>
                </a:r>
                <a14:m>
                  <m:oMath xmlns:m="http://schemas.openxmlformats.org/officeDocument/2006/math">
                    <m:r>
                      <a:rPr lang="en-US" sz="2400" b="0" i="1" smtClean="0">
                        <a:latin typeface="Cambria Math" panose="02040503050406030204" pitchFamily="18" charset="0"/>
                      </a:rPr>
                      <m:t>𝑧</m:t>
                    </m:r>
                  </m:oMath>
                </a14:m>
                <a:r>
                  <a:rPr lang="en-US" sz="2400" dirty="0"/>
                  <a:t> means </a:t>
                </a:r>
                <a14:m>
                  <m:oMath xmlns:m="http://schemas.openxmlformats.org/officeDocument/2006/math">
                    <m:r>
                      <a:rPr lang="en-CA" sz="2400" i="1">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𝐸</m:t>
                    </m:r>
                    <m:d>
                      <m:dPr>
                        <m:ctrlPr>
                          <a:rPr lang="en-CA" sz="2400" i="1">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ctrlPr>
                      </m:dPr>
                      <m:e>
                        <m:r>
                          <a:rPr lang="en-CA" sz="2400" i="1">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𝜖</m:t>
                        </m:r>
                        <m:r>
                          <a:rPr lang="en-US" sz="2400" i="1">
                            <a:solidFill>
                              <a:schemeClr val="tx1">
                                <a:lumMod val="75000"/>
                                <a:lumOff val="25000"/>
                              </a:schemeClr>
                            </a:solidFill>
                            <a:latin typeface="Cambria Math"/>
                            <a:ea typeface="Open Sans" panose="020B0606030504020204" pitchFamily="34" charset="0"/>
                            <a:cs typeface="Open Sans" panose="020B0606030504020204" pitchFamily="34" charset="0"/>
                          </a:rPr>
                          <m:t>|</m:t>
                        </m:r>
                        <m:r>
                          <a:rPr lang="en-US" sz="2400" i="1">
                            <a:solidFill>
                              <a:schemeClr val="tx1">
                                <a:lumMod val="75000"/>
                                <a:lumOff val="25000"/>
                              </a:schemeClr>
                            </a:solidFill>
                            <a:latin typeface="Cambria Math"/>
                            <a:ea typeface="Open Sans" panose="020B0606030504020204" pitchFamily="34" charset="0"/>
                            <a:cs typeface="Open Sans" panose="020B0606030504020204" pitchFamily="34" charset="0"/>
                          </a:rPr>
                          <m:t>𝑥</m:t>
                        </m:r>
                      </m:e>
                    </m:d>
                    <m:r>
                      <a:rPr lang="en-US" sz="2400" i="1" smtClean="0">
                        <a:solidFill>
                          <a:schemeClr val="tx1">
                            <a:lumMod val="75000"/>
                            <a:lumOff val="25000"/>
                          </a:schemeClr>
                        </a:solidFill>
                        <a:latin typeface="Cambria Math"/>
                        <a:ea typeface="Open Sans" panose="020B0606030504020204" pitchFamily="34" charset="0"/>
                        <a:cs typeface="Open Sans" panose="020B0606030504020204" pitchFamily="34" charset="0"/>
                      </a:rPr>
                      <m:t>≠</m:t>
                    </m:r>
                    <m:r>
                      <a:rPr lang="en-CA" sz="2400" i="1">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0</m:t>
                    </m:r>
                  </m:oMath>
                </a14:m>
                <a:endParaRPr lang="en-US" sz="2400" dirty="0">
                  <a:solidFill>
                    <a:schemeClr val="tx1">
                      <a:lumMod val="75000"/>
                      <a:lumOff val="25000"/>
                    </a:schemeClr>
                  </a:solidFill>
                  <a:ea typeface="Open Sans" panose="020B0606030504020204" pitchFamily="34" charset="0"/>
                  <a:cs typeface="Open Sans" panose="020B0606030504020204" pitchFamily="34" charset="0"/>
                </a:endParaRPr>
              </a:p>
              <a:p>
                <a:endParaRPr lang="en-US" sz="2400" dirty="0"/>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90600" y="954612"/>
                <a:ext cx="9982201" cy="5141388"/>
              </a:xfrm>
              <a:blipFill>
                <a:blip r:embed="rId3"/>
                <a:stretch>
                  <a:fillRect l="-489" t="-1305"/>
                </a:stretch>
              </a:blipFill>
            </p:spPr>
            <p:txBody>
              <a:bodyPr/>
              <a:lstStyle/>
              <a:p>
                <a:r>
                  <a:rPr lang="en-US">
                    <a:noFill/>
                  </a:rPr>
                  <a:t> </a:t>
                </a:r>
              </a:p>
            </p:txBody>
          </p:sp>
        </mc:Fallback>
      </mc:AlternateContent>
      <p:sp>
        <p:nvSpPr>
          <p:cNvPr id="6" name="Oval 5">
            <a:extLst>
              <a:ext uri="{FF2B5EF4-FFF2-40B4-BE49-F238E27FC236}">
                <a16:creationId xmlns:a16="http://schemas.microsoft.com/office/drawing/2014/main" id="{054B82A6-C3DA-E025-3D6C-9C6469ABAF9F}"/>
              </a:ext>
            </a:extLst>
          </p:cNvPr>
          <p:cNvSpPr/>
          <p:nvPr/>
        </p:nvSpPr>
        <p:spPr>
          <a:xfrm>
            <a:off x="4557268" y="2521734"/>
            <a:ext cx="957217" cy="957217"/>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D</a:t>
            </a:r>
          </a:p>
        </p:txBody>
      </p:sp>
      <mc:AlternateContent xmlns:mc="http://schemas.openxmlformats.org/markup-compatibility/2006" xmlns:a14="http://schemas.microsoft.com/office/drawing/2010/main">
        <mc:Choice Requires="a14">
          <p:sp>
            <p:nvSpPr>
              <p:cNvPr id="8" name="Oval 7">
                <a:extLst>
                  <a:ext uri="{FF2B5EF4-FFF2-40B4-BE49-F238E27FC236}">
                    <a16:creationId xmlns:a16="http://schemas.microsoft.com/office/drawing/2014/main" id="{6DCD8A55-E89F-6542-00A1-1A0AA6B51C6F}"/>
                  </a:ext>
                </a:extLst>
              </p:cNvPr>
              <p:cNvSpPr/>
              <p:nvPr/>
            </p:nvSpPr>
            <p:spPr>
              <a:xfrm>
                <a:off x="5092152" y="4436167"/>
                <a:ext cx="957217" cy="957217"/>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𝑌</m:t>
                      </m:r>
                    </m:oMath>
                  </m:oMathPara>
                </a14:m>
                <a:endParaRPr lang="en-US" dirty="0">
                  <a:latin typeface="Times New Roman" panose="02020603050405020304" pitchFamily="18" charset="0"/>
                </a:endParaRPr>
              </a:p>
            </p:txBody>
          </p:sp>
        </mc:Choice>
        <mc:Fallback xmlns="">
          <p:sp>
            <p:nvSpPr>
              <p:cNvPr id="8" name="Oval 7">
                <a:extLst>
                  <a:ext uri="{FF2B5EF4-FFF2-40B4-BE49-F238E27FC236}">
                    <a16:creationId xmlns:a16="http://schemas.microsoft.com/office/drawing/2014/main" id="{6DCD8A55-E89F-6542-00A1-1A0AA6B51C6F}"/>
                  </a:ext>
                </a:extLst>
              </p:cNvPr>
              <p:cNvSpPr>
                <a:spLocks noRot="1" noChangeAspect="1" noMove="1" noResize="1" noEditPoints="1" noAdjustHandles="1" noChangeArrowheads="1" noChangeShapeType="1" noTextEdit="1"/>
              </p:cNvSpPr>
              <p:nvPr/>
            </p:nvSpPr>
            <p:spPr>
              <a:xfrm>
                <a:off x="5092152" y="4436167"/>
                <a:ext cx="957217" cy="957217"/>
              </a:xfrm>
              <a:prstGeom prst="ellipse">
                <a:avLst/>
              </a:prstGeom>
              <a:blipFill>
                <a:blip r:embed="rId4"/>
                <a:stretch>
                  <a:fillRect/>
                </a:stretch>
              </a:blipFill>
            </p:spPr>
            <p:txBody>
              <a:bodyPr/>
              <a:lstStyle/>
              <a:p>
                <a:r>
                  <a:rPr lang="en-US">
                    <a:noFill/>
                  </a:rPr>
                  <a:t> </a:t>
                </a:r>
              </a:p>
            </p:txBody>
          </p:sp>
        </mc:Fallback>
      </mc:AlternateContent>
      <p:cxnSp>
        <p:nvCxnSpPr>
          <p:cNvPr id="9" name="Straight Arrow Connector 8">
            <a:extLst>
              <a:ext uri="{FF2B5EF4-FFF2-40B4-BE49-F238E27FC236}">
                <a16:creationId xmlns:a16="http://schemas.microsoft.com/office/drawing/2014/main" id="{A2851B9D-9F2A-6B57-464A-C1E8D856B2DD}"/>
              </a:ext>
            </a:extLst>
          </p:cNvPr>
          <p:cNvCxnSpPr>
            <a:cxnSpLocks/>
          </p:cNvCxnSpPr>
          <p:nvPr/>
        </p:nvCxnSpPr>
        <p:spPr>
          <a:xfrm>
            <a:off x="3193568" y="3000342"/>
            <a:ext cx="128393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101653AC-998B-FC3C-4CF1-E7F63C8C828F}"/>
              </a:ext>
            </a:extLst>
          </p:cNvPr>
          <p:cNvCxnSpPr>
            <a:cxnSpLocks/>
            <a:endCxn id="8" idx="0"/>
          </p:cNvCxnSpPr>
          <p:nvPr/>
        </p:nvCxnSpPr>
        <p:spPr>
          <a:xfrm>
            <a:off x="5171922" y="3478951"/>
            <a:ext cx="398838" cy="9572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0F5B67B3-1DBD-0420-3302-97BF412C594A}"/>
              </a:ext>
            </a:extLst>
          </p:cNvPr>
          <p:cNvSpPr/>
          <p:nvPr/>
        </p:nvSpPr>
        <p:spPr>
          <a:xfrm>
            <a:off x="1981200" y="2362200"/>
            <a:ext cx="1099622" cy="1116751"/>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X</a:t>
            </a:r>
            <a:endParaRPr lang="en-US" sz="1050" dirty="0">
              <a:latin typeface="Times New Roman" panose="02020603050405020304" pitchFamily="18" charset="0"/>
            </a:endParaRPr>
          </a:p>
        </p:txBody>
      </p:sp>
      <p:sp>
        <p:nvSpPr>
          <p:cNvPr id="13" name="Oval 12">
            <a:extLst>
              <a:ext uri="{FF2B5EF4-FFF2-40B4-BE49-F238E27FC236}">
                <a16:creationId xmlns:a16="http://schemas.microsoft.com/office/drawing/2014/main" id="{9B7BAED6-7567-B500-676E-D278343D47F2}"/>
              </a:ext>
            </a:extLst>
          </p:cNvPr>
          <p:cNvSpPr/>
          <p:nvPr/>
        </p:nvSpPr>
        <p:spPr>
          <a:xfrm>
            <a:off x="2300272" y="4755241"/>
            <a:ext cx="957217" cy="957217"/>
          </a:xfrm>
          <a:prstGeom prst="ellipse">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latin typeface="Times New Roman" panose="02020603050405020304" pitchFamily="18" charset="0"/>
              </a:rPr>
              <a:t>R</a:t>
            </a:r>
          </a:p>
        </p:txBody>
      </p:sp>
      <p:cxnSp>
        <p:nvCxnSpPr>
          <p:cNvPr id="14" name="Straight Arrow Connector 13">
            <a:extLst>
              <a:ext uri="{FF2B5EF4-FFF2-40B4-BE49-F238E27FC236}">
                <a16:creationId xmlns:a16="http://schemas.microsoft.com/office/drawing/2014/main" id="{E61968AE-2FD8-1274-D2F2-B3FDB752931B}"/>
              </a:ext>
            </a:extLst>
          </p:cNvPr>
          <p:cNvCxnSpPr>
            <a:cxnSpLocks/>
          </p:cNvCxnSpPr>
          <p:nvPr/>
        </p:nvCxnSpPr>
        <p:spPr>
          <a:xfrm>
            <a:off x="3097953" y="3159878"/>
            <a:ext cx="1914433" cy="175489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6A23F6D4-81C3-D56B-FC29-1E932879A761}"/>
              </a:ext>
            </a:extLst>
          </p:cNvPr>
          <p:cNvCxnSpPr>
            <a:cxnSpLocks/>
          </p:cNvCxnSpPr>
          <p:nvPr/>
        </p:nvCxnSpPr>
        <p:spPr>
          <a:xfrm flipH="1" flipV="1">
            <a:off x="2619344" y="3638487"/>
            <a:ext cx="159536" cy="1116753"/>
          </a:xfrm>
          <a:prstGeom prst="straightConnector1">
            <a:avLst/>
          </a:prstGeom>
          <a:ln>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D1F52F2D-5DC8-8B7F-2EC2-F40C85C830DA}"/>
              </a:ext>
            </a:extLst>
          </p:cNvPr>
          <p:cNvCxnSpPr>
            <a:cxnSpLocks/>
          </p:cNvCxnSpPr>
          <p:nvPr/>
        </p:nvCxnSpPr>
        <p:spPr>
          <a:xfrm flipV="1">
            <a:off x="3417025" y="5074312"/>
            <a:ext cx="1459316" cy="159538"/>
          </a:xfrm>
          <a:prstGeom prst="straightConnector1">
            <a:avLst/>
          </a:prstGeom>
          <a:ln>
            <a:prstDash val="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3243021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Omitted Variables </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90600" y="954612"/>
                <a:ext cx="9982201" cy="5141388"/>
              </a:xfrm>
            </p:spPr>
            <p:txBody>
              <a:bodyPr>
                <a:noAutofit/>
              </a:bodyPr>
              <a:lstStyle/>
              <a:p>
                <a:r>
                  <a:rPr lang="en-US" sz="2400" dirty="0"/>
                  <a:t>Maybe you didn’t have data on a specific variable </a:t>
                </a:r>
                <a14:m>
                  <m:oMath xmlns:m="http://schemas.openxmlformats.org/officeDocument/2006/math">
                    <m:r>
                      <a:rPr lang="en-US" sz="2400" b="0" i="1" smtClean="0">
                        <a:latin typeface="Cambria Math" panose="02040503050406030204" pitchFamily="18" charset="0"/>
                      </a:rPr>
                      <m:t>𝑧</m:t>
                    </m:r>
                  </m:oMath>
                </a14:m>
                <a:endParaRPr lang="en-US" sz="2400" dirty="0"/>
              </a:p>
              <a:p>
                <a:r>
                  <a:rPr lang="en-US" sz="2400" dirty="0"/>
                  <a:t>But if </a:t>
                </a:r>
                <a14:m>
                  <m:oMath xmlns:m="http://schemas.openxmlformats.org/officeDocument/2006/math">
                    <m:r>
                      <a:rPr lang="en-US" sz="2400" b="0" i="1" smtClean="0">
                        <a:latin typeface="Cambria Math" panose="02040503050406030204" pitchFamily="18" charset="0"/>
                      </a:rPr>
                      <m:t>𝐶𝑜𝑟𝑟</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r>
                          <a:rPr lang="en-US" sz="2400" b="0" i="1" smtClean="0">
                            <a:latin typeface="Cambria Math" panose="02040503050406030204" pitchFamily="18" charset="0"/>
                          </a:rPr>
                          <m:t>,</m:t>
                        </m:r>
                        <m:r>
                          <a:rPr lang="en-US" sz="2400" b="0" i="1" smtClean="0">
                            <a:latin typeface="Cambria Math" panose="02040503050406030204" pitchFamily="18" charset="0"/>
                          </a:rPr>
                          <m:t>𝑧</m:t>
                        </m:r>
                      </m:e>
                    </m:d>
                    <m:r>
                      <a:rPr lang="en-US" sz="2400" b="0" i="1" smtClean="0">
                        <a:latin typeface="Cambria Math" panose="02040503050406030204" pitchFamily="18" charset="0"/>
                      </a:rPr>
                      <m:t>≠0</m:t>
                    </m:r>
                  </m:oMath>
                </a14:m>
                <a:r>
                  <a:rPr lang="en-US" sz="2400" dirty="0"/>
                  <a:t>, then omitting </a:t>
                </a:r>
                <a14:m>
                  <m:oMath xmlns:m="http://schemas.openxmlformats.org/officeDocument/2006/math">
                    <m:r>
                      <a:rPr lang="en-US" sz="2400" b="0" i="1" smtClean="0">
                        <a:latin typeface="Cambria Math" panose="02040503050406030204" pitchFamily="18" charset="0"/>
                      </a:rPr>
                      <m:t>𝑧</m:t>
                    </m:r>
                  </m:oMath>
                </a14:m>
                <a:r>
                  <a:rPr lang="en-US" sz="2400" dirty="0"/>
                  <a:t> means </a:t>
                </a:r>
                <a14:m>
                  <m:oMath xmlns:m="http://schemas.openxmlformats.org/officeDocument/2006/math">
                    <m:r>
                      <a:rPr lang="en-CA" sz="2400" i="1">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𝐸</m:t>
                    </m:r>
                    <m:d>
                      <m:dPr>
                        <m:ctrlPr>
                          <a:rPr lang="en-CA" sz="2400" i="1">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ctrlPr>
                      </m:dPr>
                      <m:e>
                        <m:r>
                          <a:rPr lang="en-CA" sz="2400" i="1">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𝜖</m:t>
                        </m:r>
                        <m:r>
                          <a:rPr lang="en-US" sz="2400" i="1">
                            <a:solidFill>
                              <a:schemeClr val="tx1">
                                <a:lumMod val="75000"/>
                                <a:lumOff val="25000"/>
                              </a:schemeClr>
                            </a:solidFill>
                            <a:latin typeface="Cambria Math"/>
                            <a:ea typeface="Open Sans" panose="020B0606030504020204" pitchFamily="34" charset="0"/>
                            <a:cs typeface="Open Sans" panose="020B0606030504020204" pitchFamily="34" charset="0"/>
                          </a:rPr>
                          <m:t>|</m:t>
                        </m:r>
                        <m:r>
                          <a:rPr lang="en-US" sz="2400" i="1">
                            <a:solidFill>
                              <a:schemeClr val="tx1">
                                <a:lumMod val="75000"/>
                                <a:lumOff val="25000"/>
                              </a:schemeClr>
                            </a:solidFill>
                            <a:latin typeface="Cambria Math"/>
                            <a:ea typeface="Open Sans" panose="020B0606030504020204" pitchFamily="34" charset="0"/>
                            <a:cs typeface="Open Sans" panose="020B0606030504020204" pitchFamily="34" charset="0"/>
                          </a:rPr>
                          <m:t>𝑥</m:t>
                        </m:r>
                      </m:e>
                    </m:d>
                    <m:r>
                      <a:rPr lang="en-US" sz="2400" i="1" smtClean="0">
                        <a:solidFill>
                          <a:schemeClr val="tx1">
                            <a:lumMod val="75000"/>
                            <a:lumOff val="25000"/>
                          </a:schemeClr>
                        </a:solidFill>
                        <a:latin typeface="Cambria Math"/>
                        <a:ea typeface="Open Sans" panose="020B0606030504020204" pitchFamily="34" charset="0"/>
                        <a:cs typeface="Open Sans" panose="020B0606030504020204" pitchFamily="34" charset="0"/>
                      </a:rPr>
                      <m:t>≠</m:t>
                    </m:r>
                    <m:r>
                      <a:rPr lang="en-CA" sz="2400" i="1">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0</m:t>
                    </m:r>
                  </m:oMath>
                </a14:m>
                <a:endParaRPr lang="en-US" sz="2400" dirty="0">
                  <a:solidFill>
                    <a:schemeClr val="tx1">
                      <a:lumMod val="75000"/>
                      <a:lumOff val="25000"/>
                    </a:schemeClr>
                  </a:solidFill>
                  <a:ea typeface="Open Sans" panose="020B0606030504020204" pitchFamily="34" charset="0"/>
                  <a:cs typeface="Open Sans" panose="020B0606030504020204" pitchFamily="34" charset="0"/>
                </a:endParaRPr>
              </a:p>
              <a:p>
                <a:r>
                  <a:rPr lang="en-US" sz="2400" dirty="0"/>
                  <a:t>This leads to </a:t>
                </a:r>
                <a:r>
                  <a:rPr lang="en-US" sz="2400" b="1" dirty="0">
                    <a:solidFill>
                      <a:schemeClr val="accent2">
                        <a:lumMod val="75000"/>
                      </a:schemeClr>
                    </a:solidFill>
                  </a:rPr>
                  <a:t>bias</a:t>
                </a:r>
                <a:r>
                  <a:rPr lang="en-US" sz="2400" b="1" dirty="0"/>
                  <a:t> </a:t>
                </a:r>
                <a:r>
                  <a:rPr lang="en-US" sz="2400" dirty="0"/>
                  <a:t>in your estimates:</a:t>
                </a:r>
              </a:p>
              <a:p>
                <a:endParaRPr lang="en-US" sz="2400" dirty="0"/>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90600" y="954612"/>
                <a:ext cx="9982201" cy="5141388"/>
              </a:xfrm>
              <a:blipFill>
                <a:blip r:embed="rId2"/>
                <a:stretch>
                  <a:fillRect l="-489" t="-13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39423BC8-6536-D348-583C-0234080C6873}"/>
                  </a:ext>
                </a:extLst>
              </p:cNvPr>
              <p:cNvSpPr/>
              <p:nvPr/>
            </p:nvSpPr>
            <p:spPr>
              <a:xfrm>
                <a:off x="848801" y="2807515"/>
                <a:ext cx="10265797" cy="1573636"/>
              </a:xfrm>
              <a:prstGeom prst="rect">
                <a:avLst/>
              </a:prstGeom>
            </p:spPr>
            <p:txBody>
              <a:bodyPr wrap="square">
                <a:spAutoFit/>
              </a:bodyPr>
              <a:lstStyle/>
              <a:p>
                <a:pPr marL="118872" fontAlgn="auto">
                  <a:spcBef>
                    <a:spcPts val="0"/>
                  </a:spcBef>
                  <a:spcAft>
                    <a:spcPts val="0"/>
                  </a:spcAft>
                  <a:defRPr/>
                </a:pPr>
                <a14:m>
                  <m:oMathPara xmlns:m="http://schemas.openxmlformats.org/officeDocument/2006/math">
                    <m:oMathParaPr>
                      <m:jc m:val="centerGroup"/>
                    </m:oMathParaPr>
                    <m:oMath xmlns:m="http://schemas.openxmlformats.org/officeDocument/2006/math">
                      <m:r>
                        <m:rPr>
                          <m:sty m:val="p"/>
                        </m:rPr>
                        <a:rPr lang="en-CA" sz="3200" b="0" i="0" smtClean="0">
                          <a:solidFill>
                            <a:schemeClr val="tx1">
                              <a:lumMod val="65000"/>
                              <a:lumOff val="35000"/>
                            </a:schemeClr>
                          </a:solidFill>
                          <a:latin typeface="Cambria Math" panose="02040503050406030204" pitchFamily="18" charset="0"/>
                          <a:cs typeface="Times New Roman" pitchFamily="18" charset="0"/>
                        </a:rPr>
                        <m:t>bias</m:t>
                      </m:r>
                      <m:d>
                        <m:dPr>
                          <m:ctrlPr>
                            <a:rPr lang="en-CA" sz="3200" b="0" i="1" smtClean="0">
                              <a:solidFill>
                                <a:schemeClr val="tx1">
                                  <a:lumMod val="65000"/>
                                  <a:lumOff val="35000"/>
                                </a:schemeClr>
                              </a:solidFill>
                              <a:latin typeface="Cambria Math" panose="02040503050406030204" pitchFamily="18" charset="0"/>
                              <a:cs typeface="Times New Roman" pitchFamily="18" charset="0"/>
                            </a:rPr>
                          </m:ctrlPr>
                        </m:dPr>
                        <m:e>
                          <m:acc>
                            <m:accPr>
                              <m:chr m:val="̂"/>
                              <m:ctrlPr>
                                <a:rPr lang="en-US" sz="3200" b="0" i="1" smtClean="0">
                                  <a:solidFill>
                                    <a:schemeClr val="tx1">
                                      <a:lumMod val="65000"/>
                                      <a:lumOff val="35000"/>
                                    </a:schemeClr>
                                  </a:solidFill>
                                  <a:latin typeface="Cambria Math" panose="02040503050406030204" pitchFamily="18" charset="0"/>
                                  <a:cs typeface="Times New Roman" pitchFamily="18" charset="0"/>
                                </a:rPr>
                              </m:ctrlPr>
                            </m:accPr>
                            <m:e>
                              <m:sSub>
                                <m:sSubPr>
                                  <m:ctrlPr>
                                    <a:rPr lang="en-US" sz="3200" b="0" i="1" smtClean="0">
                                      <a:solidFill>
                                        <a:schemeClr val="tx1">
                                          <a:lumMod val="65000"/>
                                          <a:lumOff val="35000"/>
                                        </a:schemeClr>
                                      </a:solidFill>
                                      <a:latin typeface="Cambria Math" panose="02040503050406030204" pitchFamily="18" charset="0"/>
                                      <a:cs typeface="Times New Roman" pitchFamily="18" charset="0"/>
                                    </a:rPr>
                                  </m:ctrlPr>
                                </m:sSubPr>
                                <m:e>
                                  <m:r>
                                    <a:rPr lang="en-US" sz="3200" b="0" i="1" smtClean="0">
                                      <a:solidFill>
                                        <a:schemeClr val="tx1">
                                          <a:lumMod val="65000"/>
                                          <a:lumOff val="35000"/>
                                        </a:schemeClr>
                                      </a:solidFill>
                                      <a:latin typeface="Cambria Math" panose="02040503050406030204" pitchFamily="18" charset="0"/>
                                      <a:cs typeface="Times New Roman" pitchFamily="18" charset="0"/>
                                    </a:rPr>
                                    <m:t>𝛽</m:t>
                                  </m:r>
                                </m:e>
                                <m:sub>
                                  <m:r>
                                    <a:rPr lang="en-US" sz="3200" b="0" i="1" smtClean="0">
                                      <a:solidFill>
                                        <a:schemeClr val="tx1">
                                          <a:lumMod val="65000"/>
                                          <a:lumOff val="35000"/>
                                        </a:schemeClr>
                                      </a:solidFill>
                                      <a:latin typeface="Cambria Math" panose="02040503050406030204" pitchFamily="18" charset="0"/>
                                      <a:cs typeface="Times New Roman" pitchFamily="18" charset="0"/>
                                    </a:rPr>
                                    <m:t>1</m:t>
                                  </m:r>
                                </m:sub>
                              </m:sSub>
                            </m:e>
                          </m:acc>
                        </m:e>
                      </m:d>
                      <m:r>
                        <a:rPr lang="en-CA" sz="3200" b="0" i="1" smtClean="0">
                          <a:solidFill>
                            <a:schemeClr val="tx1">
                              <a:lumMod val="65000"/>
                              <a:lumOff val="35000"/>
                            </a:schemeClr>
                          </a:solidFill>
                          <a:latin typeface="Cambria Math" panose="02040503050406030204" pitchFamily="18" charset="0"/>
                          <a:cs typeface="Times New Roman" pitchFamily="18" charset="0"/>
                        </a:rPr>
                        <m:t>=</m:t>
                      </m:r>
                      <m:r>
                        <a:rPr lang="en-US" sz="3200" b="0" i="1" smtClean="0">
                          <a:solidFill>
                            <a:schemeClr val="tx1">
                              <a:lumMod val="65000"/>
                              <a:lumOff val="35000"/>
                            </a:schemeClr>
                          </a:solidFill>
                          <a:latin typeface="Cambria Math" panose="02040503050406030204" pitchFamily="18" charset="0"/>
                          <a:cs typeface="Times New Roman" pitchFamily="18" charset="0"/>
                        </a:rPr>
                        <m:t>𝔼</m:t>
                      </m:r>
                      <m:d>
                        <m:dPr>
                          <m:begChr m:val="["/>
                          <m:endChr m:val="]"/>
                          <m:ctrlPr>
                            <a:rPr lang="en-US" sz="3200" b="0" i="1" smtClean="0">
                              <a:solidFill>
                                <a:schemeClr val="tx1">
                                  <a:lumMod val="65000"/>
                                  <a:lumOff val="35000"/>
                                </a:schemeClr>
                              </a:solidFill>
                              <a:latin typeface="Cambria Math" panose="02040503050406030204" pitchFamily="18" charset="0"/>
                              <a:cs typeface="Times New Roman" pitchFamily="18" charset="0"/>
                            </a:rPr>
                          </m:ctrlPr>
                        </m:dPr>
                        <m:e>
                          <m:acc>
                            <m:accPr>
                              <m:chr m:val="̂"/>
                              <m:ctrlPr>
                                <a:rPr lang="en-US" sz="3200" b="0" i="1" smtClean="0">
                                  <a:solidFill>
                                    <a:schemeClr val="tx1">
                                      <a:lumMod val="65000"/>
                                      <a:lumOff val="35000"/>
                                    </a:schemeClr>
                                  </a:solidFill>
                                  <a:latin typeface="Cambria Math" panose="02040503050406030204" pitchFamily="18" charset="0"/>
                                  <a:cs typeface="Times New Roman" pitchFamily="18" charset="0"/>
                                </a:rPr>
                              </m:ctrlPr>
                            </m:accPr>
                            <m:e>
                              <m:sSub>
                                <m:sSubPr>
                                  <m:ctrlPr>
                                    <a:rPr lang="en-US" sz="3200" b="0" i="1" smtClean="0">
                                      <a:solidFill>
                                        <a:schemeClr val="tx1">
                                          <a:lumMod val="65000"/>
                                          <a:lumOff val="35000"/>
                                        </a:schemeClr>
                                      </a:solidFill>
                                      <a:latin typeface="Cambria Math" panose="02040503050406030204" pitchFamily="18" charset="0"/>
                                      <a:cs typeface="Times New Roman" pitchFamily="18" charset="0"/>
                                    </a:rPr>
                                  </m:ctrlPr>
                                </m:sSubPr>
                                <m:e>
                                  <m:r>
                                    <a:rPr lang="en-US" sz="3200" b="0" i="1" smtClean="0">
                                      <a:solidFill>
                                        <a:schemeClr val="tx1">
                                          <a:lumMod val="65000"/>
                                          <a:lumOff val="35000"/>
                                        </a:schemeClr>
                                      </a:solidFill>
                                      <a:latin typeface="Cambria Math" panose="02040503050406030204" pitchFamily="18" charset="0"/>
                                      <a:cs typeface="Times New Roman" pitchFamily="18" charset="0"/>
                                    </a:rPr>
                                    <m:t>𝛽</m:t>
                                  </m:r>
                                </m:e>
                                <m:sub>
                                  <m:r>
                                    <a:rPr lang="en-US" sz="3200" b="0" i="1" smtClean="0">
                                      <a:solidFill>
                                        <a:schemeClr val="tx1">
                                          <a:lumMod val="65000"/>
                                          <a:lumOff val="35000"/>
                                        </a:schemeClr>
                                      </a:solidFill>
                                      <a:latin typeface="Cambria Math" panose="02040503050406030204" pitchFamily="18" charset="0"/>
                                      <a:cs typeface="Times New Roman" pitchFamily="18" charset="0"/>
                                    </a:rPr>
                                    <m:t>1</m:t>
                                  </m:r>
                                </m:sub>
                              </m:sSub>
                            </m:e>
                          </m:acc>
                        </m:e>
                      </m:d>
                      <m:r>
                        <a:rPr lang="en-US" sz="3200" b="0" i="1" smtClean="0">
                          <a:solidFill>
                            <a:schemeClr val="tx1">
                              <a:lumMod val="65000"/>
                              <a:lumOff val="35000"/>
                            </a:schemeClr>
                          </a:solidFill>
                          <a:latin typeface="Cambria Math" panose="02040503050406030204" pitchFamily="18" charset="0"/>
                          <a:cs typeface="Times New Roman" pitchFamily="18" charset="0"/>
                        </a:rPr>
                        <m:t>−</m:t>
                      </m:r>
                      <m:sSub>
                        <m:sSubPr>
                          <m:ctrlPr>
                            <a:rPr lang="en-US" sz="3200" b="0" i="1" smtClean="0">
                              <a:solidFill>
                                <a:schemeClr val="tx1">
                                  <a:lumMod val="65000"/>
                                  <a:lumOff val="35000"/>
                                </a:schemeClr>
                              </a:solidFill>
                              <a:latin typeface="Cambria Math" panose="02040503050406030204" pitchFamily="18" charset="0"/>
                              <a:cs typeface="Times New Roman" pitchFamily="18" charset="0"/>
                            </a:rPr>
                          </m:ctrlPr>
                        </m:sSubPr>
                        <m:e>
                          <m:r>
                            <a:rPr lang="en-US" sz="3200" b="0" i="1" smtClean="0">
                              <a:solidFill>
                                <a:schemeClr val="tx1">
                                  <a:lumMod val="65000"/>
                                  <a:lumOff val="35000"/>
                                </a:schemeClr>
                              </a:solidFill>
                              <a:latin typeface="Cambria Math" panose="02040503050406030204" pitchFamily="18" charset="0"/>
                              <a:cs typeface="Times New Roman" pitchFamily="18" charset="0"/>
                            </a:rPr>
                            <m:t>𝛽</m:t>
                          </m:r>
                        </m:e>
                        <m:sub>
                          <m:r>
                            <a:rPr lang="en-US" sz="3200" b="0" i="1" smtClean="0">
                              <a:solidFill>
                                <a:schemeClr val="tx1">
                                  <a:lumMod val="65000"/>
                                  <a:lumOff val="35000"/>
                                </a:schemeClr>
                              </a:solidFill>
                              <a:latin typeface="Cambria Math" panose="02040503050406030204" pitchFamily="18" charset="0"/>
                              <a:cs typeface="Times New Roman" pitchFamily="18" charset="0"/>
                            </a:rPr>
                            <m:t>1</m:t>
                          </m:r>
                        </m:sub>
                      </m:sSub>
                    </m:oMath>
                  </m:oMathPara>
                </a14:m>
                <a:endParaRPr lang="en-US" sz="3200" b="0" i="1" dirty="0">
                  <a:solidFill>
                    <a:schemeClr val="tx1">
                      <a:lumMod val="65000"/>
                      <a:lumOff val="35000"/>
                    </a:schemeClr>
                  </a:solidFill>
                  <a:latin typeface="Cambria Math" panose="02040503050406030204" pitchFamily="18" charset="0"/>
                  <a:cs typeface="Times New Roman" pitchFamily="18" charset="0"/>
                </a:endParaRPr>
              </a:p>
              <a:p>
                <a:pPr marL="118872" fontAlgn="auto">
                  <a:spcBef>
                    <a:spcPts val="0"/>
                  </a:spcBef>
                  <a:spcAft>
                    <a:spcPts val="0"/>
                  </a:spcAft>
                  <a:defRPr/>
                </a:pPr>
                <a14:m>
                  <m:oMathPara xmlns:m="http://schemas.openxmlformats.org/officeDocument/2006/math">
                    <m:oMathParaPr>
                      <m:jc m:val="centerGroup"/>
                    </m:oMathParaPr>
                    <m:oMath xmlns:m="http://schemas.openxmlformats.org/officeDocument/2006/math">
                      <m:r>
                        <a:rPr lang="en-CA" sz="3200" b="0" i="1" smtClean="0">
                          <a:solidFill>
                            <a:schemeClr val="tx1">
                              <a:lumMod val="65000"/>
                              <a:lumOff val="35000"/>
                            </a:schemeClr>
                          </a:solidFill>
                          <a:latin typeface="Cambria Math" panose="02040503050406030204" pitchFamily="18" charset="0"/>
                          <a:cs typeface="Times New Roman" pitchFamily="18" charset="0"/>
                        </a:rPr>
                        <m:t>=</m:t>
                      </m:r>
                      <m:r>
                        <a:rPr lang="en-US" sz="3200" b="0" i="1" smtClean="0">
                          <a:solidFill>
                            <a:schemeClr val="tx1">
                              <a:lumMod val="65000"/>
                              <a:lumOff val="35000"/>
                            </a:schemeClr>
                          </a:solidFill>
                          <a:latin typeface="Cambria Math" panose="02040503050406030204" pitchFamily="18" charset="0"/>
                          <a:cs typeface="Times New Roman" pitchFamily="18" charset="0"/>
                        </a:rPr>
                        <m:t>𝐶𝑜𝑟𝑟</m:t>
                      </m:r>
                      <m:d>
                        <m:dPr>
                          <m:ctrlPr>
                            <a:rPr lang="en-US" sz="3200" b="0" i="1" smtClean="0">
                              <a:solidFill>
                                <a:schemeClr val="tx1">
                                  <a:lumMod val="65000"/>
                                  <a:lumOff val="35000"/>
                                </a:schemeClr>
                              </a:solidFill>
                              <a:latin typeface="Cambria Math" panose="02040503050406030204" pitchFamily="18" charset="0"/>
                              <a:cs typeface="Times New Roman" pitchFamily="18" charset="0"/>
                            </a:rPr>
                          </m:ctrlPr>
                        </m:dPr>
                        <m:e>
                          <m:r>
                            <a:rPr lang="en-US" sz="3200" b="0" i="1" smtClean="0">
                              <a:solidFill>
                                <a:schemeClr val="tx1">
                                  <a:lumMod val="65000"/>
                                  <a:lumOff val="35000"/>
                                </a:schemeClr>
                              </a:solidFill>
                              <a:latin typeface="Cambria Math" panose="02040503050406030204" pitchFamily="18" charset="0"/>
                              <a:cs typeface="Times New Roman" pitchFamily="18" charset="0"/>
                            </a:rPr>
                            <m:t>𝑥</m:t>
                          </m:r>
                          <m:r>
                            <a:rPr lang="en-US" sz="3200" b="0" i="1" smtClean="0">
                              <a:solidFill>
                                <a:schemeClr val="tx1">
                                  <a:lumMod val="65000"/>
                                  <a:lumOff val="35000"/>
                                </a:schemeClr>
                              </a:solidFill>
                              <a:latin typeface="Cambria Math" panose="02040503050406030204" pitchFamily="18" charset="0"/>
                              <a:cs typeface="Times New Roman" pitchFamily="18" charset="0"/>
                            </a:rPr>
                            <m:t>,</m:t>
                          </m:r>
                          <m:r>
                            <a:rPr lang="en-US" sz="3200" b="0" i="1" smtClean="0">
                              <a:solidFill>
                                <a:schemeClr val="tx1">
                                  <a:lumMod val="65000"/>
                                  <a:lumOff val="35000"/>
                                </a:schemeClr>
                              </a:solidFill>
                              <a:latin typeface="Cambria Math" panose="02040503050406030204" pitchFamily="18" charset="0"/>
                              <a:cs typeface="Times New Roman" pitchFamily="18" charset="0"/>
                            </a:rPr>
                            <m:t>𝑧</m:t>
                          </m:r>
                        </m:e>
                      </m:d>
                      <m:f>
                        <m:fPr>
                          <m:ctrlPr>
                            <a:rPr lang="en-US" sz="3200" b="0" i="1" smtClean="0">
                              <a:solidFill>
                                <a:schemeClr val="tx1">
                                  <a:lumMod val="65000"/>
                                  <a:lumOff val="35000"/>
                                </a:schemeClr>
                              </a:solidFill>
                              <a:latin typeface="Cambria Math" panose="02040503050406030204" pitchFamily="18" charset="0"/>
                              <a:cs typeface="Times New Roman" pitchFamily="18" charset="0"/>
                            </a:rPr>
                          </m:ctrlPr>
                        </m:fPr>
                        <m:num>
                          <m:sSub>
                            <m:sSubPr>
                              <m:ctrlPr>
                                <a:rPr lang="en-US" sz="3200" b="0" i="1" smtClean="0">
                                  <a:solidFill>
                                    <a:schemeClr val="tx1">
                                      <a:lumMod val="65000"/>
                                      <a:lumOff val="35000"/>
                                    </a:schemeClr>
                                  </a:solidFill>
                                  <a:latin typeface="Cambria Math" panose="02040503050406030204" pitchFamily="18" charset="0"/>
                                  <a:cs typeface="Times New Roman" pitchFamily="18" charset="0"/>
                                </a:rPr>
                              </m:ctrlPr>
                            </m:sSubPr>
                            <m:e>
                              <m:r>
                                <a:rPr lang="en-US" sz="3200" b="0" i="1" smtClean="0">
                                  <a:solidFill>
                                    <a:schemeClr val="tx1">
                                      <a:lumMod val="65000"/>
                                      <a:lumOff val="35000"/>
                                    </a:schemeClr>
                                  </a:solidFill>
                                  <a:latin typeface="Cambria Math" panose="02040503050406030204" pitchFamily="18" charset="0"/>
                                  <a:cs typeface="Times New Roman" pitchFamily="18" charset="0"/>
                                </a:rPr>
                                <m:t>𝜎</m:t>
                              </m:r>
                            </m:e>
                            <m:sub>
                              <m:r>
                                <a:rPr lang="en-US" sz="3200" b="0" i="1" smtClean="0">
                                  <a:solidFill>
                                    <a:schemeClr val="tx1">
                                      <a:lumMod val="65000"/>
                                      <a:lumOff val="35000"/>
                                    </a:schemeClr>
                                  </a:solidFill>
                                  <a:latin typeface="Cambria Math" panose="02040503050406030204" pitchFamily="18" charset="0"/>
                                  <a:cs typeface="Times New Roman" pitchFamily="18" charset="0"/>
                                </a:rPr>
                                <m:t>𝜀</m:t>
                              </m:r>
                            </m:sub>
                          </m:sSub>
                        </m:num>
                        <m:den>
                          <m:sSub>
                            <m:sSubPr>
                              <m:ctrlPr>
                                <a:rPr lang="en-US" sz="3200" b="0" i="1" smtClean="0">
                                  <a:solidFill>
                                    <a:schemeClr val="tx1">
                                      <a:lumMod val="65000"/>
                                      <a:lumOff val="35000"/>
                                    </a:schemeClr>
                                  </a:solidFill>
                                  <a:latin typeface="Cambria Math" panose="02040503050406030204" pitchFamily="18" charset="0"/>
                                  <a:cs typeface="Times New Roman" pitchFamily="18" charset="0"/>
                                </a:rPr>
                              </m:ctrlPr>
                            </m:sSubPr>
                            <m:e>
                              <m:r>
                                <a:rPr lang="en-US" sz="3200" b="0" i="1" smtClean="0">
                                  <a:solidFill>
                                    <a:schemeClr val="tx1">
                                      <a:lumMod val="65000"/>
                                      <a:lumOff val="35000"/>
                                    </a:schemeClr>
                                  </a:solidFill>
                                  <a:latin typeface="Cambria Math" panose="02040503050406030204" pitchFamily="18" charset="0"/>
                                  <a:cs typeface="Times New Roman" pitchFamily="18" charset="0"/>
                                </a:rPr>
                                <m:t>𝜎</m:t>
                              </m:r>
                            </m:e>
                            <m:sub>
                              <m:r>
                                <a:rPr lang="en-US" sz="3200" b="0" i="1" smtClean="0">
                                  <a:solidFill>
                                    <a:schemeClr val="tx1">
                                      <a:lumMod val="65000"/>
                                      <a:lumOff val="35000"/>
                                    </a:schemeClr>
                                  </a:solidFill>
                                  <a:latin typeface="Cambria Math" panose="02040503050406030204" pitchFamily="18" charset="0"/>
                                  <a:cs typeface="Times New Roman" pitchFamily="18" charset="0"/>
                                </a:rPr>
                                <m:t>𝑥</m:t>
                              </m:r>
                            </m:sub>
                          </m:sSub>
                        </m:den>
                      </m:f>
                    </m:oMath>
                  </m:oMathPara>
                </a14:m>
                <a:endParaRPr lang="en-US" sz="2400" dirty="0">
                  <a:solidFill>
                    <a:schemeClr val="tx1">
                      <a:lumMod val="65000"/>
                      <a:lumOff val="35000"/>
                    </a:schemeClr>
                  </a:solidFill>
                  <a:latin typeface="Open Sans" panose="020B0606030504020204"/>
                  <a:cs typeface="Times New Roman" pitchFamily="18" charset="0"/>
                </a:endParaRPr>
              </a:p>
            </p:txBody>
          </p:sp>
        </mc:Choice>
        <mc:Fallback xmlns="">
          <p:sp>
            <p:nvSpPr>
              <p:cNvPr id="4" name="Rectangle 3">
                <a:extLst>
                  <a:ext uri="{FF2B5EF4-FFF2-40B4-BE49-F238E27FC236}">
                    <a16:creationId xmlns:a16="http://schemas.microsoft.com/office/drawing/2014/main" id="{39423BC8-6536-D348-583C-0234080C6873}"/>
                  </a:ext>
                </a:extLst>
              </p:cNvPr>
              <p:cNvSpPr>
                <a:spLocks noRot="1" noChangeAspect="1" noMove="1" noResize="1" noEditPoints="1" noAdjustHandles="1" noChangeArrowheads="1" noChangeShapeType="1" noTextEdit="1"/>
              </p:cNvSpPr>
              <p:nvPr/>
            </p:nvSpPr>
            <p:spPr>
              <a:xfrm>
                <a:off x="848801" y="2807515"/>
                <a:ext cx="10265797" cy="1573636"/>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405563989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6D5476-BC97-209D-32B3-856750EE26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7ADF476-F01E-032A-C608-8F8FE8014A6E}"/>
              </a:ext>
            </a:extLst>
          </p:cNvPr>
          <p:cNvSpPr>
            <a:spLocks noGrp="1"/>
          </p:cNvSpPr>
          <p:nvPr>
            <p:ph type="title"/>
          </p:nvPr>
        </p:nvSpPr>
        <p:spPr>
          <a:xfrm>
            <a:off x="609600" y="337392"/>
            <a:ext cx="10439400" cy="624840"/>
          </a:xfrm>
        </p:spPr>
        <p:txBody>
          <a:bodyPr>
            <a:noAutofit/>
          </a:bodyPr>
          <a:lstStyle/>
          <a:p>
            <a:r>
              <a:rPr lang="en-US" sz="3200" dirty="0">
                <a:cs typeface="Times New Roman" panose="02020603050405020304" pitchFamily="18" charset="0"/>
              </a:rPr>
              <a:t>Case study: how does the correlation cause biased estimates?</a:t>
            </a:r>
            <a:endParaRPr lang="en-US" sz="32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60484A31-B9C7-7777-AA12-005E5691BE11}"/>
              </a:ext>
            </a:extLst>
          </p:cNvPr>
          <p:cNvSpPr>
            <a:spLocks noGrp="1"/>
          </p:cNvSpPr>
          <p:nvPr>
            <p:ph idx="1"/>
          </p:nvPr>
        </p:nvSpPr>
        <p:spPr>
          <a:xfrm>
            <a:off x="990600" y="954612"/>
            <a:ext cx="9982201" cy="5141388"/>
          </a:xfrm>
        </p:spPr>
        <p:txBody>
          <a:bodyPr>
            <a:noAutofit/>
          </a:bodyPr>
          <a:lstStyle/>
          <a:p>
            <a:r>
              <a:rPr lang="en-US" sz="2400" dirty="0"/>
              <a:t>Let’s think about this a different way. Suppose that we have a model predicting who gets Medicaid, and then the main regression model:</a:t>
            </a:r>
          </a:p>
          <a:p>
            <a:endParaRPr lang="en-US" sz="2400" dirty="0"/>
          </a:p>
          <a:p>
            <a:endParaRPr lang="en-US" sz="2400" dirty="0"/>
          </a:p>
          <a:p>
            <a:endParaRPr lang="en-US" sz="2400" dirty="0"/>
          </a:p>
          <a:p>
            <a:endParaRPr lang="en-US" sz="2400" dirty="0"/>
          </a:p>
          <a:p>
            <a:endParaRPr lang="en-US" sz="2400" dirty="0"/>
          </a:p>
          <a:p>
            <a:endParaRPr lang="en-US" sz="2400" dirty="0">
              <a:cs typeface="Times New Roman" panose="02020603050405020304" pitchFamily="18" charset="0"/>
            </a:endParaRPr>
          </a:p>
        </p:txBody>
      </p:sp>
      <p:pic>
        <p:nvPicPr>
          <p:cNvPr id="6" name="Picture 5">
            <a:extLst>
              <a:ext uri="{FF2B5EF4-FFF2-40B4-BE49-F238E27FC236}">
                <a16:creationId xmlns:a16="http://schemas.microsoft.com/office/drawing/2014/main" id="{FB7E5408-D269-AD58-21F2-62E93A6807B4}"/>
              </a:ext>
            </a:extLst>
          </p:cNvPr>
          <p:cNvPicPr>
            <a:picLocks noChangeAspect="1"/>
          </p:cNvPicPr>
          <p:nvPr/>
        </p:nvPicPr>
        <p:blipFill>
          <a:blip r:embed="rId3"/>
          <a:stretch>
            <a:fillRect/>
          </a:stretch>
        </p:blipFill>
        <p:spPr>
          <a:xfrm>
            <a:off x="1847294" y="1668904"/>
            <a:ext cx="7964011" cy="2524477"/>
          </a:xfrm>
          <a:prstGeom prst="rect">
            <a:avLst/>
          </a:prstGeom>
        </p:spPr>
      </p:pic>
    </p:spTree>
    <p:extLst>
      <p:ext uri="{BB962C8B-B14F-4D97-AF65-F5344CB8AC3E}">
        <p14:creationId xmlns:p14="http://schemas.microsoft.com/office/powerpoint/2010/main" val="32471331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B7B668-AB30-1748-1691-E470C7317D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2052762-89C2-9E2C-5C8C-423352B70E02}"/>
              </a:ext>
            </a:extLst>
          </p:cNvPr>
          <p:cNvSpPr>
            <a:spLocks noGrp="1"/>
          </p:cNvSpPr>
          <p:nvPr>
            <p:ph type="title"/>
          </p:nvPr>
        </p:nvSpPr>
        <p:spPr>
          <a:xfrm>
            <a:off x="609600" y="337392"/>
            <a:ext cx="10439400" cy="624840"/>
          </a:xfrm>
        </p:spPr>
        <p:txBody>
          <a:bodyPr>
            <a:noAutofit/>
          </a:bodyPr>
          <a:lstStyle/>
          <a:p>
            <a:r>
              <a:rPr lang="en-US" sz="3200" dirty="0">
                <a:cs typeface="Times New Roman" panose="02020603050405020304" pitchFamily="18" charset="0"/>
              </a:rPr>
              <a:t>Case study: how does the correlation cause biased estimates?</a:t>
            </a:r>
            <a:endParaRPr lang="en-US" sz="32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259B022-1F67-F9AB-CA10-14CB72D04D85}"/>
                  </a:ext>
                </a:extLst>
              </p:cNvPr>
              <p:cNvSpPr>
                <a:spLocks noGrp="1"/>
              </p:cNvSpPr>
              <p:nvPr>
                <p:ph idx="1"/>
              </p:nvPr>
            </p:nvSpPr>
            <p:spPr>
              <a:xfrm>
                <a:off x="990600" y="954612"/>
                <a:ext cx="9982201" cy="5141388"/>
              </a:xfrm>
            </p:spPr>
            <p:txBody>
              <a:bodyPr>
                <a:noAutofit/>
              </a:bodyPr>
              <a:lstStyle/>
              <a:p>
                <a:r>
                  <a:rPr lang="en-US" sz="2400" dirty="0"/>
                  <a:t>Let’s think about this a different way. Suppose that we have a model predicting who gets Medicaid, and then the main regression model:</a:t>
                </a:r>
              </a:p>
              <a:p>
                <a:endParaRPr lang="en-US" sz="2400" dirty="0"/>
              </a:p>
              <a:p>
                <a:endParaRPr lang="en-US" sz="2400" dirty="0"/>
              </a:p>
              <a:p>
                <a:endParaRPr lang="en-US" sz="2400" dirty="0"/>
              </a:p>
              <a:p>
                <a:endParaRPr lang="en-US" sz="2400" dirty="0"/>
              </a:p>
              <a:p>
                <a:endParaRPr lang="en-US" sz="2400" dirty="0"/>
              </a:p>
              <a:p>
                <a:r>
                  <a:rPr lang="en-US" sz="2400" dirty="0"/>
                  <a:t>Since this is observational, we can’t directly measure </a:t>
                </a:r>
                <a14:m>
                  <m:oMath xmlns:m="http://schemas.openxmlformats.org/officeDocument/2006/math">
                    <m:r>
                      <a:rPr lang="en-US" sz="2400" b="0" i="1" smtClean="0">
                        <a:latin typeface="Cambria Math" panose="02040503050406030204" pitchFamily="18" charset="0"/>
                      </a:rPr>
                      <m:t>𝜌</m:t>
                    </m:r>
                  </m:oMath>
                </a14:m>
                <a:r>
                  <a:rPr lang="en-US" sz="2400" dirty="0"/>
                  <a:t>. What do the authors do instead? A partial identification approach!</a:t>
                </a:r>
              </a:p>
              <a:p>
                <a:endParaRPr lang="en-US" sz="2400" dirty="0">
                  <a:cs typeface="Times New Roman" panose="02020603050405020304" pitchFamily="18" charset="0"/>
                </a:endParaRPr>
              </a:p>
            </p:txBody>
          </p:sp>
        </mc:Choice>
        <mc:Fallback xmlns="">
          <p:sp>
            <p:nvSpPr>
              <p:cNvPr id="3" name="Content Placeholder 2">
                <a:extLst>
                  <a:ext uri="{FF2B5EF4-FFF2-40B4-BE49-F238E27FC236}">
                    <a16:creationId xmlns:a16="http://schemas.microsoft.com/office/drawing/2014/main" id="{5259B022-1F67-F9AB-CA10-14CB72D04D85}"/>
                  </a:ext>
                </a:extLst>
              </p:cNvPr>
              <p:cNvSpPr>
                <a:spLocks noGrp="1" noRot="1" noChangeAspect="1" noMove="1" noResize="1" noEditPoints="1" noAdjustHandles="1" noChangeArrowheads="1" noChangeShapeType="1" noTextEdit="1"/>
              </p:cNvSpPr>
              <p:nvPr>
                <p:ph idx="1"/>
              </p:nvPr>
            </p:nvSpPr>
            <p:spPr>
              <a:xfrm>
                <a:off x="990600" y="954612"/>
                <a:ext cx="9982201" cy="5141388"/>
              </a:xfrm>
              <a:blipFill>
                <a:blip r:embed="rId3"/>
                <a:stretch>
                  <a:fillRect l="-489" t="-1305"/>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F5DAC64D-CBE3-1105-D62C-D1F84AF3B88B}"/>
              </a:ext>
            </a:extLst>
          </p:cNvPr>
          <p:cNvPicPr>
            <a:picLocks noChangeAspect="1"/>
          </p:cNvPicPr>
          <p:nvPr/>
        </p:nvPicPr>
        <p:blipFill>
          <a:blip r:embed="rId4"/>
          <a:stretch>
            <a:fillRect/>
          </a:stretch>
        </p:blipFill>
        <p:spPr>
          <a:xfrm>
            <a:off x="1847294" y="1668904"/>
            <a:ext cx="7964011" cy="2524477"/>
          </a:xfrm>
          <a:prstGeom prst="rect">
            <a:avLst/>
          </a:prstGeom>
        </p:spPr>
      </p:pic>
    </p:spTree>
    <p:extLst>
      <p:ext uri="{BB962C8B-B14F-4D97-AF65-F5344CB8AC3E}">
        <p14:creationId xmlns:p14="http://schemas.microsoft.com/office/powerpoint/2010/main" val="186200552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78DA51-B549-AA3D-1DAC-720CBAF3B4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4A16DB-EBAF-96B7-41B1-A24619F60817}"/>
              </a:ext>
            </a:extLst>
          </p:cNvPr>
          <p:cNvSpPr>
            <a:spLocks noGrp="1"/>
          </p:cNvSpPr>
          <p:nvPr>
            <p:ph type="title"/>
          </p:nvPr>
        </p:nvSpPr>
        <p:spPr>
          <a:xfrm>
            <a:off x="609600" y="337392"/>
            <a:ext cx="10439400" cy="624840"/>
          </a:xfrm>
        </p:spPr>
        <p:txBody>
          <a:bodyPr>
            <a:noAutofit/>
          </a:bodyPr>
          <a:lstStyle/>
          <a:p>
            <a:r>
              <a:rPr lang="en-US" sz="3200" dirty="0">
                <a:cs typeface="Times New Roman" panose="02020603050405020304" pitchFamily="18" charset="0"/>
              </a:rPr>
              <a:t>Case study: how does the correlation cause biased estimates?</a:t>
            </a:r>
            <a:endParaRPr lang="en-US" sz="32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14EC37D9-56A4-C573-8E9F-F34CE2217674}"/>
              </a:ext>
            </a:extLst>
          </p:cNvPr>
          <p:cNvSpPr>
            <a:spLocks noGrp="1"/>
          </p:cNvSpPr>
          <p:nvPr>
            <p:ph idx="1"/>
          </p:nvPr>
        </p:nvSpPr>
        <p:spPr/>
        <p:txBody>
          <a:bodyPr/>
          <a:lstStyle/>
          <a:p>
            <a:endParaRPr lang="en-US"/>
          </a:p>
        </p:txBody>
      </p:sp>
      <p:pic>
        <p:nvPicPr>
          <p:cNvPr id="8" name="Picture 7">
            <a:extLst>
              <a:ext uri="{FF2B5EF4-FFF2-40B4-BE49-F238E27FC236}">
                <a16:creationId xmlns:a16="http://schemas.microsoft.com/office/drawing/2014/main" id="{0BDE14B6-1A3B-0BC3-272F-EF2EBE2EA103}"/>
              </a:ext>
            </a:extLst>
          </p:cNvPr>
          <p:cNvPicPr>
            <a:picLocks noChangeAspect="1"/>
          </p:cNvPicPr>
          <p:nvPr/>
        </p:nvPicPr>
        <p:blipFill>
          <a:blip r:embed="rId3"/>
          <a:stretch>
            <a:fillRect/>
          </a:stretch>
        </p:blipFill>
        <p:spPr>
          <a:xfrm>
            <a:off x="609601" y="939041"/>
            <a:ext cx="8595360" cy="5767090"/>
          </a:xfrm>
          <a:prstGeom prst="rect">
            <a:avLst/>
          </a:prstGeom>
        </p:spPr>
      </p:pic>
    </p:spTree>
    <p:extLst>
      <p:ext uri="{BB962C8B-B14F-4D97-AF65-F5344CB8AC3E}">
        <p14:creationId xmlns:p14="http://schemas.microsoft.com/office/powerpoint/2010/main" val="86041287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Measurement Error</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90600" y="954612"/>
                <a:ext cx="9982201" cy="5141388"/>
              </a:xfrm>
            </p:spPr>
            <p:txBody>
              <a:bodyPr>
                <a:noAutofit/>
              </a:bodyPr>
              <a:lstStyle/>
              <a:p>
                <a:r>
                  <a:rPr lang="en-US" sz="2400" dirty="0"/>
                  <a:t>Imprecision in your data also leads to </a:t>
                </a:r>
                <a:r>
                  <a:rPr lang="en-US" sz="2400" b="1" dirty="0">
                    <a:solidFill>
                      <a:schemeClr val="accent2">
                        <a:lumMod val="75000"/>
                      </a:schemeClr>
                    </a:solidFill>
                  </a:rPr>
                  <a:t>biased estimates </a:t>
                </a:r>
                <a:endParaRPr lang="en-US" sz="2400" dirty="0">
                  <a:solidFill>
                    <a:schemeClr val="accent2">
                      <a:lumMod val="75000"/>
                    </a:schemeClr>
                  </a:solidFill>
                </a:endParaRPr>
              </a:p>
              <a:p>
                <a:r>
                  <a:rPr lang="en-US" sz="2400" dirty="0"/>
                  <a:t>Suppose that we don’t observe </a:t>
                </a:r>
                <a14:m>
                  <m:oMath xmlns:m="http://schemas.openxmlformats.org/officeDocument/2006/math">
                    <m:r>
                      <a:rPr lang="en-US" sz="2400" b="0" i="1" smtClean="0">
                        <a:latin typeface="Cambria Math" panose="02040503050406030204" pitchFamily="18" charset="0"/>
                      </a:rPr>
                      <m:t>𝑥</m:t>
                    </m:r>
                  </m:oMath>
                </a14:m>
                <a:r>
                  <a:rPr lang="en-US" sz="2400" dirty="0"/>
                  <a:t>, but rather </a:t>
                </a:r>
                <a14:m>
                  <m:oMath xmlns:m="http://schemas.openxmlformats.org/officeDocument/2006/math">
                    <m:acc>
                      <m:accPr>
                        <m:chr m:val="̃"/>
                        <m:ctrlPr>
                          <a:rPr lang="en-US" sz="2400" b="0" i="1" smtClean="0">
                            <a:latin typeface="Cambria Math" panose="02040503050406030204" pitchFamily="18" charset="0"/>
                          </a:rPr>
                        </m:ctrlPr>
                      </m:accPr>
                      <m:e>
                        <m:r>
                          <a:rPr lang="en-US" sz="2400" b="0" i="1" smtClean="0">
                            <a:latin typeface="Cambria Math" panose="02040503050406030204" pitchFamily="18" charset="0"/>
                          </a:rPr>
                          <m:t>𝑥</m:t>
                        </m:r>
                      </m:e>
                    </m:acc>
                    <m:r>
                      <a:rPr lang="en-US" sz="2400" b="0" i="1" dirty="0" smtClean="0">
                        <a:latin typeface="Cambria Math" panose="02040503050406030204" pitchFamily="18" charset="0"/>
                      </a:rPr>
                      <m:t>=</m:t>
                    </m:r>
                    <m:r>
                      <a:rPr lang="en-US" sz="2400" b="0" i="1" dirty="0" smtClean="0">
                        <a:latin typeface="Cambria Math" panose="02040503050406030204" pitchFamily="18" charset="0"/>
                      </a:rPr>
                      <m:t>𝑥</m:t>
                    </m:r>
                    <m:r>
                      <a:rPr lang="en-US" sz="2400" b="0" i="1" dirty="0" smtClean="0">
                        <a:latin typeface="Cambria Math" panose="02040503050406030204" pitchFamily="18" charset="0"/>
                      </a:rPr>
                      <m:t>+</m:t>
                    </m:r>
                    <m:r>
                      <a:rPr lang="en-US" sz="2400" b="0" i="1" dirty="0" smtClean="0">
                        <a:latin typeface="Cambria Math" panose="02040503050406030204" pitchFamily="18" charset="0"/>
                      </a:rPr>
                      <m:t>𝜁</m:t>
                    </m:r>
                  </m:oMath>
                </a14:m>
                <a:r>
                  <a:rPr lang="en-US" sz="2400" dirty="0"/>
                  <a:t>, where </a:t>
                </a:r>
                <a14:m>
                  <m:oMath xmlns:m="http://schemas.openxmlformats.org/officeDocument/2006/math">
                    <m:r>
                      <a:rPr lang="en-US" sz="2400" b="0" i="1" smtClean="0">
                        <a:latin typeface="Cambria Math" panose="02040503050406030204" pitchFamily="18" charset="0"/>
                      </a:rPr>
                      <m:t>𝜁</m:t>
                    </m:r>
                    <m:r>
                      <a:rPr lang="en-US" sz="2400" b="0" i="1" smtClean="0">
                        <a:latin typeface="Cambria Math" panose="02040503050406030204" pitchFamily="18" charset="0"/>
                      </a:rPr>
                      <m:t>∼</m:t>
                    </m:r>
                    <m:r>
                      <a:rPr lang="en-US" sz="2400" b="0" i="1" smtClean="0">
                        <a:latin typeface="Cambria Math" panose="02040503050406030204" pitchFamily="18" charset="0"/>
                      </a:rPr>
                      <m:t>𝑁</m:t>
                    </m:r>
                    <m:r>
                      <a:rPr lang="en-US" sz="2400" b="0" i="1" smtClean="0">
                        <a:latin typeface="Cambria Math" panose="02040503050406030204" pitchFamily="18" charset="0"/>
                      </a:rPr>
                      <m:t>(0,1)</m:t>
                    </m:r>
                  </m:oMath>
                </a14:m>
                <a:endParaRPr lang="en-US" sz="2400" dirty="0"/>
              </a:p>
              <a:p>
                <a:pPr lvl="1"/>
                <a:r>
                  <a:rPr lang="en-US" sz="2200" dirty="0"/>
                  <a:t>In this (classical) sense, this kind of error </a:t>
                </a:r>
                <a:r>
                  <a:rPr lang="en-US" sz="2200" b="1" dirty="0">
                    <a:solidFill>
                      <a:schemeClr val="accent2">
                        <a:lumMod val="75000"/>
                      </a:schemeClr>
                    </a:solidFill>
                  </a:rPr>
                  <a:t>attenuates</a:t>
                </a:r>
                <a:r>
                  <a:rPr lang="en-US" sz="2200" b="1" dirty="0"/>
                  <a:t> </a:t>
                </a:r>
                <a:r>
                  <a:rPr lang="en-US" sz="2200" dirty="0"/>
                  <a:t>a regression coefficient</a:t>
                </a:r>
              </a:p>
              <a:p>
                <a:endParaRPr lang="en-US" sz="2400" dirty="0"/>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90600" y="954612"/>
                <a:ext cx="9982201" cy="5141388"/>
              </a:xfrm>
              <a:blipFill>
                <a:blip r:embed="rId3"/>
                <a:stretch>
                  <a:fillRect l="-489" t="-1305"/>
                </a:stretch>
              </a:blipFill>
            </p:spPr>
            <p:txBody>
              <a:bodyPr/>
              <a:lstStyle/>
              <a:p>
                <a:r>
                  <a:rPr lang="en-US">
                    <a:noFill/>
                  </a:rPr>
                  <a:t> </a:t>
                </a:r>
              </a:p>
            </p:txBody>
          </p:sp>
        </mc:Fallback>
      </mc:AlternateContent>
    </p:spTree>
    <p:extLst>
      <p:ext uri="{BB962C8B-B14F-4D97-AF65-F5344CB8AC3E}">
        <p14:creationId xmlns:p14="http://schemas.microsoft.com/office/powerpoint/2010/main" val="85311455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Measurement Error</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90600" y="954612"/>
                <a:ext cx="9982201" cy="5141388"/>
              </a:xfrm>
            </p:spPr>
            <p:txBody>
              <a:bodyPr>
                <a:noAutofit/>
              </a:bodyPr>
              <a:lstStyle/>
              <a:p>
                <a:r>
                  <a:rPr lang="en-US" sz="2400" dirty="0"/>
                  <a:t>Imprecision in your data also leads to </a:t>
                </a:r>
                <a:r>
                  <a:rPr lang="en-US" sz="2400" b="1" dirty="0">
                    <a:solidFill>
                      <a:schemeClr val="accent2">
                        <a:lumMod val="75000"/>
                      </a:schemeClr>
                    </a:solidFill>
                  </a:rPr>
                  <a:t>biased estimates </a:t>
                </a:r>
                <a:endParaRPr lang="en-US" sz="2400" dirty="0">
                  <a:solidFill>
                    <a:schemeClr val="accent2">
                      <a:lumMod val="75000"/>
                    </a:schemeClr>
                  </a:solidFill>
                </a:endParaRPr>
              </a:p>
              <a:p>
                <a:r>
                  <a:rPr lang="en-US" sz="2400" dirty="0"/>
                  <a:t>Suppose that we don’t observe </a:t>
                </a:r>
                <a14:m>
                  <m:oMath xmlns:m="http://schemas.openxmlformats.org/officeDocument/2006/math">
                    <m:r>
                      <a:rPr lang="en-US" sz="2400" b="0" i="1" smtClean="0">
                        <a:latin typeface="Cambria Math" panose="02040503050406030204" pitchFamily="18" charset="0"/>
                      </a:rPr>
                      <m:t>𝑥</m:t>
                    </m:r>
                  </m:oMath>
                </a14:m>
                <a:r>
                  <a:rPr lang="en-US" sz="2400" dirty="0"/>
                  <a:t>, but rather </a:t>
                </a:r>
                <a14:m>
                  <m:oMath xmlns:m="http://schemas.openxmlformats.org/officeDocument/2006/math">
                    <m:acc>
                      <m:accPr>
                        <m:chr m:val="̃"/>
                        <m:ctrlPr>
                          <a:rPr lang="en-US" sz="2400" b="0" i="1" smtClean="0">
                            <a:latin typeface="Cambria Math" panose="02040503050406030204" pitchFamily="18" charset="0"/>
                          </a:rPr>
                        </m:ctrlPr>
                      </m:accPr>
                      <m:e>
                        <m:r>
                          <a:rPr lang="en-US" sz="2400" b="0" i="1" smtClean="0">
                            <a:latin typeface="Cambria Math" panose="02040503050406030204" pitchFamily="18" charset="0"/>
                          </a:rPr>
                          <m:t>𝑥</m:t>
                        </m:r>
                      </m:e>
                    </m:acc>
                    <m:r>
                      <a:rPr lang="en-US" sz="2400" b="0" i="1" dirty="0" smtClean="0">
                        <a:latin typeface="Cambria Math" panose="02040503050406030204" pitchFamily="18" charset="0"/>
                      </a:rPr>
                      <m:t>=</m:t>
                    </m:r>
                    <m:r>
                      <a:rPr lang="en-US" sz="2400" b="0" i="1" dirty="0" smtClean="0">
                        <a:latin typeface="Cambria Math" panose="02040503050406030204" pitchFamily="18" charset="0"/>
                      </a:rPr>
                      <m:t>𝑥</m:t>
                    </m:r>
                    <m:r>
                      <a:rPr lang="en-US" sz="2400" b="0" i="1" dirty="0" smtClean="0">
                        <a:latin typeface="Cambria Math" panose="02040503050406030204" pitchFamily="18" charset="0"/>
                      </a:rPr>
                      <m:t>+</m:t>
                    </m:r>
                    <m:r>
                      <a:rPr lang="en-US" sz="2400" b="0" i="1" dirty="0" smtClean="0">
                        <a:latin typeface="Cambria Math" panose="02040503050406030204" pitchFamily="18" charset="0"/>
                      </a:rPr>
                      <m:t>𝜁</m:t>
                    </m:r>
                  </m:oMath>
                </a14:m>
                <a:r>
                  <a:rPr lang="en-US" sz="2400" dirty="0"/>
                  <a:t>, where </a:t>
                </a:r>
                <a14:m>
                  <m:oMath xmlns:m="http://schemas.openxmlformats.org/officeDocument/2006/math">
                    <m:r>
                      <a:rPr lang="en-US" sz="2400" b="0" i="1" smtClean="0">
                        <a:latin typeface="Cambria Math" panose="02040503050406030204" pitchFamily="18" charset="0"/>
                      </a:rPr>
                      <m:t>𝜁</m:t>
                    </m:r>
                    <m:r>
                      <a:rPr lang="en-US" sz="2400" b="0" i="1" smtClean="0">
                        <a:latin typeface="Cambria Math" panose="02040503050406030204" pitchFamily="18" charset="0"/>
                      </a:rPr>
                      <m:t>∼</m:t>
                    </m:r>
                    <m:r>
                      <a:rPr lang="en-US" sz="2400" b="0" i="1" smtClean="0">
                        <a:latin typeface="Cambria Math" panose="02040503050406030204" pitchFamily="18" charset="0"/>
                      </a:rPr>
                      <m:t>𝑁</m:t>
                    </m:r>
                    <m:r>
                      <a:rPr lang="en-US" sz="2400" b="0" i="1" smtClean="0">
                        <a:latin typeface="Cambria Math" panose="02040503050406030204" pitchFamily="18" charset="0"/>
                      </a:rPr>
                      <m:t>(0,1)</m:t>
                    </m:r>
                  </m:oMath>
                </a14:m>
                <a:endParaRPr lang="en-US" sz="2400" dirty="0"/>
              </a:p>
              <a:p>
                <a:pPr lvl="1"/>
                <a:r>
                  <a:rPr lang="en-US" sz="2200" dirty="0"/>
                  <a:t>In this (classical) sense, this kind of error </a:t>
                </a:r>
                <a:r>
                  <a:rPr lang="en-US" sz="2200" b="1" dirty="0">
                    <a:solidFill>
                      <a:schemeClr val="accent2">
                        <a:lumMod val="75000"/>
                      </a:schemeClr>
                    </a:solidFill>
                  </a:rPr>
                  <a:t>attenuates</a:t>
                </a:r>
                <a:r>
                  <a:rPr lang="en-US" sz="2200" b="1" dirty="0"/>
                  <a:t> </a:t>
                </a:r>
                <a:r>
                  <a:rPr lang="en-US" sz="2200" dirty="0"/>
                  <a:t>a regression coefficient</a:t>
                </a:r>
              </a:p>
              <a:p>
                <a:pPr lvl="1"/>
                <a:r>
                  <a:rPr lang="en-US" sz="2400" dirty="0"/>
                  <a:t>However, nonclassical measurement error can lead to all kinds of problems</a:t>
                </a:r>
              </a:p>
              <a:p>
                <a:r>
                  <a:rPr lang="en-US" sz="2600" dirty="0"/>
                  <a:t>Examples of non-classical measurement error: </a:t>
                </a:r>
              </a:p>
              <a:p>
                <a:pPr lvl="1"/>
                <a:r>
                  <a:rPr lang="en-US" sz="2400" dirty="0"/>
                  <a:t>X is binary, so </a:t>
                </a:r>
                <a14:m>
                  <m:oMath xmlns:m="http://schemas.openxmlformats.org/officeDocument/2006/math">
                    <m:r>
                      <a:rPr lang="en-US" sz="2400" b="0" i="1" smtClean="0">
                        <a:latin typeface="Cambria Math" panose="02040503050406030204" pitchFamily="18" charset="0"/>
                      </a:rPr>
                      <m:t>𝐶𝑜𝑟𝑟</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𝜁</m:t>
                        </m:r>
                        <m:r>
                          <a:rPr lang="en-US" sz="2400" b="0" i="1" smtClean="0">
                            <a:latin typeface="Cambria Math" panose="02040503050406030204" pitchFamily="18" charset="0"/>
                          </a:rPr>
                          <m:t>, </m:t>
                        </m:r>
                        <m:r>
                          <a:rPr lang="en-US" sz="2400" b="0" i="1" smtClean="0">
                            <a:latin typeface="Cambria Math" panose="02040503050406030204" pitchFamily="18" charset="0"/>
                          </a:rPr>
                          <m:t>𝑥</m:t>
                        </m:r>
                      </m:e>
                    </m:d>
                    <m:r>
                      <a:rPr lang="en-US" sz="2400" b="0" i="1" smtClean="0">
                        <a:latin typeface="Cambria Math" panose="02040503050406030204" pitchFamily="18" charset="0"/>
                      </a:rPr>
                      <m:t>≠0 </m:t>
                    </m:r>
                  </m:oMath>
                </a14:m>
                <a:r>
                  <a:rPr lang="en-US" sz="2400" dirty="0"/>
                  <a:t>by definition</a:t>
                </a:r>
              </a:p>
              <a:p>
                <a:pPr lvl="1"/>
                <a:r>
                  <a:rPr lang="en-US" sz="2400" dirty="0"/>
                  <a:t>Classification error (binary treatment variable)</a:t>
                </a:r>
              </a:p>
              <a:p>
                <a:pPr lvl="1"/>
                <a:r>
                  <a:rPr lang="en-US" sz="2400" dirty="0"/>
                  <a:t>Underreporting (income, crime, etc.)</a:t>
                </a:r>
              </a:p>
              <a:p>
                <a:pPr lvl="1"/>
                <a:r>
                  <a:rPr lang="en-US" sz="2400" dirty="0"/>
                  <a:t>Selection and open back doors!</a:t>
                </a:r>
              </a:p>
              <a:p>
                <a:endParaRPr lang="en-US" sz="2400" dirty="0"/>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90600" y="954612"/>
                <a:ext cx="9982201" cy="5141388"/>
              </a:xfrm>
              <a:blipFill>
                <a:blip r:embed="rId3"/>
                <a:stretch>
                  <a:fillRect l="-611" t="-1305"/>
                </a:stretch>
              </a:blipFill>
            </p:spPr>
            <p:txBody>
              <a:bodyPr/>
              <a:lstStyle/>
              <a:p>
                <a:r>
                  <a:rPr lang="en-CA">
                    <a:noFill/>
                  </a:rPr>
                  <a:t> </a:t>
                </a:r>
              </a:p>
            </p:txBody>
          </p:sp>
        </mc:Fallback>
      </mc:AlternateContent>
    </p:spTree>
    <p:extLst>
      <p:ext uri="{BB962C8B-B14F-4D97-AF65-F5344CB8AC3E}">
        <p14:creationId xmlns:p14="http://schemas.microsoft.com/office/powerpoint/2010/main" val="1250836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31" name="Rectangle 1030">
            <a:extLst>
              <a:ext uri="{FF2B5EF4-FFF2-40B4-BE49-F238E27FC236}">
                <a16:creationId xmlns:a16="http://schemas.microsoft.com/office/drawing/2014/main" id="{5D5E0904-721C-4D68-9EB8-1C9752E329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033" name="Rectangle 1032">
            <a:extLst>
              <a:ext uri="{FF2B5EF4-FFF2-40B4-BE49-F238E27FC236}">
                <a16:creationId xmlns:a16="http://schemas.microsoft.com/office/drawing/2014/main" id="{B298ECBA-3258-45DF-8FD4-7581736BCC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244"/>
            <a:ext cx="457200" cy="6858000"/>
          </a:xfrm>
          <a:prstGeom prst="rect">
            <a:avLst/>
          </a:prstGeom>
          <a:solidFill>
            <a:srgbClr val="6F6F7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5" name="Rectangle 1034">
            <a:extLst>
              <a:ext uri="{FF2B5EF4-FFF2-40B4-BE49-F238E27FC236}">
                <a16:creationId xmlns:a16="http://schemas.microsoft.com/office/drawing/2014/main" id="{B62BF453-BD82-4B90-9FE7-5170313380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7200" y="0"/>
            <a:ext cx="10835640" cy="6858000"/>
          </a:xfrm>
          <a:prstGeom prst="rect">
            <a:avLst/>
          </a:prstGeom>
          <a:solidFill>
            <a:srgbClr val="353537"/>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8318090" y="758952"/>
            <a:ext cx="2802194" cy="4041648"/>
          </a:xfrm>
        </p:spPr>
        <p:txBody>
          <a:bodyPr vert="horz" lIns="91440" tIns="45720" rIns="91440" bIns="45720" rtlCol="0" anchor="b">
            <a:normAutofit/>
          </a:bodyPr>
          <a:lstStyle/>
          <a:p>
            <a:pPr>
              <a:lnSpc>
                <a:spcPct val="85000"/>
              </a:lnSpc>
            </a:pPr>
            <a:r>
              <a:rPr lang="en-US" sz="3100">
                <a:solidFill>
                  <a:srgbClr val="FFFFFF"/>
                </a:solidFill>
                <a:latin typeface="+mj-lt"/>
              </a:rPr>
              <a:t>Classical Measurement Error</a:t>
            </a:r>
          </a:p>
        </p:txBody>
      </p:sp>
      <p:sp useBgFill="1">
        <p:nvSpPr>
          <p:cNvPr id="1037" name="Rectangle 1036">
            <a:extLst>
              <a:ext uri="{FF2B5EF4-FFF2-40B4-BE49-F238E27FC236}">
                <a16:creationId xmlns:a16="http://schemas.microsoft.com/office/drawing/2014/main" id="{072366D3-9B5C-42E1-9906-77FF6BB55E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2283" y="0"/>
            <a:ext cx="7561007"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Image">
            <a:extLst>
              <a:ext uri="{FF2B5EF4-FFF2-40B4-BE49-F238E27FC236}">
                <a16:creationId xmlns:a16="http://schemas.microsoft.com/office/drawing/2014/main" id="{81B31AEC-7023-F3A0-903D-5E618E7D97D1}"/>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tretch>
            <a:fillRect/>
          </a:stretch>
        </p:blipFill>
        <p:spPr bwMode="auto">
          <a:xfrm>
            <a:off x="924375" y="1018887"/>
            <a:ext cx="6616823" cy="4813738"/>
          </a:xfrm>
          <a:prstGeom prst="rect">
            <a:avLst/>
          </a:prstGeom>
          <a:noFill/>
          <a:extLst>
            <a:ext uri="{909E8E84-426E-40DD-AFC4-6F175D3DCCD1}">
              <a14:hiddenFill xmlns:a14="http://schemas.microsoft.com/office/drawing/2010/main">
                <a:solidFill>
                  <a:srgbClr val="FFFFFF"/>
                </a:solidFill>
              </a14:hiddenFill>
            </a:ext>
          </a:extLst>
        </p:spPr>
      </p:pic>
      <p:sp>
        <p:nvSpPr>
          <p:cNvPr id="1039" name="Rectangle 1038">
            <a:extLst>
              <a:ext uri="{FF2B5EF4-FFF2-40B4-BE49-F238E27FC236}">
                <a16:creationId xmlns:a16="http://schemas.microsoft.com/office/drawing/2014/main" id="{121F5E60-4E89-4B16-A245-12BD993599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92840" y="0"/>
            <a:ext cx="899160" cy="6858000"/>
          </a:xfrm>
          <a:prstGeom prst="rect">
            <a:avLst/>
          </a:prstGeom>
          <a:solidFill>
            <a:srgbClr val="3535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329084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Non-Classical Measurement Error: Examples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5181600" y="962232"/>
            <a:ext cx="5791201" cy="5141388"/>
          </a:xfrm>
        </p:spPr>
        <p:txBody>
          <a:bodyPr>
            <a:noAutofit/>
          </a:bodyPr>
          <a:lstStyle/>
          <a:p>
            <a:endParaRPr lang="en-US" sz="2400" dirty="0"/>
          </a:p>
          <a:p>
            <a:endParaRPr lang="en-US" sz="2400" dirty="0">
              <a:cs typeface="Times New Roman" panose="02020603050405020304" pitchFamily="18" charset="0"/>
            </a:endParaRPr>
          </a:p>
        </p:txBody>
      </p:sp>
      <p:pic>
        <p:nvPicPr>
          <p:cNvPr id="5" name="Picture 4">
            <a:extLst>
              <a:ext uri="{FF2B5EF4-FFF2-40B4-BE49-F238E27FC236}">
                <a16:creationId xmlns:a16="http://schemas.microsoft.com/office/drawing/2014/main" id="{833DCAAB-5201-2614-1BED-604D92B24499}"/>
              </a:ext>
            </a:extLst>
          </p:cNvPr>
          <p:cNvPicPr>
            <a:picLocks noChangeAspect="1"/>
          </p:cNvPicPr>
          <p:nvPr/>
        </p:nvPicPr>
        <p:blipFill>
          <a:blip r:embed="rId3"/>
          <a:stretch>
            <a:fillRect/>
          </a:stretch>
        </p:blipFill>
        <p:spPr>
          <a:xfrm>
            <a:off x="685800" y="1013549"/>
            <a:ext cx="5257974" cy="5141388"/>
          </a:xfrm>
          <a:prstGeom prst="rect">
            <a:avLst/>
          </a:prstGeom>
        </p:spPr>
      </p:pic>
    </p:spTree>
    <p:extLst>
      <p:ext uri="{BB962C8B-B14F-4D97-AF65-F5344CB8AC3E}">
        <p14:creationId xmlns:p14="http://schemas.microsoft.com/office/powerpoint/2010/main" val="1790188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Non-Classical Measurement Error: Examples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181600" y="962232"/>
                <a:ext cx="5791201" cy="5141388"/>
              </a:xfrm>
            </p:spPr>
            <p:txBody>
              <a:bodyPr>
                <a:noAutofit/>
              </a:bodyPr>
              <a:lstStyle/>
              <a:p>
                <a:r>
                  <a:rPr lang="en-US" sz="2400" dirty="0"/>
                  <a:t>Effect of hospital quality on patient outcomes </a:t>
                </a:r>
                <a14:m>
                  <m:oMath xmlns:m="http://schemas.openxmlformats.org/officeDocument/2006/math">
                    <m:r>
                      <a:rPr lang="en-CA" sz="2400" b="0" i="1" smtClean="0">
                        <a:latin typeface="Cambria Math" panose="02040503050406030204" pitchFamily="18" charset="0"/>
                      </a:rPr>
                      <m:t>⇒</m:t>
                    </m:r>
                  </m:oMath>
                </a14:m>
                <a:endParaRPr lang="en-US" sz="2400" dirty="0"/>
              </a:p>
              <a:p>
                <a:r>
                  <a:rPr lang="en-US" sz="2400" u="sng" dirty="0">
                    <a:solidFill>
                      <a:schemeClr val="accent3">
                        <a:lumMod val="75000"/>
                      </a:schemeClr>
                    </a:solidFill>
                  </a:rPr>
                  <a:t>What about the hospitals that attract the riskiest patients?</a:t>
                </a:r>
              </a:p>
              <a:p>
                <a:r>
                  <a:rPr lang="en-US" sz="2400" u="sng" dirty="0">
                    <a:solidFill>
                      <a:schemeClr val="accent3">
                        <a:lumMod val="75000"/>
                      </a:schemeClr>
                    </a:solidFill>
                  </a:rPr>
                  <a:t>Which types of patients end up on ventilation?</a:t>
                </a:r>
              </a:p>
              <a:p>
                <a:r>
                  <a:rPr lang="en-US" sz="2400" u="sng" dirty="0">
                    <a:solidFill>
                      <a:schemeClr val="accent3">
                        <a:lumMod val="75000"/>
                      </a:schemeClr>
                    </a:solidFill>
                  </a:rPr>
                  <a:t>Which types of patient-hospital pairs may have the most likelihood of “mismeasuring” quality?</a:t>
                </a: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181600" y="962232"/>
                <a:ext cx="5791201" cy="5141388"/>
              </a:xfrm>
              <a:blipFill>
                <a:blip r:embed="rId3"/>
                <a:stretch>
                  <a:fillRect l="-737" t="-1305"/>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833DCAAB-5201-2614-1BED-604D92B24499}"/>
              </a:ext>
            </a:extLst>
          </p:cNvPr>
          <p:cNvPicPr>
            <a:picLocks noChangeAspect="1"/>
          </p:cNvPicPr>
          <p:nvPr/>
        </p:nvPicPr>
        <p:blipFill>
          <a:blip r:embed="rId4"/>
          <a:stretch>
            <a:fillRect/>
          </a:stretch>
        </p:blipFill>
        <p:spPr>
          <a:xfrm>
            <a:off x="685800" y="1013549"/>
            <a:ext cx="4296375" cy="4201111"/>
          </a:xfrm>
          <a:prstGeom prst="rect">
            <a:avLst/>
          </a:prstGeom>
        </p:spPr>
      </p:pic>
    </p:spTree>
    <p:extLst>
      <p:ext uri="{BB962C8B-B14F-4D97-AF65-F5344CB8AC3E}">
        <p14:creationId xmlns:p14="http://schemas.microsoft.com/office/powerpoint/2010/main" val="413358455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354EEF-E255-8723-C5BF-84FE3791B7E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EF28D0-B721-8D89-46F5-99972B761D2F}"/>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Case Study example</a:t>
            </a:r>
            <a:endParaRPr lang="en-US" sz="36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1A39604F-2CC4-48B5-58F1-5E037332CC2F}"/>
              </a:ext>
            </a:extLst>
          </p:cNvPr>
          <p:cNvSpPr>
            <a:spLocks noGrp="1"/>
          </p:cNvSpPr>
          <p:nvPr>
            <p:ph idx="1"/>
          </p:nvPr>
        </p:nvSpPr>
        <p:spPr>
          <a:xfrm>
            <a:off x="609600" y="962232"/>
            <a:ext cx="10363201" cy="5141388"/>
          </a:xfrm>
        </p:spPr>
        <p:txBody>
          <a:bodyPr>
            <a:noAutofit/>
          </a:bodyPr>
          <a:lstStyle/>
          <a:p>
            <a:r>
              <a:rPr lang="en-US" sz="2400" dirty="0"/>
              <a:t>What is the problem with how income is measured in the original Medicaid study (La Par et al., 2010)? </a:t>
            </a:r>
          </a:p>
          <a:p>
            <a:r>
              <a:rPr lang="en-US" sz="2400" u="sng" dirty="0"/>
              <a:t>It’s a group-level average! </a:t>
            </a:r>
            <a:r>
              <a:rPr lang="en-US" sz="2400" dirty="0"/>
              <a:t>This means that it necessarily groups a core average (observed) and an individual-level deviation from that average (unobserved) </a:t>
            </a:r>
          </a:p>
          <a:p>
            <a:r>
              <a:rPr lang="en-US" sz="2400" dirty="0"/>
              <a:t>The authors show that in publicly-available data, the ratio of these is: </a:t>
            </a:r>
          </a:p>
          <a:p>
            <a:pPr lvl="1"/>
            <a:r>
              <a:rPr lang="en-US" sz="2400" dirty="0">
                <a:solidFill>
                  <a:schemeClr val="tx1"/>
                </a:solidFill>
              </a:rPr>
              <a:t>4 times larger for unobserved deviations when using state-level data</a:t>
            </a:r>
          </a:p>
          <a:p>
            <a:pPr lvl="1"/>
            <a:r>
              <a:rPr lang="en-US" sz="2400" dirty="0">
                <a:solidFill>
                  <a:schemeClr val="tx1"/>
                </a:solidFill>
              </a:rPr>
              <a:t>0.3 using state, race, sex, and education categories</a:t>
            </a:r>
          </a:p>
          <a:p>
            <a:pPr lvl="1"/>
            <a:r>
              <a:rPr lang="en-US" sz="2400" dirty="0">
                <a:solidFill>
                  <a:schemeClr val="tx1"/>
                </a:solidFill>
              </a:rPr>
              <a:t>0.24 when we use national family income quartiles</a:t>
            </a:r>
          </a:p>
          <a:p>
            <a:pPr marL="274320" lvl="1" indent="0">
              <a:buNone/>
            </a:pPr>
            <a:endParaRPr lang="en-US" sz="2400" u="sng" dirty="0">
              <a:solidFill>
                <a:schemeClr val="accent3">
                  <a:lumMod val="75000"/>
                </a:schemeClr>
              </a:solidFill>
              <a:cs typeface="Times New Roman" panose="02020603050405020304" pitchFamily="18" charset="0"/>
            </a:endParaRPr>
          </a:p>
          <a:p>
            <a:pPr marL="274320" lvl="1" indent="0">
              <a:buNone/>
            </a:pPr>
            <a:r>
              <a:rPr lang="en-US" sz="2400" dirty="0">
                <a:cs typeface="Times New Roman" panose="02020603050405020304" pitchFamily="18" charset="0"/>
              </a:rPr>
              <a:t>Anything over </a:t>
            </a:r>
            <a:r>
              <a:rPr lang="en-US" sz="2400" b="1" u="sng" dirty="0">
                <a:cs typeface="Times New Roman" panose="02020603050405020304" pitchFamily="18" charset="0"/>
              </a:rPr>
              <a:t>0.16-0.28</a:t>
            </a:r>
            <a:r>
              <a:rPr lang="en-US" sz="2400" dirty="0">
                <a:cs typeface="Times New Roman" panose="02020603050405020304" pitchFamily="18" charset="0"/>
              </a:rPr>
              <a:t> is likely sufficient to generate a fully spurious result</a:t>
            </a:r>
          </a:p>
        </p:txBody>
      </p:sp>
    </p:spTree>
    <p:extLst>
      <p:ext uri="{BB962C8B-B14F-4D97-AF65-F5344CB8AC3E}">
        <p14:creationId xmlns:p14="http://schemas.microsoft.com/office/powerpoint/2010/main" val="10772043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Collinearity and Causality</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990600" y="954612"/>
            <a:ext cx="9982201" cy="5141388"/>
          </a:xfrm>
        </p:spPr>
        <p:txBody>
          <a:bodyPr>
            <a:noAutofit/>
          </a:bodyPr>
          <a:lstStyle/>
          <a:p>
            <a:r>
              <a:rPr lang="en-CA" sz="2400" dirty="0">
                <a:solidFill>
                  <a:schemeClr val="tx1">
                    <a:lumMod val="65000"/>
                    <a:lumOff val="35000"/>
                  </a:schemeClr>
                </a:solidFill>
                <a:cs typeface="Times New Roman" pitchFamily="18" charset="0"/>
              </a:rPr>
              <a:t>Some (explanatory) variables are </a:t>
            </a:r>
            <a:r>
              <a:rPr lang="en-CA" sz="2400" b="1" dirty="0">
                <a:solidFill>
                  <a:schemeClr val="tx1">
                    <a:lumMod val="65000"/>
                    <a:lumOff val="35000"/>
                  </a:schemeClr>
                </a:solidFill>
                <a:cs typeface="Times New Roman" pitchFamily="18" charset="0"/>
              </a:rPr>
              <a:t>highly correlated</a:t>
            </a:r>
            <a:r>
              <a:rPr lang="en-CA" sz="2400" dirty="0">
                <a:solidFill>
                  <a:schemeClr val="tx1">
                    <a:lumMod val="65000"/>
                    <a:lumOff val="35000"/>
                  </a:schemeClr>
                </a:solidFill>
                <a:cs typeface="Times New Roman" pitchFamily="18" charset="0"/>
              </a:rPr>
              <a:t>, complicating inference</a:t>
            </a:r>
          </a:p>
          <a:p>
            <a:pPr lvl="1"/>
            <a:endParaRPr lang="en-US" sz="2400" dirty="0"/>
          </a:p>
        </p:txBody>
      </p:sp>
      <p:pic>
        <p:nvPicPr>
          <p:cNvPr id="5122" name="Picture 2" descr="Making a scatter plot | Python">
            <a:extLst>
              <a:ext uri="{FF2B5EF4-FFF2-40B4-BE49-F238E27FC236}">
                <a16:creationId xmlns:a16="http://schemas.microsoft.com/office/drawing/2014/main" id="{E26249A2-B1EF-7126-9EAD-856C341E876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604" t="9375" r="7812"/>
          <a:stretch/>
        </p:blipFill>
        <p:spPr bwMode="auto">
          <a:xfrm>
            <a:off x="2286000" y="1371600"/>
            <a:ext cx="7391400" cy="49848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3960143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Collinearity and Causality</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90600" y="954612"/>
                <a:ext cx="9982201" cy="5141388"/>
              </a:xfrm>
            </p:spPr>
            <p:txBody>
              <a:bodyPr>
                <a:noAutofit/>
              </a:bodyPr>
              <a:lstStyle/>
              <a:p>
                <a:r>
                  <a:rPr lang="en-CA" sz="2400" dirty="0">
                    <a:solidFill>
                      <a:schemeClr val="tx1">
                        <a:lumMod val="65000"/>
                        <a:lumOff val="35000"/>
                      </a:schemeClr>
                    </a:solidFill>
                    <a:cs typeface="Times New Roman" pitchFamily="18" charset="0"/>
                  </a:rPr>
                  <a:t>Some (explanatory) variables are </a:t>
                </a:r>
                <a:r>
                  <a:rPr lang="en-CA" sz="2400" b="1" dirty="0">
                    <a:solidFill>
                      <a:schemeClr val="tx1">
                        <a:lumMod val="65000"/>
                        <a:lumOff val="35000"/>
                      </a:schemeClr>
                    </a:solidFill>
                    <a:cs typeface="Times New Roman" pitchFamily="18" charset="0"/>
                  </a:rPr>
                  <a:t>highly correlated</a:t>
                </a:r>
                <a:r>
                  <a:rPr lang="en-CA" sz="2400" dirty="0">
                    <a:solidFill>
                      <a:schemeClr val="tx1">
                        <a:lumMod val="65000"/>
                        <a:lumOff val="35000"/>
                      </a:schemeClr>
                    </a:solidFill>
                    <a:cs typeface="Times New Roman" pitchFamily="18" charset="0"/>
                  </a:rPr>
                  <a:t>, complicating inference</a:t>
                </a:r>
              </a:p>
              <a:p>
                <a:pPr lvl="1"/>
                <a:r>
                  <a:rPr lang="en-CA" sz="2400" dirty="0">
                    <a:solidFill>
                      <a:schemeClr val="tx1">
                        <a:lumMod val="65000"/>
                        <a:lumOff val="35000"/>
                      </a:schemeClr>
                    </a:solidFill>
                    <a:cs typeface="Times New Roman" pitchFamily="18" charset="0"/>
                  </a:rPr>
                  <a:t>Inclusion of irrelevant variables tends to inflate the SEs for other estimates</a:t>
                </a:r>
              </a:p>
              <a:p>
                <a:pPr lvl="1"/>
                <a:r>
                  <a:rPr lang="en-CA" sz="2400" dirty="0">
                    <a:solidFill>
                      <a:schemeClr val="tx1">
                        <a:lumMod val="65000"/>
                        <a:lumOff val="35000"/>
                      </a:schemeClr>
                    </a:solidFill>
                    <a:cs typeface="Times New Roman" pitchFamily="18" charset="0"/>
                  </a:rPr>
                  <a:t>What’s more, if variables are </a:t>
                </a:r>
                <a:r>
                  <a:rPr lang="en-CA" sz="2400" b="1" dirty="0">
                    <a:solidFill>
                      <a:schemeClr val="tx1">
                        <a:lumMod val="65000"/>
                        <a:lumOff val="35000"/>
                      </a:schemeClr>
                    </a:solidFill>
                    <a:cs typeface="Times New Roman" pitchFamily="18" charset="0"/>
                  </a:rPr>
                  <a:t>too highly correlated</a:t>
                </a:r>
                <a:r>
                  <a:rPr lang="en-CA" sz="2400" dirty="0">
                    <a:solidFill>
                      <a:schemeClr val="tx1">
                        <a:lumMod val="65000"/>
                        <a:lumOff val="35000"/>
                      </a:schemeClr>
                    </a:solidFill>
                    <a:cs typeface="Times New Roman" pitchFamily="18" charset="0"/>
                  </a:rPr>
                  <a:t>, their effects are indistinguishable</a:t>
                </a:r>
              </a:p>
              <a:p>
                <a:r>
                  <a:rPr lang="en-CA" sz="2600" dirty="0">
                    <a:solidFill>
                      <a:schemeClr val="tx1">
                        <a:lumMod val="65000"/>
                        <a:lumOff val="35000"/>
                      </a:schemeClr>
                    </a:solidFill>
                    <a:cs typeface="Times New Roman" pitchFamily="18" charset="0"/>
                  </a:rPr>
                  <a:t>We’ve already run into the problem of </a:t>
                </a:r>
                <a:r>
                  <a:rPr lang="en-CA" sz="2600" b="1" dirty="0">
                    <a:solidFill>
                      <a:schemeClr val="tx1">
                        <a:lumMod val="65000"/>
                        <a:lumOff val="35000"/>
                      </a:schemeClr>
                    </a:solidFill>
                    <a:cs typeface="Times New Roman" pitchFamily="18" charset="0"/>
                  </a:rPr>
                  <a:t>perfect collinearity </a:t>
                </a:r>
                <a:r>
                  <a:rPr lang="en-CA" sz="2600" b="1" dirty="0">
                    <a:solidFill>
                      <a:schemeClr val="accent3">
                        <a:lumMod val="75000"/>
                      </a:schemeClr>
                    </a:solidFill>
                    <a:cs typeface="Times New Roman" pitchFamily="18" charset="0"/>
                  </a:rPr>
                  <a:t>(where?)</a:t>
                </a:r>
              </a:p>
              <a:p>
                <a:pPr lvl="1"/>
                <a:r>
                  <a:rPr lang="en-CA" sz="2400" dirty="0">
                    <a:solidFill>
                      <a:schemeClr val="tx1">
                        <a:lumMod val="65000"/>
                        <a:lumOff val="35000"/>
                      </a:schemeClr>
                    </a:solidFill>
                    <a:cs typeface="Times New Roman" pitchFamily="18" charset="0"/>
                  </a:rPr>
                  <a:t>A much harder problem is near-collinearity, where </a:t>
                </a:r>
                <a14:m>
                  <m:oMath xmlns:m="http://schemas.openxmlformats.org/officeDocument/2006/math">
                    <m:d>
                      <m:dPr>
                        <m:begChr m:val="|"/>
                        <m:endChr m:val="|"/>
                        <m:ctrlPr>
                          <a:rPr lang="en-US" sz="2400" b="0" i="1" smtClean="0">
                            <a:solidFill>
                              <a:schemeClr val="tx1">
                                <a:lumMod val="65000"/>
                                <a:lumOff val="35000"/>
                              </a:schemeClr>
                            </a:solidFill>
                            <a:latin typeface="Cambria Math" panose="02040503050406030204" pitchFamily="18" charset="0"/>
                            <a:cs typeface="Times New Roman" pitchFamily="18" charset="0"/>
                          </a:rPr>
                        </m:ctrlPr>
                      </m:dPr>
                      <m:e>
                        <m:r>
                          <a:rPr lang="en-US" sz="2400" b="0" i="1" smtClean="0">
                            <a:solidFill>
                              <a:schemeClr val="tx1">
                                <a:lumMod val="65000"/>
                                <a:lumOff val="35000"/>
                              </a:schemeClr>
                            </a:solidFill>
                            <a:latin typeface="Cambria Math" panose="02040503050406030204" pitchFamily="18" charset="0"/>
                            <a:cs typeface="Times New Roman" pitchFamily="18" charset="0"/>
                          </a:rPr>
                          <m:t>𝜌</m:t>
                        </m:r>
                        <m:d>
                          <m:dPr>
                            <m:ctrlPr>
                              <a:rPr lang="en-US" sz="2400" b="0" i="1" smtClean="0">
                                <a:solidFill>
                                  <a:schemeClr val="tx1">
                                    <a:lumMod val="65000"/>
                                    <a:lumOff val="35000"/>
                                  </a:schemeClr>
                                </a:solidFill>
                                <a:latin typeface="Cambria Math" panose="02040503050406030204" pitchFamily="18" charset="0"/>
                                <a:cs typeface="Times New Roman" pitchFamily="18" charset="0"/>
                              </a:rPr>
                            </m:ctrlPr>
                          </m:dPr>
                          <m:e>
                            <m:sSub>
                              <m:sSubPr>
                                <m:ctrlPr>
                                  <a:rPr lang="en-US" sz="2400" b="0" i="1" smtClean="0">
                                    <a:solidFill>
                                      <a:schemeClr val="tx1">
                                        <a:lumMod val="65000"/>
                                        <a:lumOff val="35000"/>
                                      </a:schemeClr>
                                    </a:solidFill>
                                    <a:latin typeface="Cambria Math" panose="02040503050406030204" pitchFamily="18" charset="0"/>
                                    <a:cs typeface="Times New Roman" pitchFamily="18" charset="0"/>
                                  </a:rPr>
                                </m:ctrlPr>
                              </m:sSubPr>
                              <m:e>
                                <m:r>
                                  <a:rPr lang="en-US" sz="2400" b="0" i="1" smtClean="0">
                                    <a:solidFill>
                                      <a:schemeClr val="tx1">
                                        <a:lumMod val="65000"/>
                                        <a:lumOff val="35000"/>
                                      </a:schemeClr>
                                    </a:solidFill>
                                    <a:latin typeface="Cambria Math" panose="02040503050406030204" pitchFamily="18" charset="0"/>
                                    <a:cs typeface="Times New Roman" pitchFamily="18" charset="0"/>
                                  </a:rPr>
                                  <m:t>𝑥</m:t>
                                </m:r>
                              </m:e>
                              <m:sub>
                                <m:r>
                                  <a:rPr lang="en-US" sz="2400" b="0" i="1" smtClean="0">
                                    <a:solidFill>
                                      <a:schemeClr val="tx1">
                                        <a:lumMod val="65000"/>
                                        <a:lumOff val="35000"/>
                                      </a:schemeClr>
                                    </a:solidFill>
                                    <a:latin typeface="Cambria Math" panose="02040503050406030204" pitchFamily="18" charset="0"/>
                                    <a:cs typeface="Times New Roman" pitchFamily="18" charset="0"/>
                                  </a:rPr>
                                  <m:t>1</m:t>
                                </m:r>
                              </m:sub>
                            </m:sSub>
                            <m:r>
                              <a:rPr lang="en-US" sz="2400" b="0" i="1" smtClean="0">
                                <a:solidFill>
                                  <a:schemeClr val="tx1">
                                    <a:lumMod val="65000"/>
                                    <a:lumOff val="35000"/>
                                  </a:schemeClr>
                                </a:solidFill>
                                <a:latin typeface="Cambria Math" panose="02040503050406030204" pitchFamily="18" charset="0"/>
                                <a:cs typeface="Times New Roman" pitchFamily="18" charset="0"/>
                              </a:rPr>
                              <m:t>,</m:t>
                            </m:r>
                            <m:sSub>
                              <m:sSubPr>
                                <m:ctrlPr>
                                  <a:rPr lang="en-US" sz="2400" b="0" i="1" smtClean="0">
                                    <a:solidFill>
                                      <a:schemeClr val="tx1">
                                        <a:lumMod val="65000"/>
                                        <a:lumOff val="35000"/>
                                      </a:schemeClr>
                                    </a:solidFill>
                                    <a:latin typeface="Cambria Math" panose="02040503050406030204" pitchFamily="18" charset="0"/>
                                    <a:cs typeface="Times New Roman" pitchFamily="18" charset="0"/>
                                  </a:rPr>
                                </m:ctrlPr>
                              </m:sSubPr>
                              <m:e>
                                <m:r>
                                  <a:rPr lang="en-US" sz="2400" b="0" i="1" smtClean="0">
                                    <a:solidFill>
                                      <a:schemeClr val="tx1">
                                        <a:lumMod val="65000"/>
                                        <a:lumOff val="35000"/>
                                      </a:schemeClr>
                                    </a:solidFill>
                                    <a:latin typeface="Cambria Math" panose="02040503050406030204" pitchFamily="18" charset="0"/>
                                    <a:cs typeface="Times New Roman" pitchFamily="18" charset="0"/>
                                  </a:rPr>
                                  <m:t>𝑥</m:t>
                                </m:r>
                              </m:e>
                              <m:sub>
                                <m:r>
                                  <a:rPr lang="en-US" sz="2400" b="0" i="1" smtClean="0">
                                    <a:solidFill>
                                      <a:schemeClr val="tx1">
                                        <a:lumMod val="65000"/>
                                        <a:lumOff val="35000"/>
                                      </a:schemeClr>
                                    </a:solidFill>
                                    <a:latin typeface="Cambria Math" panose="02040503050406030204" pitchFamily="18" charset="0"/>
                                    <a:cs typeface="Times New Roman" pitchFamily="18" charset="0"/>
                                  </a:rPr>
                                  <m:t>2</m:t>
                                </m:r>
                              </m:sub>
                            </m:sSub>
                          </m:e>
                        </m:d>
                      </m:e>
                    </m:d>
                    <m:r>
                      <a:rPr lang="en-US" sz="2400" b="0" i="1" smtClean="0">
                        <a:solidFill>
                          <a:schemeClr val="tx1">
                            <a:lumMod val="65000"/>
                            <a:lumOff val="35000"/>
                          </a:schemeClr>
                        </a:solidFill>
                        <a:latin typeface="Cambria Math" panose="02040503050406030204" pitchFamily="18" charset="0"/>
                        <a:cs typeface="Times New Roman" pitchFamily="18" charset="0"/>
                      </a:rPr>
                      <m:t>≈1</m:t>
                    </m:r>
                  </m:oMath>
                </a14:m>
                <a:endParaRPr lang="en-US" sz="2400" b="0" dirty="0">
                  <a:solidFill>
                    <a:schemeClr val="tx1">
                      <a:lumMod val="65000"/>
                      <a:lumOff val="35000"/>
                    </a:schemeClr>
                  </a:solidFill>
                  <a:cs typeface="Times New Roman" pitchFamily="18" charset="0"/>
                </a:endParaRPr>
              </a:p>
              <a:p>
                <a:pPr lvl="1"/>
                <a:r>
                  <a:rPr lang="en-US" sz="2400" dirty="0"/>
                  <a:t>This is especially problematic when we care about </a:t>
                </a:r>
                <a14:m>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𝛽</m:t>
                        </m:r>
                      </m:e>
                      <m:sub>
                        <m:r>
                          <a:rPr lang="en-US" sz="2400" b="0" i="1" smtClean="0">
                            <a:latin typeface="Cambria Math" panose="02040503050406030204" pitchFamily="18" charset="0"/>
                          </a:rPr>
                          <m:t>1</m:t>
                        </m:r>
                      </m:sub>
                    </m:sSub>
                    <m:r>
                      <a:rPr lang="en-US" sz="2400" b="0" i="0" smtClean="0">
                        <a:latin typeface="Cambria Math" panose="02040503050406030204" pitchFamily="18" charset="0"/>
                      </a:rPr>
                      <m:t> </m:t>
                    </m:r>
                  </m:oMath>
                </a14:m>
                <a:r>
                  <a:rPr lang="en-US" sz="2400" dirty="0"/>
                  <a:t>or </a:t>
                </a:r>
                <a14:m>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𝛽</m:t>
                        </m:r>
                      </m:e>
                      <m:sub>
                        <m:r>
                          <a:rPr lang="en-US" sz="2400" b="0" i="1" smtClean="0">
                            <a:latin typeface="Cambria Math" panose="02040503050406030204" pitchFamily="18" charset="0"/>
                          </a:rPr>
                          <m:t>2</m:t>
                        </m:r>
                      </m:sub>
                    </m:sSub>
                  </m:oMath>
                </a14:m>
                <a:r>
                  <a:rPr lang="en-US" sz="2400" dirty="0"/>
                  <a:t>, but not both</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90600" y="954612"/>
                <a:ext cx="9982201" cy="5141388"/>
              </a:xfrm>
              <a:blipFill>
                <a:blip r:embed="rId3"/>
                <a:stretch>
                  <a:fillRect l="-611" t="-1305"/>
                </a:stretch>
              </a:blipFill>
            </p:spPr>
            <p:txBody>
              <a:bodyPr/>
              <a:lstStyle/>
              <a:p>
                <a:r>
                  <a:rPr lang="en-US">
                    <a:noFill/>
                  </a:rPr>
                  <a:t> </a:t>
                </a:r>
              </a:p>
            </p:txBody>
          </p:sp>
        </mc:Fallback>
      </mc:AlternateContent>
    </p:spTree>
    <p:extLst>
      <p:ext uri="{BB962C8B-B14F-4D97-AF65-F5344CB8AC3E}">
        <p14:creationId xmlns:p14="http://schemas.microsoft.com/office/powerpoint/2010/main" val="366181175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Collinearity and Causality</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90600" y="954612"/>
                <a:ext cx="9982201" cy="5141388"/>
              </a:xfrm>
            </p:spPr>
            <p:txBody>
              <a:bodyPr>
                <a:noAutofit/>
              </a:bodyPr>
              <a:lstStyle/>
              <a:p>
                <a:r>
                  <a:rPr lang="en-CA" sz="2400" dirty="0">
                    <a:solidFill>
                      <a:schemeClr val="tx1">
                        <a:lumMod val="65000"/>
                        <a:lumOff val="35000"/>
                      </a:schemeClr>
                    </a:solidFill>
                    <a:cs typeface="Times New Roman" pitchFamily="18" charset="0"/>
                  </a:rPr>
                  <a:t>Some (explanatory) variables are </a:t>
                </a:r>
                <a:r>
                  <a:rPr lang="en-CA" sz="2400" b="1" dirty="0">
                    <a:solidFill>
                      <a:schemeClr val="tx1">
                        <a:lumMod val="65000"/>
                        <a:lumOff val="35000"/>
                      </a:schemeClr>
                    </a:solidFill>
                    <a:cs typeface="Times New Roman" pitchFamily="18" charset="0"/>
                  </a:rPr>
                  <a:t>highly correlated</a:t>
                </a:r>
                <a:r>
                  <a:rPr lang="en-CA" sz="2400" dirty="0">
                    <a:solidFill>
                      <a:schemeClr val="tx1">
                        <a:lumMod val="65000"/>
                        <a:lumOff val="35000"/>
                      </a:schemeClr>
                    </a:solidFill>
                    <a:cs typeface="Times New Roman" pitchFamily="18" charset="0"/>
                  </a:rPr>
                  <a:t>, complicating inference</a:t>
                </a:r>
              </a:p>
              <a:p>
                <a:pPr lvl="1"/>
                <a:r>
                  <a:rPr lang="en-CA" sz="2400" dirty="0">
                    <a:solidFill>
                      <a:schemeClr val="tx1">
                        <a:lumMod val="65000"/>
                        <a:lumOff val="35000"/>
                      </a:schemeClr>
                    </a:solidFill>
                    <a:cs typeface="Times New Roman" pitchFamily="18" charset="0"/>
                  </a:rPr>
                  <a:t>Inclusion of irrelevant variables tends to inflate the SEs for other estimates</a:t>
                </a:r>
              </a:p>
              <a:p>
                <a:pPr lvl="1"/>
                <a:r>
                  <a:rPr lang="en-CA" sz="2400" dirty="0">
                    <a:solidFill>
                      <a:schemeClr val="tx1">
                        <a:lumMod val="65000"/>
                        <a:lumOff val="35000"/>
                      </a:schemeClr>
                    </a:solidFill>
                    <a:cs typeface="Times New Roman" pitchFamily="18" charset="0"/>
                  </a:rPr>
                  <a:t>What’s more, if variables are </a:t>
                </a:r>
                <a:r>
                  <a:rPr lang="en-CA" sz="2400" b="1" dirty="0">
                    <a:solidFill>
                      <a:schemeClr val="tx1">
                        <a:lumMod val="65000"/>
                        <a:lumOff val="35000"/>
                      </a:schemeClr>
                    </a:solidFill>
                    <a:cs typeface="Times New Roman" pitchFamily="18" charset="0"/>
                  </a:rPr>
                  <a:t>too highly correlated</a:t>
                </a:r>
                <a:r>
                  <a:rPr lang="en-CA" sz="2400" dirty="0">
                    <a:solidFill>
                      <a:schemeClr val="tx1">
                        <a:lumMod val="65000"/>
                        <a:lumOff val="35000"/>
                      </a:schemeClr>
                    </a:solidFill>
                    <a:cs typeface="Times New Roman" pitchFamily="18" charset="0"/>
                  </a:rPr>
                  <a:t>, their effects are indistinguishable</a:t>
                </a:r>
              </a:p>
              <a:p>
                <a:r>
                  <a:rPr lang="en-CA" sz="2600" dirty="0">
                    <a:solidFill>
                      <a:schemeClr val="tx1">
                        <a:lumMod val="65000"/>
                        <a:lumOff val="35000"/>
                      </a:schemeClr>
                    </a:solidFill>
                    <a:cs typeface="Times New Roman" pitchFamily="18" charset="0"/>
                  </a:rPr>
                  <a:t>We’ve already run into the problem of </a:t>
                </a:r>
                <a:r>
                  <a:rPr lang="en-CA" sz="2600" b="1" dirty="0">
                    <a:solidFill>
                      <a:schemeClr val="tx1">
                        <a:lumMod val="65000"/>
                        <a:lumOff val="35000"/>
                      </a:schemeClr>
                    </a:solidFill>
                    <a:cs typeface="Times New Roman" pitchFamily="18" charset="0"/>
                  </a:rPr>
                  <a:t>perfect collinearity</a:t>
                </a:r>
              </a:p>
              <a:p>
                <a:pPr lvl="1"/>
                <a:r>
                  <a:rPr lang="en-CA" sz="2400" dirty="0">
                    <a:solidFill>
                      <a:schemeClr val="tx1">
                        <a:lumMod val="65000"/>
                        <a:lumOff val="35000"/>
                      </a:schemeClr>
                    </a:solidFill>
                    <a:cs typeface="Times New Roman" pitchFamily="18" charset="0"/>
                  </a:rPr>
                  <a:t>A much harder problem is near-collinearity, where </a:t>
                </a:r>
                <a14:m>
                  <m:oMath xmlns:m="http://schemas.openxmlformats.org/officeDocument/2006/math">
                    <m:d>
                      <m:dPr>
                        <m:begChr m:val="|"/>
                        <m:endChr m:val="|"/>
                        <m:ctrlPr>
                          <a:rPr lang="en-US" sz="2400" b="0" i="1" smtClean="0">
                            <a:solidFill>
                              <a:schemeClr val="tx1">
                                <a:lumMod val="65000"/>
                                <a:lumOff val="35000"/>
                              </a:schemeClr>
                            </a:solidFill>
                            <a:latin typeface="Cambria Math" panose="02040503050406030204" pitchFamily="18" charset="0"/>
                            <a:cs typeface="Times New Roman" pitchFamily="18" charset="0"/>
                          </a:rPr>
                        </m:ctrlPr>
                      </m:dPr>
                      <m:e>
                        <m:r>
                          <a:rPr lang="en-US" sz="2400" b="0" i="1" smtClean="0">
                            <a:solidFill>
                              <a:schemeClr val="tx1">
                                <a:lumMod val="65000"/>
                                <a:lumOff val="35000"/>
                              </a:schemeClr>
                            </a:solidFill>
                            <a:latin typeface="Cambria Math" panose="02040503050406030204" pitchFamily="18" charset="0"/>
                            <a:cs typeface="Times New Roman" pitchFamily="18" charset="0"/>
                          </a:rPr>
                          <m:t>𝜌</m:t>
                        </m:r>
                        <m:d>
                          <m:dPr>
                            <m:ctrlPr>
                              <a:rPr lang="en-US" sz="2400" b="0" i="1" smtClean="0">
                                <a:solidFill>
                                  <a:schemeClr val="tx1">
                                    <a:lumMod val="65000"/>
                                    <a:lumOff val="35000"/>
                                  </a:schemeClr>
                                </a:solidFill>
                                <a:latin typeface="Cambria Math" panose="02040503050406030204" pitchFamily="18" charset="0"/>
                                <a:cs typeface="Times New Roman" pitchFamily="18" charset="0"/>
                              </a:rPr>
                            </m:ctrlPr>
                          </m:dPr>
                          <m:e>
                            <m:sSub>
                              <m:sSubPr>
                                <m:ctrlPr>
                                  <a:rPr lang="en-US" sz="2400" b="0" i="1" smtClean="0">
                                    <a:solidFill>
                                      <a:schemeClr val="tx1">
                                        <a:lumMod val="65000"/>
                                        <a:lumOff val="35000"/>
                                      </a:schemeClr>
                                    </a:solidFill>
                                    <a:latin typeface="Cambria Math" panose="02040503050406030204" pitchFamily="18" charset="0"/>
                                    <a:cs typeface="Times New Roman" pitchFamily="18" charset="0"/>
                                  </a:rPr>
                                </m:ctrlPr>
                              </m:sSubPr>
                              <m:e>
                                <m:r>
                                  <a:rPr lang="en-US" sz="2400" b="0" i="1" smtClean="0">
                                    <a:solidFill>
                                      <a:schemeClr val="tx1">
                                        <a:lumMod val="65000"/>
                                        <a:lumOff val="35000"/>
                                      </a:schemeClr>
                                    </a:solidFill>
                                    <a:latin typeface="Cambria Math" panose="02040503050406030204" pitchFamily="18" charset="0"/>
                                    <a:cs typeface="Times New Roman" pitchFamily="18" charset="0"/>
                                  </a:rPr>
                                  <m:t>𝑥</m:t>
                                </m:r>
                              </m:e>
                              <m:sub>
                                <m:r>
                                  <a:rPr lang="en-US" sz="2400" b="0" i="1" smtClean="0">
                                    <a:solidFill>
                                      <a:schemeClr val="tx1">
                                        <a:lumMod val="65000"/>
                                        <a:lumOff val="35000"/>
                                      </a:schemeClr>
                                    </a:solidFill>
                                    <a:latin typeface="Cambria Math" panose="02040503050406030204" pitchFamily="18" charset="0"/>
                                    <a:cs typeface="Times New Roman" pitchFamily="18" charset="0"/>
                                  </a:rPr>
                                  <m:t>1</m:t>
                                </m:r>
                              </m:sub>
                            </m:sSub>
                            <m:r>
                              <a:rPr lang="en-US" sz="2400" b="0" i="1" smtClean="0">
                                <a:solidFill>
                                  <a:schemeClr val="tx1">
                                    <a:lumMod val="65000"/>
                                    <a:lumOff val="35000"/>
                                  </a:schemeClr>
                                </a:solidFill>
                                <a:latin typeface="Cambria Math" panose="02040503050406030204" pitchFamily="18" charset="0"/>
                                <a:cs typeface="Times New Roman" pitchFamily="18" charset="0"/>
                              </a:rPr>
                              <m:t>,</m:t>
                            </m:r>
                            <m:sSub>
                              <m:sSubPr>
                                <m:ctrlPr>
                                  <a:rPr lang="en-US" sz="2400" b="0" i="1" smtClean="0">
                                    <a:solidFill>
                                      <a:schemeClr val="tx1">
                                        <a:lumMod val="65000"/>
                                        <a:lumOff val="35000"/>
                                      </a:schemeClr>
                                    </a:solidFill>
                                    <a:latin typeface="Cambria Math" panose="02040503050406030204" pitchFamily="18" charset="0"/>
                                    <a:cs typeface="Times New Roman" pitchFamily="18" charset="0"/>
                                  </a:rPr>
                                </m:ctrlPr>
                              </m:sSubPr>
                              <m:e>
                                <m:r>
                                  <a:rPr lang="en-US" sz="2400" b="0" i="1" smtClean="0">
                                    <a:solidFill>
                                      <a:schemeClr val="tx1">
                                        <a:lumMod val="65000"/>
                                        <a:lumOff val="35000"/>
                                      </a:schemeClr>
                                    </a:solidFill>
                                    <a:latin typeface="Cambria Math" panose="02040503050406030204" pitchFamily="18" charset="0"/>
                                    <a:cs typeface="Times New Roman" pitchFamily="18" charset="0"/>
                                  </a:rPr>
                                  <m:t>𝑥</m:t>
                                </m:r>
                              </m:e>
                              <m:sub>
                                <m:r>
                                  <a:rPr lang="en-US" sz="2400" b="0" i="1" smtClean="0">
                                    <a:solidFill>
                                      <a:schemeClr val="tx1">
                                        <a:lumMod val="65000"/>
                                        <a:lumOff val="35000"/>
                                      </a:schemeClr>
                                    </a:solidFill>
                                    <a:latin typeface="Cambria Math" panose="02040503050406030204" pitchFamily="18" charset="0"/>
                                    <a:cs typeface="Times New Roman" pitchFamily="18" charset="0"/>
                                  </a:rPr>
                                  <m:t>2</m:t>
                                </m:r>
                              </m:sub>
                            </m:sSub>
                          </m:e>
                        </m:d>
                      </m:e>
                    </m:d>
                    <m:r>
                      <a:rPr lang="en-US" sz="2400" b="0" i="1" smtClean="0">
                        <a:solidFill>
                          <a:schemeClr val="tx1">
                            <a:lumMod val="65000"/>
                            <a:lumOff val="35000"/>
                          </a:schemeClr>
                        </a:solidFill>
                        <a:latin typeface="Cambria Math" panose="02040503050406030204" pitchFamily="18" charset="0"/>
                        <a:cs typeface="Times New Roman" pitchFamily="18" charset="0"/>
                      </a:rPr>
                      <m:t>≈1</m:t>
                    </m:r>
                  </m:oMath>
                </a14:m>
                <a:endParaRPr lang="en-US" sz="2400" b="0" dirty="0">
                  <a:solidFill>
                    <a:schemeClr val="tx1">
                      <a:lumMod val="65000"/>
                      <a:lumOff val="35000"/>
                    </a:schemeClr>
                  </a:solidFill>
                  <a:cs typeface="Times New Roman" pitchFamily="18" charset="0"/>
                </a:endParaRPr>
              </a:p>
              <a:p>
                <a:pPr lvl="1"/>
                <a:r>
                  <a:rPr lang="en-US" sz="2400" dirty="0"/>
                  <a:t>This is especially problematic when we care about </a:t>
                </a:r>
                <a14:m>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𝛽</m:t>
                        </m:r>
                      </m:e>
                      <m:sub>
                        <m:r>
                          <a:rPr lang="en-US" sz="2400" b="0" i="1" smtClean="0">
                            <a:latin typeface="Cambria Math" panose="02040503050406030204" pitchFamily="18" charset="0"/>
                          </a:rPr>
                          <m:t>1</m:t>
                        </m:r>
                      </m:sub>
                    </m:sSub>
                    <m:r>
                      <a:rPr lang="en-US" sz="2400" b="0" i="0" smtClean="0">
                        <a:latin typeface="Cambria Math" panose="02040503050406030204" pitchFamily="18" charset="0"/>
                      </a:rPr>
                      <m:t> </m:t>
                    </m:r>
                  </m:oMath>
                </a14:m>
                <a:r>
                  <a:rPr lang="en-US" sz="2400" dirty="0"/>
                  <a:t>or </a:t>
                </a:r>
                <a14:m>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𝛽</m:t>
                        </m:r>
                      </m:e>
                      <m:sub>
                        <m:r>
                          <a:rPr lang="en-US" sz="2400" b="0" i="1" smtClean="0">
                            <a:latin typeface="Cambria Math" panose="02040503050406030204" pitchFamily="18" charset="0"/>
                          </a:rPr>
                          <m:t>2</m:t>
                        </m:r>
                      </m:sub>
                    </m:sSub>
                  </m:oMath>
                </a14:m>
                <a:r>
                  <a:rPr lang="en-US" sz="2400" dirty="0"/>
                  <a:t>, but not both</a:t>
                </a:r>
              </a:p>
              <a:p>
                <a:r>
                  <a:rPr lang="en-US" sz="2600" dirty="0"/>
                  <a:t>How to diagnose this? </a:t>
                </a:r>
              </a:p>
              <a:p>
                <a:pPr lvl="1"/>
                <a:r>
                  <a:rPr lang="en-US" sz="2400" dirty="0"/>
                  <a:t>Look at correlation matrix of independent variables</a:t>
                </a:r>
              </a:p>
              <a:p>
                <a:pPr lvl="1"/>
                <a:r>
                  <a:rPr lang="en-US" sz="2400" dirty="0"/>
                  <a:t>Think about which correlations mess with your DAG</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90600" y="954612"/>
                <a:ext cx="9982201" cy="5141388"/>
              </a:xfrm>
              <a:blipFill>
                <a:blip r:embed="rId3"/>
                <a:stretch>
                  <a:fillRect l="-611" t="-1305"/>
                </a:stretch>
              </a:blipFill>
            </p:spPr>
            <p:txBody>
              <a:bodyPr/>
              <a:lstStyle/>
              <a:p>
                <a:r>
                  <a:rPr lang="en-US">
                    <a:noFill/>
                  </a:rPr>
                  <a:t> </a:t>
                </a:r>
              </a:p>
            </p:txBody>
          </p:sp>
        </mc:Fallback>
      </mc:AlternateContent>
    </p:spTree>
    <p:extLst>
      <p:ext uri="{BB962C8B-B14F-4D97-AF65-F5344CB8AC3E}">
        <p14:creationId xmlns:p14="http://schemas.microsoft.com/office/powerpoint/2010/main" val="329437959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C9A78B-A24A-D31F-AE14-9F9B709781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2A696C-FA43-5140-C234-ED7DC17C8E92}"/>
              </a:ext>
            </a:extLst>
          </p:cNvPr>
          <p:cNvSpPr>
            <a:spLocks noGrp="1"/>
          </p:cNvSpPr>
          <p:nvPr>
            <p:ph type="title"/>
          </p:nvPr>
        </p:nvSpPr>
        <p:spPr>
          <a:xfrm>
            <a:off x="609600" y="337391"/>
            <a:ext cx="10439400" cy="624840"/>
          </a:xfrm>
        </p:spPr>
        <p:txBody>
          <a:bodyPr>
            <a:noAutofit/>
          </a:bodyPr>
          <a:lstStyle/>
          <a:p>
            <a:r>
              <a:rPr lang="en-US" sz="3600" dirty="0">
                <a:cs typeface="Times New Roman" panose="02020603050405020304" pitchFamily="18" charset="0"/>
              </a:rPr>
              <a:t>Mini Referee Report</a:t>
            </a:r>
            <a:endParaRPr lang="en-US" sz="36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7D1EA95B-024A-A1CF-02E5-8A5A379BCE67}"/>
              </a:ext>
            </a:extLst>
          </p:cNvPr>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What is the main contribution of this paper? </a:t>
            </a:r>
          </a:p>
          <a:p>
            <a:r>
              <a:rPr lang="en-US" sz="2400" dirty="0">
                <a:cs typeface="Times New Roman" panose="02020603050405020304" pitchFamily="18" charset="0"/>
              </a:rPr>
              <a:t>What does it do well? </a:t>
            </a:r>
          </a:p>
          <a:p>
            <a:r>
              <a:rPr lang="en-US" sz="2400" dirty="0">
                <a:cs typeface="Times New Roman" panose="02020603050405020304" pitchFamily="18" charset="0"/>
              </a:rPr>
              <a:t>What did it miss? What did you wish was included? </a:t>
            </a:r>
          </a:p>
          <a:p>
            <a:r>
              <a:rPr lang="en-US" sz="2400" dirty="0">
                <a:cs typeface="Times New Roman" panose="02020603050405020304" pitchFamily="18" charset="0"/>
              </a:rPr>
              <a:t>Does this paper argue that Medicaid has no effect on health? </a:t>
            </a:r>
          </a:p>
        </p:txBody>
      </p:sp>
    </p:spTree>
    <p:extLst>
      <p:ext uri="{BB962C8B-B14F-4D97-AF65-F5344CB8AC3E}">
        <p14:creationId xmlns:p14="http://schemas.microsoft.com/office/powerpoint/2010/main" val="235946910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10625328" cy="4041648"/>
          </a:xfrm>
        </p:spPr>
        <p:txBody>
          <a:bodyPr>
            <a:normAutofit/>
          </a:bodyPr>
          <a:lstStyle/>
          <a:p>
            <a:r>
              <a:rPr lang="en-US" sz="5400" dirty="0">
                <a:latin typeface="Times New Roman" panose="02020603050405020304" pitchFamily="18" charset="0"/>
                <a:cs typeface="Times New Roman" panose="02020603050405020304" pitchFamily="18" charset="0"/>
              </a:rPr>
              <a:t>Getting the “Right” Standard Errors</a:t>
            </a:r>
          </a:p>
        </p:txBody>
      </p:sp>
      <p:sp>
        <p:nvSpPr>
          <p:cNvPr id="3" name="Content Placeholder 2"/>
          <p:cNvSpPr>
            <a:spLocks noGrp="1"/>
          </p:cNvSpPr>
          <p:nvPr>
            <p:ph type="subTitle" idx="1"/>
          </p:nvPr>
        </p:nvSpPr>
        <p:spPr/>
        <p:txBody>
          <a:bodyPr>
            <a:normAutofit/>
          </a:bodyPr>
          <a:lstStyle/>
          <a:p>
            <a:pPr marL="274320" lvl="1" indent="0">
              <a:buNone/>
            </a:pPr>
            <a:endParaRPr lang="en-CA" sz="2000" dirty="0">
              <a:solidFill>
                <a:schemeClr val="tx1"/>
              </a:solidFill>
              <a:latin typeface="Open Sans"/>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81873965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Standard Errors </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405791" cy="5141388"/>
              </a:xfrm>
            </p:spPr>
            <p:txBody>
              <a:bodyPr>
                <a:normAutofit/>
              </a:bodyPr>
              <a:lstStyle/>
              <a:p>
                <a:r>
                  <a:rPr lang="en-US" sz="2400" dirty="0">
                    <a:cs typeface="Times New Roman" panose="02020603050405020304" pitchFamily="18" charset="0"/>
                  </a:rPr>
                  <a:t>Even after ensuring that the model is correctly specified, we need an idea of </a:t>
                </a:r>
                <a:r>
                  <a:rPr lang="en-US" sz="2400" b="1" dirty="0">
                    <a:solidFill>
                      <a:schemeClr val="accent2">
                        <a:lumMod val="75000"/>
                      </a:schemeClr>
                    </a:solidFill>
                    <a:cs typeface="Times New Roman" panose="02020603050405020304" pitchFamily="18" charset="0"/>
                  </a:rPr>
                  <a:t>how precise </a:t>
                </a:r>
                <a:r>
                  <a:rPr lang="en-US" sz="2400" dirty="0">
                    <a:cs typeface="Times New Roman" panose="02020603050405020304" pitchFamily="18" charset="0"/>
                  </a:rPr>
                  <a:t>our estimates are</a:t>
                </a:r>
              </a:p>
              <a:p>
                <a:r>
                  <a:rPr lang="en-US" sz="2400" dirty="0">
                    <a:solidFill>
                      <a:schemeClr val="tx1"/>
                    </a:solidFill>
                    <a:cs typeface="Times New Roman" panose="02020603050405020304" pitchFamily="18" charset="0"/>
                  </a:rPr>
                  <a:t>Recall that </a:t>
                </a:r>
                <a14:m>
                  <m:oMath xmlns:m="http://schemas.openxmlformats.org/officeDocument/2006/math">
                    <m:r>
                      <a:rPr lang="en-US" sz="2400" b="0" i="1" smtClean="0">
                        <a:solidFill>
                          <a:schemeClr val="tx1"/>
                        </a:solidFill>
                        <a:latin typeface="Cambria Math" panose="02040503050406030204" pitchFamily="18" charset="0"/>
                        <a:cs typeface="Times New Roman" panose="02020603050405020304" pitchFamily="18" charset="0"/>
                      </a:rPr>
                      <m:t>𝑠𝑒</m:t>
                    </m:r>
                    <m:r>
                      <a:rPr lang="en-US" sz="2400" b="0" i="1" smtClean="0">
                        <a:solidFill>
                          <a:schemeClr val="tx1"/>
                        </a:solidFill>
                        <a:latin typeface="Cambria Math" panose="02040503050406030204" pitchFamily="18" charset="0"/>
                        <a:cs typeface="Times New Roman" panose="02020603050405020304" pitchFamily="18" charset="0"/>
                      </a:rPr>
                      <m:t>(</m:t>
                    </m:r>
                    <m:acc>
                      <m:accPr>
                        <m:chr m:val="̂"/>
                        <m:ctrlPr>
                          <a:rPr lang="en-US" sz="2400" b="0" i="1" smtClean="0">
                            <a:solidFill>
                              <a:schemeClr val="tx1"/>
                            </a:solidFill>
                            <a:latin typeface="Cambria Math" panose="02040503050406030204" pitchFamily="18" charset="0"/>
                            <a:cs typeface="Times New Roman" panose="02020603050405020304" pitchFamily="18" charset="0"/>
                          </a:rPr>
                        </m:ctrlPr>
                      </m:accPr>
                      <m:e>
                        <m:sSub>
                          <m:sSubPr>
                            <m:ctrlPr>
                              <a:rPr lang="en-US" sz="2400" b="0" i="1" smtClean="0">
                                <a:solidFill>
                                  <a:schemeClr val="tx1"/>
                                </a:solidFill>
                                <a:latin typeface="Cambria Math" panose="02040503050406030204" pitchFamily="18" charset="0"/>
                                <a:cs typeface="Times New Roman" panose="02020603050405020304" pitchFamily="18" charset="0"/>
                              </a:rPr>
                            </m:ctrlPr>
                          </m:sSubPr>
                          <m:e>
                            <m:r>
                              <a:rPr lang="en-US" sz="2400" b="0" i="1" smtClean="0">
                                <a:solidFill>
                                  <a:schemeClr val="tx1"/>
                                </a:solidFill>
                                <a:latin typeface="Cambria Math" panose="02040503050406030204" pitchFamily="18" charset="0"/>
                                <a:cs typeface="Times New Roman" panose="02020603050405020304" pitchFamily="18" charset="0"/>
                              </a:rPr>
                              <m:t>𝛽</m:t>
                            </m:r>
                          </m:e>
                          <m:sub>
                            <m:r>
                              <a:rPr lang="en-US" sz="2400" b="0" i="1" smtClean="0">
                                <a:solidFill>
                                  <a:schemeClr val="tx1"/>
                                </a:solidFill>
                                <a:latin typeface="Cambria Math" panose="02040503050406030204" pitchFamily="18" charset="0"/>
                                <a:cs typeface="Times New Roman" panose="02020603050405020304" pitchFamily="18" charset="0"/>
                              </a:rPr>
                              <m:t>1</m:t>
                            </m:r>
                          </m:sub>
                        </m:sSub>
                      </m:e>
                    </m:acc>
                    <m:r>
                      <a:rPr lang="en-US" sz="2400" b="0" i="1" smtClean="0">
                        <a:solidFill>
                          <a:schemeClr val="tx1"/>
                        </a:solidFill>
                        <a:latin typeface="Cambria Math" panose="02040503050406030204" pitchFamily="18" charset="0"/>
                        <a:cs typeface="Times New Roman" panose="02020603050405020304" pitchFamily="18" charset="0"/>
                      </a:rPr>
                      <m:t>)</m:t>
                    </m:r>
                  </m:oMath>
                </a14:m>
                <a:r>
                  <a:rPr lang="en-US" sz="2400" dirty="0">
                    <a:solidFill>
                      <a:schemeClr val="tx1"/>
                    </a:solidFill>
                    <a:cs typeface="Times New Roman" panose="02020603050405020304" pitchFamily="18" charset="0"/>
                  </a:rPr>
                  <a:t> tells us something </a:t>
                </a:r>
                <a:r>
                  <a:rPr lang="en-US" sz="2400" dirty="0">
                    <a:cs typeface="Times New Roman" panose="02020603050405020304" pitchFamily="18" charset="0"/>
                  </a:rPr>
                  <a:t>about sampling distribution:</a:t>
                </a:r>
              </a:p>
              <a:p>
                <a:pPr lvl="1"/>
                <a:r>
                  <a:rPr lang="en-US" sz="2400" dirty="0">
                    <a:cs typeface="Times New Roman" panose="02020603050405020304" pitchFamily="18" charset="0"/>
                  </a:rPr>
                  <a:t>Range of plausible estimates, </a:t>
                </a:r>
              </a:p>
              <a:p>
                <a:pPr lvl="1"/>
                <a:r>
                  <a:rPr lang="en-US" sz="2400" dirty="0">
                    <a:cs typeface="Times New Roman" panose="02020603050405020304" pitchFamily="18" charset="0"/>
                  </a:rPr>
                  <a:t>Confidence intervals, </a:t>
                </a:r>
              </a:p>
              <a:p>
                <a:pPr lvl="1"/>
                <a:r>
                  <a:rPr lang="en-US" sz="2400" dirty="0">
                    <a:cs typeface="Times New Roman" panose="02020603050405020304" pitchFamily="18" charset="0"/>
                  </a:rPr>
                  <a:t>Statistical significance</a:t>
                </a:r>
              </a:p>
              <a:p>
                <a:pPr lvl="1"/>
                <a:r>
                  <a:rPr lang="en-US" sz="2400" dirty="0">
                    <a:cs typeface="Times New Roman" panose="02020603050405020304" pitchFamily="18" charset="0"/>
                  </a:rPr>
                  <a:t>Eliminating certain DGPs</a:t>
                </a:r>
                <a:endParaRPr lang="en-US" sz="2400" dirty="0">
                  <a:solidFill>
                    <a:schemeClr val="accent2">
                      <a:lumMod val="75000"/>
                    </a:schemeClr>
                  </a:solidFill>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405791" cy="5141388"/>
              </a:xfrm>
              <a:blipFill>
                <a:blip r:embed="rId2"/>
                <a:stretch>
                  <a:fillRect l="-454" t="-1305" r="-1491"/>
                </a:stretch>
              </a:blipFill>
            </p:spPr>
            <p:txBody>
              <a:bodyPr/>
              <a:lstStyle/>
              <a:p>
                <a:r>
                  <a:rPr lang="en-US">
                    <a:noFill/>
                  </a:rPr>
                  <a:t> </a:t>
                </a:r>
              </a:p>
            </p:txBody>
          </p:sp>
        </mc:Fallback>
      </mc:AlternateContent>
    </p:spTree>
    <p:extLst>
      <p:ext uri="{BB962C8B-B14F-4D97-AF65-F5344CB8AC3E}">
        <p14:creationId xmlns:p14="http://schemas.microsoft.com/office/powerpoint/2010/main" val="143886250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Standard Errors </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405791" cy="5141388"/>
              </a:xfrm>
            </p:spPr>
            <p:txBody>
              <a:bodyPr>
                <a:normAutofit/>
              </a:bodyPr>
              <a:lstStyle/>
              <a:p>
                <a:r>
                  <a:rPr lang="en-US" sz="2400" dirty="0">
                    <a:cs typeface="Times New Roman" panose="02020603050405020304" pitchFamily="18" charset="0"/>
                  </a:rPr>
                  <a:t>Even after ensuring that the model is correctly specified, we need an idea of </a:t>
                </a:r>
                <a:r>
                  <a:rPr lang="en-US" sz="2400" b="1" dirty="0">
                    <a:solidFill>
                      <a:schemeClr val="accent2">
                        <a:lumMod val="75000"/>
                      </a:schemeClr>
                    </a:solidFill>
                    <a:cs typeface="Times New Roman" panose="02020603050405020304" pitchFamily="18" charset="0"/>
                  </a:rPr>
                  <a:t>how precise </a:t>
                </a:r>
                <a:r>
                  <a:rPr lang="en-US" sz="2400" dirty="0">
                    <a:cs typeface="Times New Roman" panose="02020603050405020304" pitchFamily="18" charset="0"/>
                  </a:rPr>
                  <a:t>our estimates are</a:t>
                </a:r>
              </a:p>
              <a:p>
                <a:r>
                  <a:rPr lang="en-US" sz="2400" dirty="0">
                    <a:solidFill>
                      <a:schemeClr val="tx1"/>
                    </a:solidFill>
                    <a:cs typeface="Times New Roman" panose="02020603050405020304" pitchFamily="18" charset="0"/>
                  </a:rPr>
                  <a:t>Recall that </a:t>
                </a:r>
                <a14:m>
                  <m:oMath xmlns:m="http://schemas.openxmlformats.org/officeDocument/2006/math">
                    <m:r>
                      <a:rPr lang="en-US" sz="2400" b="0" i="1" smtClean="0">
                        <a:solidFill>
                          <a:schemeClr val="tx1"/>
                        </a:solidFill>
                        <a:latin typeface="Cambria Math" panose="02040503050406030204" pitchFamily="18" charset="0"/>
                        <a:cs typeface="Times New Roman" panose="02020603050405020304" pitchFamily="18" charset="0"/>
                      </a:rPr>
                      <m:t>𝑠𝑒</m:t>
                    </m:r>
                    <m:r>
                      <a:rPr lang="en-US" sz="2400" b="0" i="1" smtClean="0">
                        <a:solidFill>
                          <a:schemeClr val="tx1"/>
                        </a:solidFill>
                        <a:latin typeface="Cambria Math" panose="02040503050406030204" pitchFamily="18" charset="0"/>
                        <a:cs typeface="Times New Roman" panose="02020603050405020304" pitchFamily="18" charset="0"/>
                      </a:rPr>
                      <m:t>(</m:t>
                    </m:r>
                    <m:acc>
                      <m:accPr>
                        <m:chr m:val="̂"/>
                        <m:ctrlPr>
                          <a:rPr lang="en-US" sz="2400" b="0" i="1" smtClean="0">
                            <a:solidFill>
                              <a:schemeClr val="tx1"/>
                            </a:solidFill>
                            <a:latin typeface="Cambria Math" panose="02040503050406030204" pitchFamily="18" charset="0"/>
                            <a:cs typeface="Times New Roman" panose="02020603050405020304" pitchFamily="18" charset="0"/>
                          </a:rPr>
                        </m:ctrlPr>
                      </m:accPr>
                      <m:e>
                        <m:sSub>
                          <m:sSubPr>
                            <m:ctrlPr>
                              <a:rPr lang="en-US" sz="2400" b="0" i="1" smtClean="0">
                                <a:solidFill>
                                  <a:schemeClr val="tx1"/>
                                </a:solidFill>
                                <a:latin typeface="Cambria Math" panose="02040503050406030204" pitchFamily="18" charset="0"/>
                                <a:cs typeface="Times New Roman" panose="02020603050405020304" pitchFamily="18" charset="0"/>
                              </a:rPr>
                            </m:ctrlPr>
                          </m:sSubPr>
                          <m:e>
                            <m:r>
                              <a:rPr lang="en-US" sz="2400" b="0" i="1" smtClean="0">
                                <a:solidFill>
                                  <a:schemeClr val="tx1"/>
                                </a:solidFill>
                                <a:latin typeface="Cambria Math" panose="02040503050406030204" pitchFamily="18" charset="0"/>
                                <a:cs typeface="Times New Roman" panose="02020603050405020304" pitchFamily="18" charset="0"/>
                              </a:rPr>
                              <m:t>𝛽</m:t>
                            </m:r>
                          </m:e>
                          <m:sub>
                            <m:r>
                              <a:rPr lang="en-US" sz="2400" b="0" i="1" smtClean="0">
                                <a:solidFill>
                                  <a:schemeClr val="tx1"/>
                                </a:solidFill>
                                <a:latin typeface="Cambria Math" panose="02040503050406030204" pitchFamily="18" charset="0"/>
                                <a:cs typeface="Times New Roman" panose="02020603050405020304" pitchFamily="18" charset="0"/>
                              </a:rPr>
                              <m:t>1</m:t>
                            </m:r>
                          </m:sub>
                        </m:sSub>
                      </m:e>
                    </m:acc>
                    <m:r>
                      <a:rPr lang="en-US" sz="2400" b="0" i="1" smtClean="0">
                        <a:solidFill>
                          <a:schemeClr val="tx1"/>
                        </a:solidFill>
                        <a:latin typeface="Cambria Math" panose="02040503050406030204" pitchFamily="18" charset="0"/>
                        <a:cs typeface="Times New Roman" panose="02020603050405020304" pitchFamily="18" charset="0"/>
                      </a:rPr>
                      <m:t>)</m:t>
                    </m:r>
                  </m:oMath>
                </a14:m>
                <a:r>
                  <a:rPr lang="en-US" sz="2400" dirty="0">
                    <a:solidFill>
                      <a:schemeClr val="tx1"/>
                    </a:solidFill>
                    <a:cs typeface="Times New Roman" panose="02020603050405020304" pitchFamily="18" charset="0"/>
                  </a:rPr>
                  <a:t> tells us something </a:t>
                </a:r>
                <a:r>
                  <a:rPr lang="en-US" sz="2400" dirty="0">
                    <a:cs typeface="Times New Roman" panose="02020603050405020304" pitchFamily="18" charset="0"/>
                  </a:rPr>
                  <a:t>about sampling distribution:</a:t>
                </a:r>
              </a:p>
              <a:p>
                <a:pPr lvl="1"/>
                <a:r>
                  <a:rPr lang="en-US" sz="2400" dirty="0">
                    <a:cs typeface="Times New Roman" panose="02020603050405020304" pitchFamily="18" charset="0"/>
                  </a:rPr>
                  <a:t>Range of plausible estimates, </a:t>
                </a:r>
              </a:p>
              <a:p>
                <a:pPr lvl="1"/>
                <a:r>
                  <a:rPr lang="en-US" sz="2400" dirty="0">
                    <a:cs typeface="Times New Roman" panose="02020603050405020304" pitchFamily="18" charset="0"/>
                  </a:rPr>
                  <a:t>Confidence intervals, </a:t>
                </a:r>
              </a:p>
              <a:p>
                <a:pPr lvl="1"/>
                <a:r>
                  <a:rPr lang="en-US" sz="2400" dirty="0">
                    <a:cs typeface="Times New Roman" panose="02020603050405020304" pitchFamily="18" charset="0"/>
                  </a:rPr>
                  <a:t>Statistical significance</a:t>
                </a:r>
              </a:p>
              <a:p>
                <a:pPr lvl="1"/>
                <a:r>
                  <a:rPr lang="en-US" sz="2400" dirty="0">
                    <a:cs typeface="Times New Roman" panose="02020603050405020304" pitchFamily="18" charset="0"/>
                  </a:rPr>
                  <a:t>Eliminating certain DGPs</a:t>
                </a:r>
              </a:p>
              <a:p>
                <a:r>
                  <a:rPr lang="en-US" sz="2600" dirty="0">
                    <a:solidFill>
                      <a:schemeClr val="accent2">
                        <a:lumMod val="75000"/>
                      </a:schemeClr>
                    </a:solidFill>
                    <a:cs typeface="Times New Roman" panose="02020603050405020304" pitchFamily="18" charset="0"/>
                  </a:rPr>
                  <a:t>But the assumptions we made about </a:t>
                </a:r>
                <a14:m>
                  <m:oMath xmlns:m="http://schemas.openxmlformats.org/officeDocument/2006/math">
                    <m:r>
                      <a:rPr lang="en-US" sz="2600" b="0" i="1" smtClean="0">
                        <a:solidFill>
                          <a:schemeClr val="accent2">
                            <a:lumMod val="75000"/>
                          </a:schemeClr>
                        </a:solidFill>
                        <a:latin typeface="Cambria Math" panose="02040503050406030204" pitchFamily="18" charset="0"/>
                        <a:cs typeface="Times New Roman" panose="02020603050405020304" pitchFamily="18" charset="0"/>
                      </a:rPr>
                      <m:t>𝜀</m:t>
                    </m:r>
                  </m:oMath>
                </a14:m>
                <a:r>
                  <a:rPr lang="en-US" sz="2600" dirty="0">
                    <a:solidFill>
                      <a:schemeClr val="accent2">
                        <a:lumMod val="75000"/>
                      </a:schemeClr>
                    </a:solidFill>
                    <a:cs typeface="Times New Roman" panose="02020603050405020304" pitchFamily="18" charset="0"/>
                  </a:rPr>
                  <a:t> to get </a:t>
                </a:r>
                <a14:m>
                  <m:oMath xmlns:m="http://schemas.openxmlformats.org/officeDocument/2006/math">
                    <m:r>
                      <a:rPr lang="en-US" sz="2600" b="0" i="1" smtClean="0">
                        <a:solidFill>
                          <a:schemeClr val="accent2">
                            <a:lumMod val="75000"/>
                          </a:schemeClr>
                        </a:solidFill>
                        <a:latin typeface="Cambria Math" panose="02040503050406030204" pitchFamily="18" charset="0"/>
                        <a:cs typeface="Times New Roman" panose="02020603050405020304" pitchFamily="18" charset="0"/>
                      </a:rPr>
                      <m:t>𝑠𝑒</m:t>
                    </m:r>
                    <m:r>
                      <a:rPr lang="en-US" sz="2600" b="0" i="1" smtClean="0">
                        <a:solidFill>
                          <a:schemeClr val="accent2">
                            <a:lumMod val="75000"/>
                          </a:schemeClr>
                        </a:solidFill>
                        <a:latin typeface="Cambria Math" panose="02040503050406030204" pitchFamily="18" charset="0"/>
                        <a:cs typeface="Times New Roman" panose="02020603050405020304" pitchFamily="18" charset="0"/>
                      </a:rPr>
                      <m:t>(</m:t>
                    </m:r>
                    <m:acc>
                      <m:accPr>
                        <m:chr m:val="̂"/>
                        <m:ctrlPr>
                          <a:rPr lang="en-US" sz="2600" b="0" i="1" smtClean="0">
                            <a:solidFill>
                              <a:schemeClr val="accent2">
                                <a:lumMod val="75000"/>
                              </a:schemeClr>
                            </a:solidFill>
                            <a:latin typeface="Cambria Math" panose="02040503050406030204" pitchFamily="18" charset="0"/>
                            <a:cs typeface="Times New Roman" panose="02020603050405020304" pitchFamily="18" charset="0"/>
                          </a:rPr>
                        </m:ctrlPr>
                      </m:accPr>
                      <m:e>
                        <m:sSub>
                          <m:sSubPr>
                            <m:ctrlPr>
                              <a:rPr lang="en-US" sz="2600" b="0" i="1" smtClean="0">
                                <a:solidFill>
                                  <a:schemeClr val="accent2">
                                    <a:lumMod val="75000"/>
                                  </a:schemeClr>
                                </a:solidFill>
                                <a:latin typeface="Cambria Math" panose="02040503050406030204" pitchFamily="18" charset="0"/>
                                <a:cs typeface="Times New Roman" panose="02020603050405020304" pitchFamily="18" charset="0"/>
                              </a:rPr>
                            </m:ctrlPr>
                          </m:sSubPr>
                          <m:e>
                            <m:r>
                              <a:rPr lang="en-US" sz="2600" b="0" i="1" smtClean="0">
                                <a:solidFill>
                                  <a:schemeClr val="accent2">
                                    <a:lumMod val="75000"/>
                                  </a:schemeClr>
                                </a:solidFill>
                                <a:latin typeface="Cambria Math" panose="02040503050406030204" pitchFamily="18" charset="0"/>
                                <a:cs typeface="Times New Roman" panose="02020603050405020304" pitchFamily="18" charset="0"/>
                              </a:rPr>
                              <m:t>𝛽</m:t>
                            </m:r>
                          </m:e>
                          <m:sub>
                            <m:r>
                              <a:rPr lang="en-US" sz="2600" b="0" i="1" smtClean="0">
                                <a:solidFill>
                                  <a:schemeClr val="accent2">
                                    <a:lumMod val="75000"/>
                                  </a:schemeClr>
                                </a:solidFill>
                                <a:latin typeface="Cambria Math" panose="02040503050406030204" pitchFamily="18" charset="0"/>
                                <a:cs typeface="Times New Roman" panose="02020603050405020304" pitchFamily="18" charset="0"/>
                              </a:rPr>
                              <m:t>1</m:t>
                            </m:r>
                          </m:sub>
                        </m:sSub>
                        <m:r>
                          <a:rPr lang="en-US" sz="2600" b="0" i="1" smtClean="0">
                            <a:solidFill>
                              <a:schemeClr val="accent2">
                                <a:lumMod val="75000"/>
                              </a:schemeClr>
                            </a:solidFill>
                            <a:latin typeface="Cambria Math" panose="02040503050406030204" pitchFamily="18" charset="0"/>
                            <a:cs typeface="Times New Roman" panose="02020603050405020304" pitchFamily="18" charset="0"/>
                          </a:rPr>
                          <m:t>)</m:t>
                        </m:r>
                      </m:e>
                    </m:acc>
                  </m:oMath>
                </a14:m>
                <a:r>
                  <a:rPr lang="en-US" sz="2600" dirty="0">
                    <a:solidFill>
                      <a:schemeClr val="accent2">
                        <a:lumMod val="75000"/>
                      </a:schemeClr>
                    </a:solidFill>
                    <a:cs typeface="Times New Roman" panose="02020603050405020304" pitchFamily="18" charset="0"/>
                  </a:rPr>
                  <a:t> aren’t necessarily good ones!</a:t>
                </a:r>
              </a:p>
              <a:p>
                <a:pPr lvl="1"/>
                <a:r>
                  <a:rPr lang="en-US" sz="2400" dirty="0">
                    <a:solidFill>
                      <a:schemeClr val="tx1"/>
                    </a:solidFill>
                    <a:cs typeface="Times New Roman" panose="02020603050405020304" pitchFamily="18" charset="0"/>
                  </a:rPr>
                  <a:t>Key assumption: </a:t>
                </a:r>
                <a14:m>
                  <m:oMath xmlns:m="http://schemas.openxmlformats.org/officeDocument/2006/math">
                    <m:sSub>
                      <m:sSubPr>
                        <m:ctrlPr>
                          <a:rPr lang="en-US" sz="2400" b="0" i="1" smtClean="0">
                            <a:solidFill>
                              <a:schemeClr val="tx1"/>
                            </a:solidFill>
                            <a:latin typeface="Cambria Math" panose="02040503050406030204" pitchFamily="18" charset="0"/>
                            <a:cs typeface="Times New Roman" panose="02020603050405020304" pitchFamily="18" charset="0"/>
                          </a:rPr>
                        </m:ctrlPr>
                      </m:sSubPr>
                      <m:e>
                        <m:r>
                          <a:rPr lang="en-US" sz="2400" b="0" i="1" smtClean="0">
                            <a:solidFill>
                              <a:schemeClr val="tx1"/>
                            </a:solidFill>
                            <a:latin typeface="Cambria Math" panose="02040503050406030204" pitchFamily="18" charset="0"/>
                            <a:cs typeface="Times New Roman" panose="02020603050405020304" pitchFamily="18" charset="0"/>
                          </a:rPr>
                          <m:t>𝜀</m:t>
                        </m:r>
                      </m:e>
                      <m:sub>
                        <m:r>
                          <a:rPr lang="en-US" sz="2400" b="0" i="1" smtClean="0">
                            <a:solidFill>
                              <a:schemeClr val="tx1"/>
                            </a:solidFill>
                            <a:latin typeface="Cambria Math" panose="02040503050406030204" pitchFamily="18" charset="0"/>
                            <a:cs typeface="Times New Roman" panose="02020603050405020304" pitchFamily="18" charset="0"/>
                          </a:rPr>
                          <m:t>𝑖</m:t>
                        </m:r>
                      </m:sub>
                    </m:sSub>
                  </m:oMath>
                </a14:m>
                <a:r>
                  <a:rPr lang="en-US" sz="2400" dirty="0">
                    <a:solidFill>
                      <a:schemeClr val="tx1"/>
                    </a:solidFill>
                    <a:cs typeface="Times New Roman" panose="02020603050405020304" pitchFamily="18" charset="0"/>
                  </a:rPr>
                  <a:t> is independent and identically distributed (</a:t>
                </a:r>
                <a:r>
                  <a:rPr lang="en-US" sz="2400" dirty="0" err="1">
                    <a:solidFill>
                      <a:schemeClr val="tx1"/>
                    </a:solidFill>
                    <a:cs typeface="Times New Roman" panose="02020603050405020304" pitchFamily="18" charset="0"/>
                  </a:rPr>
                  <a:t>i.i.d.</a:t>
                </a:r>
                <a:r>
                  <a:rPr lang="en-US" sz="2400" dirty="0">
                    <a:solidFill>
                      <a:schemeClr val="tx1"/>
                    </a:solidFill>
                    <a:cs typeface="Times New Roman" panose="02020603050405020304" pitchFamily="18" charset="0"/>
                  </a:rPr>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405791" cy="5141388"/>
              </a:xfrm>
              <a:blipFill>
                <a:blip r:embed="rId2"/>
                <a:stretch>
                  <a:fillRect l="-583" t="-1305" r="-1491"/>
                </a:stretch>
              </a:blipFill>
            </p:spPr>
            <p:txBody>
              <a:bodyPr/>
              <a:lstStyle/>
              <a:p>
                <a:r>
                  <a:rPr lang="en-US">
                    <a:noFill/>
                  </a:rPr>
                  <a:t> </a:t>
                </a:r>
              </a:p>
            </p:txBody>
          </p:sp>
        </mc:Fallback>
      </mc:AlternateContent>
    </p:spTree>
    <p:extLst>
      <p:ext uri="{BB962C8B-B14F-4D97-AF65-F5344CB8AC3E}">
        <p14:creationId xmlns:p14="http://schemas.microsoft.com/office/powerpoint/2010/main" val="190283785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Are my error terms </a:t>
            </a:r>
            <a:r>
              <a:rPr lang="en-US" sz="3600" dirty="0" err="1">
                <a:cs typeface="Times New Roman" panose="02020603050405020304" pitchFamily="18" charset="0"/>
              </a:rPr>
              <a:t>i.i.d.</a:t>
            </a:r>
            <a:r>
              <a:rPr lang="en-US" sz="3600" dirty="0">
                <a:cs typeface="Times New Roman" panose="02020603050405020304" pitchFamily="18" charset="0"/>
              </a:rPr>
              <a:t>?</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405791" cy="5141388"/>
          </a:xfrm>
        </p:spPr>
        <p:txBody>
          <a:bodyPr>
            <a:normAutofit/>
          </a:bodyPr>
          <a:lstStyle/>
          <a:p>
            <a:r>
              <a:rPr lang="en-US" sz="2200" b="1" dirty="0">
                <a:cs typeface="Times New Roman" panose="02020603050405020304" pitchFamily="18" charset="0"/>
              </a:rPr>
              <a:t>Autocorrelation: </a:t>
            </a:r>
            <a:r>
              <a:rPr lang="en-US" sz="2200" dirty="0">
                <a:cs typeface="Times New Roman" panose="02020603050405020304" pitchFamily="18" charset="0"/>
              </a:rPr>
              <a:t>“Shock” of today is correlated with “shock” from yesterday</a:t>
            </a:r>
            <a:endParaRPr lang="en-US" sz="2000" b="1" dirty="0">
              <a:solidFill>
                <a:schemeClr val="accent2">
                  <a:lumMod val="75000"/>
                </a:schemeClr>
              </a:solidFill>
              <a:cs typeface="Times New Roman" panose="02020603050405020304" pitchFamily="18" charset="0"/>
            </a:endParaRPr>
          </a:p>
          <a:p>
            <a:endParaRPr lang="en-US" sz="2200" b="1" dirty="0">
              <a:solidFill>
                <a:schemeClr val="accent2">
                  <a:lumMod val="75000"/>
                </a:schemeClr>
              </a:solidFill>
              <a:cs typeface="Times New Roman" panose="02020603050405020304" pitchFamily="18" charset="0"/>
            </a:endParaRPr>
          </a:p>
        </p:txBody>
      </p:sp>
      <p:pic>
        <p:nvPicPr>
          <p:cNvPr id="5" name="Picture 4">
            <a:extLst>
              <a:ext uri="{FF2B5EF4-FFF2-40B4-BE49-F238E27FC236}">
                <a16:creationId xmlns:a16="http://schemas.microsoft.com/office/drawing/2014/main" id="{52440A3C-273A-76F7-2DBE-11AF64E9D24B}"/>
              </a:ext>
            </a:extLst>
          </p:cNvPr>
          <p:cNvPicPr>
            <a:picLocks noChangeAspect="1"/>
          </p:cNvPicPr>
          <p:nvPr/>
        </p:nvPicPr>
        <p:blipFill>
          <a:blip r:embed="rId3"/>
          <a:stretch>
            <a:fillRect/>
          </a:stretch>
        </p:blipFill>
        <p:spPr>
          <a:xfrm>
            <a:off x="2171700" y="1447800"/>
            <a:ext cx="7315200" cy="5223924"/>
          </a:xfrm>
          <a:prstGeom prst="rect">
            <a:avLst/>
          </a:prstGeom>
        </p:spPr>
      </p:pic>
    </p:spTree>
    <p:extLst>
      <p:ext uri="{BB962C8B-B14F-4D97-AF65-F5344CB8AC3E}">
        <p14:creationId xmlns:p14="http://schemas.microsoft.com/office/powerpoint/2010/main" val="204354558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Are my error terms </a:t>
            </a:r>
            <a:r>
              <a:rPr lang="en-US" sz="3600" dirty="0" err="1">
                <a:cs typeface="Times New Roman" panose="02020603050405020304" pitchFamily="18" charset="0"/>
              </a:rPr>
              <a:t>i.i.d.</a:t>
            </a:r>
            <a:r>
              <a:rPr lang="en-US" sz="3600" dirty="0">
                <a:cs typeface="Times New Roman" panose="02020603050405020304" pitchFamily="18" charset="0"/>
              </a:rPr>
              <a:t>?</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914400"/>
                <a:ext cx="9405791" cy="5141388"/>
              </a:xfrm>
            </p:spPr>
            <p:txBody>
              <a:bodyPr>
                <a:normAutofit/>
              </a:bodyPr>
              <a:lstStyle/>
              <a:p>
                <a:r>
                  <a:rPr lang="en-US" sz="2200" b="1" dirty="0">
                    <a:cs typeface="Times New Roman" panose="02020603050405020304" pitchFamily="18" charset="0"/>
                  </a:rPr>
                  <a:t>Heteroskedasticity: </a:t>
                </a:r>
                <a:r>
                  <a:rPr lang="en-US" sz="2200" dirty="0">
                    <a:cs typeface="Times New Roman" panose="02020603050405020304" pitchFamily="18" charset="0"/>
                  </a:rPr>
                  <a:t>Variance of distribution depends on </a:t>
                </a:r>
                <a14:m>
                  <m:oMath xmlns:m="http://schemas.openxmlformats.org/officeDocument/2006/math">
                    <m:r>
                      <a:rPr lang="en-US" sz="2200" b="0" i="1" smtClean="0">
                        <a:latin typeface="Cambria Math" panose="02040503050406030204" pitchFamily="18" charset="0"/>
                        <a:cs typeface="Times New Roman" panose="02020603050405020304" pitchFamily="18" charset="0"/>
                      </a:rPr>
                      <m:t>𝑥</m:t>
                    </m:r>
                  </m:oMath>
                </a14:m>
                <a:endParaRPr lang="en-US" sz="2000" b="1" dirty="0">
                  <a:solidFill>
                    <a:schemeClr val="accent2">
                      <a:lumMod val="75000"/>
                    </a:schemeClr>
                  </a:solidFill>
                  <a:cs typeface="Times New Roman" panose="02020603050405020304" pitchFamily="18" charset="0"/>
                </a:endParaRPr>
              </a:p>
              <a:p>
                <a:endParaRPr lang="en-US" sz="2200" b="1" dirty="0">
                  <a:solidFill>
                    <a:schemeClr val="accent2">
                      <a:lumMod val="75000"/>
                    </a:schemeClr>
                  </a:solidFill>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914400"/>
                <a:ext cx="9405791" cy="5141388"/>
              </a:xfrm>
              <a:blipFill>
                <a:blip r:embed="rId3"/>
                <a:stretch>
                  <a:fillRect l="-389" t="-1068"/>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2175F513-51E1-ACE3-431F-D9C0482F566B}"/>
              </a:ext>
            </a:extLst>
          </p:cNvPr>
          <p:cNvPicPr>
            <a:picLocks noChangeAspect="1"/>
          </p:cNvPicPr>
          <p:nvPr/>
        </p:nvPicPr>
        <p:blipFill>
          <a:blip r:embed="rId4"/>
          <a:stretch>
            <a:fillRect/>
          </a:stretch>
        </p:blipFill>
        <p:spPr>
          <a:xfrm>
            <a:off x="2171700" y="1264777"/>
            <a:ext cx="7315200" cy="5136023"/>
          </a:xfrm>
          <a:prstGeom prst="rect">
            <a:avLst/>
          </a:prstGeom>
        </p:spPr>
      </p:pic>
    </p:spTree>
    <p:extLst>
      <p:ext uri="{BB962C8B-B14F-4D97-AF65-F5344CB8AC3E}">
        <p14:creationId xmlns:p14="http://schemas.microsoft.com/office/powerpoint/2010/main" val="151329651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Are my error terms </a:t>
            </a:r>
            <a:r>
              <a:rPr lang="en-US" sz="3600" dirty="0" err="1">
                <a:cs typeface="Times New Roman" panose="02020603050405020304" pitchFamily="18" charset="0"/>
              </a:rPr>
              <a:t>i.i.d.</a:t>
            </a:r>
            <a:r>
              <a:rPr lang="en-US" sz="3600" dirty="0">
                <a:cs typeface="Times New Roman" panose="02020603050405020304" pitchFamily="18" charset="0"/>
              </a:rPr>
              <a:t>?</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405791" cy="5141388"/>
              </a:xfrm>
            </p:spPr>
            <p:txBody>
              <a:bodyPr>
                <a:normAutofit/>
              </a:bodyPr>
              <a:lstStyle/>
              <a:p>
                <a:r>
                  <a:rPr lang="en-US" sz="2400" b="1" dirty="0">
                    <a:cs typeface="Times New Roman" panose="02020603050405020304" pitchFamily="18" charset="0"/>
                  </a:rPr>
                  <a:t>Autocorrelation: </a:t>
                </a:r>
                <a:r>
                  <a:rPr lang="en-US" sz="2400" dirty="0">
                    <a:cs typeface="Times New Roman" panose="02020603050405020304" pitchFamily="18" charset="0"/>
                  </a:rPr>
                  <a:t>Today’s “shock” today is correlated with yesterday’s</a:t>
                </a:r>
              </a:p>
              <a:p>
                <a:r>
                  <a:rPr lang="en-US" sz="2400" b="1" dirty="0">
                    <a:cs typeface="Times New Roman" panose="02020603050405020304" pitchFamily="18" charset="0"/>
                  </a:rPr>
                  <a:t>Heteroskedasticity: </a:t>
                </a:r>
                <a:r>
                  <a:rPr lang="en-US" sz="2400" dirty="0">
                    <a:cs typeface="Times New Roman" panose="02020603050405020304" pitchFamily="18" charset="0"/>
                  </a:rPr>
                  <a:t>Variance of distribution depends on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𝑥</m:t>
                    </m:r>
                  </m:oMath>
                </a14:m>
                <a:endParaRPr lang="en-US" sz="2400" dirty="0">
                  <a:cs typeface="Times New Roman" panose="02020603050405020304" pitchFamily="18" charset="0"/>
                </a:endParaRPr>
              </a:p>
              <a:p>
                <a:r>
                  <a:rPr lang="en-US" sz="2400" b="1" dirty="0">
                    <a:cs typeface="Times New Roman" panose="02020603050405020304" pitchFamily="18" charset="0"/>
                  </a:rPr>
                  <a:t>Others: </a:t>
                </a:r>
                <a:r>
                  <a:rPr lang="en-US" sz="2400" dirty="0">
                    <a:cs typeface="Times New Roman" panose="02020603050405020304" pitchFamily="18" charset="0"/>
                  </a:rPr>
                  <a:t>Correlation within groups, multiple testing, sampling errors, etc.</a:t>
                </a:r>
              </a:p>
              <a:p>
                <a:pPr marL="0" indent="0">
                  <a:buNone/>
                </a:pPr>
                <a:r>
                  <a:rPr lang="en-US" sz="2400" b="1" dirty="0">
                    <a:solidFill>
                      <a:schemeClr val="accent2">
                        <a:lumMod val="75000"/>
                      </a:schemeClr>
                    </a:solidFill>
                    <a:cs typeface="Times New Roman" panose="02020603050405020304" pitchFamily="18" charset="0"/>
                  </a:rPr>
                  <a:t>Failure of </a:t>
                </a:r>
                <a14:m>
                  <m:oMath xmlns:m="http://schemas.openxmlformats.org/officeDocument/2006/math">
                    <m:r>
                      <a:rPr lang="en-US" sz="2400" b="1" i="1" smtClean="0">
                        <a:solidFill>
                          <a:schemeClr val="accent2">
                            <a:lumMod val="75000"/>
                          </a:schemeClr>
                        </a:solidFill>
                        <a:latin typeface="Cambria Math" panose="02040503050406030204" pitchFamily="18" charset="0"/>
                        <a:cs typeface="Times New Roman" panose="02020603050405020304" pitchFamily="18" charset="0"/>
                      </a:rPr>
                      <m:t>𝜺</m:t>
                    </m:r>
                  </m:oMath>
                </a14:m>
                <a:r>
                  <a:rPr lang="en-US" sz="2400" b="1" dirty="0">
                    <a:solidFill>
                      <a:schemeClr val="accent2">
                        <a:lumMod val="75000"/>
                      </a:schemeClr>
                    </a:solidFill>
                    <a:cs typeface="Times New Roman" panose="02020603050405020304" pitchFamily="18" charset="0"/>
                  </a:rPr>
                  <a:t> to be </a:t>
                </a:r>
                <a:r>
                  <a:rPr lang="en-US" sz="2400" b="1" dirty="0" err="1">
                    <a:solidFill>
                      <a:schemeClr val="accent2">
                        <a:lumMod val="75000"/>
                      </a:schemeClr>
                    </a:solidFill>
                    <a:cs typeface="Times New Roman" panose="02020603050405020304" pitchFamily="18" charset="0"/>
                  </a:rPr>
                  <a:t>i.i.d.</a:t>
                </a:r>
                <a:r>
                  <a:rPr lang="en-US" sz="2400" b="1" dirty="0">
                    <a:solidFill>
                      <a:schemeClr val="accent2">
                        <a:lumMod val="75000"/>
                      </a:schemeClr>
                    </a:solidFill>
                    <a:cs typeface="Times New Roman" panose="02020603050405020304" pitchFamily="18" charset="0"/>
                  </a:rPr>
                  <a:t> means that </a:t>
                </a:r>
                <a14:m>
                  <m:oMath xmlns:m="http://schemas.openxmlformats.org/officeDocument/2006/math">
                    <m:r>
                      <a:rPr lang="en-US" sz="2400" b="1" i="0" smtClean="0">
                        <a:solidFill>
                          <a:schemeClr val="accent2">
                            <a:lumMod val="75000"/>
                          </a:schemeClr>
                        </a:solidFill>
                        <a:latin typeface="Cambria Math" panose="02040503050406030204" pitchFamily="18" charset="0"/>
                        <a:cs typeface="Times New Roman" panose="02020603050405020304" pitchFamily="18" charset="0"/>
                      </a:rPr>
                      <m:t>𝐬𝐞</m:t>
                    </m:r>
                    <m:d>
                      <m:dPr>
                        <m:ctrlPr>
                          <a:rPr lang="en-US" sz="2400" b="1" i="1" smtClean="0">
                            <a:solidFill>
                              <a:schemeClr val="accent2">
                                <a:lumMod val="75000"/>
                              </a:schemeClr>
                            </a:solidFill>
                            <a:latin typeface="Cambria Math" panose="02040503050406030204" pitchFamily="18" charset="0"/>
                            <a:cs typeface="Times New Roman" panose="02020603050405020304" pitchFamily="18" charset="0"/>
                          </a:rPr>
                        </m:ctrlPr>
                      </m:dPr>
                      <m:e>
                        <m:acc>
                          <m:accPr>
                            <m:chr m:val="̂"/>
                            <m:ctrlPr>
                              <a:rPr lang="en-US" sz="2400" b="1" i="1" smtClean="0">
                                <a:solidFill>
                                  <a:schemeClr val="accent2">
                                    <a:lumMod val="75000"/>
                                  </a:schemeClr>
                                </a:solidFill>
                                <a:latin typeface="Cambria Math" panose="02040503050406030204" pitchFamily="18" charset="0"/>
                                <a:cs typeface="Times New Roman" panose="02020603050405020304" pitchFamily="18" charset="0"/>
                              </a:rPr>
                            </m:ctrlPr>
                          </m:accPr>
                          <m:e>
                            <m:sSub>
                              <m:sSubPr>
                                <m:ctrlPr>
                                  <a:rPr lang="en-US" sz="2400" b="1" i="1" smtClean="0">
                                    <a:solidFill>
                                      <a:schemeClr val="accent2">
                                        <a:lumMod val="75000"/>
                                      </a:schemeClr>
                                    </a:solidFill>
                                    <a:latin typeface="Cambria Math" panose="02040503050406030204" pitchFamily="18" charset="0"/>
                                    <a:cs typeface="Times New Roman" panose="02020603050405020304" pitchFamily="18" charset="0"/>
                                  </a:rPr>
                                </m:ctrlPr>
                              </m:sSubPr>
                              <m:e>
                                <m:r>
                                  <a:rPr lang="en-US" sz="2400" b="1" i="1" smtClean="0">
                                    <a:solidFill>
                                      <a:schemeClr val="accent2">
                                        <a:lumMod val="75000"/>
                                      </a:schemeClr>
                                    </a:solidFill>
                                    <a:latin typeface="Cambria Math" panose="02040503050406030204" pitchFamily="18" charset="0"/>
                                    <a:cs typeface="Times New Roman" panose="02020603050405020304" pitchFamily="18" charset="0"/>
                                  </a:rPr>
                                  <m:t>𝜷</m:t>
                                </m:r>
                              </m:e>
                              <m:sub>
                                <m:r>
                                  <a:rPr lang="en-US" sz="2400" b="1" i="1" smtClean="0">
                                    <a:solidFill>
                                      <a:schemeClr val="accent2">
                                        <a:lumMod val="75000"/>
                                      </a:schemeClr>
                                    </a:solidFill>
                                    <a:latin typeface="Cambria Math" panose="02040503050406030204" pitchFamily="18" charset="0"/>
                                    <a:cs typeface="Times New Roman" panose="02020603050405020304" pitchFamily="18" charset="0"/>
                                  </a:rPr>
                                  <m:t>𝟏</m:t>
                                </m:r>
                              </m:sub>
                            </m:sSub>
                          </m:e>
                        </m:acc>
                      </m:e>
                    </m:d>
                    <m:r>
                      <a:rPr lang="en-US" sz="2400" b="1" i="1" smtClean="0">
                        <a:solidFill>
                          <a:schemeClr val="accent2">
                            <a:lumMod val="75000"/>
                          </a:schemeClr>
                        </a:solidFill>
                        <a:latin typeface="Cambria Math" panose="02040503050406030204" pitchFamily="18" charset="0"/>
                        <a:cs typeface="Times New Roman" panose="02020603050405020304" pitchFamily="18" charset="0"/>
                      </a:rPr>
                      <m:t>≠</m:t>
                    </m:r>
                    <m:rad>
                      <m:radPr>
                        <m:degHide m:val="on"/>
                        <m:ctrlPr>
                          <a:rPr lang="en-US" sz="2400" b="1" i="1" smtClean="0">
                            <a:solidFill>
                              <a:schemeClr val="accent2">
                                <a:lumMod val="75000"/>
                              </a:schemeClr>
                            </a:solidFill>
                            <a:latin typeface="Cambria Math" panose="02040503050406030204" pitchFamily="18" charset="0"/>
                            <a:cs typeface="Times New Roman" panose="02020603050405020304" pitchFamily="18" charset="0"/>
                          </a:rPr>
                        </m:ctrlPr>
                      </m:radPr>
                      <m:deg/>
                      <m:e>
                        <m:f>
                          <m:fPr>
                            <m:ctrlPr>
                              <a:rPr lang="en-US" sz="2400" b="1" i="1" smtClean="0">
                                <a:solidFill>
                                  <a:schemeClr val="accent2">
                                    <a:lumMod val="75000"/>
                                  </a:schemeClr>
                                </a:solidFill>
                                <a:latin typeface="Cambria Math" panose="02040503050406030204" pitchFamily="18" charset="0"/>
                                <a:cs typeface="Times New Roman" panose="02020603050405020304" pitchFamily="18" charset="0"/>
                              </a:rPr>
                            </m:ctrlPr>
                          </m:fPr>
                          <m:num>
                            <m:sSup>
                              <m:sSupPr>
                                <m:ctrlPr>
                                  <a:rPr lang="en-US" sz="2400" b="1" i="1" smtClean="0">
                                    <a:solidFill>
                                      <a:schemeClr val="accent2">
                                        <a:lumMod val="75000"/>
                                      </a:schemeClr>
                                    </a:solidFill>
                                    <a:latin typeface="Cambria Math" panose="02040503050406030204" pitchFamily="18" charset="0"/>
                                    <a:cs typeface="Times New Roman" panose="02020603050405020304" pitchFamily="18" charset="0"/>
                                  </a:rPr>
                                </m:ctrlPr>
                              </m:sSupPr>
                              <m:e>
                                <m:r>
                                  <a:rPr lang="en-US" sz="2400" b="1" i="1" smtClean="0">
                                    <a:solidFill>
                                      <a:schemeClr val="accent2">
                                        <a:lumMod val="75000"/>
                                      </a:schemeClr>
                                    </a:solidFill>
                                    <a:latin typeface="Cambria Math" panose="02040503050406030204" pitchFamily="18" charset="0"/>
                                    <a:cs typeface="Times New Roman" panose="02020603050405020304" pitchFamily="18" charset="0"/>
                                  </a:rPr>
                                  <m:t>𝝈</m:t>
                                </m:r>
                              </m:e>
                              <m:sup>
                                <m:r>
                                  <a:rPr lang="en-US" sz="2400" b="1" i="1" smtClean="0">
                                    <a:solidFill>
                                      <a:schemeClr val="accent2">
                                        <a:lumMod val="75000"/>
                                      </a:schemeClr>
                                    </a:solidFill>
                                    <a:latin typeface="Cambria Math" panose="02040503050406030204" pitchFamily="18" charset="0"/>
                                    <a:cs typeface="Times New Roman" panose="02020603050405020304" pitchFamily="18" charset="0"/>
                                  </a:rPr>
                                  <m:t>𝟐</m:t>
                                </m:r>
                              </m:sup>
                            </m:sSup>
                          </m:num>
                          <m:den>
                            <m:r>
                              <a:rPr lang="en-US" sz="2400" b="1" i="1" smtClean="0">
                                <a:solidFill>
                                  <a:schemeClr val="accent2">
                                    <a:lumMod val="75000"/>
                                  </a:schemeClr>
                                </a:solidFill>
                                <a:latin typeface="Cambria Math" panose="02040503050406030204" pitchFamily="18" charset="0"/>
                                <a:cs typeface="Times New Roman" panose="02020603050405020304" pitchFamily="18" charset="0"/>
                              </a:rPr>
                              <m:t>𝒗𝒂𝒓</m:t>
                            </m:r>
                            <m:d>
                              <m:dPr>
                                <m:ctrlPr>
                                  <a:rPr lang="en-US" sz="2400" b="1" i="1" smtClean="0">
                                    <a:solidFill>
                                      <a:schemeClr val="accent2">
                                        <a:lumMod val="75000"/>
                                      </a:schemeClr>
                                    </a:solidFill>
                                    <a:latin typeface="Cambria Math" panose="02040503050406030204" pitchFamily="18" charset="0"/>
                                    <a:cs typeface="Times New Roman" panose="02020603050405020304" pitchFamily="18" charset="0"/>
                                  </a:rPr>
                                </m:ctrlPr>
                              </m:dPr>
                              <m:e>
                                <m:r>
                                  <a:rPr lang="en-US" sz="2400" b="1" i="1" smtClean="0">
                                    <a:solidFill>
                                      <a:schemeClr val="accent2">
                                        <a:lumMod val="75000"/>
                                      </a:schemeClr>
                                    </a:solidFill>
                                    <a:latin typeface="Cambria Math" panose="02040503050406030204" pitchFamily="18" charset="0"/>
                                    <a:cs typeface="Times New Roman" panose="02020603050405020304" pitchFamily="18" charset="0"/>
                                  </a:rPr>
                                  <m:t>𝒙</m:t>
                                </m:r>
                              </m:e>
                            </m:d>
                            <m:r>
                              <a:rPr lang="en-US" sz="2400" b="1" i="1" smtClean="0">
                                <a:solidFill>
                                  <a:schemeClr val="accent2">
                                    <a:lumMod val="75000"/>
                                  </a:schemeClr>
                                </a:solidFill>
                                <a:latin typeface="Cambria Math" panose="02040503050406030204" pitchFamily="18" charset="0"/>
                                <a:cs typeface="Times New Roman" panose="02020603050405020304" pitchFamily="18" charset="0"/>
                              </a:rPr>
                              <m:t>𝒏</m:t>
                            </m:r>
                          </m:den>
                        </m:f>
                      </m:e>
                    </m:rad>
                  </m:oMath>
                </a14:m>
                <a:r>
                  <a:rPr lang="en-US" sz="2400" b="1" dirty="0">
                    <a:solidFill>
                      <a:schemeClr val="accent2">
                        <a:lumMod val="75000"/>
                      </a:schemeClr>
                    </a:solidFill>
                    <a:cs typeface="Times New Roman" panose="02020603050405020304" pitchFamily="18" charset="0"/>
                  </a:rPr>
                  <a:t> </a:t>
                </a:r>
              </a:p>
              <a:p>
                <a:pPr marL="0" indent="0">
                  <a:buNone/>
                </a:pPr>
                <a:r>
                  <a:rPr lang="en-US" sz="2400" b="1" dirty="0">
                    <a:solidFill>
                      <a:schemeClr val="accent2">
                        <a:lumMod val="75000"/>
                      </a:schemeClr>
                    </a:solidFill>
                    <a:cs typeface="Times New Roman" panose="02020603050405020304" pitchFamily="18" charset="0"/>
                  </a:rPr>
                  <a:t>	</a:t>
                </a:r>
                <a:endParaRPr lang="en-US" sz="2400" b="1" dirty="0">
                  <a:cs typeface="Times New Roman" panose="02020603050405020304" pitchFamily="18" charset="0"/>
                </a:endParaRPr>
              </a:p>
              <a:p>
                <a:endParaRPr lang="en-US" sz="2400" b="1" dirty="0">
                  <a:solidFill>
                    <a:schemeClr val="accent2">
                      <a:lumMod val="75000"/>
                    </a:schemeClr>
                  </a:solidFill>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405791" cy="5141388"/>
              </a:xfrm>
              <a:blipFill>
                <a:blip r:embed="rId3"/>
                <a:stretch>
                  <a:fillRect l="-972" t="-1305" r="-648"/>
                </a:stretch>
              </a:blipFill>
            </p:spPr>
            <p:txBody>
              <a:bodyPr/>
              <a:lstStyle/>
              <a:p>
                <a:r>
                  <a:rPr lang="en-US">
                    <a:noFill/>
                  </a:rPr>
                  <a:t> </a:t>
                </a:r>
              </a:p>
            </p:txBody>
          </p:sp>
        </mc:Fallback>
      </mc:AlternateContent>
    </p:spTree>
    <p:extLst>
      <p:ext uri="{BB962C8B-B14F-4D97-AF65-F5344CB8AC3E}">
        <p14:creationId xmlns:p14="http://schemas.microsoft.com/office/powerpoint/2010/main" val="421703496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Are my error terms </a:t>
            </a:r>
            <a:r>
              <a:rPr lang="en-US" sz="3600" dirty="0" err="1">
                <a:cs typeface="Times New Roman" panose="02020603050405020304" pitchFamily="18" charset="0"/>
              </a:rPr>
              <a:t>i.i.d.</a:t>
            </a:r>
            <a:r>
              <a:rPr lang="en-US" sz="3600" dirty="0">
                <a:cs typeface="Times New Roman" panose="02020603050405020304" pitchFamily="18" charset="0"/>
              </a:rPr>
              <a:t>?</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982201" cy="5141388"/>
              </a:xfrm>
            </p:spPr>
            <p:txBody>
              <a:bodyPr>
                <a:normAutofit/>
              </a:bodyPr>
              <a:lstStyle/>
              <a:p>
                <a:r>
                  <a:rPr lang="en-US" sz="2400" b="1" dirty="0">
                    <a:cs typeface="Times New Roman" panose="02020603050405020304" pitchFamily="18" charset="0"/>
                  </a:rPr>
                  <a:t>Autocorrelation: </a:t>
                </a:r>
                <a:r>
                  <a:rPr lang="en-US" sz="2400" dirty="0">
                    <a:cs typeface="Times New Roman" panose="02020603050405020304" pitchFamily="18" charset="0"/>
                  </a:rPr>
                  <a:t>Today’s “shock” today is correlated with yesterday’s</a:t>
                </a:r>
              </a:p>
              <a:p>
                <a:pPr lvl="1"/>
                <a:r>
                  <a:rPr lang="en-US" sz="2400" dirty="0">
                    <a:solidFill>
                      <a:schemeClr val="accent3">
                        <a:lumMod val="75000"/>
                      </a:schemeClr>
                    </a:solidFill>
                    <a:cs typeface="Times New Roman" panose="02020603050405020304" pitchFamily="18" charset="0"/>
                  </a:rPr>
                  <a:t>Heteroskedasticity- and autocorrelation-consistent (HAC) standard errors</a:t>
                </a:r>
              </a:p>
              <a:p>
                <a:pPr lvl="1"/>
                <a:r>
                  <a:rPr lang="en-US" sz="2400" dirty="0">
                    <a:solidFill>
                      <a:schemeClr val="accent3">
                        <a:lumMod val="75000"/>
                      </a:schemeClr>
                    </a:solidFill>
                    <a:cs typeface="Times New Roman" panose="02020603050405020304" pitchFamily="18" charset="0"/>
                  </a:rPr>
                  <a:t>Newey-West estimator, adjusts </a:t>
                </a:r>
                <a14:m>
                  <m:oMath xmlns:m="http://schemas.openxmlformats.org/officeDocument/2006/math">
                    <m:r>
                      <a:rPr lang="en-US" sz="2400" b="0" i="1" smtClean="0">
                        <a:solidFill>
                          <a:schemeClr val="accent3">
                            <a:lumMod val="75000"/>
                          </a:schemeClr>
                        </a:solidFill>
                        <a:latin typeface="Cambria Math" panose="02040503050406030204" pitchFamily="18" charset="0"/>
                        <a:cs typeface="Times New Roman" panose="02020603050405020304" pitchFamily="18" charset="0"/>
                      </a:rPr>
                      <m:t>𝑠𝑒</m:t>
                    </m:r>
                    <m:r>
                      <a:rPr lang="en-US" sz="2400" b="0" i="1" smtClean="0">
                        <a:solidFill>
                          <a:schemeClr val="accent3">
                            <a:lumMod val="75000"/>
                          </a:schemeClr>
                        </a:solidFill>
                        <a:latin typeface="Cambria Math" panose="02040503050406030204" pitchFamily="18" charset="0"/>
                        <a:cs typeface="Times New Roman" panose="02020603050405020304" pitchFamily="18" charset="0"/>
                      </a:rPr>
                      <m:t>(</m:t>
                    </m:r>
                    <m:acc>
                      <m:accPr>
                        <m:chr m:val="̂"/>
                        <m:ctrlPr>
                          <a:rPr lang="en-US" sz="2400" b="0" i="1" smtClean="0">
                            <a:solidFill>
                              <a:schemeClr val="accent3">
                                <a:lumMod val="75000"/>
                              </a:schemeClr>
                            </a:solidFill>
                            <a:latin typeface="Cambria Math" panose="02040503050406030204" pitchFamily="18" charset="0"/>
                            <a:cs typeface="Times New Roman" panose="02020603050405020304" pitchFamily="18" charset="0"/>
                          </a:rPr>
                        </m:ctrlPr>
                      </m:accPr>
                      <m:e>
                        <m:sSub>
                          <m:sSubPr>
                            <m:ctrlPr>
                              <a:rPr lang="en-US" sz="2400" b="0" i="1" smtClean="0">
                                <a:solidFill>
                                  <a:schemeClr val="accent3">
                                    <a:lumMod val="75000"/>
                                  </a:schemeClr>
                                </a:solidFill>
                                <a:latin typeface="Cambria Math" panose="02040503050406030204" pitchFamily="18" charset="0"/>
                                <a:cs typeface="Times New Roman" panose="02020603050405020304" pitchFamily="18" charset="0"/>
                              </a:rPr>
                            </m:ctrlPr>
                          </m:sSubPr>
                          <m:e>
                            <m:r>
                              <a:rPr lang="en-US" sz="2400" b="0" i="1" smtClean="0">
                                <a:solidFill>
                                  <a:schemeClr val="accent3">
                                    <a:lumMod val="75000"/>
                                  </a:schemeClr>
                                </a:solidFill>
                                <a:latin typeface="Cambria Math" panose="02040503050406030204" pitchFamily="18" charset="0"/>
                                <a:cs typeface="Times New Roman" panose="02020603050405020304" pitchFamily="18" charset="0"/>
                              </a:rPr>
                              <m:t>𝛽</m:t>
                            </m:r>
                          </m:e>
                          <m:sub>
                            <m:r>
                              <a:rPr lang="en-US" sz="2400" b="0" i="1" smtClean="0">
                                <a:solidFill>
                                  <a:schemeClr val="accent3">
                                    <a:lumMod val="75000"/>
                                  </a:schemeClr>
                                </a:solidFill>
                                <a:latin typeface="Cambria Math" panose="02040503050406030204" pitchFamily="18" charset="0"/>
                                <a:cs typeface="Times New Roman" panose="02020603050405020304" pitchFamily="18" charset="0"/>
                              </a:rPr>
                              <m:t>1</m:t>
                            </m:r>
                          </m:sub>
                        </m:sSub>
                      </m:e>
                    </m:acc>
                    <m:r>
                      <a:rPr lang="en-US" sz="2400" b="0" i="1" smtClean="0">
                        <a:solidFill>
                          <a:schemeClr val="accent3">
                            <a:lumMod val="75000"/>
                          </a:schemeClr>
                        </a:solidFill>
                        <a:latin typeface="Cambria Math" panose="02040503050406030204" pitchFamily="18" charset="0"/>
                        <a:cs typeface="Times New Roman" panose="02020603050405020304" pitchFamily="18" charset="0"/>
                      </a:rPr>
                      <m:t>)</m:t>
                    </m:r>
                  </m:oMath>
                </a14:m>
                <a:r>
                  <a:rPr lang="en-US" sz="2400" dirty="0">
                    <a:solidFill>
                      <a:schemeClr val="accent3">
                        <a:lumMod val="75000"/>
                      </a:schemeClr>
                    </a:solidFill>
                    <a:cs typeface="Times New Roman" panose="02020603050405020304" pitchFamily="18" charset="0"/>
                  </a:rPr>
                  <a:t> based on lagged variable outcomes</a:t>
                </a:r>
              </a:p>
              <a:p>
                <a:r>
                  <a:rPr lang="en-US" sz="2400" b="1" dirty="0">
                    <a:cs typeface="Times New Roman" panose="02020603050405020304" pitchFamily="18" charset="0"/>
                  </a:rPr>
                  <a:t>Heteroskedasticity: </a:t>
                </a:r>
                <a:r>
                  <a:rPr lang="en-US" sz="2400" dirty="0">
                    <a:cs typeface="Times New Roman" panose="02020603050405020304" pitchFamily="18" charset="0"/>
                  </a:rPr>
                  <a:t>Variance of distribution depends on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𝑥</m:t>
                    </m:r>
                  </m:oMath>
                </a14:m>
                <a:endParaRPr lang="en-US" sz="2400" dirty="0">
                  <a:cs typeface="Times New Roman" panose="02020603050405020304" pitchFamily="18" charset="0"/>
                </a:endParaRPr>
              </a:p>
              <a:p>
                <a:r>
                  <a:rPr lang="en-US" sz="2400" b="1" dirty="0">
                    <a:cs typeface="Times New Roman" panose="02020603050405020304" pitchFamily="18" charset="0"/>
                  </a:rPr>
                  <a:t>Others: </a:t>
                </a:r>
                <a:r>
                  <a:rPr lang="en-US" sz="2400" dirty="0">
                    <a:cs typeface="Times New Roman" panose="02020603050405020304" pitchFamily="18" charset="0"/>
                  </a:rPr>
                  <a:t>Correlation within groups, multiple testing, sampling errors, etc.</a:t>
                </a:r>
              </a:p>
              <a:p>
                <a:pPr marL="0" indent="0">
                  <a:buNone/>
                </a:pPr>
                <a:r>
                  <a:rPr lang="en-US" sz="2400" b="1" dirty="0">
                    <a:solidFill>
                      <a:schemeClr val="accent2">
                        <a:lumMod val="75000"/>
                      </a:schemeClr>
                    </a:solidFill>
                    <a:cs typeface="Times New Roman" panose="02020603050405020304" pitchFamily="18" charset="0"/>
                  </a:rPr>
                  <a:t>Failure of </a:t>
                </a:r>
                <a14:m>
                  <m:oMath xmlns:m="http://schemas.openxmlformats.org/officeDocument/2006/math">
                    <m:r>
                      <a:rPr lang="en-US" sz="2400" b="1" i="1" smtClean="0">
                        <a:solidFill>
                          <a:schemeClr val="accent2">
                            <a:lumMod val="75000"/>
                          </a:schemeClr>
                        </a:solidFill>
                        <a:latin typeface="Cambria Math" panose="02040503050406030204" pitchFamily="18" charset="0"/>
                        <a:cs typeface="Times New Roman" panose="02020603050405020304" pitchFamily="18" charset="0"/>
                      </a:rPr>
                      <m:t>𝜺</m:t>
                    </m:r>
                  </m:oMath>
                </a14:m>
                <a:r>
                  <a:rPr lang="en-US" sz="2400" b="1" dirty="0">
                    <a:solidFill>
                      <a:schemeClr val="accent2">
                        <a:lumMod val="75000"/>
                      </a:schemeClr>
                    </a:solidFill>
                    <a:cs typeface="Times New Roman" panose="02020603050405020304" pitchFamily="18" charset="0"/>
                  </a:rPr>
                  <a:t> to be </a:t>
                </a:r>
                <a:r>
                  <a:rPr lang="en-US" sz="2400" b="1" dirty="0" err="1">
                    <a:solidFill>
                      <a:schemeClr val="accent2">
                        <a:lumMod val="75000"/>
                      </a:schemeClr>
                    </a:solidFill>
                    <a:cs typeface="Times New Roman" panose="02020603050405020304" pitchFamily="18" charset="0"/>
                  </a:rPr>
                  <a:t>i.i.d.</a:t>
                </a:r>
                <a:r>
                  <a:rPr lang="en-US" sz="2400" b="1" dirty="0">
                    <a:solidFill>
                      <a:schemeClr val="accent2">
                        <a:lumMod val="75000"/>
                      </a:schemeClr>
                    </a:solidFill>
                    <a:cs typeface="Times New Roman" panose="02020603050405020304" pitchFamily="18" charset="0"/>
                  </a:rPr>
                  <a:t> means that </a:t>
                </a:r>
                <a14:m>
                  <m:oMath xmlns:m="http://schemas.openxmlformats.org/officeDocument/2006/math">
                    <m:r>
                      <a:rPr lang="en-US" sz="2400" b="1" i="0" smtClean="0">
                        <a:solidFill>
                          <a:schemeClr val="accent2">
                            <a:lumMod val="75000"/>
                          </a:schemeClr>
                        </a:solidFill>
                        <a:latin typeface="Cambria Math" panose="02040503050406030204" pitchFamily="18" charset="0"/>
                        <a:cs typeface="Times New Roman" panose="02020603050405020304" pitchFamily="18" charset="0"/>
                      </a:rPr>
                      <m:t>𝐬𝐞</m:t>
                    </m:r>
                    <m:d>
                      <m:dPr>
                        <m:ctrlPr>
                          <a:rPr lang="en-US" sz="2400" b="1" i="1" smtClean="0">
                            <a:solidFill>
                              <a:schemeClr val="accent2">
                                <a:lumMod val="75000"/>
                              </a:schemeClr>
                            </a:solidFill>
                            <a:latin typeface="Cambria Math" panose="02040503050406030204" pitchFamily="18" charset="0"/>
                            <a:cs typeface="Times New Roman" panose="02020603050405020304" pitchFamily="18" charset="0"/>
                          </a:rPr>
                        </m:ctrlPr>
                      </m:dPr>
                      <m:e>
                        <m:acc>
                          <m:accPr>
                            <m:chr m:val="̂"/>
                            <m:ctrlPr>
                              <a:rPr lang="en-US" sz="2400" b="1" i="1" smtClean="0">
                                <a:solidFill>
                                  <a:schemeClr val="accent2">
                                    <a:lumMod val="75000"/>
                                  </a:schemeClr>
                                </a:solidFill>
                                <a:latin typeface="Cambria Math" panose="02040503050406030204" pitchFamily="18" charset="0"/>
                                <a:cs typeface="Times New Roman" panose="02020603050405020304" pitchFamily="18" charset="0"/>
                              </a:rPr>
                            </m:ctrlPr>
                          </m:accPr>
                          <m:e>
                            <m:sSub>
                              <m:sSubPr>
                                <m:ctrlPr>
                                  <a:rPr lang="en-US" sz="2400" b="1" i="1" smtClean="0">
                                    <a:solidFill>
                                      <a:schemeClr val="accent2">
                                        <a:lumMod val="75000"/>
                                      </a:schemeClr>
                                    </a:solidFill>
                                    <a:latin typeface="Cambria Math" panose="02040503050406030204" pitchFamily="18" charset="0"/>
                                    <a:cs typeface="Times New Roman" panose="02020603050405020304" pitchFamily="18" charset="0"/>
                                  </a:rPr>
                                </m:ctrlPr>
                              </m:sSubPr>
                              <m:e>
                                <m:r>
                                  <a:rPr lang="en-US" sz="2400" b="1" i="1" smtClean="0">
                                    <a:solidFill>
                                      <a:schemeClr val="accent2">
                                        <a:lumMod val="75000"/>
                                      </a:schemeClr>
                                    </a:solidFill>
                                    <a:latin typeface="Cambria Math" panose="02040503050406030204" pitchFamily="18" charset="0"/>
                                    <a:cs typeface="Times New Roman" panose="02020603050405020304" pitchFamily="18" charset="0"/>
                                  </a:rPr>
                                  <m:t>𝜷</m:t>
                                </m:r>
                              </m:e>
                              <m:sub>
                                <m:r>
                                  <a:rPr lang="en-US" sz="2400" b="1" i="1" smtClean="0">
                                    <a:solidFill>
                                      <a:schemeClr val="accent2">
                                        <a:lumMod val="75000"/>
                                      </a:schemeClr>
                                    </a:solidFill>
                                    <a:latin typeface="Cambria Math" panose="02040503050406030204" pitchFamily="18" charset="0"/>
                                    <a:cs typeface="Times New Roman" panose="02020603050405020304" pitchFamily="18" charset="0"/>
                                  </a:rPr>
                                  <m:t>𝟏</m:t>
                                </m:r>
                              </m:sub>
                            </m:sSub>
                          </m:e>
                        </m:acc>
                      </m:e>
                    </m:d>
                    <m:r>
                      <a:rPr lang="en-US" sz="2400" b="1" i="1" smtClean="0">
                        <a:solidFill>
                          <a:schemeClr val="accent2">
                            <a:lumMod val="75000"/>
                          </a:schemeClr>
                        </a:solidFill>
                        <a:latin typeface="Cambria Math" panose="02040503050406030204" pitchFamily="18" charset="0"/>
                        <a:cs typeface="Times New Roman" panose="02020603050405020304" pitchFamily="18" charset="0"/>
                      </a:rPr>
                      <m:t>≠</m:t>
                    </m:r>
                    <m:rad>
                      <m:radPr>
                        <m:degHide m:val="on"/>
                        <m:ctrlPr>
                          <a:rPr lang="en-US" sz="2400" b="1" i="1" smtClean="0">
                            <a:solidFill>
                              <a:schemeClr val="accent2">
                                <a:lumMod val="75000"/>
                              </a:schemeClr>
                            </a:solidFill>
                            <a:latin typeface="Cambria Math" panose="02040503050406030204" pitchFamily="18" charset="0"/>
                            <a:cs typeface="Times New Roman" panose="02020603050405020304" pitchFamily="18" charset="0"/>
                          </a:rPr>
                        </m:ctrlPr>
                      </m:radPr>
                      <m:deg/>
                      <m:e>
                        <m:f>
                          <m:fPr>
                            <m:ctrlPr>
                              <a:rPr lang="en-US" sz="2400" b="1" i="1" smtClean="0">
                                <a:solidFill>
                                  <a:schemeClr val="accent2">
                                    <a:lumMod val="75000"/>
                                  </a:schemeClr>
                                </a:solidFill>
                                <a:latin typeface="Cambria Math" panose="02040503050406030204" pitchFamily="18" charset="0"/>
                                <a:cs typeface="Times New Roman" panose="02020603050405020304" pitchFamily="18" charset="0"/>
                              </a:rPr>
                            </m:ctrlPr>
                          </m:fPr>
                          <m:num>
                            <m:sSup>
                              <m:sSupPr>
                                <m:ctrlPr>
                                  <a:rPr lang="en-US" sz="2400" b="1" i="1" smtClean="0">
                                    <a:solidFill>
                                      <a:schemeClr val="accent2">
                                        <a:lumMod val="75000"/>
                                      </a:schemeClr>
                                    </a:solidFill>
                                    <a:latin typeface="Cambria Math" panose="02040503050406030204" pitchFamily="18" charset="0"/>
                                    <a:cs typeface="Times New Roman" panose="02020603050405020304" pitchFamily="18" charset="0"/>
                                  </a:rPr>
                                </m:ctrlPr>
                              </m:sSupPr>
                              <m:e>
                                <m:r>
                                  <a:rPr lang="en-US" sz="2400" b="1" i="1" smtClean="0">
                                    <a:solidFill>
                                      <a:schemeClr val="accent2">
                                        <a:lumMod val="75000"/>
                                      </a:schemeClr>
                                    </a:solidFill>
                                    <a:latin typeface="Cambria Math" panose="02040503050406030204" pitchFamily="18" charset="0"/>
                                    <a:cs typeface="Times New Roman" panose="02020603050405020304" pitchFamily="18" charset="0"/>
                                  </a:rPr>
                                  <m:t>𝝈</m:t>
                                </m:r>
                              </m:e>
                              <m:sup>
                                <m:r>
                                  <a:rPr lang="en-US" sz="2400" b="1" i="1" smtClean="0">
                                    <a:solidFill>
                                      <a:schemeClr val="accent2">
                                        <a:lumMod val="75000"/>
                                      </a:schemeClr>
                                    </a:solidFill>
                                    <a:latin typeface="Cambria Math" panose="02040503050406030204" pitchFamily="18" charset="0"/>
                                    <a:cs typeface="Times New Roman" panose="02020603050405020304" pitchFamily="18" charset="0"/>
                                  </a:rPr>
                                  <m:t>𝟐</m:t>
                                </m:r>
                              </m:sup>
                            </m:sSup>
                          </m:num>
                          <m:den>
                            <m:r>
                              <a:rPr lang="en-US" sz="2400" b="1" i="1" smtClean="0">
                                <a:solidFill>
                                  <a:schemeClr val="accent2">
                                    <a:lumMod val="75000"/>
                                  </a:schemeClr>
                                </a:solidFill>
                                <a:latin typeface="Cambria Math" panose="02040503050406030204" pitchFamily="18" charset="0"/>
                                <a:cs typeface="Times New Roman" panose="02020603050405020304" pitchFamily="18" charset="0"/>
                              </a:rPr>
                              <m:t>𝒗𝒂𝒓</m:t>
                            </m:r>
                            <m:d>
                              <m:dPr>
                                <m:ctrlPr>
                                  <a:rPr lang="en-US" sz="2400" b="1" i="1" smtClean="0">
                                    <a:solidFill>
                                      <a:schemeClr val="accent2">
                                        <a:lumMod val="75000"/>
                                      </a:schemeClr>
                                    </a:solidFill>
                                    <a:latin typeface="Cambria Math" panose="02040503050406030204" pitchFamily="18" charset="0"/>
                                    <a:cs typeface="Times New Roman" panose="02020603050405020304" pitchFamily="18" charset="0"/>
                                  </a:rPr>
                                </m:ctrlPr>
                              </m:dPr>
                              <m:e>
                                <m:r>
                                  <a:rPr lang="en-US" sz="2400" b="1" i="1" smtClean="0">
                                    <a:solidFill>
                                      <a:schemeClr val="accent2">
                                        <a:lumMod val="75000"/>
                                      </a:schemeClr>
                                    </a:solidFill>
                                    <a:latin typeface="Cambria Math" panose="02040503050406030204" pitchFamily="18" charset="0"/>
                                    <a:cs typeface="Times New Roman" panose="02020603050405020304" pitchFamily="18" charset="0"/>
                                  </a:rPr>
                                  <m:t>𝒙</m:t>
                                </m:r>
                              </m:e>
                            </m:d>
                            <m:r>
                              <a:rPr lang="en-US" sz="2400" b="1" i="1" smtClean="0">
                                <a:solidFill>
                                  <a:schemeClr val="accent2">
                                    <a:lumMod val="75000"/>
                                  </a:schemeClr>
                                </a:solidFill>
                                <a:latin typeface="Cambria Math" panose="02040503050406030204" pitchFamily="18" charset="0"/>
                                <a:cs typeface="Times New Roman" panose="02020603050405020304" pitchFamily="18" charset="0"/>
                              </a:rPr>
                              <m:t>𝒏</m:t>
                            </m:r>
                          </m:den>
                        </m:f>
                      </m:e>
                    </m:rad>
                  </m:oMath>
                </a14:m>
                <a:r>
                  <a:rPr lang="en-US" sz="2400" b="1" dirty="0">
                    <a:solidFill>
                      <a:schemeClr val="accent2">
                        <a:lumMod val="75000"/>
                      </a:schemeClr>
                    </a:solidFill>
                    <a:cs typeface="Times New Roman" panose="02020603050405020304" pitchFamily="18" charset="0"/>
                  </a:rPr>
                  <a:t> </a:t>
                </a:r>
              </a:p>
              <a:p>
                <a:pPr marL="0" indent="0">
                  <a:buNone/>
                </a:pPr>
                <a:r>
                  <a:rPr lang="en-US" sz="2400" b="1" dirty="0">
                    <a:solidFill>
                      <a:schemeClr val="accent2">
                        <a:lumMod val="75000"/>
                      </a:schemeClr>
                    </a:solidFill>
                    <a:cs typeface="Times New Roman" panose="02020603050405020304" pitchFamily="18" charset="0"/>
                  </a:rPr>
                  <a:t>	</a:t>
                </a:r>
                <a:endParaRPr lang="en-US" sz="2400" b="1" dirty="0">
                  <a:cs typeface="Times New Roman" panose="02020603050405020304" pitchFamily="18" charset="0"/>
                </a:endParaRPr>
              </a:p>
              <a:p>
                <a:endParaRPr lang="en-US" sz="2400" b="1" dirty="0">
                  <a:solidFill>
                    <a:schemeClr val="accent2">
                      <a:lumMod val="75000"/>
                    </a:schemeClr>
                  </a:solidFill>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982201" cy="5141388"/>
              </a:xfrm>
              <a:blipFill>
                <a:blip r:embed="rId2"/>
                <a:stretch>
                  <a:fillRect l="-916" t="-1305"/>
                </a:stretch>
              </a:blipFill>
            </p:spPr>
            <p:txBody>
              <a:bodyPr/>
              <a:lstStyle/>
              <a:p>
                <a:r>
                  <a:rPr lang="en-US">
                    <a:noFill/>
                  </a:rPr>
                  <a:t> </a:t>
                </a:r>
              </a:p>
            </p:txBody>
          </p:sp>
        </mc:Fallback>
      </mc:AlternateContent>
    </p:spTree>
    <p:extLst>
      <p:ext uri="{BB962C8B-B14F-4D97-AF65-F5344CB8AC3E}">
        <p14:creationId xmlns:p14="http://schemas.microsoft.com/office/powerpoint/2010/main" val="211753758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Are my error terms </a:t>
            </a:r>
            <a:r>
              <a:rPr lang="en-US" sz="3600" dirty="0" err="1">
                <a:cs typeface="Times New Roman" panose="02020603050405020304" pitchFamily="18" charset="0"/>
              </a:rPr>
              <a:t>i.i.d.</a:t>
            </a:r>
            <a:r>
              <a:rPr lang="en-US" sz="3600" dirty="0">
                <a:cs typeface="Times New Roman" panose="02020603050405020304" pitchFamily="18" charset="0"/>
              </a:rPr>
              <a:t>?</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982201" cy="5141388"/>
              </a:xfrm>
            </p:spPr>
            <p:txBody>
              <a:bodyPr>
                <a:noAutofit/>
              </a:bodyPr>
              <a:lstStyle/>
              <a:p>
                <a:r>
                  <a:rPr lang="en-US" sz="2400" b="1" dirty="0">
                    <a:cs typeface="Times New Roman" panose="02020603050405020304" pitchFamily="18" charset="0"/>
                  </a:rPr>
                  <a:t>Autocorrelation: </a:t>
                </a:r>
                <a:r>
                  <a:rPr lang="en-US" sz="2400" dirty="0">
                    <a:cs typeface="Times New Roman" panose="02020603050405020304" pitchFamily="18" charset="0"/>
                  </a:rPr>
                  <a:t>Today’s “shock” today is correlated with yesterday’s</a:t>
                </a:r>
              </a:p>
              <a:p>
                <a:pPr lvl="1"/>
                <a:r>
                  <a:rPr lang="en-US" sz="2400" dirty="0">
                    <a:solidFill>
                      <a:schemeClr val="accent3">
                        <a:lumMod val="75000"/>
                      </a:schemeClr>
                    </a:solidFill>
                    <a:cs typeface="Times New Roman" panose="02020603050405020304" pitchFamily="18" charset="0"/>
                  </a:rPr>
                  <a:t>Heteroskedasticity- and autocorrelation-consistent (HAC) standard errors</a:t>
                </a:r>
              </a:p>
              <a:p>
                <a:pPr lvl="1"/>
                <a:r>
                  <a:rPr lang="en-US" sz="2400" dirty="0">
                    <a:solidFill>
                      <a:schemeClr val="accent3">
                        <a:lumMod val="75000"/>
                      </a:schemeClr>
                    </a:solidFill>
                    <a:cs typeface="Times New Roman" panose="02020603050405020304" pitchFamily="18" charset="0"/>
                  </a:rPr>
                  <a:t>Newey-West estimator, adjusts </a:t>
                </a:r>
                <a14:m>
                  <m:oMath xmlns:m="http://schemas.openxmlformats.org/officeDocument/2006/math">
                    <m:r>
                      <a:rPr lang="en-US" sz="2400" b="0" i="1" smtClean="0">
                        <a:solidFill>
                          <a:schemeClr val="accent3">
                            <a:lumMod val="75000"/>
                          </a:schemeClr>
                        </a:solidFill>
                        <a:latin typeface="Cambria Math" panose="02040503050406030204" pitchFamily="18" charset="0"/>
                        <a:cs typeface="Times New Roman" panose="02020603050405020304" pitchFamily="18" charset="0"/>
                      </a:rPr>
                      <m:t>𝑠𝑒</m:t>
                    </m:r>
                    <m:r>
                      <a:rPr lang="en-US" sz="2400" b="0" i="1" smtClean="0">
                        <a:solidFill>
                          <a:schemeClr val="accent3">
                            <a:lumMod val="75000"/>
                          </a:schemeClr>
                        </a:solidFill>
                        <a:latin typeface="Cambria Math" panose="02040503050406030204" pitchFamily="18" charset="0"/>
                        <a:cs typeface="Times New Roman" panose="02020603050405020304" pitchFamily="18" charset="0"/>
                      </a:rPr>
                      <m:t>(</m:t>
                    </m:r>
                    <m:acc>
                      <m:accPr>
                        <m:chr m:val="̂"/>
                        <m:ctrlPr>
                          <a:rPr lang="en-US" sz="2400" b="0" i="1" smtClean="0">
                            <a:solidFill>
                              <a:schemeClr val="accent3">
                                <a:lumMod val="75000"/>
                              </a:schemeClr>
                            </a:solidFill>
                            <a:latin typeface="Cambria Math" panose="02040503050406030204" pitchFamily="18" charset="0"/>
                            <a:cs typeface="Times New Roman" panose="02020603050405020304" pitchFamily="18" charset="0"/>
                          </a:rPr>
                        </m:ctrlPr>
                      </m:accPr>
                      <m:e>
                        <m:sSub>
                          <m:sSubPr>
                            <m:ctrlPr>
                              <a:rPr lang="en-US" sz="2400" b="0" i="1" smtClean="0">
                                <a:solidFill>
                                  <a:schemeClr val="accent3">
                                    <a:lumMod val="75000"/>
                                  </a:schemeClr>
                                </a:solidFill>
                                <a:latin typeface="Cambria Math" panose="02040503050406030204" pitchFamily="18" charset="0"/>
                                <a:cs typeface="Times New Roman" panose="02020603050405020304" pitchFamily="18" charset="0"/>
                              </a:rPr>
                            </m:ctrlPr>
                          </m:sSubPr>
                          <m:e>
                            <m:r>
                              <a:rPr lang="en-US" sz="2400" b="0" i="1" smtClean="0">
                                <a:solidFill>
                                  <a:schemeClr val="accent3">
                                    <a:lumMod val="75000"/>
                                  </a:schemeClr>
                                </a:solidFill>
                                <a:latin typeface="Cambria Math" panose="02040503050406030204" pitchFamily="18" charset="0"/>
                                <a:cs typeface="Times New Roman" panose="02020603050405020304" pitchFamily="18" charset="0"/>
                              </a:rPr>
                              <m:t>𝛽</m:t>
                            </m:r>
                          </m:e>
                          <m:sub>
                            <m:r>
                              <a:rPr lang="en-US" sz="2400" b="0" i="1" smtClean="0">
                                <a:solidFill>
                                  <a:schemeClr val="accent3">
                                    <a:lumMod val="75000"/>
                                  </a:schemeClr>
                                </a:solidFill>
                                <a:latin typeface="Cambria Math" panose="02040503050406030204" pitchFamily="18" charset="0"/>
                                <a:cs typeface="Times New Roman" panose="02020603050405020304" pitchFamily="18" charset="0"/>
                              </a:rPr>
                              <m:t>1</m:t>
                            </m:r>
                          </m:sub>
                        </m:sSub>
                      </m:e>
                    </m:acc>
                    <m:r>
                      <a:rPr lang="en-US" sz="2400" b="0" i="1" smtClean="0">
                        <a:solidFill>
                          <a:schemeClr val="accent3">
                            <a:lumMod val="75000"/>
                          </a:schemeClr>
                        </a:solidFill>
                        <a:latin typeface="Cambria Math" panose="02040503050406030204" pitchFamily="18" charset="0"/>
                        <a:cs typeface="Times New Roman" panose="02020603050405020304" pitchFamily="18" charset="0"/>
                      </a:rPr>
                      <m:t>)</m:t>
                    </m:r>
                  </m:oMath>
                </a14:m>
                <a:r>
                  <a:rPr lang="en-US" sz="2400" dirty="0">
                    <a:solidFill>
                      <a:schemeClr val="accent3">
                        <a:lumMod val="75000"/>
                      </a:schemeClr>
                    </a:solidFill>
                    <a:cs typeface="Times New Roman" panose="02020603050405020304" pitchFamily="18" charset="0"/>
                  </a:rPr>
                  <a:t> based on lagged variable outcomes</a:t>
                </a:r>
              </a:p>
              <a:p>
                <a:r>
                  <a:rPr lang="en-US" sz="2400" b="1" dirty="0">
                    <a:cs typeface="Times New Roman" panose="02020603050405020304" pitchFamily="18" charset="0"/>
                  </a:rPr>
                  <a:t>Heteroskedasticity: </a:t>
                </a:r>
                <a:r>
                  <a:rPr lang="en-US" sz="2400" dirty="0">
                    <a:cs typeface="Times New Roman" panose="02020603050405020304" pitchFamily="18" charset="0"/>
                  </a:rPr>
                  <a:t>Variance of distribution depends on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𝑥</m:t>
                    </m:r>
                  </m:oMath>
                </a14:m>
                <a:endParaRPr lang="en-US" sz="2400" dirty="0">
                  <a:cs typeface="Times New Roman" panose="02020603050405020304" pitchFamily="18" charset="0"/>
                </a:endParaRPr>
              </a:p>
              <a:p>
                <a:pPr lvl="1"/>
                <a:r>
                  <a:rPr lang="en-US" sz="2400" dirty="0">
                    <a:solidFill>
                      <a:schemeClr val="accent3">
                        <a:lumMod val="75000"/>
                      </a:schemeClr>
                    </a:solidFill>
                    <a:cs typeface="Times New Roman" panose="02020603050405020304" pitchFamily="18" charset="0"/>
                  </a:rPr>
                  <a:t>Heteroskedasticity-robust sandwich estimators</a:t>
                </a:r>
              </a:p>
              <a:p>
                <a:pPr lvl="1"/>
                <a:r>
                  <a:rPr lang="en-US" sz="2400" dirty="0">
                    <a:solidFill>
                      <a:schemeClr val="accent3">
                        <a:lumMod val="75000"/>
                      </a:schemeClr>
                    </a:solidFill>
                    <a:cs typeface="Times New Roman" panose="02020603050405020304" pitchFamily="18" charset="0"/>
                  </a:rPr>
                  <a:t>Huber-White estimator, adjusts </a:t>
                </a:r>
                <a14:m>
                  <m:oMath xmlns:m="http://schemas.openxmlformats.org/officeDocument/2006/math">
                    <m:r>
                      <a:rPr lang="en-US" sz="2400" b="0" i="1" smtClean="0">
                        <a:solidFill>
                          <a:schemeClr val="accent3">
                            <a:lumMod val="75000"/>
                          </a:schemeClr>
                        </a:solidFill>
                        <a:latin typeface="Cambria Math" panose="02040503050406030204" pitchFamily="18" charset="0"/>
                        <a:cs typeface="Times New Roman" panose="02020603050405020304" pitchFamily="18" charset="0"/>
                      </a:rPr>
                      <m:t>𝑠𝑒</m:t>
                    </m:r>
                    <m:r>
                      <a:rPr lang="en-US" sz="2400" b="0" i="1" smtClean="0">
                        <a:solidFill>
                          <a:schemeClr val="accent3">
                            <a:lumMod val="75000"/>
                          </a:schemeClr>
                        </a:solidFill>
                        <a:latin typeface="Cambria Math" panose="02040503050406030204" pitchFamily="18" charset="0"/>
                        <a:cs typeface="Times New Roman" panose="02020603050405020304" pitchFamily="18" charset="0"/>
                      </a:rPr>
                      <m:t>(</m:t>
                    </m:r>
                    <m:acc>
                      <m:accPr>
                        <m:chr m:val="̂"/>
                        <m:ctrlPr>
                          <a:rPr lang="en-US" sz="2400" b="0" i="1" smtClean="0">
                            <a:solidFill>
                              <a:schemeClr val="accent3">
                                <a:lumMod val="75000"/>
                              </a:schemeClr>
                            </a:solidFill>
                            <a:latin typeface="Cambria Math" panose="02040503050406030204" pitchFamily="18" charset="0"/>
                            <a:cs typeface="Times New Roman" panose="02020603050405020304" pitchFamily="18" charset="0"/>
                          </a:rPr>
                        </m:ctrlPr>
                      </m:accPr>
                      <m:e>
                        <m:sSub>
                          <m:sSubPr>
                            <m:ctrlPr>
                              <a:rPr lang="en-US" sz="2400" b="0" i="1" smtClean="0">
                                <a:solidFill>
                                  <a:schemeClr val="accent3">
                                    <a:lumMod val="75000"/>
                                  </a:schemeClr>
                                </a:solidFill>
                                <a:latin typeface="Cambria Math" panose="02040503050406030204" pitchFamily="18" charset="0"/>
                                <a:cs typeface="Times New Roman" panose="02020603050405020304" pitchFamily="18" charset="0"/>
                              </a:rPr>
                            </m:ctrlPr>
                          </m:sSubPr>
                          <m:e>
                            <m:r>
                              <a:rPr lang="en-US" sz="2400" b="0" i="1" smtClean="0">
                                <a:solidFill>
                                  <a:schemeClr val="accent3">
                                    <a:lumMod val="75000"/>
                                  </a:schemeClr>
                                </a:solidFill>
                                <a:latin typeface="Cambria Math" panose="02040503050406030204" pitchFamily="18" charset="0"/>
                                <a:cs typeface="Times New Roman" panose="02020603050405020304" pitchFamily="18" charset="0"/>
                              </a:rPr>
                              <m:t>𝛽</m:t>
                            </m:r>
                          </m:e>
                          <m:sub>
                            <m:r>
                              <a:rPr lang="en-US" sz="2400" b="0" i="1" smtClean="0">
                                <a:solidFill>
                                  <a:schemeClr val="accent3">
                                    <a:lumMod val="75000"/>
                                  </a:schemeClr>
                                </a:solidFill>
                                <a:latin typeface="Cambria Math" panose="02040503050406030204" pitchFamily="18" charset="0"/>
                                <a:cs typeface="Times New Roman" panose="02020603050405020304" pitchFamily="18" charset="0"/>
                              </a:rPr>
                              <m:t>1</m:t>
                            </m:r>
                          </m:sub>
                        </m:sSub>
                      </m:e>
                    </m:acc>
                    <m:r>
                      <a:rPr lang="en-US" sz="2400" b="0" i="1" smtClean="0">
                        <a:solidFill>
                          <a:schemeClr val="accent3">
                            <a:lumMod val="75000"/>
                          </a:schemeClr>
                        </a:solidFill>
                        <a:latin typeface="Cambria Math" panose="02040503050406030204" pitchFamily="18" charset="0"/>
                        <a:cs typeface="Times New Roman" panose="02020603050405020304" pitchFamily="18" charset="0"/>
                      </a:rPr>
                      <m:t>)</m:t>
                    </m:r>
                  </m:oMath>
                </a14:m>
                <a:r>
                  <a:rPr lang="en-US" sz="2400" dirty="0">
                    <a:solidFill>
                      <a:schemeClr val="accent3">
                        <a:lumMod val="75000"/>
                      </a:schemeClr>
                    </a:solidFill>
                    <a:cs typeface="Times New Roman" panose="02020603050405020304" pitchFamily="18" charset="0"/>
                  </a:rPr>
                  <a:t> with weights for observations with large residuals </a:t>
                </a:r>
              </a:p>
              <a:p>
                <a:r>
                  <a:rPr lang="en-US" sz="2400" b="1" dirty="0">
                    <a:cs typeface="Times New Roman" panose="02020603050405020304" pitchFamily="18" charset="0"/>
                  </a:rPr>
                  <a:t>Others: </a:t>
                </a:r>
                <a:r>
                  <a:rPr lang="en-US" sz="2400" dirty="0">
                    <a:cs typeface="Times New Roman" panose="02020603050405020304" pitchFamily="18" charset="0"/>
                  </a:rPr>
                  <a:t>Correlation within groups, multiple testing, sampling errors</a:t>
                </a:r>
              </a:p>
              <a:p>
                <a:pPr lvl="1"/>
                <a:endParaRPr lang="en-US" sz="2400" dirty="0">
                  <a:cs typeface="Times New Roman" panose="02020603050405020304" pitchFamily="18" charset="0"/>
                </a:endParaRPr>
              </a:p>
              <a:p>
                <a:pPr marL="0" indent="0">
                  <a:buNone/>
                </a:pPr>
                <a:r>
                  <a:rPr lang="en-US" sz="2400" b="1" dirty="0">
                    <a:solidFill>
                      <a:schemeClr val="accent2">
                        <a:lumMod val="75000"/>
                      </a:schemeClr>
                    </a:solidFill>
                    <a:cs typeface="Times New Roman" panose="02020603050405020304" pitchFamily="18" charset="0"/>
                  </a:rPr>
                  <a:t>Failure of </a:t>
                </a:r>
                <a14:m>
                  <m:oMath xmlns:m="http://schemas.openxmlformats.org/officeDocument/2006/math">
                    <m:r>
                      <a:rPr lang="en-US" sz="2400" b="1" i="1" smtClean="0">
                        <a:solidFill>
                          <a:schemeClr val="accent2">
                            <a:lumMod val="75000"/>
                          </a:schemeClr>
                        </a:solidFill>
                        <a:latin typeface="Cambria Math" panose="02040503050406030204" pitchFamily="18" charset="0"/>
                        <a:cs typeface="Times New Roman" panose="02020603050405020304" pitchFamily="18" charset="0"/>
                      </a:rPr>
                      <m:t>𝜺</m:t>
                    </m:r>
                  </m:oMath>
                </a14:m>
                <a:r>
                  <a:rPr lang="en-US" sz="2400" b="1" dirty="0">
                    <a:solidFill>
                      <a:schemeClr val="accent2">
                        <a:lumMod val="75000"/>
                      </a:schemeClr>
                    </a:solidFill>
                    <a:cs typeface="Times New Roman" panose="02020603050405020304" pitchFamily="18" charset="0"/>
                  </a:rPr>
                  <a:t> to be </a:t>
                </a:r>
                <a:r>
                  <a:rPr lang="en-US" sz="2400" b="1" dirty="0" err="1">
                    <a:solidFill>
                      <a:schemeClr val="accent2">
                        <a:lumMod val="75000"/>
                      </a:schemeClr>
                    </a:solidFill>
                    <a:cs typeface="Times New Roman" panose="02020603050405020304" pitchFamily="18" charset="0"/>
                  </a:rPr>
                  <a:t>i.i.d.</a:t>
                </a:r>
                <a:r>
                  <a:rPr lang="en-US" sz="2400" b="1" dirty="0">
                    <a:solidFill>
                      <a:schemeClr val="accent2">
                        <a:lumMod val="75000"/>
                      </a:schemeClr>
                    </a:solidFill>
                    <a:cs typeface="Times New Roman" panose="02020603050405020304" pitchFamily="18" charset="0"/>
                  </a:rPr>
                  <a:t> means that </a:t>
                </a:r>
                <a14:m>
                  <m:oMath xmlns:m="http://schemas.openxmlformats.org/officeDocument/2006/math">
                    <m:r>
                      <a:rPr lang="en-US" sz="2400" b="1" i="0" smtClean="0">
                        <a:solidFill>
                          <a:schemeClr val="accent2">
                            <a:lumMod val="75000"/>
                          </a:schemeClr>
                        </a:solidFill>
                        <a:latin typeface="Cambria Math" panose="02040503050406030204" pitchFamily="18" charset="0"/>
                        <a:cs typeface="Times New Roman" panose="02020603050405020304" pitchFamily="18" charset="0"/>
                      </a:rPr>
                      <m:t>𝐬𝐞</m:t>
                    </m:r>
                    <m:d>
                      <m:dPr>
                        <m:ctrlPr>
                          <a:rPr lang="en-US" sz="2400" b="1" i="1" smtClean="0">
                            <a:solidFill>
                              <a:schemeClr val="accent2">
                                <a:lumMod val="75000"/>
                              </a:schemeClr>
                            </a:solidFill>
                            <a:latin typeface="Cambria Math" panose="02040503050406030204" pitchFamily="18" charset="0"/>
                            <a:cs typeface="Times New Roman" panose="02020603050405020304" pitchFamily="18" charset="0"/>
                          </a:rPr>
                        </m:ctrlPr>
                      </m:dPr>
                      <m:e>
                        <m:acc>
                          <m:accPr>
                            <m:chr m:val="̂"/>
                            <m:ctrlPr>
                              <a:rPr lang="en-US" sz="2400" b="1" i="1" smtClean="0">
                                <a:solidFill>
                                  <a:schemeClr val="accent2">
                                    <a:lumMod val="75000"/>
                                  </a:schemeClr>
                                </a:solidFill>
                                <a:latin typeface="Cambria Math" panose="02040503050406030204" pitchFamily="18" charset="0"/>
                                <a:cs typeface="Times New Roman" panose="02020603050405020304" pitchFamily="18" charset="0"/>
                              </a:rPr>
                            </m:ctrlPr>
                          </m:accPr>
                          <m:e>
                            <m:sSub>
                              <m:sSubPr>
                                <m:ctrlPr>
                                  <a:rPr lang="en-US" sz="2400" b="1" i="1" smtClean="0">
                                    <a:solidFill>
                                      <a:schemeClr val="accent2">
                                        <a:lumMod val="75000"/>
                                      </a:schemeClr>
                                    </a:solidFill>
                                    <a:latin typeface="Cambria Math" panose="02040503050406030204" pitchFamily="18" charset="0"/>
                                    <a:cs typeface="Times New Roman" panose="02020603050405020304" pitchFamily="18" charset="0"/>
                                  </a:rPr>
                                </m:ctrlPr>
                              </m:sSubPr>
                              <m:e>
                                <m:r>
                                  <a:rPr lang="en-US" sz="2400" b="1" i="1" smtClean="0">
                                    <a:solidFill>
                                      <a:schemeClr val="accent2">
                                        <a:lumMod val="75000"/>
                                      </a:schemeClr>
                                    </a:solidFill>
                                    <a:latin typeface="Cambria Math" panose="02040503050406030204" pitchFamily="18" charset="0"/>
                                    <a:cs typeface="Times New Roman" panose="02020603050405020304" pitchFamily="18" charset="0"/>
                                  </a:rPr>
                                  <m:t>𝜷</m:t>
                                </m:r>
                              </m:e>
                              <m:sub>
                                <m:r>
                                  <a:rPr lang="en-US" sz="2400" b="1" i="1" smtClean="0">
                                    <a:solidFill>
                                      <a:schemeClr val="accent2">
                                        <a:lumMod val="75000"/>
                                      </a:schemeClr>
                                    </a:solidFill>
                                    <a:latin typeface="Cambria Math" panose="02040503050406030204" pitchFamily="18" charset="0"/>
                                    <a:cs typeface="Times New Roman" panose="02020603050405020304" pitchFamily="18" charset="0"/>
                                  </a:rPr>
                                  <m:t>𝟏</m:t>
                                </m:r>
                              </m:sub>
                            </m:sSub>
                          </m:e>
                        </m:acc>
                      </m:e>
                    </m:d>
                    <m:r>
                      <a:rPr lang="en-US" sz="2400" b="1" i="1" smtClean="0">
                        <a:solidFill>
                          <a:schemeClr val="accent2">
                            <a:lumMod val="75000"/>
                          </a:schemeClr>
                        </a:solidFill>
                        <a:latin typeface="Cambria Math" panose="02040503050406030204" pitchFamily="18" charset="0"/>
                        <a:cs typeface="Times New Roman" panose="02020603050405020304" pitchFamily="18" charset="0"/>
                      </a:rPr>
                      <m:t>≠</m:t>
                    </m:r>
                    <m:rad>
                      <m:radPr>
                        <m:degHide m:val="on"/>
                        <m:ctrlPr>
                          <a:rPr lang="en-US" sz="2400" b="1" i="1" smtClean="0">
                            <a:solidFill>
                              <a:schemeClr val="accent2">
                                <a:lumMod val="75000"/>
                              </a:schemeClr>
                            </a:solidFill>
                            <a:latin typeface="Cambria Math" panose="02040503050406030204" pitchFamily="18" charset="0"/>
                            <a:cs typeface="Times New Roman" panose="02020603050405020304" pitchFamily="18" charset="0"/>
                          </a:rPr>
                        </m:ctrlPr>
                      </m:radPr>
                      <m:deg/>
                      <m:e>
                        <m:f>
                          <m:fPr>
                            <m:ctrlPr>
                              <a:rPr lang="en-US" sz="2400" b="1" i="1" smtClean="0">
                                <a:solidFill>
                                  <a:schemeClr val="accent2">
                                    <a:lumMod val="75000"/>
                                  </a:schemeClr>
                                </a:solidFill>
                                <a:latin typeface="Cambria Math" panose="02040503050406030204" pitchFamily="18" charset="0"/>
                                <a:cs typeface="Times New Roman" panose="02020603050405020304" pitchFamily="18" charset="0"/>
                              </a:rPr>
                            </m:ctrlPr>
                          </m:fPr>
                          <m:num>
                            <m:sSup>
                              <m:sSupPr>
                                <m:ctrlPr>
                                  <a:rPr lang="en-US" sz="2400" b="1" i="1" smtClean="0">
                                    <a:solidFill>
                                      <a:schemeClr val="accent2">
                                        <a:lumMod val="75000"/>
                                      </a:schemeClr>
                                    </a:solidFill>
                                    <a:latin typeface="Cambria Math" panose="02040503050406030204" pitchFamily="18" charset="0"/>
                                    <a:cs typeface="Times New Roman" panose="02020603050405020304" pitchFamily="18" charset="0"/>
                                  </a:rPr>
                                </m:ctrlPr>
                              </m:sSupPr>
                              <m:e>
                                <m:r>
                                  <a:rPr lang="en-US" sz="2400" b="1" i="1" smtClean="0">
                                    <a:solidFill>
                                      <a:schemeClr val="accent2">
                                        <a:lumMod val="75000"/>
                                      </a:schemeClr>
                                    </a:solidFill>
                                    <a:latin typeface="Cambria Math" panose="02040503050406030204" pitchFamily="18" charset="0"/>
                                    <a:cs typeface="Times New Roman" panose="02020603050405020304" pitchFamily="18" charset="0"/>
                                  </a:rPr>
                                  <m:t>𝝈</m:t>
                                </m:r>
                              </m:e>
                              <m:sup>
                                <m:r>
                                  <a:rPr lang="en-US" sz="2400" b="1" i="1" smtClean="0">
                                    <a:solidFill>
                                      <a:schemeClr val="accent2">
                                        <a:lumMod val="75000"/>
                                      </a:schemeClr>
                                    </a:solidFill>
                                    <a:latin typeface="Cambria Math" panose="02040503050406030204" pitchFamily="18" charset="0"/>
                                    <a:cs typeface="Times New Roman" panose="02020603050405020304" pitchFamily="18" charset="0"/>
                                  </a:rPr>
                                  <m:t>𝟐</m:t>
                                </m:r>
                              </m:sup>
                            </m:sSup>
                          </m:num>
                          <m:den>
                            <m:r>
                              <a:rPr lang="en-US" sz="2400" b="1" i="1" smtClean="0">
                                <a:solidFill>
                                  <a:schemeClr val="accent2">
                                    <a:lumMod val="75000"/>
                                  </a:schemeClr>
                                </a:solidFill>
                                <a:latin typeface="Cambria Math" panose="02040503050406030204" pitchFamily="18" charset="0"/>
                                <a:cs typeface="Times New Roman" panose="02020603050405020304" pitchFamily="18" charset="0"/>
                              </a:rPr>
                              <m:t>𝒗𝒂𝒓</m:t>
                            </m:r>
                            <m:d>
                              <m:dPr>
                                <m:ctrlPr>
                                  <a:rPr lang="en-US" sz="2400" b="1" i="1" smtClean="0">
                                    <a:solidFill>
                                      <a:schemeClr val="accent2">
                                        <a:lumMod val="75000"/>
                                      </a:schemeClr>
                                    </a:solidFill>
                                    <a:latin typeface="Cambria Math" panose="02040503050406030204" pitchFamily="18" charset="0"/>
                                    <a:cs typeface="Times New Roman" panose="02020603050405020304" pitchFamily="18" charset="0"/>
                                  </a:rPr>
                                </m:ctrlPr>
                              </m:dPr>
                              <m:e>
                                <m:r>
                                  <a:rPr lang="en-US" sz="2400" b="1" i="1" smtClean="0">
                                    <a:solidFill>
                                      <a:schemeClr val="accent2">
                                        <a:lumMod val="75000"/>
                                      </a:schemeClr>
                                    </a:solidFill>
                                    <a:latin typeface="Cambria Math" panose="02040503050406030204" pitchFamily="18" charset="0"/>
                                    <a:cs typeface="Times New Roman" panose="02020603050405020304" pitchFamily="18" charset="0"/>
                                  </a:rPr>
                                  <m:t>𝒙</m:t>
                                </m:r>
                              </m:e>
                            </m:d>
                            <m:r>
                              <a:rPr lang="en-US" sz="2400" b="1" i="1" smtClean="0">
                                <a:solidFill>
                                  <a:schemeClr val="accent2">
                                    <a:lumMod val="75000"/>
                                  </a:schemeClr>
                                </a:solidFill>
                                <a:latin typeface="Cambria Math" panose="02040503050406030204" pitchFamily="18" charset="0"/>
                                <a:cs typeface="Times New Roman" panose="02020603050405020304" pitchFamily="18" charset="0"/>
                              </a:rPr>
                              <m:t>𝒏</m:t>
                            </m:r>
                          </m:den>
                        </m:f>
                      </m:e>
                    </m:rad>
                  </m:oMath>
                </a14:m>
                <a:r>
                  <a:rPr lang="en-US" sz="2400" b="1" dirty="0">
                    <a:solidFill>
                      <a:schemeClr val="accent2">
                        <a:lumMod val="75000"/>
                      </a:schemeClr>
                    </a:solidFill>
                    <a:cs typeface="Times New Roman" panose="02020603050405020304" pitchFamily="18" charset="0"/>
                  </a:rPr>
                  <a:t> </a:t>
                </a:r>
              </a:p>
              <a:p>
                <a:pPr marL="0" indent="0">
                  <a:buNone/>
                </a:pPr>
                <a:r>
                  <a:rPr lang="en-US" sz="2400" b="1" dirty="0">
                    <a:solidFill>
                      <a:schemeClr val="accent2">
                        <a:lumMod val="75000"/>
                      </a:schemeClr>
                    </a:solidFill>
                    <a:cs typeface="Times New Roman" panose="02020603050405020304" pitchFamily="18" charset="0"/>
                  </a:rPr>
                  <a:t>	</a:t>
                </a:r>
                <a:endParaRPr lang="en-US" sz="2400" b="1" dirty="0">
                  <a:cs typeface="Times New Roman" panose="02020603050405020304" pitchFamily="18" charset="0"/>
                </a:endParaRPr>
              </a:p>
              <a:p>
                <a:endParaRPr lang="en-US" sz="2400" b="1" dirty="0">
                  <a:solidFill>
                    <a:schemeClr val="accent2">
                      <a:lumMod val="75000"/>
                    </a:schemeClr>
                  </a:solidFill>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982201" cy="5141388"/>
              </a:xfrm>
              <a:blipFill>
                <a:blip r:embed="rId2"/>
                <a:stretch>
                  <a:fillRect l="-916" t="-1305"/>
                </a:stretch>
              </a:blipFill>
            </p:spPr>
            <p:txBody>
              <a:bodyPr/>
              <a:lstStyle/>
              <a:p>
                <a:r>
                  <a:rPr lang="en-US">
                    <a:noFill/>
                  </a:rPr>
                  <a:t> </a:t>
                </a:r>
              </a:p>
            </p:txBody>
          </p:sp>
        </mc:Fallback>
      </mc:AlternateContent>
    </p:spTree>
    <p:extLst>
      <p:ext uri="{BB962C8B-B14F-4D97-AF65-F5344CB8AC3E}">
        <p14:creationId xmlns:p14="http://schemas.microsoft.com/office/powerpoint/2010/main" val="414080142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Are my error terms </a:t>
            </a:r>
            <a:r>
              <a:rPr lang="en-US" sz="3600" dirty="0" err="1">
                <a:cs typeface="Times New Roman" panose="02020603050405020304" pitchFamily="18" charset="0"/>
              </a:rPr>
              <a:t>i.i.d.</a:t>
            </a:r>
            <a:r>
              <a:rPr lang="en-US" sz="3600" dirty="0">
                <a:cs typeface="Times New Roman" panose="02020603050405020304" pitchFamily="18" charset="0"/>
              </a:rPr>
              <a:t>?</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982201" cy="5141388"/>
              </a:xfrm>
            </p:spPr>
            <p:txBody>
              <a:bodyPr>
                <a:noAutofit/>
              </a:bodyPr>
              <a:lstStyle/>
              <a:p>
                <a:r>
                  <a:rPr lang="en-US" sz="2400" b="1" dirty="0">
                    <a:cs typeface="Times New Roman" panose="02020603050405020304" pitchFamily="18" charset="0"/>
                  </a:rPr>
                  <a:t>Autocorrelation: </a:t>
                </a:r>
                <a:r>
                  <a:rPr lang="en-US" sz="2400" dirty="0">
                    <a:cs typeface="Times New Roman" panose="02020603050405020304" pitchFamily="18" charset="0"/>
                  </a:rPr>
                  <a:t>Today’s “shock” today is correlated with yesterday’s</a:t>
                </a:r>
              </a:p>
              <a:p>
                <a:pPr lvl="1"/>
                <a:r>
                  <a:rPr lang="en-US" sz="2400" dirty="0">
                    <a:solidFill>
                      <a:schemeClr val="accent3">
                        <a:lumMod val="75000"/>
                      </a:schemeClr>
                    </a:solidFill>
                    <a:cs typeface="Times New Roman" panose="02020603050405020304" pitchFamily="18" charset="0"/>
                  </a:rPr>
                  <a:t>Heteroskedasticity- and autocorrelation-consistent (HAC) standard errors</a:t>
                </a:r>
              </a:p>
              <a:p>
                <a:pPr lvl="1"/>
                <a:r>
                  <a:rPr lang="en-US" sz="2400" dirty="0">
                    <a:solidFill>
                      <a:schemeClr val="accent3">
                        <a:lumMod val="75000"/>
                      </a:schemeClr>
                    </a:solidFill>
                    <a:cs typeface="Times New Roman" panose="02020603050405020304" pitchFamily="18" charset="0"/>
                  </a:rPr>
                  <a:t>Newey-West estimator, adjusts </a:t>
                </a:r>
                <a14:m>
                  <m:oMath xmlns:m="http://schemas.openxmlformats.org/officeDocument/2006/math">
                    <m:r>
                      <a:rPr lang="en-US" sz="2400" b="0" i="1" smtClean="0">
                        <a:solidFill>
                          <a:schemeClr val="accent3">
                            <a:lumMod val="75000"/>
                          </a:schemeClr>
                        </a:solidFill>
                        <a:latin typeface="Cambria Math" panose="02040503050406030204" pitchFamily="18" charset="0"/>
                        <a:cs typeface="Times New Roman" panose="02020603050405020304" pitchFamily="18" charset="0"/>
                      </a:rPr>
                      <m:t>𝑠𝑒</m:t>
                    </m:r>
                    <m:r>
                      <a:rPr lang="en-US" sz="2400" b="0" i="1" smtClean="0">
                        <a:solidFill>
                          <a:schemeClr val="accent3">
                            <a:lumMod val="75000"/>
                          </a:schemeClr>
                        </a:solidFill>
                        <a:latin typeface="Cambria Math" panose="02040503050406030204" pitchFamily="18" charset="0"/>
                        <a:cs typeface="Times New Roman" panose="02020603050405020304" pitchFamily="18" charset="0"/>
                      </a:rPr>
                      <m:t>(</m:t>
                    </m:r>
                    <m:acc>
                      <m:accPr>
                        <m:chr m:val="̂"/>
                        <m:ctrlPr>
                          <a:rPr lang="en-US" sz="2400" b="0" i="1" smtClean="0">
                            <a:solidFill>
                              <a:schemeClr val="accent3">
                                <a:lumMod val="75000"/>
                              </a:schemeClr>
                            </a:solidFill>
                            <a:latin typeface="Cambria Math" panose="02040503050406030204" pitchFamily="18" charset="0"/>
                            <a:cs typeface="Times New Roman" panose="02020603050405020304" pitchFamily="18" charset="0"/>
                          </a:rPr>
                        </m:ctrlPr>
                      </m:accPr>
                      <m:e>
                        <m:sSub>
                          <m:sSubPr>
                            <m:ctrlPr>
                              <a:rPr lang="en-US" sz="2400" b="0" i="1" smtClean="0">
                                <a:solidFill>
                                  <a:schemeClr val="accent3">
                                    <a:lumMod val="75000"/>
                                  </a:schemeClr>
                                </a:solidFill>
                                <a:latin typeface="Cambria Math" panose="02040503050406030204" pitchFamily="18" charset="0"/>
                                <a:cs typeface="Times New Roman" panose="02020603050405020304" pitchFamily="18" charset="0"/>
                              </a:rPr>
                            </m:ctrlPr>
                          </m:sSubPr>
                          <m:e>
                            <m:r>
                              <a:rPr lang="en-US" sz="2400" b="0" i="1" smtClean="0">
                                <a:solidFill>
                                  <a:schemeClr val="accent3">
                                    <a:lumMod val="75000"/>
                                  </a:schemeClr>
                                </a:solidFill>
                                <a:latin typeface="Cambria Math" panose="02040503050406030204" pitchFamily="18" charset="0"/>
                                <a:cs typeface="Times New Roman" panose="02020603050405020304" pitchFamily="18" charset="0"/>
                              </a:rPr>
                              <m:t>𝛽</m:t>
                            </m:r>
                          </m:e>
                          <m:sub>
                            <m:r>
                              <a:rPr lang="en-US" sz="2400" b="0" i="1" smtClean="0">
                                <a:solidFill>
                                  <a:schemeClr val="accent3">
                                    <a:lumMod val="75000"/>
                                  </a:schemeClr>
                                </a:solidFill>
                                <a:latin typeface="Cambria Math" panose="02040503050406030204" pitchFamily="18" charset="0"/>
                                <a:cs typeface="Times New Roman" panose="02020603050405020304" pitchFamily="18" charset="0"/>
                              </a:rPr>
                              <m:t>1</m:t>
                            </m:r>
                          </m:sub>
                        </m:sSub>
                      </m:e>
                    </m:acc>
                    <m:r>
                      <a:rPr lang="en-US" sz="2400" b="0" i="1" smtClean="0">
                        <a:solidFill>
                          <a:schemeClr val="accent3">
                            <a:lumMod val="75000"/>
                          </a:schemeClr>
                        </a:solidFill>
                        <a:latin typeface="Cambria Math" panose="02040503050406030204" pitchFamily="18" charset="0"/>
                        <a:cs typeface="Times New Roman" panose="02020603050405020304" pitchFamily="18" charset="0"/>
                      </a:rPr>
                      <m:t>)</m:t>
                    </m:r>
                  </m:oMath>
                </a14:m>
                <a:r>
                  <a:rPr lang="en-US" sz="2400" dirty="0">
                    <a:solidFill>
                      <a:schemeClr val="accent3">
                        <a:lumMod val="75000"/>
                      </a:schemeClr>
                    </a:solidFill>
                    <a:cs typeface="Times New Roman" panose="02020603050405020304" pitchFamily="18" charset="0"/>
                  </a:rPr>
                  <a:t> based on lagged variable outcomes</a:t>
                </a:r>
              </a:p>
              <a:p>
                <a:r>
                  <a:rPr lang="en-US" sz="2400" b="1" dirty="0">
                    <a:cs typeface="Times New Roman" panose="02020603050405020304" pitchFamily="18" charset="0"/>
                  </a:rPr>
                  <a:t>Heteroskedasticity: </a:t>
                </a:r>
                <a:r>
                  <a:rPr lang="en-US" sz="2400" dirty="0">
                    <a:cs typeface="Times New Roman" panose="02020603050405020304" pitchFamily="18" charset="0"/>
                  </a:rPr>
                  <a:t>Variance of distribution depends on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𝑥</m:t>
                    </m:r>
                  </m:oMath>
                </a14:m>
                <a:endParaRPr lang="en-US" sz="2400" dirty="0">
                  <a:cs typeface="Times New Roman" panose="02020603050405020304" pitchFamily="18" charset="0"/>
                </a:endParaRPr>
              </a:p>
              <a:p>
                <a:pPr lvl="1"/>
                <a:r>
                  <a:rPr lang="en-US" sz="2400" dirty="0">
                    <a:solidFill>
                      <a:schemeClr val="accent3">
                        <a:lumMod val="75000"/>
                      </a:schemeClr>
                    </a:solidFill>
                    <a:cs typeface="Times New Roman" panose="02020603050405020304" pitchFamily="18" charset="0"/>
                  </a:rPr>
                  <a:t>Heteroskedasticity-robust sandwich estimators</a:t>
                </a:r>
              </a:p>
              <a:p>
                <a:pPr lvl="1"/>
                <a:r>
                  <a:rPr lang="en-US" sz="2400" dirty="0">
                    <a:solidFill>
                      <a:schemeClr val="accent3">
                        <a:lumMod val="75000"/>
                      </a:schemeClr>
                    </a:solidFill>
                    <a:cs typeface="Times New Roman" panose="02020603050405020304" pitchFamily="18" charset="0"/>
                  </a:rPr>
                  <a:t>Huber-White estimator, adjusts </a:t>
                </a:r>
                <a14:m>
                  <m:oMath xmlns:m="http://schemas.openxmlformats.org/officeDocument/2006/math">
                    <m:r>
                      <a:rPr lang="en-US" sz="2400" b="0" i="1" smtClean="0">
                        <a:solidFill>
                          <a:schemeClr val="accent3">
                            <a:lumMod val="75000"/>
                          </a:schemeClr>
                        </a:solidFill>
                        <a:latin typeface="Cambria Math" panose="02040503050406030204" pitchFamily="18" charset="0"/>
                        <a:cs typeface="Times New Roman" panose="02020603050405020304" pitchFamily="18" charset="0"/>
                      </a:rPr>
                      <m:t>𝑠𝑒</m:t>
                    </m:r>
                    <m:r>
                      <a:rPr lang="en-US" sz="2400" b="0" i="1" smtClean="0">
                        <a:solidFill>
                          <a:schemeClr val="accent3">
                            <a:lumMod val="75000"/>
                          </a:schemeClr>
                        </a:solidFill>
                        <a:latin typeface="Cambria Math" panose="02040503050406030204" pitchFamily="18" charset="0"/>
                        <a:cs typeface="Times New Roman" panose="02020603050405020304" pitchFamily="18" charset="0"/>
                      </a:rPr>
                      <m:t>(</m:t>
                    </m:r>
                    <m:acc>
                      <m:accPr>
                        <m:chr m:val="̂"/>
                        <m:ctrlPr>
                          <a:rPr lang="en-US" sz="2400" b="0" i="1" smtClean="0">
                            <a:solidFill>
                              <a:schemeClr val="accent3">
                                <a:lumMod val="75000"/>
                              </a:schemeClr>
                            </a:solidFill>
                            <a:latin typeface="Cambria Math" panose="02040503050406030204" pitchFamily="18" charset="0"/>
                            <a:cs typeface="Times New Roman" panose="02020603050405020304" pitchFamily="18" charset="0"/>
                          </a:rPr>
                        </m:ctrlPr>
                      </m:accPr>
                      <m:e>
                        <m:sSub>
                          <m:sSubPr>
                            <m:ctrlPr>
                              <a:rPr lang="en-US" sz="2400" b="0" i="1" smtClean="0">
                                <a:solidFill>
                                  <a:schemeClr val="accent3">
                                    <a:lumMod val="75000"/>
                                  </a:schemeClr>
                                </a:solidFill>
                                <a:latin typeface="Cambria Math" panose="02040503050406030204" pitchFamily="18" charset="0"/>
                                <a:cs typeface="Times New Roman" panose="02020603050405020304" pitchFamily="18" charset="0"/>
                              </a:rPr>
                            </m:ctrlPr>
                          </m:sSubPr>
                          <m:e>
                            <m:r>
                              <a:rPr lang="en-US" sz="2400" b="0" i="1" smtClean="0">
                                <a:solidFill>
                                  <a:schemeClr val="accent3">
                                    <a:lumMod val="75000"/>
                                  </a:schemeClr>
                                </a:solidFill>
                                <a:latin typeface="Cambria Math" panose="02040503050406030204" pitchFamily="18" charset="0"/>
                                <a:cs typeface="Times New Roman" panose="02020603050405020304" pitchFamily="18" charset="0"/>
                              </a:rPr>
                              <m:t>𝛽</m:t>
                            </m:r>
                          </m:e>
                          <m:sub>
                            <m:r>
                              <a:rPr lang="en-US" sz="2400" b="0" i="1" smtClean="0">
                                <a:solidFill>
                                  <a:schemeClr val="accent3">
                                    <a:lumMod val="75000"/>
                                  </a:schemeClr>
                                </a:solidFill>
                                <a:latin typeface="Cambria Math" panose="02040503050406030204" pitchFamily="18" charset="0"/>
                                <a:cs typeface="Times New Roman" panose="02020603050405020304" pitchFamily="18" charset="0"/>
                              </a:rPr>
                              <m:t>1</m:t>
                            </m:r>
                          </m:sub>
                        </m:sSub>
                      </m:e>
                    </m:acc>
                    <m:r>
                      <a:rPr lang="en-US" sz="2400" b="0" i="1" smtClean="0">
                        <a:solidFill>
                          <a:schemeClr val="accent3">
                            <a:lumMod val="75000"/>
                          </a:schemeClr>
                        </a:solidFill>
                        <a:latin typeface="Cambria Math" panose="02040503050406030204" pitchFamily="18" charset="0"/>
                        <a:cs typeface="Times New Roman" panose="02020603050405020304" pitchFamily="18" charset="0"/>
                      </a:rPr>
                      <m:t>)</m:t>
                    </m:r>
                  </m:oMath>
                </a14:m>
                <a:r>
                  <a:rPr lang="en-US" sz="2400" dirty="0">
                    <a:solidFill>
                      <a:schemeClr val="accent3">
                        <a:lumMod val="75000"/>
                      </a:schemeClr>
                    </a:solidFill>
                    <a:cs typeface="Times New Roman" panose="02020603050405020304" pitchFamily="18" charset="0"/>
                  </a:rPr>
                  <a:t> with weights for observations with large residuals </a:t>
                </a:r>
              </a:p>
              <a:p>
                <a:r>
                  <a:rPr lang="en-US" sz="2400" b="1" dirty="0">
                    <a:cs typeface="Times New Roman" panose="02020603050405020304" pitchFamily="18" charset="0"/>
                  </a:rPr>
                  <a:t>Others: </a:t>
                </a:r>
                <a:r>
                  <a:rPr lang="en-US" sz="2400" dirty="0">
                    <a:cs typeface="Times New Roman" panose="02020603050405020304" pitchFamily="18" charset="0"/>
                  </a:rPr>
                  <a:t>Correlation within groups, multiple testing, sampling errors</a:t>
                </a:r>
              </a:p>
              <a:p>
                <a:pPr lvl="1"/>
                <a:r>
                  <a:rPr lang="en-US" sz="2400" dirty="0">
                    <a:solidFill>
                      <a:schemeClr val="accent3">
                        <a:lumMod val="75000"/>
                      </a:schemeClr>
                    </a:solidFill>
                    <a:cs typeface="Times New Roman" panose="02020603050405020304" pitchFamily="18" charset="0"/>
                  </a:rPr>
                  <a:t>Clustered standard errors</a:t>
                </a:r>
              </a:p>
              <a:p>
                <a:pPr lvl="1"/>
                <a:r>
                  <a:rPr lang="en-US" sz="2400" dirty="0">
                    <a:solidFill>
                      <a:schemeClr val="accent3">
                        <a:lumMod val="75000"/>
                      </a:schemeClr>
                    </a:solidFill>
                    <a:cs typeface="Times New Roman" panose="02020603050405020304" pitchFamily="18" charset="0"/>
                  </a:rPr>
                  <a:t>Bootstrapped standard errors</a:t>
                </a:r>
              </a:p>
              <a:p>
                <a:pPr marL="0" indent="0">
                  <a:buNone/>
                </a:pPr>
                <a:r>
                  <a:rPr lang="en-US" sz="2400" b="1" dirty="0">
                    <a:solidFill>
                      <a:schemeClr val="accent2">
                        <a:lumMod val="75000"/>
                      </a:schemeClr>
                    </a:solidFill>
                    <a:cs typeface="Times New Roman" panose="02020603050405020304" pitchFamily="18" charset="0"/>
                  </a:rPr>
                  <a:t>Failure of </a:t>
                </a:r>
                <a14:m>
                  <m:oMath xmlns:m="http://schemas.openxmlformats.org/officeDocument/2006/math">
                    <m:r>
                      <a:rPr lang="en-US" sz="2400" b="1" i="1" smtClean="0">
                        <a:solidFill>
                          <a:schemeClr val="accent2">
                            <a:lumMod val="75000"/>
                          </a:schemeClr>
                        </a:solidFill>
                        <a:latin typeface="Cambria Math" panose="02040503050406030204" pitchFamily="18" charset="0"/>
                        <a:cs typeface="Times New Roman" panose="02020603050405020304" pitchFamily="18" charset="0"/>
                      </a:rPr>
                      <m:t>𝜺</m:t>
                    </m:r>
                  </m:oMath>
                </a14:m>
                <a:r>
                  <a:rPr lang="en-US" sz="2400" b="1" dirty="0">
                    <a:solidFill>
                      <a:schemeClr val="accent2">
                        <a:lumMod val="75000"/>
                      </a:schemeClr>
                    </a:solidFill>
                    <a:cs typeface="Times New Roman" panose="02020603050405020304" pitchFamily="18" charset="0"/>
                  </a:rPr>
                  <a:t> to be </a:t>
                </a:r>
                <a:r>
                  <a:rPr lang="en-US" sz="2400" b="1" dirty="0" err="1">
                    <a:solidFill>
                      <a:schemeClr val="accent2">
                        <a:lumMod val="75000"/>
                      </a:schemeClr>
                    </a:solidFill>
                    <a:cs typeface="Times New Roman" panose="02020603050405020304" pitchFamily="18" charset="0"/>
                  </a:rPr>
                  <a:t>i.i.d.</a:t>
                </a:r>
                <a:r>
                  <a:rPr lang="en-US" sz="2400" b="1" dirty="0">
                    <a:solidFill>
                      <a:schemeClr val="accent2">
                        <a:lumMod val="75000"/>
                      </a:schemeClr>
                    </a:solidFill>
                    <a:cs typeface="Times New Roman" panose="02020603050405020304" pitchFamily="18" charset="0"/>
                  </a:rPr>
                  <a:t> means that </a:t>
                </a:r>
                <a14:m>
                  <m:oMath xmlns:m="http://schemas.openxmlformats.org/officeDocument/2006/math">
                    <m:r>
                      <a:rPr lang="en-US" sz="2400" b="1" i="0" smtClean="0">
                        <a:solidFill>
                          <a:schemeClr val="accent2">
                            <a:lumMod val="75000"/>
                          </a:schemeClr>
                        </a:solidFill>
                        <a:latin typeface="Cambria Math" panose="02040503050406030204" pitchFamily="18" charset="0"/>
                        <a:cs typeface="Times New Roman" panose="02020603050405020304" pitchFamily="18" charset="0"/>
                      </a:rPr>
                      <m:t>𝐬𝐞</m:t>
                    </m:r>
                    <m:d>
                      <m:dPr>
                        <m:ctrlPr>
                          <a:rPr lang="en-US" sz="2400" b="1" i="1" smtClean="0">
                            <a:solidFill>
                              <a:schemeClr val="accent2">
                                <a:lumMod val="75000"/>
                              </a:schemeClr>
                            </a:solidFill>
                            <a:latin typeface="Cambria Math" panose="02040503050406030204" pitchFamily="18" charset="0"/>
                            <a:cs typeface="Times New Roman" panose="02020603050405020304" pitchFamily="18" charset="0"/>
                          </a:rPr>
                        </m:ctrlPr>
                      </m:dPr>
                      <m:e>
                        <m:acc>
                          <m:accPr>
                            <m:chr m:val="̂"/>
                            <m:ctrlPr>
                              <a:rPr lang="en-US" sz="2400" b="1" i="1" smtClean="0">
                                <a:solidFill>
                                  <a:schemeClr val="accent2">
                                    <a:lumMod val="75000"/>
                                  </a:schemeClr>
                                </a:solidFill>
                                <a:latin typeface="Cambria Math" panose="02040503050406030204" pitchFamily="18" charset="0"/>
                                <a:cs typeface="Times New Roman" panose="02020603050405020304" pitchFamily="18" charset="0"/>
                              </a:rPr>
                            </m:ctrlPr>
                          </m:accPr>
                          <m:e>
                            <m:sSub>
                              <m:sSubPr>
                                <m:ctrlPr>
                                  <a:rPr lang="en-US" sz="2400" b="1" i="1" smtClean="0">
                                    <a:solidFill>
                                      <a:schemeClr val="accent2">
                                        <a:lumMod val="75000"/>
                                      </a:schemeClr>
                                    </a:solidFill>
                                    <a:latin typeface="Cambria Math" panose="02040503050406030204" pitchFamily="18" charset="0"/>
                                    <a:cs typeface="Times New Roman" panose="02020603050405020304" pitchFamily="18" charset="0"/>
                                  </a:rPr>
                                </m:ctrlPr>
                              </m:sSubPr>
                              <m:e>
                                <m:r>
                                  <a:rPr lang="en-US" sz="2400" b="1" i="1" smtClean="0">
                                    <a:solidFill>
                                      <a:schemeClr val="accent2">
                                        <a:lumMod val="75000"/>
                                      </a:schemeClr>
                                    </a:solidFill>
                                    <a:latin typeface="Cambria Math" panose="02040503050406030204" pitchFamily="18" charset="0"/>
                                    <a:cs typeface="Times New Roman" panose="02020603050405020304" pitchFamily="18" charset="0"/>
                                  </a:rPr>
                                  <m:t>𝜷</m:t>
                                </m:r>
                              </m:e>
                              <m:sub>
                                <m:r>
                                  <a:rPr lang="en-US" sz="2400" b="1" i="1" smtClean="0">
                                    <a:solidFill>
                                      <a:schemeClr val="accent2">
                                        <a:lumMod val="75000"/>
                                      </a:schemeClr>
                                    </a:solidFill>
                                    <a:latin typeface="Cambria Math" panose="02040503050406030204" pitchFamily="18" charset="0"/>
                                    <a:cs typeface="Times New Roman" panose="02020603050405020304" pitchFamily="18" charset="0"/>
                                  </a:rPr>
                                  <m:t>𝟏</m:t>
                                </m:r>
                              </m:sub>
                            </m:sSub>
                          </m:e>
                        </m:acc>
                      </m:e>
                    </m:d>
                    <m:r>
                      <a:rPr lang="en-US" sz="2400" b="1" i="1" smtClean="0">
                        <a:solidFill>
                          <a:schemeClr val="accent2">
                            <a:lumMod val="75000"/>
                          </a:schemeClr>
                        </a:solidFill>
                        <a:latin typeface="Cambria Math" panose="02040503050406030204" pitchFamily="18" charset="0"/>
                        <a:cs typeface="Times New Roman" panose="02020603050405020304" pitchFamily="18" charset="0"/>
                      </a:rPr>
                      <m:t>≠</m:t>
                    </m:r>
                    <m:rad>
                      <m:radPr>
                        <m:degHide m:val="on"/>
                        <m:ctrlPr>
                          <a:rPr lang="en-US" sz="2400" b="1" i="1" smtClean="0">
                            <a:solidFill>
                              <a:schemeClr val="accent2">
                                <a:lumMod val="75000"/>
                              </a:schemeClr>
                            </a:solidFill>
                            <a:latin typeface="Cambria Math" panose="02040503050406030204" pitchFamily="18" charset="0"/>
                            <a:cs typeface="Times New Roman" panose="02020603050405020304" pitchFamily="18" charset="0"/>
                          </a:rPr>
                        </m:ctrlPr>
                      </m:radPr>
                      <m:deg/>
                      <m:e>
                        <m:f>
                          <m:fPr>
                            <m:ctrlPr>
                              <a:rPr lang="en-US" sz="2400" b="1" i="1" smtClean="0">
                                <a:solidFill>
                                  <a:schemeClr val="accent2">
                                    <a:lumMod val="75000"/>
                                  </a:schemeClr>
                                </a:solidFill>
                                <a:latin typeface="Cambria Math" panose="02040503050406030204" pitchFamily="18" charset="0"/>
                                <a:cs typeface="Times New Roman" panose="02020603050405020304" pitchFamily="18" charset="0"/>
                              </a:rPr>
                            </m:ctrlPr>
                          </m:fPr>
                          <m:num>
                            <m:sSup>
                              <m:sSupPr>
                                <m:ctrlPr>
                                  <a:rPr lang="en-US" sz="2400" b="1" i="1" smtClean="0">
                                    <a:solidFill>
                                      <a:schemeClr val="accent2">
                                        <a:lumMod val="75000"/>
                                      </a:schemeClr>
                                    </a:solidFill>
                                    <a:latin typeface="Cambria Math" panose="02040503050406030204" pitchFamily="18" charset="0"/>
                                    <a:cs typeface="Times New Roman" panose="02020603050405020304" pitchFamily="18" charset="0"/>
                                  </a:rPr>
                                </m:ctrlPr>
                              </m:sSupPr>
                              <m:e>
                                <m:r>
                                  <a:rPr lang="en-US" sz="2400" b="1" i="1" smtClean="0">
                                    <a:solidFill>
                                      <a:schemeClr val="accent2">
                                        <a:lumMod val="75000"/>
                                      </a:schemeClr>
                                    </a:solidFill>
                                    <a:latin typeface="Cambria Math" panose="02040503050406030204" pitchFamily="18" charset="0"/>
                                    <a:cs typeface="Times New Roman" panose="02020603050405020304" pitchFamily="18" charset="0"/>
                                  </a:rPr>
                                  <m:t>𝝈</m:t>
                                </m:r>
                              </m:e>
                              <m:sup>
                                <m:r>
                                  <a:rPr lang="en-US" sz="2400" b="1" i="1" smtClean="0">
                                    <a:solidFill>
                                      <a:schemeClr val="accent2">
                                        <a:lumMod val="75000"/>
                                      </a:schemeClr>
                                    </a:solidFill>
                                    <a:latin typeface="Cambria Math" panose="02040503050406030204" pitchFamily="18" charset="0"/>
                                    <a:cs typeface="Times New Roman" panose="02020603050405020304" pitchFamily="18" charset="0"/>
                                  </a:rPr>
                                  <m:t>𝟐</m:t>
                                </m:r>
                              </m:sup>
                            </m:sSup>
                          </m:num>
                          <m:den>
                            <m:r>
                              <a:rPr lang="en-US" sz="2400" b="1" i="1" smtClean="0">
                                <a:solidFill>
                                  <a:schemeClr val="accent2">
                                    <a:lumMod val="75000"/>
                                  </a:schemeClr>
                                </a:solidFill>
                                <a:latin typeface="Cambria Math" panose="02040503050406030204" pitchFamily="18" charset="0"/>
                                <a:cs typeface="Times New Roman" panose="02020603050405020304" pitchFamily="18" charset="0"/>
                              </a:rPr>
                              <m:t>𝒗𝒂𝒓</m:t>
                            </m:r>
                            <m:d>
                              <m:dPr>
                                <m:ctrlPr>
                                  <a:rPr lang="en-US" sz="2400" b="1" i="1" smtClean="0">
                                    <a:solidFill>
                                      <a:schemeClr val="accent2">
                                        <a:lumMod val="75000"/>
                                      </a:schemeClr>
                                    </a:solidFill>
                                    <a:latin typeface="Cambria Math" panose="02040503050406030204" pitchFamily="18" charset="0"/>
                                    <a:cs typeface="Times New Roman" panose="02020603050405020304" pitchFamily="18" charset="0"/>
                                  </a:rPr>
                                </m:ctrlPr>
                              </m:dPr>
                              <m:e>
                                <m:r>
                                  <a:rPr lang="en-US" sz="2400" b="1" i="1" smtClean="0">
                                    <a:solidFill>
                                      <a:schemeClr val="accent2">
                                        <a:lumMod val="75000"/>
                                      </a:schemeClr>
                                    </a:solidFill>
                                    <a:latin typeface="Cambria Math" panose="02040503050406030204" pitchFamily="18" charset="0"/>
                                    <a:cs typeface="Times New Roman" panose="02020603050405020304" pitchFamily="18" charset="0"/>
                                  </a:rPr>
                                  <m:t>𝒙</m:t>
                                </m:r>
                              </m:e>
                            </m:d>
                            <m:r>
                              <a:rPr lang="en-US" sz="2400" b="1" i="1" smtClean="0">
                                <a:solidFill>
                                  <a:schemeClr val="accent2">
                                    <a:lumMod val="75000"/>
                                  </a:schemeClr>
                                </a:solidFill>
                                <a:latin typeface="Cambria Math" panose="02040503050406030204" pitchFamily="18" charset="0"/>
                                <a:cs typeface="Times New Roman" panose="02020603050405020304" pitchFamily="18" charset="0"/>
                              </a:rPr>
                              <m:t>𝒏</m:t>
                            </m:r>
                          </m:den>
                        </m:f>
                      </m:e>
                    </m:rad>
                  </m:oMath>
                </a14:m>
                <a:r>
                  <a:rPr lang="en-US" sz="2400" b="1" dirty="0">
                    <a:solidFill>
                      <a:schemeClr val="accent2">
                        <a:lumMod val="75000"/>
                      </a:schemeClr>
                    </a:solidFill>
                    <a:cs typeface="Times New Roman" panose="02020603050405020304" pitchFamily="18" charset="0"/>
                  </a:rPr>
                  <a:t> </a:t>
                </a:r>
              </a:p>
              <a:p>
                <a:pPr marL="0" indent="0">
                  <a:buNone/>
                </a:pPr>
                <a:r>
                  <a:rPr lang="en-US" sz="2400" b="1" dirty="0">
                    <a:solidFill>
                      <a:schemeClr val="accent2">
                        <a:lumMod val="75000"/>
                      </a:schemeClr>
                    </a:solidFill>
                    <a:cs typeface="Times New Roman" panose="02020603050405020304" pitchFamily="18" charset="0"/>
                  </a:rPr>
                  <a:t>	</a:t>
                </a:r>
                <a:endParaRPr lang="en-US" sz="2400" b="1" dirty="0">
                  <a:cs typeface="Times New Roman" panose="02020603050405020304" pitchFamily="18" charset="0"/>
                </a:endParaRPr>
              </a:p>
              <a:p>
                <a:endParaRPr lang="en-US" sz="2400" b="1" dirty="0">
                  <a:solidFill>
                    <a:schemeClr val="accent2">
                      <a:lumMod val="75000"/>
                    </a:schemeClr>
                  </a:solidFill>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982201" cy="5141388"/>
              </a:xfrm>
              <a:blipFill>
                <a:blip r:embed="rId3"/>
                <a:stretch>
                  <a:fillRect l="-916" t="-1305" b="-1898"/>
                </a:stretch>
              </a:blipFill>
            </p:spPr>
            <p:txBody>
              <a:bodyPr/>
              <a:lstStyle/>
              <a:p>
                <a:r>
                  <a:rPr lang="en-US">
                    <a:noFill/>
                  </a:rPr>
                  <a:t> </a:t>
                </a:r>
              </a:p>
            </p:txBody>
          </p:sp>
        </mc:Fallback>
      </mc:AlternateContent>
      <p:pic>
        <p:nvPicPr>
          <p:cNvPr id="4" name="Picture 2" descr="RStudio - RStudio">
            <a:extLst>
              <a:ext uri="{FF2B5EF4-FFF2-40B4-BE49-F238E27FC236}">
                <a16:creationId xmlns:a16="http://schemas.microsoft.com/office/drawing/2014/main" id="{D2830C43-7212-AA86-1A84-520DDACAF32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527629" y="49530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4114249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Clustered Standard Errors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85802" y="1066800"/>
            <a:ext cx="10439400" cy="5141388"/>
          </a:xfrm>
        </p:spPr>
        <p:txBody>
          <a:bodyPr>
            <a:noAutofit/>
          </a:bodyPr>
          <a:lstStyle/>
          <a:p>
            <a:r>
              <a:rPr lang="en-US" sz="2400" dirty="0">
                <a:cs typeface="Times New Roman" panose="02020603050405020304" pitchFamily="18" charset="0"/>
              </a:rPr>
              <a:t>Errors might be correlated in a </a:t>
            </a:r>
            <a:r>
              <a:rPr lang="en-US" sz="2400" b="1" dirty="0">
                <a:solidFill>
                  <a:schemeClr val="accent2">
                    <a:lumMod val="75000"/>
                  </a:schemeClr>
                </a:solidFill>
                <a:cs typeface="Times New Roman" panose="02020603050405020304" pitchFamily="18" charset="0"/>
              </a:rPr>
              <a:t>hierarchical structure</a:t>
            </a:r>
          </a:p>
          <a:p>
            <a:pPr lvl="1"/>
            <a:r>
              <a:rPr lang="en-US" sz="2400" dirty="0">
                <a:solidFill>
                  <a:schemeClr val="tx1"/>
                </a:solidFill>
                <a:cs typeface="Times New Roman" panose="02020603050405020304" pitchFamily="18" charset="0"/>
              </a:rPr>
              <a:t>Example: effect of a health intervention across villages in rural area?</a:t>
            </a:r>
          </a:p>
          <a:p>
            <a:pPr lvl="1"/>
            <a:r>
              <a:rPr lang="en-US" sz="2400" dirty="0">
                <a:solidFill>
                  <a:schemeClr val="tx1"/>
                </a:solidFill>
                <a:cs typeface="Times New Roman" panose="02020603050405020304" pitchFamily="18" charset="0"/>
              </a:rPr>
              <a:t>Different village structures mean people in same village have similar “shocks”</a:t>
            </a:r>
          </a:p>
          <a:p>
            <a:pPr lvl="1"/>
            <a:r>
              <a:rPr lang="en-US" sz="2400" dirty="0">
                <a:solidFill>
                  <a:schemeClr val="tx1"/>
                </a:solidFill>
                <a:cs typeface="Times New Roman" panose="02020603050405020304" pitchFamily="18" charset="0"/>
              </a:rPr>
              <a:t>Errors might be correlated within villages</a:t>
            </a:r>
          </a:p>
          <a:p>
            <a:pPr marL="0" indent="0">
              <a:buNone/>
            </a:pPr>
            <a:endParaRPr lang="en-US" sz="2400" dirty="0">
              <a:cs typeface="Times New Roman" panose="02020603050405020304" pitchFamily="18" charset="0"/>
            </a:endParaRPr>
          </a:p>
        </p:txBody>
      </p:sp>
    </p:spTree>
    <p:extLst>
      <p:ext uri="{BB962C8B-B14F-4D97-AF65-F5344CB8AC3E}">
        <p14:creationId xmlns:p14="http://schemas.microsoft.com/office/powerpoint/2010/main" val="324283507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Clustered Standard Errors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2" y="1066800"/>
                <a:ext cx="10515598" cy="5141388"/>
              </a:xfrm>
            </p:spPr>
            <p:txBody>
              <a:bodyPr>
                <a:noAutofit/>
              </a:bodyPr>
              <a:lstStyle/>
              <a:p>
                <a:r>
                  <a:rPr lang="en-US" sz="2400" dirty="0">
                    <a:cs typeface="Times New Roman" panose="02020603050405020304" pitchFamily="18" charset="0"/>
                  </a:rPr>
                  <a:t>Errors might be correlated in a </a:t>
                </a:r>
                <a:r>
                  <a:rPr lang="en-US" sz="2400" b="1" dirty="0">
                    <a:solidFill>
                      <a:schemeClr val="accent2">
                        <a:lumMod val="75000"/>
                      </a:schemeClr>
                    </a:solidFill>
                    <a:cs typeface="Times New Roman" panose="02020603050405020304" pitchFamily="18" charset="0"/>
                  </a:rPr>
                  <a:t>hierarchical structure</a:t>
                </a:r>
              </a:p>
              <a:p>
                <a:pPr lvl="1"/>
                <a:r>
                  <a:rPr lang="en-US" sz="2400" dirty="0">
                    <a:solidFill>
                      <a:schemeClr val="tx1"/>
                    </a:solidFill>
                    <a:cs typeface="Times New Roman" panose="02020603050405020304" pitchFamily="18" charset="0"/>
                  </a:rPr>
                  <a:t>Example: effect of a health intervention across villages in rural area?</a:t>
                </a:r>
              </a:p>
              <a:p>
                <a:pPr lvl="1"/>
                <a:r>
                  <a:rPr lang="en-US" sz="2400" dirty="0">
                    <a:solidFill>
                      <a:schemeClr val="tx1"/>
                    </a:solidFill>
                    <a:cs typeface="Times New Roman" panose="02020603050405020304" pitchFamily="18" charset="0"/>
                  </a:rPr>
                  <a:t>Different village structures mean people in same village have similar “shocks”</a:t>
                </a:r>
              </a:p>
              <a:p>
                <a:pPr lvl="1"/>
                <a:r>
                  <a:rPr lang="en-US" sz="2400" dirty="0">
                    <a:solidFill>
                      <a:schemeClr val="tx1"/>
                    </a:solidFill>
                    <a:cs typeface="Times New Roman" panose="02020603050405020304" pitchFamily="18" charset="0"/>
                  </a:rPr>
                  <a:t>Errors might be correlated within villages</a:t>
                </a:r>
              </a:p>
              <a:p>
                <a:r>
                  <a:rPr lang="en-US" sz="2400" dirty="0">
                    <a:cs typeface="Times New Roman" panose="02020603050405020304" pitchFamily="18" charset="0"/>
                  </a:rPr>
                  <a:t>There is a </a:t>
                </a:r>
                <a:r>
                  <a:rPr lang="en-US" sz="2400" b="1" dirty="0">
                    <a:solidFill>
                      <a:schemeClr val="accent2">
                        <a:lumMod val="75000"/>
                      </a:schemeClr>
                    </a:solidFill>
                    <a:cs typeface="Times New Roman" panose="02020603050405020304" pitchFamily="18" charset="0"/>
                  </a:rPr>
                  <a:t>sandwich estimator </a:t>
                </a:r>
                <a:r>
                  <a:rPr lang="en-US" sz="2400" dirty="0">
                    <a:cs typeface="Times New Roman" panose="02020603050405020304" pitchFamily="18" charset="0"/>
                  </a:rPr>
                  <a:t>that lets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dirty="0">
                    <a:solidFill>
                      <a:schemeClr val="tx1"/>
                    </a:solidFill>
                    <a:cs typeface="Times New Roman" panose="02020603050405020304" pitchFamily="18" charset="0"/>
                  </a:rPr>
                  <a:t> interact w/ other </a:t>
                </a:r>
                <a14:m>
                  <m:oMath xmlns:m="http://schemas.openxmlformats.org/officeDocument/2006/math">
                    <m:r>
                      <a:rPr lang="en-US" sz="2400" b="0" i="1" smtClean="0">
                        <a:solidFill>
                          <a:schemeClr val="tx1"/>
                        </a:solidFill>
                        <a:latin typeface="Cambria Math" panose="02040503050406030204" pitchFamily="18" charset="0"/>
                        <a:cs typeface="Times New Roman" panose="02020603050405020304" pitchFamily="18" charset="0"/>
                      </a:rPr>
                      <m:t>𝑋𝑠</m:t>
                    </m:r>
                  </m:oMath>
                </a14:m>
                <a:r>
                  <a:rPr lang="en-US" sz="2400" dirty="0">
                    <a:solidFill>
                      <a:schemeClr val="tx1"/>
                    </a:solidFill>
                    <a:cs typeface="Times New Roman" panose="02020603050405020304" pitchFamily="18" charset="0"/>
                  </a:rPr>
                  <a:t> </a:t>
                </a:r>
                <a:r>
                  <a:rPr lang="en-US" sz="2400" b="1" dirty="0">
                    <a:solidFill>
                      <a:schemeClr val="tx1"/>
                    </a:solidFill>
                    <a:cs typeface="Times New Roman" panose="02020603050405020304" pitchFamily="18" charset="0"/>
                  </a:rPr>
                  <a:t>in the same group</a:t>
                </a:r>
              </a:p>
              <a:p>
                <a:pPr lvl="1"/>
                <a:r>
                  <a:rPr lang="en-US" sz="2400" dirty="0">
                    <a:solidFill>
                      <a:schemeClr val="tx1"/>
                    </a:solidFill>
                    <a:cs typeface="Times New Roman" panose="02020603050405020304" pitchFamily="18" charset="0"/>
                  </a:rPr>
                  <a:t>Flexibly handles clustered standard errors!</a:t>
                </a:r>
              </a:p>
              <a:p>
                <a:pPr lvl="1"/>
                <a:r>
                  <a:rPr lang="en-US" sz="2400" dirty="0">
                    <a:solidFill>
                      <a:schemeClr val="tx1"/>
                    </a:solidFill>
                    <a:cs typeface="Times New Roman" panose="02020603050405020304" pitchFamily="18" charset="0"/>
                  </a:rPr>
                  <a:t>But need to be careful how you choose the clusters</a:t>
                </a:r>
              </a:p>
              <a:p>
                <a:pPr lvl="1"/>
                <a:r>
                  <a:rPr lang="en-US" sz="2400" dirty="0">
                    <a:solidFill>
                      <a:schemeClr val="tx1"/>
                    </a:solidFill>
                    <a:cs typeface="Times New Roman" panose="02020603050405020304" pitchFamily="18" charset="0"/>
                  </a:rPr>
                  <a:t>Good rule to remember: </a:t>
                </a:r>
                <a:r>
                  <a:rPr lang="en-US" sz="2400" b="1" dirty="0">
                    <a:solidFill>
                      <a:schemeClr val="accent2">
                        <a:lumMod val="75000"/>
                      </a:schemeClr>
                    </a:solidFill>
                    <a:cs typeface="Times New Roman" panose="02020603050405020304" pitchFamily="18" charset="0"/>
                  </a:rPr>
                  <a:t>cluster at the level of the treatment</a:t>
                </a:r>
                <a:endParaRPr lang="en-US" sz="2400" dirty="0">
                  <a:solidFill>
                    <a:schemeClr val="accent2">
                      <a:lumMod val="75000"/>
                    </a:schemeClr>
                  </a:solidFill>
                  <a:cs typeface="Times New Roman" panose="02020603050405020304" pitchFamily="18" charset="0"/>
                </a:endParaRPr>
              </a:p>
              <a:p>
                <a:pPr marL="0" indent="0">
                  <a:buNone/>
                </a:pP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2" y="1066800"/>
                <a:ext cx="10515598" cy="5141388"/>
              </a:xfrm>
              <a:blipFill>
                <a:blip r:embed="rId3"/>
                <a:stretch>
                  <a:fillRect l="-464" t="-1305" r="-348"/>
                </a:stretch>
              </a:blipFill>
            </p:spPr>
            <p:txBody>
              <a:bodyPr/>
              <a:lstStyle/>
              <a:p>
                <a:r>
                  <a:rPr lang="en-US">
                    <a:noFill/>
                  </a:rPr>
                  <a:t> </a:t>
                </a:r>
              </a:p>
            </p:txBody>
          </p:sp>
        </mc:Fallback>
      </mc:AlternateContent>
      <p:pic>
        <p:nvPicPr>
          <p:cNvPr id="5" name="Picture 2" descr="RStudio - RStudio">
            <a:extLst>
              <a:ext uri="{FF2B5EF4-FFF2-40B4-BE49-F238E27FC236}">
                <a16:creationId xmlns:a16="http://schemas.microsoft.com/office/drawing/2014/main" id="{D75968E8-F958-1F4B-44C7-D087AD471E6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527629" y="49530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0036442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Clustered Standard Errors</a:t>
            </a:r>
            <a:endParaRPr lang="en-US" sz="3600" dirty="0">
              <a:latin typeface="Times New Roman" panose="02020603050405020304" pitchFamily="18" charset="0"/>
              <a:cs typeface="Times New Roman" panose="02020603050405020304" pitchFamily="18" charset="0"/>
            </a:endParaRPr>
          </a:p>
        </p:txBody>
      </p:sp>
      <p:sp>
        <p:nvSpPr>
          <p:cNvPr id="6" name="Content Placeholder 5">
            <a:extLst>
              <a:ext uri="{FF2B5EF4-FFF2-40B4-BE49-F238E27FC236}">
                <a16:creationId xmlns:a16="http://schemas.microsoft.com/office/drawing/2014/main" id="{D6CAEAC0-BF3B-B3E1-5CDC-1BC8C1D67E7E}"/>
              </a:ext>
            </a:extLst>
          </p:cNvPr>
          <p:cNvSpPr>
            <a:spLocks noGrp="1"/>
          </p:cNvSpPr>
          <p:nvPr>
            <p:ph idx="1"/>
          </p:nvPr>
        </p:nvSpPr>
        <p:spPr/>
        <p:txBody>
          <a:bodyPr/>
          <a:lstStyle/>
          <a:p>
            <a:endParaRPr lang="en-US"/>
          </a:p>
        </p:txBody>
      </p:sp>
      <p:pic>
        <p:nvPicPr>
          <p:cNvPr id="7" name="Picture 2" descr="RStudio - RStudio">
            <a:extLst>
              <a:ext uri="{FF2B5EF4-FFF2-40B4-BE49-F238E27FC236}">
                <a16:creationId xmlns:a16="http://schemas.microsoft.com/office/drawing/2014/main" id="{D850C099-28BC-5777-3836-FD753AC9052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25000" y="5029200"/>
            <a:ext cx="1371600" cy="137160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a:extLst>
              <a:ext uri="{FF2B5EF4-FFF2-40B4-BE49-F238E27FC236}">
                <a16:creationId xmlns:a16="http://schemas.microsoft.com/office/drawing/2014/main" id="{0291BD66-CF08-9C26-0BB2-2CE90AE059A7}"/>
              </a:ext>
            </a:extLst>
          </p:cNvPr>
          <p:cNvPicPr>
            <a:picLocks noChangeAspect="1"/>
          </p:cNvPicPr>
          <p:nvPr/>
        </p:nvPicPr>
        <p:blipFill>
          <a:blip r:embed="rId4"/>
          <a:stretch>
            <a:fillRect/>
          </a:stretch>
        </p:blipFill>
        <p:spPr>
          <a:xfrm>
            <a:off x="228600" y="312302"/>
            <a:ext cx="10972800" cy="6088498"/>
          </a:xfrm>
          <a:prstGeom prst="rect">
            <a:avLst/>
          </a:prstGeom>
        </p:spPr>
      </p:pic>
      <mc:AlternateContent xmlns:mc="http://schemas.openxmlformats.org/markup-compatibility/2006" xmlns:p14="http://schemas.microsoft.com/office/powerpoint/2010/main">
        <mc:Choice Requires="p14">
          <p:contentPart p14:bwMode="auto" r:id="rId5">
            <p14:nvContentPartPr>
              <p14:cNvPr id="10" name="Ink 9">
                <a:extLst>
                  <a:ext uri="{FF2B5EF4-FFF2-40B4-BE49-F238E27FC236}">
                    <a16:creationId xmlns:a16="http://schemas.microsoft.com/office/drawing/2014/main" id="{1C71EF1F-05C3-BA3B-1AB3-72FF16FFF9F8}"/>
                  </a:ext>
                </a:extLst>
              </p14:cNvPr>
              <p14:cNvContentPartPr/>
              <p14:nvPr/>
            </p14:nvContentPartPr>
            <p14:xfrm>
              <a:off x="9475937" y="1476480"/>
              <a:ext cx="1474920" cy="35640"/>
            </p14:xfrm>
          </p:contentPart>
        </mc:Choice>
        <mc:Fallback xmlns="">
          <p:pic>
            <p:nvPicPr>
              <p:cNvPr id="10" name="Ink 9">
                <a:extLst>
                  <a:ext uri="{FF2B5EF4-FFF2-40B4-BE49-F238E27FC236}">
                    <a16:creationId xmlns:a16="http://schemas.microsoft.com/office/drawing/2014/main" id="{1C71EF1F-05C3-BA3B-1AB3-72FF16FFF9F8}"/>
                  </a:ext>
                </a:extLst>
              </p:cNvPr>
              <p:cNvPicPr/>
              <p:nvPr/>
            </p:nvPicPr>
            <p:blipFill>
              <a:blip r:embed="rId6"/>
              <a:stretch>
                <a:fillRect/>
              </a:stretch>
            </p:blipFill>
            <p:spPr>
              <a:xfrm>
                <a:off x="9421937" y="1368840"/>
                <a:ext cx="1582560" cy="2512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1" name="Ink 10">
                <a:extLst>
                  <a:ext uri="{FF2B5EF4-FFF2-40B4-BE49-F238E27FC236}">
                    <a16:creationId xmlns:a16="http://schemas.microsoft.com/office/drawing/2014/main" id="{9F29BB35-2814-A861-C1AD-D979851D209D}"/>
                  </a:ext>
                </a:extLst>
              </p14:cNvPr>
              <p14:cNvContentPartPr/>
              <p14:nvPr/>
            </p14:nvContentPartPr>
            <p14:xfrm>
              <a:off x="516977" y="1762320"/>
              <a:ext cx="7156800" cy="45000"/>
            </p14:xfrm>
          </p:contentPart>
        </mc:Choice>
        <mc:Fallback xmlns="">
          <p:pic>
            <p:nvPicPr>
              <p:cNvPr id="11" name="Ink 10">
                <a:extLst>
                  <a:ext uri="{FF2B5EF4-FFF2-40B4-BE49-F238E27FC236}">
                    <a16:creationId xmlns:a16="http://schemas.microsoft.com/office/drawing/2014/main" id="{9F29BB35-2814-A861-C1AD-D979851D209D}"/>
                  </a:ext>
                </a:extLst>
              </p:cNvPr>
              <p:cNvPicPr/>
              <p:nvPr/>
            </p:nvPicPr>
            <p:blipFill>
              <a:blip r:embed="rId8"/>
              <a:stretch>
                <a:fillRect/>
              </a:stretch>
            </p:blipFill>
            <p:spPr>
              <a:xfrm>
                <a:off x="462977" y="1654320"/>
                <a:ext cx="7264440" cy="260640"/>
              </a:xfrm>
              <a:prstGeom prst="rect">
                <a:avLst/>
              </a:prstGeom>
            </p:spPr>
          </p:pic>
        </mc:Fallback>
      </mc:AlternateContent>
    </p:spTree>
    <p:extLst>
      <p:ext uri="{BB962C8B-B14F-4D97-AF65-F5344CB8AC3E}">
        <p14:creationId xmlns:p14="http://schemas.microsoft.com/office/powerpoint/2010/main" val="182531539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Clustered Standard Errors</a:t>
            </a:r>
            <a:endParaRPr lang="en-US" sz="3600" dirty="0">
              <a:latin typeface="Times New Roman" panose="02020603050405020304" pitchFamily="18" charset="0"/>
              <a:cs typeface="Times New Roman" panose="02020603050405020304" pitchFamily="18" charset="0"/>
            </a:endParaRPr>
          </a:p>
        </p:txBody>
      </p:sp>
      <p:sp>
        <p:nvSpPr>
          <p:cNvPr id="6" name="Content Placeholder 5">
            <a:extLst>
              <a:ext uri="{FF2B5EF4-FFF2-40B4-BE49-F238E27FC236}">
                <a16:creationId xmlns:a16="http://schemas.microsoft.com/office/drawing/2014/main" id="{D6CAEAC0-BF3B-B3E1-5CDC-1BC8C1D67E7E}"/>
              </a:ext>
            </a:extLst>
          </p:cNvPr>
          <p:cNvSpPr>
            <a:spLocks noGrp="1"/>
          </p:cNvSpPr>
          <p:nvPr>
            <p:ph idx="1"/>
          </p:nvPr>
        </p:nvSpPr>
        <p:spPr/>
        <p:txBody>
          <a:bodyPr/>
          <a:lstStyle/>
          <a:p>
            <a:endParaRPr lang="en-US"/>
          </a:p>
        </p:txBody>
      </p:sp>
      <p:pic>
        <p:nvPicPr>
          <p:cNvPr id="7" name="Picture 2" descr="RStudio - RStudio">
            <a:extLst>
              <a:ext uri="{FF2B5EF4-FFF2-40B4-BE49-F238E27FC236}">
                <a16:creationId xmlns:a16="http://schemas.microsoft.com/office/drawing/2014/main" id="{D850C099-28BC-5777-3836-FD753AC9052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25000" y="5029200"/>
            <a:ext cx="1371600" cy="137160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a:extLst>
              <a:ext uri="{FF2B5EF4-FFF2-40B4-BE49-F238E27FC236}">
                <a16:creationId xmlns:a16="http://schemas.microsoft.com/office/drawing/2014/main" id="{0291BD66-CF08-9C26-0BB2-2CE90AE059A7}"/>
              </a:ext>
            </a:extLst>
          </p:cNvPr>
          <p:cNvPicPr>
            <a:picLocks noChangeAspect="1"/>
          </p:cNvPicPr>
          <p:nvPr/>
        </p:nvPicPr>
        <p:blipFill>
          <a:blip r:embed="rId4"/>
          <a:stretch>
            <a:fillRect/>
          </a:stretch>
        </p:blipFill>
        <p:spPr>
          <a:xfrm>
            <a:off x="228600" y="312302"/>
            <a:ext cx="10972800" cy="6088498"/>
          </a:xfrm>
          <a:prstGeom prst="rect">
            <a:avLst/>
          </a:prstGeom>
        </p:spPr>
      </p:pic>
      <mc:AlternateContent xmlns:mc="http://schemas.openxmlformats.org/markup-compatibility/2006" xmlns:p14="http://schemas.microsoft.com/office/powerpoint/2010/main">
        <mc:Choice Requires="p14">
          <p:contentPart p14:bwMode="auto" r:id="rId5">
            <p14:nvContentPartPr>
              <p14:cNvPr id="10" name="Ink 9">
                <a:extLst>
                  <a:ext uri="{FF2B5EF4-FFF2-40B4-BE49-F238E27FC236}">
                    <a16:creationId xmlns:a16="http://schemas.microsoft.com/office/drawing/2014/main" id="{1C71EF1F-05C3-BA3B-1AB3-72FF16FFF9F8}"/>
                  </a:ext>
                </a:extLst>
              </p14:cNvPr>
              <p14:cNvContentPartPr/>
              <p14:nvPr/>
            </p14:nvContentPartPr>
            <p14:xfrm>
              <a:off x="9475937" y="1476480"/>
              <a:ext cx="1474920" cy="35640"/>
            </p14:xfrm>
          </p:contentPart>
        </mc:Choice>
        <mc:Fallback xmlns="">
          <p:pic>
            <p:nvPicPr>
              <p:cNvPr id="10" name="Ink 9">
                <a:extLst>
                  <a:ext uri="{FF2B5EF4-FFF2-40B4-BE49-F238E27FC236}">
                    <a16:creationId xmlns:a16="http://schemas.microsoft.com/office/drawing/2014/main" id="{1C71EF1F-05C3-BA3B-1AB3-72FF16FFF9F8}"/>
                  </a:ext>
                </a:extLst>
              </p:cNvPr>
              <p:cNvPicPr/>
              <p:nvPr/>
            </p:nvPicPr>
            <p:blipFill>
              <a:blip r:embed="rId6"/>
              <a:stretch>
                <a:fillRect/>
              </a:stretch>
            </p:blipFill>
            <p:spPr>
              <a:xfrm>
                <a:off x="9421937" y="1368840"/>
                <a:ext cx="1582560" cy="2512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1" name="Ink 10">
                <a:extLst>
                  <a:ext uri="{FF2B5EF4-FFF2-40B4-BE49-F238E27FC236}">
                    <a16:creationId xmlns:a16="http://schemas.microsoft.com/office/drawing/2014/main" id="{9F29BB35-2814-A861-C1AD-D979851D209D}"/>
                  </a:ext>
                </a:extLst>
              </p14:cNvPr>
              <p14:cNvContentPartPr/>
              <p14:nvPr/>
            </p14:nvContentPartPr>
            <p14:xfrm>
              <a:off x="516977" y="1762320"/>
              <a:ext cx="7156800" cy="45000"/>
            </p14:xfrm>
          </p:contentPart>
        </mc:Choice>
        <mc:Fallback xmlns="">
          <p:pic>
            <p:nvPicPr>
              <p:cNvPr id="11" name="Ink 10">
                <a:extLst>
                  <a:ext uri="{FF2B5EF4-FFF2-40B4-BE49-F238E27FC236}">
                    <a16:creationId xmlns:a16="http://schemas.microsoft.com/office/drawing/2014/main" id="{9F29BB35-2814-A861-C1AD-D979851D209D}"/>
                  </a:ext>
                </a:extLst>
              </p:cNvPr>
              <p:cNvPicPr/>
              <p:nvPr/>
            </p:nvPicPr>
            <p:blipFill>
              <a:blip r:embed="rId8"/>
              <a:stretch>
                <a:fillRect/>
              </a:stretch>
            </p:blipFill>
            <p:spPr>
              <a:xfrm>
                <a:off x="462977" y="1654320"/>
                <a:ext cx="7264440" cy="26064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3" name="Ink 2">
                <a:extLst>
                  <a:ext uri="{FF2B5EF4-FFF2-40B4-BE49-F238E27FC236}">
                    <a16:creationId xmlns:a16="http://schemas.microsoft.com/office/drawing/2014/main" id="{330553AE-628E-DB12-29BF-570FB29EF036}"/>
                  </a:ext>
                </a:extLst>
              </p14:cNvPr>
              <p14:cNvContentPartPr/>
              <p14:nvPr/>
            </p14:nvContentPartPr>
            <p14:xfrm>
              <a:off x="2568977" y="2077680"/>
              <a:ext cx="2749680" cy="52200"/>
            </p14:xfrm>
          </p:contentPart>
        </mc:Choice>
        <mc:Fallback xmlns="">
          <p:pic>
            <p:nvPicPr>
              <p:cNvPr id="3" name="Ink 2">
                <a:extLst>
                  <a:ext uri="{FF2B5EF4-FFF2-40B4-BE49-F238E27FC236}">
                    <a16:creationId xmlns:a16="http://schemas.microsoft.com/office/drawing/2014/main" id="{330553AE-628E-DB12-29BF-570FB29EF036}"/>
                  </a:ext>
                </a:extLst>
              </p:cNvPr>
              <p:cNvPicPr/>
              <p:nvPr/>
            </p:nvPicPr>
            <p:blipFill>
              <a:blip r:embed="rId10"/>
              <a:stretch>
                <a:fillRect/>
              </a:stretch>
            </p:blipFill>
            <p:spPr>
              <a:xfrm>
                <a:off x="2514977" y="1970040"/>
                <a:ext cx="2857320" cy="2678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4" name="Ink 3">
                <a:extLst>
                  <a:ext uri="{FF2B5EF4-FFF2-40B4-BE49-F238E27FC236}">
                    <a16:creationId xmlns:a16="http://schemas.microsoft.com/office/drawing/2014/main" id="{AB01AD61-62E3-6C05-4AE3-F1A1B19DF2B1}"/>
                  </a:ext>
                </a:extLst>
              </p14:cNvPr>
              <p14:cNvContentPartPr/>
              <p14:nvPr/>
            </p14:nvContentPartPr>
            <p14:xfrm>
              <a:off x="6490457" y="2346960"/>
              <a:ext cx="4449600" cy="149400"/>
            </p14:xfrm>
          </p:contentPart>
        </mc:Choice>
        <mc:Fallback xmlns="">
          <p:pic>
            <p:nvPicPr>
              <p:cNvPr id="4" name="Ink 3">
                <a:extLst>
                  <a:ext uri="{FF2B5EF4-FFF2-40B4-BE49-F238E27FC236}">
                    <a16:creationId xmlns:a16="http://schemas.microsoft.com/office/drawing/2014/main" id="{AB01AD61-62E3-6C05-4AE3-F1A1B19DF2B1}"/>
                  </a:ext>
                </a:extLst>
              </p:cNvPr>
              <p:cNvPicPr/>
              <p:nvPr/>
            </p:nvPicPr>
            <p:blipFill>
              <a:blip r:embed="rId12"/>
              <a:stretch>
                <a:fillRect/>
              </a:stretch>
            </p:blipFill>
            <p:spPr>
              <a:xfrm>
                <a:off x="6436457" y="2239320"/>
                <a:ext cx="4557240" cy="3650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5" name="Ink 4">
                <a:extLst>
                  <a:ext uri="{FF2B5EF4-FFF2-40B4-BE49-F238E27FC236}">
                    <a16:creationId xmlns:a16="http://schemas.microsoft.com/office/drawing/2014/main" id="{350300A7-F719-A93F-0558-0B044EE03701}"/>
                  </a:ext>
                </a:extLst>
              </p14:cNvPr>
              <p14:cNvContentPartPr/>
              <p14:nvPr/>
            </p14:nvContentPartPr>
            <p14:xfrm>
              <a:off x="408257" y="2776080"/>
              <a:ext cx="2086920" cy="33480"/>
            </p14:xfrm>
          </p:contentPart>
        </mc:Choice>
        <mc:Fallback xmlns="">
          <p:pic>
            <p:nvPicPr>
              <p:cNvPr id="5" name="Ink 4">
                <a:extLst>
                  <a:ext uri="{FF2B5EF4-FFF2-40B4-BE49-F238E27FC236}">
                    <a16:creationId xmlns:a16="http://schemas.microsoft.com/office/drawing/2014/main" id="{350300A7-F719-A93F-0558-0B044EE03701}"/>
                  </a:ext>
                </a:extLst>
              </p:cNvPr>
              <p:cNvPicPr/>
              <p:nvPr/>
            </p:nvPicPr>
            <p:blipFill>
              <a:blip r:embed="rId14"/>
              <a:stretch>
                <a:fillRect/>
              </a:stretch>
            </p:blipFill>
            <p:spPr>
              <a:xfrm>
                <a:off x="354617" y="2668440"/>
                <a:ext cx="2194560" cy="249120"/>
              </a:xfrm>
              <a:prstGeom prst="rect">
                <a:avLst/>
              </a:prstGeom>
            </p:spPr>
          </p:pic>
        </mc:Fallback>
      </mc:AlternateContent>
    </p:spTree>
    <p:extLst>
      <p:ext uri="{BB962C8B-B14F-4D97-AF65-F5344CB8AC3E}">
        <p14:creationId xmlns:p14="http://schemas.microsoft.com/office/powerpoint/2010/main" val="200831281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Clustered Standard Errors</a:t>
            </a:r>
            <a:endParaRPr lang="en-US" sz="3600" dirty="0">
              <a:latin typeface="Times New Roman" panose="02020603050405020304" pitchFamily="18" charset="0"/>
              <a:cs typeface="Times New Roman" panose="02020603050405020304" pitchFamily="18" charset="0"/>
            </a:endParaRPr>
          </a:p>
        </p:txBody>
      </p:sp>
      <p:sp>
        <p:nvSpPr>
          <p:cNvPr id="6" name="Content Placeholder 5">
            <a:extLst>
              <a:ext uri="{FF2B5EF4-FFF2-40B4-BE49-F238E27FC236}">
                <a16:creationId xmlns:a16="http://schemas.microsoft.com/office/drawing/2014/main" id="{D6CAEAC0-BF3B-B3E1-5CDC-1BC8C1D67E7E}"/>
              </a:ext>
            </a:extLst>
          </p:cNvPr>
          <p:cNvSpPr>
            <a:spLocks noGrp="1"/>
          </p:cNvSpPr>
          <p:nvPr>
            <p:ph idx="1"/>
          </p:nvPr>
        </p:nvSpPr>
        <p:spPr/>
        <p:txBody>
          <a:bodyPr/>
          <a:lstStyle/>
          <a:p>
            <a:endParaRPr lang="en-US"/>
          </a:p>
        </p:txBody>
      </p:sp>
      <p:pic>
        <p:nvPicPr>
          <p:cNvPr id="7" name="Picture 2" descr="RStudio - RStudio">
            <a:extLst>
              <a:ext uri="{FF2B5EF4-FFF2-40B4-BE49-F238E27FC236}">
                <a16:creationId xmlns:a16="http://schemas.microsoft.com/office/drawing/2014/main" id="{D850C099-28BC-5777-3836-FD753AC9052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25000" y="5029200"/>
            <a:ext cx="1371600" cy="137160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a:extLst>
              <a:ext uri="{FF2B5EF4-FFF2-40B4-BE49-F238E27FC236}">
                <a16:creationId xmlns:a16="http://schemas.microsoft.com/office/drawing/2014/main" id="{0291BD66-CF08-9C26-0BB2-2CE90AE059A7}"/>
              </a:ext>
            </a:extLst>
          </p:cNvPr>
          <p:cNvPicPr>
            <a:picLocks noChangeAspect="1"/>
          </p:cNvPicPr>
          <p:nvPr/>
        </p:nvPicPr>
        <p:blipFill>
          <a:blip r:embed="rId4"/>
          <a:stretch>
            <a:fillRect/>
          </a:stretch>
        </p:blipFill>
        <p:spPr>
          <a:xfrm>
            <a:off x="228600" y="312302"/>
            <a:ext cx="10972800" cy="6088498"/>
          </a:xfrm>
          <a:prstGeom prst="rect">
            <a:avLst/>
          </a:prstGeom>
        </p:spPr>
      </p:pic>
      <mc:AlternateContent xmlns:mc="http://schemas.openxmlformats.org/markup-compatibility/2006" xmlns:p14="http://schemas.microsoft.com/office/powerpoint/2010/main">
        <mc:Choice Requires="p14">
          <p:contentPart p14:bwMode="auto" r:id="rId5">
            <p14:nvContentPartPr>
              <p14:cNvPr id="10" name="Ink 9">
                <a:extLst>
                  <a:ext uri="{FF2B5EF4-FFF2-40B4-BE49-F238E27FC236}">
                    <a16:creationId xmlns:a16="http://schemas.microsoft.com/office/drawing/2014/main" id="{1C71EF1F-05C3-BA3B-1AB3-72FF16FFF9F8}"/>
                  </a:ext>
                </a:extLst>
              </p14:cNvPr>
              <p14:cNvContentPartPr/>
              <p14:nvPr/>
            </p14:nvContentPartPr>
            <p14:xfrm>
              <a:off x="9475937" y="1476480"/>
              <a:ext cx="1474920" cy="35640"/>
            </p14:xfrm>
          </p:contentPart>
        </mc:Choice>
        <mc:Fallback xmlns="">
          <p:pic>
            <p:nvPicPr>
              <p:cNvPr id="10" name="Ink 9">
                <a:extLst>
                  <a:ext uri="{FF2B5EF4-FFF2-40B4-BE49-F238E27FC236}">
                    <a16:creationId xmlns:a16="http://schemas.microsoft.com/office/drawing/2014/main" id="{1C71EF1F-05C3-BA3B-1AB3-72FF16FFF9F8}"/>
                  </a:ext>
                </a:extLst>
              </p:cNvPr>
              <p:cNvPicPr/>
              <p:nvPr/>
            </p:nvPicPr>
            <p:blipFill>
              <a:blip r:embed="rId6"/>
              <a:stretch>
                <a:fillRect/>
              </a:stretch>
            </p:blipFill>
            <p:spPr>
              <a:xfrm>
                <a:off x="9421937" y="1368840"/>
                <a:ext cx="1582560" cy="2512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1" name="Ink 10">
                <a:extLst>
                  <a:ext uri="{FF2B5EF4-FFF2-40B4-BE49-F238E27FC236}">
                    <a16:creationId xmlns:a16="http://schemas.microsoft.com/office/drawing/2014/main" id="{9F29BB35-2814-A861-C1AD-D979851D209D}"/>
                  </a:ext>
                </a:extLst>
              </p14:cNvPr>
              <p14:cNvContentPartPr/>
              <p14:nvPr/>
            </p14:nvContentPartPr>
            <p14:xfrm>
              <a:off x="516977" y="1762320"/>
              <a:ext cx="7156800" cy="45000"/>
            </p14:xfrm>
          </p:contentPart>
        </mc:Choice>
        <mc:Fallback xmlns="">
          <p:pic>
            <p:nvPicPr>
              <p:cNvPr id="11" name="Ink 10">
                <a:extLst>
                  <a:ext uri="{FF2B5EF4-FFF2-40B4-BE49-F238E27FC236}">
                    <a16:creationId xmlns:a16="http://schemas.microsoft.com/office/drawing/2014/main" id="{9F29BB35-2814-A861-C1AD-D979851D209D}"/>
                  </a:ext>
                </a:extLst>
              </p:cNvPr>
              <p:cNvPicPr/>
              <p:nvPr/>
            </p:nvPicPr>
            <p:blipFill>
              <a:blip r:embed="rId8"/>
              <a:stretch>
                <a:fillRect/>
              </a:stretch>
            </p:blipFill>
            <p:spPr>
              <a:xfrm>
                <a:off x="462977" y="1654320"/>
                <a:ext cx="7264440" cy="26064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3" name="Ink 2">
                <a:extLst>
                  <a:ext uri="{FF2B5EF4-FFF2-40B4-BE49-F238E27FC236}">
                    <a16:creationId xmlns:a16="http://schemas.microsoft.com/office/drawing/2014/main" id="{330553AE-628E-DB12-29BF-570FB29EF036}"/>
                  </a:ext>
                </a:extLst>
              </p14:cNvPr>
              <p14:cNvContentPartPr/>
              <p14:nvPr/>
            </p14:nvContentPartPr>
            <p14:xfrm>
              <a:off x="2568977" y="2077680"/>
              <a:ext cx="2749680" cy="52200"/>
            </p14:xfrm>
          </p:contentPart>
        </mc:Choice>
        <mc:Fallback xmlns="">
          <p:pic>
            <p:nvPicPr>
              <p:cNvPr id="3" name="Ink 2">
                <a:extLst>
                  <a:ext uri="{FF2B5EF4-FFF2-40B4-BE49-F238E27FC236}">
                    <a16:creationId xmlns:a16="http://schemas.microsoft.com/office/drawing/2014/main" id="{330553AE-628E-DB12-29BF-570FB29EF036}"/>
                  </a:ext>
                </a:extLst>
              </p:cNvPr>
              <p:cNvPicPr/>
              <p:nvPr/>
            </p:nvPicPr>
            <p:blipFill>
              <a:blip r:embed="rId10"/>
              <a:stretch>
                <a:fillRect/>
              </a:stretch>
            </p:blipFill>
            <p:spPr>
              <a:xfrm>
                <a:off x="2514977" y="1970040"/>
                <a:ext cx="2857320" cy="2678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4" name="Ink 3">
                <a:extLst>
                  <a:ext uri="{FF2B5EF4-FFF2-40B4-BE49-F238E27FC236}">
                    <a16:creationId xmlns:a16="http://schemas.microsoft.com/office/drawing/2014/main" id="{AB01AD61-62E3-6C05-4AE3-F1A1B19DF2B1}"/>
                  </a:ext>
                </a:extLst>
              </p14:cNvPr>
              <p14:cNvContentPartPr/>
              <p14:nvPr/>
            </p14:nvContentPartPr>
            <p14:xfrm>
              <a:off x="6490457" y="2346960"/>
              <a:ext cx="4449600" cy="149400"/>
            </p14:xfrm>
          </p:contentPart>
        </mc:Choice>
        <mc:Fallback xmlns="">
          <p:pic>
            <p:nvPicPr>
              <p:cNvPr id="4" name="Ink 3">
                <a:extLst>
                  <a:ext uri="{FF2B5EF4-FFF2-40B4-BE49-F238E27FC236}">
                    <a16:creationId xmlns:a16="http://schemas.microsoft.com/office/drawing/2014/main" id="{AB01AD61-62E3-6C05-4AE3-F1A1B19DF2B1}"/>
                  </a:ext>
                </a:extLst>
              </p:cNvPr>
              <p:cNvPicPr/>
              <p:nvPr/>
            </p:nvPicPr>
            <p:blipFill>
              <a:blip r:embed="rId12"/>
              <a:stretch>
                <a:fillRect/>
              </a:stretch>
            </p:blipFill>
            <p:spPr>
              <a:xfrm>
                <a:off x="6436457" y="2239320"/>
                <a:ext cx="4557240" cy="3650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5" name="Ink 4">
                <a:extLst>
                  <a:ext uri="{FF2B5EF4-FFF2-40B4-BE49-F238E27FC236}">
                    <a16:creationId xmlns:a16="http://schemas.microsoft.com/office/drawing/2014/main" id="{350300A7-F719-A93F-0558-0B044EE03701}"/>
                  </a:ext>
                </a:extLst>
              </p14:cNvPr>
              <p14:cNvContentPartPr/>
              <p14:nvPr/>
            </p14:nvContentPartPr>
            <p14:xfrm>
              <a:off x="408257" y="2776080"/>
              <a:ext cx="2086920" cy="33480"/>
            </p14:xfrm>
          </p:contentPart>
        </mc:Choice>
        <mc:Fallback xmlns="">
          <p:pic>
            <p:nvPicPr>
              <p:cNvPr id="5" name="Ink 4">
                <a:extLst>
                  <a:ext uri="{FF2B5EF4-FFF2-40B4-BE49-F238E27FC236}">
                    <a16:creationId xmlns:a16="http://schemas.microsoft.com/office/drawing/2014/main" id="{350300A7-F719-A93F-0558-0B044EE03701}"/>
                  </a:ext>
                </a:extLst>
              </p:cNvPr>
              <p:cNvPicPr/>
              <p:nvPr/>
            </p:nvPicPr>
            <p:blipFill>
              <a:blip r:embed="rId14"/>
              <a:stretch>
                <a:fillRect/>
              </a:stretch>
            </p:blipFill>
            <p:spPr>
              <a:xfrm>
                <a:off x="354617" y="2668440"/>
                <a:ext cx="2194560" cy="24912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8" name="Ink 7">
                <a:extLst>
                  <a:ext uri="{FF2B5EF4-FFF2-40B4-BE49-F238E27FC236}">
                    <a16:creationId xmlns:a16="http://schemas.microsoft.com/office/drawing/2014/main" id="{EB73E9DA-63B8-E923-7F2B-1D72CA7AAE37}"/>
                  </a:ext>
                </a:extLst>
              </p14:cNvPr>
              <p14:cNvContentPartPr/>
              <p14:nvPr/>
            </p14:nvContentPartPr>
            <p14:xfrm>
              <a:off x="2166857" y="3483480"/>
              <a:ext cx="6245280" cy="70560"/>
            </p14:xfrm>
          </p:contentPart>
        </mc:Choice>
        <mc:Fallback xmlns="">
          <p:pic>
            <p:nvPicPr>
              <p:cNvPr id="8" name="Ink 7">
                <a:extLst>
                  <a:ext uri="{FF2B5EF4-FFF2-40B4-BE49-F238E27FC236}">
                    <a16:creationId xmlns:a16="http://schemas.microsoft.com/office/drawing/2014/main" id="{EB73E9DA-63B8-E923-7F2B-1D72CA7AAE37}"/>
                  </a:ext>
                </a:extLst>
              </p:cNvPr>
              <p:cNvPicPr/>
              <p:nvPr/>
            </p:nvPicPr>
            <p:blipFill>
              <a:blip r:embed="rId16"/>
              <a:stretch>
                <a:fillRect/>
              </a:stretch>
            </p:blipFill>
            <p:spPr>
              <a:xfrm>
                <a:off x="2157857" y="3474840"/>
                <a:ext cx="6262920" cy="882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2" name="Ink 11">
                <a:extLst>
                  <a:ext uri="{FF2B5EF4-FFF2-40B4-BE49-F238E27FC236}">
                    <a16:creationId xmlns:a16="http://schemas.microsoft.com/office/drawing/2014/main" id="{10352831-E756-4BF7-2F8A-6A45A2590820}"/>
                  </a:ext>
                </a:extLst>
              </p14:cNvPr>
              <p14:cNvContentPartPr/>
              <p14:nvPr/>
            </p14:nvContentPartPr>
            <p14:xfrm>
              <a:off x="2258297" y="3493200"/>
              <a:ext cx="6143760" cy="69840"/>
            </p14:xfrm>
          </p:contentPart>
        </mc:Choice>
        <mc:Fallback xmlns="">
          <p:pic>
            <p:nvPicPr>
              <p:cNvPr id="12" name="Ink 11">
                <a:extLst>
                  <a:ext uri="{FF2B5EF4-FFF2-40B4-BE49-F238E27FC236}">
                    <a16:creationId xmlns:a16="http://schemas.microsoft.com/office/drawing/2014/main" id="{10352831-E756-4BF7-2F8A-6A45A2590820}"/>
                  </a:ext>
                </a:extLst>
              </p:cNvPr>
              <p:cNvPicPr/>
              <p:nvPr/>
            </p:nvPicPr>
            <p:blipFill>
              <a:blip r:embed="rId18"/>
              <a:stretch>
                <a:fillRect/>
              </a:stretch>
            </p:blipFill>
            <p:spPr>
              <a:xfrm>
                <a:off x="2249297" y="3484200"/>
                <a:ext cx="6161400" cy="87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3" name="Ink 12">
                <a:extLst>
                  <a:ext uri="{FF2B5EF4-FFF2-40B4-BE49-F238E27FC236}">
                    <a16:creationId xmlns:a16="http://schemas.microsoft.com/office/drawing/2014/main" id="{B2A53AA0-7AFF-FEB8-2643-645FC9DC2753}"/>
                  </a:ext>
                </a:extLst>
              </p14:cNvPr>
              <p14:cNvContentPartPr/>
              <p14:nvPr/>
            </p14:nvContentPartPr>
            <p14:xfrm>
              <a:off x="9187217" y="3356760"/>
              <a:ext cx="1771920" cy="57240"/>
            </p14:xfrm>
          </p:contentPart>
        </mc:Choice>
        <mc:Fallback xmlns="">
          <p:pic>
            <p:nvPicPr>
              <p:cNvPr id="13" name="Ink 12">
                <a:extLst>
                  <a:ext uri="{FF2B5EF4-FFF2-40B4-BE49-F238E27FC236}">
                    <a16:creationId xmlns:a16="http://schemas.microsoft.com/office/drawing/2014/main" id="{B2A53AA0-7AFF-FEB8-2643-645FC9DC2753}"/>
                  </a:ext>
                </a:extLst>
              </p:cNvPr>
              <p:cNvPicPr/>
              <p:nvPr/>
            </p:nvPicPr>
            <p:blipFill>
              <a:blip r:embed="rId20"/>
              <a:stretch>
                <a:fillRect/>
              </a:stretch>
            </p:blipFill>
            <p:spPr>
              <a:xfrm>
                <a:off x="9133577" y="3248760"/>
                <a:ext cx="1879560" cy="2728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4" name="Ink 13">
                <a:extLst>
                  <a:ext uri="{FF2B5EF4-FFF2-40B4-BE49-F238E27FC236}">
                    <a16:creationId xmlns:a16="http://schemas.microsoft.com/office/drawing/2014/main" id="{68BAB8A9-C89F-CC0D-B939-6C80CE08D37E}"/>
                  </a:ext>
                </a:extLst>
              </p14:cNvPr>
              <p14:cNvContentPartPr/>
              <p14:nvPr/>
            </p14:nvContentPartPr>
            <p14:xfrm>
              <a:off x="1915577" y="4564560"/>
              <a:ext cx="7076160" cy="71280"/>
            </p14:xfrm>
          </p:contentPart>
        </mc:Choice>
        <mc:Fallback xmlns="">
          <p:pic>
            <p:nvPicPr>
              <p:cNvPr id="14" name="Ink 13">
                <a:extLst>
                  <a:ext uri="{FF2B5EF4-FFF2-40B4-BE49-F238E27FC236}">
                    <a16:creationId xmlns:a16="http://schemas.microsoft.com/office/drawing/2014/main" id="{68BAB8A9-C89F-CC0D-B939-6C80CE08D37E}"/>
                  </a:ext>
                </a:extLst>
              </p:cNvPr>
              <p:cNvPicPr/>
              <p:nvPr/>
            </p:nvPicPr>
            <p:blipFill>
              <a:blip r:embed="rId22"/>
              <a:stretch>
                <a:fillRect/>
              </a:stretch>
            </p:blipFill>
            <p:spPr>
              <a:xfrm>
                <a:off x="1861577" y="4456560"/>
                <a:ext cx="7183800" cy="28692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5" name="Ink 14">
                <a:extLst>
                  <a:ext uri="{FF2B5EF4-FFF2-40B4-BE49-F238E27FC236}">
                    <a16:creationId xmlns:a16="http://schemas.microsoft.com/office/drawing/2014/main" id="{F1CECA8F-EFD7-D67A-0C9B-818078EB0424}"/>
                  </a:ext>
                </a:extLst>
              </p14:cNvPr>
              <p14:cNvContentPartPr/>
              <p14:nvPr/>
            </p14:nvContentPartPr>
            <p14:xfrm>
              <a:off x="425897" y="4943640"/>
              <a:ext cx="2153520" cy="81360"/>
            </p14:xfrm>
          </p:contentPart>
        </mc:Choice>
        <mc:Fallback xmlns="">
          <p:pic>
            <p:nvPicPr>
              <p:cNvPr id="15" name="Ink 14">
                <a:extLst>
                  <a:ext uri="{FF2B5EF4-FFF2-40B4-BE49-F238E27FC236}">
                    <a16:creationId xmlns:a16="http://schemas.microsoft.com/office/drawing/2014/main" id="{F1CECA8F-EFD7-D67A-0C9B-818078EB0424}"/>
                  </a:ext>
                </a:extLst>
              </p:cNvPr>
              <p:cNvPicPr/>
              <p:nvPr/>
            </p:nvPicPr>
            <p:blipFill>
              <a:blip r:embed="rId24"/>
              <a:stretch>
                <a:fillRect/>
              </a:stretch>
            </p:blipFill>
            <p:spPr>
              <a:xfrm>
                <a:off x="371897" y="4835640"/>
                <a:ext cx="2261160" cy="2970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6" name="Ink 15">
                <a:extLst>
                  <a:ext uri="{FF2B5EF4-FFF2-40B4-BE49-F238E27FC236}">
                    <a16:creationId xmlns:a16="http://schemas.microsoft.com/office/drawing/2014/main" id="{B767A5C3-CAC5-DD22-165B-3CB25BB7DCE3}"/>
                  </a:ext>
                </a:extLst>
              </p14:cNvPr>
              <p14:cNvContentPartPr/>
              <p14:nvPr/>
            </p14:nvContentPartPr>
            <p14:xfrm>
              <a:off x="3319937" y="4958760"/>
              <a:ext cx="5506200" cy="70200"/>
            </p14:xfrm>
          </p:contentPart>
        </mc:Choice>
        <mc:Fallback xmlns="">
          <p:pic>
            <p:nvPicPr>
              <p:cNvPr id="16" name="Ink 15">
                <a:extLst>
                  <a:ext uri="{FF2B5EF4-FFF2-40B4-BE49-F238E27FC236}">
                    <a16:creationId xmlns:a16="http://schemas.microsoft.com/office/drawing/2014/main" id="{B767A5C3-CAC5-DD22-165B-3CB25BB7DCE3}"/>
                  </a:ext>
                </a:extLst>
              </p:cNvPr>
              <p:cNvPicPr/>
              <p:nvPr/>
            </p:nvPicPr>
            <p:blipFill>
              <a:blip r:embed="rId26"/>
              <a:stretch>
                <a:fillRect/>
              </a:stretch>
            </p:blipFill>
            <p:spPr>
              <a:xfrm>
                <a:off x="3266297" y="4850760"/>
                <a:ext cx="5613840" cy="285840"/>
              </a:xfrm>
              <a:prstGeom prst="rect">
                <a:avLst/>
              </a:prstGeom>
            </p:spPr>
          </p:pic>
        </mc:Fallback>
      </mc:AlternateContent>
    </p:spTree>
    <p:extLst>
      <p:ext uri="{BB962C8B-B14F-4D97-AF65-F5344CB8AC3E}">
        <p14:creationId xmlns:p14="http://schemas.microsoft.com/office/powerpoint/2010/main" val="215643688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Bootstrapped Standard Errors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90600" y="954612"/>
                <a:ext cx="9982201" cy="5141388"/>
              </a:xfrm>
            </p:spPr>
            <p:txBody>
              <a:bodyPr>
                <a:noAutofit/>
              </a:bodyPr>
              <a:lstStyle/>
              <a:p>
                <a:pPr marL="0" indent="0">
                  <a:buNone/>
                </a:pPr>
                <a:r>
                  <a:rPr lang="en-US" sz="2400" b="1" dirty="0">
                    <a:solidFill>
                      <a:schemeClr val="accent2">
                        <a:lumMod val="75000"/>
                      </a:schemeClr>
                    </a:solidFill>
                    <a:cs typeface="Times New Roman" panose="02020603050405020304" pitchFamily="18" charset="0"/>
                  </a:rPr>
                  <a:t>One of the most powerful tools in statistics!</a:t>
                </a:r>
              </a:p>
              <a:p>
                <a:r>
                  <a:rPr lang="en-US" sz="2400" dirty="0">
                    <a:cs typeface="Times New Roman" panose="02020603050405020304" pitchFamily="18" charset="0"/>
                  </a:rPr>
                  <a:t>If we want to learn something about the sampling distribution, why not just take a bunch of samples and see how our estimates vary?</a:t>
                </a:r>
              </a:p>
              <a:p>
                <a:r>
                  <a:rPr lang="en-US" sz="2400" dirty="0">
                    <a:cs typeface="Times New Roman" panose="02020603050405020304" pitchFamily="18" charset="0"/>
                  </a:rPr>
                  <a:t>These are very useful for estimating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𝑠𝑒</m:t>
                    </m:r>
                    <m:r>
                      <a:rPr lang="en-US" sz="2400" b="0" i="1" smtClean="0">
                        <a:latin typeface="Cambria Math" panose="02040503050406030204" pitchFamily="18" charset="0"/>
                        <a:cs typeface="Times New Roman" panose="02020603050405020304" pitchFamily="18" charset="0"/>
                      </a:rPr>
                      <m:t>(</m:t>
                    </m:r>
                    <m:acc>
                      <m:accPr>
                        <m:chr m:val="̂"/>
                        <m:ctrlPr>
                          <a:rPr lang="en-US" sz="2400" b="0" i="1" smtClean="0">
                            <a:latin typeface="Cambria Math" panose="02040503050406030204" pitchFamily="18" charset="0"/>
                            <a:cs typeface="Times New Roman" panose="02020603050405020304" pitchFamily="18" charset="0"/>
                          </a:rPr>
                        </m:ctrlPr>
                      </m:acc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e>
                    </m:acc>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in unusual cases!</a:t>
                </a:r>
              </a:p>
              <a:p>
                <a:pPr marL="0" indent="0">
                  <a:buNone/>
                </a:pPr>
                <a:endParaRPr lang="en-US" sz="2400" dirty="0">
                  <a:cs typeface="Times New Roman" panose="02020603050405020304" pitchFamily="18" charset="0"/>
                </a:endParaRPr>
              </a:p>
              <a:p>
                <a:pPr marL="0" indent="0">
                  <a:buNone/>
                </a:pPr>
                <a:r>
                  <a:rPr lang="en-US" sz="2400" b="1" dirty="0">
                    <a:cs typeface="Times New Roman" panose="02020603050405020304" pitchFamily="18" charset="0"/>
                  </a:rPr>
                  <a:t>A couple caveats</a:t>
                </a:r>
              </a:p>
              <a:p>
                <a:r>
                  <a:rPr lang="en-US" sz="2400" dirty="0">
                    <a:cs typeface="Times New Roman" panose="02020603050405020304" pitchFamily="18" charset="0"/>
                  </a:rPr>
                  <a:t>Needs large sample sizes to work well</a:t>
                </a:r>
              </a:p>
              <a:p>
                <a:r>
                  <a:rPr lang="en-US" sz="2400" dirty="0">
                    <a:cs typeface="Times New Roman" panose="02020603050405020304" pitchFamily="18" charset="0"/>
                  </a:rPr>
                  <a:t>Can’t completely handle autocorrelation</a:t>
                </a: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90600" y="954612"/>
                <a:ext cx="9982201" cy="5141388"/>
              </a:xfrm>
              <a:blipFill>
                <a:blip r:embed="rId2"/>
                <a:stretch>
                  <a:fillRect l="-977" t="-1305"/>
                </a:stretch>
              </a:blipFill>
            </p:spPr>
            <p:txBody>
              <a:bodyPr/>
              <a:lstStyle/>
              <a:p>
                <a:r>
                  <a:rPr lang="en-US">
                    <a:noFill/>
                  </a:rPr>
                  <a:t> </a:t>
                </a:r>
              </a:p>
            </p:txBody>
          </p:sp>
        </mc:Fallback>
      </mc:AlternateContent>
    </p:spTree>
    <p:extLst>
      <p:ext uri="{BB962C8B-B14F-4D97-AF65-F5344CB8AC3E}">
        <p14:creationId xmlns:p14="http://schemas.microsoft.com/office/powerpoint/2010/main" val="5784798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Bootstrapped Standard Errors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990600" y="954612"/>
            <a:ext cx="9982201" cy="5141388"/>
          </a:xfrm>
        </p:spPr>
        <p:txBody>
          <a:bodyPr>
            <a:noAutofit/>
          </a:bodyPr>
          <a:lstStyle/>
          <a:p>
            <a:pPr marL="0" indent="0">
              <a:buNone/>
            </a:pPr>
            <a:r>
              <a:rPr lang="en-US" sz="2400" b="1" dirty="0">
                <a:solidFill>
                  <a:schemeClr val="accent2">
                    <a:lumMod val="75000"/>
                  </a:schemeClr>
                </a:solidFill>
                <a:cs typeface="Times New Roman" panose="02020603050405020304" pitchFamily="18" charset="0"/>
              </a:rPr>
              <a:t>One of the most powerful tools in statistics!</a:t>
            </a:r>
          </a:p>
          <a:p>
            <a:pPr marL="457200" indent="-457200">
              <a:buFont typeface="+mj-lt"/>
              <a:buAutoNum type="arabicPeriod"/>
            </a:pPr>
            <a:r>
              <a:rPr lang="en-US" sz="2400" dirty="0">
                <a:cs typeface="Times New Roman" panose="02020603050405020304" pitchFamily="18" charset="0"/>
              </a:rPr>
              <a:t>Start with a data set with  observations.</a:t>
            </a:r>
          </a:p>
          <a:p>
            <a:pPr marL="457200" indent="-457200">
              <a:buFont typeface="+mj-lt"/>
              <a:buAutoNum type="arabicPeriod"/>
            </a:pPr>
            <a:r>
              <a:rPr lang="en-US" sz="2400" dirty="0">
                <a:cs typeface="Times New Roman" panose="02020603050405020304" pitchFamily="18" charset="0"/>
              </a:rPr>
              <a:t>Randomly sample  observations from that data set, allowing the same observation to be drawn more than once. This is a “bootstrap sample.”</a:t>
            </a:r>
          </a:p>
          <a:p>
            <a:pPr marL="457200" indent="-457200">
              <a:buFont typeface="+mj-lt"/>
              <a:buAutoNum type="arabicPeriod"/>
            </a:pPr>
            <a:r>
              <a:rPr lang="en-US" sz="2400" dirty="0">
                <a:cs typeface="Times New Roman" panose="02020603050405020304" pitchFamily="18" charset="0"/>
              </a:rPr>
              <a:t>Estimate our statistic of interest using the bootstrap sample.</a:t>
            </a:r>
          </a:p>
          <a:p>
            <a:pPr marL="457200" indent="-457200">
              <a:buFont typeface="+mj-lt"/>
              <a:buAutoNum type="arabicPeriod"/>
            </a:pPr>
            <a:r>
              <a:rPr lang="en-US" sz="2400" dirty="0">
                <a:cs typeface="Times New Roman" panose="02020603050405020304" pitchFamily="18" charset="0"/>
              </a:rPr>
              <a:t>Repeat steps 1-3 a whole bunch of times.</a:t>
            </a:r>
          </a:p>
          <a:p>
            <a:pPr marL="457200" indent="-457200">
              <a:buFont typeface="+mj-lt"/>
              <a:buAutoNum type="arabicPeriod"/>
            </a:pPr>
            <a:r>
              <a:rPr lang="en-US" sz="2400" dirty="0">
                <a:cs typeface="Times New Roman" panose="02020603050405020304" pitchFamily="18" charset="0"/>
              </a:rPr>
              <a:t>Look at the distribution of estimates from across all the times we repeated steps 1-3. The standard deviation of that distribution is the standard error of the estimate. The 2.5th and 97.5th percentiles show the 95% confidence interval, and so on.</a:t>
            </a:r>
            <a:r>
              <a:rPr lang="en-US" sz="2400" b="1" dirty="0">
                <a:solidFill>
                  <a:schemeClr val="accent2">
                    <a:lumMod val="75000"/>
                  </a:schemeClr>
                </a:solidFill>
                <a:cs typeface="Times New Roman" panose="02020603050405020304" pitchFamily="18" charset="0"/>
              </a:rPr>
              <a:t>	</a:t>
            </a:r>
            <a:endParaRPr lang="en-US" sz="2400" b="1" dirty="0">
              <a:cs typeface="Times New Roman" panose="02020603050405020304" pitchFamily="18" charset="0"/>
            </a:endParaRPr>
          </a:p>
          <a:p>
            <a:endParaRPr lang="en-US" sz="2400" b="1" dirty="0">
              <a:solidFill>
                <a:schemeClr val="accent2">
                  <a:lumMod val="75000"/>
                </a:schemeClr>
              </a:solidFill>
              <a:cs typeface="Times New Roman" panose="02020603050405020304" pitchFamily="18" charset="0"/>
            </a:endParaRPr>
          </a:p>
        </p:txBody>
      </p:sp>
      <p:pic>
        <p:nvPicPr>
          <p:cNvPr id="4" name="Picture 2" descr="RStudio - RStudio">
            <a:extLst>
              <a:ext uri="{FF2B5EF4-FFF2-40B4-BE49-F238E27FC236}">
                <a16:creationId xmlns:a16="http://schemas.microsoft.com/office/drawing/2014/main" id="{D2D6D72B-E627-1E25-217A-00EB8626703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27629" y="51054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4214899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p:txBody>
          <a:bodyPr/>
          <a:lstStyle/>
          <a:p>
            <a:r>
              <a:rPr lang="en-US" dirty="0"/>
              <a:t>Nonlinear Models (pt. 1)</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4625941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Nonlinearities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829801" cy="5141388"/>
          </a:xfrm>
        </p:spPr>
        <p:txBody>
          <a:bodyPr>
            <a:normAutofit/>
          </a:bodyPr>
          <a:lstStyle/>
          <a:p>
            <a:pPr marL="0" indent="0">
              <a:buNone/>
            </a:pPr>
            <a:r>
              <a:rPr lang="en-US" sz="2400" dirty="0">
                <a:cs typeface="Times New Roman" panose="02020603050405020304" pitchFamily="18" charset="0"/>
              </a:rPr>
              <a:t>Sometimes, a linear model</a:t>
            </a:r>
            <a:r>
              <a:rPr lang="en-US" sz="2400" dirty="0">
                <a:solidFill>
                  <a:schemeClr val="accent2">
                    <a:lumMod val="75000"/>
                  </a:schemeClr>
                </a:solidFill>
                <a:cs typeface="Times New Roman" panose="02020603050405020304" pitchFamily="18" charset="0"/>
              </a:rPr>
              <a:t> </a:t>
            </a:r>
            <a:r>
              <a:rPr lang="en-US" sz="2400" b="1" dirty="0">
                <a:solidFill>
                  <a:schemeClr val="accent2">
                    <a:lumMod val="75000"/>
                  </a:schemeClr>
                </a:solidFill>
                <a:cs typeface="Times New Roman" panose="02020603050405020304" pitchFamily="18" charset="0"/>
              </a:rPr>
              <a:t>isn’t enough </a:t>
            </a:r>
            <a:r>
              <a:rPr lang="en-US" sz="2400" dirty="0">
                <a:cs typeface="Times New Roman" panose="02020603050405020304" pitchFamily="18" charset="0"/>
              </a:rPr>
              <a:t>(even after transformations)</a:t>
            </a:r>
          </a:p>
        </p:txBody>
      </p:sp>
      <p:pic>
        <p:nvPicPr>
          <p:cNvPr id="6" name="Picture 5">
            <a:extLst>
              <a:ext uri="{FF2B5EF4-FFF2-40B4-BE49-F238E27FC236}">
                <a16:creationId xmlns:a16="http://schemas.microsoft.com/office/drawing/2014/main" id="{0E6FEEC2-6A51-8BB1-9503-FD527F3FAC1B}"/>
              </a:ext>
            </a:extLst>
          </p:cNvPr>
          <p:cNvPicPr>
            <a:picLocks noChangeAspect="1"/>
          </p:cNvPicPr>
          <p:nvPr/>
        </p:nvPicPr>
        <p:blipFill>
          <a:blip r:embed="rId3"/>
          <a:stretch>
            <a:fillRect/>
          </a:stretch>
        </p:blipFill>
        <p:spPr>
          <a:xfrm>
            <a:off x="1600200" y="1740758"/>
            <a:ext cx="7978231" cy="4572000"/>
          </a:xfrm>
          <a:prstGeom prst="rect">
            <a:avLst/>
          </a:prstGeom>
        </p:spPr>
      </p:pic>
    </p:spTree>
    <p:extLst>
      <p:ext uri="{BB962C8B-B14F-4D97-AF65-F5344CB8AC3E}">
        <p14:creationId xmlns:p14="http://schemas.microsoft.com/office/powerpoint/2010/main" val="43058723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Could we transform this data?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829801" cy="5141388"/>
          </a:xfrm>
        </p:spPr>
        <p:txBody>
          <a:bodyPr>
            <a:normAutofit/>
          </a:bodyPr>
          <a:lstStyle/>
          <a:p>
            <a:pPr marL="0" indent="0">
              <a:buNone/>
            </a:pPr>
            <a:r>
              <a:rPr lang="en-US" sz="2400" dirty="0">
                <a:cs typeface="Times New Roman" panose="02020603050405020304" pitchFamily="18" charset="0"/>
              </a:rPr>
              <a:t>When data can be transformed to accommodate linear relationships, </a:t>
            </a:r>
            <a:r>
              <a:rPr lang="en-US" sz="2400" b="1" dirty="0">
                <a:cs typeface="Times New Roman" panose="02020603050405020304" pitchFamily="18" charset="0"/>
              </a:rPr>
              <a:t>do it</a:t>
            </a:r>
          </a:p>
          <a:p>
            <a:r>
              <a:rPr lang="en-US" sz="2400" b="1" dirty="0">
                <a:solidFill>
                  <a:schemeClr val="accent2">
                    <a:lumMod val="75000"/>
                  </a:schemeClr>
                </a:solidFill>
                <a:cs typeface="Times New Roman" panose="02020603050405020304" pitchFamily="18" charset="0"/>
              </a:rPr>
              <a:t>Otherwise, add polynomial terms!</a:t>
            </a:r>
            <a:endParaRPr lang="en-US" sz="2400" dirty="0">
              <a:solidFill>
                <a:schemeClr val="accent2">
                  <a:lumMod val="75000"/>
                </a:schemeClr>
              </a:solidFill>
              <a:cs typeface="Times New Roman" panose="02020603050405020304" pitchFamily="18" charset="0"/>
            </a:endParaRPr>
          </a:p>
        </p:txBody>
      </p:sp>
      <p:pic>
        <p:nvPicPr>
          <p:cNvPr id="6" name="Picture 5">
            <a:extLst>
              <a:ext uri="{FF2B5EF4-FFF2-40B4-BE49-F238E27FC236}">
                <a16:creationId xmlns:a16="http://schemas.microsoft.com/office/drawing/2014/main" id="{0E6FEEC2-6A51-8BB1-9503-FD527F3FAC1B}"/>
              </a:ext>
            </a:extLst>
          </p:cNvPr>
          <p:cNvPicPr>
            <a:picLocks noChangeAspect="1"/>
          </p:cNvPicPr>
          <p:nvPr/>
        </p:nvPicPr>
        <p:blipFill>
          <a:blip r:embed="rId3"/>
          <a:stretch>
            <a:fillRect/>
          </a:stretch>
        </p:blipFill>
        <p:spPr>
          <a:xfrm>
            <a:off x="1600200" y="1981200"/>
            <a:ext cx="7978231" cy="4572000"/>
          </a:xfrm>
          <a:prstGeom prst="rect">
            <a:avLst/>
          </a:prstGeom>
        </p:spPr>
      </p:pic>
    </p:spTree>
    <p:extLst>
      <p:ext uri="{BB962C8B-B14F-4D97-AF65-F5344CB8AC3E}">
        <p14:creationId xmlns:p14="http://schemas.microsoft.com/office/powerpoint/2010/main" val="280314985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Choosing a Functional Form </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829801" cy="5141388"/>
              </a:xfrm>
            </p:spPr>
            <p:txBody>
              <a:bodyPr>
                <a:normAutofit/>
              </a:bodyPr>
              <a:lstStyle/>
              <a:p>
                <a:pPr marL="0" indent="0">
                  <a:buNone/>
                </a:pPr>
                <a:r>
                  <a:rPr lang="en-US" sz="2400" dirty="0">
                    <a:cs typeface="Times New Roman" panose="02020603050405020304" pitchFamily="18" charset="0"/>
                  </a:rPr>
                  <a:t>OLS can accommodate regressions of the form: </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𝑦</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𝑥</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2</m:t>
                          </m:r>
                        </m:sub>
                      </m:sSub>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𝑥</m:t>
                          </m:r>
                        </m:e>
                        <m:sup>
                          <m:r>
                            <a:rPr lang="en-US" sz="2400" b="0" i="1" smtClean="0">
                              <a:latin typeface="Cambria Math" panose="02040503050406030204" pitchFamily="18" charset="0"/>
                              <a:cs typeface="Times New Roman" panose="02020603050405020304" pitchFamily="18" charset="0"/>
                            </a:rPr>
                            <m:t>2</m:t>
                          </m:r>
                        </m:sup>
                      </m:sSup>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3</m:t>
                          </m:r>
                        </m:sub>
                      </m:sSub>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𝑥</m:t>
                          </m:r>
                        </m:e>
                        <m:sup>
                          <m:r>
                            <a:rPr lang="en-US" sz="2400" b="0" i="1" smtClean="0">
                              <a:latin typeface="Cambria Math" panose="02040503050406030204" pitchFamily="18" charset="0"/>
                              <a:cs typeface="Times New Roman" panose="02020603050405020304" pitchFamily="18" charset="0"/>
                            </a:rPr>
                            <m:t>3</m:t>
                          </m:r>
                        </m:sup>
                      </m:sSup>
                      <m:r>
                        <a:rPr lang="en-US" sz="2400" b="0" i="1" smtClean="0">
                          <a:latin typeface="Cambria Math" panose="02040503050406030204" pitchFamily="18" charset="0"/>
                          <a:cs typeface="Times New Roman" panose="02020603050405020304" pitchFamily="18" charset="0"/>
                        </a:rPr>
                        <m:t>+ …+</m:t>
                      </m:r>
                      <m:acc>
                        <m:accPr>
                          <m:chr m:val="⃗"/>
                          <m:ctrlPr>
                            <a:rPr lang="en-US" sz="2400" b="0" i="1" smtClean="0">
                              <a:latin typeface="Cambria Math" panose="02040503050406030204" pitchFamily="18" charset="0"/>
                              <a:cs typeface="Times New Roman" panose="02020603050405020304" pitchFamily="18" charset="0"/>
                            </a:rPr>
                          </m:ctrlPr>
                        </m:accPr>
                        <m:e>
                          <m:r>
                            <a:rPr lang="en-US" sz="2400" b="0" i="1" smtClean="0">
                              <a:latin typeface="Cambria Math" panose="02040503050406030204" pitchFamily="18" charset="0"/>
                              <a:cs typeface="Times New Roman" panose="02020603050405020304" pitchFamily="18" charset="0"/>
                            </a:rPr>
                            <m:t>𝛾</m:t>
                          </m:r>
                        </m:e>
                      </m:acc>
                      <m:r>
                        <a:rPr lang="en-US" sz="2400" b="0" i="1" smtClean="0">
                          <a:latin typeface="Cambria Math" panose="02040503050406030204" pitchFamily="18" charset="0"/>
                          <a:cs typeface="Times New Roman" panose="02020603050405020304" pitchFamily="18" charset="0"/>
                        </a:rPr>
                        <m:t>𝑍</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𝜀</m:t>
                      </m:r>
                    </m:oMath>
                  </m:oMathPara>
                </a14:m>
                <a:endParaRPr lang="en-US" sz="2400" dirty="0">
                  <a:cs typeface="Times New Roman" panose="02020603050405020304" pitchFamily="18" charset="0"/>
                </a:endParaRPr>
              </a:p>
              <a:p>
                <a:r>
                  <a:rPr lang="en-US" sz="2400" dirty="0">
                    <a:cs typeface="Times New Roman" panose="02020603050405020304" pitchFamily="18" charset="0"/>
                  </a:rPr>
                  <a:t>Still linear </a:t>
                </a:r>
                <a:r>
                  <a:rPr lang="en-US" sz="2400" b="1" dirty="0">
                    <a:cs typeface="Times New Roman" panose="02020603050405020304" pitchFamily="18" charset="0"/>
                  </a:rPr>
                  <a:t>in parameters </a:t>
                </a:r>
              </a:p>
              <a:p>
                <a:r>
                  <a:rPr lang="en-US" sz="2400" dirty="0">
                    <a:cs typeface="Times New Roman" panose="02020603050405020304" pitchFamily="18" charset="0"/>
                  </a:rPr>
                  <a:t>As in interaction terms, </a:t>
                </a:r>
                <a:r>
                  <a:rPr lang="en-US" sz="2400" b="1" dirty="0">
                    <a:cs typeface="Times New Roman" panose="02020603050405020304" pitchFamily="18" charset="0"/>
                  </a:rPr>
                  <a:t>never omit </a:t>
                </a:r>
                <a:r>
                  <a:rPr lang="en-US" sz="2400" dirty="0">
                    <a:cs typeface="Times New Roman" panose="02020603050405020304" pitchFamily="18" charset="0"/>
                  </a:rPr>
                  <a:t>an intermediate power</a:t>
                </a:r>
              </a:p>
              <a:p>
                <a:pPr lvl="1"/>
                <a:r>
                  <a:rPr lang="en-US" sz="2200" dirty="0">
                    <a:cs typeface="Times New Roman" panose="02020603050405020304" pitchFamily="18" charset="0"/>
                  </a:rPr>
                  <a:t>That is, don’t add a cubic term without a quadratic one</a:t>
                </a: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829801" cy="5141388"/>
              </a:xfrm>
              <a:blipFill>
                <a:blip r:embed="rId3"/>
                <a:stretch>
                  <a:fillRect l="-930" t="-1305"/>
                </a:stretch>
              </a:blipFill>
            </p:spPr>
            <p:txBody>
              <a:bodyPr/>
              <a:lstStyle/>
              <a:p>
                <a:r>
                  <a:rPr lang="en-US">
                    <a:noFill/>
                  </a:rPr>
                  <a:t> </a:t>
                </a:r>
              </a:p>
            </p:txBody>
          </p:sp>
        </mc:Fallback>
      </mc:AlternateContent>
    </p:spTree>
    <p:extLst>
      <p:ext uri="{BB962C8B-B14F-4D97-AF65-F5344CB8AC3E}">
        <p14:creationId xmlns:p14="http://schemas.microsoft.com/office/powerpoint/2010/main" val="21740011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Choosing a Functional Form </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829801" cy="5141388"/>
              </a:xfrm>
            </p:spPr>
            <p:txBody>
              <a:bodyPr>
                <a:normAutofit/>
              </a:bodyPr>
              <a:lstStyle/>
              <a:p>
                <a:pPr marL="0" indent="0">
                  <a:buNone/>
                </a:pPr>
                <a:r>
                  <a:rPr lang="en-US" sz="2400" dirty="0">
                    <a:cs typeface="Times New Roman" panose="02020603050405020304" pitchFamily="18" charset="0"/>
                  </a:rPr>
                  <a:t>OLS can accommodate regressions of the form: </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𝑦</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𝑥</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2</m:t>
                          </m:r>
                        </m:sub>
                      </m:sSub>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𝑥</m:t>
                          </m:r>
                        </m:e>
                        <m:sup>
                          <m:r>
                            <a:rPr lang="en-US" sz="2400" b="0" i="1" smtClean="0">
                              <a:latin typeface="Cambria Math" panose="02040503050406030204" pitchFamily="18" charset="0"/>
                              <a:cs typeface="Times New Roman" panose="02020603050405020304" pitchFamily="18" charset="0"/>
                            </a:rPr>
                            <m:t>2</m:t>
                          </m:r>
                        </m:sup>
                      </m:sSup>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3</m:t>
                          </m:r>
                        </m:sub>
                      </m:sSub>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𝑥</m:t>
                          </m:r>
                        </m:e>
                        <m:sup>
                          <m:r>
                            <a:rPr lang="en-US" sz="2400" b="0" i="1" smtClean="0">
                              <a:latin typeface="Cambria Math" panose="02040503050406030204" pitchFamily="18" charset="0"/>
                              <a:cs typeface="Times New Roman" panose="02020603050405020304" pitchFamily="18" charset="0"/>
                            </a:rPr>
                            <m:t>3</m:t>
                          </m:r>
                        </m:sup>
                      </m:sSup>
                      <m:r>
                        <a:rPr lang="en-US" sz="2400" b="0" i="1" smtClean="0">
                          <a:latin typeface="Cambria Math" panose="02040503050406030204" pitchFamily="18" charset="0"/>
                          <a:cs typeface="Times New Roman" panose="02020603050405020304" pitchFamily="18" charset="0"/>
                        </a:rPr>
                        <m:t>+ …+</m:t>
                      </m:r>
                      <m:acc>
                        <m:accPr>
                          <m:chr m:val="⃗"/>
                          <m:ctrlPr>
                            <a:rPr lang="en-US" sz="2400" b="0" i="1" smtClean="0">
                              <a:latin typeface="Cambria Math" panose="02040503050406030204" pitchFamily="18" charset="0"/>
                              <a:cs typeface="Times New Roman" panose="02020603050405020304" pitchFamily="18" charset="0"/>
                            </a:rPr>
                          </m:ctrlPr>
                        </m:accPr>
                        <m:e>
                          <m:r>
                            <a:rPr lang="en-US" sz="2400" b="0" i="1" smtClean="0">
                              <a:latin typeface="Cambria Math" panose="02040503050406030204" pitchFamily="18" charset="0"/>
                              <a:cs typeface="Times New Roman" panose="02020603050405020304" pitchFamily="18" charset="0"/>
                            </a:rPr>
                            <m:t>𝛾</m:t>
                          </m:r>
                        </m:e>
                      </m:acc>
                      <m:r>
                        <a:rPr lang="en-US" sz="2400" b="0" i="1" smtClean="0">
                          <a:latin typeface="Cambria Math" panose="02040503050406030204" pitchFamily="18" charset="0"/>
                          <a:cs typeface="Times New Roman" panose="02020603050405020304" pitchFamily="18" charset="0"/>
                        </a:rPr>
                        <m:t>𝑍</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𝜀</m:t>
                      </m:r>
                    </m:oMath>
                  </m:oMathPara>
                </a14:m>
                <a:endParaRPr lang="en-US" sz="2400" dirty="0">
                  <a:cs typeface="Times New Roman" panose="02020603050405020304" pitchFamily="18" charset="0"/>
                </a:endParaRPr>
              </a:p>
              <a:p>
                <a:r>
                  <a:rPr lang="en-US" sz="2400" dirty="0">
                    <a:cs typeface="Times New Roman" panose="02020603050405020304" pitchFamily="18" charset="0"/>
                  </a:rPr>
                  <a:t>Still linear </a:t>
                </a:r>
                <a:r>
                  <a:rPr lang="en-US" sz="2400" b="1" dirty="0">
                    <a:cs typeface="Times New Roman" panose="02020603050405020304" pitchFamily="18" charset="0"/>
                  </a:rPr>
                  <a:t>in parameters </a:t>
                </a:r>
              </a:p>
              <a:p>
                <a:r>
                  <a:rPr lang="en-US" sz="2400" dirty="0">
                    <a:cs typeface="Times New Roman" panose="02020603050405020304" pitchFamily="18" charset="0"/>
                  </a:rPr>
                  <a:t>As in interaction terms, </a:t>
                </a:r>
                <a:r>
                  <a:rPr lang="en-US" sz="2400" b="1" dirty="0">
                    <a:cs typeface="Times New Roman" panose="02020603050405020304" pitchFamily="18" charset="0"/>
                  </a:rPr>
                  <a:t>never omit </a:t>
                </a:r>
                <a:r>
                  <a:rPr lang="en-US" sz="2400" dirty="0">
                    <a:cs typeface="Times New Roman" panose="02020603050405020304" pitchFamily="18" charset="0"/>
                  </a:rPr>
                  <a:t>an intermediate power</a:t>
                </a:r>
              </a:p>
              <a:p>
                <a:pPr lvl="1"/>
                <a:r>
                  <a:rPr lang="en-US" sz="2200" dirty="0">
                    <a:cs typeface="Times New Roman" panose="02020603050405020304" pitchFamily="18" charset="0"/>
                  </a:rPr>
                  <a:t>That is, don’t add a cubic term without a quadratic one</a:t>
                </a:r>
              </a:p>
              <a:p>
                <a:r>
                  <a:rPr lang="en-US" sz="2400" dirty="0">
                    <a:cs typeface="Times New Roman" panose="02020603050405020304" pitchFamily="18" charset="0"/>
                  </a:rPr>
                  <a:t>Changing functional forms may yield a better fit, but also changes interpretation of the coefficients.</a:t>
                </a: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829801" cy="5141388"/>
              </a:xfrm>
              <a:blipFill>
                <a:blip r:embed="rId3"/>
                <a:stretch>
                  <a:fillRect l="-930" t="-1305"/>
                </a:stretch>
              </a:blipFill>
            </p:spPr>
            <p:txBody>
              <a:bodyPr/>
              <a:lstStyle/>
              <a:p>
                <a:r>
                  <a:rPr lang="en-US">
                    <a:noFill/>
                  </a:rPr>
                  <a:t> </a:t>
                </a:r>
              </a:p>
            </p:txBody>
          </p:sp>
        </mc:Fallback>
      </mc:AlternateContent>
    </p:spTree>
    <p:extLst>
      <p:ext uri="{BB962C8B-B14F-4D97-AF65-F5344CB8AC3E}">
        <p14:creationId xmlns:p14="http://schemas.microsoft.com/office/powerpoint/2010/main" val="375116771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How do we Interpret Coefficients? </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829801" cy="5141388"/>
              </a:xfrm>
            </p:spPr>
            <p:txBody>
              <a:bodyPr>
                <a:normAutofit/>
              </a:bodyPr>
              <a:lstStyle/>
              <a:p>
                <a:pPr marL="0" indent="0">
                  <a:buNone/>
                </a:pPr>
                <a:r>
                  <a:rPr lang="en-US" sz="2400" dirty="0">
                    <a:cs typeface="Times New Roman" panose="02020603050405020304" pitchFamily="18" charset="0"/>
                  </a:rPr>
                  <a:t>OLS can accommodate regressions of the form: </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𝑦</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𝑥</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2</m:t>
                          </m:r>
                        </m:sub>
                      </m:sSub>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𝑥</m:t>
                          </m:r>
                        </m:e>
                        <m:sup>
                          <m:r>
                            <a:rPr lang="en-US" sz="2400" b="0" i="1" smtClean="0">
                              <a:latin typeface="Cambria Math" panose="02040503050406030204" pitchFamily="18" charset="0"/>
                              <a:cs typeface="Times New Roman" panose="02020603050405020304" pitchFamily="18" charset="0"/>
                            </a:rPr>
                            <m:t>2</m:t>
                          </m:r>
                        </m:sup>
                      </m:sSup>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3</m:t>
                          </m:r>
                        </m:sub>
                      </m:sSub>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𝑥</m:t>
                          </m:r>
                        </m:e>
                        <m:sup>
                          <m:r>
                            <a:rPr lang="en-US" sz="2400" b="0" i="1" smtClean="0">
                              <a:latin typeface="Cambria Math" panose="02040503050406030204" pitchFamily="18" charset="0"/>
                              <a:cs typeface="Times New Roman" panose="02020603050405020304" pitchFamily="18" charset="0"/>
                            </a:rPr>
                            <m:t>3</m:t>
                          </m:r>
                        </m:sup>
                      </m:sSup>
                      <m:r>
                        <a:rPr lang="en-US" sz="2400" b="0" i="1" smtClean="0">
                          <a:latin typeface="Cambria Math" panose="02040503050406030204" pitchFamily="18" charset="0"/>
                          <a:cs typeface="Times New Roman" panose="02020603050405020304" pitchFamily="18" charset="0"/>
                        </a:rPr>
                        <m:t>+ …+</m:t>
                      </m:r>
                      <m:acc>
                        <m:accPr>
                          <m:chr m:val="⃗"/>
                          <m:ctrlPr>
                            <a:rPr lang="en-US" sz="2400" b="0" i="1" smtClean="0">
                              <a:latin typeface="Cambria Math" panose="02040503050406030204" pitchFamily="18" charset="0"/>
                              <a:cs typeface="Times New Roman" panose="02020603050405020304" pitchFamily="18" charset="0"/>
                            </a:rPr>
                          </m:ctrlPr>
                        </m:accPr>
                        <m:e>
                          <m:r>
                            <a:rPr lang="en-US" sz="2400" b="0" i="1" smtClean="0">
                              <a:latin typeface="Cambria Math" panose="02040503050406030204" pitchFamily="18" charset="0"/>
                              <a:cs typeface="Times New Roman" panose="02020603050405020304" pitchFamily="18" charset="0"/>
                            </a:rPr>
                            <m:t>𝛾</m:t>
                          </m:r>
                        </m:e>
                      </m:acc>
                      <m:r>
                        <a:rPr lang="en-US" sz="2400" b="0" i="1" smtClean="0">
                          <a:latin typeface="Cambria Math" panose="02040503050406030204" pitchFamily="18" charset="0"/>
                          <a:cs typeface="Times New Roman" panose="02020603050405020304" pitchFamily="18" charset="0"/>
                        </a:rPr>
                        <m:t>𝑍</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𝜀</m:t>
                      </m:r>
                    </m:oMath>
                  </m:oMathPara>
                </a14:m>
                <a:endParaRPr lang="en-US" sz="2400" dirty="0">
                  <a:cs typeface="Times New Roman" panose="02020603050405020304" pitchFamily="18" charset="0"/>
                </a:endParaRPr>
              </a:p>
              <a:p>
                <a:r>
                  <a:rPr lang="en-US" sz="2400" dirty="0">
                    <a:cs typeface="Times New Roman" panose="02020603050405020304" pitchFamily="18" charset="0"/>
                  </a:rPr>
                  <a:t>Changing functional forms may yield a better fit, but also changes interpretation of the coefficients.</a:t>
                </a:r>
              </a:p>
              <a:p>
                <a:pPr marL="0" indent="0">
                  <a:buNone/>
                </a:pPr>
                <a14:m>
                  <m:oMathPara xmlns:m="http://schemas.openxmlformats.org/officeDocument/2006/math">
                    <m:oMathParaPr>
                      <m:jc m:val="centerGroup"/>
                    </m:oMathParaPr>
                    <m:oMath xmlns:m="http://schemas.openxmlformats.org/officeDocument/2006/math">
                      <m:f>
                        <m:fPr>
                          <m:ctrlPr>
                            <a:rPr lang="en-US" sz="2400" b="0" i="1" smtClean="0">
                              <a:latin typeface="Cambria Math" panose="02040503050406030204" pitchFamily="18" charset="0"/>
                              <a:cs typeface="Times New Roman" panose="02020603050405020304" pitchFamily="18" charset="0"/>
                            </a:rPr>
                          </m:ctrlPr>
                        </m:fPr>
                        <m:num>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𝑦</m:t>
                          </m:r>
                        </m:num>
                        <m:den>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𝑥</m:t>
                          </m:r>
                        </m:den>
                      </m:f>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+2</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2</m:t>
                          </m:r>
                        </m:sub>
                      </m:sSub>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𝑥</m:t>
                      </m:r>
                      <m:r>
                        <a:rPr lang="en-US" sz="2400" b="0" i="1" smtClean="0">
                          <a:latin typeface="Cambria Math" panose="02040503050406030204" pitchFamily="18" charset="0"/>
                          <a:cs typeface="Times New Roman" panose="02020603050405020304" pitchFamily="18" charset="0"/>
                        </a:rPr>
                        <m:t>+3</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3</m:t>
                          </m:r>
                        </m:sub>
                      </m:sSub>
                      <m:r>
                        <a:rPr lang="en-US" sz="2400" b="0" i="1" smtClean="0">
                          <a:latin typeface="Cambria Math" panose="02040503050406030204" pitchFamily="18" charset="0"/>
                          <a:cs typeface="Times New Roman" panose="02020603050405020304" pitchFamily="18" charset="0"/>
                        </a:rPr>
                        <m:t>⋅</m:t>
                      </m:r>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𝑥</m:t>
                          </m:r>
                        </m:e>
                        <m:sup>
                          <m:r>
                            <a:rPr lang="en-US" sz="2400" b="0" i="1" smtClean="0">
                              <a:latin typeface="Cambria Math" panose="02040503050406030204" pitchFamily="18" charset="0"/>
                              <a:cs typeface="Times New Roman" panose="02020603050405020304" pitchFamily="18" charset="0"/>
                            </a:rPr>
                            <m:t>2</m:t>
                          </m:r>
                        </m:sup>
                      </m:sSup>
                      <m:r>
                        <a:rPr lang="en-US" sz="2400" b="0" i="1" smtClean="0">
                          <a:latin typeface="Cambria Math" panose="02040503050406030204" pitchFamily="18" charset="0"/>
                          <a:cs typeface="Times New Roman" panose="02020603050405020304" pitchFamily="18" charset="0"/>
                        </a:rPr>
                        <m:t>+ …</m:t>
                      </m:r>
                    </m:oMath>
                  </m:oMathPara>
                </a14:m>
                <a:endParaRPr lang="en-US" sz="2400" dirty="0">
                  <a:cs typeface="Times New Roman" panose="02020603050405020304" pitchFamily="18" charset="0"/>
                </a:endParaRPr>
              </a:p>
              <a:p>
                <a:r>
                  <a:rPr lang="en-US" sz="2400" dirty="0">
                    <a:cs typeface="Times New Roman" panose="02020603050405020304" pitchFamily="18" charset="0"/>
                  </a:rPr>
                  <a:t>Now, </a:t>
                </a:r>
                <a:r>
                  <a:rPr lang="en-US" sz="2400" b="1" dirty="0">
                    <a:solidFill>
                      <a:schemeClr val="accent2">
                        <a:lumMod val="75000"/>
                      </a:schemeClr>
                    </a:solidFill>
                    <a:cs typeface="Times New Roman" panose="02020603050405020304" pitchFamily="18" charset="0"/>
                  </a:rPr>
                  <a:t>marginal effects </a:t>
                </a:r>
                <a:r>
                  <a:rPr lang="en-US" sz="2400" dirty="0">
                    <a:cs typeface="Times New Roman" panose="02020603050405020304" pitchFamily="18" charset="0"/>
                  </a:rPr>
                  <a:t>depend on levels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𝑥</m:t>
                    </m:r>
                  </m:oMath>
                </a14:m>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829801" cy="5141388"/>
              </a:xfrm>
              <a:blipFill>
                <a:blip r:embed="rId3"/>
                <a:stretch>
                  <a:fillRect l="-930" t="-1305"/>
                </a:stretch>
              </a:blipFill>
            </p:spPr>
            <p:txBody>
              <a:bodyPr/>
              <a:lstStyle/>
              <a:p>
                <a:r>
                  <a:rPr lang="en-US">
                    <a:noFill/>
                  </a:rPr>
                  <a:t> </a:t>
                </a:r>
              </a:p>
            </p:txBody>
          </p:sp>
        </mc:Fallback>
      </mc:AlternateContent>
    </p:spTree>
    <p:extLst>
      <p:ext uri="{BB962C8B-B14F-4D97-AF65-F5344CB8AC3E}">
        <p14:creationId xmlns:p14="http://schemas.microsoft.com/office/powerpoint/2010/main" val="1831719787"/>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How do we Interpret Coefficients? </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829801" cy="5141388"/>
              </a:xfrm>
            </p:spPr>
            <p:txBody>
              <a:bodyPr>
                <a:normAutofit/>
              </a:bodyPr>
              <a:lstStyle/>
              <a:p>
                <a:pPr marL="0" indent="0">
                  <a:buNone/>
                </a:pPr>
                <a:r>
                  <a:rPr lang="en-US" sz="2400" dirty="0">
                    <a:cs typeface="Times New Roman" panose="02020603050405020304" pitchFamily="18" charset="0"/>
                  </a:rPr>
                  <a:t>OLS can accommodate regressions of the form: </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𝑦</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𝑥</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2</m:t>
                          </m:r>
                        </m:sub>
                      </m:sSub>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𝑥</m:t>
                          </m:r>
                        </m:e>
                        <m:sup>
                          <m:r>
                            <a:rPr lang="en-US" sz="2400" b="0" i="1" smtClean="0">
                              <a:latin typeface="Cambria Math" panose="02040503050406030204" pitchFamily="18" charset="0"/>
                              <a:cs typeface="Times New Roman" panose="02020603050405020304" pitchFamily="18" charset="0"/>
                            </a:rPr>
                            <m:t>2</m:t>
                          </m:r>
                        </m:sup>
                      </m:sSup>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3</m:t>
                          </m:r>
                        </m:sub>
                      </m:sSub>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𝑥</m:t>
                          </m:r>
                        </m:e>
                        <m:sup>
                          <m:r>
                            <a:rPr lang="en-US" sz="2400" b="0" i="1" smtClean="0">
                              <a:latin typeface="Cambria Math" panose="02040503050406030204" pitchFamily="18" charset="0"/>
                              <a:cs typeface="Times New Roman" panose="02020603050405020304" pitchFamily="18" charset="0"/>
                            </a:rPr>
                            <m:t>3</m:t>
                          </m:r>
                        </m:sup>
                      </m:sSup>
                      <m:r>
                        <a:rPr lang="en-US" sz="2400" b="0" i="1" smtClean="0">
                          <a:latin typeface="Cambria Math" panose="02040503050406030204" pitchFamily="18" charset="0"/>
                          <a:cs typeface="Times New Roman" panose="02020603050405020304" pitchFamily="18" charset="0"/>
                        </a:rPr>
                        <m:t>+ …+</m:t>
                      </m:r>
                      <m:acc>
                        <m:accPr>
                          <m:chr m:val="⃗"/>
                          <m:ctrlPr>
                            <a:rPr lang="en-US" sz="2400" b="0" i="1" smtClean="0">
                              <a:latin typeface="Cambria Math" panose="02040503050406030204" pitchFamily="18" charset="0"/>
                              <a:cs typeface="Times New Roman" panose="02020603050405020304" pitchFamily="18" charset="0"/>
                            </a:rPr>
                          </m:ctrlPr>
                        </m:accPr>
                        <m:e>
                          <m:r>
                            <a:rPr lang="en-US" sz="2400" b="0" i="1" smtClean="0">
                              <a:latin typeface="Cambria Math" panose="02040503050406030204" pitchFamily="18" charset="0"/>
                              <a:cs typeface="Times New Roman" panose="02020603050405020304" pitchFamily="18" charset="0"/>
                            </a:rPr>
                            <m:t>𝛾</m:t>
                          </m:r>
                        </m:e>
                      </m:acc>
                      <m:r>
                        <a:rPr lang="en-US" sz="2400" b="0" i="1" smtClean="0">
                          <a:latin typeface="Cambria Math" panose="02040503050406030204" pitchFamily="18" charset="0"/>
                          <a:cs typeface="Times New Roman" panose="02020603050405020304" pitchFamily="18" charset="0"/>
                        </a:rPr>
                        <m:t>𝑍</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𝜀</m:t>
                      </m:r>
                    </m:oMath>
                  </m:oMathPara>
                </a14:m>
                <a:endParaRPr lang="en-US" sz="2400" dirty="0">
                  <a:cs typeface="Times New Roman" panose="02020603050405020304" pitchFamily="18" charset="0"/>
                </a:endParaRPr>
              </a:p>
              <a:p>
                <a:r>
                  <a:rPr lang="en-US" sz="2400" dirty="0">
                    <a:cs typeface="Times New Roman" panose="02020603050405020304" pitchFamily="18" charset="0"/>
                  </a:rPr>
                  <a:t>Changing functional forms may yield a better fit, but also changes interpretation of the coefficients.</a:t>
                </a:r>
              </a:p>
              <a:p>
                <a:pPr marL="0" indent="0">
                  <a:buNone/>
                </a:pPr>
                <a14:m>
                  <m:oMathPara xmlns:m="http://schemas.openxmlformats.org/officeDocument/2006/math">
                    <m:oMathParaPr>
                      <m:jc m:val="centerGroup"/>
                    </m:oMathParaPr>
                    <m:oMath xmlns:m="http://schemas.openxmlformats.org/officeDocument/2006/math">
                      <m:f>
                        <m:fPr>
                          <m:ctrlPr>
                            <a:rPr lang="en-US" sz="2400" b="0" i="1" smtClean="0">
                              <a:latin typeface="Cambria Math" panose="02040503050406030204" pitchFamily="18" charset="0"/>
                              <a:cs typeface="Times New Roman" panose="02020603050405020304" pitchFamily="18" charset="0"/>
                            </a:rPr>
                          </m:ctrlPr>
                        </m:fPr>
                        <m:num>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𝑦</m:t>
                          </m:r>
                        </m:num>
                        <m:den>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𝑥</m:t>
                          </m:r>
                        </m:den>
                      </m:f>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+2</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2</m:t>
                          </m:r>
                        </m:sub>
                      </m:sSub>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𝑥</m:t>
                      </m:r>
                      <m:r>
                        <a:rPr lang="en-US" sz="2400" b="0" i="1" smtClean="0">
                          <a:latin typeface="Cambria Math" panose="02040503050406030204" pitchFamily="18" charset="0"/>
                          <a:cs typeface="Times New Roman" panose="02020603050405020304" pitchFamily="18" charset="0"/>
                        </a:rPr>
                        <m:t>+3</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3</m:t>
                          </m:r>
                        </m:sub>
                      </m:sSub>
                      <m:r>
                        <a:rPr lang="en-US" sz="2400" b="0" i="1" smtClean="0">
                          <a:latin typeface="Cambria Math" panose="02040503050406030204" pitchFamily="18" charset="0"/>
                          <a:cs typeface="Times New Roman" panose="02020603050405020304" pitchFamily="18" charset="0"/>
                        </a:rPr>
                        <m:t>⋅</m:t>
                      </m:r>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𝑥</m:t>
                          </m:r>
                        </m:e>
                        <m:sup>
                          <m:r>
                            <a:rPr lang="en-US" sz="2400" b="0" i="1" smtClean="0">
                              <a:latin typeface="Cambria Math" panose="02040503050406030204" pitchFamily="18" charset="0"/>
                              <a:cs typeface="Times New Roman" panose="02020603050405020304" pitchFamily="18" charset="0"/>
                            </a:rPr>
                            <m:t>2</m:t>
                          </m:r>
                        </m:sup>
                      </m:sSup>
                      <m:r>
                        <a:rPr lang="en-US" sz="2400" b="0" i="1" smtClean="0">
                          <a:latin typeface="Cambria Math" panose="02040503050406030204" pitchFamily="18" charset="0"/>
                          <a:cs typeface="Times New Roman" panose="02020603050405020304" pitchFamily="18" charset="0"/>
                        </a:rPr>
                        <m:t>+ …</m:t>
                      </m:r>
                    </m:oMath>
                  </m:oMathPara>
                </a14:m>
                <a:endParaRPr lang="en-US" sz="2400" dirty="0">
                  <a:cs typeface="Times New Roman" panose="02020603050405020304" pitchFamily="18" charset="0"/>
                </a:endParaRPr>
              </a:p>
              <a:p>
                <a:r>
                  <a:rPr lang="en-US" sz="2400" dirty="0">
                    <a:cs typeface="Times New Roman" panose="02020603050405020304" pitchFamily="18" charset="0"/>
                  </a:rPr>
                  <a:t>Now, </a:t>
                </a:r>
                <a:r>
                  <a:rPr lang="en-US" sz="2400" b="1" dirty="0">
                    <a:solidFill>
                      <a:schemeClr val="accent2">
                        <a:lumMod val="75000"/>
                      </a:schemeClr>
                    </a:solidFill>
                    <a:cs typeface="Times New Roman" panose="02020603050405020304" pitchFamily="18" charset="0"/>
                  </a:rPr>
                  <a:t>marginal effects </a:t>
                </a:r>
                <a:r>
                  <a:rPr lang="en-US" sz="2400" dirty="0">
                    <a:cs typeface="Times New Roman" panose="02020603050405020304" pitchFamily="18" charset="0"/>
                  </a:rPr>
                  <a:t>depend on levels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𝑥</m:t>
                    </m:r>
                  </m:oMath>
                </a14:m>
                <a:endParaRPr lang="en-US" sz="2400" dirty="0">
                  <a:cs typeface="Times New Roman" panose="02020603050405020304" pitchFamily="18" charset="0"/>
                </a:endParaRPr>
              </a:p>
              <a:p>
                <a:r>
                  <a:rPr lang="en-US" sz="2400" dirty="0">
                    <a:cs typeface="Times New Roman" panose="02020603050405020304" pitchFamily="18" charset="0"/>
                  </a:rPr>
                  <a:t>Another caution: </a:t>
                </a:r>
                <a:r>
                  <a:rPr lang="en-US" sz="2400" b="1" dirty="0">
                    <a:solidFill>
                      <a:schemeClr val="accent2">
                        <a:lumMod val="75000"/>
                      </a:schemeClr>
                    </a:solidFill>
                    <a:cs typeface="Times New Roman" panose="02020603050405020304" pitchFamily="18" charset="0"/>
                  </a:rPr>
                  <a:t>overfitting</a:t>
                </a:r>
              </a:p>
              <a:p>
                <a:pPr lvl="1"/>
                <a:r>
                  <a:rPr lang="en-US" sz="2200" dirty="0">
                    <a:cs typeface="Times New Roman" panose="02020603050405020304" pitchFamily="18" charset="0"/>
                  </a:rPr>
                  <a:t>How much randomness in the data do we want to add to our model?</a:t>
                </a:r>
              </a:p>
              <a:p>
                <a:pPr lvl="1"/>
                <a:r>
                  <a:rPr lang="en-US" sz="2200" dirty="0">
                    <a:cs typeface="Times New Roman" panose="02020603050405020304" pitchFamily="18" charset="0"/>
                  </a:rPr>
                  <a:t>How much complication in our marginal effects are we willing to tolerate?</a:t>
                </a:r>
              </a:p>
              <a:p>
                <a:pPr lvl="1"/>
                <a:r>
                  <a:rPr lang="en-US" sz="2200" dirty="0">
                    <a:cs typeface="Times New Roman" panose="02020603050405020304" pitchFamily="18" charset="0"/>
                  </a:rPr>
                  <a:t>See discussion on LASSO, etc. for </a:t>
                </a:r>
                <a:r>
                  <a:rPr lang="en-US" sz="2200" u="sng" dirty="0">
                    <a:cs typeface="Times New Roman" panose="02020603050405020304" pitchFamily="18" charset="0"/>
                  </a:rPr>
                  <a:t>automated inclusion</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829801" cy="5141388"/>
              </a:xfrm>
              <a:blipFill>
                <a:blip r:embed="rId3"/>
                <a:stretch>
                  <a:fillRect l="-930" t="-1305"/>
                </a:stretch>
              </a:blipFill>
            </p:spPr>
            <p:txBody>
              <a:bodyPr/>
              <a:lstStyle/>
              <a:p>
                <a:r>
                  <a:rPr lang="en-US">
                    <a:noFill/>
                  </a:rPr>
                  <a:t> </a:t>
                </a:r>
              </a:p>
            </p:txBody>
          </p:sp>
        </mc:Fallback>
      </mc:AlternateContent>
      <p:pic>
        <p:nvPicPr>
          <p:cNvPr id="5" name="Picture 2" descr="RStudio - RStudio">
            <a:extLst>
              <a:ext uri="{FF2B5EF4-FFF2-40B4-BE49-F238E27FC236}">
                <a16:creationId xmlns:a16="http://schemas.microsoft.com/office/drawing/2014/main" id="{A8432CE3-10BE-F9BA-EC99-0B3F195F590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41632345"/>
      </p:ext>
    </p:extLst>
  </p:cSld>
  <p:clrMapOvr>
    <a:masterClrMapping/>
  </p:clrMapOvr>
</p:sld>
</file>

<file path=ppt/theme/theme1.xml><?xml version="1.0" encoding="utf-8"?>
<a:theme xmlns:a="http://schemas.openxmlformats.org/drawingml/2006/main" name="View">
  <a:themeElements>
    <a:clrScheme name="View">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View</Template>
  <TotalTime>2743</TotalTime>
  <Words>6911</Words>
  <Application>Microsoft Office PowerPoint</Application>
  <PresentationFormat>Widescreen</PresentationFormat>
  <Paragraphs>644</Paragraphs>
  <Slides>87</Slides>
  <Notes>78</Notes>
  <HiddenSlides>6</HiddenSlides>
  <MMClips>1</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87</vt:i4>
      </vt:variant>
    </vt:vector>
  </HeadingPairs>
  <TitlesOfParts>
    <vt:vector size="97" baseType="lpstr">
      <vt:lpstr>Aptos</vt:lpstr>
      <vt:lpstr>Arial</vt:lpstr>
      <vt:lpstr>Calibri</vt:lpstr>
      <vt:lpstr>Cambria Math</vt:lpstr>
      <vt:lpstr>Century Schoolbook</vt:lpstr>
      <vt:lpstr>Open Sans</vt:lpstr>
      <vt:lpstr>Symbol</vt:lpstr>
      <vt:lpstr>Times New Roman</vt:lpstr>
      <vt:lpstr>Wingdings 2</vt:lpstr>
      <vt:lpstr>View</vt:lpstr>
      <vt:lpstr>Quant Methods for HSR I </vt:lpstr>
      <vt:lpstr>Other Options with Regressions</vt:lpstr>
      <vt:lpstr>But first…</vt:lpstr>
      <vt:lpstr>But first…</vt:lpstr>
      <vt:lpstr>Case Study:  “Observational Studies of the Effect of Medicaid on Health:  Controls Are Not Enough”</vt:lpstr>
      <vt:lpstr>What is the setting of this paper? Why is it important?</vt:lpstr>
      <vt:lpstr>What is the setting of this paper? Why is it important?</vt:lpstr>
      <vt:lpstr>What is the setting of this paper? Why is it important?</vt:lpstr>
      <vt:lpstr>What is the setting of this paper? Why is it important?</vt:lpstr>
      <vt:lpstr>Variable Selection: Transformations</vt:lpstr>
      <vt:lpstr>Scaling Regressors</vt:lpstr>
      <vt:lpstr>Scaling Regressors</vt:lpstr>
      <vt:lpstr>Scaling Observations</vt:lpstr>
      <vt:lpstr>Scaling Observations</vt:lpstr>
      <vt:lpstr>Scaling Observations</vt:lpstr>
      <vt:lpstr>Nonlinear Transformations</vt:lpstr>
      <vt:lpstr>Nonlinear Transformations</vt:lpstr>
      <vt:lpstr>Nonlinear Transformations</vt:lpstr>
      <vt:lpstr>Nonlinear Transformations: Outliers</vt:lpstr>
      <vt:lpstr>Nonlinear Transformations: Outliers</vt:lpstr>
      <vt:lpstr>Nonlinear Transformations</vt:lpstr>
      <vt:lpstr>Nonlinear Transformations: Achieving “Linearity” (?) </vt:lpstr>
      <vt:lpstr>Nonlinear Transformations: Achieving “Linearity” (?) </vt:lpstr>
      <vt:lpstr>What kinds of transformations exist?</vt:lpstr>
      <vt:lpstr>What kinds of transformations exist?</vt:lpstr>
      <vt:lpstr>How to interpret coefficients on transformed variables?</vt:lpstr>
      <vt:lpstr>How to interpret coefficients on transformed variables?</vt:lpstr>
      <vt:lpstr>How to interpret coefficients on transformed variables?</vt:lpstr>
      <vt:lpstr>How to interpret coefficients on transformed variables?</vt:lpstr>
      <vt:lpstr>What kinds of transformations exist?</vt:lpstr>
      <vt:lpstr>What kinds of transformations exist?</vt:lpstr>
      <vt:lpstr>Interaction Effects</vt:lpstr>
      <vt:lpstr>What is an Interaction?</vt:lpstr>
      <vt:lpstr>What is an Interaction?</vt:lpstr>
      <vt:lpstr>What is an Interaction?</vt:lpstr>
      <vt:lpstr>Discrete Regressors </vt:lpstr>
      <vt:lpstr>Discrete Regressors </vt:lpstr>
      <vt:lpstr>How do we Interpret Interaction Terms?</vt:lpstr>
      <vt:lpstr>How do we Interpret Interaction Terms?</vt:lpstr>
      <vt:lpstr>What about Continuous Interactions?</vt:lpstr>
      <vt:lpstr>What about Continuous Interactions?</vt:lpstr>
      <vt:lpstr>Interactions in Practice</vt:lpstr>
      <vt:lpstr>Case study: what controls are included?</vt:lpstr>
      <vt:lpstr>Case study: what controls are included?</vt:lpstr>
      <vt:lpstr>Case study: what controls are included?</vt:lpstr>
      <vt:lpstr>What do they find?</vt:lpstr>
      <vt:lpstr>Is the comparison good?</vt:lpstr>
      <vt:lpstr>Notes on Causality and Bias</vt:lpstr>
      <vt:lpstr>Interpreting your results causally (One more time)</vt:lpstr>
      <vt:lpstr>Omitted Variables </vt:lpstr>
      <vt:lpstr>Omitted Variables </vt:lpstr>
      <vt:lpstr>Case study: how does the correlation cause biased estimates?</vt:lpstr>
      <vt:lpstr>Case study: how does the correlation cause biased estimates?</vt:lpstr>
      <vt:lpstr>Case study: how does the correlation cause biased estimates?</vt:lpstr>
      <vt:lpstr>Measurement Error</vt:lpstr>
      <vt:lpstr>Measurement Error</vt:lpstr>
      <vt:lpstr>Classical Measurement Error</vt:lpstr>
      <vt:lpstr>Non-Classical Measurement Error: Examples</vt:lpstr>
      <vt:lpstr>Non-Classical Measurement Error: Examples</vt:lpstr>
      <vt:lpstr>Case Study example</vt:lpstr>
      <vt:lpstr>Collinearity and Causality</vt:lpstr>
      <vt:lpstr>Collinearity and Causality</vt:lpstr>
      <vt:lpstr>Collinearity and Causality</vt:lpstr>
      <vt:lpstr>Mini Referee Report</vt:lpstr>
      <vt:lpstr>Getting the “Right” Standard Errors</vt:lpstr>
      <vt:lpstr>Standard Errors </vt:lpstr>
      <vt:lpstr>Standard Errors </vt:lpstr>
      <vt:lpstr>Are my error terms i.i.d.?</vt:lpstr>
      <vt:lpstr>Are my error terms i.i.d.?</vt:lpstr>
      <vt:lpstr>Are my error terms i.i.d.?</vt:lpstr>
      <vt:lpstr>Are my error terms i.i.d.?</vt:lpstr>
      <vt:lpstr>Are my error terms i.i.d.?</vt:lpstr>
      <vt:lpstr>Are my error terms i.i.d.?</vt:lpstr>
      <vt:lpstr>Clustered Standard Errors</vt:lpstr>
      <vt:lpstr>Clustered Standard Errors</vt:lpstr>
      <vt:lpstr>Clustered Standard Errors</vt:lpstr>
      <vt:lpstr>Clustered Standard Errors</vt:lpstr>
      <vt:lpstr>Clustered Standard Errors</vt:lpstr>
      <vt:lpstr>Bootstrapped Standard Errors</vt:lpstr>
      <vt:lpstr>Bootstrapped Standard Errors</vt:lpstr>
      <vt:lpstr>Nonlinear Models (pt. 1)</vt:lpstr>
      <vt:lpstr>Nonlinearities</vt:lpstr>
      <vt:lpstr>Could we transform this data? </vt:lpstr>
      <vt:lpstr>Choosing a Functional Form </vt:lpstr>
      <vt:lpstr>Choosing a Functional Form </vt:lpstr>
      <vt:lpstr>How do we Interpret Coefficients? </vt:lpstr>
      <vt:lpstr>How do we Interpret Coefficients?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Econometrics I:</dc:title>
  <dc:creator>Audrey Laporte</dc:creator>
  <cp:lastModifiedBy>Alexander Hoagland</cp:lastModifiedBy>
  <cp:revision>149</cp:revision>
  <dcterms:created xsi:type="dcterms:W3CDTF">2011-01-10T00:42:42Z</dcterms:created>
  <dcterms:modified xsi:type="dcterms:W3CDTF">2026-07-22T17:25:10Z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034a106e-6316-442c-ad35-738afd673d2b_Enabled">
    <vt:lpwstr>True</vt:lpwstr>
  </property>
  <property fmtid="{D5CDD505-2E9C-101B-9397-08002B2CF9AE}" pid="3" name="MSIP_Label_034a106e-6316-442c-ad35-738afd673d2b_SiteId">
    <vt:lpwstr>cddc1229-ac2a-4b97-b78a-0e5cacb5865c</vt:lpwstr>
  </property>
  <property fmtid="{D5CDD505-2E9C-101B-9397-08002B2CF9AE}" pid="4" name="MSIP_Label_034a106e-6316-442c-ad35-738afd673d2b_Owner">
    <vt:lpwstr>Eric.Nauenberg@ontario.ca</vt:lpwstr>
  </property>
  <property fmtid="{D5CDD505-2E9C-101B-9397-08002B2CF9AE}" pid="5" name="MSIP_Label_034a106e-6316-442c-ad35-738afd673d2b_SetDate">
    <vt:lpwstr>2020-08-28T20:23:07.5369310Z</vt:lpwstr>
  </property>
  <property fmtid="{D5CDD505-2E9C-101B-9397-08002B2CF9AE}" pid="6" name="MSIP_Label_034a106e-6316-442c-ad35-738afd673d2b_Name">
    <vt:lpwstr>OPS - Unclassified Information</vt:lpwstr>
  </property>
  <property fmtid="{D5CDD505-2E9C-101B-9397-08002B2CF9AE}" pid="7" name="MSIP_Label_034a106e-6316-442c-ad35-738afd673d2b_Application">
    <vt:lpwstr>Microsoft Azure Information Protection</vt:lpwstr>
  </property>
  <property fmtid="{D5CDD505-2E9C-101B-9397-08002B2CF9AE}" pid="8" name="MSIP_Label_034a106e-6316-442c-ad35-738afd673d2b_ActionId">
    <vt:lpwstr>e0d92f5a-28a2-4725-917b-84a82b221364</vt:lpwstr>
  </property>
  <property fmtid="{D5CDD505-2E9C-101B-9397-08002B2CF9AE}" pid="9" name="MSIP_Label_034a106e-6316-442c-ad35-738afd673d2b_Extended_MSFT_Method">
    <vt:lpwstr>Automatic</vt:lpwstr>
  </property>
  <property fmtid="{D5CDD505-2E9C-101B-9397-08002B2CF9AE}" pid="10" name="Sensitivity">
    <vt:lpwstr>OPS - Unclassified Information</vt:lpwstr>
  </property>
</Properties>
</file>