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ink/ink1.xml" ContentType="application/inkml+xml"/>
  <Override PartName="/ppt/ink/ink2.xml" ContentType="application/inkml+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8" r:id="rId1"/>
  </p:sldMasterIdLst>
  <p:notesMasterIdLst>
    <p:notesMasterId r:id="rId110"/>
  </p:notesMasterIdLst>
  <p:sldIdLst>
    <p:sldId id="256" r:id="rId2"/>
    <p:sldId id="790" r:id="rId3"/>
    <p:sldId id="629" r:id="rId4"/>
    <p:sldId id="672" r:id="rId5"/>
    <p:sldId id="789" r:id="rId6"/>
    <p:sldId id="791" r:id="rId7"/>
    <p:sldId id="792" r:id="rId8"/>
    <p:sldId id="793" r:id="rId9"/>
    <p:sldId id="794" r:id="rId10"/>
    <p:sldId id="795" r:id="rId11"/>
    <p:sldId id="796" r:id="rId12"/>
    <p:sldId id="797" r:id="rId13"/>
    <p:sldId id="798" r:id="rId14"/>
    <p:sldId id="799" r:id="rId15"/>
    <p:sldId id="800" r:id="rId16"/>
    <p:sldId id="801" r:id="rId17"/>
    <p:sldId id="802" r:id="rId18"/>
    <p:sldId id="788" r:id="rId19"/>
    <p:sldId id="779" r:id="rId20"/>
    <p:sldId id="780" r:id="rId21"/>
    <p:sldId id="781" r:id="rId22"/>
    <p:sldId id="783" r:id="rId23"/>
    <p:sldId id="787" r:id="rId24"/>
    <p:sldId id="786" r:id="rId25"/>
    <p:sldId id="784" r:id="rId26"/>
    <p:sldId id="785" r:id="rId27"/>
    <p:sldId id="748" r:id="rId28"/>
    <p:sldId id="749" r:id="rId29"/>
    <p:sldId id="750" r:id="rId30"/>
    <p:sldId id="676" r:id="rId31"/>
    <p:sldId id="717" r:id="rId32"/>
    <p:sldId id="751" r:id="rId33"/>
    <p:sldId id="729" r:id="rId34"/>
    <p:sldId id="679" r:id="rId35"/>
    <p:sldId id="752" r:id="rId36"/>
    <p:sldId id="754" r:id="rId37"/>
    <p:sldId id="755" r:id="rId38"/>
    <p:sldId id="753" r:id="rId39"/>
    <p:sldId id="756" r:id="rId40"/>
    <p:sldId id="759" r:id="rId41"/>
    <p:sldId id="757" r:id="rId42"/>
    <p:sldId id="758" r:id="rId43"/>
    <p:sldId id="760" r:id="rId44"/>
    <p:sldId id="762" r:id="rId45"/>
    <p:sldId id="763" r:id="rId46"/>
    <p:sldId id="764" r:id="rId47"/>
    <p:sldId id="766" r:id="rId48"/>
    <p:sldId id="767" r:id="rId49"/>
    <p:sldId id="768" r:id="rId50"/>
    <p:sldId id="769" r:id="rId51"/>
    <p:sldId id="770" r:id="rId52"/>
    <p:sldId id="398" r:id="rId53"/>
    <p:sldId id="725" r:id="rId54"/>
    <p:sldId id="734" r:id="rId55"/>
    <p:sldId id="728" r:id="rId56"/>
    <p:sldId id="726" r:id="rId57"/>
    <p:sldId id="730" r:id="rId58"/>
    <p:sldId id="777" r:id="rId59"/>
    <p:sldId id="739" r:id="rId60"/>
    <p:sldId id="735" r:id="rId61"/>
    <p:sldId id="772" r:id="rId62"/>
    <p:sldId id="731" r:id="rId63"/>
    <p:sldId id="732" r:id="rId64"/>
    <p:sldId id="257" r:id="rId65"/>
    <p:sldId id="733" r:id="rId66"/>
    <p:sldId id="774" r:id="rId67"/>
    <p:sldId id="775" r:id="rId68"/>
    <p:sldId id="776" r:id="rId69"/>
    <p:sldId id="771" r:id="rId70"/>
    <p:sldId id="736" r:id="rId71"/>
    <p:sldId id="782" r:id="rId72"/>
    <p:sldId id="682" r:id="rId73"/>
    <p:sldId id="709" r:id="rId74"/>
    <p:sldId id="718" r:id="rId75"/>
    <p:sldId id="761" r:id="rId76"/>
    <p:sldId id="741" r:id="rId77"/>
    <p:sldId id="673" r:id="rId78"/>
    <p:sldId id="675" r:id="rId79"/>
    <p:sldId id="683" r:id="rId80"/>
    <p:sldId id="684" r:id="rId81"/>
    <p:sldId id="685" r:id="rId82"/>
    <p:sldId id="686" r:id="rId83"/>
    <p:sldId id="687" r:id="rId84"/>
    <p:sldId id="688" r:id="rId85"/>
    <p:sldId id="689" r:id="rId86"/>
    <p:sldId id="691" r:id="rId87"/>
    <p:sldId id="695" r:id="rId88"/>
    <p:sldId id="692" r:id="rId89"/>
    <p:sldId id="696" r:id="rId90"/>
    <p:sldId id="697" r:id="rId91"/>
    <p:sldId id="693" r:id="rId92"/>
    <p:sldId id="803" r:id="rId93"/>
    <p:sldId id="677" r:id="rId94"/>
    <p:sldId id="743" r:id="rId95"/>
    <p:sldId id="744" r:id="rId96"/>
    <p:sldId id="745" r:id="rId97"/>
    <p:sldId id="708" r:id="rId98"/>
    <p:sldId id="746" r:id="rId99"/>
    <p:sldId id="747" r:id="rId100"/>
    <p:sldId id="778" r:id="rId101"/>
    <p:sldId id="681" r:id="rId102"/>
    <p:sldId id="719" r:id="rId103"/>
    <p:sldId id="720" r:id="rId104"/>
    <p:sldId id="721" r:id="rId105"/>
    <p:sldId id="722" r:id="rId106"/>
    <p:sldId id="680" r:id="rId107"/>
    <p:sldId id="698" r:id="rId108"/>
    <p:sldId id="723" r:id="rId109"/>
  </p:sldIdLst>
  <p:sldSz cx="12192000" cy="6858000"/>
  <p:notesSz cx="7010400" cy="92964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1E123"/>
    <a:srgbClr val="C7D33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196" autoAdjust="0"/>
    <p:restoredTop sz="80029" autoAdjust="0"/>
  </p:normalViewPr>
  <p:slideViewPr>
    <p:cSldViewPr>
      <p:cViewPr varScale="1">
        <p:scale>
          <a:sx n="50" d="100"/>
          <a:sy n="50" d="100"/>
        </p:scale>
        <p:origin x="1236" y="44"/>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viewProps" Target="viewProps.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theme" Target="theme/theme1.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14"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presProps" Target="presProps.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10-17T23:22:00.243"/>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220 219,'42'2,"0"2,-1 2,44 12,414 102,62-16,-253-53,47 7,5-31,-267-26,332-5,-228-13,45-1,-181 17,83-12,-16-3,16-3,52-25,-142 36,0 2,1 3,92 5,-38 1,561-3,-658 0,0 0,0 1,0 0,0 1,-1 0,1 1,17 7,-25-8,0 0,1 0,-1 1,-1-1,1 1,0 0,-1 0,1 1,-1-1,0 1,0-1,0 1,-1 0,1 0,-1 1,0-1,0 0,0 1,-1-1,0 1,2 7,1 26,-2-1,-2 0,-4 46,-1 8,5 512,0-589,0-1,-2 0,1 1,-2-1,-5 18,7-27,0 1,-1-1,0 0,0 0,0-1,0 1,-1 0,1-1,-1 1,0-1,0 0,0 0,0 0,-1 0,1-1,-1 1,0-1,1 0,-1 0,-5 2,-13 1,-29 5,-23 5,70-14,-45 14,-54 8,-496 68,495-77,-73 13,35-4,-216 6,-147-28,225-4,-1848 3,2081-2,-69-13,-5 0,-163 11,228 4,50 1,0-1,0-1,0 1,0-1,0 0,1 0,-1-1,0 0,-8-3,11 3,0 0,1 0,-1 0,1 0,0 0,-1-1,1 1,0-1,0 1,1-1,-1 0,1 0,-1 0,1 0,0 0,0 0,0 0,0 0,0-5,-2-25,1 1,2-1,1 1,9-56,-2 25,0-26,69-492,-59 487,-4 0,-5-1,-2-106,-10 122,4-104,-1 180,0 0,1-1,-1 1,1 0,0 0,0 0,0 0,1 0,-1 0,1 0,-1 0,1 1,0-1,0 0,0 1,5-4,-4 3,1 1,0-1,0 1,0 0,0 1,0-1,0 1,1-1,-1 1,9 0,8 0,-1 1,0 1,0 1,29 7,-29-5,70 11,17 5,139 7,-236-27,10 1,0 0,38 8,-53-8,0 0,0 1,0-1,-1 1,1 0,0 1,-1-1,0 1,1 0,-1 0,0 0,-1 0,1 1,-1-1,1 1,-1 0,3 5,-2 0,0 0,0 0,-1 0,-1 0,1 0,0 15,2 60,-5-58,2 117,-6-1,-7 1,-36 178,-34 12,76-323,2-13,1-20,2 15,-50-305,47 297,0 0,-1 1,-1 0,0-1,-1 2,-1-1,0 1,-1 0,-10-13,-6-6,14 20,0-1,0 1,-16-15,23 26,0 0,1-1,-1 1,0 0,0 0,0 0,-1 1,1-1,0 1,-1 0,1 0,-1 0,1 0,-1 1,1-1,-1 1,1 0,-1 0,0 0,-4 1,6 0,0-1,0 1,0 0,0-1,0 1,0 0,1 1,-1-1,0 0,1 0,-1 1,1-1,-1 1,1-1,-1 1,0 2,-1 1,1-1,0 0,0 1,0 0,1-1,-2 10,1 3,1 0,1 32,0-45,26 121,87 340,-71-301,-38-153,-2-23,-1 5,88-507,-34 242,-49 231,-5 28,1-1,0 1,0 0,2 0,0 1,0-1,1 1,7-13,-11 24,-1 0,1 0,0 1,-1-1,1 0,0 1,-1-1,1 1,0-1,0 0,-1 1,1 0,0-1,0 1,0-1,0 1,0 0,0 0,0 0,-1-1,1 1,0 0,0 0,0 0,0 1,0-1,0 0,0 0,0 0,0 1,0-1,0 0,-1 1,1-1,0 1,0-1,1 1,3 3,0 0,0 0,0 0,5 7,-6-7,21 22,2 2,2 0,0-2,36 25,-55-45,-1 0,1 0,0-1,0 0,1-1,-1-1,1 1,0-2,0 1,0-2,0 1,0-1,0-1,1 0,18-3,-22 1,0 0,0-1,-1 0,1 0,-1-1,0 0,0 0,0 0,-1-1,11-9,29-20,-43 32,0 0,0 1,0-1,0 1,0 0,0 0,0 0,1 0,-1 1,0-1,1 1,3 0,-5 0,0 1,0-1,0 1,0-1,0 1,-1 0,1 0,0 0,0 0,-1 0,1 0,0 0,-1 1,1-1,-1 1,0-1,1 1,-1-1,0 1,0 0,1 3,4 6,-2 1,1 0,-1 1,2 13,-3-12,0-1,11 24,-14-36,1 0,-1 0,0 0,1 0,-1 0,1 0,0-1,-1 1,1 0,0 0,-1-1,1 1,0 0,0-1,0 1,1 0,-2-1,1 0,-1 0,1 0,-1 0,1 0,-1 0,1 0,-1 0,1 0,-1 0,1 0,-1-1,1 1,-1 0,1 0,-1 0,1-1,-1 1,0 0,1-1,-1 1,1 0,-1-1,3-2,-1 0,0 0,0 0,0-1,0 1,-1 0,2-6,6-21,5-36,-10 41,2 1,12-37,-18 60,0 0,1 0,-1-1,1 1,-1 0,1 0,-1 0,1 0,-1 0,1 1,0-1,0 0,-1 0,1 0,0 1,0-1,0 0,0 1,1-2,-1 3,-1-1,1 0,-1 0,1 0,0 0,-1 0,1 0,-1 1,1-1,-1 0,1 1,-1-1,1 0,-1 1,1-1,-1 0,1 1,-1-1,1 1,-1-1,0 1,1-1,-1 1,0 0,4 6,-1 0,0 0,3 13,-6-20,29 92,-28-91,-1 0,0 1,1-1,-1 0,1 0,0 1,-1-1,1 0,0 0,-1 0,1 0,0 0,0 0,0 0,0 0,2 1,-2-2,-1 0,1 0,-1 0,1 0,-1-1,1 1,-1 0,1 0,-1 0,1 0,-1-1,1 1,-1 0,1 0,-1-1,0 1,1 0,-1-1,1 1,-1 0,0-1,1 1,-1-1,0 1,0-1,1 1,-1-1,4-8,0 1,-1-1,4-14,-5 16,2-4,30-90,-30 90,1 0,0 0,1 1,1 0,-1 0,16-16,-21 24,0 1,0 0,1 0,-1 0,0 0,1 0,-1 0,1 1,-1-1,1 0,-1 1,1-1,0 1,-1 0,1-1,-1 1,1 0,0 0,-1 0,1 0,0 0,-1 0,1 1,0-1,-1 0,1 1,-1 0,1-1,1 2,5 2,-1 1,0 0,-1 0,13 13,32 39,-3 1,63 99,-68-94,-10-13,51 67,-71-100,2 0,0-1,1-1,24 18,-30-26,0-1,1 0,-1-1,1 0,0-1,0 0,0-1,1 0,-1-1,1 0,-1-1,1 0,0-1,0 0,-1-1,1 0,0-1,-1 0,1-1,-1 0,0-1,0 0,0-1,-1 0,0-1,1 0,-2 0,14-13,15-17,-2-2,32-45,-64 79,22-32,40-73,7-11,-69 114,1 1,0 0,1 0,-1 0,1 1,0 0,0 0,0 0,0 1,1 0,0 0,-1 1,1-1,0 1,0 1,0 0,0 0,1 0,-1 1,7 0,17 1,0 2,-1 1,40 11,-64-13,88 23,133 57,-73-23,-96-41,0-3,0-2,2-3,78 4,245-12,-187-5,-105 2,104 4,-192-3,0 0,0 0,0 1,0 0,0-1,1 1,-1 0,0 1,-1-1,7 4,-9-5,1 1,-1-1,1 1,-1-1,1 1,-1-1,0 1,1 0,-1-1,0 1,1 0,-1-1,0 1,0 0,1-1,-1 1,0 0,0 0,0 0,0 1,-1 0,1-1,0 1,-1-1,0 1,1 0,-1-1,0 0,0 1,1-1,-1 1,-2 0,0 2,0-1,0 0,0 0,-1 0,1-1,-1 1,0-1,0 0,0 0,0 0,-7 2,-6 0,-29 5,26-6,-650 98,412-69,-303 23,530-54,0 2,0 2,0 0,0 2,-32 12,-145 58,186-66,15-5,7-6,1 1,-1-1,0 0,0 0,0 1,1-1,-1 0,0 0,0 0,0 0,1 1,-1-1,0 0,0 0,1 0,-1 0,0 0,1 0,-1 0,0 1,0-1,1 0,-1 0,0 0,1 0,-1 0,0 0,0-1,1 1,-1 0,1 0,19-1,0 0,-1-2,1 0,25-8,82-30,-127 40,64-22,331-110,-290 103,201-29,-158 47,235 12,-358 2,-25-2,0 0,-1 0,1 0,0 0,0 0,0 0,0 1,0-1,0 0,-1 0,1 0,0 0,0 0,0 0,0 0,0 0,0 0,0 0,0 1,0-1,0 0,-1 0,1 0,0 0,0 0,0 0,0 1,0-1,0 0,0 0,0 0,0 0,0 0,0 0,0 1,0-1,0 0,0 0,0 0,0 0,0 0,0 0,0 1,1-1,-1 0,0 0,0 0,0 0,0 0,0 0,0 0,0 1,0-1,0 0,1 0,-1 0,0 0,0 0,0 0,0 0,0 0,0 0,1 0,-1 0,0 0,0 0,0 0,0 0,-5 3,-1-1,0 0,0 0,0 0,0-1,0 0,0 0,-11-1,-1 2,-1109 52,508-35,290-2,-564 15,773-32,-566 12,-123 10,797-22,1-1,0 0,0 0,-22-7,31 8,0-1,-1 0,1 1,0-1,0 0,0 0,0 0,0-1,0 1,0 0,0-1,0 1,0-1,1 0,-1 0,1 0,-1 1,1-1,0 0,0-1,0 1,0 0,0 0,0 0,1-1,-1 1,1 0,-1-1,1 1,0-3,0 2,1 1,-1-1,1 0,0 1,0-1,0 1,0-1,0 1,1-1,-1 1,1 0,-1 0,1-1,0 1,0 0,0 1,0-1,0 0,0 1,1-1,-1 1,0-1,1 1,-1 0,4-1,6-2,0 0,1 1,0 1,14-2,99-6,150 9,-165 2,172 0,233 3,-237 13,89 1,-362-18,-5 0,1 0,0 0,-1 0,1 0,0 0,-1 0,1 0,0 0,0 1,-1-1,1 1,-1 0,1-1,0 1,1 1,2 5</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10-17T23:22:04.315"/>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1220 814,'-568'0,"538"-2,0 0,-43-11,37 5,-40-1,47 5,-47-10,48 7,-52-4,25 11,42 2,0-2,-1 0,1-1,0 0,0 0,-20-7,31 8,1-1,-1 1,1-1,-1 0,1 1,-1-1,1 0,-1 0,1 0,0 0,0-1,0 1,-1 0,1 0,0-1,0 1,1 0,-1-1,0 1,0-3,0 2,1 1,1 0,-1 0,0 0,0 0,0 0,1 0,-1 0,0 0,1 0,-1 0,1 0,-1 0,1 0,0 0,-1 0,1 0,0 1,-1-1,1 0,0 0,0 1,0-1,0 1,0-1,0 0,0 1,0 0,0-1,0 1,2-1,66-21,135-25,-158 40,70-1,-67 6,54-8,-7-2,1 4,117 6,-155 3,-56-1,9 0,1 0,20-4,-31 4,-1 0,1-1,0 1,0 0,-1-1,1 1,-1-1,1 1,0-1,-1 0,1 0,-1 1,0-1,1 0,-1 0,0-1,1 1,-1 0,0 0,0-1,0 1,0 0,0-1,0 1,-1-1,1 0,0 1,0-4,-1 4,0 0,-1 0,1 0,0 0,-1-1,1 1,0 0,-1 0,1 0,-1 0,0 0,1 1,-1-1,0 0,1 0,-1 0,0 1,0-1,0 0,0 1,0-1,0 0,0 1,0-1,0 1,0 0,-2-1,-33-7,34 8,-64-6,-130 6,-8 1,171-5,-33-8,-25-3,-102 9,189 6,1-1,0 1,-1-1,1 0,-1 0,1 0,0 0,0-1,-1 1,1-1,0 0,1 0,-1 0,0 0,0-1,-2-2,4 3,0 1,0-1,0 0,0 1,0-1,0 0,1 0,-1 0,1 0,-1 1,1-1,0 0,-1 0,1 0,0 0,0 0,1 0,-1 0,0 0,1 0,-1 0,1 0,0 1,-1-1,1 0,0 0,0 1,0-1,3-3,-1 1,1 0,0 0,0 0,0 0,1 0,-1 1,1 0,0 0,0 0,0 1,1-1,-1 1,0 0,9-1,8-1,1 0,31 0,6 0,-6-7,76-24,-90 22,2 1,-1 3,74-8,-71 17,-31 0,1 1,-1-2,0 0,22-5,-34 6,0 0,0 0,0 0,0-1,-1 1,1 0,0-1,0 1,0-1,0 1,-1-1,1 1,0-1,-1 1,1-1,1-1,-2 2,0 0,0-1,-1 1,1 0,0-1,0 1,0 0,0 0,0-1,0 1,0 0,-1-1,1 1,0 0,0 0,0-1,-1 1,1 0,0 0,0 0,-1-1,1 1,0 0,0 0,-1 0,1 0,0-1,0 1,-1 0,-31-8,-52 2,-113 6,80 2,19 0,-120-5,214 3,0-1,0 0,0 0,0 0,0 0,1-1,-1 1,0-1,-5-3,8 4,0 1,1-1,-1 0,0 0,0 1,0-1,0 0,1 0,-1 0,1 0,-1 0,0 0,1 0,-1 0,1 0,0 0,-1 0,1 0,0 0,0 0,0-1,0 1,0 0,0 0,0 0,0 0,0 0,0 0,1 0,-1-1,0 1,1 0,-1 0,1 0,-1 0,1 0,1-1,1-2,1 0,0 0,-1 0,2 1,-1-1,0 1,1 0,0 1,-1-1,1 1,0 0,0 0,0 0,1 1,-1-1,6 1,14-3,0 2,26 0,-47 2,32-3,-1-1,-1-2,55-15,-50 10,2 2,45-4,8 10,-330 4,63 1,134-2,6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672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6725"/>
          </a:xfrm>
          <a:prstGeom prst="rect">
            <a:avLst/>
          </a:prstGeom>
        </p:spPr>
        <p:txBody>
          <a:bodyPr vert="horz" lIns="91440" tIns="45720" rIns="91440" bIns="45720" rtlCol="0"/>
          <a:lstStyle>
            <a:lvl1pPr algn="r">
              <a:defRPr sz="1200"/>
            </a:lvl1pPr>
          </a:lstStyle>
          <a:p>
            <a:fld id="{EF911157-0FC2-4F06-8D61-FD647FE4E19D}" type="datetimeFigureOut">
              <a:rPr lang="en-US" smtClean="0"/>
              <a:t>10/17/2026</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73575"/>
            <a:ext cx="5607050" cy="3660775"/>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6725"/>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6725"/>
          </a:xfrm>
          <a:prstGeom prst="rect">
            <a:avLst/>
          </a:prstGeom>
        </p:spPr>
        <p:txBody>
          <a:bodyPr vert="horz" lIns="91440" tIns="45720" rIns="91440" bIns="45720" rtlCol="0" anchor="b"/>
          <a:lstStyle>
            <a:lvl1pPr algn="r">
              <a:defRPr sz="1200"/>
            </a:lvl1pPr>
          </a:lstStyle>
          <a:p>
            <a:fld id="{4AF79E1B-2C51-4B9B-8EA4-26DE9E345AFF}" type="slidenum">
              <a:rPr lang="en-US" smtClean="0"/>
              <a:t>‹#›</a:t>
            </a:fld>
            <a:endParaRPr lang="en-US"/>
          </a:p>
        </p:txBody>
      </p:sp>
    </p:spTree>
    <p:extLst>
      <p:ext uri="{BB962C8B-B14F-4D97-AF65-F5344CB8AC3E}">
        <p14:creationId xmlns:p14="http://schemas.microsoft.com/office/powerpoint/2010/main" val="8367260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17550" y="1162050"/>
            <a:ext cx="5575300" cy="3136900"/>
          </a:xfrm>
        </p:spPr>
      </p:sp>
      <p:sp>
        <p:nvSpPr>
          <p:cNvPr id="3" name="Notes Placeholder 2"/>
          <p:cNvSpPr>
            <a:spLocks noGrp="1"/>
          </p:cNvSpPr>
          <p:nvPr>
            <p:ph type="body" idx="1"/>
          </p:nvPr>
        </p:nvSpPr>
        <p:spPr/>
        <p:txBody>
          <a:bodyPr/>
          <a:lstStyle/>
          <a:p>
            <a:r>
              <a:rPr lang="en-US" dirty="0"/>
              <a:t>Logistics notes: </a:t>
            </a:r>
          </a:p>
          <a:p>
            <a:pPr marL="171450" indent="-171450">
              <a:buFont typeface="Arial" panose="020B0604020202020204" pitchFamily="34" charset="0"/>
              <a:buChar char="•"/>
            </a:pPr>
            <a:r>
              <a:rPr lang="en-US" dirty="0"/>
              <a:t>don’t worry about citing packages in your assignments (do worry about these for referee reports and final paper). Talk about table formatting (you can do it any which way as long as it looks nice). </a:t>
            </a:r>
          </a:p>
          <a:p>
            <a:pPr marL="171450" indent="-171450">
              <a:buFont typeface="Arial" panose="020B0604020202020204" pitchFamily="34" charset="0"/>
              <a:buChar char="•"/>
            </a:pPr>
            <a:r>
              <a:rPr lang="en-US" dirty="0"/>
              <a:t>Note that A2 is due in 2 weeks and your research question + teams are due in three weeks (with an outline due soon). Walk through A2 together. Start planning your projects!</a:t>
            </a:r>
          </a:p>
          <a:p>
            <a:pPr marL="0" indent="0">
              <a:buFont typeface="Arial" panose="020B0604020202020204" pitchFamily="34" charset="0"/>
              <a:buNone/>
            </a:pP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1</a:t>
            </a:fld>
            <a:endParaRPr lang="en-US"/>
          </a:p>
        </p:txBody>
      </p:sp>
    </p:spTree>
    <p:extLst>
      <p:ext uri="{BB962C8B-B14F-4D97-AF65-F5344CB8AC3E}">
        <p14:creationId xmlns:p14="http://schemas.microsoft.com/office/powerpoint/2010/main" val="36117099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What’s working, what’s not. Also notes on Assignment 2 here </a:t>
            </a:r>
          </a:p>
        </p:txBody>
      </p:sp>
      <p:sp>
        <p:nvSpPr>
          <p:cNvPr id="4" name="Slide Number Placeholder 3"/>
          <p:cNvSpPr>
            <a:spLocks noGrp="1"/>
          </p:cNvSpPr>
          <p:nvPr>
            <p:ph type="sldNum" sz="quarter" idx="5"/>
          </p:nvPr>
        </p:nvSpPr>
        <p:spPr/>
        <p:txBody>
          <a:bodyPr/>
          <a:lstStyle/>
          <a:p>
            <a:fld id="{4AF79E1B-2C51-4B9B-8EA4-26DE9E345AFF}" type="slidenum">
              <a:rPr lang="en-US" smtClean="0"/>
              <a:t>2</a:t>
            </a:fld>
            <a:endParaRPr lang="en-US"/>
          </a:p>
        </p:txBody>
      </p:sp>
    </p:spTree>
    <p:extLst>
      <p:ext uri="{BB962C8B-B14F-4D97-AF65-F5344CB8AC3E}">
        <p14:creationId xmlns:p14="http://schemas.microsoft.com/office/powerpoint/2010/main" val="12627603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3</a:t>
            </a:fld>
            <a:endParaRPr lang="en-US"/>
          </a:p>
        </p:txBody>
      </p:sp>
    </p:spTree>
    <p:extLst>
      <p:ext uri="{BB962C8B-B14F-4D97-AF65-F5344CB8AC3E}">
        <p14:creationId xmlns:p14="http://schemas.microsoft.com/office/powerpoint/2010/main" val="5226415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4</a:t>
            </a:fld>
            <a:endParaRPr lang="en-US"/>
          </a:p>
        </p:txBody>
      </p:sp>
    </p:spTree>
    <p:extLst>
      <p:ext uri="{BB962C8B-B14F-4D97-AF65-F5344CB8AC3E}">
        <p14:creationId xmlns:p14="http://schemas.microsoft.com/office/powerpoint/2010/main" val="415143535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back to the goal of causal inference. We have DAGs, which are closing back doors, and what does it mean if all back doors are closed?</a:t>
            </a:r>
          </a:p>
        </p:txBody>
      </p:sp>
      <p:sp>
        <p:nvSpPr>
          <p:cNvPr id="4" name="Slide Number Placeholder 3"/>
          <p:cNvSpPr>
            <a:spLocks noGrp="1"/>
          </p:cNvSpPr>
          <p:nvPr>
            <p:ph type="sldNum" sz="quarter" idx="5"/>
          </p:nvPr>
        </p:nvSpPr>
        <p:spPr/>
        <p:txBody>
          <a:bodyPr/>
          <a:lstStyle/>
          <a:p>
            <a:fld id="{4AF79E1B-2C51-4B9B-8EA4-26DE9E345AFF}" type="slidenum">
              <a:rPr lang="en-US" smtClean="0"/>
              <a:t>5</a:t>
            </a:fld>
            <a:endParaRPr lang="en-US"/>
          </a:p>
        </p:txBody>
      </p:sp>
    </p:spTree>
    <p:extLst>
      <p:ext uri="{BB962C8B-B14F-4D97-AF65-F5344CB8AC3E}">
        <p14:creationId xmlns:p14="http://schemas.microsoft.com/office/powerpoint/2010/main" val="370023640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7BBB2C-C0C0-3BCA-1FCE-25A4783870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E48D4A-4325-B119-E343-79FF367AF2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F4CA31-E70F-7452-FF96-28F81BBCB2ED}"/>
              </a:ext>
            </a:extLst>
          </p:cNvPr>
          <p:cNvSpPr>
            <a:spLocks noGrp="1"/>
          </p:cNvSpPr>
          <p:nvPr>
            <p:ph type="body" idx="1"/>
          </p:nvPr>
        </p:nvSpPr>
        <p:spPr/>
        <p:txBody>
          <a:bodyPr/>
          <a:lstStyle/>
          <a:p>
            <a:r>
              <a:rPr lang="en-US" dirty="0"/>
              <a:t>Here is one other way to think about control variables </a:t>
            </a:r>
          </a:p>
        </p:txBody>
      </p:sp>
      <p:sp>
        <p:nvSpPr>
          <p:cNvPr id="4" name="Slide Number Placeholder 3">
            <a:extLst>
              <a:ext uri="{FF2B5EF4-FFF2-40B4-BE49-F238E27FC236}">
                <a16:creationId xmlns:a16="http://schemas.microsoft.com/office/drawing/2014/main" id="{008076C0-080D-7B3D-A714-7BB4C5D20298}"/>
              </a:ext>
            </a:extLst>
          </p:cNvPr>
          <p:cNvSpPr>
            <a:spLocks noGrp="1"/>
          </p:cNvSpPr>
          <p:nvPr>
            <p:ph type="sldNum" sz="quarter" idx="5"/>
          </p:nvPr>
        </p:nvSpPr>
        <p:spPr/>
        <p:txBody>
          <a:bodyPr/>
          <a:lstStyle/>
          <a:p>
            <a:fld id="{4AF79E1B-2C51-4B9B-8EA4-26DE9E345AFF}" type="slidenum">
              <a:rPr lang="en-US" smtClean="0"/>
              <a:t>6</a:t>
            </a:fld>
            <a:endParaRPr lang="en-US"/>
          </a:p>
        </p:txBody>
      </p:sp>
    </p:spTree>
    <p:extLst>
      <p:ext uri="{BB962C8B-B14F-4D97-AF65-F5344CB8AC3E}">
        <p14:creationId xmlns:p14="http://schemas.microsoft.com/office/powerpoint/2010/main" val="277010649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EADEDC-EA0C-6416-0F4A-E5D81D3AD0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B12507-821E-4D81-5187-B27E08B466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3971F2-0AE5-4723-7E82-E140299233AC}"/>
              </a:ext>
            </a:extLst>
          </p:cNvPr>
          <p:cNvSpPr>
            <a:spLocks noGrp="1"/>
          </p:cNvSpPr>
          <p:nvPr>
            <p:ph type="body" idx="1"/>
          </p:nvPr>
        </p:nvSpPr>
        <p:spPr/>
        <p:txBody>
          <a:bodyPr/>
          <a:lstStyle/>
          <a:p>
            <a:r>
              <a:rPr lang="en-US" dirty="0"/>
              <a:t>Will this be perfect, given what we just talked about? What are the limitations? Can you make it more refined? (e.g., if we want to compare people in exactly the same geography, how can we augment this? That’s the idea of fixed effects!) </a:t>
            </a:r>
          </a:p>
        </p:txBody>
      </p:sp>
      <p:sp>
        <p:nvSpPr>
          <p:cNvPr id="4" name="Slide Number Placeholder 3">
            <a:extLst>
              <a:ext uri="{FF2B5EF4-FFF2-40B4-BE49-F238E27FC236}">
                <a16:creationId xmlns:a16="http://schemas.microsoft.com/office/drawing/2014/main" id="{F29F17E2-301E-ADEE-98C6-C6D4BAEC45C6}"/>
              </a:ext>
            </a:extLst>
          </p:cNvPr>
          <p:cNvSpPr>
            <a:spLocks noGrp="1"/>
          </p:cNvSpPr>
          <p:nvPr>
            <p:ph type="sldNum" sz="quarter" idx="5"/>
          </p:nvPr>
        </p:nvSpPr>
        <p:spPr/>
        <p:txBody>
          <a:bodyPr/>
          <a:lstStyle/>
          <a:p>
            <a:fld id="{4AF79E1B-2C51-4B9B-8EA4-26DE9E345AFF}" type="slidenum">
              <a:rPr lang="en-US" smtClean="0"/>
              <a:t>7</a:t>
            </a:fld>
            <a:endParaRPr lang="en-US"/>
          </a:p>
        </p:txBody>
      </p:sp>
    </p:spTree>
    <p:extLst>
      <p:ext uri="{BB962C8B-B14F-4D97-AF65-F5344CB8AC3E}">
        <p14:creationId xmlns:p14="http://schemas.microsoft.com/office/powerpoint/2010/main" val="172702559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87010D-FB27-AE07-1361-21087B2D81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B5F5D0-A348-C244-3BD6-AAECCAEC1EE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2A66AE-9B42-85B2-4293-E38AD458EF19}"/>
              </a:ext>
            </a:extLst>
          </p:cNvPr>
          <p:cNvSpPr>
            <a:spLocks noGrp="1"/>
          </p:cNvSpPr>
          <p:nvPr>
            <p:ph type="body" idx="1"/>
          </p:nvPr>
        </p:nvSpPr>
        <p:spPr/>
        <p:txBody>
          <a:bodyPr/>
          <a:lstStyle/>
          <a:p>
            <a:r>
              <a:rPr lang="en-US" dirty="0"/>
              <a:t>Here is a cool JMP this year!</a:t>
            </a:r>
          </a:p>
        </p:txBody>
      </p:sp>
      <p:sp>
        <p:nvSpPr>
          <p:cNvPr id="4" name="Slide Number Placeholder 3">
            <a:extLst>
              <a:ext uri="{FF2B5EF4-FFF2-40B4-BE49-F238E27FC236}">
                <a16:creationId xmlns:a16="http://schemas.microsoft.com/office/drawing/2014/main" id="{172D0045-6D1C-88C6-DB11-10DF09EAD2EA}"/>
              </a:ext>
            </a:extLst>
          </p:cNvPr>
          <p:cNvSpPr>
            <a:spLocks noGrp="1"/>
          </p:cNvSpPr>
          <p:nvPr>
            <p:ph type="sldNum" sz="quarter" idx="5"/>
          </p:nvPr>
        </p:nvSpPr>
        <p:spPr/>
        <p:txBody>
          <a:bodyPr/>
          <a:lstStyle/>
          <a:p>
            <a:fld id="{4AF79E1B-2C51-4B9B-8EA4-26DE9E345AFF}" type="slidenum">
              <a:rPr lang="en-US" smtClean="0"/>
              <a:t>8</a:t>
            </a:fld>
            <a:endParaRPr lang="en-US"/>
          </a:p>
        </p:txBody>
      </p:sp>
    </p:spTree>
    <p:extLst>
      <p:ext uri="{BB962C8B-B14F-4D97-AF65-F5344CB8AC3E}">
        <p14:creationId xmlns:p14="http://schemas.microsoft.com/office/powerpoint/2010/main" val="405987286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642055-DC83-23A3-C4AA-2DC34CE008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BEE8BB-6648-1777-4598-C17ADF1D74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0957F3C-FFAA-65AC-6644-392A50F9F511}"/>
              </a:ext>
            </a:extLst>
          </p:cNvPr>
          <p:cNvSpPr>
            <a:spLocks noGrp="1"/>
          </p:cNvSpPr>
          <p:nvPr>
            <p:ph type="body" idx="1"/>
          </p:nvPr>
        </p:nvSpPr>
        <p:spPr/>
        <p:txBody>
          <a:bodyPr/>
          <a:lstStyle/>
          <a:p>
            <a:r>
              <a:rPr lang="en-US" dirty="0"/>
              <a:t>Read this together – what’s the question?</a:t>
            </a:r>
          </a:p>
        </p:txBody>
      </p:sp>
      <p:sp>
        <p:nvSpPr>
          <p:cNvPr id="4" name="Slide Number Placeholder 3">
            <a:extLst>
              <a:ext uri="{FF2B5EF4-FFF2-40B4-BE49-F238E27FC236}">
                <a16:creationId xmlns:a16="http://schemas.microsoft.com/office/drawing/2014/main" id="{F70613D0-5D09-D05F-1952-323F656C18FB}"/>
              </a:ext>
            </a:extLst>
          </p:cNvPr>
          <p:cNvSpPr>
            <a:spLocks noGrp="1"/>
          </p:cNvSpPr>
          <p:nvPr>
            <p:ph type="sldNum" sz="quarter" idx="5"/>
          </p:nvPr>
        </p:nvSpPr>
        <p:spPr/>
        <p:txBody>
          <a:bodyPr/>
          <a:lstStyle/>
          <a:p>
            <a:fld id="{4AF79E1B-2C51-4B9B-8EA4-26DE9E345AFF}" type="slidenum">
              <a:rPr lang="en-US" smtClean="0"/>
              <a:t>9</a:t>
            </a:fld>
            <a:endParaRPr lang="en-US"/>
          </a:p>
        </p:txBody>
      </p:sp>
    </p:spTree>
    <p:extLst>
      <p:ext uri="{BB962C8B-B14F-4D97-AF65-F5344CB8AC3E}">
        <p14:creationId xmlns:p14="http://schemas.microsoft.com/office/powerpoint/2010/main" val="326904743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3AACDB-6182-C143-0966-FB63AB26B2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BCC59D-F96D-7DD9-616D-BC6EB3BE5E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AA8DB3-83BF-DA03-8236-5482A9FC2BD6}"/>
              </a:ext>
            </a:extLst>
          </p:cNvPr>
          <p:cNvSpPr>
            <a:spLocks noGrp="1"/>
          </p:cNvSpPr>
          <p:nvPr>
            <p:ph type="body" idx="1"/>
          </p:nvPr>
        </p:nvSpPr>
        <p:spPr/>
        <p:txBody>
          <a:bodyPr/>
          <a:lstStyle/>
          <a:p>
            <a:r>
              <a:rPr lang="en-US" dirty="0"/>
              <a:t>Will this be perfect, given what we just talked about? </a:t>
            </a:r>
          </a:p>
        </p:txBody>
      </p:sp>
      <p:sp>
        <p:nvSpPr>
          <p:cNvPr id="4" name="Slide Number Placeholder 3">
            <a:extLst>
              <a:ext uri="{FF2B5EF4-FFF2-40B4-BE49-F238E27FC236}">
                <a16:creationId xmlns:a16="http://schemas.microsoft.com/office/drawing/2014/main" id="{E6471181-8646-7281-F944-36E590300B34}"/>
              </a:ext>
            </a:extLst>
          </p:cNvPr>
          <p:cNvSpPr>
            <a:spLocks noGrp="1"/>
          </p:cNvSpPr>
          <p:nvPr>
            <p:ph type="sldNum" sz="quarter" idx="5"/>
          </p:nvPr>
        </p:nvSpPr>
        <p:spPr/>
        <p:txBody>
          <a:bodyPr/>
          <a:lstStyle/>
          <a:p>
            <a:fld id="{4AF79E1B-2C51-4B9B-8EA4-26DE9E345AFF}" type="slidenum">
              <a:rPr lang="en-US" smtClean="0"/>
              <a:t>10</a:t>
            </a:fld>
            <a:endParaRPr lang="en-US"/>
          </a:p>
        </p:txBody>
      </p:sp>
    </p:spTree>
    <p:extLst>
      <p:ext uri="{BB962C8B-B14F-4D97-AF65-F5344CB8AC3E}">
        <p14:creationId xmlns:p14="http://schemas.microsoft.com/office/powerpoint/2010/main" val="354979894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58A90F-15FE-C44C-D2DA-B04101AC91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2F04A7-BBCD-557B-C17F-1CD3020059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63E36D0-0541-2CFE-3D6E-FAE3D814F90C}"/>
              </a:ext>
            </a:extLst>
          </p:cNvPr>
          <p:cNvSpPr>
            <a:spLocks noGrp="1"/>
          </p:cNvSpPr>
          <p:nvPr>
            <p:ph type="body" idx="1"/>
          </p:nvPr>
        </p:nvSpPr>
        <p:spPr/>
        <p:txBody>
          <a:bodyPr/>
          <a:lstStyle/>
          <a:p>
            <a:r>
              <a:rPr lang="en-US" dirty="0"/>
              <a:t>Some ideas: within a hospital, nurse, shift even, even the hour, as well as the type of patient. EHR/claims data lets us do this!</a:t>
            </a:r>
          </a:p>
        </p:txBody>
      </p:sp>
      <p:sp>
        <p:nvSpPr>
          <p:cNvPr id="4" name="Slide Number Placeholder 3">
            <a:extLst>
              <a:ext uri="{FF2B5EF4-FFF2-40B4-BE49-F238E27FC236}">
                <a16:creationId xmlns:a16="http://schemas.microsoft.com/office/drawing/2014/main" id="{191606D9-8D80-47A3-6D00-26838F44BF6E}"/>
              </a:ext>
            </a:extLst>
          </p:cNvPr>
          <p:cNvSpPr>
            <a:spLocks noGrp="1"/>
          </p:cNvSpPr>
          <p:nvPr>
            <p:ph type="sldNum" sz="quarter" idx="5"/>
          </p:nvPr>
        </p:nvSpPr>
        <p:spPr/>
        <p:txBody>
          <a:bodyPr/>
          <a:lstStyle/>
          <a:p>
            <a:fld id="{4AF79E1B-2C51-4B9B-8EA4-26DE9E345AFF}" type="slidenum">
              <a:rPr lang="en-US" smtClean="0"/>
              <a:t>11</a:t>
            </a:fld>
            <a:endParaRPr lang="en-US"/>
          </a:p>
        </p:txBody>
      </p:sp>
    </p:spTree>
    <p:extLst>
      <p:ext uri="{BB962C8B-B14F-4D97-AF65-F5344CB8AC3E}">
        <p14:creationId xmlns:p14="http://schemas.microsoft.com/office/powerpoint/2010/main" val="272523464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A9B1C-D4CF-C419-E21F-BC470792BD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19FF40-3E2A-1701-1C6E-9D8D90ED2D7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8D9FE6-633B-F343-A134-4948A6E7AEE7}"/>
              </a:ext>
            </a:extLst>
          </p:cNvPr>
          <p:cNvSpPr>
            <a:spLocks noGrp="1"/>
          </p:cNvSpPr>
          <p:nvPr>
            <p:ph type="body" idx="1"/>
          </p:nvPr>
        </p:nvSpPr>
        <p:spPr/>
        <p:txBody>
          <a:bodyPr/>
          <a:lstStyle/>
          <a:p>
            <a:r>
              <a:rPr lang="en-US" dirty="0"/>
              <a:t>Similar argument for time pressure: “Because patient arrivals are stochastic, otherwise similar patients evaluated by the</a:t>
            </a:r>
          </a:p>
          <a:p>
            <a:r>
              <a:rPr lang="en-US" dirty="0"/>
              <a:t>same nurse can face different queue lengths depending on how many other patients happen to arrive</a:t>
            </a:r>
          </a:p>
          <a:p>
            <a:r>
              <a:rPr lang="en-US" dirty="0"/>
              <a:t>around the time of their assessment.”</a:t>
            </a:r>
          </a:p>
        </p:txBody>
      </p:sp>
      <p:sp>
        <p:nvSpPr>
          <p:cNvPr id="4" name="Slide Number Placeholder 3">
            <a:extLst>
              <a:ext uri="{FF2B5EF4-FFF2-40B4-BE49-F238E27FC236}">
                <a16:creationId xmlns:a16="http://schemas.microsoft.com/office/drawing/2014/main" id="{872926EC-F3B3-B933-8FF4-D8DA8E2D35CF}"/>
              </a:ext>
            </a:extLst>
          </p:cNvPr>
          <p:cNvSpPr>
            <a:spLocks noGrp="1"/>
          </p:cNvSpPr>
          <p:nvPr>
            <p:ph type="sldNum" sz="quarter" idx="5"/>
          </p:nvPr>
        </p:nvSpPr>
        <p:spPr/>
        <p:txBody>
          <a:bodyPr/>
          <a:lstStyle/>
          <a:p>
            <a:fld id="{4AF79E1B-2C51-4B9B-8EA4-26DE9E345AFF}" type="slidenum">
              <a:rPr lang="en-US" smtClean="0"/>
              <a:t>12</a:t>
            </a:fld>
            <a:endParaRPr lang="en-US"/>
          </a:p>
        </p:txBody>
      </p:sp>
    </p:spTree>
    <p:extLst>
      <p:ext uri="{BB962C8B-B14F-4D97-AF65-F5344CB8AC3E}">
        <p14:creationId xmlns:p14="http://schemas.microsoft.com/office/powerpoint/2010/main" val="183089888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89F154-2AEF-AD9D-7FB5-06E0D39D8D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97F724-4111-C443-52D1-6C967BC45C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F6C2AF7-341B-5944-4579-D130EB501945}"/>
              </a:ext>
            </a:extLst>
          </p:cNvPr>
          <p:cNvSpPr>
            <a:spLocks noGrp="1"/>
          </p:cNvSpPr>
          <p:nvPr>
            <p:ph type="body" idx="1"/>
          </p:nvPr>
        </p:nvSpPr>
        <p:spPr/>
        <p:txBody>
          <a:bodyPr/>
          <a:lstStyle/>
          <a:p>
            <a:r>
              <a:rPr lang="en-US" dirty="0"/>
              <a:t>So what do the fixed effects here do? </a:t>
            </a:r>
          </a:p>
        </p:txBody>
      </p:sp>
      <p:sp>
        <p:nvSpPr>
          <p:cNvPr id="4" name="Slide Number Placeholder 3">
            <a:extLst>
              <a:ext uri="{FF2B5EF4-FFF2-40B4-BE49-F238E27FC236}">
                <a16:creationId xmlns:a16="http://schemas.microsoft.com/office/drawing/2014/main" id="{2048A804-1CAD-BD19-400E-A1FF79F6B4A0}"/>
              </a:ext>
            </a:extLst>
          </p:cNvPr>
          <p:cNvSpPr>
            <a:spLocks noGrp="1"/>
          </p:cNvSpPr>
          <p:nvPr>
            <p:ph type="sldNum" sz="quarter" idx="5"/>
          </p:nvPr>
        </p:nvSpPr>
        <p:spPr/>
        <p:txBody>
          <a:bodyPr/>
          <a:lstStyle/>
          <a:p>
            <a:fld id="{4AF79E1B-2C51-4B9B-8EA4-26DE9E345AFF}" type="slidenum">
              <a:rPr lang="en-US" smtClean="0"/>
              <a:t>13</a:t>
            </a:fld>
            <a:endParaRPr lang="en-US"/>
          </a:p>
        </p:txBody>
      </p:sp>
    </p:spTree>
    <p:extLst>
      <p:ext uri="{BB962C8B-B14F-4D97-AF65-F5344CB8AC3E}">
        <p14:creationId xmlns:p14="http://schemas.microsoft.com/office/powerpoint/2010/main" val="237857145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AD4758-0025-E563-D612-EC7DF5918C9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13D25D-D64E-0CF6-015E-659DC987D62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92850B-F6E2-FB90-1255-C752BC39DD8C}"/>
              </a:ext>
            </a:extLst>
          </p:cNvPr>
          <p:cNvSpPr>
            <a:spLocks noGrp="1"/>
          </p:cNvSpPr>
          <p:nvPr>
            <p:ph type="body" idx="1"/>
          </p:nvPr>
        </p:nvSpPr>
        <p:spPr/>
        <p:txBody>
          <a:bodyPr/>
          <a:lstStyle/>
          <a:p>
            <a:r>
              <a:rPr lang="en-US" dirty="0"/>
              <a:t>So what do the fixed effects here do? Note that there are other controls as well. </a:t>
            </a:r>
          </a:p>
        </p:txBody>
      </p:sp>
      <p:sp>
        <p:nvSpPr>
          <p:cNvPr id="4" name="Slide Number Placeholder 3">
            <a:extLst>
              <a:ext uri="{FF2B5EF4-FFF2-40B4-BE49-F238E27FC236}">
                <a16:creationId xmlns:a16="http://schemas.microsoft.com/office/drawing/2014/main" id="{BE0C8CFD-B16B-73EE-9DB3-82979BC7CB3E}"/>
              </a:ext>
            </a:extLst>
          </p:cNvPr>
          <p:cNvSpPr>
            <a:spLocks noGrp="1"/>
          </p:cNvSpPr>
          <p:nvPr>
            <p:ph type="sldNum" sz="quarter" idx="5"/>
          </p:nvPr>
        </p:nvSpPr>
        <p:spPr/>
        <p:txBody>
          <a:bodyPr/>
          <a:lstStyle/>
          <a:p>
            <a:fld id="{4AF79E1B-2C51-4B9B-8EA4-26DE9E345AFF}" type="slidenum">
              <a:rPr lang="en-US" smtClean="0"/>
              <a:t>14</a:t>
            </a:fld>
            <a:endParaRPr lang="en-US"/>
          </a:p>
        </p:txBody>
      </p:sp>
    </p:spTree>
    <p:extLst>
      <p:ext uri="{BB962C8B-B14F-4D97-AF65-F5344CB8AC3E}">
        <p14:creationId xmlns:p14="http://schemas.microsoft.com/office/powerpoint/2010/main" val="297697374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57B5A8-456E-AB02-0DC9-A25E2CB85A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E74156-91EE-CDF0-61B0-40A027CAB89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1F4DE1-CD92-8CA3-364B-744CC5143E39}"/>
              </a:ext>
            </a:extLst>
          </p:cNvPr>
          <p:cNvSpPr>
            <a:spLocks noGrp="1"/>
          </p:cNvSpPr>
          <p:nvPr>
            <p:ph type="body" idx="1"/>
          </p:nvPr>
        </p:nvSpPr>
        <p:spPr/>
        <p:txBody>
          <a:bodyPr/>
          <a:lstStyle/>
          <a:p>
            <a:r>
              <a:rPr lang="en-US" dirty="0"/>
              <a:t>Let’s interpret these coefficients and discuss what the table shows across columns. What’s the context validity here? Is this really discrimination? </a:t>
            </a:r>
          </a:p>
        </p:txBody>
      </p:sp>
      <p:sp>
        <p:nvSpPr>
          <p:cNvPr id="4" name="Slide Number Placeholder 3">
            <a:extLst>
              <a:ext uri="{FF2B5EF4-FFF2-40B4-BE49-F238E27FC236}">
                <a16:creationId xmlns:a16="http://schemas.microsoft.com/office/drawing/2014/main" id="{AA37F2F9-ADB2-5219-6FF1-3E3314C5C245}"/>
              </a:ext>
            </a:extLst>
          </p:cNvPr>
          <p:cNvSpPr>
            <a:spLocks noGrp="1"/>
          </p:cNvSpPr>
          <p:nvPr>
            <p:ph type="sldNum" sz="quarter" idx="5"/>
          </p:nvPr>
        </p:nvSpPr>
        <p:spPr/>
        <p:txBody>
          <a:bodyPr/>
          <a:lstStyle/>
          <a:p>
            <a:fld id="{4AF79E1B-2C51-4B9B-8EA4-26DE9E345AFF}" type="slidenum">
              <a:rPr lang="en-US" smtClean="0"/>
              <a:t>15</a:t>
            </a:fld>
            <a:endParaRPr lang="en-US"/>
          </a:p>
        </p:txBody>
      </p:sp>
    </p:spTree>
    <p:extLst>
      <p:ext uri="{BB962C8B-B14F-4D97-AF65-F5344CB8AC3E}">
        <p14:creationId xmlns:p14="http://schemas.microsoft.com/office/powerpoint/2010/main" val="91976469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9D1683-2E78-5E49-A2BE-BB4E961539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95ED27-DC85-1B41-1DC0-202A31B36A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1EA028-3E3B-CD22-470D-833A5A5A2EFD}"/>
              </a:ext>
            </a:extLst>
          </p:cNvPr>
          <p:cNvSpPr>
            <a:spLocks noGrp="1"/>
          </p:cNvSpPr>
          <p:nvPr>
            <p:ph type="body" idx="1"/>
          </p:nvPr>
        </p:nvSpPr>
        <p:spPr/>
        <p:txBody>
          <a:bodyPr/>
          <a:lstStyle/>
          <a:p>
            <a:r>
              <a:rPr lang="en-US" dirty="0"/>
              <a:t>This is now dynamically looking at what happens to this coefficient *around* quasi-random exposure to a frequent flyer, conditional on all of those fixed effects. Talk about the interaction terms. </a:t>
            </a:r>
          </a:p>
        </p:txBody>
      </p:sp>
      <p:sp>
        <p:nvSpPr>
          <p:cNvPr id="4" name="Slide Number Placeholder 3">
            <a:extLst>
              <a:ext uri="{FF2B5EF4-FFF2-40B4-BE49-F238E27FC236}">
                <a16:creationId xmlns:a16="http://schemas.microsoft.com/office/drawing/2014/main" id="{8AABB146-9AB3-AB98-A203-C57F8A3A1753}"/>
              </a:ext>
            </a:extLst>
          </p:cNvPr>
          <p:cNvSpPr>
            <a:spLocks noGrp="1"/>
          </p:cNvSpPr>
          <p:nvPr>
            <p:ph type="sldNum" sz="quarter" idx="5"/>
          </p:nvPr>
        </p:nvSpPr>
        <p:spPr/>
        <p:txBody>
          <a:bodyPr/>
          <a:lstStyle/>
          <a:p>
            <a:fld id="{4AF79E1B-2C51-4B9B-8EA4-26DE9E345AFF}" type="slidenum">
              <a:rPr lang="en-US" smtClean="0"/>
              <a:t>16</a:t>
            </a:fld>
            <a:endParaRPr lang="en-US"/>
          </a:p>
        </p:txBody>
      </p:sp>
    </p:spTree>
    <p:extLst>
      <p:ext uri="{BB962C8B-B14F-4D97-AF65-F5344CB8AC3E}">
        <p14:creationId xmlns:p14="http://schemas.microsoft.com/office/powerpoint/2010/main" val="391840896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4A79B5-884F-5A61-FA09-FFB035098D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715825-6E6B-FBBD-D280-09A9E5E2EEF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5D5041-6E3B-81E1-F99E-5526F3A15B37}"/>
              </a:ext>
            </a:extLst>
          </p:cNvPr>
          <p:cNvSpPr>
            <a:spLocks noGrp="1"/>
          </p:cNvSpPr>
          <p:nvPr>
            <p:ph type="body" idx="1"/>
          </p:nvPr>
        </p:nvSpPr>
        <p:spPr/>
        <p:txBody>
          <a:bodyPr/>
          <a:lstStyle/>
          <a:p>
            <a:r>
              <a:rPr lang="en-US" dirty="0"/>
              <a:t>With this framework of remixing and thinking about your estimand in mind, let’s talk about how to pick a research design? </a:t>
            </a:r>
          </a:p>
        </p:txBody>
      </p:sp>
      <p:sp>
        <p:nvSpPr>
          <p:cNvPr id="4" name="Slide Number Placeholder 3">
            <a:extLst>
              <a:ext uri="{FF2B5EF4-FFF2-40B4-BE49-F238E27FC236}">
                <a16:creationId xmlns:a16="http://schemas.microsoft.com/office/drawing/2014/main" id="{5A9A1670-7F2A-A71D-43A9-760234B6D03C}"/>
              </a:ext>
            </a:extLst>
          </p:cNvPr>
          <p:cNvSpPr>
            <a:spLocks noGrp="1"/>
          </p:cNvSpPr>
          <p:nvPr>
            <p:ph type="sldNum" sz="quarter" idx="5"/>
          </p:nvPr>
        </p:nvSpPr>
        <p:spPr/>
        <p:txBody>
          <a:bodyPr/>
          <a:lstStyle/>
          <a:p>
            <a:fld id="{4AF79E1B-2C51-4B9B-8EA4-26DE9E345AFF}" type="slidenum">
              <a:rPr lang="en-US" smtClean="0"/>
              <a:t>18</a:t>
            </a:fld>
            <a:endParaRPr lang="en-US"/>
          </a:p>
        </p:txBody>
      </p:sp>
    </p:spTree>
    <p:extLst>
      <p:ext uri="{BB962C8B-B14F-4D97-AF65-F5344CB8AC3E}">
        <p14:creationId xmlns:p14="http://schemas.microsoft.com/office/powerpoint/2010/main" val="28808134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B41976-ED60-53BA-D29D-6D17CAE320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11B8F7-886E-FF70-CFE8-A3BF747E30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AF803F-FEF0-9D1B-7903-5BE9912553A7}"/>
              </a:ext>
            </a:extLst>
          </p:cNvPr>
          <p:cNvSpPr>
            <a:spLocks noGrp="1"/>
          </p:cNvSpPr>
          <p:nvPr>
            <p:ph type="body" idx="1"/>
          </p:nvPr>
        </p:nvSpPr>
        <p:spPr/>
        <p:txBody>
          <a:bodyPr/>
          <a:lstStyle/>
          <a:p>
            <a:r>
              <a:rPr lang="en-US" dirty="0"/>
              <a:t>A macabre thought experiment…</a:t>
            </a:r>
          </a:p>
        </p:txBody>
      </p:sp>
      <p:sp>
        <p:nvSpPr>
          <p:cNvPr id="4" name="Slide Number Placeholder 3">
            <a:extLst>
              <a:ext uri="{FF2B5EF4-FFF2-40B4-BE49-F238E27FC236}">
                <a16:creationId xmlns:a16="http://schemas.microsoft.com/office/drawing/2014/main" id="{27CAC6B0-F435-1376-F210-4D02EC69AED6}"/>
              </a:ext>
            </a:extLst>
          </p:cNvPr>
          <p:cNvSpPr>
            <a:spLocks noGrp="1"/>
          </p:cNvSpPr>
          <p:nvPr>
            <p:ph type="sldNum" sz="quarter" idx="5"/>
          </p:nvPr>
        </p:nvSpPr>
        <p:spPr/>
        <p:txBody>
          <a:bodyPr/>
          <a:lstStyle/>
          <a:p>
            <a:fld id="{4AF79E1B-2C51-4B9B-8EA4-26DE9E345AFF}" type="slidenum">
              <a:rPr lang="en-US" smtClean="0"/>
              <a:t>19</a:t>
            </a:fld>
            <a:endParaRPr lang="en-US"/>
          </a:p>
        </p:txBody>
      </p:sp>
    </p:spTree>
    <p:extLst>
      <p:ext uri="{BB962C8B-B14F-4D97-AF65-F5344CB8AC3E}">
        <p14:creationId xmlns:p14="http://schemas.microsoft.com/office/powerpoint/2010/main" val="369763154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056753-A655-392A-EAE3-452DBF3780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978813-1F3D-5A4F-CE54-DA55CC9F4E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488257-065E-A22C-F42D-0E71A1064F97}"/>
              </a:ext>
            </a:extLst>
          </p:cNvPr>
          <p:cNvSpPr>
            <a:spLocks noGrp="1"/>
          </p:cNvSpPr>
          <p:nvPr>
            <p:ph type="body" idx="1"/>
          </p:nvPr>
        </p:nvSpPr>
        <p:spPr/>
        <p:txBody>
          <a:bodyPr/>
          <a:lstStyle/>
          <a:p>
            <a:r>
              <a:rPr lang="en-US" dirty="0"/>
              <a:t>The experiment will tell you something about the identifying variation you want. Do you want a world where some people are assigned treatment and others control (and if so, can you get that with a DD? matching?) Do you need randomized encouragement (so more of an IV structure)? Are you using a cutoff (so something like an RD?)</a:t>
            </a:r>
          </a:p>
        </p:txBody>
      </p:sp>
      <p:sp>
        <p:nvSpPr>
          <p:cNvPr id="4" name="Slide Number Placeholder 3">
            <a:extLst>
              <a:ext uri="{FF2B5EF4-FFF2-40B4-BE49-F238E27FC236}">
                <a16:creationId xmlns:a16="http://schemas.microsoft.com/office/drawing/2014/main" id="{125EE9AF-6A9E-6525-62D9-FFE510E0B90F}"/>
              </a:ext>
            </a:extLst>
          </p:cNvPr>
          <p:cNvSpPr>
            <a:spLocks noGrp="1"/>
          </p:cNvSpPr>
          <p:nvPr>
            <p:ph type="sldNum" sz="quarter" idx="5"/>
          </p:nvPr>
        </p:nvSpPr>
        <p:spPr/>
        <p:txBody>
          <a:bodyPr/>
          <a:lstStyle/>
          <a:p>
            <a:fld id="{4AF79E1B-2C51-4B9B-8EA4-26DE9E345AFF}" type="slidenum">
              <a:rPr lang="en-US" smtClean="0"/>
              <a:t>20</a:t>
            </a:fld>
            <a:endParaRPr lang="en-US"/>
          </a:p>
        </p:txBody>
      </p:sp>
    </p:spTree>
    <p:extLst>
      <p:ext uri="{BB962C8B-B14F-4D97-AF65-F5344CB8AC3E}">
        <p14:creationId xmlns:p14="http://schemas.microsoft.com/office/powerpoint/2010/main" val="187566187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08569D-6B23-0B27-7521-725FB51F6F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05DA20-1D3B-6D2C-0567-9ACC44AF5BB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54B317-2133-32DA-EFFE-C2618847619B}"/>
              </a:ext>
            </a:extLst>
          </p:cNvPr>
          <p:cNvSpPr>
            <a:spLocks noGrp="1"/>
          </p:cNvSpPr>
          <p:nvPr>
            <p:ph type="body" idx="1"/>
          </p:nvPr>
        </p:nvSpPr>
        <p:spPr/>
        <p:txBody>
          <a:bodyPr/>
          <a:lstStyle/>
          <a:p>
            <a:r>
              <a:rPr lang="en-US" dirty="0"/>
              <a:t>Immortal time bias is where you design a study so that in some cases, one group simply </a:t>
            </a:r>
            <a:r>
              <a:rPr lang="en-US" i="1" dirty="0"/>
              <a:t>cannot </a:t>
            </a:r>
            <a:r>
              <a:rPr lang="en-US" i="0" dirty="0"/>
              <a:t>receive the outcome, so your comparisons are off. </a:t>
            </a:r>
          </a:p>
          <a:p>
            <a:r>
              <a:rPr lang="en-US" i="0" dirty="0"/>
              <a:t>Some common problems: </a:t>
            </a:r>
          </a:p>
          <a:p>
            <a:pPr marL="171450" indent="-171450">
              <a:buFontTx/>
              <a:buChar char="-"/>
            </a:pPr>
            <a:r>
              <a:rPr lang="en-US" i="0" dirty="0"/>
              <a:t>You may have imposed a survival requirement (for either the treatment or control group) by which there can be no outcomes in the pre-period. E.g., if you want to compare effects of a diagnosis on mortality, have you required that the treatment group survive to older ages, on average, than the control group (because they have to live until they get a diagnosis, but the control group has competing risk of deaths from other sources). </a:t>
            </a:r>
          </a:p>
          <a:p>
            <a:pPr marL="171450" indent="-171450">
              <a:buFontTx/>
              <a:buChar char="-"/>
            </a:pPr>
            <a:r>
              <a:rPr lang="en-US" i="0" dirty="0"/>
              <a:t>Alternatively, you may inadvertently set it up so the control group can’t experience the outcome after the exposure – this is what happens in our case study! </a:t>
            </a:r>
            <a:endParaRPr lang="en-US" dirty="0"/>
          </a:p>
        </p:txBody>
      </p:sp>
      <p:sp>
        <p:nvSpPr>
          <p:cNvPr id="4" name="Slide Number Placeholder 3">
            <a:extLst>
              <a:ext uri="{FF2B5EF4-FFF2-40B4-BE49-F238E27FC236}">
                <a16:creationId xmlns:a16="http://schemas.microsoft.com/office/drawing/2014/main" id="{B20E892D-8402-83B8-B2D1-ECC8CECC01C9}"/>
              </a:ext>
            </a:extLst>
          </p:cNvPr>
          <p:cNvSpPr>
            <a:spLocks noGrp="1"/>
          </p:cNvSpPr>
          <p:nvPr>
            <p:ph type="sldNum" sz="quarter" idx="5"/>
          </p:nvPr>
        </p:nvSpPr>
        <p:spPr/>
        <p:txBody>
          <a:bodyPr/>
          <a:lstStyle/>
          <a:p>
            <a:fld id="{4AF79E1B-2C51-4B9B-8EA4-26DE9E345AFF}" type="slidenum">
              <a:rPr lang="en-US" smtClean="0"/>
              <a:t>21</a:t>
            </a:fld>
            <a:endParaRPr lang="en-US"/>
          </a:p>
        </p:txBody>
      </p:sp>
    </p:spTree>
    <p:extLst>
      <p:ext uri="{BB962C8B-B14F-4D97-AF65-F5344CB8AC3E}">
        <p14:creationId xmlns:p14="http://schemas.microsoft.com/office/powerpoint/2010/main" val="353139917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E023A4-18BF-196A-1463-11B609D15E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3D43F0-6F10-9C28-DF8D-DE9AB2670B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F5913D8-D9E2-0032-50C9-E5AC7BECCA41}"/>
              </a:ext>
            </a:extLst>
          </p:cNvPr>
          <p:cNvSpPr>
            <a:spLocks noGrp="1"/>
          </p:cNvSpPr>
          <p:nvPr>
            <p:ph type="body" idx="1"/>
          </p:nvPr>
        </p:nvSpPr>
        <p:spPr/>
        <p:txBody>
          <a:bodyPr/>
          <a:lstStyle/>
          <a:p>
            <a:r>
              <a:rPr lang="en-US" dirty="0"/>
              <a:t>Then, on the next slide, we will talk about what they did and why it’s different.</a:t>
            </a:r>
          </a:p>
          <a:p>
            <a:pPr marL="228600" indent="-228600">
              <a:buAutoNum type="arabicPeriod"/>
            </a:pPr>
            <a:r>
              <a:rPr lang="en-US" dirty="0"/>
              <a:t>There are RCTs on this, but we won’t have evidence for another decade. But we still have to design screening now. </a:t>
            </a:r>
          </a:p>
          <a:p>
            <a:pPr marL="228600" indent="-228600">
              <a:buAutoNum type="arabicPeriod"/>
            </a:pPr>
            <a:r>
              <a:rPr lang="en-US" dirty="0"/>
              <a:t>Same as above, really. </a:t>
            </a:r>
          </a:p>
          <a:p>
            <a:pPr marL="228600" indent="-228600">
              <a:buAutoNum type="arabicPeriod"/>
            </a:pPr>
            <a:r>
              <a:rPr lang="en-US" dirty="0"/>
              <a:t>Observational design: use a large claims data base (could we do this in OHIP? Why or why not?) and look at differences in CRC onset based on screening. Importantly, this paper shows *why* different simpler designs might fail. </a:t>
            </a:r>
          </a:p>
          <a:p>
            <a:pPr marL="228600" indent="-228600">
              <a:buAutoNum type="arabicPeriod"/>
            </a:pPr>
            <a:endParaRPr lang="en-US" dirty="0"/>
          </a:p>
        </p:txBody>
      </p:sp>
      <p:sp>
        <p:nvSpPr>
          <p:cNvPr id="4" name="Slide Number Placeholder 3">
            <a:extLst>
              <a:ext uri="{FF2B5EF4-FFF2-40B4-BE49-F238E27FC236}">
                <a16:creationId xmlns:a16="http://schemas.microsoft.com/office/drawing/2014/main" id="{E57AEEC0-E9B1-E5BC-3836-1CB7A123137F}"/>
              </a:ext>
            </a:extLst>
          </p:cNvPr>
          <p:cNvSpPr>
            <a:spLocks noGrp="1"/>
          </p:cNvSpPr>
          <p:nvPr>
            <p:ph type="sldNum" sz="quarter" idx="5"/>
          </p:nvPr>
        </p:nvSpPr>
        <p:spPr/>
        <p:txBody>
          <a:bodyPr/>
          <a:lstStyle/>
          <a:p>
            <a:fld id="{4AF79E1B-2C51-4B9B-8EA4-26DE9E345AFF}" type="slidenum">
              <a:rPr lang="en-US" smtClean="0"/>
              <a:t>22</a:t>
            </a:fld>
            <a:endParaRPr lang="en-US"/>
          </a:p>
        </p:txBody>
      </p:sp>
    </p:spTree>
    <p:extLst>
      <p:ext uri="{BB962C8B-B14F-4D97-AF65-F5344CB8AC3E}">
        <p14:creationId xmlns:p14="http://schemas.microsoft.com/office/powerpoint/2010/main" val="267586488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AEB9A4-82A1-04FD-1BB1-E5916D7F90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83E0A8-A9BD-4472-9FB8-F2ECA996A9E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C1C726-AC96-EC1B-556E-342AAABA14E6}"/>
              </a:ext>
            </a:extLst>
          </p:cNvPr>
          <p:cNvSpPr>
            <a:spLocks noGrp="1"/>
          </p:cNvSpPr>
          <p:nvPr>
            <p:ph type="body" idx="1"/>
          </p:nvPr>
        </p:nvSpPr>
        <p:spPr/>
        <p:txBody>
          <a:bodyPr/>
          <a:lstStyle/>
          <a:p>
            <a:r>
              <a:rPr lang="en-US" dirty="0"/>
              <a:t>- 2. “That is, </a:t>
            </a:r>
            <a:r>
              <a:rPr lang="en-US" dirty="0" err="1"/>
              <a:t>weassign</a:t>
            </a:r>
            <a:r>
              <a:rPr lang="en-US" dirty="0"/>
              <a:t> individuals who receive a colonoscopy while </a:t>
            </a:r>
            <a:r>
              <a:rPr lang="en-US" dirty="0" err="1"/>
              <a:t>meetingthe</a:t>
            </a:r>
            <a:r>
              <a:rPr lang="en-US" dirty="0"/>
              <a:t> eligibility criteria to the colonoscopy strategy (with </a:t>
            </a:r>
            <a:r>
              <a:rPr lang="en-US" dirty="0" err="1"/>
              <a:t>timezero</a:t>
            </a:r>
            <a:r>
              <a:rPr lang="en-US" dirty="0"/>
              <a:t> being the time of the colonoscopy), and individuals </a:t>
            </a:r>
            <a:r>
              <a:rPr lang="en-US" dirty="0" err="1"/>
              <a:t>whodid</a:t>
            </a:r>
            <a:r>
              <a:rPr lang="en-US" dirty="0"/>
              <a:t> not receive a colonoscopy throughout the entire </a:t>
            </a:r>
            <a:r>
              <a:rPr lang="en-US" dirty="0" err="1"/>
              <a:t>studyperiod</a:t>
            </a:r>
            <a:r>
              <a:rPr lang="en-US" dirty="0"/>
              <a:t> to the no-colonoscopy group (with time zero being </a:t>
            </a:r>
            <a:r>
              <a:rPr lang="en-US" dirty="0" err="1"/>
              <a:t>theirfirst</a:t>
            </a:r>
            <a:r>
              <a:rPr lang="en-US" dirty="0"/>
              <a:t> eligible time during the study period).”</a:t>
            </a:r>
          </a:p>
          <a:p>
            <a:pPr marL="171450" indent="-171450">
              <a:buFontTx/>
              <a:buChar char="-"/>
            </a:pPr>
            <a:r>
              <a:rPr lang="en-US" dirty="0"/>
              <a:t>Excludes those with cancer from the control group, so would understate effectiveness of CRC screening (screening would look harmful!). </a:t>
            </a:r>
          </a:p>
          <a:p>
            <a:pPr marL="171450" indent="-171450">
              <a:buFontTx/>
              <a:buChar char="-"/>
            </a:pPr>
            <a:r>
              <a:rPr lang="en-US" dirty="0"/>
              <a:t>3. selecting an arbitrary </a:t>
            </a:r>
            <a:r>
              <a:rPr lang="en-US" dirty="0" err="1"/>
              <a:t>timezero</a:t>
            </a:r>
            <a:r>
              <a:rPr lang="en-US" dirty="0"/>
              <a:t> to ascertain eligibility, e.g., January 1, 2004, </a:t>
            </a:r>
            <a:r>
              <a:rPr lang="en-US" dirty="0" err="1"/>
              <a:t>andthen</a:t>
            </a:r>
            <a:r>
              <a:rPr lang="en-US" dirty="0"/>
              <a:t> assigning all eligible individuals to the </a:t>
            </a:r>
            <a:r>
              <a:rPr lang="en-US" dirty="0" err="1"/>
              <a:t>colonoscopystrategy</a:t>
            </a:r>
            <a:r>
              <a:rPr lang="en-US" dirty="0"/>
              <a:t> if they received a colonoscopy in the </a:t>
            </a:r>
            <a:r>
              <a:rPr lang="en-US" dirty="0" err="1"/>
              <a:t>previousfive</a:t>
            </a:r>
            <a:r>
              <a:rPr lang="en-US" dirty="0"/>
              <a:t> years, or to the no-screening strategy otherwise.</a:t>
            </a:r>
          </a:p>
          <a:p>
            <a:pPr marL="171450" indent="-171450">
              <a:buFontTx/>
              <a:buChar char="-"/>
            </a:pPr>
            <a:r>
              <a:rPr lang="en-US" dirty="0"/>
              <a:t>This one excludes those with cancer from the treatment group, not the control group! It also fails to think about endogenous selection into screening. Talk about this later on. </a:t>
            </a:r>
          </a:p>
        </p:txBody>
      </p:sp>
      <p:sp>
        <p:nvSpPr>
          <p:cNvPr id="4" name="Slide Number Placeholder 3">
            <a:extLst>
              <a:ext uri="{FF2B5EF4-FFF2-40B4-BE49-F238E27FC236}">
                <a16:creationId xmlns:a16="http://schemas.microsoft.com/office/drawing/2014/main" id="{3FE81CF2-F890-0961-1D62-AC4DD40BA4C0}"/>
              </a:ext>
            </a:extLst>
          </p:cNvPr>
          <p:cNvSpPr>
            <a:spLocks noGrp="1"/>
          </p:cNvSpPr>
          <p:nvPr>
            <p:ph type="sldNum" sz="quarter" idx="5"/>
          </p:nvPr>
        </p:nvSpPr>
        <p:spPr/>
        <p:txBody>
          <a:bodyPr/>
          <a:lstStyle/>
          <a:p>
            <a:fld id="{4AF79E1B-2C51-4B9B-8EA4-26DE9E345AFF}" type="slidenum">
              <a:rPr lang="en-US" smtClean="0"/>
              <a:t>23</a:t>
            </a:fld>
            <a:endParaRPr lang="en-US"/>
          </a:p>
        </p:txBody>
      </p:sp>
    </p:spTree>
    <p:extLst>
      <p:ext uri="{BB962C8B-B14F-4D97-AF65-F5344CB8AC3E}">
        <p14:creationId xmlns:p14="http://schemas.microsoft.com/office/powerpoint/2010/main" val="227160709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design does this look like? Randomization based on controls </a:t>
            </a:r>
            <a:r>
              <a:rPr lang="en-US" dirty="0">
                <a:sym typeface="Wingdings" panose="05000000000000000000" pitchFamily="2" charset="2"/>
              </a:rPr>
              <a:t> matching design (that’s next week!)</a:t>
            </a:r>
          </a:p>
          <a:p>
            <a:r>
              <a:rPr lang="en-US" dirty="0">
                <a:sym typeface="Wingdings" panose="05000000000000000000" pitchFamily="2" charset="2"/>
              </a:rPr>
              <a:t>- In the next paragraph they talk about multiple trials over time  this is a DD (a “stacked” DD to be precise). That’s later on. Why would you do one over the other? </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24</a:t>
            </a:fld>
            <a:endParaRPr lang="en-US"/>
          </a:p>
        </p:txBody>
      </p:sp>
    </p:spTree>
    <p:extLst>
      <p:ext uri="{BB962C8B-B14F-4D97-AF65-F5344CB8AC3E}">
        <p14:creationId xmlns:p14="http://schemas.microsoft.com/office/powerpoint/2010/main" val="32604815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E84FFA-544D-C23D-D423-76187F13F2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28E9FA-81E8-F0B3-5B1E-F8B641878C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33217F-47FF-5E02-2332-7CBC77CC320F}"/>
              </a:ext>
            </a:extLst>
          </p:cNvPr>
          <p:cNvSpPr>
            <a:spLocks noGrp="1"/>
          </p:cNvSpPr>
          <p:nvPr>
            <p:ph type="body" idx="1"/>
          </p:nvPr>
        </p:nvSpPr>
        <p:spPr/>
        <p:txBody>
          <a:bodyPr/>
          <a:lstStyle/>
          <a:p>
            <a:r>
              <a:rPr lang="en-US" dirty="0"/>
              <a:t>What were the 4 approaches? What was the one that they did follow as the TTE and why was it different? </a:t>
            </a:r>
          </a:p>
          <a:p>
            <a:r>
              <a:rPr lang="en-US" dirty="0"/>
              <a:t>- Note: what are they missing here? Endogenous selection! This is why it helps to be an economist. </a:t>
            </a:r>
          </a:p>
        </p:txBody>
      </p:sp>
      <p:sp>
        <p:nvSpPr>
          <p:cNvPr id="4" name="Slide Number Placeholder 3">
            <a:extLst>
              <a:ext uri="{FF2B5EF4-FFF2-40B4-BE49-F238E27FC236}">
                <a16:creationId xmlns:a16="http://schemas.microsoft.com/office/drawing/2014/main" id="{D322DC96-78B4-ABEC-281C-0F8462756C36}"/>
              </a:ext>
            </a:extLst>
          </p:cNvPr>
          <p:cNvSpPr>
            <a:spLocks noGrp="1"/>
          </p:cNvSpPr>
          <p:nvPr>
            <p:ph type="sldNum" sz="quarter" idx="5"/>
          </p:nvPr>
        </p:nvSpPr>
        <p:spPr/>
        <p:txBody>
          <a:bodyPr/>
          <a:lstStyle/>
          <a:p>
            <a:fld id="{4AF79E1B-2C51-4B9B-8EA4-26DE9E345AFF}" type="slidenum">
              <a:rPr lang="en-US" smtClean="0"/>
              <a:t>25</a:t>
            </a:fld>
            <a:endParaRPr lang="en-US"/>
          </a:p>
        </p:txBody>
      </p:sp>
    </p:spTree>
    <p:extLst>
      <p:ext uri="{BB962C8B-B14F-4D97-AF65-F5344CB8AC3E}">
        <p14:creationId xmlns:p14="http://schemas.microsoft.com/office/powerpoint/2010/main" val="245655843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57982B-47A6-FFB1-0E41-B3F2D20B80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F090BB-638B-9C7B-2C16-A7E43B84D7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88B4C4-AAC6-6EC8-9BA5-F7AED9FFF609}"/>
              </a:ext>
            </a:extLst>
          </p:cNvPr>
          <p:cNvSpPr>
            <a:spLocks noGrp="1"/>
          </p:cNvSpPr>
          <p:nvPr>
            <p:ph type="body" idx="1"/>
          </p:nvPr>
        </p:nvSpPr>
        <p:spPr/>
        <p:txBody>
          <a:bodyPr/>
          <a:lstStyle/>
          <a:p>
            <a:r>
              <a:rPr lang="en-US" dirty="0"/>
              <a:t>What were the 4 approaches? What was the one that they did follow as the TTE and why was it different? </a:t>
            </a:r>
          </a:p>
        </p:txBody>
      </p:sp>
      <p:sp>
        <p:nvSpPr>
          <p:cNvPr id="4" name="Slide Number Placeholder 3">
            <a:extLst>
              <a:ext uri="{FF2B5EF4-FFF2-40B4-BE49-F238E27FC236}">
                <a16:creationId xmlns:a16="http://schemas.microsoft.com/office/drawing/2014/main" id="{2AB6AE35-948E-4AE9-AE26-347246251E88}"/>
              </a:ext>
            </a:extLst>
          </p:cNvPr>
          <p:cNvSpPr>
            <a:spLocks noGrp="1"/>
          </p:cNvSpPr>
          <p:nvPr>
            <p:ph type="sldNum" sz="quarter" idx="5"/>
          </p:nvPr>
        </p:nvSpPr>
        <p:spPr/>
        <p:txBody>
          <a:bodyPr/>
          <a:lstStyle/>
          <a:p>
            <a:fld id="{4AF79E1B-2C51-4B9B-8EA4-26DE9E345AFF}" type="slidenum">
              <a:rPr lang="en-US" smtClean="0"/>
              <a:t>26</a:t>
            </a:fld>
            <a:endParaRPr lang="en-US"/>
          </a:p>
        </p:txBody>
      </p:sp>
    </p:spTree>
    <p:extLst>
      <p:ext uri="{BB962C8B-B14F-4D97-AF65-F5344CB8AC3E}">
        <p14:creationId xmlns:p14="http://schemas.microsoft.com/office/powerpoint/2010/main" val="94849705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a whole lot more too! Note that for assignment 2 I expect you to think carefully about these overall and apply them (or one of them) to your idea. You might not get it right, that’s okay. The idea is to start down *a* path for your project. </a:t>
            </a:r>
          </a:p>
        </p:txBody>
      </p:sp>
      <p:sp>
        <p:nvSpPr>
          <p:cNvPr id="4" name="Slide Number Placeholder 3"/>
          <p:cNvSpPr>
            <a:spLocks noGrp="1"/>
          </p:cNvSpPr>
          <p:nvPr>
            <p:ph type="sldNum" sz="quarter" idx="5"/>
          </p:nvPr>
        </p:nvSpPr>
        <p:spPr/>
        <p:txBody>
          <a:bodyPr/>
          <a:lstStyle/>
          <a:p>
            <a:fld id="{4AF79E1B-2C51-4B9B-8EA4-26DE9E345AFF}" type="slidenum">
              <a:rPr lang="en-US" smtClean="0"/>
              <a:t>27</a:t>
            </a:fld>
            <a:endParaRPr lang="en-US"/>
          </a:p>
        </p:txBody>
      </p:sp>
    </p:spTree>
    <p:extLst>
      <p:ext uri="{BB962C8B-B14F-4D97-AF65-F5344CB8AC3E}">
        <p14:creationId xmlns:p14="http://schemas.microsoft.com/office/powerpoint/2010/main" val="423871853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a whole lot more too! </a:t>
            </a:r>
          </a:p>
        </p:txBody>
      </p:sp>
      <p:sp>
        <p:nvSpPr>
          <p:cNvPr id="4" name="Slide Number Placeholder 3"/>
          <p:cNvSpPr>
            <a:spLocks noGrp="1"/>
          </p:cNvSpPr>
          <p:nvPr>
            <p:ph type="sldNum" sz="quarter" idx="5"/>
          </p:nvPr>
        </p:nvSpPr>
        <p:spPr/>
        <p:txBody>
          <a:bodyPr/>
          <a:lstStyle/>
          <a:p>
            <a:fld id="{4AF79E1B-2C51-4B9B-8EA4-26DE9E345AFF}" type="slidenum">
              <a:rPr lang="en-US" smtClean="0"/>
              <a:t>28</a:t>
            </a:fld>
            <a:endParaRPr lang="en-US"/>
          </a:p>
        </p:txBody>
      </p:sp>
    </p:spTree>
    <p:extLst>
      <p:ext uri="{BB962C8B-B14F-4D97-AF65-F5344CB8AC3E}">
        <p14:creationId xmlns:p14="http://schemas.microsoft.com/office/powerpoint/2010/main" val="308952245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a whole lot more too! Lots of spins on this we will cover</a:t>
            </a:r>
          </a:p>
        </p:txBody>
      </p:sp>
      <p:sp>
        <p:nvSpPr>
          <p:cNvPr id="4" name="Slide Number Placeholder 3"/>
          <p:cNvSpPr>
            <a:spLocks noGrp="1"/>
          </p:cNvSpPr>
          <p:nvPr>
            <p:ph type="sldNum" sz="quarter" idx="5"/>
          </p:nvPr>
        </p:nvSpPr>
        <p:spPr/>
        <p:txBody>
          <a:bodyPr/>
          <a:lstStyle/>
          <a:p>
            <a:fld id="{4AF79E1B-2C51-4B9B-8EA4-26DE9E345AFF}" type="slidenum">
              <a:rPr lang="en-US" smtClean="0"/>
              <a:t>29</a:t>
            </a:fld>
            <a:endParaRPr lang="en-US"/>
          </a:p>
        </p:txBody>
      </p:sp>
    </p:spTree>
    <p:extLst>
      <p:ext uri="{BB962C8B-B14F-4D97-AF65-F5344CB8AC3E}">
        <p14:creationId xmlns:p14="http://schemas.microsoft.com/office/powerpoint/2010/main" val="151994571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in the proposal, next week you need to tell me what your question is and your team – not your method! Unless you have a good idea of one. But you do need to select a method by Nov. 1, and if you want to do a DD for example, you will need to look at the code ahead of time. I recommend talking to me about your method choices in this context! (I know there’s a tradeoff here in that you have to look ahead at resources we haven’t covered quite yet, but the value is that you get to practice applying the method most relevant to your research question). </a:t>
            </a:r>
          </a:p>
        </p:txBody>
      </p:sp>
      <p:sp>
        <p:nvSpPr>
          <p:cNvPr id="4" name="Slide Number Placeholder 3"/>
          <p:cNvSpPr>
            <a:spLocks noGrp="1"/>
          </p:cNvSpPr>
          <p:nvPr>
            <p:ph type="sldNum" sz="quarter" idx="5"/>
          </p:nvPr>
        </p:nvSpPr>
        <p:spPr/>
        <p:txBody>
          <a:bodyPr/>
          <a:lstStyle/>
          <a:p>
            <a:fld id="{4AF79E1B-2C51-4B9B-8EA4-26DE9E345AFF}" type="slidenum">
              <a:rPr lang="en-US" smtClean="0"/>
              <a:t>30</a:t>
            </a:fld>
            <a:endParaRPr lang="en-US"/>
          </a:p>
        </p:txBody>
      </p:sp>
    </p:spTree>
    <p:extLst>
      <p:ext uri="{BB962C8B-B14F-4D97-AF65-F5344CB8AC3E}">
        <p14:creationId xmlns:p14="http://schemas.microsoft.com/office/powerpoint/2010/main" val="54388456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31</a:t>
            </a:fld>
            <a:endParaRPr lang="en-US"/>
          </a:p>
        </p:txBody>
      </p:sp>
    </p:spTree>
    <p:extLst>
      <p:ext uri="{BB962C8B-B14F-4D97-AF65-F5344CB8AC3E}">
        <p14:creationId xmlns:p14="http://schemas.microsoft.com/office/powerpoint/2010/main" val="257590570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80A4FB-F6EE-DDF2-E9AA-CB193F1185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52B636-C312-6501-48B6-E271687B9D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F534EEF-1549-1782-737B-A5E2377830DA}"/>
              </a:ext>
            </a:extLst>
          </p:cNvPr>
          <p:cNvSpPr>
            <a:spLocks noGrp="1"/>
          </p:cNvSpPr>
          <p:nvPr>
            <p:ph type="body" idx="1"/>
          </p:nvPr>
        </p:nvSpPr>
        <p:spPr/>
        <p:txBody>
          <a:bodyPr/>
          <a:lstStyle/>
          <a:p>
            <a:r>
              <a:rPr lang="en-US" dirty="0"/>
              <a:t>A little bit of backwards induction here. </a:t>
            </a:r>
          </a:p>
        </p:txBody>
      </p:sp>
      <p:sp>
        <p:nvSpPr>
          <p:cNvPr id="4" name="Slide Number Placeholder 3">
            <a:extLst>
              <a:ext uri="{FF2B5EF4-FFF2-40B4-BE49-F238E27FC236}">
                <a16:creationId xmlns:a16="http://schemas.microsoft.com/office/drawing/2014/main" id="{A0E92A90-549F-5143-B328-D5DDA7235923}"/>
              </a:ext>
            </a:extLst>
          </p:cNvPr>
          <p:cNvSpPr>
            <a:spLocks noGrp="1"/>
          </p:cNvSpPr>
          <p:nvPr>
            <p:ph type="sldNum" sz="quarter" idx="5"/>
          </p:nvPr>
        </p:nvSpPr>
        <p:spPr/>
        <p:txBody>
          <a:bodyPr/>
          <a:lstStyle/>
          <a:p>
            <a:fld id="{4AF79E1B-2C51-4B9B-8EA4-26DE9E345AFF}" type="slidenum">
              <a:rPr lang="en-US" smtClean="0"/>
              <a:t>32</a:t>
            </a:fld>
            <a:endParaRPr lang="en-US"/>
          </a:p>
        </p:txBody>
      </p:sp>
    </p:spTree>
    <p:extLst>
      <p:ext uri="{BB962C8B-B14F-4D97-AF65-F5344CB8AC3E}">
        <p14:creationId xmlns:p14="http://schemas.microsoft.com/office/powerpoint/2010/main" val="187141249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33</a:t>
            </a:fld>
            <a:endParaRPr lang="en-US"/>
          </a:p>
        </p:txBody>
      </p:sp>
    </p:spTree>
    <p:extLst>
      <p:ext uri="{BB962C8B-B14F-4D97-AF65-F5344CB8AC3E}">
        <p14:creationId xmlns:p14="http://schemas.microsoft.com/office/powerpoint/2010/main" val="229817867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Arial" panose="020B0604020202020204" pitchFamily="34" charset="0"/>
              <a:buNone/>
            </a:pPr>
            <a:r>
              <a:rPr lang="en-US" dirty="0"/>
              <a:t>There are remixes of this but I actually like the original here. We’ll talk about an example here in a minute. Note the core examples and go kind of quickly here: (1) copying, (2) combining, and (3) transforming. </a:t>
            </a:r>
          </a:p>
        </p:txBody>
      </p:sp>
      <p:sp>
        <p:nvSpPr>
          <p:cNvPr id="4" name="Slide Number Placeholder 3"/>
          <p:cNvSpPr>
            <a:spLocks noGrp="1"/>
          </p:cNvSpPr>
          <p:nvPr>
            <p:ph type="sldNum" sz="quarter" idx="5"/>
          </p:nvPr>
        </p:nvSpPr>
        <p:spPr/>
        <p:txBody>
          <a:bodyPr/>
          <a:lstStyle/>
          <a:p>
            <a:fld id="{4AF79E1B-2C51-4B9B-8EA4-26DE9E345AFF}" type="slidenum">
              <a:rPr lang="en-US" smtClean="0"/>
              <a:t>34</a:t>
            </a:fld>
            <a:endParaRPr lang="en-US"/>
          </a:p>
        </p:txBody>
      </p:sp>
    </p:spTree>
    <p:extLst>
      <p:ext uri="{BB962C8B-B14F-4D97-AF65-F5344CB8AC3E}">
        <p14:creationId xmlns:p14="http://schemas.microsoft.com/office/powerpoint/2010/main" val="344499292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0A5CEB-DE7B-5E78-74C5-5A247866B3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4BB548-4157-3BE2-ACD7-7A618F6073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BEB340-F1A3-AD0D-DE74-C6F946DBFD38}"/>
              </a:ext>
            </a:extLst>
          </p:cNvPr>
          <p:cNvSpPr>
            <a:spLocks noGrp="1"/>
          </p:cNvSpPr>
          <p:nvPr>
            <p:ph type="body" idx="1"/>
          </p:nvPr>
        </p:nvSpPr>
        <p:spPr/>
        <p:txBody>
          <a:bodyPr/>
          <a:lstStyle/>
          <a:p>
            <a:pPr marL="171450" indent="-171450">
              <a:buFont typeface="Arial" panose="020B0604020202020204" pitchFamily="34" charset="0"/>
              <a:buChar char="•"/>
            </a:pPr>
            <a:r>
              <a:rPr lang="en-US" dirty="0"/>
              <a:t>Remixing may seem like copying, but it’s actually something much more – it can empower you to be more creative. </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976E3EA8-9D37-8279-A03C-14BF07DC555E}"/>
              </a:ext>
            </a:extLst>
          </p:cNvPr>
          <p:cNvSpPr>
            <a:spLocks noGrp="1"/>
          </p:cNvSpPr>
          <p:nvPr>
            <p:ph type="sldNum" sz="quarter" idx="5"/>
          </p:nvPr>
        </p:nvSpPr>
        <p:spPr/>
        <p:txBody>
          <a:bodyPr/>
          <a:lstStyle/>
          <a:p>
            <a:fld id="{4AF79E1B-2C51-4B9B-8EA4-26DE9E345AFF}" type="slidenum">
              <a:rPr lang="en-US" smtClean="0"/>
              <a:t>35</a:t>
            </a:fld>
            <a:endParaRPr lang="en-US"/>
          </a:p>
        </p:txBody>
      </p:sp>
    </p:spTree>
    <p:extLst>
      <p:ext uri="{BB962C8B-B14F-4D97-AF65-F5344CB8AC3E}">
        <p14:creationId xmlns:p14="http://schemas.microsoft.com/office/powerpoint/2010/main" val="175167108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84BE0F-F1D4-C832-0230-4F73A31863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CCF8F5-9C75-0DCF-7757-28C064256E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5A052B-CDF0-0482-BCEE-80C7EAB1890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Monomyth structure (your own “academic hero’s journey”): academics/policy makers have been talking about X for a long time. They’ve thought about it in these ways. Thing X is important because of Y and Z. However, academics have either been wrong about X in this way or have missed this important question about X. Answering that question (call it X’) will help discussions in ways Y’ and Z’. To answer X’, I need to do something new – I need new data, new methods, a new model, or all three. I will therefore be thinking about X’ in this way. I will be using this data to address X’. I will be using these methods to analyze my data. Then I will present my results and interpret them in the context of X, Y’, and Z’. </a:t>
            </a:r>
          </a:p>
          <a:p>
            <a:pPr marL="0" indent="0">
              <a:buFont typeface="Arial" panose="020B0604020202020204" pitchFamily="34" charset="0"/>
              <a:buNone/>
            </a:pPr>
            <a:endParaRPr lang="en-US" dirty="0"/>
          </a:p>
        </p:txBody>
      </p:sp>
      <p:sp>
        <p:nvSpPr>
          <p:cNvPr id="4" name="Slide Number Placeholder 3">
            <a:extLst>
              <a:ext uri="{FF2B5EF4-FFF2-40B4-BE49-F238E27FC236}">
                <a16:creationId xmlns:a16="http://schemas.microsoft.com/office/drawing/2014/main" id="{F019FDE0-9F0F-BDF4-BD3D-8BAB3C366565}"/>
              </a:ext>
            </a:extLst>
          </p:cNvPr>
          <p:cNvSpPr>
            <a:spLocks noGrp="1"/>
          </p:cNvSpPr>
          <p:nvPr>
            <p:ph type="sldNum" sz="quarter" idx="5"/>
          </p:nvPr>
        </p:nvSpPr>
        <p:spPr/>
        <p:txBody>
          <a:bodyPr/>
          <a:lstStyle/>
          <a:p>
            <a:fld id="{4AF79E1B-2C51-4B9B-8EA4-26DE9E345AFF}" type="slidenum">
              <a:rPr lang="en-US" smtClean="0"/>
              <a:t>36</a:t>
            </a:fld>
            <a:endParaRPr lang="en-US"/>
          </a:p>
        </p:txBody>
      </p:sp>
    </p:spTree>
    <p:extLst>
      <p:ext uri="{BB962C8B-B14F-4D97-AF65-F5344CB8AC3E}">
        <p14:creationId xmlns:p14="http://schemas.microsoft.com/office/powerpoint/2010/main" val="303906188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20A155-7566-6410-19ED-9F79267942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2C2DF5-EDAD-82EB-C936-9FBBDDA64D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0BCC75C-D86D-70D1-F956-385AADDFE0B8}"/>
              </a:ext>
            </a:extLst>
          </p:cNvPr>
          <p:cNvSpPr>
            <a:spLocks noGrp="1"/>
          </p:cNvSpPr>
          <p:nvPr>
            <p:ph type="body" idx="1"/>
          </p:nvPr>
        </p:nvSpPr>
        <p:spPr/>
        <p:txBody>
          <a:bodyPr/>
          <a:lstStyle/>
          <a:p>
            <a:pPr marL="0" indent="0">
              <a:buFont typeface="Arial" panose="020B0604020202020204" pitchFamily="34" charset="0"/>
              <a:buNone/>
            </a:pPr>
            <a:endParaRPr lang="en-US" dirty="0"/>
          </a:p>
        </p:txBody>
      </p:sp>
      <p:sp>
        <p:nvSpPr>
          <p:cNvPr id="4" name="Slide Number Placeholder 3">
            <a:extLst>
              <a:ext uri="{FF2B5EF4-FFF2-40B4-BE49-F238E27FC236}">
                <a16:creationId xmlns:a16="http://schemas.microsoft.com/office/drawing/2014/main" id="{FB872C94-2428-9E47-73D9-57BF954A6158}"/>
              </a:ext>
            </a:extLst>
          </p:cNvPr>
          <p:cNvSpPr>
            <a:spLocks noGrp="1"/>
          </p:cNvSpPr>
          <p:nvPr>
            <p:ph type="sldNum" sz="quarter" idx="5"/>
          </p:nvPr>
        </p:nvSpPr>
        <p:spPr/>
        <p:txBody>
          <a:bodyPr/>
          <a:lstStyle/>
          <a:p>
            <a:fld id="{4AF79E1B-2C51-4B9B-8EA4-26DE9E345AFF}" type="slidenum">
              <a:rPr lang="en-US" smtClean="0"/>
              <a:t>37</a:t>
            </a:fld>
            <a:endParaRPr lang="en-US"/>
          </a:p>
        </p:txBody>
      </p:sp>
    </p:spTree>
    <p:extLst>
      <p:ext uri="{BB962C8B-B14F-4D97-AF65-F5344CB8AC3E}">
        <p14:creationId xmlns:p14="http://schemas.microsoft.com/office/powerpoint/2010/main" val="51775272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7E5B02-3360-FE7A-CE21-E18B4A1D81B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AD240D-18F4-FC91-1A48-8C489049BD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F21253-EDFA-2447-C86A-E97C547DA093}"/>
              </a:ext>
            </a:extLst>
          </p:cNvPr>
          <p:cNvSpPr>
            <a:spLocks noGrp="1"/>
          </p:cNvSpPr>
          <p:nvPr>
            <p:ph type="body" idx="1"/>
          </p:nvPr>
        </p:nvSpPr>
        <p:spPr/>
        <p:txBody>
          <a:bodyPr/>
          <a:lstStyle/>
          <a:p>
            <a:pPr marL="0" indent="0">
              <a:buFont typeface="Arial" panose="020B0604020202020204" pitchFamily="34" charset="0"/>
              <a:buNone/>
            </a:pPr>
            <a:r>
              <a:rPr lang="en-US" dirty="0"/>
              <a:t>So what makes a good contribution? Some papers take on all of these and do them well, but most don’t – they have some novelty and are standing on the shoulders of giants. We’ll cover an example in a minute. </a:t>
            </a:r>
          </a:p>
          <a:p>
            <a:pPr marL="0" indent="0">
              <a:buFont typeface="Arial" panose="020B0604020202020204" pitchFamily="34" charset="0"/>
              <a:buNone/>
            </a:pPr>
            <a:endParaRPr lang="en-US" dirty="0"/>
          </a:p>
          <a:p>
            <a:pPr marL="0" indent="0">
              <a:buFont typeface="Arial" panose="020B0604020202020204" pitchFamily="34" charset="0"/>
              <a:buNone/>
            </a:pPr>
            <a:r>
              <a:rPr lang="en-US" dirty="0"/>
              <a:t>Related question – what’s a knock-off? If you take a paper you love and only change one thing (update the data set, add a single control), you haven’t remixed. But the optimal isn’t reinvent the wheel. </a:t>
            </a:r>
          </a:p>
        </p:txBody>
      </p:sp>
      <p:sp>
        <p:nvSpPr>
          <p:cNvPr id="4" name="Slide Number Placeholder 3">
            <a:extLst>
              <a:ext uri="{FF2B5EF4-FFF2-40B4-BE49-F238E27FC236}">
                <a16:creationId xmlns:a16="http://schemas.microsoft.com/office/drawing/2014/main" id="{D6DAF6AC-E259-F410-96E6-A971FD1DC047}"/>
              </a:ext>
            </a:extLst>
          </p:cNvPr>
          <p:cNvSpPr>
            <a:spLocks noGrp="1"/>
          </p:cNvSpPr>
          <p:nvPr>
            <p:ph type="sldNum" sz="quarter" idx="5"/>
          </p:nvPr>
        </p:nvSpPr>
        <p:spPr/>
        <p:txBody>
          <a:bodyPr/>
          <a:lstStyle/>
          <a:p>
            <a:fld id="{4AF79E1B-2C51-4B9B-8EA4-26DE9E345AFF}" type="slidenum">
              <a:rPr lang="en-US" smtClean="0"/>
              <a:t>38</a:t>
            </a:fld>
            <a:endParaRPr lang="en-US"/>
          </a:p>
        </p:txBody>
      </p:sp>
    </p:spTree>
    <p:extLst>
      <p:ext uri="{BB962C8B-B14F-4D97-AF65-F5344CB8AC3E}">
        <p14:creationId xmlns:p14="http://schemas.microsoft.com/office/powerpoint/2010/main" val="218923591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93781-24F7-E7EE-F54B-FA77A2D712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9CEB3F-BC5A-F802-7D7E-16B01B74A6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A19863-43FE-1675-6C73-32E6575DFDD6}"/>
              </a:ext>
            </a:extLst>
          </p:cNvPr>
          <p:cNvSpPr>
            <a:spLocks noGrp="1"/>
          </p:cNvSpPr>
          <p:nvPr>
            <p:ph type="body" idx="1"/>
          </p:nvPr>
        </p:nvSpPr>
        <p:spPr/>
        <p:txBody>
          <a:bodyPr/>
          <a:lstStyle/>
          <a:p>
            <a:pPr marL="0" indent="0">
              <a:buFont typeface="Arial" panose="020B0604020202020204" pitchFamily="34" charset="0"/>
              <a:buNone/>
            </a:pPr>
            <a:r>
              <a:rPr lang="en-US" dirty="0"/>
              <a:t>Monomyth structure: academics have been talking about X for a long time. They’ve thought about it in these ways. Thing X is important because of Y and Z. However, academics have either been wrong about X in this way or have missed this important question about X. Answering that question (call it X’) will help discussions in ways Y’ and Z’. To answer X’, I need to do something new – I need new data, new methods, a new model, or all three. I will therefore be thinking about X’ in this way. I will be using this data to address X’. I will be using these methods to analyze my data. Then I will present my results and interpret them in the context of X, Y’, and Z’. </a:t>
            </a:r>
          </a:p>
          <a:p>
            <a:pPr marL="0" indent="0">
              <a:buFont typeface="Arial" panose="020B0604020202020204" pitchFamily="34" charset="0"/>
              <a:buNone/>
            </a:pPr>
            <a:endParaRPr lang="en-US" dirty="0"/>
          </a:p>
          <a:p>
            <a:pPr marL="0" indent="0">
              <a:buFont typeface="Arial" panose="020B0604020202020204" pitchFamily="34" charset="0"/>
              <a:buNone/>
            </a:pPr>
            <a:r>
              <a:rPr lang="en-US" dirty="0"/>
              <a:t>Places for novel integration: data sources, descriptive stats, storytelling, merging two fields of the literature (e.g., these people have thought about provider-side moral hazard and these people have thought about patient-side moral hazard, but that’s been in isolation. What if we integrate them?)</a:t>
            </a:r>
          </a:p>
          <a:p>
            <a:pPr marL="0" indent="0">
              <a:buFont typeface="Arial" panose="020B0604020202020204" pitchFamily="34" charset="0"/>
              <a:buNone/>
            </a:pPr>
            <a:endParaRPr lang="en-US" dirty="0"/>
          </a:p>
          <a:p>
            <a:pPr marL="0" indent="0">
              <a:buFont typeface="Arial" panose="020B0604020202020204" pitchFamily="34" charset="0"/>
              <a:buNone/>
            </a:pPr>
            <a:r>
              <a:rPr lang="en-US" dirty="0"/>
              <a:t>Adapting means knowing the methods, data, and questions being used in adjacent spaces to you. You should read research in your own field, but also read research adjacent to you (what do I do?) and news to get novel questions. If you create an echo chamber of your own work, you’ll lose your contribution. </a:t>
            </a:r>
          </a:p>
        </p:txBody>
      </p:sp>
      <p:sp>
        <p:nvSpPr>
          <p:cNvPr id="4" name="Slide Number Placeholder 3">
            <a:extLst>
              <a:ext uri="{FF2B5EF4-FFF2-40B4-BE49-F238E27FC236}">
                <a16:creationId xmlns:a16="http://schemas.microsoft.com/office/drawing/2014/main" id="{14A4593F-22AD-AFFA-58D7-9B7E4937D617}"/>
              </a:ext>
            </a:extLst>
          </p:cNvPr>
          <p:cNvSpPr>
            <a:spLocks noGrp="1"/>
          </p:cNvSpPr>
          <p:nvPr>
            <p:ph type="sldNum" sz="quarter" idx="5"/>
          </p:nvPr>
        </p:nvSpPr>
        <p:spPr/>
        <p:txBody>
          <a:bodyPr/>
          <a:lstStyle/>
          <a:p>
            <a:fld id="{4AF79E1B-2C51-4B9B-8EA4-26DE9E345AFF}" type="slidenum">
              <a:rPr lang="en-US" smtClean="0"/>
              <a:t>39</a:t>
            </a:fld>
            <a:endParaRPr lang="en-US"/>
          </a:p>
        </p:txBody>
      </p:sp>
    </p:spTree>
    <p:extLst>
      <p:ext uri="{BB962C8B-B14F-4D97-AF65-F5344CB8AC3E}">
        <p14:creationId xmlns:p14="http://schemas.microsoft.com/office/powerpoint/2010/main" val="36660138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5E76CE-E1A9-467E-04AA-DB93A1D657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8D5B01-DB90-3C83-6C70-872C4FFAC2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C9F37A-AB53-7B07-B225-12BD3CDC6D96}"/>
              </a:ext>
            </a:extLst>
          </p:cNvPr>
          <p:cNvSpPr>
            <a:spLocks noGrp="1"/>
          </p:cNvSpPr>
          <p:nvPr>
            <p:ph type="body" idx="1"/>
          </p:nvPr>
        </p:nvSpPr>
        <p:spPr/>
        <p:txBody>
          <a:bodyPr/>
          <a:lstStyle/>
          <a:p>
            <a:pPr marL="0" indent="0">
              <a:buFont typeface="Arial" panose="020B0604020202020204" pitchFamily="34" charset="0"/>
              <a:buNone/>
            </a:pPr>
            <a:r>
              <a:rPr lang="en-US" dirty="0"/>
              <a:t>All of the elements for your great idea may already exist – combining is a contribution! See example on earlier slide notes</a:t>
            </a:r>
          </a:p>
        </p:txBody>
      </p:sp>
      <p:sp>
        <p:nvSpPr>
          <p:cNvPr id="4" name="Slide Number Placeholder 3">
            <a:extLst>
              <a:ext uri="{FF2B5EF4-FFF2-40B4-BE49-F238E27FC236}">
                <a16:creationId xmlns:a16="http://schemas.microsoft.com/office/drawing/2014/main" id="{46CB234A-57AC-88AA-5F9E-EC80431965EC}"/>
              </a:ext>
            </a:extLst>
          </p:cNvPr>
          <p:cNvSpPr>
            <a:spLocks noGrp="1"/>
          </p:cNvSpPr>
          <p:nvPr>
            <p:ph type="sldNum" sz="quarter" idx="5"/>
          </p:nvPr>
        </p:nvSpPr>
        <p:spPr/>
        <p:txBody>
          <a:bodyPr/>
          <a:lstStyle/>
          <a:p>
            <a:fld id="{4AF79E1B-2C51-4B9B-8EA4-26DE9E345AFF}" type="slidenum">
              <a:rPr lang="en-US" smtClean="0"/>
              <a:t>40</a:t>
            </a:fld>
            <a:endParaRPr lang="en-US"/>
          </a:p>
        </p:txBody>
      </p:sp>
    </p:spTree>
    <p:extLst>
      <p:ext uri="{BB962C8B-B14F-4D97-AF65-F5344CB8AC3E}">
        <p14:creationId xmlns:p14="http://schemas.microsoft.com/office/powerpoint/2010/main" val="252094414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DB31BA-1B4C-82D0-8D26-8FE48C4A42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695DFD-C8B7-6084-3DA5-FCD21D7AC0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CE48D9-98DD-1A2F-644C-78CB8695CF5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Produce lots of mini-proposals! Work your way through bad ideas and see the flaws. You won’t always see them until you write them down or talk it through with a peer or </a:t>
            </a:r>
            <a:r>
              <a:rPr lang="en-US" dirty="0" err="1"/>
              <a:t>supervisror</a:t>
            </a:r>
            <a:r>
              <a:rPr lang="en-US" dirty="0"/>
              <a:t>. </a:t>
            </a:r>
          </a:p>
          <a:p>
            <a:pPr marL="0" indent="0">
              <a:buFont typeface="Arial" panose="020B0604020202020204" pitchFamily="34" charset="0"/>
              <a:buNone/>
            </a:pPr>
            <a:endParaRPr lang="en-US" dirty="0"/>
          </a:p>
        </p:txBody>
      </p:sp>
      <p:sp>
        <p:nvSpPr>
          <p:cNvPr id="4" name="Slide Number Placeholder 3">
            <a:extLst>
              <a:ext uri="{FF2B5EF4-FFF2-40B4-BE49-F238E27FC236}">
                <a16:creationId xmlns:a16="http://schemas.microsoft.com/office/drawing/2014/main" id="{2601F37A-CFE4-87EA-578F-E5A3D434A714}"/>
              </a:ext>
            </a:extLst>
          </p:cNvPr>
          <p:cNvSpPr>
            <a:spLocks noGrp="1"/>
          </p:cNvSpPr>
          <p:nvPr>
            <p:ph type="sldNum" sz="quarter" idx="5"/>
          </p:nvPr>
        </p:nvSpPr>
        <p:spPr/>
        <p:txBody>
          <a:bodyPr/>
          <a:lstStyle/>
          <a:p>
            <a:fld id="{4AF79E1B-2C51-4B9B-8EA4-26DE9E345AFF}" type="slidenum">
              <a:rPr lang="en-US" smtClean="0"/>
              <a:t>41</a:t>
            </a:fld>
            <a:endParaRPr lang="en-US"/>
          </a:p>
        </p:txBody>
      </p:sp>
    </p:spTree>
    <p:extLst>
      <p:ext uri="{BB962C8B-B14F-4D97-AF65-F5344CB8AC3E}">
        <p14:creationId xmlns:p14="http://schemas.microsoft.com/office/powerpoint/2010/main" val="324083767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2201A6-B262-9BB3-BDD0-436BE301A1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E4E82EC-C255-A503-F7E1-19714E412E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0A5639-6F72-DDBD-C495-8160A9AAB9B0}"/>
              </a:ext>
            </a:extLst>
          </p:cNvPr>
          <p:cNvSpPr>
            <a:spLocks noGrp="1"/>
          </p:cNvSpPr>
          <p:nvPr>
            <p:ph type="body" idx="1"/>
          </p:nvPr>
        </p:nvSpPr>
        <p:spPr/>
        <p:txBody>
          <a:bodyPr/>
          <a:lstStyle/>
          <a:p>
            <a:pPr marL="0" indent="0">
              <a:buFont typeface="Arial" panose="020B0604020202020204" pitchFamily="34" charset="0"/>
              <a:buNone/>
            </a:pPr>
            <a:r>
              <a:rPr lang="en-US" dirty="0"/>
              <a:t>Produce lots of mini-proposals! Work your way through bad ideas and see the flaws. You won’t always see them until you write them down or talk it through with a peer or </a:t>
            </a:r>
            <a:r>
              <a:rPr lang="en-US" dirty="0" err="1"/>
              <a:t>supervisror</a:t>
            </a:r>
            <a:r>
              <a:rPr lang="en-US" dirty="0"/>
              <a:t>. </a:t>
            </a:r>
          </a:p>
        </p:txBody>
      </p:sp>
      <p:sp>
        <p:nvSpPr>
          <p:cNvPr id="4" name="Slide Number Placeholder 3">
            <a:extLst>
              <a:ext uri="{FF2B5EF4-FFF2-40B4-BE49-F238E27FC236}">
                <a16:creationId xmlns:a16="http://schemas.microsoft.com/office/drawing/2014/main" id="{70AC405C-6F36-29F9-900F-4CB597C4F6A1}"/>
              </a:ext>
            </a:extLst>
          </p:cNvPr>
          <p:cNvSpPr>
            <a:spLocks noGrp="1"/>
          </p:cNvSpPr>
          <p:nvPr>
            <p:ph type="sldNum" sz="quarter" idx="5"/>
          </p:nvPr>
        </p:nvSpPr>
        <p:spPr/>
        <p:txBody>
          <a:bodyPr/>
          <a:lstStyle/>
          <a:p>
            <a:fld id="{4AF79E1B-2C51-4B9B-8EA4-26DE9E345AFF}" type="slidenum">
              <a:rPr lang="en-US" smtClean="0"/>
              <a:t>42</a:t>
            </a:fld>
            <a:endParaRPr lang="en-US"/>
          </a:p>
        </p:txBody>
      </p:sp>
    </p:spTree>
    <p:extLst>
      <p:ext uri="{BB962C8B-B14F-4D97-AF65-F5344CB8AC3E}">
        <p14:creationId xmlns:p14="http://schemas.microsoft.com/office/powerpoint/2010/main" val="88174886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20685F-CC07-510B-803F-1752A0B31E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39A0C9-CF73-94B7-D7A8-527D7E39A2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673B87-DB11-6953-35CB-F63F6C6746B4}"/>
              </a:ext>
            </a:extLst>
          </p:cNvPr>
          <p:cNvSpPr>
            <a:spLocks noGrp="1"/>
          </p:cNvSpPr>
          <p:nvPr>
            <p:ph type="body" idx="1"/>
          </p:nvPr>
        </p:nvSpPr>
        <p:spPr/>
        <p:txBody>
          <a:bodyPr/>
          <a:lstStyle/>
          <a:p>
            <a:pPr marL="0" indent="0">
              <a:buFont typeface="Arial" panose="020B0604020202020204" pitchFamily="34" charset="0"/>
              <a:buNone/>
            </a:pPr>
            <a:r>
              <a:rPr lang="en-US" dirty="0"/>
              <a:t>Here we’re skipping the part about scooping (although this is very interesting!)</a:t>
            </a:r>
          </a:p>
        </p:txBody>
      </p:sp>
      <p:sp>
        <p:nvSpPr>
          <p:cNvPr id="4" name="Slide Number Placeholder 3">
            <a:extLst>
              <a:ext uri="{FF2B5EF4-FFF2-40B4-BE49-F238E27FC236}">
                <a16:creationId xmlns:a16="http://schemas.microsoft.com/office/drawing/2014/main" id="{27C7B01E-318F-9F46-1CF4-E281C13146A7}"/>
              </a:ext>
            </a:extLst>
          </p:cNvPr>
          <p:cNvSpPr>
            <a:spLocks noGrp="1"/>
          </p:cNvSpPr>
          <p:nvPr>
            <p:ph type="sldNum" sz="quarter" idx="5"/>
          </p:nvPr>
        </p:nvSpPr>
        <p:spPr/>
        <p:txBody>
          <a:bodyPr/>
          <a:lstStyle/>
          <a:p>
            <a:fld id="{4AF79E1B-2C51-4B9B-8EA4-26DE9E345AFF}" type="slidenum">
              <a:rPr lang="en-US" smtClean="0"/>
              <a:t>43</a:t>
            </a:fld>
            <a:endParaRPr lang="en-US"/>
          </a:p>
        </p:txBody>
      </p:sp>
    </p:spTree>
    <p:extLst>
      <p:ext uri="{BB962C8B-B14F-4D97-AF65-F5344CB8AC3E}">
        <p14:creationId xmlns:p14="http://schemas.microsoft.com/office/powerpoint/2010/main" val="373259642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E3F54B-47DB-D7D7-5EC4-1A371DDB7F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A2DC6E-60E7-35F6-0A06-504EF107F9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369C9A6-079C-3AD1-8F90-A8BADA809877}"/>
              </a:ext>
            </a:extLst>
          </p:cNvPr>
          <p:cNvSpPr>
            <a:spLocks noGrp="1"/>
          </p:cNvSpPr>
          <p:nvPr>
            <p:ph type="body" idx="1"/>
          </p:nvPr>
        </p:nvSpPr>
        <p:spPr/>
        <p:txBody>
          <a:bodyPr/>
          <a:lstStyle/>
          <a:p>
            <a:r>
              <a:rPr lang="en-US" dirty="0"/>
              <a:t>Let’s consider this framing using a simple research question as an example: what is the effect of public coverage on health?</a:t>
            </a:r>
          </a:p>
        </p:txBody>
      </p:sp>
      <p:sp>
        <p:nvSpPr>
          <p:cNvPr id="4" name="Slide Number Placeholder 3">
            <a:extLst>
              <a:ext uri="{FF2B5EF4-FFF2-40B4-BE49-F238E27FC236}">
                <a16:creationId xmlns:a16="http://schemas.microsoft.com/office/drawing/2014/main" id="{078AE7AA-B363-B925-5018-437D278419EB}"/>
              </a:ext>
            </a:extLst>
          </p:cNvPr>
          <p:cNvSpPr>
            <a:spLocks noGrp="1"/>
          </p:cNvSpPr>
          <p:nvPr>
            <p:ph type="sldNum" sz="quarter" idx="5"/>
          </p:nvPr>
        </p:nvSpPr>
        <p:spPr/>
        <p:txBody>
          <a:bodyPr/>
          <a:lstStyle/>
          <a:p>
            <a:fld id="{4AF79E1B-2C51-4B9B-8EA4-26DE9E345AFF}" type="slidenum">
              <a:rPr lang="en-US" smtClean="0"/>
              <a:t>44</a:t>
            </a:fld>
            <a:endParaRPr lang="en-US"/>
          </a:p>
        </p:txBody>
      </p:sp>
    </p:spTree>
    <p:extLst>
      <p:ext uri="{BB962C8B-B14F-4D97-AF65-F5344CB8AC3E}">
        <p14:creationId xmlns:p14="http://schemas.microsoft.com/office/powerpoint/2010/main" val="8435792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C08EFE-3ED0-0440-E57D-71ABB0BC90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F09D87-3627-6347-D329-A3E48FB66A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9B7E2A2-0031-4B04-7D89-AC8979251C5B}"/>
              </a:ext>
            </a:extLst>
          </p:cNvPr>
          <p:cNvSpPr>
            <a:spLocks noGrp="1"/>
          </p:cNvSpPr>
          <p:nvPr>
            <p:ph type="body" idx="1"/>
          </p:nvPr>
        </p:nvSpPr>
        <p:spPr/>
        <p:txBody>
          <a:bodyPr/>
          <a:lstStyle/>
          <a:p>
            <a:pPr marL="0" indent="0">
              <a:buFont typeface="Arial" panose="020B0604020202020204" pitchFamily="34" charset="0"/>
              <a:buNone/>
            </a:pPr>
            <a:r>
              <a:rPr lang="en-US" dirty="0"/>
              <a:t>One particular concern is moral hazard: over-utilization. </a:t>
            </a:r>
          </a:p>
        </p:txBody>
      </p:sp>
      <p:sp>
        <p:nvSpPr>
          <p:cNvPr id="4" name="Slide Number Placeholder 3">
            <a:extLst>
              <a:ext uri="{FF2B5EF4-FFF2-40B4-BE49-F238E27FC236}">
                <a16:creationId xmlns:a16="http://schemas.microsoft.com/office/drawing/2014/main" id="{9436B4E3-14CB-4063-A7E4-6239B6793D16}"/>
              </a:ext>
            </a:extLst>
          </p:cNvPr>
          <p:cNvSpPr>
            <a:spLocks noGrp="1"/>
          </p:cNvSpPr>
          <p:nvPr>
            <p:ph type="sldNum" sz="quarter" idx="5"/>
          </p:nvPr>
        </p:nvSpPr>
        <p:spPr/>
        <p:txBody>
          <a:bodyPr/>
          <a:lstStyle/>
          <a:p>
            <a:fld id="{4AF79E1B-2C51-4B9B-8EA4-26DE9E345AFF}" type="slidenum">
              <a:rPr lang="en-US" smtClean="0"/>
              <a:t>45</a:t>
            </a:fld>
            <a:endParaRPr lang="en-US"/>
          </a:p>
        </p:txBody>
      </p:sp>
    </p:spTree>
    <p:extLst>
      <p:ext uri="{BB962C8B-B14F-4D97-AF65-F5344CB8AC3E}">
        <p14:creationId xmlns:p14="http://schemas.microsoft.com/office/powerpoint/2010/main" val="314307155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B69F9C-AE52-9211-74D6-4CAD73DA90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700F06-5FA3-687F-17F4-FFE83E2F84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DA745E-C4D2-7B5A-ECA7-A808AA59FC53}"/>
              </a:ext>
            </a:extLst>
          </p:cNvPr>
          <p:cNvSpPr>
            <a:spLocks noGrp="1"/>
          </p:cNvSpPr>
          <p:nvPr>
            <p:ph type="body" idx="1"/>
          </p:nvPr>
        </p:nvSpPr>
        <p:spPr/>
        <p:txBody>
          <a:bodyPr/>
          <a:lstStyle/>
          <a:p>
            <a:pPr marL="0" indent="0">
              <a:buFont typeface="Arial" panose="020B0604020202020204" pitchFamily="34" charset="0"/>
              <a:buNone/>
            </a:pPr>
            <a:r>
              <a:rPr lang="en-US" dirty="0"/>
              <a:t>Health outcomes improved particularly for the poorest and sickest (notably for blood pressure and vision)</a:t>
            </a:r>
          </a:p>
        </p:txBody>
      </p:sp>
      <p:sp>
        <p:nvSpPr>
          <p:cNvPr id="4" name="Slide Number Placeholder 3">
            <a:extLst>
              <a:ext uri="{FF2B5EF4-FFF2-40B4-BE49-F238E27FC236}">
                <a16:creationId xmlns:a16="http://schemas.microsoft.com/office/drawing/2014/main" id="{37002EBF-5793-FDF5-C9F9-96C46352DDCD}"/>
              </a:ext>
            </a:extLst>
          </p:cNvPr>
          <p:cNvSpPr>
            <a:spLocks noGrp="1"/>
          </p:cNvSpPr>
          <p:nvPr>
            <p:ph type="sldNum" sz="quarter" idx="5"/>
          </p:nvPr>
        </p:nvSpPr>
        <p:spPr/>
        <p:txBody>
          <a:bodyPr/>
          <a:lstStyle/>
          <a:p>
            <a:fld id="{4AF79E1B-2C51-4B9B-8EA4-26DE9E345AFF}" type="slidenum">
              <a:rPr lang="en-US" smtClean="0"/>
              <a:t>46</a:t>
            </a:fld>
            <a:endParaRPr lang="en-US"/>
          </a:p>
        </p:txBody>
      </p:sp>
    </p:spTree>
    <p:extLst>
      <p:ext uri="{BB962C8B-B14F-4D97-AF65-F5344CB8AC3E}">
        <p14:creationId xmlns:p14="http://schemas.microsoft.com/office/powerpoint/2010/main" val="3871150519"/>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F5049C-7962-6C60-7B3A-68D23C67E1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EE59BF-B971-CB59-3224-18E244A816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819A72-9E25-9824-DA26-F985D2A31D17}"/>
              </a:ext>
            </a:extLst>
          </p:cNvPr>
          <p:cNvSpPr>
            <a:spLocks noGrp="1"/>
          </p:cNvSpPr>
          <p:nvPr>
            <p:ph type="body" idx="1"/>
          </p:nvPr>
        </p:nvSpPr>
        <p:spPr/>
        <p:txBody>
          <a:bodyPr/>
          <a:lstStyle/>
          <a:p>
            <a:pPr marL="0" indent="0">
              <a:buFont typeface="Arial" panose="020B0604020202020204" pitchFamily="34" charset="0"/>
              <a:buNone/>
            </a:pPr>
            <a:r>
              <a:rPr lang="en-US" dirty="0"/>
              <a:t>So here, the first research questions in this space take shape. Note that at first we used federalism as identifying variation, but then Paul and his coauthors look at age cutoff as a separate variation (this is before RD even existed)</a:t>
            </a:r>
          </a:p>
          <a:p>
            <a:pPr marL="0" indent="0">
              <a:buFont typeface="Arial" panose="020B0604020202020204" pitchFamily="34" charset="0"/>
              <a:buNone/>
            </a:pPr>
            <a:endParaRPr lang="en-US" dirty="0"/>
          </a:p>
          <a:p>
            <a:pPr marL="0" indent="0">
              <a:buFont typeface="Arial" panose="020B0604020202020204" pitchFamily="34" charset="0"/>
              <a:buNone/>
            </a:pPr>
            <a:r>
              <a:rPr lang="en-US" dirty="0"/>
              <a:t>What are the issues with this work? What questions remain open? Selection (in health) and potentially endogenous policy formation – also this variation doesn’t exist forever and you can’t study a policy change 10 years later after people have had time to adjust to it. So where do we go from here? The main question is: utilization effects are robust (law of demand) but health effects are still unclear except for very targeted populations. Does coverage actually improve health on average?</a:t>
            </a:r>
          </a:p>
        </p:txBody>
      </p:sp>
      <p:sp>
        <p:nvSpPr>
          <p:cNvPr id="4" name="Slide Number Placeholder 3">
            <a:extLst>
              <a:ext uri="{FF2B5EF4-FFF2-40B4-BE49-F238E27FC236}">
                <a16:creationId xmlns:a16="http://schemas.microsoft.com/office/drawing/2014/main" id="{5EEE7738-E6AE-4E8F-78E7-B12DF3DCDB56}"/>
              </a:ext>
            </a:extLst>
          </p:cNvPr>
          <p:cNvSpPr>
            <a:spLocks noGrp="1"/>
          </p:cNvSpPr>
          <p:nvPr>
            <p:ph type="sldNum" sz="quarter" idx="5"/>
          </p:nvPr>
        </p:nvSpPr>
        <p:spPr/>
        <p:txBody>
          <a:bodyPr/>
          <a:lstStyle/>
          <a:p>
            <a:fld id="{4AF79E1B-2C51-4B9B-8EA4-26DE9E345AFF}" type="slidenum">
              <a:rPr lang="en-US" smtClean="0"/>
              <a:t>47</a:t>
            </a:fld>
            <a:endParaRPr lang="en-US"/>
          </a:p>
        </p:txBody>
      </p:sp>
    </p:spTree>
    <p:extLst>
      <p:ext uri="{BB962C8B-B14F-4D97-AF65-F5344CB8AC3E}">
        <p14:creationId xmlns:p14="http://schemas.microsoft.com/office/powerpoint/2010/main" val="3885559797"/>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E7610-D6DE-6BF0-B0A5-5EDEBA99F3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6939B4-82C4-29CF-8A71-3BC750A123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964188-A0E4-020E-FEDA-BB1F90231EE0}"/>
              </a:ext>
            </a:extLst>
          </p:cNvPr>
          <p:cNvSpPr>
            <a:spLocks noGrp="1"/>
          </p:cNvSpPr>
          <p:nvPr>
            <p:ph type="body" idx="1"/>
          </p:nvPr>
        </p:nvSpPr>
        <p:spPr/>
        <p:txBody>
          <a:bodyPr/>
          <a:lstStyle/>
          <a:p>
            <a:pPr marL="0" indent="0">
              <a:buFont typeface="Arial" panose="020B0604020202020204" pitchFamily="34" charset="0"/>
              <a:buNone/>
            </a:pPr>
            <a:r>
              <a:rPr lang="en-US" dirty="0"/>
              <a:t>Let’s look at copying, combining, and transforming. From data, outcomes, theoretical modeling, and methods standpoints. </a:t>
            </a:r>
          </a:p>
        </p:txBody>
      </p:sp>
      <p:sp>
        <p:nvSpPr>
          <p:cNvPr id="4" name="Slide Number Placeholder 3">
            <a:extLst>
              <a:ext uri="{FF2B5EF4-FFF2-40B4-BE49-F238E27FC236}">
                <a16:creationId xmlns:a16="http://schemas.microsoft.com/office/drawing/2014/main" id="{D41E9C95-FE26-4844-ADD6-15BF7C1AE2E2}"/>
              </a:ext>
            </a:extLst>
          </p:cNvPr>
          <p:cNvSpPr>
            <a:spLocks noGrp="1"/>
          </p:cNvSpPr>
          <p:nvPr>
            <p:ph type="sldNum" sz="quarter" idx="5"/>
          </p:nvPr>
        </p:nvSpPr>
        <p:spPr/>
        <p:txBody>
          <a:bodyPr/>
          <a:lstStyle/>
          <a:p>
            <a:fld id="{4AF79E1B-2C51-4B9B-8EA4-26DE9E345AFF}" type="slidenum">
              <a:rPr lang="en-US" smtClean="0"/>
              <a:t>48</a:t>
            </a:fld>
            <a:endParaRPr lang="en-US"/>
          </a:p>
        </p:txBody>
      </p:sp>
    </p:spTree>
    <p:extLst>
      <p:ext uri="{BB962C8B-B14F-4D97-AF65-F5344CB8AC3E}">
        <p14:creationId xmlns:p14="http://schemas.microsoft.com/office/powerpoint/2010/main" val="187462864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2C0364-C886-72F5-7824-29A80FA88C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31789B-0A0C-6732-9C29-B89FA7CF89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82E652B-B971-64B7-6C45-7D94046B30C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Copying: literature suggests utilization effects are larger than initially thought while health effects are smaller (except in some populations). Amy’s novel take on the question that moved this forward: what about general equilibrium effects? Showed that expanding Medicare led to substantial new hospital entry and increased adoption of technology – all of which drive up spending by more than just price changes on the demand side. </a:t>
            </a:r>
          </a:p>
        </p:txBody>
      </p:sp>
      <p:sp>
        <p:nvSpPr>
          <p:cNvPr id="4" name="Slide Number Placeholder 3">
            <a:extLst>
              <a:ext uri="{FF2B5EF4-FFF2-40B4-BE49-F238E27FC236}">
                <a16:creationId xmlns:a16="http://schemas.microsoft.com/office/drawing/2014/main" id="{7D9B1102-3F58-4587-3836-B80FB83BD4FF}"/>
              </a:ext>
            </a:extLst>
          </p:cNvPr>
          <p:cNvSpPr>
            <a:spLocks noGrp="1"/>
          </p:cNvSpPr>
          <p:nvPr>
            <p:ph type="sldNum" sz="quarter" idx="5"/>
          </p:nvPr>
        </p:nvSpPr>
        <p:spPr/>
        <p:txBody>
          <a:bodyPr/>
          <a:lstStyle/>
          <a:p>
            <a:fld id="{4AF79E1B-2C51-4B9B-8EA4-26DE9E345AFF}" type="slidenum">
              <a:rPr lang="en-US" smtClean="0"/>
              <a:t>49</a:t>
            </a:fld>
            <a:endParaRPr lang="en-US"/>
          </a:p>
        </p:txBody>
      </p:sp>
    </p:spTree>
    <p:extLst>
      <p:ext uri="{BB962C8B-B14F-4D97-AF65-F5344CB8AC3E}">
        <p14:creationId xmlns:p14="http://schemas.microsoft.com/office/powerpoint/2010/main" val="420805813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8494D8-1B83-CAC6-4A32-5F06DC844F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08A2A9-67A7-F283-DE50-CD6BBFDE69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032320-93E6-70D4-3CE1-DEB59C75419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Combining: Baicker added BP, cholesterol, HbA1c to OHIE random lottery assignment of Medicaid slots, similar to the RAND HIE (other papers link this to household finance data, etc.). Stabile’s was dissertation work (I think) – his IV was variation in tax subsidies across households. Miller finds some health effects may only appear in the long run (how does that change the research question – makes it even harder to assess!). How do you answer these really hard questions? More (novel) remixing! Movers paper borrowed from other literatures and was a clever way to assess whether moral hazard effects are driven by supply-side or demand-side. </a:t>
            </a:r>
          </a:p>
          <a:p>
            <a:pPr marL="0" indent="0">
              <a:buFont typeface="Arial" panose="020B0604020202020204" pitchFamily="34" charset="0"/>
              <a:buNone/>
            </a:pPr>
            <a:endParaRPr lang="en-US" dirty="0"/>
          </a:p>
        </p:txBody>
      </p:sp>
      <p:sp>
        <p:nvSpPr>
          <p:cNvPr id="4" name="Slide Number Placeholder 3">
            <a:extLst>
              <a:ext uri="{FF2B5EF4-FFF2-40B4-BE49-F238E27FC236}">
                <a16:creationId xmlns:a16="http://schemas.microsoft.com/office/drawing/2014/main" id="{3293A2D2-F7A3-9151-BD01-265DC2E81043}"/>
              </a:ext>
            </a:extLst>
          </p:cNvPr>
          <p:cNvSpPr>
            <a:spLocks noGrp="1"/>
          </p:cNvSpPr>
          <p:nvPr>
            <p:ph type="sldNum" sz="quarter" idx="5"/>
          </p:nvPr>
        </p:nvSpPr>
        <p:spPr/>
        <p:txBody>
          <a:bodyPr/>
          <a:lstStyle/>
          <a:p>
            <a:fld id="{4AF79E1B-2C51-4B9B-8EA4-26DE9E345AFF}" type="slidenum">
              <a:rPr lang="en-US" smtClean="0"/>
              <a:t>50</a:t>
            </a:fld>
            <a:endParaRPr lang="en-US"/>
          </a:p>
        </p:txBody>
      </p:sp>
    </p:spTree>
    <p:extLst>
      <p:ext uri="{BB962C8B-B14F-4D97-AF65-F5344CB8AC3E}">
        <p14:creationId xmlns:p14="http://schemas.microsoft.com/office/powerpoint/2010/main" val="88728192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929CB0-3CE5-8917-3D02-9A62EB4353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3B8CC3-0643-1F02-50E5-7D1541FE3B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21F434-130C-F810-D9FD-6CFF8D4E2AF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Transforming: more than we can likely cover, since this literature has sparked lots of others. Some of the transformations have been methodological, some have sparked new questions (spillovers, decomposition), some are theoretical. All are developing in tandem with new policy questions. A (not so short) list: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How does coverage provide financial protections to households facing debt?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How does reducing the uninsurance rate affect hospitals and supply-side financial performance?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How does it affect other social science outcomes (fertility, crime, mental health, housing stability)?</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In Canada, how does public coverage affect wait times, and how do you optimally “ration” care using wait times when prices are off the table?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How do we encourage provider participation in public plans (what are supply side effects in Canada)?</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What are the equity/distributional impacts (needed better methodology before we could get here)?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Does public coverage reduce issues of job lock? </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How can we identify actual “flat of the curve” medicine? </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dirty="0"/>
              <a:t>And so on. </a:t>
            </a:r>
          </a:p>
        </p:txBody>
      </p:sp>
      <p:sp>
        <p:nvSpPr>
          <p:cNvPr id="4" name="Slide Number Placeholder 3">
            <a:extLst>
              <a:ext uri="{FF2B5EF4-FFF2-40B4-BE49-F238E27FC236}">
                <a16:creationId xmlns:a16="http://schemas.microsoft.com/office/drawing/2014/main" id="{C638EF65-674B-6160-236D-203CCB65E73A}"/>
              </a:ext>
            </a:extLst>
          </p:cNvPr>
          <p:cNvSpPr>
            <a:spLocks noGrp="1"/>
          </p:cNvSpPr>
          <p:nvPr>
            <p:ph type="sldNum" sz="quarter" idx="5"/>
          </p:nvPr>
        </p:nvSpPr>
        <p:spPr/>
        <p:txBody>
          <a:bodyPr/>
          <a:lstStyle/>
          <a:p>
            <a:fld id="{4AF79E1B-2C51-4B9B-8EA4-26DE9E345AFF}" type="slidenum">
              <a:rPr lang="en-US" smtClean="0"/>
              <a:t>51</a:t>
            </a:fld>
            <a:endParaRPr lang="en-US"/>
          </a:p>
        </p:txBody>
      </p:sp>
    </p:spTree>
    <p:extLst>
      <p:ext uri="{BB962C8B-B14F-4D97-AF65-F5344CB8AC3E}">
        <p14:creationId xmlns:p14="http://schemas.microsoft.com/office/powerpoint/2010/main" val="417844397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Arial" panose="020B0604020202020204" pitchFamily="34" charset="0"/>
              <a:buNone/>
            </a:pPr>
            <a:r>
              <a:rPr lang="en-US" dirty="0"/>
              <a:t>- let’s take a second and discuss, briefly, some of the research questions you’re considering. We’ll make a list on the board so we can be talking through them. </a:t>
            </a:r>
          </a:p>
        </p:txBody>
      </p:sp>
      <p:sp>
        <p:nvSpPr>
          <p:cNvPr id="4" name="Slide Number Placeholder 3"/>
          <p:cNvSpPr>
            <a:spLocks noGrp="1"/>
          </p:cNvSpPr>
          <p:nvPr>
            <p:ph type="sldNum" sz="quarter" idx="5"/>
          </p:nvPr>
        </p:nvSpPr>
        <p:spPr/>
        <p:txBody>
          <a:bodyPr/>
          <a:lstStyle/>
          <a:p>
            <a:fld id="{4AF79E1B-2C51-4B9B-8EA4-26DE9E345AFF}" type="slidenum">
              <a:rPr lang="en-US" smtClean="0"/>
              <a:t>52</a:t>
            </a:fld>
            <a:endParaRPr lang="en-US"/>
          </a:p>
        </p:txBody>
      </p:sp>
    </p:spTree>
    <p:extLst>
      <p:ext uri="{BB962C8B-B14F-4D97-AF65-F5344CB8AC3E}">
        <p14:creationId xmlns:p14="http://schemas.microsoft.com/office/powerpoint/2010/main" val="3366095260"/>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this class, try to find a bridge between publicly available data and the data you hope to use for your thesis (for MSc students, maybe think about these datasets </a:t>
            </a:r>
            <a:r>
              <a:rPr lang="en-US" i="1" dirty="0"/>
              <a:t>for your thesis)</a:t>
            </a:r>
          </a:p>
          <a:p>
            <a:endParaRPr lang="en-US" i="1" dirty="0"/>
          </a:p>
          <a:p>
            <a:r>
              <a:rPr lang="en-US" dirty="0"/>
              <a:t>What do you do if you don’t have a question? Read through the data dictionaries here, then do some descriptive work! </a:t>
            </a:r>
          </a:p>
        </p:txBody>
      </p:sp>
      <p:sp>
        <p:nvSpPr>
          <p:cNvPr id="4" name="Slide Number Placeholder 3"/>
          <p:cNvSpPr>
            <a:spLocks noGrp="1"/>
          </p:cNvSpPr>
          <p:nvPr>
            <p:ph type="sldNum" sz="quarter" idx="5"/>
          </p:nvPr>
        </p:nvSpPr>
        <p:spPr/>
        <p:txBody>
          <a:bodyPr/>
          <a:lstStyle/>
          <a:p>
            <a:fld id="{4AF79E1B-2C51-4B9B-8EA4-26DE9E345AFF}" type="slidenum">
              <a:rPr lang="en-US" smtClean="0"/>
              <a:t>53</a:t>
            </a:fld>
            <a:endParaRPr lang="en-US"/>
          </a:p>
        </p:txBody>
      </p:sp>
    </p:spTree>
    <p:extLst>
      <p:ext uri="{BB962C8B-B14F-4D97-AF65-F5344CB8AC3E}">
        <p14:creationId xmlns:p14="http://schemas.microsoft.com/office/powerpoint/2010/main" val="341693214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take a sample research question for today: what are the impacts of health shocks on your own spending and your spouse’s? Walk through what kinds of variables we want. </a:t>
            </a:r>
          </a:p>
        </p:txBody>
      </p:sp>
      <p:sp>
        <p:nvSpPr>
          <p:cNvPr id="4" name="Slide Number Placeholder 3"/>
          <p:cNvSpPr>
            <a:spLocks noGrp="1"/>
          </p:cNvSpPr>
          <p:nvPr>
            <p:ph type="sldNum" sz="quarter" idx="5"/>
          </p:nvPr>
        </p:nvSpPr>
        <p:spPr/>
        <p:txBody>
          <a:bodyPr/>
          <a:lstStyle/>
          <a:p>
            <a:fld id="{4AF79E1B-2C51-4B9B-8EA4-26DE9E345AFF}" type="slidenum">
              <a:rPr lang="en-US" smtClean="0"/>
              <a:t>54</a:t>
            </a:fld>
            <a:endParaRPr lang="en-US"/>
          </a:p>
        </p:txBody>
      </p:sp>
    </p:spTree>
    <p:extLst>
      <p:ext uri="{BB962C8B-B14F-4D97-AF65-F5344CB8AC3E}">
        <p14:creationId xmlns:p14="http://schemas.microsoft.com/office/powerpoint/2010/main" val="132856551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55</a:t>
            </a:fld>
            <a:endParaRPr lang="en-US"/>
          </a:p>
        </p:txBody>
      </p:sp>
    </p:spTree>
    <p:extLst>
      <p:ext uri="{BB962C8B-B14F-4D97-AF65-F5344CB8AC3E}">
        <p14:creationId xmlns:p14="http://schemas.microsoft.com/office/powerpoint/2010/main" val="414860025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project is  unique! But here are some of the broad overviews for what you need to know. </a:t>
            </a:r>
          </a:p>
        </p:txBody>
      </p:sp>
      <p:sp>
        <p:nvSpPr>
          <p:cNvPr id="4" name="Slide Number Placeholder 3"/>
          <p:cNvSpPr>
            <a:spLocks noGrp="1"/>
          </p:cNvSpPr>
          <p:nvPr>
            <p:ph type="sldNum" sz="quarter" idx="5"/>
          </p:nvPr>
        </p:nvSpPr>
        <p:spPr/>
        <p:txBody>
          <a:bodyPr/>
          <a:lstStyle/>
          <a:p>
            <a:fld id="{4AF79E1B-2C51-4B9B-8EA4-26DE9E345AFF}" type="slidenum">
              <a:rPr lang="en-US" smtClean="0"/>
              <a:t>56</a:t>
            </a:fld>
            <a:endParaRPr lang="en-US"/>
          </a:p>
        </p:txBody>
      </p:sp>
    </p:spTree>
    <p:extLst>
      <p:ext uri="{BB962C8B-B14F-4D97-AF65-F5344CB8AC3E}">
        <p14:creationId xmlns:p14="http://schemas.microsoft.com/office/powerpoint/2010/main" val="2846791853"/>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does this entail? Going through variables, looking at descriptive characteristics, etc. </a:t>
            </a:r>
          </a:p>
        </p:txBody>
      </p:sp>
      <p:sp>
        <p:nvSpPr>
          <p:cNvPr id="4" name="Slide Number Placeholder 3"/>
          <p:cNvSpPr>
            <a:spLocks noGrp="1"/>
          </p:cNvSpPr>
          <p:nvPr>
            <p:ph type="sldNum" sz="quarter" idx="5"/>
          </p:nvPr>
        </p:nvSpPr>
        <p:spPr/>
        <p:txBody>
          <a:bodyPr/>
          <a:lstStyle/>
          <a:p>
            <a:fld id="{4AF79E1B-2C51-4B9B-8EA4-26DE9E345AFF}" type="slidenum">
              <a:rPr lang="en-US" smtClean="0"/>
              <a:t>57</a:t>
            </a:fld>
            <a:endParaRPr lang="en-US"/>
          </a:p>
        </p:txBody>
      </p:sp>
    </p:spTree>
    <p:extLst>
      <p:ext uri="{BB962C8B-B14F-4D97-AF65-F5344CB8AC3E}">
        <p14:creationId xmlns:p14="http://schemas.microsoft.com/office/powerpoint/2010/main" val="749407854"/>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8E9D06-701D-1B4E-4AC4-2402AB9D1E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568FD3-21C5-28C5-525B-F51DA71CF3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90C8BE-4FDD-D611-0A61-7678B7167018}"/>
              </a:ext>
            </a:extLst>
          </p:cNvPr>
          <p:cNvSpPr>
            <a:spLocks noGrp="1"/>
          </p:cNvSpPr>
          <p:nvPr>
            <p:ph type="body" idx="1"/>
          </p:nvPr>
        </p:nvSpPr>
        <p:spPr/>
        <p:txBody>
          <a:bodyPr/>
          <a:lstStyle/>
          <a:p>
            <a:r>
              <a:rPr lang="en-US" dirty="0"/>
              <a:t>What does this entail? Going through variables, looking at descriptive characteristics, etc. </a:t>
            </a:r>
          </a:p>
        </p:txBody>
      </p:sp>
      <p:sp>
        <p:nvSpPr>
          <p:cNvPr id="4" name="Slide Number Placeholder 3">
            <a:extLst>
              <a:ext uri="{FF2B5EF4-FFF2-40B4-BE49-F238E27FC236}">
                <a16:creationId xmlns:a16="http://schemas.microsoft.com/office/drawing/2014/main" id="{33CB5AB8-798C-52B5-02CE-D976625AA985}"/>
              </a:ext>
            </a:extLst>
          </p:cNvPr>
          <p:cNvSpPr>
            <a:spLocks noGrp="1"/>
          </p:cNvSpPr>
          <p:nvPr>
            <p:ph type="sldNum" sz="quarter" idx="5"/>
          </p:nvPr>
        </p:nvSpPr>
        <p:spPr/>
        <p:txBody>
          <a:bodyPr/>
          <a:lstStyle/>
          <a:p>
            <a:fld id="{4AF79E1B-2C51-4B9B-8EA4-26DE9E345AFF}" type="slidenum">
              <a:rPr lang="en-US" smtClean="0"/>
              <a:t>58</a:t>
            </a:fld>
            <a:endParaRPr lang="en-US"/>
          </a:p>
        </p:txBody>
      </p:sp>
    </p:spTree>
    <p:extLst>
      <p:ext uri="{BB962C8B-B14F-4D97-AF65-F5344CB8AC3E}">
        <p14:creationId xmlns:p14="http://schemas.microsoft.com/office/powerpoint/2010/main" val="358208669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 really get bogged down in data cleaning. Use copilot, google, your old code, your friends, me…</a:t>
            </a:r>
          </a:p>
          <a:p>
            <a:endParaRPr lang="en-US" dirty="0"/>
          </a:p>
          <a:p>
            <a:r>
              <a:rPr lang="en-US" dirty="0"/>
              <a:t>IN R:  - Removing missing data    - Recoding variables    - Creating new variables    - Summarizing variables    - Creating descriptive figures</a:t>
            </a:r>
          </a:p>
        </p:txBody>
      </p:sp>
      <p:sp>
        <p:nvSpPr>
          <p:cNvPr id="4" name="Slide Number Placeholder 3"/>
          <p:cNvSpPr>
            <a:spLocks noGrp="1"/>
          </p:cNvSpPr>
          <p:nvPr>
            <p:ph type="sldNum" sz="quarter" idx="5"/>
          </p:nvPr>
        </p:nvSpPr>
        <p:spPr/>
        <p:txBody>
          <a:bodyPr/>
          <a:lstStyle/>
          <a:p>
            <a:fld id="{4AF79E1B-2C51-4B9B-8EA4-26DE9E345AFF}" type="slidenum">
              <a:rPr lang="en-US" smtClean="0"/>
              <a:t>59</a:t>
            </a:fld>
            <a:endParaRPr lang="en-US"/>
          </a:p>
        </p:txBody>
      </p:sp>
    </p:spTree>
    <p:extLst>
      <p:ext uri="{BB962C8B-B14F-4D97-AF65-F5344CB8AC3E}">
        <p14:creationId xmlns:p14="http://schemas.microsoft.com/office/powerpoint/2010/main" val="119576127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good way to make sure your data is cleaned – poke around a lot! What does this data tell us? If I didn’t have variable names, not much!</a:t>
            </a:r>
          </a:p>
        </p:txBody>
      </p:sp>
      <p:sp>
        <p:nvSpPr>
          <p:cNvPr id="4" name="Slide Number Placeholder 3"/>
          <p:cNvSpPr>
            <a:spLocks noGrp="1"/>
          </p:cNvSpPr>
          <p:nvPr>
            <p:ph type="sldNum" sz="quarter" idx="5"/>
          </p:nvPr>
        </p:nvSpPr>
        <p:spPr/>
        <p:txBody>
          <a:bodyPr/>
          <a:lstStyle/>
          <a:p>
            <a:fld id="{4AF79E1B-2C51-4B9B-8EA4-26DE9E345AFF}" type="slidenum">
              <a:rPr lang="en-US" smtClean="0"/>
              <a:t>60</a:t>
            </a:fld>
            <a:endParaRPr lang="en-US"/>
          </a:p>
        </p:txBody>
      </p:sp>
    </p:spTree>
    <p:extLst>
      <p:ext uri="{BB962C8B-B14F-4D97-AF65-F5344CB8AC3E}">
        <p14:creationId xmlns:p14="http://schemas.microsoft.com/office/powerpoint/2010/main" val="295912325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37E091-D0AD-94ED-F46E-4523035721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634D75-166E-9B1F-1A88-3A35C002A85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492A2A-6644-27E8-6962-77D0E1F163F4}"/>
              </a:ext>
            </a:extLst>
          </p:cNvPr>
          <p:cNvSpPr>
            <a:spLocks noGrp="1"/>
          </p:cNvSpPr>
          <p:nvPr>
            <p:ph type="body" idx="1"/>
          </p:nvPr>
        </p:nvSpPr>
        <p:spPr/>
        <p:txBody>
          <a:bodyPr/>
          <a:lstStyle/>
          <a:p>
            <a:r>
              <a:rPr lang="en-US" dirty="0"/>
              <a:t>Look at the gif here: https://blog.revolutionanalytics.com/2017/05/the-datasaurus-dozen.html. </a:t>
            </a:r>
          </a:p>
        </p:txBody>
      </p:sp>
      <p:sp>
        <p:nvSpPr>
          <p:cNvPr id="4" name="Slide Number Placeholder 3">
            <a:extLst>
              <a:ext uri="{FF2B5EF4-FFF2-40B4-BE49-F238E27FC236}">
                <a16:creationId xmlns:a16="http://schemas.microsoft.com/office/drawing/2014/main" id="{44E74F9B-C27C-B692-ACCC-19737EEFC9A7}"/>
              </a:ext>
            </a:extLst>
          </p:cNvPr>
          <p:cNvSpPr>
            <a:spLocks noGrp="1"/>
          </p:cNvSpPr>
          <p:nvPr>
            <p:ph type="sldNum" sz="quarter" idx="5"/>
          </p:nvPr>
        </p:nvSpPr>
        <p:spPr/>
        <p:txBody>
          <a:bodyPr/>
          <a:lstStyle/>
          <a:p>
            <a:fld id="{4AF79E1B-2C51-4B9B-8EA4-26DE9E345AFF}" type="slidenum">
              <a:rPr lang="en-US" smtClean="0"/>
              <a:t>61</a:t>
            </a:fld>
            <a:endParaRPr lang="en-US"/>
          </a:p>
        </p:txBody>
      </p:sp>
    </p:spTree>
    <p:extLst>
      <p:ext uri="{BB962C8B-B14F-4D97-AF65-F5344CB8AC3E}">
        <p14:creationId xmlns:p14="http://schemas.microsoft.com/office/powerpoint/2010/main" val="48703623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Takes a surprising amount of time! </a:t>
            </a:r>
          </a:p>
        </p:txBody>
      </p:sp>
      <p:sp>
        <p:nvSpPr>
          <p:cNvPr id="4" name="Slide Number Placeholder 3"/>
          <p:cNvSpPr>
            <a:spLocks noGrp="1"/>
          </p:cNvSpPr>
          <p:nvPr>
            <p:ph type="sldNum" sz="quarter" idx="5"/>
          </p:nvPr>
        </p:nvSpPr>
        <p:spPr/>
        <p:txBody>
          <a:bodyPr/>
          <a:lstStyle/>
          <a:p>
            <a:fld id="{4AF79E1B-2C51-4B9B-8EA4-26DE9E345AFF}" type="slidenum">
              <a:rPr lang="en-US" smtClean="0"/>
              <a:t>62</a:t>
            </a:fld>
            <a:endParaRPr lang="en-US"/>
          </a:p>
        </p:txBody>
      </p:sp>
    </p:spTree>
    <p:extLst>
      <p:ext uri="{BB962C8B-B14F-4D97-AF65-F5344CB8AC3E}">
        <p14:creationId xmlns:p14="http://schemas.microsoft.com/office/powerpoint/2010/main" val="28216381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Takes a surprising amount of time! </a:t>
            </a:r>
          </a:p>
        </p:txBody>
      </p:sp>
      <p:sp>
        <p:nvSpPr>
          <p:cNvPr id="4" name="Slide Number Placeholder 3"/>
          <p:cNvSpPr>
            <a:spLocks noGrp="1"/>
          </p:cNvSpPr>
          <p:nvPr>
            <p:ph type="sldNum" sz="quarter" idx="5"/>
          </p:nvPr>
        </p:nvSpPr>
        <p:spPr/>
        <p:txBody>
          <a:bodyPr/>
          <a:lstStyle/>
          <a:p>
            <a:fld id="{4AF79E1B-2C51-4B9B-8EA4-26DE9E345AFF}" type="slidenum">
              <a:rPr lang="en-US" smtClean="0"/>
              <a:t>63</a:t>
            </a:fld>
            <a:endParaRPr lang="en-US"/>
          </a:p>
        </p:txBody>
      </p:sp>
    </p:spTree>
    <p:extLst>
      <p:ext uri="{BB962C8B-B14F-4D97-AF65-F5344CB8AC3E}">
        <p14:creationId xmlns:p14="http://schemas.microsoft.com/office/powerpoint/2010/main" val="98609175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on folders – don’t overwrite your data! How can you construct this? How do we think about replicability? </a:t>
            </a:r>
          </a:p>
          <a:p>
            <a:pPr marL="171450" indent="-171450">
              <a:buFont typeface="Arial" panose="020B0604020202020204" pitchFamily="34" charset="0"/>
              <a:buChar char="•"/>
            </a:pPr>
            <a:r>
              <a:rPr lang="en-US" dirty="0"/>
              <a:t>Master.do file</a:t>
            </a:r>
          </a:p>
          <a:p>
            <a:pPr marL="171450" indent="-171450">
              <a:buFont typeface="Arial" panose="020B0604020202020204" pitchFamily="34" charset="0"/>
              <a:buChar char="•"/>
            </a:pPr>
            <a:r>
              <a:rPr lang="en-US" dirty="0"/>
              <a:t>GitHub</a:t>
            </a:r>
          </a:p>
          <a:p>
            <a:pPr marL="171450" indent="-171450">
              <a:buFont typeface="Arial" panose="020B0604020202020204" pitchFamily="34" charset="0"/>
              <a:buChar char="•"/>
            </a:pPr>
            <a:r>
              <a:rPr lang="en-US" dirty="0"/>
              <a:t>All results should run together (use the “here” library, for example)</a:t>
            </a:r>
          </a:p>
          <a:p>
            <a:pPr marL="171450" indent="-171450">
              <a:buFont typeface="Arial" panose="020B0604020202020204" pitchFamily="34" charset="0"/>
              <a:buChar char="•"/>
            </a:pPr>
            <a:r>
              <a:rPr lang="en-US" dirty="0"/>
              <a:t>Lots of comments! </a:t>
            </a:r>
          </a:p>
          <a:p>
            <a:pPr marL="171450" indent="-171450">
              <a:buFont typeface="Arial" panose="020B0604020202020204" pitchFamily="34" charset="0"/>
              <a:buChar char="•"/>
            </a:pPr>
            <a:r>
              <a:rPr lang="en-US" dirty="0"/>
              <a:t>Curious about more? See here: https://julianreif.com/guide/ (this is for Stata)</a:t>
            </a:r>
          </a:p>
        </p:txBody>
      </p:sp>
      <p:sp>
        <p:nvSpPr>
          <p:cNvPr id="4" name="Slide Number Placeholder 3"/>
          <p:cNvSpPr>
            <a:spLocks noGrp="1"/>
          </p:cNvSpPr>
          <p:nvPr>
            <p:ph type="sldNum" sz="quarter" idx="5"/>
          </p:nvPr>
        </p:nvSpPr>
        <p:spPr/>
        <p:txBody>
          <a:bodyPr/>
          <a:lstStyle/>
          <a:p>
            <a:fld id="{4AF79E1B-2C51-4B9B-8EA4-26DE9E345AFF}" type="slidenum">
              <a:rPr lang="en-US" smtClean="0"/>
              <a:t>64</a:t>
            </a:fld>
            <a:endParaRPr lang="en-US"/>
          </a:p>
        </p:txBody>
      </p:sp>
    </p:spTree>
    <p:extLst>
      <p:ext uri="{BB962C8B-B14F-4D97-AF65-F5344CB8AC3E}">
        <p14:creationId xmlns:p14="http://schemas.microsoft.com/office/powerpoint/2010/main" val="342885971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skip over the main analysis – and likely skip over a lot of the real reporting here as well. This is where we will spend all our time moving forward!</a:t>
            </a:r>
          </a:p>
        </p:txBody>
      </p:sp>
      <p:sp>
        <p:nvSpPr>
          <p:cNvPr id="4" name="Slide Number Placeholder 3"/>
          <p:cNvSpPr>
            <a:spLocks noGrp="1"/>
          </p:cNvSpPr>
          <p:nvPr>
            <p:ph type="sldNum" sz="quarter" idx="5"/>
          </p:nvPr>
        </p:nvSpPr>
        <p:spPr/>
        <p:txBody>
          <a:bodyPr/>
          <a:lstStyle/>
          <a:p>
            <a:fld id="{4AF79E1B-2C51-4B9B-8EA4-26DE9E345AFF}" type="slidenum">
              <a:rPr lang="en-US" smtClean="0"/>
              <a:t>65</a:t>
            </a:fld>
            <a:endParaRPr lang="en-US"/>
          </a:p>
        </p:txBody>
      </p:sp>
    </p:spTree>
    <p:extLst>
      <p:ext uri="{BB962C8B-B14F-4D97-AF65-F5344CB8AC3E}">
        <p14:creationId xmlns:p14="http://schemas.microsoft.com/office/powerpoint/2010/main" val="545211556"/>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00A0BC-B647-FE8D-1C2A-71FD0C441F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845D40-AB66-2667-84D9-EDD054FA28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2E2B4C-9458-4DC5-7CD6-BA6C29202AF2}"/>
              </a:ext>
            </a:extLst>
          </p:cNvPr>
          <p:cNvSpPr>
            <a:spLocks noGrp="1"/>
          </p:cNvSpPr>
          <p:nvPr>
            <p:ph type="body" idx="1"/>
          </p:nvPr>
        </p:nvSpPr>
        <p:spPr/>
        <p:txBody>
          <a:bodyPr/>
          <a:lstStyle/>
          <a:p>
            <a:r>
              <a:rPr lang="en-US" dirty="0"/>
              <a:t>Different strokes for different folks. Discussion here.</a:t>
            </a:r>
          </a:p>
        </p:txBody>
      </p:sp>
      <p:sp>
        <p:nvSpPr>
          <p:cNvPr id="4" name="Slide Number Placeholder 3">
            <a:extLst>
              <a:ext uri="{FF2B5EF4-FFF2-40B4-BE49-F238E27FC236}">
                <a16:creationId xmlns:a16="http://schemas.microsoft.com/office/drawing/2014/main" id="{1C3F3BD3-40AB-A10E-645C-054CA0AEFD86}"/>
              </a:ext>
            </a:extLst>
          </p:cNvPr>
          <p:cNvSpPr>
            <a:spLocks noGrp="1"/>
          </p:cNvSpPr>
          <p:nvPr>
            <p:ph type="sldNum" sz="quarter" idx="5"/>
          </p:nvPr>
        </p:nvSpPr>
        <p:spPr/>
        <p:txBody>
          <a:bodyPr/>
          <a:lstStyle/>
          <a:p>
            <a:fld id="{4AF79E1B-2C51-4B9B-8EA4-26DE9E345AFF}" type="slidenum">
              <a:rPr lang="en-US" smtClean="0"/>
              <a:t>66</a:t>
            </a:fld>
            <a:endParaRPr lang="en-US"/>
          </a:p>
        </p:txBody>
      </p:sp>
    </p:spTree>
    <p:extLst>
      <p:ext uri="{BB962C8B-B14F-4D97-AF65-F5344CB8AC3E}">
        <p14:creationId xmlns:p14="http://schemas.microsoft.com/office/powerpoint/2010/main" val="3167320447"/>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0FC865-15E9-24C9-822D-09DB0E1A6C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BDDF43-ADC5-D89D-5A28-03E7145D84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1F4A8C-D866-5044-F7CB-7DB25859C43B}"/>
              </a:ext>
            </a:extLst>
          </p:cNvPr>
          <p:cNvSpPr>
            <a:spLocks noGrp="1"/>
          </p:cNvSpPr>
          <p:nvPr>
            <p:ph type="body" idx="1"/>
          </p:nvPr>
        </p:nvSpPr>
        <p:spPr/>
        <p:txBody>
          <a:bodyPr/>
          <a:lstStyle/>
          <a:p>
            <a:r>
              <a:rPr lang="en-US" dirty="0"/>
              <a:t>Different strokes for different folks. Discussion here.</a:t>
            </a:r>
          </a:p>
        </p:txBody>
      </p:sp>
      <p:sp>
        <p:nvSpPr>
          <p:cNvPr id="4" name="Slide Number Placeholder 3">
            <a:extLst>
              <a:ext uri="{FF2B5EF4-FFF2-40B4-BE49-F238E27FC236}">
                <a16:creationId xmlns:a16="http://schemas.microsoft.com/office/drawing/2014/main" id="{07BB9DC7-312D-19F7-986D-D35314938C6E}"/>
              </a:ext>
            </a:extLst>
          </p:cNvPr>
          <p:cNvSpPr>
            <a:spLocks noGrp="1"/>
          </p:cNvSpPr>
          <p:nvPr>
            <p:ph type="sldNum" sz="quarter" idx="5"/>
          </p:nvPr>
        </p:nvSpPr>
        <p:spPr/>
        <p:txBody>
          <a:bodyPr/>
          <a:lstStyle/>
          <a:p>
            <a:fld id="{4AF79E1B-2C51-4B9B-8EA4-26DE9E345AFF}" type="slidenum">
              <a:rPr lang="en-US" smtClean="0"/>
              <a:t>67</a:t>
            </a:fld>
            <a:endParaRPr lang="en-US"/>
          </a:p>
        </p:txBody>
      </p:sp>
    </p:spTree>
    <p:extLst>
      <p:ext uri="{BB962C8B-B14F-4D97-AF65-F5344CB8AC3E}">
        <p14:creationId xmlns:p14="http://schemas.microsoft.com/office/powerpoint/2010/main" val="179013700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37E8F5-4C3E-B057-15A2-573CB8F6A9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EA77D3-7100-0133-09BC-072A4B610B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11F30A-D4ED-D3A9-7B78-38C2AA7BD527}"/>
              </a:ext>
            </a:extLst>
          </p:cNvPr>
          <p:cNvSpPr>
            <a:spLocks noGrp="1"/>
          </p:cNvSpPr>
          <p:nvPr>
            <p:ph type="body" idx="1"/>
          </p:nvPr>
        </p:nvSpPr>
        <p:spPr/>
        <p:txBody>
          <a:bodyPr/>
          <a:lstStyle/>
          <a:p>
            <a:r>
              <a:rPr lang="en-US" dirty="0"/>
              <a:t>Different strokes for different folks. Discussion here.</a:t>
            </a:r>
          </a:p>
        </p:txBody>
      </p:sp>
      <p:sp>
        <p:nvSpPr>
          <p:cNvPr id="4" name="Slide Number Placeholder 3">
            <a:extLst>
              <a:ext uri="{FF2B5EF4-FFF2-40B4-BE49-F238E27FC236}">
                <a16:creationId xmlns:a16="http://schemas.microsoft.com/office/drawing/2014/main" id="{0102585F-2C1C-CE1C-05B3-69A63E745EA6}"/>
              </a:ext>
            </a:extLst>
          </p:cNvPr>
          <p:cNvSpPr>
            <a:spLocks noGrp="1"/>
          </p:cNvSpPr>
          <p:nvPr>
            <p:ph type="sldNum" sz="quarter" idx="5"/>
          </p:nvPr>
        </p:nvSpPr>
        <p:spPr/>
        <p:txBody>
          <a:bodyPr/>
          <a:lstStyle/>
          <a:p>
            <a:fld id="{4AF79E1B-2C51-4B9B-8EA4-26DE9E345AFF}" type="slidenum">
              <a:rPr lang="en-US" smtClean="0"/>
              <a:t>68</a:t>
            </a:fld>
            <a:endParaRPr lang="en-US"/>
          </a:p>
        </p:txBody>
      </p:sp>
    </p:spTree>
    <p:extLst>
      <p:ext uri="{BB962C8B-B14F-4D97-AF65-F5344CB8AC3E}">
        <p14:creationId xmlns:p14="http://schemas.microsoft.com/office/powerpoint/2010/main" val="4180196962"/>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2B5E24-1272-9D85-0E08-1C091A8164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4794F4-C062-5D8A-FA8A-7449B8CA1C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C1BD616-D821-4C5A-F5D8-4007719BB016}"/>
              </a:ext>
            </a:extLst>
          </p:cNvPr>
          <p:cNvSpPr>
            <a:spLocks noGrp="1"/>
          </p:cNvSpPr>
          <p:nvPr>
            <p:ph type="body" idx="1"/>
          </p:nvPr>
        </p:nvSpPr>
        <p:spPr/>
        <p:txBody>
          <a:bodyPr/>
          <a:lstStyle/>
          <a:p>
            <a:r>
              <a:rPr lang="en-US" dirty="0"/>
              <a:t>Obviously we don’t have everything here. But what *do* we have? </a:t>
            </a:r>
          </a:p>
        </p:txBody>
      </p:sp>
      <p:sp>
        <p:nvSpPr>
          <p:cNvPr id="4" name="Slide Number Placeholder 3">
            <a:extLst>
              <a:ext uri="{FF2B5EF4-FFF2-40B4-BE49-F238E27FC236}">
                <a16:creationId xmlns:a16="http://schemas.microsoft.com/office/drawing/2014/main" id="{5B51256F-BAAF-F3B6-C525-F8A2E86A2E3E}"/>
              </a:ext>
            </a:extLst>
          </p:cNvPr>
          <p:cNvSpPr>
            <a:spLocks noGrp="1"/>
          </p:cNvSpPr>
          <p:nvPr>
            <p:ph type="sldNum" sz="quarter" idx="5"/>
          </p:nvPr>
        </p:nvSpPr>
        <p:spPr/>
        <p:txBody>
          <a:bodyPr/>
          <a:lstStyle/>
          <a:p>
            <a:fld id="{4AF79E1B-2C51-4B9B-8EA4-26DE9E345AFF}" type="slidenum">
              <a:rPr lang="en-US" smtClean="0"/>
              <a:t>69</a:t>
            </a:fld>
            <a:endParaRPr lang="en-US"/>
          </a:p>
        </p:txBody>
      </p:sp>
    </p:spTree>
    <p:extLst>
      <p:ext uri="{BB962C8B-B14F-4D97-AF65-F5344CB8AC3E}">
        <p14:creationId xmlns:p14="http://schemas.microsoft.com/office/powerpoint/2010/main" val="3072961306"/>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Obviously we don’t have everything here. But what *do* we have? Where would we go next? </a:t>
            </a:r>
          </a:p>
          <a:p>
            <a:pPr marL="171450" indent="-171450">
              <a:buFontTx/>
              <a:buChar char="-"/>
            </a:pPr>
            <a:r>
              <a:rPr lang="en-US" dirty="0"/>
              <a:t>Discussion question: what do you do when you have a negative result here? When do you give up and move on to the next idea? </a:t>
            </a:r>
          </a:p>
          <a:p>
            <a:pPr marL="171450" indent="-171450">
              <a:buFontTx/>
              <a:buChar char="-"/>
            </a:pPr>
            <a:r>
              <a:rPr lang="en-US" dirty="0"/>
              <a:t>Think about identification and potential selection. Do you expect the story to be clearer if you adjust for something? Is there a high opportunity cost of poking around more? </a:t>
            </a:r>
          </a:p>
        </p:txBody>
      </p:sp>
      <p:sp>
        <p:nvSpPr>
          <p:cNvPr id="4" name="Slide Number Placeholder 3"/>
          <p:cNvSpPr>
            <a:spLocks noGrp="1"/>
          </p:cNvSpPr>
          <p:nvPr>
            <p:ph type="sldNum" sz="quarter" idx="5"/>
          </p:nvPr>
        </p:nvSpPr>
        <p:spPr/>
        <p:txBody>
          <a:bodyPr/>
          <a:lstStyle/>
          <a:p>
            <a:fld id="{4AF79E1B-2C51-4B9B-8EA4-26DE9E345AFF}" type="slidenum">
              <a:rPr lang="en-US" smtClean="0"/>
              <a:t>70</a:t>
            </a:fld>
            <a:endParaRPr lang="en-US"/>
          </a:p>
        </p:txBody>
      </p:sp>
    </p:spTree>
    <p:extLst>
      <p:ext uri="{BB962C8B-B14F-4D97-AF65-F5344CB8AC3E}">
        <p14:creationId xmlns:p14="http://schemas.microsoft.com/office/powerpoint/2010/main" val="4193769832"/>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3C8B18-EBBA-CA03-E840-58D4A16F4D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FFBEDB-4C0B-C528-CE3A-14CADAC1C7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AA18C5-97DA-5B11-BAC8-15AC3F5AF131}"/>
              </a:ext>
            </a:extLst>
          </p:cNvPr>
          <p:cNvSpPr>
            <a:spLocks noGrp="1"/>
          </p:cNvSpPr>
          <p:nvPr>
            <p:ph type="body" idx="1"/>
          </p:nvPr>
        </p:nvSpPr>
        <p:spPr/>
        <p:txBody>
          <a:bodyPr/>
          <a:lstStyle/>
          <a:p>
            <a:r>
              <a:rPr lang="en-US" dirty="0"/>
              <a:t>We’re going to talk about different approaches to approximating an experiment throughout the rest of the term. This will primarily be focused on how to deal with selection/sample construction + estimation, combined with </a:t>
            </a:r>
            <a:r>
              <a:rPr lang="en-US" i="1" dirty="0"/>
              <a:t>identifying assumptions </a:t>
            </a:r>
            <a:r>
              <a:rPr lang="en-US" i="0" dirty="0"/>
              <a:t>that will allow us to move beyond observational data and into </a:t>
            </a:r>
            <a:r>
              <a:rPr lang="en-US" i="0"/>
              <a:t>design-based inference. </a:t>
            </a:r>
            <a:endParaRPr lang="en-US" dirty="0"/>
          </a:p>
        </p:txBody>
      </p:sp>
      <p:sp>
        <p:nvSpPr>
          <p:cNvPr id="4" name="Slide Number Placeholder 3">
            <a:extLst>
              <a:ext uri="{FF2B5EF4-FFF2-40B4-BE49-F238E27FC236}">
                <a16:creationId xmlns:a16="http://schemas.microsoft.com/office/drawing/2014/main" id="{3016C4FA-4D62-524F-DA23-7F8F38EAFF80}"/>
              </a:ext>
            </a:extLst>
          </p:cNvPr>
          <p:cNvSpPr>
            <a:spLocks noGrp="1"/>
          </p:cNvSpPr>
          <p:nvPr>
            <p:ph type="sldNum" sz="quarter" idx="5"/>
          </p:nvPr>
        </p:nvSpPr>
        <p:spPr/>
        <p:txBody>
          <a:bodyPr/>
          <a:lstStyle/>
          <a:p>
            <a:fld id="{4AF79E1B-2C51-4B9B-8EA4-26DE9E345AFF}" type="slidenum">
              <a:rPr lang="en-US" smtClean="0"/>
              <a:t>71</a:t>
            </a:fld>
            <a:endParaRPr lang="en-US"/>
          </a:p>
        </p:txBody>
      </p:sp>
    </p:spTree>
    <p:extLst>
      <p:ext uri="{BB962C8B-B14F-4D97-AF65-F5344CB8AC3E}">
        <p14:creationId xmlns:p14="http://schemas.microsoft.com/office/powerpoint/2010/main" val="1764220907"/>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Others include KFF morning briefing (US) and Healthy Debate (Canada)</a:t>
            </a:r>
          </a:p>
        </p:txBody>
      </p:sp>
      <p:sp>
        <p:nvSpPr>
          <p:cNvPr id="4" name="Slide Number Placeholder 3"/>
          <p:cNvSpPr>
            <a:spLocks noGrp="1"/>
          </p:cNvSpPr>
          <p:nvPr>
            <p:ph type="sldNum" sz="quarter" idx="5"/>
          </p:nvPr>
        </p:nvSpPr>
        <p:spPr/>
        <p:txBody>
          <a:bodyPr/>
          <a:lstStyle/>
          <a:p>
            <a:fld id="{4AF79E1B-2C51-4B9B-8EA4-26DE9E345AFF}" type="slidenum">
              <a:rPr lang="en-US" smtClean="0"/>
              <a:t>72</a:t>
            </a:fld>
            <a:endParaRPr lang="en-US"/>
          </a:p>
        </p:txBody>
      </p:sp>
    </p:spTree>
    <p:extLst>
      <p:ext uri="{BB962C8B-B14F-4D97-AF65-F5344CB8AC3E}">
        <p14:creationId xmlns:p14="http://schemas.microsoft.com/office/powerpoint/2010/main" val="2538809164"/>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be scared of regression equations – in fact, formalizing them will help you see threats to identification and improve your estimation approach. We are going to spend lots of time now on identifying assumptions (the bridge between TTE and truly causal work)</a:t>
            </a:r>
          </a:p>
        </p:txBody>
      </p:sp>
      <p:sp>
        <p:nvSpPr>
          <p:cNvPr id="4" name="Slide Number Placeholder 3"/>
          <p:cNvSpPr>
            <a:spLocks noGrp="1"/>
          </p:cNvSpPr>
          <p:nvPr>
            <p:ph type="sldNum" sz="quarter" idx="5"/>
          </p:nvPr>
        </p:nvSpPr>
        <p:spPr/>
        <p:txBody>
          <a:bodyPr/>
          <a:lstStyle/>
          <a:p>
            <a:fld id="{4AF79E1B-2C51-4B9B-8EA4-26DE9E345AFF}" type="slidenum">
              <a:rPr lang="en-US" smtClean="0"/>
              <a:t>73</a:t>
            </a:fld>
            <a:endParaRPr lang="en-US"/>
          </a:p>
        </p:txBody>
      </p:sp>
    </p:spTree>
    <p:extLst>
      <p:ext uri="{BB962C8B-B14F-4D97-AF65-F5344CB8AC3E}">
        <p14:creationId xmlns:p14="http://schemas.microsoft.com/office/powerpoint/2010/main" val="4261254456"/>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You’ll develop an intuition for this over time. Talk to lots of people about your thoughts!</a:t>
            </a:r>
          </a:p>
        </p:txBody>
      </p:sp>
      <p:sp>
        <p:nvSpPr>
          <p:cNvPr id="4" name="Slide Number Placeholder 3"/>
          <p:cNvSpPr>
            <a:spLocks noGrp="1"/>
          </p:cNvSpPr>
          <p:nvPr>
            <p:ph type="sldNum" sz="quarter" idx="5"/>
          </p:nvPr>
        </p:nvSpPr>
        <p:spPr/>
        <p:txBody>
          <a:bodyPr/>
          <a:lstStyle/>
          <a:p>
            <a:fld id="{4AF79E1B-2C51-4B9B-8EA4-26DE9E345AFF}" type="slidenum">
              <a:rPr lang="en-US" smtClean="0"/>
              <a:t>74</a:t>
            </a:fld>
            <a:endParaRPr lang="en-US"/>
          </a:p>
        </p:txBody>
      </p:sp>
    </p:spTree>
    <p:extLst>
      <p:ext uri="{BB962C8B-B14F-4D97-AF65-F5344CB8AC3E}">
        <p14:creationId xmlns:p14="http://schemas.microsoft.com/office/powerpoint/2010/main" val="217382793"/>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87F0CE-0095-43A3-8E09-5FBB537E5E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CE6E97-FD88-F08C-AC3D-A6E849C9E8F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3E7D39-72FE-4CD9-6686-A6B14DDCC4E4}"/>
              </a:ext>
            </a:extLst>
          </p:cNvPr>
          <p:cNvSpPr>
            <a:spLocks noGrp="1"/>
          </p:cNvSpPr>
          <p:nvPr>
            <p:ph type="body" idx="1"/>
          </p:nvPr>
        </p:nvSpPr>
        <p:spPr/>
        <p:txBody>
          <a:bodyPr/>
          <a:lstStyle/>
          <a:p>
            <a:r>
              <a:rPr lang="en-US" dirty="0"/>
              <a:t>Setting the stage appropriately can be incredibly powerful. Recall our earlier slides on this. </a:t>
            </a:r>
          </a:p>
        </p:txBody>
      </p:sp>
      <p:sp>
        <p:nvSpPr>
          <p:cNvPr id="4" name="Slide Number Placeholder 3">
            <a:extLst>
              <a:ext uri="{FF2B5EF4-FFF2-40B4-BE49-F238E27FC236}">
                <a16:creationId xmlns:a16="http://schemas.microsoft.com/office/drawing/2014/main" id="{BF5C9932-3C38-B795-57DB-693254E422C1}"/>
              </a:ext>
            </a:extLst>
          </p:cNvPr>
          <p:cNvSpPr>
            <a:spLocks noGrp="1"/>
          </p:cNvSpPr>
          <p:nvPr>
            <p:ph type="sldNum" sz="quarter" idx="5"/>
          </p:nvPr>
        </p:nvSpPr>
        <p:spPr/>
        <p:txBody>
          <a:bodyPr/>
          <a:lstStyle/>
          <a:p>
            <a:fld id="{4AF79E1B-2C51-4B9B-8EA4-26DE9E345AFF}" type="slidenum">
              <a:rPr lang="en-US" smtClean="0"/>
              <a:t>75</a:t>
            </a:fld>
            <a:endParaRPr lang="en-US"/>
          </a:p>
        </p:txBody>
      </p:sp>
    </p:spTree>
    <p:extLst>
      <p:ext uri="{BB962C8B-B14F-4D97-AF65-F5344CB8AC3E}">
        <p14:creationId xmlns:p14="http://schemas.microsoft.com/office/powerpoint/2010/main" val="2880392013"/>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truth about all projects! </a:t>
            </a:r>
          </a:p>
        </p:txBody>
      </p:sp>
      <p:sp>
        <p:nvSpPr>
          <p:cNvPr id="4" name="Slide Number Placeholder 3"/>
          <p:cNvSpPr>
            <a:spLocks noGrp="1"/>
          </p:cNvSpPr>
          <p:nvPr>
            <p:ph type="sldNum" sz="quarter" idx="5"/>
          </p:nvPr>
        </p:nvSpPr>
        <p:spPr/>
        <p:txBody>
          <a:bodyPr/>
          <a:lstStyle/>
          <a:p>
            <a:fld id="{4AF79E1B-2C51-4B9B-8EA4-26DE9E345AFF}" type="slidenum">
              <a:rPr lang="en-US" smtClean="0"/>
              <a:t>76</a:t>
            </a:fld>
            <a:endParaRPr lang="en-US"/>
          </a:p>
        </p:txBody>
      </p:sp>
    </p:spTree>
    <p:extLst>
      <p:ext uri="{BB962C8B-B14F-4D97-AF65-F5344CB8AC3E}">
        <p14:creationId xmlns:p14="http://schemas.microsoft.com/office/powerpoint/2010/main" val="2409574444"/>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(skip this section if needed for time). Your figures and tables are valuable real estate! Treat them as such. </a:t>
            </a:r>
          </a:p>
        </p:txBody>
      </p:sp>
      <p:sp>
        <p:nvSpPr>
          <p:cNvPr id="4" name="Slide Number Placeholder 3"/>
          <p:cNvSpPr>
            <a:spLocks noGrp="1"/>
          </p:cNvSpPr>
          <p:nvPr>
            <p:ph type="sldNum" sz="quarter" idx="5"/>
          </p:nvPr>
        </p:nvSpPr>
        <p:spPr/>
        <p:txBody>
          <a:bodyPr/>
          <a:lstStyle/>
          <a:p>
            <a:fld id="{4AF79E1B-2C51-4B9B-8EA4-26DE9E345AFF}" type="slidenum">
              <a:rPr lang="en-US" smtClean="0"/>
              <a:t>77</a:t>
            </a:fld>
            <a:endParaRPr lang="en-US"/>
          </a:p>
        </p:txBody>
      </p:sp>
    </p:spTree>
    <p:extLst>
      <p:ext uri="{BB962C8B-B14F-4D97-AF65-F5344CB8AC3E}">
        <p14:creationId xmlns:p14="http://schemas.microsoft.com/office/powerpoint/2010/main" val="83689974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this </a:t>
            </a:r>
            <a:r>
              <a:rPr lang="en-US" i="1" dirty="0"/>
              <a:t>quickly </a:t>
            </a:r>
            <a:r>
              <a:rPr lang="en-US" dirty="0"/>
              <a:t>only unless you’re super behind. </a:t>
            </a:r>
          </a:p>
        </p:txBody>
      </p:sp>
      <p:sp>
        <p:nvSpPr>
          <p:cNvPr id="4" name="Slide Number Placeholder 3"/>
          <p:cNvSpPr>
            <a:spLocks noGrp="1"/>
          </p:cNvSpPr>
          <p:nvPr>
            <p:ph type="sldNum" sz="quarter" idx="5"/>
          </p:nvPr>
        </p:nvSpPr>
        <p:spPr/>
        <p:txBody>
          <a:bodyPr/>
          <a:lstStyle/>
          <a:p>
            <a:fld id="{4AF79E1B-2C51-4B9B-8EA4-26DE9E345AFF}" type="slidenum">
              <a:rPr lang="en-US" smtClean="0"/>
              <a:t>78</a:t>
            </a:fld>
            <a:endParaRPr lang="en-US"/>
          </a:p>
        </p:txBody>
      </p:sp>
    </p:spTree>
    <p:extLst>
      <p:ext uri="{BB962C8B-B14F-4D97-AF65-F5344CB8AC3E}">
        <p14:creationId xmlns:p14="http://schemas.microsoft.com/office/powerpoint/2010/main" val="3802442708"/>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79</a:t>
            </a:fld>
            <a:endParaRPr lang="en-US"/>
          </a:p>
        </p:txBody>
      </p:sp>
    </p:spTree>
    <p:extLst>
      <p:ext uri="{BB962C8B-B14F-4D97-AF65-F5344CB8AC3E}">
        <p14:creationId xmlns:p14="http://schemas.microsoft.com/office/powerpoint/2010/main" val="394848079"/>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None/>
            </a:pPr>
            <a:r>
              <a:rPr lang="en-US" b="0" i="0" dirty="0">
                <a:solidFill>
                  <a:srgbClr val="000000"/>
                </a:solidFill>
                <a:effectLst/>
                <a:latin typeface="Fira Sans" panose="020B0503050000020004" pitchFamily="34" charset="0"/>
              </a:rPr>
              <a:t>Clean code saves you and your collaborators time! You will always make a mistake while coding -- what makes good programmers great is their ability to quickly identify and correct mistakes. </a:t>
            </a:r>
          </a:p>
        </p:txBody>
      </p:sp>
      <p:sp>
        <p:nvSpPr>
          <p:cNvPr id="4" name="Slide Number Placeholder 3"/>
          <p:cNvSpPr>
            <a:spLocks noGrp="1"/>
          </p:cNvSpPr>
          <p:nvPr>
            <p:ph type="sldNum" sz="quarter" idx="5"/>
          </p:nvPr>
        </p:nvSpPr>
        <p:spPr/>
        <p:txBody>
          <a:bodyPr/>
          <a:lstStyle/>
          <a:p>
            <a:fld id="{4AF79E1B-2C51-4B9B-8EA4-26DE9E345AFF}" type="slidenum">
              <a:rPr lang="en-US" smtClean="0"/>
              <a:t>80</a:t>
            </a:fld>
            <a:endParaRPr lang="en-US"/>
          </a:p>
        </p:txBody>
      </p:sp>
    </p:spTree>
    <p:extLst>
      <p:ext uri="{BB962C8B-B14F-4D97-AF65-F5344CB8AC3E}">
        <p14:creationId xmlns:p14="http://schemas.microsoft.com/office/powerpoint/2010/main" val="3885348682"/>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None/>
            </a:pPr>
            <a:r>
              <a:rPr lang="en-US" b="0" i="0" dirty="0">
                <a:solidFill>
                  <a:srgbClr val="000000"/>
                </a:solidFill>
                <a:effectLst/>
                <a:latin typeface="Fira Sans" panose="020B0503050000020004" pitchFamily="34" charset="0"/>
              </a:rPr>
              <a:t>Clean code saves you and your collaborators time! You will always make a mistake while coding -- what makes good programmers great is their ability to quickly identify and correct mistakes. </a:t>
            </a:r>
          </a:p>
        </p:txBody>
      </p:sp>
      <p:sp>
        <p:nvSpPr>
          <p:cNvPr id="4" name="Slide Number Placeholder 3"/>
          <p:cNvSpPr>
            <a:spLocks noGrp="1"/>
          </p:cNvSpPr>
          <p:nvPr>
            <p:ph type="sldNum" sz="quarter" idx="5"/>
          </p:nvPr>
        </p:nvSpPr>
        <p:spPr/>
        <p:txBody>
          <a:bodyPr/>
          <a:lstStyle/>
          <a:p>
            <a:fld id="{4AF79E1B-2C51-4B9B-8EA4-26DE9E345AFF}" type="slidenum">
              <a:rPr lang="en-US" smtClean="0"/>
              <a:t>81</a:t>
            </a:fld>
            <a:endParaRPr lang="en-US"/>
          </a:p>
        </p:txBody>
      </p:sp>
    </p:spTree>
    <p:extLst>
      <p:ext uri="{BB962C8B-B14F-4D97-AF65-F5344CB8AC3E}">
        <p14:creationId xmlns:p14="http://schemas.microsoft.com/office/powerpoint/2010/main" val="3718617957"/>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None/>
            </a:pPr>
            <a:r>
              <a:rPr lang="en-US" b="0" i="0" dirty="0">
                <a:solidFill>
                  <a:srgbClr val="000000"/>
                </a:solidFill>
                <a:effectLst/>
                <a:latin typeface="Fira Sans" panose="020B0503050000020004" pitchFamily="34" charset="0"/>
              </a:rPr>
              <a:t>You should have a single script that runs all of your chunks from beginning to end – this is for reproducibility and efficiency (it’s like showing your work)</a:t>
            </a:r>
          </a:p>
        </p:txBody>
      </p:sp>
      <p:sp>
        <p:nvSpPr>
          <p:cNvPr id="4" name="Slide Number Placeholder 3"/>
          <p:cNvSpPr>
            <a:spLocks noGrp="1"/>
          </p:cNvSpPr>
          <p:nvPr>
            <p:ph type="sldNum" sz="quarter" idx="5"/>
          </p:nvPr>
        </p:nvSpPr>
        <p:spPr/>
        <p:txBody>
          <a:bodyPr/>
          <a:lstStyle/>
          <a:p>
            <a:fld id="{4AF79E1B-2C51-4B9B-8EA4-26DE9E345AFF}" type="slidenum">
              <a:rPr lang="en-US" smtClean="0"/>
              <a:t>82</a:t>
            </a:fld>
            <a:endParaRPr lang="en-US"/>
          </a:p>
        </p:txBody>
      </p:sp>
    </p:spTree>
    <p:extLst>
      <p:ext uri="{BB962C8B-B14F-4D97-AF65-F5344CB8AC3E}">
        <p14:creationId xmlns:p14="http://schemas.microsoft.com/office/powerpoint/2010/main" val="468551325"/>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None/>
            </a:pPr>
            <a:r>
              <a:rPr lang="en-US" b="0" i="0" dirty="0">
                <a:solidFill>
                  <a:srgbClr val="000000"/>
                </a:solidFill>
                <a:effectLst/>
                <a:latin typeface="Fira Sans" panose="020B0503050000020004" pitchFamily="34" charset="0"/>
              </a:rPr>
              <a:t>Use collaborative software that tracks versions of your code! easily undo changes, test out new specifications, and more</a:t>
            </a:r>
          </a:p>
        </p:txBody>
      </p:sp>
      <p:sp>
        <p:nvSpPr>
          <p:cNvPr id="4" name="Slide Number Placeholder 3"/>
          <p:cNvSpPr>
            <a:spLocks noGrp="1"/>
          </p:cNvSpPr>
          <p:nvPr>
            <p:ph type="sldNum" sz="quarter" idx="5"/>
          </p:nvPr>
        </p:nvSpPr>
        <p:spPr/>
        <p:txBody>
          <a:bodyPr/>
          <a:lstStyle/>
          <a:p>
            <a:fld id="{4AF79E1B-2C51-4B9B-8EA4-26DE9E345AFF}" type="slidenum">
              <a:rPr lang="en-US" smtClean="0"/>
              <a:t>83</a:t>
            </a:fld>
            <a:endParaRPr lang="en-US"/>
          </a:p>
        </p:txBody>
      </p:sp>
    </p:spTree>
    <p:extLst>
      <p:ext uri="{BB962C8B-B14F-4D97-AF65-F5344CB8AC3E}">
        <p14:creationId xmlns:p14="http://schemas.microsoft.com/office/powerpoint/2010/main" val="2005428005"/>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b="0" i="0" dirty="0">
                <a:solidFill>
                  <a:srgbClr val="000000"/>
                </a:solidFill>
                <a:effectLst/>
                <a:latin typeface="Fira Sans" panose="020B0503050000020004" pitchFamily="34" charset="0"/>
              </a:rPr>
              <a:t>e.g. A dishwasher -- all I need to know is how to put dirty dishes in and which button, not how the electrical wiring works. Define a function once also makes it more reliable if you use it multiple times. You should abstract to eliminate redundancy and improve clarity (but not otherwise – can make code impenetrable!) </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b="0" i="0" dirty="0">
              <a:solidFill>
                <a:srgbClr val="000000"/>
              </a:solidFill>
              <a:effectLst/>
              <a:latin typeface="Fira Sans" panose="020B05030500000200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b="0" i="0" dirty="0">
                <a:solidFill>
                  <a:srgbClr val="000000"/>
                </a:solidFill>
                <a:effectLst/>
                <a:latin typeface="Fira Sans" panose="020B0503050000020004" pitchFamily="34" charset="0"/>
              </a:rPr>
              <a:t>Can you have one file that adjusts all your variables for inflation, or one file that runs regressions on multiple outcomes, etc.?</a:t>
            </a:r>
          </a:p>
          <a:p>
            <a:pPr algn="l">
              <a:buFont typeface="Arial" panose="020B0604020202020204" pitchFamily="34" charset="0"/>
              <a:buNone/>
            </a:pPr>
            <a:endParaRPr lang="en-US" b="0" i="0" dirty="0">
              <a:solidFill>
                <a:srgbClr val="000000"/>
              </a:solidFill>
              <a:effectLst/>
              <a:latin typeface="Fira Sans" panose="020B0503050000020004" pitchFamily="34" charset="0"/>
            </a:endParaRPr>
          </a:p>
        </p:txBody>
      </p:sp>
      <p:sp>
        <p:nvSpPr>
          <p:cNvPr id="4" name="Slide Number Placeholder 3"/>
          <p:cNvSpPr>
            <a:spLocks noGrp="1"/>
          </p:cNvSpPr>
          <p:nvPr>
            <p:ph type="sldNum" sz="quarter" idx="5"/>
          </p:nvPr>
        </p:nvSpPr>
        <p:spPr/>
        <p:txBody>
          <a:bodyPr/>
          <a:lstStyle/>
          <a:p>
            <a:fld id="{4AF79E1B-2C51-4B9B-8EA4-26DE9E345AFF}" type="slidenum">
              <a:rPr lang="en-US" smtClean="0"/>
              <a:t>84</a:t>
            </a:fld>
            <a:endParaRPr lang="en-US"/>
          </a:p>
        </p:txBody>
      </p:sp>
    </p:spTree>
    <p:extLst>
      <p:ext uri="{BB962C8B-B14F-4D97-AF65-F5344CB8AC3E}">
        <p14:creationId xmlns:p14="http://schemas.microsoft.com/office/powerpoint/2010/main" val="2483164280"/>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None/>
            </a:pPr>
            <a:r>
              <a:rPr lang="en-US" b="0" i="0" dirty="0">
                <a:solidFill>
                  <a:srgbClr val="000000"/>
                </a:solidFill>
                <a:effectLst/>
                <a:latin typeface="Fira Sans" panose="020B0503050000020004" pitchFamily="34" charset="0"/>
              </a:rPr>
              <a:t>Use names that people can understand (make code readable). Of course, don’t document if you aren’t going to update the documentation!</a:t>
            </a:r>
          </a:p>
        </p:txBody>
      </p:sp>
      <p:sp>
        <p:nvSpPr>
          <p:cNvPr id="4" name="Slide Number Placeholder 3"/>
          <p:cNvSpPr>
            <a:spLocks noGrp="1"/>
          </p:cNvSpPr>
          <p:nvPr>
            <p:ph type="sldNum" sz="quarter" idx="5"/>
          </p:nvPr>
        </p:nvSpPr>
        <p:spPr/>
        <p:txBody>
          <a:bodyPr/>
          <a:lstStyle/>
          <a:p>
            <a:fld id="{4AF79E1B-2C51-4B9B-8EA4-26DE9E345AFF}" type="slidenum">
              <a:rPr lang="en-US" smtClean="0"/>
              <a:t>85</a:t>
            </a:fld>
            <a:endParaRPr lang="en-US"/>
          </a:p>
        </p:txBody>
      </p:sp>
    </p:spTree>
    <p:extLst>
      <p:ext uri="{BB962C8B-B14F-4D97-AF65-F5344CB8AC3E}">
        <p14:creationId xmlns:p14="http://schemas.microsoft.com/office/powerpoint/2010/main" val="1332826699"/>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None/>
            </a:pPr>
            <a:r>
              <a:rPr lang="en-US" b="0" i="0" dirty="0">
                <a:solidFill>
                  <a:srgbClr val="000000"/>
                </a:solidFill>
                <a:effectLst/>
                <a:latin typeface="Fira Sans" panose="020B0503050000020004" pitchFamily="34" charset="0"/>
              </a:rPr>
              <a:t>Coding is time intensive, and too many breaks or a strained/tired mental state will come back to bite you</a:t>
            </a:r>
          </a:p>
          <a:p>
            <a:pPr algn="l">
              <a:buFont typeface="Arial" panose="020B0604020202020204" pitchFamily="34" charset="0"/>
              <a:buChar char="•"/>
            </a:pPr>
            <a:r>
              <a:rPr lang="en-US" b="0" i="0" dirty="0">
                <a:solidFill>
                  <a:srgbClr val="000000"/>
                </a:solidFill>
                <a:effectLst/>
                <a:latin typeface="Fira Sans" panose="020B0503050000020004" pitchFamily="34" charset="0"/>
              </a:rPr>
              <a:t>Schedule long blocks of time (1.5 hours - 3 hours) to work on coding where you eliminate distractions (email, social media, etc.)</a:t>
            </a:r>
          </a:p>
          <a:p>
            <a:pPr algn="l">
              <a:buFont typeface="Arial" panose="020B0604020202020204" pitchFamily="34" charset="0"/>
              <a:buChar char="•"/>
            </a:pPr>
            <a:r>
              <a:rPr lang="en-US" b="0" i="0" dirty="0">
                <a:solidFill>
                  <a:srgbClr val="000000"/>
                </a:solidFill>
                <a:effectLst/>
                <a:latin typeface="Fira Sans" panose="020B0503050000020004" pitchFamily="34" charset="0"/>
              </a:rPr>
              <a:t>Stop coding when you feel that your focus or energy is dissipating</a:t>
            </a:r>
          </a:p>
        </p:txBody>
      </p:sp>
      <p:sp>
        <p:nvSpPr>
          <p:cNvPr id="4" name="Slide Number Placeholder 3"/>
          <p:cNvSpPr>
            <a:spLocks noGrp="1"/>
          </p:cNvSpPr>
          <p:nvPr>
            <p:ph type="sldNum" sz="quarter" idx="5"/>
          </p:nvPr>
        </p:nvSpPr>
        <p:spPr/>
        <p:txBody>
          <a:bodyPr/>
          <a:lstStyle/>
          <a:p>
            <a:fld id="{4AF79E1B-2C51-4B9B-8EA4-26DE9E345AFF}" type="slidenum">
              <a:rPr lang="en-US" smtClean="0"/>
              <a:t>86</a:t>
            </a:fld>
            <a:endParaRPr lang="en-US"/>
          </a:p>
        </p:txBody>
      </p:sp>
    </p:spTree>
    <p:extLst>
      <p:ext uri="{BB962C8B-B14F-4D97-AF65-F5344CB8AC3E}">
        <p14:creationId xmlns:p14="http://schemas.microsoft.com/office/powerpoint/2010/main" val="3824415135"/>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None/>
            </a:pPr>
            <a:r>
              <a:rPr lang="en-US" b="0" i="0" dirty="0">
                <a:solidFill>
                  <a:srgbClr val="000000"/>
                </a:solidFill>
                <a:effectLst/>
                <a:latin typeface="Fira Sans" panose="020B0503050000020004" pitchFamily="34" charset="0"/>
              </a:rPr>
              <a:t>Trello is a great organizer for tasks. Don’t use email/slack, but rather a shared space just for the project. Another good one is </a:t>
            </a:r>
            <a:r>
              <a:rPr lang="en-US" b="0" i="0" dirty="0" err="1">
                <a:solidFill>
                  <a:srgbClr val="000000"/>
                </a:solidFill>
                <a:effectLst/>
                <a:latin typeface="Fira Sans" panose="020B0503050000020004" pitchFamily="34" charset="0"/>
              </a:rPr>
              <a:t>Github</a:t>
            </a:r>
            <a:r>
              <a:rPr lang="en-US" b="0" i="0" dirty="0">
                <a:solidFill>
                  <a:srgbClr val="000000"/>
                </a:solidFill>
                <a:effectLst/>
                <a:latin typeface="Fira Sans" panose="020B0503050000020004" pitchFamily="34" charset="0"/>
              </a:rPr>
              <a:t> Issues. </a:t>
            </a:r>
          </a:p>
        </p:txBody>
      </p:sp>
      <p:sp>
        <p:nvSpPr>
          <p:cNvPr id="4" name="Slide Number Placeholder 3"/>
          <p:cNvSpPr>
            <a:spLocks noGrp="1"/>
          </p:cNvSpPr>
          <p:nvPr>
            <p:ph type="sldNum" sz="quarter" idx="5"/>
          </p:nvPr>
        </p:nvSpPr>
        <p:spPr/>
        <p:txBody>
          <a:bodyPr/>
          <a:lstStyle/>
          <a:p>
            <a:fld id="{4AF79E1B-2C51-4B9B-8EA4-26DE9E345AFF}" type="slidenum">
              <a:rPr lang="en-US" smtClean="0"/>
              <a:t>87</a:t>
            </a:fld>
            <a:endParaRPr lang="en-US"/>
          </a:p>
        </p:txBody>
      </p:sp>
    </p:spTree>
    <p:extLst>
      <p:ext uri="{BB962C8B-B14F-4D97-AF65-F5344CB8AC3E}">
        <p14:creationId xmlns:p14="http://schemas.microsoft.com/office/powerpoint/2010/main" val="2910647515"/>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Char char="•"/>
            </a:pPr>
            <a:r>
              <a:rPr lang="en-US" b="0" i="0" dirty="0">
                <a:solidFill>
                  <a:srgbClr val="000000"/>
                </a:solidFill>
                <a:effectLst/>
                <a:latin typeface="Fira Sans" panose="020B0503050000020004" pitchFamily="34" charset="0"/>
              </a:rPr>
              <a:t>Test-driven development (TDD) consists of a suite of tools for writing code that can be automatically tested</a:t>
            </a:r>
          </a:p>
          <a:p>
            <a:pPr algn="l">
              <a:buFont typeface="Arial" panose="020B0604020202020204" pitchFamily="34" charset="0"/>
              <a:buChar char="•"/>
            </a:pPr>
            <a:r>
              <a:rPr lang="en-US" b="1" i="0" dirty="0">
                <a:solidFill>
                  <a:srgbClr val="841617"/>
                </a:solidFill>
                <a:effectLst/>
                <a:latin typeface="Fira Sans" panose="020B0503050000020004" pitchFamily="34" charset="0"/>
              </a:rPr>
              <a:t>Unit testing: </a:t>
            </a:r>
            <a:r>
              <a:rPr lang="en-US" b="0" i="0" dirty="0">
                <a:solidFill>
                  <a:srgbClr val="841617"/>
                </a:solidFill>
                <a:effectLst/>
                <a:latin typeface="Fira Sans" panose="020B0503050000020004" pitchFamily="34" charset="0"/>
              </a:rPr>
              <a:t>checking that each piece of code works as you move through the structure. I recommend the </a:t>
            </a:r>
            <a:r>
              <a:rPr lang="en-US" b="0" i="0" dirty="0" err="1">
                <a:solidFill>
                  <a:srgbClr val="841617"/>
                </a:solidFill>
                <a:effectLst/>
                <a:latin typeface="Fira Sans" panose="020B0503050000020004" pitchFamily="34" charset="0"/>
              </a:rPr>
              <a:t>testthat</a:t>
            </a:r>
            <a:r>
              <a:rPr lang="en-US" b="0" i="0" dirty="0">
                <a:solidFill>
                  <a:srgbClr val="841617"/>
                </a:solidFill>
                <a:effectLst/>
                <a:latin typeface="Fira Sans" panose="020B0503050000020004" pitchFamily="34" charset="0"/>
              </a:rPr>
              <a:t> package for this</a:t>
            </a:r>
            <a:endParaRPr lang="en-US" b="1" i="0" dirty="0">
              <a:solidFill>
                <a:srgbClr val="841617"/>
              </a:solidFill>
              <a:effectLst/>
              <a:latin typeface="Fira Sans" panose="020B0503050000020004" pitchFamily="34" charset="0"/>
            </a:endParaRPr>
          </a:p>
          <a:p>
            <a:pPr algn="l">
              <a:buFont typeface="Arial" panose="020B0604020202020204" pitchFamily="34" charset="0"/>
              <a:buChar char="•"/>
            </a:pPr>
            <a:r>
              <a:rPr lang="en-US" b="1" i="0" dirty="0">
                <a:solidFill>
                  <a:srgbClr val="841617"/>
                </a:solidFill>
                <a:effectLst/>
                <a:latin typeface="Fira Sans" panose="020B0503050000020004" pitchFamily="34" charset="0"/>
              </a:rPr>
              <a:t>Profiling: </a:t>
            </a:r>
            <a:r>
              <a:rPr lang="en-US" b="0" i="0" dirty="0">
                <a:solidFill>
                  <a:srgbClr val="841617"/>
                </a:solidFill>
                <a:effectLst/>
                <a:latin typeface="Fira Sans" panose="020B0503050000020004" pitchFamily="34" charset="0"/>
              </a:rPr>
              <a:t>how many resources does it take to run my code? Can I speed things up, make it faster, etc.? </a:t>
            </a:r>
            <a:endParaRPr lang="en-US" b="1" i="0" dirty="0">
              <a:solidFill>
                <a:srgbClr val="841617"/>
              </a:solidFill>
              <a:effectLst/>
              <a:latin typeface="Fira Sans" panose="020B0503050000020004" pitchFamily="34" charset="0"/>
            </a:endParaRPr>
          </a:p>
          <a:p>
            <a:pPr algn="l">
              <a:buFont typeface="Arial" panose="020B0604020202020204" pitchFamily="34" charset="0"/>
              <a:buChar char="•"/>
            </a:pPr>
            <a:r>
              <a:rPr lang="en-US" b="1" i="0" dirty="0">
                <a:solidFill>
                  <a:srgbClr val="841617"/>
                </a:solidFill>
                <a:effectLst/>
                <a:latin typeface="Fira Sans" panose="020B0503050000020004" pitchFamily="34" charset="0"/>
              </a:rPr>
              <a:t>Refactoring: </a:t>
            </a:r>
            <a:r>
              <a:rPr lang="en-US" b="0" i="0" dirty="0">
                <a:solidFill>
                  <a:srgbClr val="841617"/>
                </a:solidFill>
                <a:effectLst/>
                <a:latin typeface="Fira Sans" panose="020B0503050000020004" pitchFamily="34" charset="0"/>
              </a:rPr>
              <a:t>can I make the code more readable / less redundant?</a:t>
            </a:r>
            <a:endParaRPr lang="en-US" b="0" i="0" dirty="0">
              <a:solidFill>
                <a:srgbClr val="000000"/>
              </a:solidFill>
              <a:effectLst/>
              <a:latin typeface="Fira Sans" panose="020B0503050000020004" pitchFamily="34" charset="0"/>
            </a:endParaRPr>
          </a:p>
        </p:txBody>
      </p:sp>
      <p:sp>
        <p:nvSpPr>
          <p:cNvPr id="4" name="Slide Number Placeholder 3"/>
          <p:cNvSpPr>
            <a:spLocks noGrp="1"/>
          </p:cNvSpPr>
          <p:nvPr>
            <p:ph type="sldNum" sz="quarter" idx="5"/>
          </p:nvPr>
        </p:nvSpPr>
        <p:spPr/>
        <p:txBody>
          <a:bodyPr/>
          <a:lstStyle/>
          <a:p>
            <a:fld id="{4AF79E1B-2C51-4B9B-8EA4-26DE9E345AFF}" type="slidenum">
              <a:rPr lang="en-US" smtClean="0"/>
              <a:t>88</a:t>
            </a:fld>
            <a:endParaRPr lang="en-US"/>
          </a:p>
        </p:txBody>
      </p:sp>
    </p:spTree>
    <p:extLst>
      <p:ext uri="{BB962C8B-B14F-4D97-AF65-F5344CB8AC3E}">
        <p14:creationId xmlns:p14="http://schemas.microsoft.com/office/powerpoint/2010/main" val="1206763320"/>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Char char="•"/>
            </a:pPr>
            <a:r>
              <a:rPr lang="en-US" b="0" i="0" dirty="0">
                <a:solidFill>
                  <a:srgbClr val="000000"/>
                </a:solidFill>
                <a:effectLst/>
                <a:latin typeface="Fira Sans" panose="020B0503050000020004" pitchFamily="34" charset="0"/>
              </a:rPr>
              <a:t>Suppose we have a function like this – we want to make sure that the function works for a set of values</a:t>
            </a:r>
          </a:p>
        </p:txBody>
      </p:sp>
      <p:sp>
        <p:nvSpPr>
          <p:cNvPr id="4" name="Slide Number Placeholder 3"/>
          <p:cNvSpPr>
            <a:spLocks noGrp="1"/>
          </p:cNvSpPr>
          <p:nvPr>
            <p:ph type="sldNum" sz="quarter" idx="5"/>
          </p:nvPr>
        </p:nvSpPr>
        <p:spPr/>
        <p:txBody>
          <a:bodyPr/>
          <a:lstStyle/>
          <a:p>
            <a:fld id="{4AF79E1B-2C51-4B9B-8EA4-26DE9E345AFF}" type="slidenum">
              <a:rPr lang="en-US" smtClean="0"/>
              <a:t>89</a:t>
            </a:fld>
            <a:endParaRPr lang="en-US"/>
          </a:p>
        </p:txBody>
      </p:sp>
    </p:spTree>
    <p:extLst>
      <p:ext uri="{BB962C8B-B14F-4D97-AF65-F5344CB8AC3E}">
        <p14:creationId xmlns:p14="http://schemas.microsoft.com/office/powerpoint/2010/main" val="1640463686"/>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Char char="•"/>
            </a:pPr>
            <a:r>
              <a:rPr lang="en-US" b="0" i="0" dirty="0">
                <a:solidFill>
                  <a:srgbClr val="000000"/>
                </a:solidFill>
                <a:effectLst/>
                <a:latin typeface="Fira Sans" panose="020B0503050000020004" pitchFamily="34" charset="0"/>
              </a:rPr>
              <a:t>This package will test that!</a:t>
            </a:r>
          </a:p>
        </p:txBody>
      </p:sp>
      <p:sp>
        <p:nvSpPr>
          <p:cNvPr id="4" name="Slide Number Placeholder 3"/>
          <p:cNvSpPr>
            <a:spLocks noGrp="1"/>
          </p:cNvSpPr>
          <p:nvPr>
            <p:ph type="sldNum" sz="quarter" idx="5"/>
          </p:nvPr>
        </p:nvSpPr>
        <p:spPr/>
        <p:txBody>
          <a:bodyPr/>
          <a:lstStyle/>
          <a:p>
            <a:fld id="{4AF79E1B-2C51-4B9B-8EA4-26DE9E345AFF}" type="slidenum">
              <a:rPr lang="en-US" smtClean="0"/>
              <a:t>90</a:t>
            </a:fld>
            <a:endParaRPr lang="en-US"/>
          </a:p>
        </p:txBody>
      </p:sp>
    </p:spTree>
    <p:extLst>
      <p:ext uri="{BB962C8B-B14F-4D97-AF65-F5344CB8AC3E}">
        <p14:creationId xmlns:p14="http://schemas.microsoft.com/office/powerpoint/2010/main" val="3074393184"/>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buFont typeface="Arial" panose="020B0604020202020204" pitchFamily="34" charset="0"/>
              <a:buNone/>
            </a:pPr>
            <a:r>
              <a:rPr lang="en-US" b="0" i="0" dirty="0">
                <a:solidFill>
                  <a:srgbClr val="000000"/>
                </a:solidFill>
                <a:effectLst/>
                <a:latin typeface="Fira Sans" panose="020B0503050000020004" pitchFamily="34" charset="0"/>
              </a:rPr>
              <a:t>Some people literally mean pair programming as in two people writing code together (one writes, another reviews simultaneously). But at any case, more than one set of eyes should look over all code (it’s definitely a learned skill to read code)</a:t>
            </a:r>
          </a:p>
        </p:txBody>
      </p:sp>
      <p:sp>
        <p:nvSpPr>
          <p:cNvPr id="4" name="Slide Number Placeholder 3"/>
          <p:cNvSpPr>
            <a:spLocks noGrp="1"/>
          </p:cNvSpPr>
          <p:nvPr>
            <p:ph type="sldNum" sz="quarter" idx="5"/>
          </p:nvPr>
        </p:nvSpPr>
        <p:spPr/>
        <p:txBody>
          <a:bodyPr/>
          <a:lstStyle/>
          <a:p>
            <a:fld id="{4AF79E1B-2C51-4B9B-8EA4-26DE9E345AFF}" type="slidenum">
              <a:rPr lang="en-US" smtClean="0"/>
              <a:t>91</a:t>
            </a:fld>
            <a:endParaRPr lang="en-US"/>
          </a:p>
        </p:txBody>
      </p:sp>
    </p:spTree>
    <p:extLst>
      <p:ext uri="{BB962C8B-B14F-4D97-AF65-F5344CB8AC3E}">
        <p14:creationId xmlns:p14="http://schemas.microsoft.com/office/powerpoint/2010/main" val="912357500"/>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999844-50DB-847D-2DF5-5E97E60C82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A2DC7B-F05E-4FE8-2D2D-B8E61EF597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EA082F4-01D8-C733-1756-FAD03EEAB1C6}"/>
              </a:ext>
            </a:extLst>
          </p:cNvPr>
          <p:cNvSpPr>
            <a:spLocks noGrp="1"/>
          </p:cNvSpPr>
          <p:nvPr>
            <p:ph type="body" idx="1"/>
          </p:nvPr>
        </p:nvSpPr>
        <p:spPr/>
        <p:txBody>
          <a:bodyPr/>
          <a:lstStyle/>
          <a:p>
            <a:r>
              <a:rPr lang="en-US" dirty="0"/>
              <a:t>(skip this section if needed for time). </a:t>
            </a:r>
          </a:p>
        </p:txBody>
      </p:sp>
      <p:sp>
        <p:nvSpPr>
          <p:cNvPr id="4" name="Slide Number Placeholder 3">
            <a:extLst>
              <a:ext uri="{FF2B5EF4-FFF2-40B4-BE49-F238E27FC236}">
                <a16:creationId xmlns:a16="http://schemas.microsoft.com/office/drawing/2014/main" id="{08321EED-872A-A674-CEE3-3CD75E576103}"/>
              </a:ext>
            </a:extLst>
          </p:cNvPr>
          <p:cNvSpPr>
            <a:spLocks noGrp="1"/>
          </p:cNvSpPr>
          <p:nvPr>
            <p:ph type="sldNum" sz="quarter" idx="5"/>
          </p:nvPr>
        </p:nvSpPr>
        <p:spPr/>
        <p:txBody>
          <a:bodyPr/>
          <a:lstStyle/>
          <a:p>
            <a:fld id="{4AF79E1B-2C51-4B9B-8EA4-26DE9E345AFF}" type="slidenum">
              <a:rPr lang="en-US" smtClean="0"/>
              <a:t>92</a:t>
            </a:fld>
            <a:endParaRPr lang="en-US"/>
          </a:p>
        </p:txBody>
      </p:sp>
    </p:spTree>
    <p:extLst>
      <p:ext uri="{BB962C8B-B14F-4D97-AF65-F5344CB8AC3E}">
        <p14:creationId xmlns:p14="http://schemas.microsoft.com/office/powerpoint/2010/main" val="1579573052"/>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93</a:t>
            </a:fld>
            <a:endParaRPr lang="en-US"/>
          </a:p>
        </p:txBody>
      </p:sp>
    </p:spTree>
    <p:extLst>
      <p:ext uri="{BB962C8B-B14F-4D97-AF65-F5344CB8AC3E}">
        <p14:creationId xmlns:p14="http://schemas.microsoft.com/office/powerpoint/2010/main" val="298180814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David Card’s lectures https://davidcard.berkeley.edu/lectures/woytinsky.pdf. </a:t>
            </a:r>
          </a:p>
        </p:txBody>
      </p:sp>
      <p:sp>
        <p:nvSpPr>
          <p:cNvPr id="4" name="Slide Number Placeholder 3"/>
          <p:cNvSpPr>
            <a:spLocks noGrp="1"/>
          </p:cNvSpPr>
          <p:nvPr>
            <p:ph type="sldNum" sz="quarter" idx="5"/>
          </p:nvPr>
        </p:nvSpPr>
        <p:spPr/>
        <p:txBody>
          <a:bodyPr/>
          <a:lstStyle/>
          <a:p>
            <a:fld id="{4AF79E1B-2C51-4B9B-8EA4-26DE9E345AFF}" type="slidenum">
              <a:rPr lang="en-US" smtClean="0"/>
              <a:t>94</a:t>
            </a:fld>
            <a:endParaRPr lang="en-US"/>
          </a:p>
        </p:txBody>
      </p:sp>
    </p:spTree>
    <p:extLst>
      <p:ext uri="{BB962C8B-B14F-4D97-AF65-F5344CB8AC3E}">
        <p14:creationId xmlns:p14="http://schemas.microsoft.com/office/powerpoint/2010/main" val="551824792"/>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David Card’s lectures https://davidcard.berkeley.edu/lectures/woytinsky.pdf. </a:t>
            </a:r>
          </a:p>
        </p:txBody>
      </p:sp>
      <p:sp>
        <p:nvSpPr>
          <p:cNvPr id="4" name="Slide Number Placeholder 3"/>
          <p:cNvSpPr>
            <a:spLocks noGrp="1"/>
          </p:cNvSpPr>
          <p:nvPr>
            <p:ph type="sldNum" sz="quarter" idx="5"/>
          </p:nvPr>
        </p:nvSpPr>
        <p:spPr/>
        <p:txBody>
          <a:bodyPr/>
          <a:lstStyle/>
          <a:p>
            <a:fld id="{4AF79E1B-2C51-4B9B-8EA4-26DE9E345AFF}" type="slidenum">
              <a:rPr lang="en-US" smtClean="0"/>
              <a:t>95</a:t>
            </a:fld>
            <a:endParaRPr lang="en-US"/>
          </a:p>
        </p:txBody>
      </p:sp>
    </p:spTree>
    <p:extLst>
      <p:ext uri="{BB962C8B-B14F-4D97-AF65-F5344CB8AC3E}">
        <p14:creationId xmlns:p14="http://schemas.microsoft.com/office/powerpoint/2010/main" val="1178471820"/>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David Card’s lectures https://davidcard.berkeley.edu/lectures/woytinsky.pdf. </a:t>
            </a:r>
          </a:p>
        </p:txBody>
      </p:sp>
      <p:sp>
        <p:nvSpPr>
          <p:cNvPr id="4" name="Slide Number Placeholder 3"/>
          <p:cNvSpPr>
            <a:spLocks noGrp="1"/>
          </p:cNvSpPr>
          <p:nvPr>
            <p:ph type="sldNum" sz="quarter" idx="5"/>
          </p:nvPr>
        </p:nvSpPr>
        <p:spPr/>
        <p:txBody>
          <a:bodyPr/>
          <a:lstStyle/>
          <a:p>
            <a:fld id="{4AF79E1B-2C51-4B9B-8EA4-26DE9E345AFF}" type="slidenum">
              <a:rPr lang="en-US" smtClean="0"/>
              <a:t>96</a:t>
            </a:fld>
            <a:endParaRPr lang="en-US"/>
          </a:p>
        </p:txBody>
      </p:sp>
    </p:spTree>
    <p:extLst>
      <p:ext uri="{BB962C8B-B14F-4D97-AF65-F5344CB8AC3E}">
        <p14:creationId xmlns:p14="http://schemas.microsoft.com/office/powerpoint/2010/main" val="2681681332"/>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a model may require some calculus to solve it, but provides useful insights into relative comparative statics, what the real parameter of interest is (hint: usually a first/second derivative). Can embed these even further into a structural approach (more on this in a separate course, if there is demand?)</a:t>
            </a:r>
          </a:p>
        </p:txBody>
      </p:sp>
      <p:sp>
        <p:nvSpPr>
          <p:cNvPr id="4" name="Slide Number Placeholder 3"/>
          <p:cNvSpPr>
            <a:spLocks noGrp="1"/>
          </p:cNvSpPr>
          <p:nvPr>
            <p:ph type="sldNum" sz="quarter" idx="5"/>
          </p:nvPr>
        </p:nvSpPr>
        <p:spPr/>
        <p:txBody>
          <a:bodyPr/>
          <a:lstStyle/>
          <a:p>
            <a:fld id="{4AF79E1B-2C51-4B9B-8EA4-26DE9E345AFF}" type="slidenum">
              <a:rPr lang="en-US" smtClean="0"/>
              <a:t>97</a:t>
            </a:fld>
            <a:endParaRPr lang="en-US"/>
          </a:p>
        </p:txBody>
      </p:sp>
    </p:spTree>
    <p:extLst>
      <p:ext uri="{BB962C8B-B14F-4D97-AF65-F5344CB8AC3E}">
        <p14:creationId xmlns:p14="http://schemas.microsoft.com/office/powerpoint/2010/main" val="1148368308"/>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David Card’s lectures https://davidcard.berkeley.edu/lectures/woytinsky.pdf. Limited extrapolation/external validity for one. No understanding of underlying behavior either. Example: what’s the effect of a health shock? What is the quasi-exogenous variation we are using? What’s the one-equation model? </a:t>
            </a:r>
          </a:p>
        </p:txBody>
      </p:sp>
      <p:sp>
        <p:nvSpPr>
          <p:cNvPr id="4" name="Slide Number Placeholder 3"/>
          <p:cNvSpPr>
            <a:spLocks noGrp="1"/>
          </p:cNvSpPr>
          <p:nvPr>
            <p:ph type="sldNum" sz="quarter" idx="5"/>
          </p:nvPr>
        </p:nvSpPr>
        <p:spPr/>
        <p:txBody>
          <a:bodyPr/>
          <a:lstStyle/>
          <a:p>
            <a:fld id="{4AF79E1B-2C51-4B9B-8EA4-26DE9E345AFF}" type="slidenum">
              <a:rPr lang="en-US" smtClean="0"/>
              <a:t>98</a:t>
            </a:fld>
            <a:endParaRPr lang="en-US"/>
          </a:p>
        </p:txBody>
      </p:sp>
    </p:spTree>
    <p:extLst>
      <p:ext uri="{BB962C8B-B14F-4D97-AF65-F5344CB8AC3E}">
        <p14:creationId xmlns:p14="http://schemas.microsoft.com/office/powerpoint/2010/main" val="1989243959"/>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David Card’s lectures https://davidcard.berkeley.edu/lectures/woytinsky.pdf. Example: what’s the effect of a health shock? What is the quasi-exogenous variation we are using? What’s the counterfactual? </a:t>
            </a:r>
          </a:p>
        </p:txBody>
      </p:sp>
      <p:sp>
        <p:nvSpPr>
          <p:cNvPr id="4" name="Slide Number Placeholder 3"/>
          <p:cNvSpPr>
            <a:spLocks noGrp="1"/>
          </p:cNvSpPr>
          <p:nvPr>
            <p:ph type="sldNum" sz="quarter" idx="5"/>
          </p:nvPr>
        </p:nvSpPr>
        <p:spPr/>
        <p:txBody>
          <a:bodyPr/>
          <a:lstStyle/>
          <a:p>
            <a:fld id="{4AF79E1B-2C51-4B9B-8EA4-26DE9E345AFF}" type="slidenum">
              <a:rPr lang="en-US" smtClean="0"/>
              <a:t>99</a:t>
            </a:fld>
            <a:endParaRPr lang="en-US"/>
          </a:p>
        </p:txBody>
      </p:sp>
    </p:spTree>
    <p:extLst>
      <p:ext uri="{BB962C8B-B14F-4D97-AF65-F5344CB8AC3E}">
        <p14:creationId xmlns:p14="http://schemas.microsoft.com/office/powerpoint/2010/main" val="1572588499"/>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2E8D20-BF67-1798-143B-C1B0A5B22B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AAAEF9A-5D92-F2C6-6C69-066ADB20637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D0B2F5-44EA-A2E0-EE54-B5581083ACCC}"/>
              </a:ext>
            </a:extLst>
          </p:cNvPr>
          <p:cNvSpPr>
            <a:spLocks noGrp="1"/>
          </p:cNvSpPr>
          <p:nvPr>
            <p:ph type="body" idx="1"/>
          </p:nvPr>
        </p:nvSpPr>
        <p:spPr/>
        <p:txBody>
          <a:bodyPr/>
          <a:lstStyle/>
          <a:p>
            <a:r>
              <a:rPr lang="en-US" dirty="0"/>
              <a:t>(skip this section if needed for time). Your figures and tables are valuable real estate! Treat them as such. </a:t>
            </a:r>
          </a:p>
        </p:txBody>
      </p:sp>
      <p:sp>
        <p:nvSpPr>
          <p:cNvPr id="4" name="Slide Number Placeholder 3">
            <a:extLst>
              <a:ext uri="{FF2B5EF4-FFF2-40B4-BE49-F238E27FC236}">
                <a16:creationId xmlns:a16="http://schemas.microsoft.com/office/drawing/2014/main" id="{ACD3FDC9-9FD8-CF73-A592-23A7F5AE7175}"/>
              </a:ext>
            </a:extLst>
          </p:cNvPr>
          <p:cNvSpPr>
            <a:spLocks noGrp="1"/>
          </p:cNvSpPr>
          <p:nvPr>
            <p:ph type="sldNum" sz="quarter" idx="5"/>
          </p:nvPr>
        </p:nvSpPr>
        <p:spPr/>
        <p:txBody>
          <a:bodyPr/>
          <a:lstStyle/>
          <a:p>
            <a:fld id="{4AF79E1B-2C51-4B9B-8EA4-26DE9E345AFF}" type="slidenum">
              <a:rPr lang="en-US" smtClean="0"/>
              <a:t>100</a:t>
            </a:fld>
            <a:endParaRPr lang="en-US"/>
          </a:p>
        </p:txBody>
      </p:sp>
    </p:spTree>
    <p:extLst>
      <p:ext uri="{BB962C8B-B14F-4D97-AF65-F5344CB8AC3E}">
        <p14:creationId xmlns:p14="http://schemas.microsoft.com/office/powerpoint/2010/main" val="2014053082"/>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a:t>
            </a:r>
            <a:r>
              <a:rPr lang="en-US" b="1" dirty="0"/>
              <a:t>the most important thing </a:t>
            </a:r>
            <a:r>
              <a:rPr lang="en-US" b="0" dirty="0"/>
              <a:t>about a paper – no, really. I think this is why TWFE took off more than anything else – the figures. </a:t>
            </a:r>
            <a:r>
              <a:rPr lang="en-US" dirty="0"/>
              <a:t>Read this article in </a:t>
            </a:r>
            <a:r>
              <a:rPr lang="en-US" dirty="0" err="1"/>
              <a:t>Github</a:t>
            </a:r>
            <a:r>
              <a:rPr lang="en-US" dirty="0"/>
              <a:t> repo. How does the data viz stack up to some of these principles</a:t>
            </a:r>
          </a:p>
        </p:txBody>
      </p:sp>
      <p:sp>
        <p:nvSpPr>
          <p:cNvPr id="4" name="Slide Number Placeholder 3"/>
          <p:cNvSpPr>
            <a:spLocks noGrp="1"/>
          </p:cNvSpPr>
          <p:nvPr>
            <p:ph type="sldNum" sz="quarter" idx="5"/>
          </p:nvPr>
        </p:nvSpPr>
        <p:spPr/>
        <p:txBody>
          <a:bodyPr/>
          <a:lstStyle/>
          <a:p>
            <a:fld id="{4AF79E1B-2C51-4B9B-8EA4-26DE9E345AFF}" type="slidenum">
              <a:rPr lang="en-US" smtClean="0"/>
              <a:t>101</a:t>
            </a:fld>
            <a:endParaRPr lang="en-US"/>
          </a:p>
        </p:txBody>
      </p:sp>
    </p:spTree>
    <p:extLst>
      <p:ext uri="{BB962C8B-B14F-4D97-AF65-F5344CB8AC3E}">
        <p14:creationId xmlns:p14="http://schemas.microsoft.com/office/powerpoint/2010/main" val="4181808659"/>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are some problems with this? This graph is super easy to make in R – but it pays to take the </a:t>
            </a:r>
            <a:r>
              <a:rPr lang="en-US" dirty="0" err="1"/>
              <a:t>tmie</a:t>
            </a:r>
            <a:r>
              <a:rPr lang="en-US" dirty="0"/>
              <a:t> to clean it up. </a:t>
            </a:r>
          </a:p>
        </p:txBody>
      </p:sp>
      <p:sp>
        <p:nvSpPr>
          <p:cNvPr id="4" name="Slide Number Placeholder 3"/>
          <p:cNvSpPr>
            <a:spLocks noGrp="1"/>
          </p:cNvSpPr>
          <p:nvPr>
            <p:ph type="sldNum" sz="quarter" idx="5"/>
          </p:nvPr>
        </p:nvSpPr>
        <p:spPr/>
        <p:txBody>
          <a:bodyPr/>
          <a:lstStyle/>
          <a:p>
            <a:fld id="{4AF79E1B-2C51-4B9B-8EA4-26DE9E345AFF}" type="slidenum">
              <a:rPr lang="en-US" smtClean="0"/>
              <a:t>102</a:t>
            </a:fld>
            <a:endParaRPr lang="en-US"/>
          </a:p>
        </p:txBody>
      </p:sp>
    </p:spTree>
    <p:extLst>
      <p:ext uri="{BB962C8B-B14F-4D97-AF65-F5344CB8AC3E}">
        <p14:creationId xmlns:p14="http://schemas.microsoft.com/office/powerpoint/2010/main" val="2852813994"/>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is this better/ What does it tell us about the paper without reading it? </a:t>
            </a:r>
          </a:p>
        </p:txBody>
      </p:sp>
      <p:sp>
        <p:nvSpPr>
          <p:cNvPr id="4" name="Slide Number Placeholder 3"/>
          <p:cNvSpPr>
            <a:spLocks noGrp="1"/>
          </p:cNvSpPr>
          <p:nvPr>
            <p:ph type="sldNum" sz="quarter" idx="5"/>
          </p:nvPr>
        </p:nvSpPr>
        <p:spPr/>
        <p:txBody>
          <a:bodyPr/>
          <a:lstStyle/>
          <a:p>
            <a:fld id="{4AF79E1B-2C51-4B9B-8EA4-26DE9E345AFF}" type="slidenum">
              <a:rPr lang="en-US" smtClean="0"/>
              <a:t>103</a:t>
            </a:fld>
            <a:endParaRPr lang="en-US"/>
          </a:p>
        </p:txBody>
      </p:sp>
    </p:spTree>
    <p:extLst>
      <p:ext uri="{BB962C8B-B14F-4D97-AF65-F5344CB8AC3E}">
        <p14:creationId xmlns:p14="http://schemas.microsoft.com/office/powerpoint/2010/main" val="1183015076"/>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just doesn’t tell the story we want it to!</a:t>
            </a:r>
          </a:p>
        </p:txBody>
      </p:sp>
      <p:sp>
        <p:nvSpPr>
          <p:cNvPr id="4" name="Slide Number Placeholder 3"/>
          <p:cNvSpPr>
            <a:spLocks noGrp="1"/>
          </p:cNvSpPr>
          <p:nvPr>
            <p:ph type="sldNum" sz="quarter" idx="5"/>
          </p:nvPr>
        </p:nvSpPr>
        <p:spPr/>
        <p:txBody>
          <a:bodyPr/>
          <a:lstStyle/>
          <a:p>
            <a:fld id="{4AF79E1B-2C51-4B9B-8EA4-26DE9E345AFF}" type="slidenum">
              <a:rPr lang="en-US" smtClean="0"/>
              <a:t>104</a:t>
            </a:fld>
            <a:endParaRPr lang="en-US"/>
          </a:p>
        </p:txBody>
      </p:sp>
    </p:spTree>
    <p:extLst>
      <p:ext uri="{BB962C8B-B14F-4D97-AF65-F5344CB8AC3E}">
        <p14:creationId xmlns:p14="http://schemas.microsoft.com/office/powerpoint/2010/main" val="3487485327"/>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what’s the takeaway? </a:t>
            </a:r>
          </a:p>
        </p:txBody>
      </p:sp>
      <p:sp>
        <p:nvSpPr>
          <p:cNvPr id="4" name="Slide Number Placeholder 3"/>
          <p:cNvSpPr>
            <a:spLocks noGrp="1"/>
          </p:cNvSpPr>
          <p:nvPr>
            <p:ph type="sldNum" sz="quarter" idx="5"/>
          </p:nvPr>
        </p:nvSpPr>
        <p:spPr/>
        <p:txBody>
          <a:bodyPr/>
          <a:lstStyle/>
          <a:p>
            <a:fld id="{4AF79E1B-2C51-4B9B-8EA4-26DE9E345AFF}" type="slidenum">
              <a:rPr lang="en-US" smtClean="0"/>
              <a:t>105</a:t>
            </a:fld>
            <a:endParaRPr lang="en-US"/>
          </a:p>
        </p:txBody>
      </p:sp>
    </p:spTree>
    <p:extLst>
      <p:ext uri="{BB962C8B-B14F-4D97-AF65-F5344CB8AC3E}">
        <p14:creationId xmlns:p14="http://schemas.microsoft.com/office/powerpoint/2010/main" val="646126177"/>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there’s time, data storytelling ted talks (probably will have to skip). Start with #1 if time. </a:t>
            </a:r>
          </a:p>
          <a:p>
            <a:r>
              <a:rPr lang="en-US" dirty="0"/>
              <a:t>* Ideas should be simple, and you should focus on one. People think I do this, but really I do this (start at 6minutes)</a:t>
            </a:r>
          </a:p>
        </p:txBody>
      </p:sp>
      <p:sp>
        <p:nvSpPr>
          <p:cNvPr id="4" name="Slide Number Placeholder 3"/>
          <p:cNvSpPr>
            <a:spLocks noGrp="1"/>
          </p:cNvSpPr>
          <p:nvPr>
            <p:ph type="sldNum" sz="quarter" idx="5"/>
          </p:nvPr>
        </p:nvSpPr>
        <p:spPr/>
        <p:txBody>
          <a:bodyPr/>
          <a:lstStyle/>
          <a:p>
            <a:fld id="{4AF79E1B-2C51-4B9B-8EA4-26DE9E345AFF}" type="slidenum">
              <a:rPr lang="en-US" smtClean="0"/>
              <a:t>106</a:t>
            </a:fld>
            <a:endParaRPr lang="en-US"/>
          </a:p>
        </p:txBody>
      </p:sp>
    </p:spTree>
    <p:extLst>
      <p:ext uri="{BB962C8B-B14F-4D97-AF65-F5344CB8AC3E}">
        <p14:creationId xmlns:p14="http://schemas.microsoft.com/office/powerpoint/2010/main" val="3595373388"/>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the outlines! </a:t>
            </a:r>
          </a:p>
        </p:txBody>
      </p:sp>
      <p:sp>
        <p:nvSpPr>
          <p:cNvPr id="4" name="Slide Number Placeholder 3"/>
          <p:cNvSpPr>
            <a:spLocks noGrp="1"/>
          </p:cNvSpPr>
          <p:nvPr>
            <p:ph type="sldNum" sz="quarter" idx="5"/>
          </p:nvPr>
        </p:nvSpPr>
        <p:spPr/>
        <p:txBody>
          <a:bodyPr/>
          <a:lstStyle/>
          <a:p>
            <a:fld id="{4AF79E1B-2C51-4B9B-8EA4-26DE9E345AFF}" type="slidenum">
              <a:rPr lang="en-US" smtClean="0"/>
              <a:t>107</a:t>
            </a:fld>
            <a:endParaRPr lang="en-US"/>
          </a:p>
        </p:txBody>
      </p:sp>
    </p:spTree>
    <p:extLst>
      <p:ext uri="{BB962C8B-B14F-4D97-AF65-F5344CB8AC3E}">
        <p14:creationId xmlns:p14="http://schemas.microsoft.com/office/powerpoint/2010/main" val="3569071865"/>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What’s more, just copy structures of papers you think are good (literally – table 1 does X, etc.) This both makes your writing better and makes it easier for reviewers. </a:t>
            </a:r>
          </a:p>
        </p:txBody>
      </p:sp>
      <p:sp>
        <p:nvSpPr>
          <p:cNvPr id="4" name="Slide Number Placeholder 3"/>
          <p:cNvSpPr>
            <a:spLocks noGrp="1"/>
          </p:cNvSpPr>
          <p:nvPr>
            <p:ph type="sldNum" sz="quarter" idx="5"/>
          </p:nvPr>
        </p:nvSpPr>
        <p:spPr/>
        <p:txBody>
          <a:bodyPr/>
          <a:lstStyle/>
          <a:p>
            <a:fld id="{4AF79E1B-2C51-4B9B-8EA4-26DE9E345AFF}" type="slidenum">
              <a:rPr lang="en-US" smtClean="0"/>
              <a:t>108</a:t>
            </a:fld>
            <a:endParaRPr lang="en-US"/>
          </a:p>
        </p:txBody>
      </p:sp>
    </p:spTree>
    <p:extLst>
      <p:ext uri="{BB962C8B-B14F-4D97-AF65-F5344CB8AC3E}">
        <p14:creationId xmlns:p14="http://schemas.microsoft.com/office/powerpoint/2010/main" val="143577352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2">
            <a:lumMod val="75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261872" y="758952"/>
            <a:ext cx="9418320" cy="4041648"/>
          </a:xfrm>
        </p:spPr>
        <p:txBody>
          <a:bodyPr anchor="b">
            <a:normAutofit/>
          </a:bodyPr>
          <a:lstStyle>
            <a:lvl1pPr algn="l">
              <a:lnSpc>
                <a:spcPct val="85000"/>
              </a:lnSpc>
              <a:defRPr sz="7200" baseline="0">
                <a:solidFill>
                  <a:schemeClr val="tx1"/>
                </a:solidFill>
              </a:defRPr>
            </a:lvl1pPr>
          </a:lstStyle>
          <a:p>
            <a:r>
              <a:rPr lang="en-US"/>
              <a:t>Click to edit Master title style</a:t>
            </a:r>
            <a:endParaRPr lang="en-US" dirty="0"/>
          </a:p>
        </p:txBody>
      </p:sp>
      <p:sp>
        <p:nvSpPr>
          <p:cNvPr id="3" name="Subtitle 2"/>
          <p:cNvSpPr>
            <a:spLocks noGrp="1"/>
          </p:cNvSpPr>
          <p:nvPr>
            <p:ph type="subTitle" idx="1"/>
          </p:nvPr>
        </p:nvSpPr>
        <p:spPr>
          <a:xfrm>
            <a:off x="1261872" y="4800600"/>
            <a:ext cx="9418320" cy="1691640"/>
          </a:xfrm>
        </p:spPr>
        <p:txBody>
          <a:bodyPr>
            <a:normAutofit/>
          </a:bodyPr>
          <a:lstStyle>
            <a:lvl1pPr marL="0" indent="0" algn="l">
              <a:buNone/>
              <a:defRPr sz="2200" baseline="0">
                <a:solidFill>
                  <a:schemeClr val="tx1">
                    <a:lumMod val="75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lumMod val="50000"/>
                  </a:schemeClr>
                </a:solidFill>
              </a:defRPr>
            </a:lvl1pPr>
          </a:lstStyle>
          <a:p>
            <a:fld id="{0972D05C-DCFB-4BB6-B49C-AC126BF3ED2C}" type="datetimeFigureOut">
              <a:rPr lang="en-US" smtClean="0"/>
              <a:pPr/>
              <a:t>10/17/2026</a:t>
            </a:fld>
            <a:endParaRPr lang="en-US"/>
          </a:p>
        </p:txBody>
      </p:sp>
      <p:sp>
        <p:nvSpPr>
          <p:cNvPr id="5" name="Footer Placeholder 4"/>
          <p:cNvSpPr>
            <a:spLocks noGrp="1"/>
          </p:cNvSpPr>
          <p:nvPr>
            <p:ph type="ftr" sz="quarter" idx="11"/>
          </p:nvPr>
        </p:nvSpPr>
        <p:spPr/>
        <p:txBody>
          <a:bodyPr/>
          <a:lstStyle>
            <a:lvl1pPr>
              <a:defRPr>
                <a:solidFill>
                  <a:schemeClr val="tx1">
                    <a:lumMod val="65000"/>
                  </a:schemeClr>
                </a:solidFill>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tx1">
                    <a:lumMod val="65000"/>
                  </a:schemeClr>
                </a:solidFill>
              </a:defRPr>
            </a:lvl1pPr>
          </a:lstStyle>
          <a:p>
            <a:fld id="{D55C3209-28DC-43DB-92C2-2AB8D1DA00B1}" type="slidenum">
              <a:rPr lang="en-US" smtClean="0"/>
              <a:pPr/>
              <a:t>‹#›</a:t>
            </a:fld>
            <a:endParaRPr lang="en-US"/>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CA"/>
          </a:p>
        </p:txBody>
      </p:sp>
    </p:spTree>
    <p:extLst>
      <p:ext uri="{BB962C8B-B14F-4D97-AF65-F5344CB8AC3E}">
        <p14:creationId xmlns:p14="http://schemas.microsoft.com/office/powerpoint/2010/main" val="156941254"/>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10/17/2026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2422212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61872" y="758952"/>
            <a:ext cx="9418320" cy="4041648"/>
          </a:xfrm>
        </p:spPr>
        <p:txBody>
          <a:bodyPr anchor="b">
            <a:normAutofit/>
          </a:bodyPr>
          <a:lstStyle>
            <a:lvl1pPr>
              <a:lnSpc>
                <a:spcPct val="85000"/>
              </a:lnSpc>
              <a:defRPr sz="7200" b="0"/>
            </a:lvl1pPr>
          </a:lstStyle>
          <a:p>
            <a:r>
              <a:rPr lang="en-US"/>
              <a:t>Click to edit Master title style</a:t>
            </a:r>
            <a:endParaRPr lang="en-US" dirty="0"/>
          </a:p>
        </p:txBody>
      </p:sp>
      <p:sp>
        <p:nvSpPr>
          <p:cNvPr id="3" name="Text Placeholder 2"/>
          <p:cNvSpPr>
            <a:spLocks noGrp="1"/>
          </p:cNvSpPr>
          <p:nvPr>
            <p:ph type="body" idx="1"/>
          </p:nvPr>
        </p:nvSpPr>
        <p:spPr>
          <a:xfrm>
            <a:off x="1261872" y="4800600"/>
            <a:ext cx="9418320" cy="1691640"/>
          </a:xfrm>
        </p:spPr>
        <p:txBody>
          <a:bodyPr anchor="t">
            <a:normAutofit/>
          </a:bodyPr>
          <a:lstStyle>
            <a:lvl1pPr marL="0" indent="0">
              <a:buNone/>
              <a:defRPr sz="22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972D05C-DCFB-4BB6-B49C-AC126BF3ED2C}" type="datetimeFigureOut">
              <a:rPr lang="en-US" smtClean="0"/>
              <a:pPr/>
              <a:t>10/17/2026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206479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61872"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26480"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972D05C-DCFB-4BB6-B49C-AC126BF3ED2C}" type="datetimeFigureOut">
              <a:rPr lang="en-US" smtClean="0"/>
              <a:pPr/>
              <a:t>10/17/2026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0468441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261872" y="1713655"/>
            <a:ext cx="4480560" cy="731520"/>
          </a:xfrm>
        </p:spPr>
        <p:txBody>
          <a:bodyPr anchor="b">
            <a:normAutofit/>
          </a:bodyPr>
          <a:lstStyle>
            <a:lvl1pPr marL="0" indent="0">
              <a:spcBef>
                <a:spcPts val="0"/>
              </a:spcBef>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261872"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26480" y="1713655"/>
            <a:ext cx="4480560" cy="731520"/>
          </a:xfrm>
        </p:spPr>
        <p:txBody>
          <a:bodyPr anchor="b">
            <a:normAutofit/>
          </a:bodyPr>
          <a:lstStyle>
            <a:lvl1pPr marL="0" indent="0">
              <a:lnSpc>
                <a:spcPct val="95000"/>
              </a:lnSpc>
              <a:spcBef>
                <a:spcPts val="0"/>
              </a:spcBef>
              <a:buNone/>
              <a:defRPr lang="en-US" sz="2000" b="0" kern="1200" dirty="0">
                <a:solidFill>
                  <a:schemeClr val="tx2"/>
                </a:solidFill>
                <a:latin typeface="Times New Roman" panose="02020603050405020304" pitchFamily="18" charset="0"/>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2000"/>
              </a:spcBef>
              <a:buFontTx/>
              <a:buNone/>
            </a:pPr>
            <a:r>
              <a:rPr lang="en-US" dirty="0"/>
              <a:t>Click to edit Master text styles</a:t>
            </a:r>
          </a:p>
        </p:txBody>
      </p:sp>
      <p:sp>
        <p:nvSpPr>
          <p:cNvPr id="6" name="Content Placeholder 5"/>
          <p:cNvSpPr>
            <a:spLocks noGrp="1"/>
          </p:cNvSpPr>
          <p:nvPr>
            <p:ph sz="quarter" idx="4"/>
          </p:nvPr>
        </p:nvSpPr>
        <p:spPr>
          <a:xfrm>
            <a:off x="6126480"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972D05C-DCFB-4BB6-B49C-AC126BF3ED2C}" type="datetimeFigureOut">
              <a:rPr lang="en-US" smtClean="0"/>
              <a:pPr/>
              <a:t>10/17/2026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15981615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972D05C-DCFB-4BB6-B49C-AC126BF3ED2C}" type="datetimeFigureOut">
              <a:rPr lang="en-US" smtClean="0"/>
              <a:pPr/>
              <a:t>10/17/2026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810167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972D05C-DCFB-4BB6-B49C-AC126BF3ED2C}" type="datetimeFigureOut">
              <a:rPr lang="en-US" smtClean="0"/>
              <a:pPr/>
              <a:t>10/17/2026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645120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1248" y="457200"/>
            <a:ext cx="3200400" cy="1600197"/>
          </a:xfrm>
        </p:spPr>
        <p:txBody>
          <a:bodyPr anchor="b">
            <a:normAutofit/>
          </a:bodyPr>
          <a:lstStyle>
            <a:lvl1pPr>
              <a:defRPr sz="3200" b="0" baseline="0"/>
            </a:lvl1pPr>
          </a:lstStyle>
          <a:p>
            <a:r>
              <a:rPr lang="en-US"/>
              <a:t>Click to edit Master title style</a:t>
            </a:r>
            <a:endParaRPr lang="en-US" dirty="0"/>
          </a:p>
        </p:txBody>
      </p:sp>
      <p:sp>
        <p:nvSpPr>
          <p:cNvPr id="3" name="Content Placeholder 2"/>
          <p:cNvSpPr>
            <a:spLocks noGrp="1"/>
          </p:cNvSpPr>
          <p:nvPr>
            <p:ph idx="1"/>
          </p:nvPr>
        </p:nvSpPr>
        <p:spPr>
          <a:xfrm>
            <a:off x="4504267" y="685800"/>
            <a:ext cx="6079066" cy="548640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41248" y="2099734"/>
            <a:ext cx="3200400" cy="3810001"/>
          </a:xfrm>
        </p:spPr>
        <p:txBody>
          <a:bodyPr>
            <a:normAutofit/>
          </a:bodyPr>
          <a:lstStyle>
            <a:lvl1pPr marL="0" indent="0">
              <a:lnSpc>
                <a:spcPct val="114000"/>
              </a:lnSpc>
              <a:spcBef>
                <a:spcPts val="800"/>
              </a:spcBef>
              <a:buNone/>
              <a:defRPr sz="13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972D05C-DCFB-4BB6-B49C-AC126BF3ED2C}" type="datetimeFigureOut">
              <a:rPr lang="en-US" smtClean="0"/>
              <a:pPr/>
              <a:t>10/17/2026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1628827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5105400"/>
            <a:ext cx="11292840" cy="17526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914400" y="5257800"/>
            <a:ext cx="9982200" cy="914400"/>
          </a:xfrm>
        </p:spPr>
        <p:txBody>
          <a:bodyPr anchor="b">
            <a:normAutofit/>
          </a:bodyPr>
          <a:lstStyle>
            <a:lvl1pPr>
              <a:defRPr sz="2800" b="0">
                <a:solidFill>
                  <a:schemeClr val="bg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0"/>
            <a:ext cx="11292840" cy="5128923"/>
          </a:xfrm>
          <a:solidFill>
            <a:schemeClr val="accent1"/>
          </a:solidFill>
        </p:spPr>
        <p:txBody>
          <a:bodyPr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4400" y="6108589"/>
            <a:ext cx="9982200" cy="597011"/>
          </a:xfrm>
        </p:spPr>
        <p:txBody>
          <a:bodyPr>
            <a:normAutofit/>
          </a:bodyPr>
          <a:lstStyle>
            <a:lvl1pPr marL="0" indent="0">
              <a:lnSpc>
                <a:spcPct val="100000"/>
              </a:lnSpc>
              <a:spcBef>
                <a:spcPts val="800"/>
              </a:spcBef>
              <a:buNone/>
              <a:defRPr sz="1300">
                <a:solidFill>
                  <a:schemeClr val="bg1">
                    <a:lumMod val="8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972D05C-DCFB-4BB6-B49C-AC126BF3ED2C}" type="datetimeFigureOut">
              <a:rPr lang="en-US" smtClean="0"/>
              <a:pPr/>
              <a:t>10/17/2026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96443373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10/17/2026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38107662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48700" y="381000"/>
            <a:ext cx="2476500" cy="589756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62000" y="381000"/>
            <a:ext cx="7734300" cy="589756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10/17/2026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3908046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1292840" y="0"/>
            <a:ext cx="914400" cy="68580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CA"/>
          </a:p>
        </p:txBody>
      </p:sp>
      <p:sp>
        <p:nvSpPr>
          <p:cNvPr id="2" name="Title Placeholder 1"/>
          <p:cNvSpPr>
            <a:spLocks noGrp="1"/>
          </p:cNvSpPr>
          <p:nvPr>
            <p:ph type="title"/>
          </p:nvPr>
        </p:nvSpPr>
        <p:spPr>
          <a:xfrm>
            <a:off x="1261872" y="365760"/>
            <a:ext cx="9692640" cy="1325562"/>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p:cNvSpPr>
            <a:spLocks noGrp="1"/>
          </p:cNvSpPr>
          <p:nvPr>
            <p:ph type="body" idx="1"/>
          </p:nvPr>
        </p:nvSpPr>
        <p:spPr>
          <a:xfrm>
            <a:off x="1261872" y="1828800"/>
            <a:ext cx="8595360" cy="4351337"/>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rot="16200000">
            <a:off x="10797542" y="998537"/>
            <a:ext cx="1904999" cy="365125"/>
          </a:xfrm>
          <a:prstGeom prst="rect">
            <a:avLst/>
          </a:prstGeom>
        </p:spPr>
        <p:txBody>
          <a:bodyPr vert="horz" lIns="91440" tIns="45720" rIns="91440" bIns="45720" rtlCol="0" anchor="ctr"/>
          <a:lstStyle>
            <a:lvl1pPr algn="r">
              <a:defRPr sz="1050" b="0">
                <a:solidFill>
                  <a:schemeClr val="tx2">
                    <a:lumMod val="20000"/>
                    <a:lumOff val="80000"/>
                  </a:schemeClr>
                </a:solidFill>
                <a:latin typeface="Times New Roman" panose="02020603050405020304" pitchFamily="18" charset="0"/>
              </a:defRPr>
            </a:lvl1pPr>
          </a:lstStyle>
          <a:p>
            <a:fld id="{0972D05C-DCFB-4BB6-B49C-AC126BF3ED2C}" type="datetimeFigureOut">
              <a:rPr lang="en-US" smtClean="0"/>
              <a:pPr/>
              <a:t>10/17/2026</a:t>
            </a:fld>
            <a:endParaRPr lang="en-US" dirty="0"/>
          </a:p>
        </p:txBody>
      </p:sp>
      <p:sp>
        <p:nvSpPr>
          <p:cNvPr id="5" name="Footer Placeholder 4"/>
          <p:cNvSpPr>
            <a:spLocks noGrp="1"/>
          </p:cNvSpPr>
          <p:nvPr>
            <p:ph type="ftr" sz="quarter" idx="3"/>
          </p:nvPr>
        </p:nvSpPr>
        <p:spPr>
          <a:xfrm rot="16200000">
            <a:off x="9959341" y="4046537"/>
            <a:ext cx="3581400" cy="365125"/>
          </a:xfrm>
          <a:prstGeom prst="rect">
            <a:avLst/>
          </a:prstGeom>
        </p:spPr>
        <p:txBody>
          <a:bodyPr vert="horz" lIns="91440" tIns="45720" rIns="91440" bIns="45720" rtlCol="0" anchor="ctr"/>
          <a:lstStyle>
            <a:lvl1pPr algn="l">
              <a:defRPr sz="1050">
                <a:solidFill>
                  <a:schemeClr val="tx2">
                    <a:lumMod val="20000"/>
                    <a:lumOff val="80000"/>
                  </a:schemeClr>
                </a:solidFill>
                <a:latin typeface="Times New Roman" panose="02020603050405020304" pitchFamily="18" charset="0"/>
              </a:defRPr>
            </a:lvl1pPr>
          </a:lstStyle>
          <a:p>
            <a:endParaRPr lang="en-US" dirty="0"/>
          </a:p>
        </p:txBody>
      </p:sp>
      <p:sp>
        <p:nvSpPr>
          <p:cNvPr id="6" name="Slide Number Placeholder 5"/>
          <p:cNvSpPr>
            <a:spLocks noGrp="1"/>
          </p:cNvSpPr>
          <p:nvPr>
            <p:ph type="sldNum" sz="quarter" idx="4"/>
          </p:nvPr>
        </p:nvSpPr>
        <p:spPr>
          <a:xfrm>
            <a:off x="11292840" y="6172200"/>
            <a:ext cx="914400" cy="593725"/>
          </a:xfrm>
          <a:prstGeom prst="rect">
            <a:avLst/>
          </a:prstGeom>
        </p:spPr>
        <p:txBody>
          <a:bodyPr vert="horz" lIns="45720" tIns="45720" rIns="45720" bIns="45720" rtlCol="0" anchor="ctr">
            <a:normAutofit/>
          </a:bodyPr>
          <a:lstStyle>
            <a:lvl1pPr algn="ctr">
              <a:defRPr sz="3600">
                <a:solidFill>
                  <a:schemeClr val="tx2">
                    <a:lumMod val="60000"/>
                    <a:lumOff val="40000"/>
                  </a:schemeClr>
                </a:solidFill>
                <a:latin typeface="Times New Roman" panose="02020603050405020304" pitchFamily="18" charset="0"/>
              </a:defRPr>
            </a:lvl1pPr>
          </a:lstStyle>
          <a:p>
            <a:fld id="{D55C3209-28DC-43DB-92C2-2AB8D1DA00B1}" type="slidenum">
              <a:rPr lang="en-US" smtClean="0"/>
              <a:pPr/>
              <a:t>‹#›</a:t>
            </a:fld>
            <a:endParaRPr lang="en-US" dirty="0"/>
          </a:p>
        </p:txBody>
      </p:sp>
    </p:spTree>
    <p:extLst>
      <p:ext uri="{BB962C8B-B14F-4D97-AF65-F5344CB8AC3E}">
        <p14:creationId xmlns:p14="http://schemas.microsoft.com/office/powerpoint/2010/main" val="3753244356"/>
      </p:ext>
    </p:extLst>
  </p:cSld>
  <p:clrMap bg1="lt1" tx1="dk1" bg2="lt2" tx2="dk2" accent1="accent1" accent2="accent2" accent3="accent3" accent4="accent4" accent5="accent5" accent6="accent6" hlink="hlink" folHlink="folHlink"/>
  <p:sldLayoutIdLst>
    <p:sldLayoutId id="2147483739" r:id="rId1"/>
    <p:sldLayoutId id="2147483740" r:id="rId2"/>
    <p:sldLayoutId id="2147483741" r:id="rId3"/>
    <p:sldLayoutId id="2147483742" r:id="rId4"/>
    <p:sldLayoutId id="2147483743" r:id="rId5"/>
    <p:sldLayoutId id="2147483744" r:id="rId6"/>
    <p:sldLayoutId id="2147483745" r:id="rId7"/>
    <p:sldLayoutId id="2147483746" r:id="rId8"/>
    <p:sldLayoutId id="2147483747" r:id="rId9"/>
    <p:sldLayoutId id="2147483748" r:id="rId10"/>
    <p:sldLayoutId id="2147483749" r:id="rId11"/>
  </p:sldLayoutIdLst>
  <p:txStyles>
    <p:title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p:titleStyle>
    <p:body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hyperlink" Target="https://sites.google.com/view/ashleylitwin/home" TargetMode="External"/></Relationships>
</file>

<file path=ppt/slides/_rels/slide9.xml.rels><?xml version="1.0" encoding="UTF-8" standalone="yes"?>
<Relationships xmlns="http://schemas.openxmlformats.org/package/2006/relationships"><Relationship Id="rId3" Type="http://schemas.openxmlformats.org/officeDocument/2006/relationships/hyperlink" Target="https://sites.google.com/view/ashleylitwin/home" TargetMode="External"/><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3" Type="http://schemas.openxmlformats.org/officeDocument/2006/relationships/hyperlink" Target="https://sites.google.com/view/ashleylitwin/home" TargetMode="External"/><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3" Type="http://schemas.openxmlformats.org/officeDocument/2006/relationships/hyperlink" Target="https://sites.google.com/view/ashleylitwin/home"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3" Type="http://schemas.openxmlformats.org/officeDocument/2006/relationships/hyperlink" Target="https://sites.google.com/view/ashleylitwin/home"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3.xml.rels><?xml version="1.0" encoding="UTF-8" standalone="yes"?>
<Relationships xmlns="http://schemas.openxmlformats.org/package/2006/relationships"><Relationship Id="rId3" Type="http://schemas.openxmlformats.org/officeDocument/2006/relationships/hyperlink" Target="https://sites.google.com/view/ashleylitwin/home" TargetMode="External"/><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3" Type="http://schemas.openxmlformats.org/officeDocument/2006/relationships/hyperlink" Target="https://sites.google.com/view/ashleylitwin/home"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3" Type="http://schemas.openxmlformats.org/officeDocument/2006/relationships/hyperlink" Target="https://sites.google.com/view/ashleylitwin/home" TargetMode="External"/><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8" Type="http://schemas.openxmlformats.org/officeDocument/2006/relationships/customXml" Target="../ink/ink2.xml"/><Relationship Id="rId3" Type="http://schemas.openxmlformats.org/officeDocument/2006/relationships/hyperlink" Target="https://sites.google.com/view/ashleylitwin/home" TargetMode="External"/><Relationship Id="rId7" Type="http://schemas.openxmlformats.org/officeDocument/2006/relationships/image" Target="../media/image9.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customXml" Target="../ink/ink1.xml"/><Relationship Id="rId5" Type="http://schemas.openxmlformats.org/officeDocument/2006/relationships/image" Target="../media/image8.png"/><Relationship Id="rId4" Type="http://schemas.openxmlformats.org/officeDocument/2006/relationships/image" Target="../media/image6.png"/><Relationship Id="rId9" Type="http://schemas.openxmlformats.org/officeDocument/2006/relationships/image" Target="../media/image10.png"/></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hyperlink" Target="https://www.aeaweb.org/doi/10.1257/jep.36.3.211" TargetMode="External"/><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notesSlide" Target="../notesSlides/notesSlide33.xml"/><Relationship Id="rId2" Type="http://schemas.openxmlformats.org/officeDocument/2006/relationships/slideLayout" Target="../slideLayouts/slideLayout2.xml"/><Relationship Id="rId1" Type="http://schemas.openxmlformats.org/officeDocument/2006/relationships/video" Target="https://www.youtube.com/embed/nJPERZDfyWc?feature=oembed" TargetMode="External"/><Relationship Id="rId4" Type="http://schemas.openxmlformats.org/officeDocument/2006/relationships/image" Target="../media/image20.jpe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3" Type="http://schemas.openxmlformats.org/officeDocument/2006/relationships/hyperlink" Target="https://www.ipums.org/" TargetMode="External"/><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hyperlink" Target="https://datacentre.chass.utoronto.ca/" TargetMode="External"/><Relationship Id="rId5" Type="http://schemas.openxmlformats.org/officeDocument/2006/relationships/hyperlink" Target="https://odesi.ca/en/results?q=Canadian%20Community%20Health%20Survey%20Annual%20Component&amp;l=ANY&amp;s=rel&amp;c=all&amp;page=1" TargetMode="External"/><Relationship Id="rId4" Type="http://schemas.openxmlformats.org/officeDocument/2006/relationships/hyperlink" Target="https://sebastiantellotrillo.com/resources/primer-where-to-find-data" TargetMode="External"/></Relationships>
</file>

<file path=ppt/slides/_rels/slide54.xml.rels><?xml version="1.0" encoding="UTF-8" standalone="yes"?>
<Relationships xmlns="http://schemas.openxmlformats.org/package/2006/relationships"><Relationship Id="rId3" Type="http://schemas.openxmlformats.org/officeDocument/2006/relationships/hyperlink" Target="https://meps.ipums.org/meps-action/variables/group" TargetMode="External"/><Relationship Id="rId2" Type="http://schemas.openxmlformats.org/officeDocument/2006/relationships/notesSlide" Target="../notesSlides/notesSlide53.xml"/><Relationship Id="rId1" Type="http://schemas.openxmlformats.org/officeDocument/2006/relationships/slideLayout" Target="../slideLayouts/slideLayout2.xml"/><Relationship Id="rId5" Type="http://schemas.openxmlformats.org/officeDocument/2006/relationships/image" Target="../media/image23.png"/><Relationship Id="rId4" Type="http://schemas.openxmlformats.org/officeDocument/2006/relationships/image" Target="../media/image22.png"/></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hyperlink" Target="https://cghlewis.github.io/schoen-data-mgmt-series-public/rslides/data_mgmt_part5.html?panelset11=rename2&amp;panelset12=str2&amp;panelset13=find-duplicates2&amp;panelset14=filter-operators2&amp;panelset15=select-to-keep2&amp;panelset16=str_remove2&amp;panelset17=class-numeric2&amp;panelset18=recode2&amp;panelset19=recode-to-na2&amp;panelset20=add-value-labels2&amp;panelset21=export-csv2#1" TargetMode="External"/><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hyperlink" Target="https://datasciencebox.org/course-materials/_slides/u2-d10-data-types/u2-d10-data-types.html#1" TargetMode="External"/></Relationships>
</file>

<file path=ppt/slides/_rels/slide6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60.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6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68.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70.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69.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3" Type="http://schemas.openxmlformats.org/officeDocument/2006/relationships/hyperlink" Target="https://www.axios.com/signup/vitals" TargetMode="External"/><Relationship Id="rId2" Type="http://schemas.openxmlformats.org/officeDocument/2006/relationships/notesSlide" Target="../notesSlides/notesSlide71.xml"/><Relationship Id="rId1" Type="http://schemas.openxmlformats.org/officeDocument/2006/relationships/slideLayout" Target="../slideLayouts/slideLayout2.xml"/><Relationship Id="rId4" Type="http://schemas.openxmlformats.org/officeDocument/2006/relationships/hyperlink" Target="https://postcall.ca/" TargetMode="Externa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hyperlink" Target="https://web.stanford.edu/~gentzkow/research/CodeAndData.pdf" TargetMode="External"/><Relationship Id="rId2" Type="http://schemas.openxmlformats.org/officeDocument/2006/relationships/notesSlide" Target="../notesSlides/notesSlide79.xml"/><Relationship Id="rId1" Type="http://schemas.openxmlformats.org/officeDocument/2006/relationships/slideLayout" Target="../slideLayouts/slideLayout2.xml"/><Relationship Id="rId4" Type="http://schemas.openxmlformats.org/officeDocument/2006/relationships/hyperlink" Target="https://raw.githack.com/OU-PhD-Econometrics/fall-2022/master/LectureNotes/01a-CleanCode/01aslides.html#2" TargetMode="Externa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86.xml"/><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00.xml"/><Relationship Id="rId1" Type="http://schemas.openxmlformats.org/officeDocument/2006/relationships/slideLayout" Target="../slideLayouts/slideLayout2.xml"/><Relationship Id="rId4" Type="http://schemas.openxmlformats.org/officeDocument/2006/relationships/hyperlink" Target="https://maxkasy.github.io/home/files/teaching/TopicsEconometrics2019/DataVisualization-Slides.pdf" TargetMode="External"/></Relationships>
</file>

<file path=ppt/slides/_rels/slide10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https://www.youtube.com/embed/edAf1jx1wh8?feature=oembed" TargetMode="External"/><Relationship Id="rId1" Type="http://schemas.openxmlformats.org/officeDocument/2006/relationships/video" Target="https://www.youtube.com/embed/6xsvGYIxJok?feature=oembed" TargetMode="External"/><Relationship Id="rId6" Type="http://schemas.openxmlformats.org/officeDocument/2006/relationships/image" Target="../media/image44.jpeg"/><Relationship Id="rId5" Type="http://schemas.openxmlformats.org/officeDocument/2006/relationships/image" Target="../media/image43.jpeg"/><Relationship Id="rId4" Type="http://schemas.openxmlformats.org/officeDocument/2006/relationships/notesSlide" Target="../notesSlides/notesSlide105.xml"/></Relationships>
</file>

<file path=ppt/slides/_rels/slide107.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3" Type="http://schemas.openxmlformats.org/officeDocument/2006/relationships/hyperlink" Target="http://marcfbellemare.com/wordpress/wp-content/uploads/2020/09/BellemareHowToPaperSeptember2020.pdf" TargetMode="External"/><Relationship Id="rId2" Type="http://schemas.openxmlformats.org/officeDocument/2006/relationships/notesSlide" Target="../notesSlides/notesSlide107.xml"/><Relationship Id="rId1" Type="http://schemas.openxmlformats.org/officeDocument/2006/relationships/slideLayout" Target="../slideLayouts/slideLayout2.xml"/><Relationship Id="rId4" Type="http://schemas.openxmlformats.org/officeDocument/2006/relationships/hyperlink" Target="file:///C:\Users\alexh\Dropbox\Teaching\HAD5744\2022_Fall\HAD5744_2022F_Github\Lecture12_TopicsResearchDesign\Mahoney_CombiningDescriptivesModels_EmpiricalResearch.pdf"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53946" y="2209800"/>
            <a:ext cx="10852254" cy="1894362"/>
          </a:xfrm>
        </p:spPr>
        <p:txBody>
          <a:bodyPr>
            <a:normAutofit fontScale="90000"/>
          </a:bodyPr>
          <a:lstStyle/>
          <a:p>
            <a:r>
              <a:rPr lang="en-US" dirty="0"/>
              <a:t>Quantitative Methods for HSR I </a:t>
            </a:r>
          </a:p>
        </p:txBody>
      </p:sp>
      <p:sp>
        <p:nvSpPr>
          <p:cNvPr id="3" name="Subtitle 2"/>
          <p:cNvSpPr>
            <a:spLocks noGrp="1"/>
          </p:cNvSpPr>
          <p:nvPr>
            <p:ph type="subTitle" idx="1"/>
          </p:nvPr>
        </p:nvSpPr>
        <p:spPr>
          <a:xfrm>
            <a:off x="762000" y="4191000"/>
            <a:ext cx="10591800" cy="1981200"/>
          </a:xfrm>
        </p:spPr>
        <p:txBody>
          <a:bodyPr>
            <a:noAutofit/>
          </a:bodyPr>
          <a:lstStyle/>
          <a:p>
            <a:r>
              <a:rPr lang="en-US" sz="2400" dirty="0"/>
              <a:t>Lecture 5: Working with Data and Designing Research Questions </a:t>
            </a:r>
          </a:p>
          <a:p>
            <a:r>
              <a:rPr lang="en-US" sz="2400" dirty="0"/>
              <a:t>October 19, 2026</a:t>
            </a:r>
          </a:p>
          <a:p>
            <a:endParaRPr lang="en-US" sz="2400" dirty="0"/>
          </a:p>
          <a:p>
            <a:r>
              <a:rPr lang="en-US" sz="2400" dirty="0"/>
              <a:t>HAD5744 </a:t>
            </a:r>
            <a:r>
              <a:rPr lang="en-US" sz="2400" dirty="0">
                <a:sym typeface="Symbol" panose="05050102010706020507" pitchFamily="18" charset="2"/>
              </a:rPr>
              <a:t> </a:t>
            </a:r>
            <a:r>
              <a:rPr lang="en-US" sz="2400" dirty="0"/>
              <a:t>Alex Hoagland, Ph.D.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6D475F-4A98-0930-70CD-8F4D389B8EBF}"/>
              </a:ext>
            </a:extLst>
          </p:cNvPr>
          <p:cNvSpPr>
            <a:spLocks noGrp="1"/>
          </p:cNvSpPr>
          <p:nvPr>
            <p:ph type="title"/>
          </p:nvPr>
        </p:nvSpPr>
        <p:spPr/>
        <p:txBody>
          <a:bodyPr/>
          <a:lstStyle/>
          <a:p>
            <a:r>
              <a:rPr lang="en-US" dirty="0"/>
              <a:t>Thoughts from Assignment 1?</a:t>
            </a:r>
          </a:p>
        </p:txBody>
      </p:sp>
      <p:sp>
        <p:nvSpPr>
          <p:cNvPr id="3" name="Content Placeholder 2">
            <a:extLst>
              <a:ext uri="{FF2B5EF4-FFF2-40B4-BE49-F238E27FC236}">
                <a16:creationId xmlns:a16="http://schemas.microsoft.com/office/drawing/2014/main" id="{E37BD0FD-FC41-3559-88FE-B6F2E33D0D39}"/>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6012962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Session Outline</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62001" y="1066801"/>
            <a:ext cx="9862990" cy="5141388"/>
          </a:xfrm>
        </p:spPr>
        <p:txBody>
          <a:bodyPr>
            <a:noAutofit/>
          </a:bodyPr>
          <a:lstStyle/>
          <a:p>
            <a:pPr marL="514350" indent="-514350">
              <a:buAutoNum type="arabicPeriod"/>
            </a:pPr>
            <a:r>
              <a:rPr lang="en-US" sz="2800" dirty="0">
                <a:cs typeface="Times New Roman" panose="02020603050405020304" pitchFamily="18" charset="0"/>
              </a:rPr>
              <a:t>An alternative framing for controls: potential outcomes framework</a:t>
            </a:r>
          </a:p>
          <a:p>
            <a:pPr marL="514350" indent="-514350">
              <a:buFont typeface="Arial" pitchFamily="34" charset="0"/>
              <a:buAutoNum type="arabicPeriod"/>
            </a:pPr>
            <a:r>
              <a:rPr lang="en-US" sz="2800" dirty="0">
                <a:cs typeface="Times New Roman" panose="02020603050405020304" pitchFamily="18" charset="0"/>
              </a:rPr>
              <a:t>Research designs (target trial emulation)</a:t>
            </a:r>
          </a:p>
          <a:p>
            <a:pPr marL="514350" indent="-514350">
              <a:buAutoNum type="arabicPeriod"/>
            </a:pPr>
            <a:r>
              <a:rPr lang="en-US" sz="2800" dirty="0">
                <a:cs typeface="Times New Roman" panose="02020603050405020304" pitchFamily="18" charset="0"/>
              </a:rPr>
              <a:t>Where to find data</a:t>
            </a:r>
          </a:p>
          <a:p>
            <a:pPr marL="514350" indent="-514350">
              <a:buAutoNum type="arabicPeriod"/>
            </a:pPr>
            <a:r>
              <a:rPr lang="en-US" sz="2800" dirty="0">
                <a:cs typeface="Times New Roman" panose="02020603050405020304" pitchFamily="18" charset="0"/>
              </a:rPr>
              <a:t>How to work with data (data cleaning, visualization) </a:t>
            </a:r>
          </a:p>
          <a:p>
            <a:pPr marL="514350" indent="-514350">
              <a:buAutoNum type="arabicPeriod"/>
            </a:pPr>
            <a:r>
              <a:rPr lang="en-US" sz="2800" dirty="0">
                <a:cs typeface="Times New Roman" panose="02020603050405020304" pitchFamily="18" charset="0"/>
              </a:rPr>
              <a:t>If time: thoughts on finding “good” research questions</a:t>
            </a:r>
          </a:p>
        </p:txBody>
      </p:sp>
    </p:spTree>
    <p:extLst>
      <p:ext uri="{BB962C8B-B14F-4D97-AF65-F5344CB8AC3E}">
        <p14:creationId xmlns:p14="http://schemas.microsoft.com/office/powerpoint/2010/main" val="20499196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a:xfrm>
            <a:off x="1261872" y="758952"/>
            <a:ext cx="10549128" cy="4041648"/>
          </a:xfrm>
        </p:spPr>
        <p:txBody>
          <a:bodyPr/>
          <a:lstStyle/>
          <a:p>
            <a:r>
              <a:rPr lang="en-US" dirty="0"/>
              <a:t>Why Research Designs?</a:t>
            </a:r>
          </a:p>
        </p:txBody>
      </p:sp>
      <p:sp>
        <p:nvSpPr>
          <p:cNvPr id="3" name="Subtitle 2">
            <a:extLst>
              <a:ext uri="{FF2B5EF4-FFF2-40B4-BE49-F238E27FC236}">
                <a16:creationId xmlns:a16="http://schemas.microsoft.com/office/drawing/2014/main" id="{9A7FADE3-4D7C-4B3A-B023-71CD85AECCCB}"/>
              </a:ext>
            </a:extLst>
          </p:cNvPr>
          <p:cNvSpPr>
            <a:spLocks noGrp="1"/>
          </p:cNvSpPr>
          <p:nvPr>
            <p:ph type="subTitle" idx="1"/>
          </p:nvPr>
        </p:nvSpPr>
        <p:spPr/>
        <p:txBody>
          <a:bodyPr>
            <a:normAutofit/>
          </a:bodyPr>
          <a:lstStyle/>
          <a:p>
            <a:endParaRPr lang="en-US" sz="4400" dirty="0"/>
          </a:p>
        </p:txBody>
      </p:sp>
    </p:spTree>
    <p:extLst>
      <p:ext uri="{BB962C8B-B14F-4D97-AF65-F5344CB8AC3E}">
        <p14:creationId xmlns:p14="http://schemas.microsoft.com/office/powerpoint/2010/main" val="37806790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AB342C-C71D-8D5E-A461-A678F67E8EF0}"/>
              </a:ext>
            </a:extLst>
          </p:cNvPr>
          <p:cNvSpPr>
            <a:spLocks noGrp="1"/>
          </p:cNvSpPr>
          <p:nvPr>
            <p:ph type="title"/>
          </p:nvPr>
        </p:nvSpPr>
        <p:spPr>
          <a:xfrm>
            <a:off x="609600" y="365760"/>
            <a:ext cx="10344912" cy="777240"/>
          </a:xfrm>
        </p:spPr>
        <p:txBody>
          <a:bodyPr/>
          <a:lstStyle/>
          <a:p>
            <a:r>
              <a:rPr lang="en-US" dirty="0"/>
              <a:t>Why not use DAGs till the cows come home?</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D404DF94-3738-CE59-A7E2-D7FE1E1FC477}"/>
                  </a:ext>
                </a:extLst>
              </p:cNvPr>
              <p:cNvSpPr>
                <a:spLocks noGrp="1"/>
              </p:cNvSpPr>
              <p:nvPr>
                <p:ph idx="1"/>
              </p:nvPr>
            </p:nvSpPr>
            <p:spPr>
              <a:xfrm>
                <a:off x="685800" y="1295400"/>
                <a:ext cx="10134600" cy="4884737"/>
              </a:xfrm>
            </p:spPr>
            <p:txBody>
              <a:bodyPr>
                <a:normAutofit/>
              </a:bodyPr>
              <a:lstStyle/>
              <a:p>
                <a:pPr marL="0" indent="0">
                  <a:buNone/>
                </a:pPr>
                <a:r>
                  <a:rPr lang="en-US" sz="2200" dirty="0">
                    <a:cs typeface="Times New Roman" panose="02020603050405020304" pitchFamily="18" charset="0"/>
                  </a:rPr>
                  <a:t>Suppose we want a </a:t>
                </a:r>
                <a:r>
                  <a:rPr lang="en-US" sz="2200" b="1" dirty="0">
                    <a:cs typeface="Times New Roman" panose="02020603050405020304" pitchFamily="18" charset="0"/>
                  </a:rPr>
                  <a:t>causal </a:t>
                </a:r>
                <a:r>
                  <a:rPr lang="en-US" sz="2200" dirty="0">
                    <a:cs typeface="Times New Roman" panose="02020603050405020304" pitchFamily="18" charset="0"/>
                  </a:rPr>
                  <a:t>treatment effect, with the following </a:t>
                </a:r>
                <a:r>
                  <a:rPr lang="en-US" sz="2200" b="1" dirty="0">
                    <a:cs typeface="Times New Roman" panose="02020603050405020304" pitchFamily="18" charset="0"/>
                  </a:rPr>
                  <a:t>estimating equation</a:t>
                </a:r>
                <a:r>
                  <a:rPr lang="en-US" sz="2200" dirty="0">
                    <a:cs typeface="Times New Roman" panose="02020603050405020304" pitchFamily="18" charset="0"/>
                  </a:rPr>
                  <a:t>: </a:t>
                </a:r>
              </a:p>
              <a:p>
                <a:pPr marL="0" indent="0">
                  <a:buNone/>
                </a:pPr>
                <a:endParaRPr lang="en-US" sz="2200" b="0" i="1" dirty="0">
                  <a:latin typeface="Cambria Math" panose="02040503050406030204" pitchFamily="18" charset="0"/>
                  <a:cs typeface="Aparajita" panose="02020603050405020304" pitchFamily="18" charset="0"/>
                </a:endParaRPr>
              </a:p>
              <a:p>
                <a:pPr marL="0" indent="0">
                  <a:buNone/>
                </a:pPr>
                <a14:m>
                  <m:oMathPara xmlns:m="http://schemas.openxmlformats.org/officeDocument/2006/math">
                    <m:oMath>
                      <m:r>
                        <a:rPr lang="en-US" sz="2200" b="0" i="1" smtClean="0">
                          <a:latin typeface="Cambria Math" panose="02040503050406030204" pitchFamily="18" charset="0"/>
                          <a:cs typeface="Aparajita" panose="02020603050405020304" pitchFamily="18" charset="0"/>
                        </a:rPr>
                        <m:t>𝑦</m:t>
                      </m:r>
                      <m:r>
                        <a:rPr lang="en-US" sz="2200" b="0" i="1" smtClean="0">
                          <a:latin typeface="Cambria Math" panose="02040503050406030204" pitchFamily="18" charset="0"/>
                          <a:cs typeface="Aparajita" panose="02020603050405020304" pitchFamily="18" charset="0"/>
                        </a:rPr>
                        <m:t>=</m:t>
                      </m:r>
                      <m:sSub>
                        <m:sSubPr>
                          <m:ctrlPr>
                            <a:rPr lang="en-US" sz="2200" b="0" i="1" smtClean="0">
                              <a:latin typeface="Cambria Math" panose="02040503050406030204" pitchFamily="18" charset="0"/>
                              <a:cs typeface="Aparajita" panose="02020603050405020304" pitchFamily="18" charset="0"/>
                            </a:rPr>
                          </m:ctrlPr>
                        </m:sSubPr>
                        <m:e>
                          <m:r>
                            <a:rPr lang="en-US" sz="2200" b="0" i="1" smtClean="0">
                              <a:latin typeface="Cambria Math" panose="02040503050406030204" pitchFamily="18" charset="0"/>
                              <a:cs typeface="Aparajita" panose="02020603050405020304" pitchFamily="18" charset="0"/>
                            </a:rPr>
                            <m:t>𝛽</m:t>
                          </m:r>
                        </m:e>
                        <m:sub>
                          <m:r>
                            <a:rPr lang="en-US" sz="2200" b="0" i="1" smtClean="0">
                              <a:latin typeface="Cambria Math" panose="02040503050406030204" pitchFamily="18" charset="0"/>
                              <a:cs typeface="Aparajita" panose="02020603050405020304" pitchFamily="18" charset="0"/>
                            </a:rPr>
                            <m:t>0</m:t>
                          </m:r>
                        </m:sub>
                      </m:sSub>
                      <m:r>
                        <a:rPr lang="en-US" sz="2200" b="0" i="1" smtClean="0">
                          <a:latin typeface="Cambria Math" panose="02040503050406030204" pitchFamily="18" charset="0"/>
                          <a:cs typeface="Aparajita" panose="02020603050405020304" pitchFamily="18" charset="0"/>
                        </a:rPr>
                        <m:t>+</m:t>
                      </m:r>
                      <m:sSub>
                        <m:sSubPr>
                          <m:ctrlPr>
                            <a:rPr lang="en-US" sz="2200" b="0" i="1" smtClean="0">
                              <a:latin typeface="Cambria Math" panose="02040503050406030204" pitchFamily="18" charset="0"/>
                              <a:cs typeface="Aparajita" panose="02020603050405020304" pitchFamily="18" charset="0"/>
                            </a:rPr>
                          </m:ctrlPr>
                        </m:sSubPr>
                        <m:e>
                          <m:r>
                            <a:rPr lang="en-US" sz="2200" b="0" i="1" smtClean="0">
                              <a:latin typeface="Cambria Math" panose="02040503050406030204" pitchFamily="18" charset="0"/>
                              <a:cs typeface="Aparajita" panose="02020603050405020304" pitchFamily="18" charset="0"/>
                            </a:rPr>
                            <m:t>𝛽</m:t>
                          </m:r>
                        </m:e>
                        <m:sub>
                          <m:r>
                            <a:rPr lang="en-US" sz="2200" b="0" i="1" smtClean="0">
                              <a:latin typeface="Cambria Math" panose="02040503050406030204" pitchFamily="18" charset="0"/>
                              <a:cs typeface="Aparajita" panose="02020603050405020304" pitchFamily="18" charset="0"/>
                            </a:rPr>
                            <m:t>1</m:t>
                          </m:r>
                        </m:sub>
                      </m:sSub>
                      <m:r>
                        <a:rPr lang="en-US" sz="2200" b="0" i="1" smtClean="0">
                          <a:latin typeface="Cambria Math" panose="02040503050406030204" pitchFamily="18" charset="0"/>
                          <a:cs typeface="Aparajita" panose="02020603050405020304" pitchFamily="18" charset="0"/>
                        </a:rPr>
                        <m:t>𝑡𝑟𝑒𝑎𝑡𝑒𝑑</m:t>
                      </m:r>
                      <m:r>
                        <a:rPr lang="en-US" sz="2200" b="0" i="1" smtClean="0">
                          <a:latin typeface="Cambria Math" panose="02040503050406030204" pitchFamily="18" charset="0"/>
                          <a:cs typeface="Aparajita" panose="02020603050405020304" pitchFamily="18" charset="0"/>
                        </a:rPr>
                        <m:t>+</m:t>
                      </m:r>
                      <m:r>
                        <a:rPr lang="en-US" sz="2200" b="0" i="1" smtClean="0">
                          <a:latin typeface="Cambria Math" panose="02040503050406030204" pitchFamily="18" charset="0"/>
                          <a:cs typeface="Aparajita" panose="02020603050405020304" pitchFamily="18" charset="0"/>
                        </a:rPr>
                        <m:t>𝛾</m:t>
                      </m:r>
                      <m:r>
                        <a:rPr lang="en-US" sz="2200" b="0" i="1" smtClean="0">
                          <a:latin typeface="Cambria Math" panose="02040503050406030204" pitchFamily="18" charset="0"/>
                          <a:cs typeface="Aparajita" panose="02020603050405020304" pitchFamily="18" charset="0"/>
                        </a:rPr>
                        <m:t>𝑋</m:t>
                      </m:r>
                      <m:r>
                        <a:rPr lang="en-US" sz="2200" b="0" i="1" smtClean="0">
                          <a:latin typeface="Cambria Math" panose="02040503050406030204" pitchFamily="18" charset="0"/>
                          <a:cs typeface="Aparajita" panose="02020603050405020304" pitchFamily="18" charset="0"/>
                        </a:rPr>
                        <m:t>+</m:t>
                      </m:r>
                      <m:r>
                        <a:rPr lang="en-US" sz="2200" b="0" i="1" smtClean="0">
                          <a:latin typeface="Cambria Math" panose="02040503050406030204" pitchFamily="18" charset="0"/>
                          <a:cs typeface="Aparajita" panose="02020603050405020304" pitchFamily="18" charset="0"/>
                        </a:rPr>
                        <m:t>𝜀</m:t>
                      </m:r>
                    </m:oMath>
                  </m:oMathPara>
                </a14:m>
                <a:endParaRPr lang="en-US" sz="2200" dirty="0">
                  <a:cs typeface="Times New Roman" panose="02020603050405020304" pitchFamily="18" charset="0"/>
                </a:endParaRPr>
              </a:p>
              <a:p>
                <a:pPr marL="0" indent="0">
                  <a:buNone/>
                </a:pPr>
                <a:endParaRPr lang="en-US" sz="2200" dirty="0">
                  <a:cs typeface="Times New Roman" panose="02020603050405020304" pitchFamily="18" charset="0"/>
                </a:endParaRPr>
              </a:p>
              <a:p>
                <a:pPr marL="457200" indent="-457200">
                  <a:buFont typeface="+mj-lt"/>
                  <a:buAutoNum type="arabicPeriod"/>
                </a:pPr>
                <a:r>
                  <a:rPr lang="en-US" sz="2200" dirty="0">
                    <a:cs typeface="Times New Roman" panose="02020603050405020304" pitchFamily="18" charset="0"/>
                  </a:rPr>
                  <a:t>What are the controls doing in this regression, intuitively? What do we want them to do? </a:t>
                </a:r>
              </a:p>
              <a:p>
                <a:pPr marL="457200" indent="-457200">
                  <a:buFont typeface="+mj-lt"/>
                  <a:buAutoNum type="arabicPeriod"/>
                </a:pPr>
                <a:r>
                  <a:rPr lang="en-US" sz="2200" dirty="0">
                    <a:cs typeface="Times New Roman" panose="02020603050405020304" pitchFamily="18" charset="0"/>
                  </a:rPr>
                  <a:t>Why may controls fail? </a:t>
                </a:r>
              </a:p>
            </p:txBody>
          </p:sp>
        </mc:Choice>
        <mc:Fallback>
          <p:sp>
            <p:nvSpPr>
              <p:cNvPr id="3" name="Content Placeholder 2">
                <a:extLst>
                  <a:ext uri="{FF2B5EF4-FFF2-40B4-BE49-F238E27FC236}">
                    <a16:creationId xmlns:a16="http://schemas.microsoft.com/office/drawing/2014/main" id="{D404DF94-3738-CE59-A7E2-D7FE1E1FC477}"/>
                  </a:ext>
                </a:extLst>
              </p:cNvPr>
              <p:cNvSpPr>
                <a:spLocks noGrp="1" noRot="1" noChangeAspect="1" noMove="1" noResize="1" noEditPoints="1" noAdjustHandles="1" noChangeArrowheads="1" noChangeShapeType="1" noTextEdit="1"/>
              </p:cNvSpPr>
              <p:nvPr>
                <p:ph idx="1"/>
              </p:nvPr>
            </p:nvSpPr>
            <p:spPr>
              <a:xfrm>
                <a:off x="685800" y="1295400"/>
                <a:ext cx="10134600" cy="4884737"/>
              </a:xfrm>
              <a:blipFill>
                <a:blip r:embed="rId3"/>
                <a:stretch>
                  <a:fillRect l="-782" t="-1124"/>
                </a:stretch>
              </a:blipFill>
            </p:spPr>
            <p:txBody>
              <a:bodyPr/>
              <a:lstStyle/>
              <a:p>
                <a:r>
                  <a:rPr lang="en-US">
                    <a:noFill/>
                  </a:rPr>
                  <a:t> </a:t>
                </a:r>
              </a:p>
            </p:txBody>
          </p:sp>
        </mc:Fallback>
      </mc:AlternateContent>
    </p:spTree>
    <p:extLst>
      <p:ext uri="{BB962C8B-B14F-4D97-AF65-F5344CB8AC3E}">
        <p14:creationId xmlns:p14="http://schemas.microsoft.com/office/powerpoint/2010/main" val="7567749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AB2A62-179A-37CE-C36B-AEF8C323C7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E9F7C3-21E6-A7EB-94D6-318191C12AC7}"/>
              </a:ext>
            </a:extLst>
          </p:cNvPr>
          <p:cNvSpPr>
            <a:spLocks noGrp="1"/>
          </p:cNvSpPr>
          <p:nvPr>
            <p:ph type="title"/>
          </p:nvPr>
        </p:nvSpPr>
        <p:spPr>
          <a:xfrm>
            <a:off x="609600" y="365760"/>
            <a:ext cx="10344912" cy="777240"/>
          </a:xfrm>
        </p:spPr>
        <p:txBody>
          <a:bodyPr/>
          <a:lstStyle/>
          <a:p>
            <a:r>
              <a:rPr lang="en-US" dirty="0"/>
              <a:t>An alternative approach to controls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1DDB6EF1-3665-0D66-FBD7-3AD34CFF2937}"/>
                  </a:ext>
                </a:extLst>
              </p:cNvPr>
              <p:cNvSpPr>
                <a:spLocks noGrp="1"/>
              </p:cNvSpPr>
              <p:nvPr>
                <p:ph idx="1"/>
              </p:nvPr>
            </p:nvSpPr>
            <p:spPr>
              <a:xfrm>
                <a:off x="685800" y="1295400"/>
                <a:ext cx="10134600" cy="4884737"/>
              </a:xfrm>
            </p:spPr>
            <p:txBody>
              <a:bodyPr>
                <a:normAutofit/>
              </a:bodyPr>
              <a:lstStyle/>
              <a:p>
                <a:pPr marL="0" indent="0">
                  <a:buNone/>
                </a:pPr>
                <a:r>
                  <a:rPr lang="en-US" sz="2200" dirty="0">
                    <a:cs typeface="Times New Roman" panose="02020603050405020304" pitchFamily="18" charset="0"/>
                  </a:rPr>
                  <a:t>Another way to think about covariates </a:t>
                </a:r>
                <a14:m>
                  <m:oMath xmlns:m="http://schemas.openxmlformats.org/officeDocument/2006/math">
                    <m:r>
                      <a:rPr lang="en-US" sz="2200" b="0" i="1" smtClean="0">
                        <a:latin typeface="Cambria Math" panose="02040503050406030204" pitchFamily="18" charset="0"/>
                        <a:cs typeface="Times New Roman" panose="02020603050405020304" pitchFamily="18" charset="0"/>
                      </a:rPr>
                      <m:t>𝑋</m:t>
                    </m:r>
                  </m:oMath>
                </a14:m>
                <a:r>
                  <a:rPr lang="en-US" sz="2200" dirty="0">
                    <a:cs typeface="Times New Roman" panose="02020603050405020304" pitchFamily="18" charset="0"/>
                  </a:rPr>
                  <a:t> is that they allow us to compare </a:t>
                </a:r>
                <a:r>
                  <a:rPr lang="en-US" sz="2200" b="1" dirty="0">
                    <a:cs typeface="Times New Roman" panose="02020603050405020304" pitchFamily="18" charset="0"/>
                  </a:rPr>
                  <a:t>within a group. </a:t>
                </a:r>
              </a:p>
              <a:p>
                <a:pPr marL="0" indent="0">
                  <a:buNone/>
                </a:pPr>
                <a:r>
                  <a:rPr lang="en-US" sz="2200" dirty="0">
                    <a:cs typeface="Times New Roman" panose="02020603050405020304" pitchFamily="18" charset="0"/>
                  </a:rPr>
                  <a:t>For example if treatment is assigned differently in urban or rural areas, consider:</a:t>
                </a:r>
              </a:p>
              <a:p>
                <a:pPr marL="0" indent="0">
                  <a:buNone/>
                </a:pPr>
                <a:endParaRPr lang="en-US" sz="2200" b="0" i="1" dirty="0">
                  <a:latin typeface="Cambria Math" panose="02040503050406030204" pitchFamily="18" charset="0"/>
                  <a:cs typeface="Aparajita" panose="02020603050405020304" pitchFamily="18" charset="0"/>
                </a:endParaRPr>
              </a:p>
              <a:p>
                <a:pPr marL="0" indent="0">
                  <a:buNone/>
                </a:pPr>
                <a14:m>
                  <m:oMathPara xmlns:m="http://schemas.openxmlformats.org/officeDocument/2006/math">
                    <m:oMath>
                      <m:r>
                        <a:rPr lang="en-US" sz="2200" b="0" i="1" smtClean="0">
                          <a:latin typeface="Cambria Math" panose="02040503050406030204" pitchFamily="18" charset="0"/>
                          <a:cs typeface="Aparajita" panose="02020603050405020304" pitchFamily="18" charset="0"/>
                        </a:rPr>
                        <m:t>𝑦</m:t>
                      </m:r>
                      <m:r>
                        <a:rPr lang="en-US" sz="2200" b="0" i="1" smtClean="0">
                          <a:latin typeface="Cambria Math" panose="02040503050406030204" pitchFamily="18" charset="0"/>
                          <a:cs typeface="Aparajita" panose="02020603050405020304" pitchFamily="18" charset="0"/>
                        </a:rPr>
                        <m:t>=</m:t>
                      </m:r>
                      <m:sSub>
                        <m:sSubPr>
                          <m:ctrlPr>
                            <a:rPr lang="en-US" sz="2200" b="0" i="1" smtClean="0">
                              <a:latin typeface="Cambria Math" panose="02040503050406030204" pitchFamily="18" charset="0"/>
                              <a:cs typeface="Aparajita" panose="02020603050405020304" pitchFamily="18" charset="0"/>
                            </a:rPr>
                          </m:ctrlPr>
                        </m:sSubPr>
                        <m:e>
                          <m:r>
                            <a:rPr lang="en-US" sz="2200" b="0" i="1" smtClean="0">
                              <a:latin typeface="Cambria Math" panose="02040503050406030204" pitchFamily="18" charset="0"/>
                              <a:cs typeface="Aparajita" panose="02020603050405020304" pitchFamily="18" charset="0"/>
                            </a:rPr>
                            <m:t>𝛽</m:t>
                          </m:r>
                        </m:e>
                        <m:sub>
                          <m:r>
                            <a:rPr lang="en-US" sz="2200" b="0" i="1" smtClean="0">
                              <a:latin typeface="Cambria Math" panose="02040503050406030204" pitchFamily="18" charset="0"/>
                              <a:cs typeface="Aparajita" panose="02020603050405020304" pitchFamily="18" charset="0"/>
                            </a:rPr>
                            <m:t>0</m:t>
                          </m:r>
                        </m:sub>
                      </m:sSub>
                      <m:r>
                        <a:rPr lang="en-US" sz="2200" b="0" i="1" smtClean="0">
                          <a:latin typeface="Cambria Math" panose="02040503050406030204" pitchFamily="18" charset="0"/>
                          <a:cs typeface="Aparajita" panose="02020603050405020304" pitchFamily="18" charset="0"/>
                        </a:rPr>
                        <m:t>+</m:t>
                      </m:r>
                      <m:sSub>
                        <m:sSubPr>
                          <m:ctrlPr>
                            <a:rPr lang="en-US" sz="2200" b="0" i="1" smtClean="0">
                              <a:latin typeface="Cambria Math" panose="02040503050406030204" pitchFamily="18" charset="0"/>
                              <a:cs typeface="Aparajita" panose="02020603050405020304" pitchFamily="18" charset="0"/>
                            </a:rPr>
                          </m:ctrlPr>
                        </m:sSubPr>
                        <m:e>
                          <m:r>
                            <a:rPr lang="en-US" sz="2200" b="0" i="1" smtClean="0">
                              <a:latin typeface="Cambria Math" panose="02040503050406030204" pitchFamily="18" charset="0"/>
                              <a:cs typeface="Aparajita" panose="02020603050405020304" pitchFamily="18" charset="0"/>
                            </a:rPr>
                            <m:t>𝛽</m:t>
                          </m:r>
                        </m:e>
                        <m:sub>
                          <m:r>
                            <a:rPr lang="en-US" sz="2200" b="0" i="1" smtClean="0">
                              <a:latin typeface="Cambria Math" panose="02040503050406030204" pitchFamily="18" charset="0"/>
                              <a:cs typeface="Aparajita" panose="02020603050405020304" pitchFamily="18" charset="0"/>
                            </a:rPr>
                            <m:t>1</m:t>
                          </m:r>
                        </m:sub>
                      </m:sSub>
                      <m:r>
                        <a:rPr lang="en-US" sz="2200" b="0" i="1" smtClean="0">
                          <a:latin typeface="Cambria Math" panose="02040503050406030204" pitchFamily="18" charset="0"/>
                          <a:cs typeface="Aparajita" panose="02020603050405020304" pitchFamily="18" charset="0"/>
                        </a:rPr>
                        <m:t>⋅</m:t>
                      </m:r>
                      <m:r>
                        <a:rPr lang="en-US" sz="2200" b="0" i="1" smtClean="0">
                          <a:latin typeface="Cambria Math" panose="02040503050406030204" pitchFamily="18" charset="0"/>
                          <a:cs typeface="Aparajita" panose="02020603050405020304" pitchFamily="18" charset="0"/>
                        </a:rPr>
                        <m:t>𝑡𝑟𝑒𝑎𝑡𝑒𝑑</m:t>
                      </m:r>
                      <m:r>
                        <a:rPr lang="en-US" sz="2200" b="0" i="1" smtClean="0">
                          <a:latin typeface="Cambria Math" panose="02040503050406030204" pitchFamily="18" charset="0"/>
                          <a:cs typeface="Aparajita" panose="02020603050405020304" pitchFamily="18" charset="0"/>
                        </a:rPr>
                        <m:t>+</m:t>
                      </m:r>
                      <m:sSub>
                        <m:sSubPr>
                          <m:ctrlPr>
                            <a:rPr lang="en-US" sz="2200" b="0" i="1" smtClean="0">
                              <a:latin typeface="Cambria Math" panose="02040503050406030204" pitchFamily="18" charset="0"/>
                              <a:cs typeface="Aparajita" panose="02020603050405020304" pitchFamily="18" charset="0"/>
                            </a:rPr>
                          </m:ctrlPr>
                        </m:sSubPr>
                        <m:e>
                          <m:r>
                            <a:rPr lang="en-US" sz="2200" b="0" i="1" smtClean="0">
                              <a:latin typeface="Cambria Math" panose="02040503050406030204" pitchFamily="18" charset="0"/>
                              <a:cs typeface="Aparajita" panose="02020603050405020304" pitchFamily="18" charset="0"/>
                            </a:rPr>
                            <m:t>𝛽</m:t>
                          </m:r>
                        </m:e>
                        <m:sub>
                          <m:r>
                            <a:rPr lang="en-US" sz="2200" b="0" i="1" smtClean="0">
                              <a:latin typeface="Cambria Math" panose="02040503050406030204" pitchFamily="18" charset="0"/>
                              <a:cs typeface="Aparajita" panose="02020603050405020304" pitchFamily="18" charset="0"/>
                            </a:rPr>
                            <m:t>2</m:t>
                          </m:r>
                        </m:sub>
                      </m:sSub>
                      <m:r>
                        <a:rPr lang="en-US" sz="2200" b="0" i="1" smtClean="0">
                          <a:latin typeface="Cambria Math" panose="02040503050406030204" pitchFamily="18" charset="0"/>
                          <a:cs typeface="Aparajita" panose="02020603050405020304" pitchFamily="18" charset="0"/>
                        </a:rPr>
                        <m:t>⋅</m:t>
                      </m:r>
                      <m:r>
                        <a:rPr lang="en-US" sz="2200" b="0" i="1" smtClean="0">
                          <a:latin typeface="Cambria Math" panose="02040503050406030204" pitchFamily="18" charset="0"/>
                          <a:cs typeface="Aparajita" panose="02020603050405020304" pitchFamily="18" charset="0"/>
                        </a:rPr>
                        <m:t>𝑢𝑟𝑏𝑎𝑛</m:t>
                      </m:r>
                      <m:r>
                        <a:rPr lang="en-US" sz="2200" b="0" i="1" smtClean="0">
                          <a:latin typeface="Cambria Math" panose="02040503050406030204" pitchFamily="18" charset="0"/>
                          <a:cs typeface="Aparajita" panose="02020603050405020304" pitchFamily="18" charset="0"/>
                        </a:rPr>
                        <m:t>+ </m:t>
                      </m:r>
                      <m:r>
                        <a:rPr lang="en-US" sz="2200" b="0" i="1" smtClean="0">
                          <a:latin typeface="Cambria Math" panose="02040503050406030204" pitchFamily="18" charset="0"/>
                          <a:cs typeface="Aparajita" panose="02020603050405020304" pitchFamily="18" charset="0"/>
                        </a:rPr>
                        <m:t>𝛾</m:t>
                      </m:r>
                      <m:r>
                        <a:rPr lang="en-US" sz="2200" b="0" i="1" smtClean="0">
                          <a:latin typeface="Cambria Math" panose="02040503050406030204" pitchFamily="18" charset="0"/>
                          <a:cs typeface="Aparajita" panose="02020603050405020304" pitchFamily="18" charset="0"/>
                        </a:rPr>
                        <m:t>𝑋</m:t>
                      </m:r>
                      <m:r>
                        <a:rPr lang="en-US" sz="2200" b="0" i="1" smtClean="0">
                          <a:latin typeface="Cambria Math" panose="02040503050406030204" pitchFamily="18" charset="0"/>
                          <a:cs typeface="Aparajita" panose="02020603050405020304" pitchFamily="18" charset="0"/>
                        </a:rPr>
                        <m:t>+</m:t>
                      </m:r>
                      <m:r>
                        <a:rPr lang="en-US" sz="2200" b="0" i="1" smtClean="0">
                          <a:latin typeface="Cambria Math" panose="02040503050406030204" pitchFamily="18" charset="0"/>
                          <a:cs typeface="Aparajita" panose="02020603050405020304" pitchFamily="18" charset="0"/>
                        </a:rPr>
                        <m:t>𝜀</m:t>
                      </m:r>
                    </m:oMath>
                  </m:oMathPara>
                </a14:m>
                <a:endParaRPr lang="en-US" sz="2200" dirty="0">
                  <a:cs typeface="Times New Roman" panose="02020603050405020304" pitchFamily="18" charset="0"/>
                </a:endParaRPr>
              </a:p>
              <a:p>
                <a:pPr marL="0" indent="0">
                  <a:buNone/>
                </a:pPr>
                <a:endParaRPr lang="en-US" sz="2200" dirty="0">
                  <a:cs typeface="Times New Roman" panose="02020603050405020304" pitchFamily="18" charset="0"/>
                </a:endParaRPr>
              </a:p>
              <a:p>
                <a:pPr marL="457200" indent="-457200">
                  <a:buFont typeface="+mj-lt"/>
                  <a:buAutoNum type="arabicPeriod"/>
                </a:pPr>
                <a:r>
                  <a:rPr lang="en-US" sz="2200" dirty="0">
                    <a:cs typeface="Times New Roman" panose="02020603050405020304" pitchFamily="18" charset="0"/>
                  </a:rPr>
                  <a:t>Why don’t we also control for rural?</a:t>
                </a:r>
              </a:p>
              <a:p>
                <a:pPr marL="457200" indent="-457200">
                  <a:buFont typeface="+mj-lt"/>
                  <a:buAutoNum type="arabicPeriod"/>
                </a:pPr>
                <a:r>
                  <a:rPr lang="en-US" sz="2200" dirty="0">
                    <a:cs typeface="Times New Roman" panose="02020603050405020304" pitchFamily="18" charset="0"/>
                  </a:rPr>
                  <a:t>Once we control for geography type, the thought experiment is now considering the role of </a:t>
                </a:r>
                <a14:m>
                  <m:oMath xmlns:m="http://schemas.openxmlformats.org/officeDocument/2006/math">
                    <m:r>
                      <a:rPr lang="en-US" sz="2200" b="0" i="1" smtClean="0">
                        <a:latin typeface="Cambria Math" panose="02040503050406030204" pitchFamily="18" charset="0"/>
                        <a:cs typeface="Times New Roman" panose="02020603050405020304" pitchFamily="18" charset="0"/>
                      </a:rPr>
                      <m:t>𝑡𝑟𝑒𝑎𝑡𝑚𝑒𝑛𝑡</m:t>
                    </m:r>
                  </m:oMath>
                </a14:m>
                <a:r>
                  <a:rPr lang="en-US" sz="2200" dirty="0">
                    <a:cs typeface="Times New Roman" panose="02020603050405020304" pitchFamily="18" charset="0"/>
                  </a:rPr>
                  <a:t> </a:t>
                </a:r>
                <a:r>
                  <a:rPr lang="en-US" sz="2200" b="1" dirty="0">
                    <a:cs typeface="Times New Roman" panose="02020603050405020304" pitchFamily="18" charset="0"/>
                  </a:rPr>
                  <a:t>within </a:t>
                </a:r>
                <a:r>
                  <a:rPr lang="en-US" sz="2200" dirty="0">
                    <a:cs typeface="Times New Roman" panose="02020603050405020304" pitchFamily="18" charset="0"/>
                  </a:rPr>
                  <a:t>either group (because it has been </a:t>
                </a:r>
                <a:r>
                  <a:rPr lang="en-US" sz="2200" dirty="0" err="1">
                    <a:cs typeface="Times New Roman" panose="02020603050405020304" pitchFamily="18" charset="0"/>
                  </a:rPr>
                  <a:t>partialed</a:t>
                </a:r>
                <a:r>
                  <a:rPr lang="en-US" sz="2200" dirty="0">
                    <a:cs typeface="Times New Roman" panose="02020603050405020304" pitchFamily="18" charset="0"/>
                  </a:rPr>
                  <a:t> out)</a:t>
                </a:r>
              </a:p>
            </p:txBody>
          </p:sp>
        </mc:Choice>
        <mc:Fallback>
          <p:sp>
            <p:nvSpPr>
              <p:cNvPr id="3" name="Content Placeholder 2">
                <a:extLst>
                  <a:ext uri="{FF2B5EF4-FFF2-40B4-BE49-F238E27FC236}">
                    <a16:creationId xmlns:a16="http://schemas.microsoft.com/office/drawing/2014/main" id="{1DDB6EF1-3665-0D66-FBD7-3AD34CFF2937}"/>
                  </a:ext>
                </a:extLst>
              </p:cNvPr>
              <p:cNvSpPr>
                <a:spLocks noGrp="1" noRot="1" noChangeAspect="1" noMove="1" noResize="1" noEditPoints="1" noAdjustHandles="1" noChangeArrowheads="1" noChangeShapeType="1" noTextEdit="1"/>
              </p:cNvSpPr>
              <p:nvPr>
                <p:ph idx="1"/>
              </p:nvPr>
            </p:nvSpPr>
            <p:spPr>
              <a:xfrm>
                <a:off x="685800" y="1295400"/>
                <a:ext cx="10134600" cy="4884737"/>
              </a:xfrm>
              <a:blipFill>
                <a:blip r:embed="rId3"/>
                <a:stretch>
                  <a:fillRect l="-782" t="-1124" r="-1203"/>
                </a:stretch>
              </a:blipFill>
            </p:spPr>
            <p:txBody>
              <a:bodyPr/>
              <a:lstStyle/>
              <a:p>
                <a:r>
                  <a:rPr lang="en-US">
                    <a:noFill/>
                  </a:rPr>
                  <a:t> </a:t>
                </a:r>
              </a:p>
            </p:txBody>
          </p:sp>
        </mc:Fallback>
      </mc:AlternateContent>
    </p:spTree>
    <p:extLst>
      <p:ext uri="{BB962C8B-B14F-4D97-AF65-F5344CB8AC3E}">
        <p14:creationId xmlns:p14="http://schemas.microsoft.com/office/powerpoint/2010/main" val="229969057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EC43EF-BE65-3777-946E-516FF88077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3BCCA8-E15C-4987-779C-10903DD89643}"/>
              </a:ext>
            </a:extLst>
          </p:cNvPr>
          <p:cNvSpPr>
            <a:spLocks noGrp="1"/>
          </p:cNvSpPr>
          <p:nvPr>
            <p:ph type="title"/>
          </p:nvPr>
        </p:nvSpPr>
        <p:spPr>
          <a:xfrm>
            <a:off x="609600" y="365760"/>
            <a:ext cx="10344912" cy="777240"/>
          </a:xfrm>
        </p:spPr>
        <p:txBody>
          <a:bodyPr/>
          <a:lstStyle/>
          <a:p>
            <a:r>
              <a:rPr lang="en-US" dirty="0"/>
              <a:t>An alternative approach to controls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76BDF48B-EA93-0B37-1C47-A6A1B904A797}"/>
                  </a:ext>
                </a:extLst>
              </p:cNvPr>
              <p:cNvSpPr>
                <a:spLocks noGrp="1"/>
              </p:cNvSpPr>
              <p:nvPr>
                <p:ph idx="1"/>
              </p:nvPr>
            </p:nvSpPr>
            <p:spPr>
              <a:xfrm>
                <a:off x="685800" y="1295400"/>
                <a:ext cx="10134600" cy="4884737"/>
              </a:xfrm>
            </p:spPr>
            <p:txBody>
              <a:bodyPr>
                <a:normAutofit/>
              </a:bodyPr>
              <a:lstStyle/>
              <a:p>
                <a:pPr marL="0" indent="0">
                  <a:buNone/>
                </a:pPr>
                <a:r>
                  <a:rPr lang="en-US" sz="2200" dirty="0">
                    <a:cs typeface="Times New Roman" panose="02020603050405020304" pitchFamily="18" charset="0"/>
                  </a:rPr>
                  <a:t>Another way to think about covariates </a:t>
                </a:r>
                <a14:m>
                  <m:oMath xmlns:m="http://schemas.openxmlformats.org/officeDocument/2006/math">
                    <m:r>
                      <a:rPr lang="en-US" sz="2200" b="0" i="1" smtClean="0">
                        <a:latin typeface="Cambria Math" panose="02040503050406030204" pitchFamily="18" charset="0"/>
                        <a:cs typeface="Times New Roman" panose="02020603050405020304" pitchFamily="18" charset="0"/>
                      </a:rPr>
                      <m:t>𝑋</m:t>
                    </m:r>
                  </m:oMath>
                </a14:m>
                <a:r>
                  <a:rPr lang="en-US" sz="2200" dirty="0">
                    <a:cs typeface="Times New Roman" panose="02020603050405020304" pitchFamily="18" charset="0"/>
                  </a:rPr>
                  <a:t> is that they allow us to compare </a:t>
                </a:r>
                <a:r>
                  <a:rPr lang="en-US" sz="2200" b="1" dirty="0">
                    <a:cs typeface="Times New Roman" panose="02020603050405020304" pitchFamily="18" charset="0"/>
                  </a:rPr>
                  <a:t>within a group. </a:t>
                </a:r>
              </a:p>
              <a:p>
                <a:pPr marL="0" indent="0">
                  <a:buNone/>
                </a:pPr>
                <a:r>
                  <a:rPr lang="en-US" sz="2200" dirty="0">
                    <a:cs typeface="Times New Roman" panose="02020603050405020304" pitchFamily="18" charset="0"/>
                  </a:rPr>
                  <a:t>For example if treatment is assigned differently in urban or rural areas, consider:</a:t>
                </a:r>
              </a:p>
              <a:p>
                <a:pPr marL="0" indent="0">
                  <a:buNone/>
                </a:pPr>
                <a:endParaRPr lang="en-US" sz="2200" b="0" i="1" dirty="0">
                  <a:latin typeface="Cambria Math" panose="02040503050406030204" pitchFamily="18" charset="0"/>
                  <a:cs typeface="Aparajita" panose="02020603050405020304" pitchFamily="18" charset="0"/>
                </a:endParaRPr>
              </a:p>
              <a:p>
                <a:pPr marL="0" indent="0">
                  <a:buNone/>
                </a:pPr>
                <a14:m>
                  <m:oMathPara xmlns:m="http://schemas.openxmlformats.org/officeDocument/2006/math">
                    <m:oMath>
                      <m:r>
                        <a:rPr lang="en-US" sz="2200" b="0" i="1" smtClean="0">
                          <a:latin typeface="Cambria Math" panose="02040503050406030204" pitchFamily="18" charset="0"/>
                          <a:cs typeface="Aparajita" panose="02020603050405020304" pitchFamily="18" charset="0"/>
                        </a:rPr>
                        <m:t>𝑦</m:t>
                      </m:r>
                      <m:r>
                        <a:rPr lang="en-US" sz="2200" b="0" i="1" smtClean="0">
                          <a:latin typeface="Cambria Math" panose="02040503050406030204" pitchFamily="18" charset="0"/>
                          <a:cs typeface="Aparajita" panose="02020603050405020304" pitchFamily="18" charset="0"/>
                        </a:rPr>
                        <m:t>=</m:t>
                      </m:r>
                      <m:sSub>
                        <m:sSubPr>
                          <m:ctrlPr>
                            <a:rPr lang="en-US" sz="2200" b="0" i="1" smtClean="0">
                              <a:latin typeface="Cambria Math" panose="02040503050406030204" pitchFamily="18" charset="0"/>
                              <a:cs typeface="Aparajita" panose="02020603050405020304" pitchFamily="18" charset="0"/>
                            </a:rPr>
                          </m:ctrlPr>
                        </m:sSubPr>
                        <m:e>
                          <m:r>
                            <a:rPr lang="en-US" sz="2200" b="0" i="1" smtClean="0">
                              <a:latin typeface="Cambria Math" panose="02040503050406030204" pitchFamily="18" charset="0"/>
                              <a:cs typeface="Aparajita" panose="02020603050405020304" pitchFamily="18" charset="0"/>
                            </a:rPr>
                            <m:t>𝛽</m:t>
                          </m:r>
                        </m:e>
                        <m:sub>
                          <m:r>
                            <a:rPr lang="en-US" sz="2200" b="0" i="1" smtClean="0">
                              <a:latin typeface="Cambria Math" panose="02040503050406030204" pitchFamily="18" charset="0"/>
                              <a:cs typeface="Aparajita" panose="02020603050405020304" pitchFamily="18" charset="0"/>
                            </a:rPr>
                            <m:t>0</m:t>
                          </m:r>
                        </m:sub>
                      </m:sSub>
                      <m:r>
                        <a:rPr lang="en-US" sz="2200" b="0" i="1" smtClean="0">
                          <a:latin typeface="Cambria Math" panose="02040503050406030204" pitchFamily="18" charset="0"/>
                          <a:cs typeface="Aparajita" panose="02020603050405020304" pitchFamily="18" charset="0"/>
                        </a:rPr>
                        <m:t>+</m:t>
                      </m:r>
                      <m:sSub>
                        <m:sSubPr>
                          <m:ctrlPr>
                            <a:rPr lang="en-US" sz="2200" b="0" i="1" smtClean="0">
                              <a:latin typeface="Cambria Math" panose="02040503050406030204" pitchFamily="18" charset="0"/>
                              <a:cs typeface="Aparajita" panose="02020603050405020304" pitchFamily="18" charset="0"/>
                            </a:rPr>
                          </m:ctrlPr>
                        </m:sSubPr>
                        <m:e>
                          <m:r>
                            <a:rPr lang="en-US" sz="2200" b="0" i="1" smtClean="0">
                              <a:latin typeface="Cambria Math" panose="02040503050406030204" pitchFamily="18" charset="0"/>
                              <a:cs typeface="Aparajita" panose="02020603050405020304" pitchFamily="18" charset="0"/>
                            </a:rPr>
                            <m:t>𝛽</m:t>
                          </m:r>
                        </m:e>
                        <m:sub>
                          <m:r>
                            <a:rPr lang="en-US" sz="2200" b="0" i="1" smtClean="0">
                              <a:latin typeface="Cambria Math" panose="02040503050406030204" pitchFamily="18" charset="0"/>
                              <a:cs typeface="Aparajita" panose="02020603050405020304" pitchFamily="18" charset="0"/>
                            </a:rPr>
                            <m:t>1</m:t>
                          </m:r>
                        </m:sub>
                      </m:sSub>
                      <m:r>
                        <a:rPr lang="en-US" sz="2200" b="0" i="1" smtClean="0">
                          <a:latin typeface="Cambria Math" panose="02040503050406030204" pitchFamily="18" charset="0"/>
                          <a:cs typeface="Aparajita" panose="02020603050405020304" pitchFamily="18" charset="0"/>
                        </a:rPr>
                        <m:t>⋅</m:t>
                      </m:r>
                      <m:r>
                        <a:rPr lang="en-US" sz="2200" b="0" i="1" smtClean="0">
                          <a:latin typeface="Cambria Math" panose="02040503050406030204" pitchFamily="18" charset="0"/>
                          <a:cs typeface="Aparajita" panose="02020603050405020304" pitchFamily="18" charset="0"/>
                        </a:rPr>
                        <m:t>𝑡𝑟𝑒𝑎𝑡𝑒𝑑</m:t>
                      </m:r>
                      <m:r>
                        <a:rPr lang="en-US" sz="2200" b="0" i="1" smtClean="0">
                          <a:latin typeface="Cambria Math" panose="02040503050406030204" pitchFamily="18" charset="0"/>
                          <a:cs typeface="Aparajita" panose="02020603050405020304" pitchFamily="18" charset="0"/>
                        </a:rPr>
                        <m:t>+</m:t>
                      </m:r>
                      <m:sSub>
                        <m:sSubPr>
                          <m:ctrlPr>
                            <a:rPr lang="en-US" sz="2200" b="0" i="1" smtClean="0">
                              <a:latin typeface="Cambria Math" panose="02040503050406030204" pitchFamily="18" charset="0"/>
                              <a:cs typeface="Aparajita" panose="02020603050405020304" pitchFamily="18" charset="0"/>
                            </a:rPr>
                          </m:ctrlPr>
                        </m:sSubPr>
                        <m:e>
                          <m:r>
                            <a:rPr lang="en-US" sz="2200" b="0" i="1" smtClean="0">
                              <a:latin typeface="Cambria Math" panose="02040503050406030204" pitchFamily="18" charset="0"/>
                              <a:cs typeface="Aparajita" panose="02020603050405020304" pitchFamily="18" charset="0"/>
                            </a:rPr>
                            <m:t>𝛽</m:t>
                          </m:r>
                        </m:e>
                        <m:sub>
                          <m:r>
                            <a:rPr lang="en-US" sz="2200" b="0" i="1" smtClean="0">
                              <a:latin typeface="Cambria Math" panose="02040503050406030204" pitchFamily="18" charset="0"/>
                              <a:cs typeface="Aparajita" panose="02020603050405020304" pitchFamily="18" charset="0"/>
                            </a:rPr>
                            <m:t>2</m:t>
                          </m:r>
                        </m:sub>
                      </m:sSub>
                      <m:r>
                        <a:rPr lang="en-US" sz="2200" b="0" i="1" smtClean="0">
                          <a:latin typeface="Cambria Math" panose="02040503050406030204" pitchFamily="18" charset="0"/>
                          <a:cs typeface="Aparajita" panose="02020603050405020304" pitchFamily="18" charset="0"/>
                        </a:rPr>
                        <m:t>⋅</m:t>
                      </m:r>
                      <m:r>
                        <a:rPr lang="en-US" sz="2200" b="0" i="1" smtClean="0">
                          <a:latin typeface="Cambria Math" panose="02040503050406030204" pitchFamily="18" charset="0"/>
                          <a:cs typeface="Aparajita" panose="02020603050405020304" pitchFamily="18" charset="0"/>
                        </a:rPr>
                        <m:t>𝑢𝑟𝑏𝑎𝑛</m:t>
                      </m:r>
                      <m:r>
                        <a:rPr lang="en-US" sz="2200" b="0" i="1" smtClean="0">
                          <a:latin typeface="Cambria Math" panose="02040503050406030204" pitchFamily="18" charset="0"/>
                          <a:cs typeface="Aparajita" panose="02020603050405020304" pitchFamily="18" charset="0"/>
                        </a:rPr>
                        <m:t>+ </m:t>
                      </m:r>
                      <m:r>
                        <a:rPr lang="en-US" sz="2200" b="0" i="1" smtClean="0">
                          <a:latin typeface="Cambria Math" panose="02040503050406030204" pitchFamily="18" charset="0"/>
                          <a:cs typeface="Aparajita" panose="02020603050405020304" pitchFamily="18" charset="0"/>
                        </a:rPr>
                        <m:t>𝛾</m:t>
                      </m:r>
                      <m:r>
                        <a:rPr lang="en-US" sz="2200" b="0" i="1" smtClean="0">
                          <a:latin typeface="Cambria Math" panose="02040503050406030204" pitchFamily="18" charset="0"/>
                          <a:cs typeface="Aparajita" panose="02020603050405020304" pitchFamily="18" charset="0"/>
                        </a:rPr>
                        <m:t>𝑋</m:t>
                      </m:r>
                      <m:r>
                        <a:rPr lang="en-US" sz="2200" b="0" i="1" smtClean="0">
                          <a:latin typeface="Cambria Math" panose="02040503050406030204" pitchFamily="18" charset="0"/>
                          <a:cs typeface="Aparajita" panose="02020603050405020304" pitchFamily="18" charset="0"/>
                        </a:rPr>
                        <m:t>+</m:t>
                      </m:r>
                      <m:r>
                        <a:rPr lang="en-US" sz="2200" b="0" i="1" smtClean="0">
                          <a:latin typeface="Cambria Math" panose="02040503050406030204" pitchFamily="18" charset="0"/>
                          <a:cs typeface="Aparajita" panose="02020603050405020304" pitchFamily="18" charset="0"/>
                        </a:rPr>
                        <m:t>𝜀</m:t>
                      </m:r>
                    </m:oMath>
                  </m:oMathPara>
                </a14:m>
                <a:endParaRPr lang="en-US" sz="2200" dirty="0">
                  <a:cs typeface="Times New Roman" panose="02020603050405020304" pitchFamily="18" charset="0"/>
                </a:endParaRPr>
              </a:p>
              <a:p>
                <a:pPr marL="0" indent="0">
                  <a:buNone/>
                </a:pPr>
                <a:endParaRPr lang="en-US" sz="2200" dirty="0">
                  <a:cs typeface="Times New Roman" panose="02020603050405020304" pitchFamily="18" charset="0"/>
                </a:endParaRPr>
              </a:p>
              <a:p>
                <a:pPr marL="457200" indent="-457200">
                  <a:buFont typeface="+mj-lt"/>
                  <a:buAutoNum type="arabicPeriod"/>
                </a:pPr>
                <a:r>
                  <a:rPr lang="en-US" sz="2200" dirty="0">
                    <a:cs typeface="Times New Roman" panose="02020603050405020304" pitchFamily="18" charset="0"/>
                  </a:rPr>
                  <a:t>Why don’t we also control for rural?</a:t>
                </a:r>
              </a:p>
              <a:p>
                <a:pPr marL="457200" indent="-457200">
                  <a:buFont typeface="+mj-lt"/>
                  <a:buAutoNum type="arabicPeriod"/>
                </a:pPr>
                <a:r>
                  <a:rPr lang="en-US" sz="2200" dirty="0">
                    <a:cs typeface="Times New Roman" panose="02020603050405020304" pitchFamily="18" charset="0"/>
                  </a:rPr>
                  <a:t>Once we control for geography type, the thought experiment is now considering the role of </a:t>
                </a:r>
                <a14:m>
                  <m:oMath xmlns:m="http://schemas.openxmlformats.org/officeDocument/2006/math">
                    <m:r>
                      <a:rPr lang="en-US" sz="2200" b="0" i="1" smtClean="0">
                        <a:latin typeface="Cambria Math" panose="02040503050406030204" pitchFamily="18" charset="0"/>
                        <a:cs typeface="Times New Roman" panose="02020603050405020304" pitchFamily="18" charset="0"/>
                      </a:rPr>
                      <m:t>𝑡𝑟𝑒𝑎𝑡𝑚𝑒𝑛𝑡</m:t>
                    </m:r>
                  </m:oMath>
                </a14:m>
                <a:r>
                  <a:rPr lang="en-US" sz="2200" dirty="0">
                    <a:cs typeface="Times New Roman" panose="02020603050405020304" pitchFamily="18" charset="0"/>
                  </a:rPr>
                  <a:t> </a:t>
                </a:r>
                <a:r>
                  <a:rPr lang="en-US" sz="2200" b="1" dirty="0">
                    <a:cs typeface="Times New Roman" panose="02020603050405020304" pitchFamily="18" charset="0"/>
                  </a:rPr>
                  <a:t>within </a:t>
                </a:r>
                <a:r>
                  <a:rPr lang="en-US" sz="2200" dirty="0">
                    <a:cs typeface="Times New Roman" panose="02020603050405020304" pitchFamily="18" charset="0"/>
                  </a:rPr>
                  <a:t>either group (because it has been </a:t>
                </a:r>
                <a:r>
                  <a:rPr lang="en-US" sz="2200" dirty="0" err="1">
                    <a:cs typeface="Times New Roman" panose="02020603050405020304" pitchFamily="18" charset="0"/>
                  </a:rPr>
                  <a:t>partialed</a:t>
                </a:r>
                <a:r>
                  <a:rPr lang="en-US" sz="2200" dirty="0">
                    <a:cs typeface="Times New Roman" panose="02020603050405020304" pitchFamily="18" charset="0"/>
                  </a:rPr>
                  <a:t> out)</a:t>
                </a:r>
              </a:p>
            </p:txBody>
          </p:sp>
        </mc:Choice>
        <mc:Fallback>
          <p:sp>
            <p:nvSpPr>
              <p:cNvPr id="3" name="Content Placeholder 2">
                <a:extLst>
                  <a:ext uri="{FF2B5EF4-FFF2-40B4-BE49-F238E27FC236}">
                    <a16:creationId xmlns:a16="http://schemas.microsoft.com/office/drawing/2014/main" id="{76BDF48B-EA93-0B37-1C47-A6A1B904A797}"/>
                  </a:ext>
                </a:extLst>
              </p:cNvPr>
              <p:cNvSpPr>
                <a:spLocks noGrp="1" noRot="1" noChangeAspect="1" noMove="1" noResize="1" noEditPoints="1" noAdjustHandles="1" noChangeArrowheads="1" noChangeShapeType="1" noTextEdit="1"/>
              </p:cNvSpPr>
              <p:nvPr>
                <p:ph idx="1"/>
              </p:nvPr>
            </p:nvSpPr>
            <p:spPr>
              <a:xfrm>
                <a:off x="685800" y="1295400"/>
                <a:ext cx="10134600" cy="4884737"/>
              </a:xfrm>
              <a:blipFill>
                <a:blip r:embed="rId3"/>
                <a:stretch>
                  <a:fillRect l="-782" t="-1124" r="-1203"/>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15F7E258-6232-FE01-EC67-075B474123F9}"/>
              </a:ext>
            </a:extLst>
          </p:cNvPr>
          <p:cNvSpPr txBox="1"/>
          <p:nvPr/>
        </p:nvSpPr>
        <p:spPr>
          <a:xfrm>
            <a:off x="685800" y="5410200"/>
            <a:ext cx="9951763" cy="430887"/>
          </a:xfrm>
          <a:prstGeom prst="rect">
            <a:avLst/>
          </a:prstGeom>
          <a:solidFill>
            <a:schemeClr val="accent3">
              <a:lumMod val="40000"/>
              <a:lumOff val="60000"/>
            </a:schemeClr>
          </a:solidFill>
        </p:spPr>
        <p:txBody>
          <a:bodyPr wrap="none" rtlCol="0">
            <a:spAutoFit/>
          </a:bodyPr>
          <a:lstStyle/>
          <a:p>
            <a:r>
              <a:rPr lang="en-US" sz="2200" dirty="0">
                <a:latin typeface="Times New Roman" panose="02020603050405020304" pitchFamily="18" charset="0"/>
                <a:cs typeface="Times New Roman" panose="02020603050405020304" pitchFamily="18" charset="0"/>
              </a:rPr>
              <a:t>This means that you can use control variables to “correctly” compare apples to apples!</a:t>
            </a:r>
          </a:p>
        </p:txBody>
      </p:sp>
    </p:spTree>
    <p:extLst>
      <p:ext uri="{BB962C8B-B14F-4D97-AF65-F5344CB8AC3E}">
        <p14:creationId xmlns:p14="http://schemas.microsoft.com/office/powerpoint/2010/main" val="9513999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6BAC9F-3E48-8D82-AAFD-3DCE9A5661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6D9DD2-8C49-E9B0-51A4-A6B0CF724341}"/>
              </a:ext>
            </a:extLst>
          </p:cNvPr>
          <p:cNvSpPr>
            <a:spLocks noGrp="1"/>
          </p:cNvSpPr>
          <p:nvPr>
            <p:ph type="title"/>
          </p:nvPr>
        </p:nvSpPr>
        <p:spPr>
          <a:xfrm>
            <a:off x="609600" y="365760"/>
            <a:ext cx="10344912" cy="777240"/>
          </a:xfrm>
        </p:spPr>
        <p:txBody>
          <a:bodyPr/>
          <a:lstStyle/>
          <a:p>
            <a:r>
              <a:rPr lang="en-US" dirty="0"/>
              <a:t>Example: discrimination in healthcare </a:t>
            </a:r>
          </a:p>
        </p:txBody>
      </p:sp>
      <p:sp>
        <p:nvSpPr>
          <p:cNvPr id="3" name="Content Placeholder 2">
            <a:extLst>
              <a:ext uri="{FF2B5EF4-FFF2-40B4-BE49-F238E27FC236}">
                <a16:creationId xmlns:a16="http://schemas.microsoft.com/office/drawing/2014/main" id="{16F48EE4-F385-118B-A45A-4B1D366A0F55}"/>
              </a:ext>
            </a:extLst>
          </p:cNvPr>
          <p:cNvSpPr>
            <a:spLocks noGrp="1"/>
          </p:cNvSpPr>
          <p:nvPr>
            <p:ph idx="1"/>
          </p:nvPr>
        </p:nvSpPr>
        <p:spPr>
          <a:xfrm>
            <a:off x="5567580" y="1295400"/>
            <a:ext cx="5633820" cy="5196840"/>
          </a:xfrm>
        </p:spPr>
        <p:txBody>
          <a:bodyPr>
            <a:normAutofit/>
          </a:bodyPr>
          <a:lstStyle/>
          <a:p>
            <a:pPr marL="0" indent="0">
              <a:buNone/>
            </a:pPr>
            <a:r>
              <a:rPr lang="en-US" sz="2200" dirty="0">
                <a:cs typeface="Times New Roman" panose="02020603050405020304" pitchFamily="18" charset="0"/>
              </a:rPr>
              <a:t>Let’s go back to the world of </a:t>
            </a:r>
            <a:r>
              <a:rPr lang="en-US" sz="2200" b="1" dirty="0">
                <a:cs typeface="Times New Roman" panose="02020603050405020304" pitchFamily="18" charset="0"/>
              </a:rPr>
              <a:t>physician decision-making. </a:t>
            </a:r>
            <a:r>
              <a:rPr lang="en-US" sz="2200" dirty="0">
                <a:cs typeface="Times New Roman" panose="02020603050405020304" pitchFamily="18" charset="0"/>
              </a:rPr>
              <a:t>Specifically, </a:t>
            </a:r>
          </a:p>
          <a:p>
            <a:r>
              <a:rPr lang="en-US" sz="2200" dirty="0">
                <a:cs typeface="Times New Roman" panose="02020603050405020304" pitchFamily="18" charset="0"/>
              </a:rPr>
              <a:t>How do physicians make treatment choices? </a:t>
            </a:r>
          </a:p>
          <a:p>
            <a:r>
              <a:rPr lang="en-US" sz="2200" dirty="0">
                <a:cs typeface="Times New Roman" panose="02020603050405020304" pitchFamily="18" charset="0"/>
              </a:rPr>
              <a:t>How does discrimination play a role here (previous work on patient-physician concordance)? </a:t>
            </a:r>
          </a:p>
          <a:p>
            <a:r>
              <a:rPr lang="en-US" sz="2200" dirty="0">
                <a:cs typeface="Times New Roman" panose="02020603050405020304" pitchFamily="18" charset="0"/>
              </a:rPr>
              <a:t>The question here: is this discrimination </a:t>
            </a:r>
            <a:r>
              <a:rPr lang="en-US" sz="2200" b="1" dirty="0">
                <a:cs typeface="Times New Roman" panose="02020603050405020304" pitchFamily="18" charset="0"/>
              </a:rPr>
              <a:t>constant </a:t>
            </a:r>
            <a:r>
              <a:rPr lang="en-US" sz="2200" dirty="0">
                <a:cs typeface="Times New Roman" panose="02020603050405020304" pitchFamily="18" charset="0"/>
              </a:rPr>
              <a:t>within physicians, or does it depend on previous interactions (is it “fickle”)? </a:t>
            </a:r>
          </a:p>
          <a:p>
            <a:r>
              <a:rPr lang="en-US" sz="2200" dirty="0">
                <a:cs typeface="Times New Roman" panose="02020603050405020304" pitchFamily="18" charset="0"/>
              </a:rPr>
              <a:t>This relates to previous literature showing that past outcomes influence future treatment choice</a:t>
            </a:r>
          </a:p>
        </p:txBody>
      </p:sp>
      <p:pic>
        <p:nvPicPr>
          <p:cNvPr id="6" name="Picture 5">
            <a:extLst>
              <a:ext uri="{FF2B5EF4-FFF2-40B4-BE49-F238E27FC236}">
                <a16:creationId xmlns:a16="http://schemas.microsoft.com/office/drawing/2014/main" id="{D8CE9B5B-76E9-CD53-0602-89A3D282B057}"/>
              </a:ext>
            </a:extLst>
          </p:cNvPr>
          <p:cNvPicPr>
            <a:picLocks noChangeAspect="1"/>
          </p:cNvPicPr>
          <p:nvPr/>
        </p:nvPicPr>
        <p:blipFill>
          <a:blip r:embed="rId3"/>
          <a:stretch>
            <a:fillRect/>
          </a:stretch>
        </p:blipFill>
        <p:spPr>
          <a:xfrm>
            <a:off x="228600" y="990600"/>
            <a:ext cx="5338980" cy="2438400"/>
          </a:xfrm>
          <a:prstGeom prst="rect">
            <a:avLst/>
          </a:prstGeom>
        </p:spPr>
      </p:pic>
      <p:sp>
        <p:nvSpPr>
          <p:cNvPr id="8" name="TextBox 7">
            <a:extLst>
              <a:ext uri="{FF2B5EF4-FFF2-40B4-BE49-F238E27FC236}">
                <a16:creationId xmlns:a16="http://schemas.microsoft.com/office/drawing/2014/main" id="{EFEFAA37-381D-243A-1AC5-5C05E7B2EF15}"/>
              </a:ext>
            </a:extLst>
          </p:cNvPr>
          <p:cNvSpPr txBox="1"/>
          <p:nvPr/>
        </p:nvSpPr>
        <p:spPr>
          <a:xfrm>
            <a:off x="152400" y="3553102"/>
            <a:ext cx="6102350" cy="369332"/>
          </a:xfrm>
          <a:prstGeom prst="rect">
            <a:avLst/>
          </a:prstGeom>
          <a:noFill/>
        </p:spPr>
        <p:txBody>
          <a:bodyPr wrap="square">
            <a:spAutoFit/>
          </a:bodyPr>
          <a:lstStyle/>
          <a:p>
            <a:r>
              <a:rPr lang="en-US" dirty="0">
                <a:hlinkClick r:id="rId4"/>
              </a:rPr>
              <a:t>https://sites.google.com/view/ashleylitwin/home</a:t>
            </a:r>
            <a:r>
              <a:rPr lang="en-US" dirty="0"/>
              <a:t> </a:t>
            </a:r>
          </a:p>
        </p:txBody>
      </p:sp>
    </p:spTree>
    <p:extLst>
      <p:ext uri="{BB962C8B-B14F-4D97-AF65-F5344CB8AC3E}">
        <p14:creationId xmlns:p14="http://schemas.microsoft.com/office/powerpoint/2010/main" val="158401184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D68EA2-47EC-1734-22BD-FC419C9A73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24E497B-3B62-C99D-1FFE-285984970A05}"/>
              </a:ext>
            </a:extLst>
          </p:cNvPr>
          <p:cNvSpPr>
            <a:spLocks noGrp="1"/>
          </p:cNvSpPr>
          <p:nvPr>
            <p:ph type="title"/>
          </p:nvPr>
        </p:nvSpPr>
        <p:spPr>
          <a:xfrm>
            <a:off x="609600" y="365760"/>
            <a:ext cx="10344912" cy="777240"/>
          </a:xfrm>
        </p:spPr>
        <p:txBody>
          <a:bodyPr/>
          <a:lstStyle/>
          <a:p>
            <a:r>
              <a:rPr lang="en-US" dirty="0"/>
              <a:t>Example: discrimination in healthcare </a:t>
            </a:r>
          </a:p>
        </p:txBody>
      </p:sp>
      <p:sp>
        <p:nvSpPr>
          <p:cNvPr id="8" name="TextBox 7">
            <a:extLst>
              <a:ext uri="{FF2B5EF4-FFF2-40B4-BE49-F238E27FC236}">
                <a16:creationId xmlns:a16="http://schemas.microsoft.com/office/drawing/2014/main" id="{99AB7C57-C283-BF5E-EDBF-DA142C83A2DC}"/>
              </a:ext>
            </a:extLst>
          </p:cNvPr>
          <p:cNvSpPr txBox="1"/>
          <p:nvPr/>
        </p:nvSpPr>
        <p:spPr>
          <a:xfrm>
            <a:off x="228600" y="6275308"/>
            <a:ext cx="6102350" cy="369332"/>
          </a:xfrm>
          <a:prstGeom prst="rect">
            <a:avLst/>
          </a:prstGeom>
          <a:noFill/>
        </p:spPr>
        <p:txBody>
          <a:bodyPr wrap="square">
            <a:spAutoFit/>
          </a:bodyPr>
          <a:lstStyle/>
          <a:p>
            <a:r>
              <a:rPr lang="en-US" dirty="0">
                <a:hlinkClick r:id="rId3"/>
              </a:rPr>
              <a:t>https://sites.google.com/view/ashleylitwin/home</a:t>
            </a:r>
            <a:r>
              <a:rPr lang="en-US" dirty="0"/>
              <a:t> </a:t>
            </a:r>
          </a:p>
        </p:txBody>
      </p:sp>
      <p:pic>
        <p:nvPicPr>
          <p:cNvPr id="5" name="Picture 4">
            <a:extLst>
              <a:ext uri="{FF2B5EF4-FFF2-40B4-BE49-F238E27FC236}">
                <a16:creationId xmlns:a16="http://schemas.microsoft.com/office/drawing/2014/main" id="{015F0747-72B1-6200-D448-C0B4AEADB84B}"/>
              </a:ext>
            </a:extLst>
          </p:cNvPr>
          <p:cNvPicPr>
            <a:picLocks noChangeAspect="1"/>
          </p:cNvPicPr>
          <p:nvPr/>
        </p:nvPicPr>
        <p:blipFill>
          <a:blip r:embed="rId4"/>
          <a:stretch>
            <a:fillRect/>
          </a:stretch>
        </p:blipFill>
        <p:spPr>
          <a:xfrm>
            <a:off x="152399" y="1143000"/>
            <a:ext cx="7726155" cy="5132308"/>
          </a:xfrm>
          <a:prstGeom prst="rect">
            <a:avLst/>
          </a:prstGeom>
        </p:spPr>
      </p:pic>
    </p:spTree>
    <p:extLst>
      <p:ext uri="{BB962C8B-B14F-4D97-AF65-F5344CB8AC3E}">
        <p14:creationId xmlns:p14="http://schemas.microsoft.com/office/powerpoint/2010/main" val="31182204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147C6C-A193-7775-313E-9AECEACB96B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E8F2CC-003A-3EF3-85FA-AB9E0E77D4A4}"/>
              </a:ext>
            </a:extLst>
          </p:cNvPr>
          <p:cNvSpPr>
            <a:spLocks noGrp="1"/>
          </p:cNvSpPr>
          <p:nvPr>
            <p:ph type="title"/>
          </p:nvPr>
        </p:nvSpPr>
        <p:spPr>
          <a:xfrm>
            <a:off x="609600" y="365760"/>
            <a:ext cx="10344912" cy="777240"/>
          </a:xfrm>
        </p:spPr>
        <p:txBody>
          <a:bodyPr/>
          <a:lstStyle/>
          <a:p>
            <a:r>
              <a:rPr lang="en-US" dirty="0"/>
              <a:t>Example: discrimination in healthcare </a:t>
            </a:r>
          </a:p>
        </p:txBody>
      </p:sp>
      <p:sp>
        <p:nvSpPr>
          <p:cNvPr id="3" name="Content Placeholder 2">
            <a:extLst>
              <a:ext uri="{FF2B5EF4-FFF2-40B4-BE49-F238E27FC236}">
                <a16:creationId xmlns:a16="http://schemas.microsoft.com/office/drawing/2014/main" id="{5D885EC8-99C2-9042-B439-5F1B19FA7283}"/>
              </a:ext>
            </a:extLst>
          </p:cNvPr>
          <p:cNvSpPr>
            <a:spLocks noGrp="1"/>
          </p:cNvSpPr>
          <p:nvPr>
            <p:ph idx="1"/>
          </p:nvPr>
        </p:nvSpPr>
        <p:spPr>
          <a:xfrm>
            <a:off x="6096000" y="1295400"/>
            <a:ext cx="4724400" cy="5196840"/>
          </a:xfrm>
        </p:spPr>
        <p:txBody>
          <a:bodyPr>
            <a:normAutofit/>
          </a:bodyPr>
          <a:lstStyle/>
          <a:p>
            <a:r>
              <a:rPr lang="en-US" sz="2200" dirty="0">
                <a:cs typeface="Times New Roman" panose="02020603050405020304" pitchFamily="18" charset="0"/>
              </a:rPr>
              <a:t>What do you think about the setting? Important? Not? </a:t>
            </a:r>
          </a:p>
          <a:p>
            <a:r>
              <a:rPr lang="en-US" sz="2200" dirty="0">
                <a:cs typeface="Times New Roman" panose="02020603050405020304" pitchFamily="18" charset="0"/>
              </a:rPr>
              <a:t>(How do we think about comparing this between US and Canada?) </a:t>
            </a:r>
          </a:p>
          <a:p>
            <a:r>
              <a:rPr lang="en-US" sz="2200" dirty="0">
                <a:cs typeface="Times New Roman" panose="02020603050405020304" pitchFamily="18" charset="0"/>
              </a:rPr>
              <a:t>(Have you all seen St. Denis?)</a:t>
            </a:r>
          </a:p>
          <a:p>
            <a:endParaRPr lang="en-US" sz="2200" dirty="0">
              <a:cs typeface="Times New Roman" panose="02020603050405020304" pitchFamily="18" charset="0"/>
            </a:endParaRPr>
          </a:p>
        </p:txBody>
      </p:sp>
      <p:sp>
        <p:nvSpPr>
          <p:cNvPr id="8" name="TextBox 7">
            <a:extLst>
              <a:ext uri="{FF2B5EF4-FFF2-40B4-BE49-F238E27FC236}">
                <a16:creationId xmlns:a16="http://schemas.microsoft.com/office/drawing/2014/main" id="{5D5CC176-FBAB-4E6C-480D-6C1E1AC619FE}"/>
              </a:ext>
            </a:extLst>
          </p:cNvPr>
          <p:cNvSpPr txBox="1"/>
          <p:nvPr/>
        </p:nvSpPr>
        <p:spPr>
          <a:xfrm>
            <a:off x="228600" y="6275308"/>
            <a:ext cx="6102350" cy="369332"/>
          </a:xfrm>
          <a:prstGeom prst="rect">
            <a:avLst/>
          </a:prstGeom>
          <a:noFill/>
        </p:spPr>
        <p:txBody>
          <a:bodyPr wrap="square">
            <a:spAutoFit/>
          </a:bodyPr>
          <a:lstStyle/>
          <a:p>
            <a:r>
              <a:rPr lang="en-US" dirty="0">
                <a:hlinkClick r:id="rId3"/>
              </a:rPr>
              <a:t>https://sites.google.com/view/ashleylitwin/home</a:t>
            </a:r>
            <a:r>
              <a:rPr lang="en-US" dirty="0"/>
              <a:t> </a:t>
            </a:r>
          </a:p>
        </p:txBody>
      </p:sp>
      <p:pic>
        <p:nvPicPr>
          <p:cNvPr id="5" name="Picture 4">
            <a:extLst>
              <a:ext uri="{FF2B5EF4-FFF2-40B4-BE49-F238E27FC236}">
                <a16:creationId xmlns:a16="http://schemas.microsoft.com/office/drawing/2014/main" id="{FEEB6E02-70BD-2AD8-0330-B6892CE849E0}"/>
              </a:ext>
            </a:extLst>
          </p:cNvPr>
          <p:cNvPicPr>
            <a:picLocks noChangeAspect="1"/>
          </p:cNvPicPr>
          <p:nvPr/>
        </p:nvPicPr>
        <p:blipFill>
          <a:blip r:embed="rId4"/>
          <a:stretch>
            <a:fillRect/>
          </a:stretch>
        </p:blipFill>
        <p:spPr>
          <a:xfrm>
            <a:off x="152400" y="1143000"/>
            <a:ext cx="5735558" cy="3810000"/>
          </a:xfrm>
          <a:prstGeom prst="rect">
            <a:avLst/>
          </a:prstGeom>
        </p:spPr>
      </p:pic>
    </p:spTree>
    <p:extLst>
      <p:ext uri="{BB962C8B-B14F-4D97-AF65-F5344CB8AC3E}">
        <p14:creationId xmlns:p14="http://schemas.microsoft.com/office/powerpoint/2010/main" val="235699562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F1D2CD-6E52-A9B8-062B-0EDF42EE8C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81902F-1005-CA13-555F-24BBB03FAED8}"/>
              </a:ext>
            </a:extLst>
          </p:cNvPr>
          <p:cNvSpPr>
            <a:spLocks noGrp="1"/>
          </p:cNvSpPr>
          <p:nvPr>
            <p:ph type="title"/>
          </p:nvPr>
        </p:nvSpPr>
        <p:spPr>
          <a:xfrm>
            <a:off x="609600" y="365760"/>
            <a:ext cx="10344912" cy="777240"/>
          </a:xfrm>
        </p:spPr>
        <p:txBody>
          <a:bodyPr/>
          <a:lstStyle/>
          <a:p>
            <a:r>
              <a:rPr lang="en-US" dirty="0"/>
              <a:t>Example: discrimination in healthcare </a:t>
            </a:r>
          </a:p>
        </p:txBody>
      </p:sp>
      <p:sp>
        <p:nvSpPr>
          <p:cNvPr id="3" name="Content Placeholder 2">
            <a:extLst>
              <a:ext uri="{FF2B5EF4-FFF2-40B4-BE49-F238E27FC236}">
                <a16:creationId xmlns:a16="http://schemas.microsoft.com/office/drawing/2014/main" id="{7FC78375-4537-E5A3-DB21-52D25D039232}"/>
              </a:ext>
            </a:extLst>
          </p:cNvPr>
          <p:cNvSpPr>
            <a:spLocks noGrp="1"/>
          </p:cNvSpPr>
          <p:nvPr>
            <p:ph idx="1"/>
          </p:nvPr>
        </p:nvSpPr>
        <p:spPr>
          <a:xfrm>
            <a:off x="6096000" y="1295400"/>
            <a:ext cx="4724400" cy="5196840"/>
          </a:xfrm>
        </p:spPr>
        <p:txBody>
          <a:bodyPr>
            <a:normAutofit/>
          </a:bodyPr>
          <a:lstStyle/>
          <a:p>
            <a:r>
              <a:rPr lang="en-US" sz="2200" dirty="0">
                <a:cs typeface="Times New Roman" panose="02020603050405020304" pitchFamily="18" charset="0"/>
              </a:rPr>
              <a:t>What is the ideal </a:t>
            </a:r>
            <a:r>
              <a:rPr lang="en-US" sz="2200" b="1" dirty="0">
                <a:cs typeface="Times New Roman" panose="02020603050405020304" pitchFamily="18" charset="0"/>
              </a:rPr>
              <a:t>experiment </a:t>
            </a:r>
            <a:r>
              <a:rPr lang="en-US" sz="2200" dirty="0">
                <a:cs typeface="Times New Roman" panose="02020603050405020304" pitchFamily="18" charset="0"/>
              </a:rPr>
              <a:t>here? If you could randomize, what would you randomize? </a:t>
            </a:r>
          </a:p>
          <a:p>
            <a:r>
              <a:rPr lang="en-US" sz="2200" dirty="0">
                <a:cs typeface="Times New Roman" panose="02020603050405020304" pitchFamily="18" charset="0"/>
              </a:rPr>
              <a:t>Now let’s put that another way: if you could take observational data and design comparisons </a:t>
            </a:r>
            <a:r>
              <a:rPr lang="en-US" sz="2200" i="1" dirty="0">
                <a:cs typeface="Times New Roman" panose="02020603050405020304" pitchFamily="18" charset="0"/>
              </a:rPr>
              <a:t>within </a:t>
            </a:r>
            <a:r>
              <a:rPr lang="en-US" sz="2200" dirty="0">
                <a:cs typeface="Times New Roman" panose="02020603050405020304" pitchFamily="18" charset="0"/>
              </a:rPr>
              <a:t>groups, what would those groups be?</a:t>
            </a:r>
          </a:p>
          <a:p>
            <a:r>
              <a:rPr lang="en-US" sz="2200" dirty="0">
                <a:cs typeface="Times New Roman" panose="02020603050405020304" pitchFamily="18" charset="0"/>
              </a:rPr>
              <a:t>Once we have that, we can talk about </a:t>
            </a:r>
            <a:r>
              <a:rPr lang="en-US" sz="2200" b="1" dirty="0">
                <a:cs typeface="Times New Roman" panose="02020603050405020304" pitchFamily="18" charset="0"/>
              </a:rPr>
              <a:t>identifying variation: </a:t>
            </a:r>
            <a:r>
              <a:rPr lang="en-US" sz="2200" dirty="0">
                <a:cs typeface="Times New Roman" panose="02020603050405020304" pitchFamily="18" charset="0"/>
              </a:rPr>
              <a:t>what gives us the ability to approximate an experiment once we design controls correctly? </a:t>
            </a:r>
          </a:p>
          <a:p>
            <a:endParaRPr lang="en-US" sz="2200" dirty="0">
              <a:cs typeface="Times New Roman" panose="02020603050405020304" pitchFamily="18" charset="0"/>
            </a:endParaRPr>
          </a:p>
        </p:txBody>
      </p:sp>
      <p:sp>
        <p:nvSpPr>
          <p:cNvPr id="8" name="TextBox 7">
            <a:extLst>
              <a:ext uri="{FF2B5EF4-FFF2-40B4-BE49-F238E27FC236}">
                <a16:creationId xmlns:a16="http://schemas.microsoft.com/office/drawing/2014/main" id="{5924CCBB-249C-FB59-27DE-068E5C27E291}"/>
              </a:ext>
            </a:extLst>
          </p:cNvPr>
          <p:cNvSpPr txBox="1"/>
          <p:nvPr/>
        </p:nvSpPr>
        <p:spPr>
          <a:xfrm>
            <a:off x="228600" y="6275308"/>
            <a:ext cx="6102350" cy="369332"/>
          </a:xfrm>
          <a:prstGeom prst="rect">
            <a:avLst/>
          </a:prstGeom>
          <a:noFill/>
        </p:spPr>
        <p:txBody>
          <a:bodyPr wrap="square">
            <a:spAutoFit/>
          </a:bodyPr>
          <a:lstStyle/>
          <a:p>
            <a:r>
              <a:rPr lang="en-US" dirty="0">
                <a:hlinkClick r:id="rId3"/>
              </a:rPr>
              <a:t>https://sites.google.com/view/ashleylitwin/home</a:t>
            </a:r>
            <a:r>
              <a:rPr lang="en-US" dirty="0"/>
              <a:t> </a:t>
            </a:r>
          </a:p>
        </p:txBody>
      </p:sp>
      <p:pic>
        <p:nvPicPr>
          <p:cNvPr id="5" name="Picture 4">
            <a:extLst>
              <a:ext uri="{FF2B5EF4-FFF2-40B4-BE49-F238E27FC236}">
                <a16:creationId xmlns:a16="http://schemas.microsoft.com/office/drawing/2014/main" id="{79715422-A246-0C58-441B-D803A7D920AB}"/>
              </a:ext>
            </a:extLst>
          </p:cNvPr>
          <p:cNvPicPr>
            <a:picLocks noChangeAspect="1"/>
          </p:cNvPicPr>
          <p:nvPr/>
        </p:nvPicPr>
        <p:blipFill>
          <a:blip r:embed="rId4"/>
          <a:stretch>
            <a:fillRect/>
          </a:stretch>
        </p:blipFill>
        <p:spPr>
          <a:xfrm>
            <a:off x="152400" y="1143000"/>
            <a:ext cx="5735558" cy="3810000"/>
          </a:xfrm>
          <a:prstGeom prst="rect">
            <a:avLst/>
          </a:prstGeom>
        </p:spPr>
      </p:pic>
    </p:spTree>
    <p:extLst>
      <p:ext uri="{BB962C8B-B14F-4D97-AF65-F5344CB8AC3E}">
        <p14:creationId xmlns:p14="http://schemas.microsoft.com/office/powerpoint/2010/main" val="166733048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D9609C-6AA3-E240-FD5B-CE0D5E1CA1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EB7B58-A9DD-9951-EBAD-95FE9EB7429C}"/>
              </a:ext>
            </a:extLst>
          </p:cNvPr>
          <p:cNvSpPr>
            <a:spLocks noGrp="1"/>
          </p:cNvSpPr>
          <p:nvPr>
            <p:ph type="title"/>
          </p:nvPr>
        </p:nvSpPr>
        <p:spPr>
          <a:xfrm>
            <a:off x="609600" y="365760"/>
            <a:ext cx="10344912" cy="777240"/>
          </a:xfrm>
        </p:spPr>
        <p:txBody>
          <a:bodyPr/>
          <a:lstStyle/>
          <a:p>
            <a:r>
              <a:rPr lang="en-US" dirty="0"/>
              <a:t>Example: discrimination in healthcare </a:t>
            </a:r>
          </a:p>
        </p:txBody>
      </p:sp>
      <p:sp>
        <p:nvSpPr>
          <p:cNvPr id="3" name="Content Placeholder 2">
            <a:extLst>
              <a:ext uri="{FF2B5EF4-FFF2-40B4-BE49-F238E27FC236}">
                <a16:creationId xmlns:a16="http://schemas.microsoft.com/office/drawing/2014/main" id="{8BE2E908-B79B-C799-FB4E-43229FF3AF2C}"/>
              </a:ext>
            </a:extLst>
          </p:cNvPr>
          <p:cNvSpPr>
            <a:spLocks noGrp="1"/>
          </p:cNvSpPr>
          <p:nvPr>
            <p:ph idx="1"/>
          </p:nvPr>
        </p:nvSpPr>
        <p:spPr>
          <a:xfrm>
            <a:off x="609600" y="1295400"/>
            <a:ext cx="10210800" cy="5196840"/>
          </a:xfrm>
        </p:spPr>
        <p:txBody>
          <a:bodyPr>
            <a:normAutofit/>
          </a:bodyPr>
          <a:lstStyle/>
          <a:p>
            <a:r>
              <a:rPr lang="en-US" sz="2200" dirty="0">
                <a:cs typeface="Times New Roman" panose="02020603050405020304" pitchFamily="18" charset="0"/>
              </a:rPr>
              <a:t>Identifying variation here is “prior case exposure and the time available to make the current decision.” Is this quasi-random from the triage nurse perspective? </a:t>
            </a:r>
          </a:p>
          <a:p>
            <a:endParaRPr lang="en-US" sz="2200" dirty="0">
              <a:cs typeface="Times New Roman" panose="02020603050405020304" pitchFamily="18" charset="0"/>
            </a:endParaRPr>
          </a:p>
        </p:txBody>
      </p:sp>
      <p:sp>
        <p:nvSpPr>
          <p:cNvPr id="8" name="TextBox 7">
            <a:extLst>
              <a:ext uri="{FF2B5EF4-FFF2-40B4-BE49-F238E27FC236}">
                <a16:creationId xmlns:a16="http://schemas.microsoft.com/office/drawing/2014/main" id="{A842800E-B4DF-3DD9-8EFF-36D576F6B10A}"/>
              </a:ext>
            </a:extLst>
          </p:cNvPr>
          <p:cNvSpPr txBox="1"/>
          <p:nvPr/>
        </p:nvSpPr>
        <p:spPr>
          <a:xfrm>
            <a:off x="228600" y="6275308"/>
            <a:ext cx="6102350" cy="369332"/>
          </a:xfrm>
          <a:prstGeom prst="rect">
            <a:avLst/>
          </a:prstGeom>
          <a:noFill/>
        </p:spPr>
        <p:txBody>
          <a:bodyPr wrap="square">
            <a:spAutoFit/>
          </a:bodyPr>
          <a:lstStyle/>
          <a:p>
            <a:r>
              <a:rPr lang="en-US" dirty="0">
                <a:hlinkClick r:id="rId3"/>
              </a:rPr>
              <a:t>https://sites.google.com/view/ashleylitwin/home</a:t>
            </a:r>
            <a:r>
              <a:rPr lang="en-US" dirty="0"/>
              <a:t> </a:t>
            </a:r>
          </a:p>
        </p:txBody>
      </p:sp>
      <p:pic>
        <p:nvPicPr>
          <p:cNvPr id="6" name="Picture 5">
            <a:extLst>
              <a:ext uri="{FF2B5EF4-FFF2-40B4-BE49-F238E27FC236}">
                <a16:creationId xmlns:a16="http://schemas.microsoft.com/office/drawing/2014/main" id="{640DEE37-191A-B159-C80C-A0A11766F8DB}"/>
              </a:ext>
            </a:extLst>
          </p:cNvPr>
          <p:cNvPicPr>
            <a:picLocks noChangeAspect="1"/>
          </p:cNvPicPr>
          <p:nvPr/>
        </p:nvPicPr>
        <p:blipFill>
          <a:blip r:embed="rId4"/>
          <a:stretch>
            <a:fillRect/>
          </a:stretch>
        </p:blipFill>
        <p:spPr>
          <a:xfrm>
            <a:off x="838200" y="2057400"/>
            <a:ext cx="8686800" cy="3092215"/>
          </a:xfrm>
          <a:prstGeom prst="rect">
            <a:avLst/>
          </a:prstGeom>
        </p:spPr>
      </p:pic>
    </p:spTree>
    <p:extLst>
      <p:ext uri="{BB962C8B-B14F-4D97-AF65-F5344CB8AC3E}">
        <p14:creationId xmlns:p14="http://schemas.microsoft.com/office/powerpoint/2010/main" val="22156349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03939C-356A-BFB1-F433-7C28740E54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7BB242-51C7-0903-8948-CE0F58237517}"/>
              </a:ext>
            </a:extLst>
          </p:cNvPr>
          <p:cNvSpPr>
            <a:spLocks noGrp="1"/>
          </p:cNvSpPr>
          <p:nvPr>
            <p:ph type="title"/>
          </p:nvPr>
        </p:nvSpPr>
        <p:spPr>
          <a:xfrm>
            <a:off x="609600" y="365760"/>
            <a:ext cx="10344912" cy="777240"/>
          </a:xfrm>
        </p:spPr>
        <p:txBody>
          <a:bodyPr/>
          <a:lstStyle/>
          <a:p>
            <a:r>
              <a:rPr lang="en-US" dirty="0"/>
              <a:t>Example: discrimination in healthcare </a:t>
            </a:r>
          </a:p>
        </p:txBody>
      </p:sp>
      <p:sp>
        <p:nvSpPr>
          <p:cNvPr id="3" name="Content Placeholder 2">
            <a:extLst>
              <a:ext uri="{FF2B5EF4-FFF2-40B4-BE49-F238E27FC236}">
                <a16:creationId xmlns:a16="http://schemas.microsoft.com/office/drawing/2014/main" id="{5E87D26A-6E38-C29A-D6BF-3CE70691B469}"/>
              </a:ext>
            </a:extLst>
          </p:cNvPr>
          <p:cNvSpPr>
            <a:spLocks noGrp="1"/>
          </p:cNvSpPr>
          <p:nvPr>
            <p:ph idx="1"/>
          </p:nvPr>
        </p:nvSpPr>
        <p:spPr>
          <a:xfrm>
            <a:off x="609600" y="1295400"/>
            <a:ext cx="10210800" cy="5196840"/>
          </a:xfrm>
        </p:spPr>
        <p:txBody>
          <a:bodyPr>
            <a:normAutofit/>
          </a:bodyPr>
          <a:lstStyle/>
          <a:p>
            <a:r>
              <a:rPr lang="en-US" sz="2200" dirty="0">
                <a:cs typeface="Times New Roman" panose="02020603050405020304" pitchFamily="18" charset="0"/>
              </a:rPr>
              <a:t>Identifying variation here is “prior case exposure and the time available to make the current decision.” Is this quasi-random from the triage nurse perspective? </a:t>
            </a:r>
          </a:p>
          <a:p>
            <a:r>
              <a:rPr lang="en-US" sz="2200" dirty="0">
                <a:cs typeface="Times New Roman" panose="02020603050405020304" pitchFamily="18" charset="0"/>
              </a:rPr>
              <a:t>What does the estimating equation look like? It’s a linear regression with controls! </a:t>
            </a:r>
          </a:p>
          <a:p>
            <a:endParaRPr lang="en-US" sz="2200" dirty="0">
              <a:cs typeface="Times New Roman" panose="02020603050405020304" pitchFamily="18" charset="0"/>
            </a:endParaRPr>
          </a:p>
        </p:txBody>
      </p:sp>
      <p:sp>
        <p:nvSpPr>
          <p:cNvPr id="8" name="TextBox 7">
            <a:extLst>
              <a:ext uri="{FF2B5EF4-FFF2-40B4-BE49-F238E27FC236}">
                <a16:creationId xmlns:a16="http://schemas.microsoft.com/office/drawing/2014/main" id="{96596375-D5B2-010A-06F3-D37758FF85F1}"/>
              </a:ext>
            </a:extLst>
          </p:cNvPr>
          <p:cNvSpPr txBox="1"/>
          <p:nvPr/>
        </p:nvSpPr>
        <p:spPr>
          <a:xfrm>
            <a:off x="228600" y="6275308"/>
            <a:ext cx="6102350" cy="369332"/>
          </a:xfrm>
          <a:prstGeom prst="rect">
            <a:avLst/>
          </a:prstGeom>
          <a:noFill/>
        </p:spPr>
        <p:txBody>
          <a:bodyPr wrap="square">
            <a:spAutoFit/>
          </a:bodyPr>
          <a:lstStyle/>
          <a:p>
            <a:r>
              <a:rPr lang="en-US" dirty="0">
                <a:hlinkClick r:id="rId3"/>
              </a:rPr>
              <a:t>https://sites.google.com/view/ashleylitwin/home</a:t>
            </a:r>
            <a:r>
              <a:rPr lang="en-US" dirty="0"/>
              <a:t> </a:t>
            </a:r>
          </a:p>
        </p:txBody>
      </p:sp>
      <p:pic>
        <p:nvPicPr>
          <p:cNvPr id="9" name="Picture 8">
            <a:extLst>
              <a:ext uri="{FF2B5EF4-FFF2-40B4-BE49-F238E27FC236}">
                <a16:creationId xmlns:a16="http://schemas.microsoft.com/office/drawing/2014/main" id="{0AC6F985-ED4F-DFE4-0AAC-2EBA29F0AF27}"/>
              </a:ext>
            </a:extLst>
          </p:cNvPr>
          <p:cNvPicPr>
            <a:picLocks noChangeAspect="1"/>
          </p:cNvPicPr>
          <p:nvPr/>
        </p:nvPicPr>
        <p:blipFill>
          <a:blip r:embed="rId4"/>
          <a:stretch>
            <a:fillRect/>
          </a:stretch>
        </p:blipFill>
        <p:spPr>
          <a:xfrm>
            <a:off x="2311225" y="2870908"/>
            <a:ext cx="6807550" cy="609631"/>
          </a:xfrm>
          <a:prstGeom prst="rect">
            <a:avLst/>
          </a:prstGeom>
        </p:spPr>
      </p:pic>
      <p:cxnSp>
        <p:nvCxnSpPr>
          <p:cNvPr id="11" name="Straight Arrow Connector 10">
            <a:extLst>
              <a:ext uri="{FF2B5EF4-FFF2-40B4-BE49-F238E27FC236}">
                <a16:creationId xmlns:a16="http://schemas.microsoft.com/office/drawing/2014/main" id="{DF50F418-DA6F-F325-EB7E-1B3935F51AE3}"/>
              </a:ext>
            </a:extLst>
          </p:cNvPr>
          <p:cNvCxnSpPr>
            <a:cxnSpLocks/>
          </p:cNvCxnSpPr>
          <p:nvPr/>
        </p:nvCxnSpPr>
        <p:spPr>
          <a:xfrm flipV="1">
            <a:off x="1752600" y="3315454"/>
            <a:ext cx="1117425" cy="7231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634CCBEE-D03F-F981-9A3E-44029C77F555}"/>
              </a:ext>
            </a:extLst>
          </p:cNvPr>
          <p:cNvCxnSpPr>
            <a:cxnSpLocks/>
            <a:stCxn id="21" idx="0"/>
          </p:cNvCxnSpPr>
          <p:nvPr/>
        </p:nvCxnSpPr>
        <p:spPr>
          <a:xfrm flipV="1">
            <a:off x="3568701" y="3315454"/>
            <a:ext cx="1688924" cy="14351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2AB615EB-4074-F4EC-1738-2D5B97BD6CE1}"/>
              </a:ext>
            </a:extLst>
          </p:cNvPr>
          <p:cNvSpPr txBox="1"/>
          <p:nvPr/>
        </p:nvSpPr>
        <p:spPr>
          <a:xfrm>
            <a:off x="381001" y="4038600"/>
            <a:ext cx="2133600" cy="646331"/>
          </a:xfrm>
          <a:prstGeom prst="rect">
            <a:avLst/>
          </a:prstGeom>
          <a:solidFill>
            <a:schemeClr val="accent3">
              <a:lumMod val="40000"/>
              <a:lumOff val="60000"/>
            </a:schemeClr>
          </a:solidFill>
        </p:spPr>
        <p:txBody>
          <a:bodyPr wrap="square" rtlCol="0">
            <a:spAutoFit/>
          </a:bodyPr>
          <a:lstStyle/>
          <a:p>
            <a:r>
              <a:rPr lang="en-US" dirty="0"/>
              <a:t>Outcome: given top triage priority</a:t>
            </a:r>
          </a:p>
        </p:txBody>
      </p:sp>
      <p:sp>
        <p:nvSpPr>
          <p:cNvPr id="21" name="TextBox 20">
            <a:extLst>
              <a:ext uri="{FF2B5EF4-FFF2-40B4-BE49-F238E27FC236}">
                <a16:creationId xmlns:a16="http://schemas.microsoft.com/office/drawing/2014/main" id="{ECC3E39D-4FBD-2160-984D-A928544A3FE2}"/>
              </a:ext>
            </a:extLst>
          </p:cNvPr>
          <p:cNvSpPr txBox="1"/>
          <p:nvPr/>
        </p:nvSpPr>
        <p:spPr>
          <a:xfrm>
            <a:off x="2501901" y="4750600"/>
            <a:ext cx="2133600" cy="1477328"/>
          </a:xfrm>
          <a:prstGeom prst="rect">
            <a:avLst/>
          </a:prstGeom>
          <a:solidFill>
            <a:schemeClr val="accent3">
              <a:lumMod val="40000"/>
              <a:lumOff val="60000"/>
            </a:schemeClr>
          </a:solidFill>
        </p:spPr>
        <p:txBody>
          <a:bodyPr wrap="square" rtlCol="0">
            <a:spAutoFit/>
          </a:bodyPr>
          <a:lstStyle/>
          <a:p>
            <a:r>
              <a:rPr lang="en-US" dirty="0"/>
              <a:t>Key “treated” variable: patient is white. What is this measuring on its own?</a:t>
            </a:r>
          </a:p>
        </p:txBody>
      </p:sp>
    </p:spTree>
    <p:extLst>
      <p:ext uri="{BB962C8B-B14F-4D97-AF65-F5344CB8AC3E}">
        <p14:creationId xmlns:p14="http://schemas.microsoft.com/office/powerpoint/2010/main" val="104386829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794081-1412-479E-63C0-6FA728914A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8C5249-F9A5-190B-9EC5-0BF3BB763B25}"/>
              </a:ext>
            </a:extLst>
          </p:cNvPr>
          <p:cNvSpPr>
            <a:spLocks noGrp="1"/>
          </p:cNvSpPr>
          <p:nvPr>
            <p:ph type="title"/>
          </p:nvPr>
        </p:nvSpPr>
        <p:spPr>
          <a:xfrm>
            <a:off x="609600" y="365760"/>
            <a:ext cx="10344912" cy="777240"/>
          </a:xfrm>
        </p:spPr>
        <p:txBody>
          <a:bodyPr/>
          <a:lstStyle/>
          <a:p>
            <a:r>
              <a:rPr lang="en-US" dirty="0"/>
              <a:t>Example: discrimination in healthcare </a:t>
            </a:r>
          </a:p>
        </p:txBody>
      </p:sp>
      <p:sp>
        <p:nvSpPr>
          <p:cNvPr id="3" name="Content Placeholder 2">
            <a:extLst>
              <a:ext uri="{FF2B5EF4-FFF2-40B4-BE49-F238E27FC236}">
                <a16:creationId xmlns:a16="http://schemas.microsoft.com/office/drawing/2014/main" id="{7114658B-1216-FBA0-AE16-3F00A6467C1C}"/>
              </a:ext>
            </a:extLst>
          </p:cNvPr>
          <p:cNvSpPr>
            <a:spLocks noGrp="1"/>
          </p:cNvSpPr>
          <p:nvPr>
            <p:ph idx="1"/>
          </p:nvPr>
        </p:nvSpPr>
        <p:spPr>
          <a:xfrm>
            <a:off x="609600" y="1295400"/>
            <a:ext cx="10210800" cy="5196840"/>
          </a:xfrm>
        </p:spPr>
        <p:txBody>
          <a:bodyPr>
            <a:normAutofit/>
          </a:bodyPr>
          <a:lstStyle/>
          <a:p>
            <a:r>
              <a:rPr lang="en-US" sz="2200" dirty="0">
                <a:cs typeface="Times New Roman" panose="02020603050405020304" pitchFamily="18" charset="0"/>
              </a:rPr>
              <a:t>Identifying variation here is “prior case exposure and the time available to make the current decision.” Is this quasi-random from the triage nurse perspective? </a:t>
            </a:r>
          </a:p>
          <a:p>
            <a:r>
              <a:rPr lang="en-US" sz="2200" dirty="0">
                <a:cs typeface="Times New Roman" panose="02020603050405020304" pitchFamily="18" charset="0"/>
              </a:rPr>
              <a:t>What does the estimating equation look like? It’s a linear regression with controls! </a:t>
            </a:r>
          </a:p>
          <a:p>
            <a:endParaRPr lang="en-US" sz="2200" dirty="0">
              <a:cs typeface="Times New Roman" panose="02020603050405020304" pitchFamily="18" charset="0"/>
            </a:endParaRPr>
          </a:p>
        </p:txBody>
      </p:sp>
      <p:sp>
        <p:nvSpPr>
          <p:cNvPr id="8" name="TextBox 7">
            <a:extLst>
              <a:ext uri="{FF2B5EF4-FFF2-40B4-BE49-F238E27FC236}">
                <a16:creationId xmlns:a16="http://schemas.microsoft.com/office/drawing/2014/main" id="{ABFF06EA-9A95-AED4-8005-6462C7CC75F7}"/>
              </a:ext>
            </a:extLst>
          </p:cNvPr>
          <p:cNvSpPr txBox="1"/>
          <p:nvPr/>
        </p:nvSpPr>
        <p:spPr>
          <a:xfrm>
            <a:off x="228600" y="6275308"/>
            <a:ext cx="6102350" cy="369332"/>
          </a:xfrm>
          <a:prstGeom prst="rect">
            <a:avLst/>
          </a:prstGeom>
          <a:noFill/>
        </p:spPr>
        <p:txBody>
          <a:bodyPr wrap="square">
            <a:spAutoFit/>
          </a:bodyPr>
          <a:lstStyle/>
          <a:p>
            <a:r>
              <a:rPr lang="en-US" dirty="0">
                <a:hlinkClick r:id="rId3"/>
              </a:rPr>
              <a:t>https://sites.google.com/view/ashleylitwin/home</a:t>
            </a:r>
            <a:r>
              <a:rPr lang="en-US" dirty="0"/>
              <a:t> </a:t>
            </a:r>
          </a:p>
        </p:txBody>
      </p:sp>
      <p:pic>
        <p:nvPicPr>
          <p:cNvPr id="9" name="Picture 8">
            <a:extLst>
              <a:ext uri="{FF2B5EF4-FFF2-40B4-BE49-F238E27FC236}">
                <a16:creationId xmlns:a16="http://schemas.microsoft.com/office/drawing/2014/main" id="{E786275F-65BF-C962-FD0C-9A58E80C1E04}"/>
              </a:ext>
            </a:extLst>
          </p:cNvPr>
          <p:cNvPicPr>
            <a:picLocks noChangeAspect="1"/>
          </p:cNvPicPr>
          <p:nvPr/>
        </p:nvPicPr>
        <p:blipFill>
          <a:blip r:embed="rId4"/>
          <a:stretch>
            <a:fillRect/>
          </a:stretch>
        </p:blipFill>
        <p:spPr>
          <a:xfrm>
            <a:off x="2311225" y="2870908"/>
            <a:ext cx="6807550" cy="609631"/>
          </a:xfrm>
          <a:prstGeom prst="rect">
            <a:avLst/>
          </a:prstGeom>
        </p:spPr>
      </p:pic>
      <p:cxnSp>
        <p:nvCxnSpPr>
          <p:cNvPr id="11" name="Straight Arrow Connector 10">
            <a:extLst>
              <a:ext uri="{FF2B5EF4-FFF2-40B4-BE49-F238E27FC236}">
                <a16:creationId xmlns:a16="http://schemas.microsoft.com/office/drawing/2014/main" id="{52B872A1-30E1-5F91-95DD-E4627B80D2DF}"/>
              </a:ext>
            </a:extLst>
          </p:cNvPr>
          <p:cNvCxnSpPr>
            <a:cxnSpLocks/>
          </p:cNvCxnSpPr>
          <p:nvPr/>
        </p:nvCxnSpPr>
        <p:spPr>
          <a:xfrm flipV="1">
            <a:off x="1752600" y="3315454"/>
            <a:ext cx="1117425" cy="7231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3864E9FB-A907-6459-D3B3-5AEDE942FAC4}"/>
              </a:ext>
            </a:extLst>
          </p:cNvPr>
          <p:cNvCxnSpPr>
            <a:cxnSpLocks/>
          </p:cNvCxnSpPr>
          <p:nvPr/>
        </p:nvCxnSpPr>
        <p:spPr>
          <a:xfrm flipV="1">
            <a:off x="7470425" y="3328154"/>
            <a:ext cx="34575" cy="179490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D235E571-B8A5-B47C-0433-076865CD47D4}"/>
              </a:ext>
            </a:extLst>
          </p:cNvPr>
          <p:cNvCxnSpPr>
            <a:cxnSpLocks/>
          </p:cNvCxnSpPr>
          <p:nvPr/>
        </p:nvCxnSpPr>
        <p:spPr>
          <a:xfrm flipV="1">
            <a:off x="5981350" y="3328154"/>
            <a:ext cx="749650" cy="10787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768CA86B-1CA9-6833-DFFB-1A7BC1C35FD7}"/>
              </a:ext>
            </a:extLst>
          </p:cNvPr>
          <p:cNvCxnSpPr>
            <a:cxnSpLocks/>
            <a:stCxn id="21" idx="0"/>
          </p:cNvCxnSpPr>
          <p:nvPr/>
        </p:nvCxnSpPr>
        <p:spPr>
          <a:xfrm flipV="1">
            <a:off x="3568701" y="3315454"/>
            <a:ext cx="1688924" cy="14351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4991D706-72E3-D183-7318-3F8209BC4645}"/>
              </a:ext>
            </a:extLst>
          </p:cNvPr>
          <p:cNvCxnSpPr>
            <a:cxnSpLocks/>
          </p:cNvCxnSpPr>
          <p:nvPr/>
        </p:nvCxnSpPr>
        <p:spPr>
          <a:xfrm flipH="1" flipV="1">
            <a:off x="8096250" y="3372227"/>
            <a:ext cx="1581150" cy="114090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074925AE-9C75-68F7-766F-33610574B941}"/>
              </a:ext>
            </a:extLst>
          </p:cNvPr>
          <p:cNvSpPr txBox="1"/>
          <p:nvPr/>
        </p:nvSpPr>
        <p:spPr>
          <a:xfrm>
            <a:off x="381001" y="4038600"/>
            <a:ext cx="2133600" cy="646331"/>
          </a:xfrm>
          <a:prstGeom prst="rect">
            <a:avLst/>
          </a:prstGeom>
          <a:solidFill>
            <a:schemeClr val="accent3">
              <a:lumMod val="40000"/>
              <a:lumOff val="60000"/>
            </a:schemeClr>
          </a:solidFill>
        </p:spPr>
        <p:txBody>
          <a:bodyPr wrap="square" rtlCol="0">
            <a:spAutoFit/>
          </a:bodyPr>
          <a:lstStyle/>
          <a:p>
            <a:r>
              <a:rPr lang="en-US" dirty="0"/>
              <a:t>Outcome: given top triage priority</a:t>
            </a:r>
          </a:p>
        </p:txBody>
      </p:sp>
      <p:sp>
        <p:nvSpPr>
          <p:cNvPr id="21" name="TextBox 20">
            <a:extLst>
              <a:ext uri="{FF2B5EF4-FFF2-40B4-BE49-F238E27FC236}">
                <a16:creationId xmlns:a16="http://schemas.microsoft.com/office/drawing/2014/main" id="{1A4FA0E7-4FA3-4EC5-8ADB-673E09E6E4F4}"/>
              </a:ext>
            </a:extLst>
          </p:cNvPr>
          <p:cNvSpPr txBox="1"/>
          <p:nvPr/>
        </p:nvSpPr>
        <p:spPr>
          <a:xfrm>
            <a:off x="2501901" y="4750600"/>
            <a:ext cx="2133600" cy="923330"/>
          </a:xfrm>
          <a:prstGeom prst="rect">
            <a:avLst/>
          </a:prstGeom>
          <a:solidFill>
            <a:schemeClr val="accent3">
              <a:lumMod val="40000"/>
              <a:lumOff val="60000"/>
            </a:schemeClr>
          </a:solidFill>
        </p:spPr>
        <p:txBody>
          <a:bodyPr wrap="square" rtlCol="0">
            <a:spAutoFit/>
          </a:bodyPr>
          <a:lstStyle/>
          <a:p>
            <a:r>
              <a:rPr lang="en-US" dirty="0"/>
              <a:t>Key “treated” variable: patient is white</a:t>
            </a:r>
          </a:p>
        </p:txBody>
      </p:sp>
      <p:sp>
        <p:nvSpPr>
          <p:cNvPr id="29" name="TextBox 28">
            <a:extLst>
              <a:ext uri="{FF2B5EF4-FFF2-40B4-BE49-F238E27FC236}">
                <a16:creationId xmlns:a16="http://schemas.microsoft.com/office/drawing/2014/main" id="{C97C5761-6A68-7840-27AF-D53F4A79EADA}"/>
              </a:ext>
            </a:extLst>
          </p:cNvPr>
          <p:cNvSpPr txBox="1"/>
          <p:nvPr/>
        </p:nvSpPr>
        <p:spPr>
          <a:xfrm>
            <a:off x="4787813" y="4408275"/>
            <a:ext cx="2133600" cy="646331"/>
          </a:xfrm>
          <a:prstGeom prst="rect">
            <a:avLst/>
          </a:prstGeom>
          <a:solidFill>
            <a:schemeClr val="accent2">
              <a:lumMod val="40000"/>
              <a:lumOff val="60000"/>
            </a:schemeClr>
          </a:solidFill>
        </p:spPr>
        <p:txBody>
          <a:bodyPr wrap="square" rtlCol="0">
            <a:spAutoFit/>
          </a:bodyPr>
          <a:lstStyle/>
          <a:p>
            <a:r>
              <a:rPr lang="en-US" dirty="0"/>
              <a:t>“Fixed effects” for nurse-by-shift</a:t>
            </a:r>
          </a:p>
        </p:txBody>
      </p:sp>
      <p:sp>
        <p:nvSpPr>
          <p:cNvPr id="33" name="TextBox 32">
            <a:extLst>
              <a:ext uri="{FF2B5EF4-FFF2-40B4-BE49-F238E27FC236}">
                <a16:creationId xmlns:a16="http://schemas.microsoft.com/office/drawing/2014/main" id="{E586A39E-1829-9377-7BA9-80EBBB253D66}"/>
              </a:ext>
            </a:extLst>
          </p:cNvPr>
          <p:cNvSpPr txBox="1"/>
          <p:nvPr/>
        </p:nvSpPr>
        <p:spPr>
          <a:xfrm>
            <a:off x="6476606" y="5275455"/>
            <a:ext cx="2133600" cy="646331"/>
          </a:xfrm>
          <a:prstGeom prst="rect">
            <a:avLst/>
          </a:prstGeom>
          <a:solidFill>
            <a:schemeClr val="accent2">
              <a:lumMod val="40000"/>
              <a:lumOff val="60000"/>
            </a:schemeClr>
          </a:solidFill>
        </p:spPr>
        <p:txBody>
          <a:bodyPr wrap="square" rtlCol="0">
            <a:spAutoFit/>
          </a:bodyPr>
          <a:lstStyle/>
          <a:p>
            <a:r>
              <a:rPr lang="en-US" dirty="0"/>
              <a:t>“Fixed effects” for chief complaint</a:t>
            </a:r>
          </a:p>
        </p:txBody>
      </p:sp>
      <p:sp>
        <p:nvSpPr>
          <p:cNvPr id="36" name="TextBox 35">
            <a:extLst>
              <a:ext uri="{FF2B5EF4-FFF2-40B4-BE49-F238E27FC236}">
                <a16:creationId xmlns:a16="http://schemas.microsoft.com/office/drawing/2014/main" id="{7473B3A1-4DBD-7EA4-F262-4F4757635862}"/>
              </a:ext>
            </a:extLst>
          </p:cNvPr>
          <p:cNvSpPr txBox="1"/>
          <p:nvPr/>
        </p:nvSpPr>
        <p:spPr>
          <a:xfrm>
            <a:off x="8686800" y="4499561"/>
            <a:ext cx="2133600" cy="646331"/>
          </a:xfrm>
          <a:prstGeom prst="rect">
            <a:avLst/>
          </a:prstGeom>
          <a:solidFill>
            <a:schemeClr val="accent2">
              <a:lumMod val="40000"/>
              <a:lumOff val="60000"/>
            </a:schemeClr>
          </a:solidFill>
        </p:spPr>
        <p:txBody>
          <a:bodyPr wrap="square" rtlCol="0">
            <a:spAutoFit/>
          </a:bodyPr>
          <a:lstStyle/>
          <a:p>
            <a:r>
              <a:rPr lang="en-US" dirty="0"/>
              <a:t>“Fixed effects” for hospital-hour</a:t>
            </a:r>
          </a:p>
        </p:txBody>
      </p:sp>
    </p:spTree>
    <p:extLst>
      <p:ext uri="{BB962C8B-B14F-4D97-AF65-F5344CB8AC3E}">
        <p14:creationId xmlns:p14="http://schemas.microsoft.com/office/powerpoint/2010/main" val="252954303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B00F60-B5C3-67B4-EC03-6201F0DA5E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0F9BB5-C52F-B432-EEC6-2ADC4FAB0E8D}"/>
              </a:ext>
            </a:extLst>
          </p:cNvPr>
          <p:cNvSpPr>
            <a:spLocks noGrp="1"/>
          </p:cNvSpPr>
          <p:nvPr>
            <p:ph type="title"/>
          </p:nvPr>
        </p:nvSpPr>
        <p:spPr>
          <a:xfrm>
            <a:off x="609600" y="365760"/>
            <a:ext cx="10344912" cy="777240"/>
          </a:xfrm>
        </p:spPr>
        <p:txBody>
          <a:bodyPr/>
          <a:lstStyle/>
          <a:p>
            <a:r>
              <a:rPr lang="en-US" dirty="0"/>
              <a:t>Example: discrimination in healthcare </a:t>
            </a:r>
          </a:p>
        </p:txBody>
      </p:sp>
      <p:sp>
        <p:nvSpPr>
          <p:cNvPr id="3" name="Content Placeholder 2">
            <a:extLst>
              <a:ext uri="{FF2B5EF4-FFF2-40B4-BE49-F238E27FC236}">
                <a16:creationId xmlns:a16="http://schemas.microsoft.com/office/drawing/2014/main" id="{4593BF7D-CE7D-4501-05D0-29ACD107A89A}"/>
              </a:ext>
            </a:extLst>
          </p:cNvPr>
          <p:cNvSpPr>
            <a:spLocks noGrp="1"/>
          </p:cNvSpPr>
          <p:nvPr>
            <p:ph idx="1"/>
          </p:nvPr>
        </p:nvSpPr>
        <p:spPr>
          <a:xfrm>
            <a:off x="609600" y="1295400"/>
            <a:ext cx="10210800" cy="5196840"/>
          </a:xfrm>
        </p:spPr>
        <p:txBody>
          <a:bodyPr>
            <a:normAutofit/>
          </a:bodyPr>
          <a:lstStyle/>
          <a:p>
            <a:r>
              <a:rPr lang="en-US" sz="2200" dirty="0">
                <a:cs typeface="Times New Roman" panose="02020603050405020304" pitchFamily="18" charset="0"/>
              </a:rPr>
              <a:t>Identifying variation here is “prior case exposure and the time available to make the current decision.” Is this quasi-random from the triage nurse perspective? </a:t>
            </a:r>
          </a:p>
          <a:p>
            <a:r>
              <a:rPr lang="en-US" sz="2200" dirty="0">
                <a:cs typeface="Times New Roman" panose="02020603050405020304" pitchFamily="18" charset="0"/>
              </a:rPr>
              <a:t>What does the estimating equation look like? It’s a linear regression with controls! </a:t>
            </a:r>
          </a:p>
          <a:p>
            <a:endParaRPr lang="en-US" sz="2200" dirty="0">
              <a:cs typeface="Times New Roman" panose="02020603050405020304" pitchFamily="18" charset="0"/>
            </a:endParaRPr>
          </a:p>
          <a:p>
            <a:endParaRPr lang="en-US" sz="2200" dirty="0">
              <a:cs typeface="Times New Roman" panose="02020603050405020304" pitchFamily="18" charset="0"/>
            </a:endParaRPr>
          </a:p>
          <a:p>
            <a:pPr marL="0" indent="0">
              <a:buNone/>
            </a:pPr>
            <a:endParaRPr lang="en-US" sz="2200" dirty="0">
              <a:cs typeface="Times New Roman" panose="02020603050405020304" pitchFamily="18" charset="0"/>
            </a:endParaRPr>
          </a:p>
          <a:p>
            <a:endParaRPr lang="en-US" sz="2200" dirty="0">
              <a:cs typeface="Times New Roman" panose="02020603050405020304" pitchFamily="18" charset="0"/>
            </a:endParaRPr>
          </a:p>
        </p:txBody>
      </p:sp>
      <p:sp>
        <p:nvSpPr>
          <p:cNvPr id="8" name="TextBox 7">
            <a:extLst>
              <a:ext uri="{FF2B5EF4-FFF2-40B4-BE49-F238E27FC236}">
                <a16:creationId xmlns:a16="http://schemas.microsoft.com/office/drawing/2014/main" id="{93F3634B-0BB4-B622-4A9E-9681A17D93CE}"/>
              </a:ext>
            </a:extLst>
          </p:cNvPr>
          <p:cNvSpPr txBox="1"/>
          <p:nvPr/>
        </p:nvSpPr>
        <p:spPr>
          <a:xfrm>
            <a:off x="228600" y="6275308"/>
            <a:ext cx="6102350" cy="369332"/>
          </a:xfrm>
          <a:prstGeom prst="rect">
            <a:avLst/>
          </a:prstGeom>
          <a:noFill/>
        </p:spPr>
        <p:txBody>
          <a:bodyPr wrap="square">
            <a:spAutoFit/>
          </a:bodyPr>
          <a:lstStyle/>
          <a:p>
            <a:r>
              <a:rPr lang="en-US" dirty="0">
                <a:hlinkClick r:id="rId3"/>
              </a:rPr>
              <a:t>https://sites.google.com/view/ashleylitwin/home</a:t>
            </a:r>
            <a:r>
              <a:rPr lang="en-US" dirty="0"/>
              <a:t> </a:t>
            </a:r>
          </a:p>
        </p:txBody>
      </p:sp>
      <p:pic>
        <p:nvPicPr>
          <p:cNvPr id="9" name="Picture 8">
            <a:extLst>
              <a:ext uri="{FF2B5EF4-FFF2-40B4-BE49-F238E27FC236}">
                <a16:creationId xmlns:a16="http://schemas.microsoft.com/office/drawing/2014/main" id="{356262F3-A023-71BB-E02A-5E4639148AD3}"/>
              </a:ext>
            </a:extLst>
          </p:cNvPr>
          <p:cNvPicPr>
            <a:picLocks noChangeAspect="1"/>
          </p:cNvPicPr>
          <p:nvPr/>
        </p:nvPicPr>
        <p:blipFill>
          <a:blip r:embed="rId4"/>
          <a:stretch>
            <a:fillRect/>
          </a:stretch>
        </p:blipFill>
        <p:spPr>
          <a:xfrm>
            <a:off x="2311225" y="2870908"/>
            <a:ext cx="6807550" cy="609631"/>
          </a:xfrm>
          <a:prstGeom prst="rect">
            <a:avLst/>
          </a:prstGeom>
        </p:spPr>
      </p:pic>
      <p:pic>
        <p:nvPicPr>
          <p:cNvPr id="7" name="Picture 6">
            <a:extLst>
              <a:ext uri="{FF2B5EF4-FFF2-40B4-BE49-F238E27FC236}">
                <a16:creationId xmlns:a16="http://schemas.microsoft.com/office/drawing/2014/main" id="{6D3C81C4-E652-45D0-78B5-CA66CB8962AE}"/>
              </a:ext>
            </a:extLst>
          </p:cNvPr>
          <p:cNvPicPr>
            <a:picLocks noChangeAspect="1"/>
          </p:cNvPicPr>
          <p:nvPr/>
        </p:nvPicPr>
        <p:blipFill>
          <a:blip r:embed="rId5"/>
          <a:stretch>
            <a:fillRect/>
          </a:stretch>
        </p:blipFill>
        <p:spPr>
          <a:xfrm>
            <a:off x="381000" y="3429000"/>
            <a:ext cx="9102025" cy="2713270"/>
          </a:xfrm>
          <a:prstGeom prst="rect">
            <a:avLst/>
          </a:prstGeom>
        </p:spPr>
      </p:pic>
    </p:spTree>
    <p:extLst>
      <p:ext uri="{BB962C8B-B14F-4D97-AF65-F5344CB8AC3E}">
        <p14:creationId xmlns:p14="http://schemas.microsoft.com/office/powerpoint/2010/main" val="132802201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EA0E6D-9083-D92E-F166-B58DC822012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755291-4D50-A4DA-33CB-AB61E0A3E583}"/>
              </a:ext>
            </a:extLst>
          </p:cNvPr>
          <p:cNvSpPr>
            <a:spLocks noGrp="1"/>
          </p:cNvSpPr>
          <p:nvPr>
            <p:ph type="title"/>
          </p:nvPr>
        </p:nvSpPr>
        <p:spPr>
          <a:xfrm>
            <a:off x="609600" y="365760"/>
            <a:ext cx="10344912" cy="777240"/>
          </a:xfrm>
        </p:spPr>
        <p:txBody>
          <a:bodyPr/>
          <a:lstStyle/>
          <a:p>
            <a:r>
              <a:rPr lang="en-US" dirty="0"/>
              <a:t>Example: discrimination in healthcare </a:t>
            </a:r>
          </a:p>
        </p:txBody>
      </p:sp>
      <p:sp>
        <p:nvSpPr>
          <p:cNvPr id="3" name="Content Placeholder 2">
            <a:extLst>
              <a:ext uri="{FF2B5EF4-FFF2-40B4-BE49-F238E27FC236}">
                <a16:creationId xmlns:a16="http://schemas.microsoft.com/office/drawing/2014/main" id="{35F36C66-C4EA-6E35-8C52-C13AD8D8ADB1}"/>
              </a:ext>
            </a:extLst>
          </p:cNvPr>
          <p:cNvSpPr>
            <a:spLocks noGrp="1"/>
          </p:cNvSpPr>
          <p:nvPr>
            <p:ph idx="1"/>
          </p:nvPr>
        </p:nvSpPr>
        <p:spPr>
          <a:xfrm>
            <a:off x="609600" y="1295400"/>
            <a:ext cx="10210800" cy="5196840"/>
          </a:xfrm>
        </p:spPr>
        <p:txBody>
          <a:bodyPr>
            <a:normAutofit/>
          </a:bodyPr>
          <a:lstStyle/>
          <a:p>
            <a:r>
              <a:rPr lang="en-US" sz="2200" dirty="0">
                <a:cs typeface="Times New Roman" panose="02020603050405020304" pitchFamily="18" charset="0"/>
              </a:rPr>
              <a:t>Identifying variation here is “prior case exposure and the time available to make the current decision.” Is this quasi-random from the triage nurse perspective? </a:t>
            </a:r>
          </a:p>
          <a:p>
            <a:r>
              <a:rPr lang="en-US" sz="2200" dirty="0">
                <a:cs typeface="Times New Roman" panose="02020603050405020304" pitchFamily="18" charset="0"/>
              </a:rPr>
              <a:t>What does the estimating equation look like? It’s a linear regression with controls! </a:t>
            </a:r>
          </a:p>
          <a:p>
            <a:endParaRPr lang="en-US" sz="2200" dirty="0">
              <a:cs typeface="Times New Roman" panose="02020603050405020304" pitchFamily="18" charset="0"/>
            </a:endParaRPr>
          </a:p>
          <a:p>
            <a:endParaRPr lang="en-US" sz="2200" dirty="0">
              <a:cs typeface="Times New Roman" panose="02020603050405020304" pitchFamily="18" charset="0"/>
            </a:endParaRPr>
          </a:p>
          <a:p>
            <a:pPr marL="0" indent="0">
              <a:buNone/>
            </a:pPr>
            <a:endParaRPr lang="en-US" sz="2200" dirty="0">
              <a:cs typeface="Times New Roman" panose="02020603050405020304" pitchFamily="18" charset="0"/>
            </a:endParaRPr>
          </a:p>
          <a:p>
            <a:endParaRPr lang="en-US" sz="2200" dirty="0">
              <a:cs typeface="Times New Roman" panose="02020603050405020304" pitchFamily="18" charset="0"/>
            </a:endParaRPr>
          </a:p>
        </p:txBody>
      </p:sp>
      <p:sp>
        <p:nvSpPr>
          <p:cNvPr id="8" name="TextBox 7">
            <a:extLst>
              <a:ext uri="{FF2B5EF4-FFF2-40B4-BE49-F238E27FC236}">
                <a16:creationId xmlns:a16="http://schemas.microsoft.com/office/drawing/2014/main" id="{FC1BFD6E-6B31-6441-F5EC-089DD6D38DCC}"/>
              </a:ext>
            </a:extLst>
          </p:cNvPr>
          <p:cNvSpPr txBox="1"/>
          <p:nvPr/>
        </p:nvSpPr>
        <p:spPr>
          <a:xfrm>
            <a:off x="228600" y="6275308"/>
            <a:ext cx="6102350" cy="369332"/>
          </a:xfrm>
          <a:prstGeom prst="rect">
            <a:avLst/>
          </a:prstGeom>
          <a:noFill/>
        </p:spPr>
        <p:txBody>
          <a:bodyPr wrap="square">
            <a:spAutoFit/>
          </a:bodyPr>
          <a:lstStyle/>
          <a:p>
            <a:r>
              <a:rPr lang="en-US" dirty="0">
                <a:hlinkClick r:id="rId3"/>
              </a:rPr>
              <a:t>https://sites.google.com/view/ashleylitwin/home</a:t>
            </a:r>
            <a:r>
              <a:rPr lang="en-US" dirty="0"/>
              <a:t> </a:t>
            </a:r>
          </a:p>
        </p:txBody>
      </p:sp>
      <p:pic>
        <p:nvPicPr>
          <p:cNvPr id="9" name="Picture 8">
            <a:extLst>
              <a:ext uri="{FF2B5EF4-FFF2-40B4-BE49-F238E27FC236}">
                <a16:creationId xmlns:a16="http://schemas.microsoft.com/office/drawing/2014/main" id="{B5622235-5DD9-15D0-9475-61131922AE56}"/>
              </a:ext>
            </a:extLst>
          </p:cNvPr>
          <p:cNvPicPr>
            <a:picLocks noChangeAspect="1"/>
          </p:cNvPicPr>
          <p:nvPr/>
        </p:nvPicPr>
        <p:blipFill>
          <a:blip r:embed="rId4"/>
          <a:stretch>
            <a:fillRect/>
          </a:stretch>
        </p:blipFill>
        <p:spPr>
          <a:xfrm>
            <a:off x="2311225" y="2870908"/>
            <a:ext cx="6807550" cy="609631"/>
          </a:xfrm>
          <a:prstGeom prst="rect">
            <a:avLst/>
          </a:prstGeom>
        </p:spPr>
      </p:pic>
      <p:pic>
        <p:nvPicPr>
          <p:cNvPr id="5" name="Picture 4">
            <a:extLst>
              <a:ext uri="{FF2B5EF4-FFF2-40B4-BE49-F238E27FC236}">
                <a16:creationId xmlns:a16="http://schemas.microsoft.com/office/drawing/2014/main" id="{37A2C96F-56B7-59ED-9E8A-A991684CDB7C}"/>
              </a:ext>
            </a:extLst>
          </p:cNvPr>
          <p:cNvPicPr>
            <a:picLocks noChangeAspect="1"/>
          </p:cNvPicPr>
          <p:nvPr/>
        </p:nvPicPr>
        <p:blipFill>
          <a:blip r:embed="rId5"/>
          <a:stretch>
            <a:fillRect/>
          </a:stretch>
        </p:blipFill>
        <p:spPr>
          <a:xfrm>
            <a:off x="1447800" y="2687381"/>
            <a:ext cx="8160169" cy="3448227"/>
          </a:xfrm>
          <a:prstGeom prst="rect">
            <a:avLst/>
          </a:prstGeom>
        </p:spPr>
      </p:pic>
      <mc:AlternateContent xmlns:mc="http://schemas.openxmlformats.org/markup-compatibility/2006">
        <mc:Choice xmlns:p14="http://schemas.microsoft.com/office/powerpoint/2010/main" Requires="p14">
          <p:contentPart p14:bwMode="auto" r:id="rId6">
            <p14:nvContentPartPr>
              <p14:cNvPr id="4" name="Ink 3">
                <a:extLst>
                  <a:ext uri="{FF2B5EF4-FFF2-40B4-BE49-F238E27FC236}">
                    <a16:creationId xmlns:a16="http://schemas.microsoft.com/office/drawing/2014/main" id="{90A50312-CF93-7C1E-DF89-F4BC87C0697B}"/>
                  </a:ext>
                </a:extLst>
              </p14:cNvPr>
              <p14:cNvContentPartPr/>
              <p14:nvPr/>
            </p14:nvContentPartPr>
            <p14:xfrm>
              <a:off x="4746660" y="2689800"/>
              <a:ext cx="1949760" cy="676800"/>
            </p14:xfrm>
          </p:contentPart>
        </mc:Choice>
        <mc:Fallback>
          <p:pic>
            <p:nvPicPr>
              <p:cNvPr id="4" name="Ink 3">
                <a:extLst>
                  <a:ext uri="{FF2B5EF4-FFF2-40B4-BE49-F238E27FC236}">
                    <a16:creationId xmlns:a16="http://schemas.microsoft.com/office/drawing/2014/main" id="{90A50312-CF93-7C1E-DF89-F4BC87C0697B}"/>
                  </a:ext>
                </a:extLst>
              </p:cNvPr>
              <p:cNvPicPr/>
              <p:nvPr/>
            </p:nvPicPr>
            <p:blipFill>
              <a:blip r:embed="rId7"/>
              <a:stretch>
                <a:fillRect/>
              </a:stretch>
            </p:blipFill>
            <p:spPr>
              <a:xfrm>
                <a:off x="4693020" y="2582160"/>
                <a:ext cx="2057400" cy="892440"/>
              </a:xfrm>
              <a:prstGeom prst="rect">
                <a:avLst/>
              </a:prstGeom>
            </p:spPr>
          </p:pic>
        </mc:Fallback>
      </mc:AlternateContent>
      <mc:AlternateContent xmlns:mc="http://schemas.openxmlformats.org/markup-compatibility/2006">
        <mc:Choice xmlns:p14="http://schemas.microsoft.com/office/powerpoint/2010/main" Requires="p14">
          <p:contentPart p14:bwMode="auto" r:id="rId8">
            <p14:nvContentPartPr>
              <p14:cNvPr id="6" name="Ink 5">
                <a:extLst>
                  <a:ext uri="{FF2B5EF4-FFF2-40B4-BE49-F238E27FC236}">
                    <a16:creationId xmlns:a16="http://schemas.microsoft.com/office/drawing/2014/main" id="{862A3527-DAED-B279-1C56-A2BC3B9906C4}"/>
                  </a:ext>
                </a:extLst>
              </p14:cNvPr>
              <p14:cNvContentPartPr/>
              <p14:nvPr/>
            </p14:nvContentPartPr>
            <p14:xfrm>
              <a:off x="6380700" y="3948720"/>
              <a:ext cx="439560" cy="293400"/>
            </p14:xfrm>
          </p:contentPart>
        </mc:Choice>
        <mc:Fallback>
          <p:pic>
            <p:nvPicPr>
              <p:cNvPr id="6" name="Ink 5">
                <a:extLst>
                  <a:ext uri="{FF2B5EF4-FFF2-40B4-BE49-F238E27FC236}">
                    <a16:creationId xmlns:a16="http://schemas.microsoft.com/office/drawing/2014/main" id="{862A3527-DAED-B279-1C56-A2BC3B9906C4}"/>
                  </a:ext>
                </a:extLst>
              </p:cNvPr>
              <p:cNvPicPr/>
              <p:nvPr/>
            </p:nvPicPr>
            <p:blipFill>
              <a:blip r:embed="rId9"/>
              <a:stretch>
                <a:fillRect/>
              </a:stretch>
            </p:blipFill>
            <p:spPr>
              <a:xfrm>
                <a:off x="6326700" y="3840720"/>
                <a:ext cx="547200" cy="509040"/>
              </a:xfrm>
              <a:prstGeom prst="rect">
                <a:avLst/>
              </a:prstGeom>
            </p:spPr>
          </p:pic>
        </mc:Fallback>
      </mc:AlternateContent>
    </p:spTree>
    <p:extLst>
      <p:ext uri="{BB962C8B-B14F-4D97-AF65-F5344CB8AC3E}">
        <p14:creationId xmlns:p14="http://schemas.microsoft.com/office/powerpoint/2010/main" val="313062821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2">
            <a:lumMod val="75000"/>
          </a:schemeClr>
        </a:solidFill>
        <a:effectLst/>
      </p:bgPr>
    </p:bg>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3BC921DF-9345-4B9D-A324-FA2A21AFF5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useBgFill="1">
        <p:nvSpPr>
          <p:cNvPr id="23" name="Rectangle 22">
            <a:extLst>
              <a:ext uri="{FF2B5EF4-FFF2-40B4-BE49-F238E27FC236}">
                <a16:creationId xmlns:a16="http://schemas.microsoft.com/office/drawing/2014/main" id="{A1EE3CC7-2194-4DE5-B62A-44A7077D05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251489"/>
            <a:ext cx="11292840" cy="260651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6" name="Title 1">
            <a:extLst>
              <a:ext uri="{FF2B5EF4-FFF2-40B4-BE49-F238E27FC236}">
                <a16:creationId xmlns:a16="http://schemas.microsoft.com/office/drawing/2014/main" id="{03C36F95-5C14-7ECA-3088-A91244F70076}"/>
              </a:ext>
            </a:extLst>
          </p:cNvPr>
          <p:cNvSpPr txBox="1">
            <a:spLocks/>
          </p:cNvSpPr>
          <p:nvPr/>
        </p:nvSpPr>
        <p:spPr>
          <a:xfrm>
            <a:off x="914400" y="4624001"/>
            <a:ext cx="9777603" cy="1152524"/>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a:lstStyle>
          <a:p>
            <a:pPr>
              <a:lnSpc>
                <a:spcPct val="85000"/>
              </a:lnSpc>
              <a:spcAft>
                <a:spcPts val="600"/>
              </a:spcAft>
            </a:pPr>
            <a:r>
              <a:rPr lang="en-US" sz="4100" kern="1200" spc="-50" baseline="0">
                <a:solidFill>
                  <a:schemeClr val="tx1"/>
                </a:solidFill>
                <a:latin typeface="+mj-lt"/>
                <a:ea typeface="+mj-ea"/>
                <a:cs typeface="+mj-cs"/>
              </a:rPr>
              <a:t>Example: discrimination in healthcare </a:t>
            </a:r>
          </a:p>
        </p:txBody>
      </p:sp>
      <p:sp>
        <p:nvSpPr>
          <p:cNvPr id="24" name="Rectangle 23">
            <a:extLst>
              <a:ext uri="{FF2B5EF4-FFF2-40B4-BE49-F238E27FC236}">
                <a16:creationId xmlns:a16="http://schemas.microsoft.com/office/drawing/2014/main" id="{5C86F7B6-C089-4557-B97A-3E9D423929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1" name="Rectangle 20">
            <a:extLst>
              <a:ext uri="{FF2B5EF4-FFF2-40B4-BE49-F238E27FC236}">
                <a16:creationId xmlns:a16="http://schemas.microsoft.com/office/drawing/2014/main" id="{47130899-E4D0-4FB2-BA18-591F0CA89E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7200" y="0"/>
            <a:ext cx="10812092" cy="4251489"/>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C7337F00-134A-3DA2-747F-E1A811B68F51}"/>
              </a:ext>
            </a:extLst>
          </p:cNvPr>
          <p:cNvPicPr>
            <a:picLocks noChangeAspect="1"/>
          </p:cNvPicPr>
          <p:nvPr/>
        </p:nvPicPr>
        <p:blipFill>
          <a:blip r:embed="rId2"/>
          <a:stretch>
            <a:fillRect/>
          </a:stretch>
        </p:blipFill>
        <p:spPr>
          <a:xfrm>
            <a:off x="0" y="862241"/>
            <a:ext cx="4114800" cy="3363848"/>
          </a:xfrm>
          <a:prstGeom prst="rect">
            <a:avLst/>
          </a:prstGeom>
        </p:spPr>
      </p:pic>
      <p:pic>
        <p:nvPicPr>
          <p:cNvPr id="5" name="Picture 4">
            <a:extLst>
              <a:ext uri="{FF2B5EF4-FFF2-40B4-BE49-F238E27FC236}">
                <a16:creationId xmlns:a16="http://schemas.microsoft.com/office/drawing/2014/main" id="{98E690CB-7476-1ABC-BDE9-CD7B1BA3F9B9}"/>
              </a:ext>
            </a:extLst>
          </p:cNvPr>
          <p:cNvPicPr>
            <a:picLocks noChangeAspect="1"/>
          </p:cNvPicPr>
          <p:nvPr/>
        </p:nvPicPr>
        <p:blipFill>
          <a:blip r:embed="rId3"/>
          <a:stretch>
            <a:fillRect/>
          </a:stretch>
        </p:blipFill>
        <p:spPr>
          <a:xfrm>
            <a:off x="4032250" y="862241"/>
            <a:ext cx="4114800" cy="3302126"/>
          </a:xfrm>
          <a:prstGeom prst="rect">
            <a:avLst/>
          </a:prstGeom>
        </p:spPr>
      </p:pic>
      <p:pic>
        <p:nvPicPr>
          <p:cNvPr id="10" name="Picture 9">
            <a:extLst>
              <a:ext uri="{FF2B5EF4-FFF2-40B4-BE49-F238E27FC236}">
                <a16:creationId xmlns:a16="http://schemas.microsoft.com/office/drawing/2014/main" id="{DC25AED8-1EBF-4506-197A-23219DC92F0F}"/>
              </a:ext>
            </a:extLst>
          </p:cNvPr>
          <p:cNvPicPr>
            <a:picLocks noChangeAspect="1"/>
          </p:cNvPicPr>
          <p:nvPr/>
        </p:nvPicPr>
        <p:blipFill>
          <a:blip r:embed="rId4"/>
          <a:stretch>
            <a:fillRect/>
          </a:stretch>
        </p:blipFill>
        <p:spPr>
          <a:xfrm>
            <a:off x="8064500" y="862241"/>
            <a:ext cx="4114800" cy="2921508"/>
          </a:xfrm>
          <a:prstGeom prst="rect">
            <a:avLst/>
          </a:prstGeom>
        </p:spPr>
      </p:pic>
    </p:spTree>
    <p:extLst>
      <p:ext uri="{BB962C8B-B14F-4D97-AF65-F5344CB8AC3E}">
        <p14:creationId xmlns:p14="http://schemas.microsoft.com/office/powerpoint/2010/main" val="42561051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7DF928-1224-5428-3030-0A44F5B7B9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FC06E7-7749-A7D1-FE2E-0F8391F2A035}"/>
              </a:ext>
            </a:extLst>
          </p:cNvPr>
          <p:cNvSpPr>
            <a:spLocks noGrp="1"/>
          </p:cNvSpPr>
          <p:nvPr>
            <p:ph type="ctrTitle"/>
          </p:nvPr>
        </p:nvSpPr>
        <p:spPr>
          <a:xfrm>
            <a:off x="1261872" y="758952"/>
            <a:ext cx="10549128" cy="4041648"/>
          </a:xfrm>
        </p:spPr>
        <p:txBody>
          <a:bodyPr/>
          <a:lstStyle/>
          <a:p>
            <a:r>
              <a:rPr lang="en-US" dirty="0"/>
              <a:t>Selecting a Research Design</a:t>
            </a:r>
          </a:p>
        </p:txBody>
      </p:sp>
      <p:sp>
        <p:nvSpPr>
          <p:cNvPr id="3" name="Subtitle 2">
            <a:extLst>
              <a:ext uri="{FF2B5EF4-FFF2-40B4-BE49-F238E27FC236}">
                <a16:creationId xmlns:a16="http://schemas.microsoft.com/office/drawing/2014/main" id="{6322DE46-EFA9-802E-040F-0586D8DFCDFC}"/>
              </a:ext>
            </a:extLst>
          </p:cNvPr>
          <p:cNvSpPr>
            <a:spLocks noGrp="1"/>
          </p:cNvSpPr>
          <p:nvPr>
            <p:ph type="subTitle" idx="1"/>
          </p:nvPr>
        </p:nvSpPr>
        <p:spPr/>
        <p:txBody>
          <a:bodyPr>
            <a:normAutofit/>
          </a:bodyPr>
          <a:lstStyle/>
          <a:p>
            <a:r>
              <a:rPr lang="en-US" sz="4400" dirty="0"/>
              <a:t>Target Trial Emulation</a:t>
            </a:r>
          </a:p>
        </p:txBody>
      </p:sp>
    </p:spTree>
    <p:extLst>
      <p:ext uri="{BB962C8B-B14F-4D97-AF65-F5344CB8AC3E}">
        <p14:creationId xmlns:p14="http://schemas.microsoft.com/office/powerpoint/2010/main" val="395838209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9E6F42-B37B-56B1-F0AC-B1175CA7C6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75A7EF-935A-436E-BC05-0086B98AE108}"/>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One approach: target trial emulation</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C1231161-3DAE-2B90-58D4-867D3409CBBF}"/>
              </a:ext>
            </a:extLst>
          </p:cNvPr>
          <p:cNvSpPr>
            <a:spLocks noGrp="1"/>
          </p:cNvSpPr>
          <p:nvPr>
            <p:ph idx="1"/>
          </p:nvPr>
        </p:nvSpPr>
        <p:spPr>
          <a:xfrm>
            <a:off x="762000" y="962232"/>
            <a:ext cx="5049495" cy="5217905"/>
          </a:xfrm>
        </p:spPr>
        <p:txBody>
          <a:bodyPr>
            <a:normAutofit/>
          </a:bodyPr>
          <a:lstStyle/>
          <a:p>
            <a:pPr marL="0" indent="0">
              <a:buNone/>
            </a:pPr>
            <a:r>
              <a:rPr lang="en-US" sz="2200" b="1" dirty="0"/>
              <a:t>A good approach is clear about: </a:t>
            </a:r>
          </a:p>
          <a:p>
            <a:r>
              <a:rPr lang="en-US" sz="2200" dirty="0"/>
              <a:t>The causal questions posed, </a:t>
            </a:r>
          </a:p>
          <a:p>
            <a:r>
              <a:rPr lang="en-US" sz="2200" dirty="0"/>
              <a:t>the approach taken, and </a:t>
            </a:r>
          </a:p>
          <a:p>
            <a:r>
              <a:rPr lang="en-US" sz="2200" dirty="0"/>
              <a:t>the assumptions on which inferences rest</a:t>
            </a:r>
          </a:p>
          <a:p>
            <a:pPr marL="0" indent="0">
              <a:buNone/>
            </a:pPr>
            <a:r>
              <a:rPr lang="en-US" sz="2200" u="sng" dirty="0"/>
              <a:t>In essence, you’re asking </a:t>
            </a:r>
            <a:r>
              <a:rPr lang="en-US" sz="2200" b="1" u="sng" dirty="0"/>
              <a:t>“what’s the experiment I would run</a:t>
            </a:r>
            <a:r>
              <a:rPr lang="en-US" sz="2200" u="sng" dirty="0"/>
              <a:t>?” </a:t>
            </a:r>
          </a:p>
          <a:p>
            <a:pPr marL="0" indent="0">
              <a:buNone/>
            </a:pPr>
            <a:endParaRPr lang="en-US" sz="2200" dirty="0"/>
          </a:p>
          <a:p>
            <a:pPr marL="0" indent="0">
              <a:buNone/>
            </a:pPr>
            <a:endParaRPr lang="en-US" sz="2200" dirty="0"/>
          </a:p>
        </p:txBody>
      </p:sp>
      <p:pic>
        <p:nvPicPr>
          <p:cNvPr id="9" name="Picture 8" descr="Target trial emulation framework: mitigating methodological challenges and  application in COVID-19 treatment evaluation studies - Clinical  Microbiology and Infection">
            <a:extLst>
              <a:ext uri="{FF2B5EF4-FFF2-40B4-BE49-F238E27FC236}">
                <a16:creationId xmlns:a16="http://schemas.microsoft.com/office/drawing/2014/main" id="{407F88C0-E829-CD1C-D281-92CEC68EB838}"/>
              </a:ext>
            </a:extLst>
          </p:cNvPr>
          <p:cNvPicPr>
            <a:picLocks noChangeAspect="1"/>
          </p:cNvPicPr>
          <p:nvPr/>
        </p:nvPicPr>
        <p:blipFill>
          <a:blip r:embed="rId3"/>
          <a:srcRect t="6697" r="49144"/>
          <a:stretch>
            <a:fillRect/>
          </a:stretch>
        </p:blipFill>
        <p:spPr>
          <a:xfrm>
            <a:off x="5699748" y="924132"/>
            <a:ext cx="5410200" cy="5861763"/>
          </a:xfrm>
          <a:prstGeom prst="rect">
            <a:avLst/>
          </a:prstGeom>
        </p:spPr>
      </p:pic>
    </p:spTree>
    <p:extLst>
      <p:ext uri="{BB962C8B-B14F-4D97-AF65-F5344CB8AC3E}">
        <p14:creationId xmlns:p14="http://schemas.microsoft.com/office/powerpoint/2010/main" val="252780204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8061FC-712D-7ABF-2AF4-07448182B7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222550-0014-4CF7-E91D-B6CA0891A993}"/>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Target Trial Emulation</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F5F0BE4E-715B-08DC-7A2D-0F5471D79306}"/>
              </a:ext>
            </a:extLst>
          </p:cNvPr>
          <p:cNvSpPr>
            <a:spLocks noGrp="1"/>
          </p:cNvSpPr>
          <p:nvPr>
            <p:ph idx="1"/>
          </p:nvPr>
        </p:nvSpPr>
        <p:spPr>
          <a:xfrm>
            <a:off x="762000" y="962232"/>
            <a:ext cx="9982200" cy="5217905"/>
          </a:xfrm>
        </p:spPr>
        <p:txBody>
          <a:bodyPr>
            <a:normAutofit/>
          </a:bodyPr>
          <a:lstStyle/>
          <a:p>
            <a:pPr marL="0" indent="0">
              <a:buNone/>
            </a:pPr>
            <a:r>
              <a:rPr lang="en-US" sz="2200" b="1" dirty="0"/>
              <a:t>Think about this in two steps: </a:t>
            </a:r>
          </a:p>
          <a:p>
            <a:pPr marL="457200" indent="-457200">
              <a:buAutoNum type="arabicPeriod"/>
            </a:pPr>
            <a:r>
              <a:rPr lang="en-US" sz="2200" dirty="0"/>
              <a:t>Articulate the target trial (“A macabre thought experiment…”)</a:t>
            </a:r>
          </a:p>
          <a:p>
            <a:pPr lvl="1"/>
            <a:r>
              <a:rPr lang="en-US" sz="2000" dirty="0"/>
              <a:t>This should be as specific as possible! What would be eligibility criteria, treatment assignment, exposure definition, outcomes, etc.?</a:t>
            </a:r>
          </a:p>
          <a:p>
            <a:pPr marL="457200" indent="-457200">
              <a:buFont typeface="+mj-lt"/>
              <a:buAutoNum type="arabicPeriod"/>
            </a:pPr>
            <a:r>
              <a:rPr lang="en-US" sz="2200" dirty="0"/>
              <a:t>Then, match that trial to data in a research design.</a:t>
            </a:r>
          </a:p>
          <a:p>
            <a:pPr lvl="1"/>
            <a:r>
              <a:rPr lang="en-US" sz="2000" dirty="0"/>
              <a:t>Construct the sample accordingly</a:t>
            </a:r>
          </a:p>
          <a:p>
            <a:pPr lvl="1"/>
            <a:r>
              <a:rPr lang="en-US" sz="2000" dirty="0"/>
              <a:t>Define key issues (such as when a person is considered “in the sample” or “treated”)</a:t>
            </a:r>
          </a:p>
          <a:p>
            <a:pPr lvl="1"/>
            <a:r>
              <a:rPr lang="en-US" sz="2000" dirty="0"/>
              <a:t>Choose a design that mimics random exposure to the treatment</a:t>
            </a:r>
          </a:p>
          <a:p>
            <a:pPr lvl="1"/>
            <a:r>
              <a:rPr lang="en-US" sz="2000" dirty="0"/>
              <a:t>Measure outcomes consistently and map into a clear </a:t>
            </a:r>
            <a:r>
              <a:rPr lang="en-US" sz="2000" b="1" dirty="0"/>
              <a:t>estimation strategy </a:t>
            </a:r>
            <a:endParaRPr lang="en-US" sz="2000" dirty="0"/>
          </a:p>
        </p:txBody>
      </p:sp>
    </p:spTree>
    <p:extLst>
      <p:ext uri="{BB962C8B-B14F-4D97-AF65-F5344CB8AC3E}">
        <p14:creationId xmlns:p14="http://schemas.microsoft.com/office/powerpoint/2010/main" val="208874691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DBED09-7994-EBE3-5BBD-70887C65B3C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E62727-F648-28F9-92EB-A5FF550B4679}"/>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Why the complexity? </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8BA9A041-0447-74C7-3B4E-6BC33CE1ECA3}"/>
              </a:ext>
            </a:extLst>
          </p:cNvPr>
          <p:cNvSpPr>
            <a:spLocks noGrp="1"/>
          </p:cNvSpPr>
          <p:nvPr>
            <p:ph idx="1"/>
          </p:nvPr>
        </p:nvSpPr>
        <p:spPr>
          <a:xfrm>
            <a:off x="762000" y="962232"/>
            <a:ext cx="9982200" cy="5217905"/>
          </a:xfrm>
        </p:spPr>
        <p:txBody>
          <a:bodyPr>
            <a:normAutofit/>
          </a:bodyPr>
          <a:lstStyle/>
          <a:p>
            <a:pPr marL="0" indent="0">
              <a:buNone/>
            </a:pPr>
            <a:r>
              <a:rPr lang="en-US" sz="2400" dirty="0"/>
              <a:t>Answering causal questions with observational data requires fixing some obvious biases (e.g., selection into a program) and some less obvious ones</a:t>
            </a:r>
          </a:p>
          <a:p>
            <a:pPr marL="0" indent="0">
              <a:buNone/>
            </a:pPr>
            <a:r>
              <a:rPr lang="en-US" sz="2400" b="1" u="sng" dirty="0"/>
              <a:t>Example: Immortal Time Bias</a:t>
            </a:r>
            <a:r>
              <a:rPr lang="en-US" sz="2400" dirty="0"/>
              <a:t>: did you accidentally design the study so that comparisons are invalid? </a:t>
            </a:r>
          </a:p>
          <a:p>
            <a:pPr marL="0" indent="0">
              <a:buNone/>
            </a:pPr>
            <a:r>
              <a:rPr lang="en-US" sz="2400" dirty="0"/>
              <a:t>Consider a simple 2x2 design</a:t>
            </a:r>
          </a:p>
          <a:p>
            <a:pPr marL="0" indent="0">
              <a:buNone/>
            </a:pPr>
            <a:endParaRPr lang="en-US" sz="2400" dirty="0"/>
          </a:p>
        </p:txBody>
      </p:sp>
      <p:graphicFrame>
        <p:nvGraphicFramePr>
          <p:cNvPr id="3" name="Table 2">
            <a:extLst>
              <a:ext uri="{FF2B5EF4-FFF2-40B4-BE49-F238E27FC236}">
                <a16:creationId xmlns:a16="http://schemas.microsoft.com/office/drawing/2014/main" id="{F35FE03B-DEB2-6BA1-A526-AD6EAE37B243}"/>
              </a:ext>
            </a:extLst>
          </p:cNvPr>
          <p:cNvGraphicFramePr>
            <a:graphicFrameLocks noGrp="1"/>
          </p:cNvGraphicFramePr>
          <p:nvPr/>
        </p:nvGraphicFramePr>
        <p:xfrm>
          <a:off x="1765300" y="3429000"/>
          <a:ext cx="8128000" cy="741680"/>
        </p:xfrm>
        <a:graphic>
          <a:graphicData uri="http://schemas.openxmlformats.org/drawingml/2006/table">
            <a:tbl>
              <a:tblPr firstRow="1" bandRow="1">
                <a:tableStyleId>{BC89EF96-8CEA-46FF-86C4-4CE0E7609802}</a:tableStyleId>
              </a:tblPr>
              <a:tblGrid>
                <a:gridCol w="4064000">
                  <a:extLst>
                    <a:ext uri="{9D8B030D-6E8A-4147-A177-3AD203B41FA5}">
                      <a16:colId xmlns:a16="http://schemas.microsoft.com/office/drawing/2014/main" val="1985179015"/>
                    </a:ext>
                  </a:extLst>
                </a:gridCol>
                <a:gridCol w="4064000">
                  <a:extLst>
                    <a:ext uri="{9D8B030D-6E8A-4147-A177-3AD203B41FA5}">
                      <a16:colId xmlns:a16="http://schemas.microsoft.com/office/drawing/2014/main" val="1670835363"/>
                    </a:ext>
                  </a:extLst>
                </a:gridCol>
              </a:tblGrid>
              <a:tr h="370840">
                <a:tc>
                  <a:txBody>
                    <a:bodyPr/>
                    <a:lstStyle/>
                    <a:p>
                      <a:pPr algn="ctr"/>
                      <a:r>
                        <a:rPr lang="en-US" b="1" u="none" dirty="0"/>
                        <a:t>Treated – before</a:t>
                      </a:r>
                    </a:p>
                  </a:txBody>
                  <a:tcPr/>
                </a:tc>
                <a:tc>
                  <a:txBody>
                    <a:bodyPr/>
                    <a:lstStyle/>
                    <a:p>
                      <a:pPr algn="ctr"/>
                      <a:r>
                        <a:rPr lang="en-US" b="1" u="none" dirty="0"/>
                        <a:t>Treated – after</a:t>
                      </a:r>
                    </a:p>
                  </a:txBody>
                  <a:tcPr/>
                </a:tc>
                <a:extLst>
                  <a:ext uri="{0D108BD9-81ED-4DB2-BD59-A6C34878D82A}">
                    <a16:rowId xmlns:a16="http://schemas.microsoft.com/office/drawing/2014/main" val="2147268451"/>
                  </a:ext>
                </a:extLst>
              </a:tr>
              <a:tr h="370840">
                <a:tc>
                  <a:txBody>
                    <a:bodyPr/>
                    <a:lstStyle/>
                    <a:p>
                      <a:pPr algn="ctr"/>
                      <a:r>
                        <a:rPr lang="en-US" b="1" u="none" dirty="0"/>
                        <a:t>Control – before</a:t>
                      </a:r>
                    </a:p>
                  </a:txBody>
                  <a:tcPr/>
                </a:tc>
                <a:tc>
                  <a:txBody>
                    <a:bodyPr/>
                    <a:lstStyle/>
                    <a:p>
                      <a:pPr algn="ctr"/>
                      <a:r>
                        <a:rPr lang="en-US" b="1" u="none" dirty="0"/>
                        <a:t>Control -- after</a:t>
                      </a:r>
                    </a:p>
                  </a:txBody>
                  <a:tcPr/>
                </a:tc>
                <a:extLst>
                  <a:ext uri="{0D108BD9-81ED-4DB2-BD59-A6C34878D82A}">
                    <a16:rowId xmlns:a16="http://schemas.microsoft.com/office/drawing/2014/main" val="3709764692"/>
                  </a:ext>
                </a:extLst>
              </a:tr>
            </a:tbl>
          </a:graphicData>
        </a:graphic>
      </p:graphicFrame>
    </p:spTree>
    <p:extLst>
      <p:ext uri="{BB962C8B-B14F-4D97-AF65-F5344CB8AC3E}">
        <p14:creationId xmlns:p14="http://schemas.microsoft.com/office/powerpoint/2010/main" val="232008133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F9E64A-6009-1FC4-425E-8900CE2649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C56BB3-3E24-C734-957A-CD08C6CD7190}"/>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Case study: Cancer Screening and Diagnoses</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0E8F9241-8AB2-7116-6D47-F85604A62773}"/>
              </a:ext>
            </a:extLst>
          </p:cNvPr>
          <p:cNvSpPr>
            <a:spLocks noGrp="1"/>
          </p:cNvSpPr>
          <p:nvPr>
            <p:ph idx="1"/>
          </p:nvPr>
        </p:nvSpPr>
        <p:spPr>
          <a:xfrm>
            <a:off x="762000" y="962232"/>
            <a:ext cx="9982200" cy="5217905"/>
          </a:xfrm>
        </p:spPr>
        <p:txBody>
          <a:bodyPr>
            <a:normAutofit/>
          </a:bodyPr>
          <a:lstStyle/>
          <a:p>
            <a:pPr marL="0" indent="0">
              <a:buNone/>
            </a:pPr>
            <a:r>
              <a:rPr lang="en-US" sz="2400" dirty="0"/>
              <a:t>Cancer screening is a surprisingly hot topic! </a:t>
            </a:r>
          </a:p>
          <a:p>
            <a:pPr marL="0" indent="0">
              <a:buNone/>
            </a:pPr>
            <a:r>
              <a:rPr lang="en-US" sz="2400" dirty="0"/>
              <a:t>For our case study, can you give me: </a:t>
            </a:r>
          </a:p>
          <a:p>
            <a:pPr marL="457200" indent="-457200">
              <a:buAutoNum type="arabicPeriod"/>
            </a:pPr>
            <a:r>
              <a:rPr lang="en-US" sz="2400" dirty="0"/>
              <a:t>The motivation – why do we need this study? </a:t>
            </a:r>
          </a:p>
          <a:p>
            <a:pPr marL="457200" indent="-457200">
              <a:buAutoNum type="arabicPeriod"/>
            </a:pPr>
            <a:r>
              <a:rPr lang="en-US" sz="2400" dirty="0"/>
              <a:t>The observational component – why can’t this be a clinical trial?</a:t>
            </a:r>
          </a:p>
          <a:p>
            <a:pPr marL="457200" indent="-457200">
              <a:buAutoNum type="arabicPeriod"/>
            </a:pPr>
            <a:r>
              <a:rPr lang="en-US" sz="2400" dirty="0"/>
              <a:t>The simple design – why does this fail? Why do we need something like a TTE? </a:t>
            </a:r>
          </a:p>
          <a:p>
            <a:pPr marL="457200" indent="-457200">
              <a:buAutoNum type="arabicPeriod"/>
            </a:pPr>
            <a:endParaRPr lang="en-US" sz="2400" dirty="0"/>
          </a:p>
        </p:txBody>
      </p:sp>
    </p:spTree>
    <p:extLst>
      <p:ext uri="{BB962C8B-B14F-4D97-AF65-F5344CB8AC3E}">
        <p14:creationId xmlns:p14="http://schemas.microsoft.com/office/powerpoint/2010/main" val="334552477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895C7E-DED7-6BCF-36CA-4232E4A9588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702F8D-E40C-5E73-663B-D0195C392ED8}"/>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Case study: Cancer Screening and Diagnoses</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325BCA54-0C23-FA90-9BB4-1ACD8EFAA121}"/>
              </a:ext>
            </a:extLst>
          </p:cNvPr>
          <p:cNvSpPr>
            <a:spLocks noGrp="1"/>
          </p:cNvSpPr>
          <p:nvPr>
            <p:ph idx="1"/>
          </p:nvPr>
        </p:nvSpPr>
        <p:spPr>
          <a:xfrm>
            <a:off x="762000" y="962232"/>
            <a:ext cx="9982200" cy="5217905"/>
          </a:xfrm>
        </p:spPr>
        <p:txBody>
          <a:bodyPr>
            <a:normAutofit/>
          </a:bodyPr>
          <a:lstStyle/>
          <a:p>
            <a:pPr marL="0" indent="0">
              <a:buNone/>
            </a:pPr>
            <a:r>
              <a:rPr lang="en-US" sz="2400" dirty="0"/>
              <a:t>Cancer screening is a surprisingly hot topic! </a:t>
            </a:r>
          </a:p>
          <a:p>
            <a:pPr marL="0" indent="0">
              <a:buNone/>
            </a:pPr>
            <a:r>
              <a:rPr lang="en-US" sz="2400" dirty="0"/>
              <a:t>For our case study, can you give me: </a:t>
            </a:r>
          </a:p>
          <a:p>
            <a:pPr marL="457200" indent="-457200">
              <a:buAutoNum type="arabicPeriod"/>
            </a:pPr>
            <a:r>
              <a:rPr lang="en-US" sz="2400" dirty="0"/>
              <a:t>The motivation – why do we need this study? </a:t>
            </a:r>
          </a:p>
          <a:p>
            <a:pPr marL="457200" indent="-457200">
              <a:buAutoNum type="arabicPeriod"/>
            </a:pPr>
            <a:r>
              <a:rPr lang="en-US" sz="2400" dirty="0"/>
              <a:t>The observational component – why can’t this be a clinical trial?</a:t>
            </a:r>
          </a:p>
          <a:p>
            <a:pPr marL="457200" indent="-457200">
              <a:buAutoNum type="arabicPeriod"/>
            </a:pPr>
            <a:r>
              <a:rPr lang="en-US" sz="2400" dirty="0"/>
              <a:t>The simple design – why does this fail? Why do we need something like a TTE? </a:t>
            </a:r>
          </a:p>
          <a:p>
            <a:pPr marL="457200" indent="-457200">
              <a:buAutoNum type="arabicPeriod"/>
            </a:pPr>
            <a:endParaRPr lang="en-US" sz="2400" dirty="0"/>
          </a:p>
        </p:txBody>
      </p:sp>
      <p:sp>
        <p:nvSpPr>
          <p:cNvPr id="3" name="TextBox 2">
            <a:extLst>
              <a:ext uri="{FF2B5EF4-FFF2-40B4-BE49-F238E27FC236}">
                <a16:creationId xmlns:a16="http://schemas.microsoft.com/office/drawing/2014/main" id="{F62F48FC-57C4-9580-4768-A949D2C4FC49}"/>
              </a:ext>
            </a:extLst>
          </p:cNvPr>
          <p:cNvSpPr txBox="1"/>
          <p:nvPr/>
        </p:nvSpPr>
        <p:spPr>
          <a:xfrm>
            <a:off x="1600200" y="4038600"/>
            <a:ext cx="9525000" cy="2585323"/>
          </a:xfrm>
          <a:prstGeom prst="rect">
            <a:avLst/>
          </a:prstGeom>
          <a:solidFill>
            <a:schemeClr val="accent2"/>
          </a:solidFill>
        </p:spPr>
        <p:txBody>
          <a:bodyPr wrap="square" rtlCol="0">
            <a:spAutoFit/>
          </a:bodyPr>
          <a:lstStyle/>
          <a:p>
            <a:r>
              <a:rPr lang="en-US" dirty="0">
                <a:solidFill>
                  <a:schemeClr val="bg1"/>
                </a:solidFill>
              </a:rPr>
              <a:t>3 simpler designs: </a:t>
            </a:r>
          </a:p>
          <a:p>
            <a:pPr marL="342900" indent="-342900">
              <a:buAutoNum type="arabicPeriod"/>
            </a:pPr>
            <a:r>
              <a:rPr lang="en-US" b="1" u="sng" dirty="0">
                <a:solidFill>
                  <a:schemeClr val="bg1"/>
                </a:solidFill>
              </a:rPr>
              <a:t>Just look at time 0 for everyone</a:t>
            </a:r>
            <a:r>
              <a:rPr lang="en-US" dirty="0">
                <a:solidFill>
                  <a:schemeClr val="bg1"/>
                </a:solidFill>
              </a:rPr>
              <a:t> – this works, but doesn’t use enough information (limited power).</a:t>
            </a:r>
          </a:p>
          <a:p>
            <a:pPr marL="342900" indent="-342900">
              <a:buAutoNum type="arabicPeriod"/>
            </a:pPr>
            <a:r>
              <a:rPr lang="en-US" b="1" u="sng" dirty="0">
                <a:solidFill>
                  <a:schemeClr val="bg1"/>
                </a:solidFill>
              </a:rPr>
              <a:t>Treatment at time 0, but control group for the entire duration of eligibility</a:t>
            </a:r>
            <a:r>
              <a:rPr lang="en-US" dirty="0">
                <a:solidFill>
                  <a:schemeClr val="bg1"/>
                </a:solidFill>
              </a:rPr>
              <a:t> – this introduces selection on the treatment! Who does it exclude from the treatment group? What is the direction of the bias?  </a:t>
            </a:r>
          </a:p>
          <a:p>
            <a:pPr marL="342900" indent="-342900">
              <a:buAutoNum type="arabicPeriod"/>
            </a:pPr>
            <a:r>
              <a:rPr lang="en-US" b="1" u="sng" dirty="0">
                <a:solidFill>
                  <a:schemeClr val="bg1"/>
                </a:solidFill>
              </a:rPr>
              <a:t>Treatment before time 0, control group at time 0</a:t>
            </a:r>
            <a:r>
              <a:rPr lang="en-US" dirty="0">
                <a:solidFill>
                  <a:schemeClr val="bg1"/>
                </a:solidFill>
              </a:rPr>
              <a:t> – based on an arbitrary time 0 but then allowing free selection into/out of treatment. Who is excluded now? </a:t>
            </a:r>
          </a:p>
          <a:p>
            <a:pPr marL="342900" indent="-342900">
              <a:buAutoNum type="arabicPeriod"/>
            </a:pPr>
            <a:endParaRPr lang="en-US" dirty="0">
              <a:solidFill>
                <a:schemeClr val="bg1"/>
              </a:solidFill>
            </a:endParaRPr>
          </a:p>
        </p:txBody>
      </p:sp>
    </p:spTree>
    <p:extLst>
      <p:ext uri="{BB962C8B-B14F-4D97-AF65-F5344CB8AC3E}">
        <p14:creationId xmlns:p14="http://schemas.microsoft.com/office/powerpoint/2010/main" val="268397404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D8999A-516D-AD76-AE65-F0006DD0791F}"/>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97D0FA3-3C5A-2D50-DE52-7740744F8649}"/>
              </a:ext>
            </a:extLst>
          </p:cNvPr>
          <p:cNvSpPr>
            <a:spLocks noGrp="1"/>
          </p:cNvSpPr>
          <p:nvPr>
            <p:ph idx="1"/>
          </p:nvPr>
        </p:nvSpPr>
        <p:spPr/>
        <p:txBody>
          <a:bodyPr/>
          <a:lstStyle/>
          <a:p>
            <a:endParaRPr lang="en-US" dirty="0"/>
          </a:p>
        </p:txBody>
      </p:sp>
      <p:pic>
        <p:nvPicPr>
          <p:cNvPr id="5" name="Picture 4">
            <a:extLst>
              <a:ext uri="{FF2B5EF4-FFF2-40B4-BE49-F238E27FC236}">
                <a16:creationId xmlns:a16="http://schemas.microsoft.com/office/drawing/2014/main" id="{1CD4C642-584C-9FC2-C2B7-8300802AF3D5}"/>
              </a:ext>
            </a:extLst>
          </p:cNvPr>
          <p:cNvPicPr>
            <a:picLocks noChangeAspect="1"/>
          </p:cNvPicPr>
          <p:nvPr/>
        </p:nvPicPr>
        <p:blipFill>
          <a:blip r:embed="rId3"/>
          <a:stretch>
            <a:fillRect/>
          </a:stretch>
        </p:blipFill>
        <p:spPr>
          <a:xfrm>
            <a:off x="201058" y="152400"/>
            <a:ext cx="6675680" cy="6477000"/>
          </a:xfrm>
          <a:prstGeom prst="rect">
            <a:avLst/>
          </a:prstGeom>
        </p:spPr>
      </p:pic>
    </p:spTree>
    <p:extLst>
      <p:ext uri="{BB962C8B-B14F-4D97-AF65-F5344CB8AC3E}">
        <p14:creationId xmlns:p14="http://schemas.microsoft.com/office/powerpoint/2010/main" val="313903888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39CFC1-FD51-1C89-FA87-0A40358D536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DBC17B-2A82-13A3-D860-11DF554937C0}"/>
              </a:ext>
            </a:extLst>
          </p:cNvPr>
          <p:cNvSpPr>
            <a:spLocks noGrp="1"/>
          </p:cNvSpPr>
          <p:nvPr>
            <p:ph type="title"/>
          </p:nvPr>
        </p:nvSpPr>
        <p:spPr>
          <a:xfrm>
            <a:off x="7620000" y="609600"/>
            <a:ext cx="3810000" cy="624840"/>
          </a:xfrm>
        </p:spPr>
        <p:txBody>
          <a:bodyPr>
            <a:noAutofit/>
          </a:bodyPr>
          <a:lstStyle/>
          <a:p>
            <a:r>
              <a:rPr lang="en-US" sz="3600" dirty="0">
                <a:cs typeface="Times New Roman" panose="02020603050405020304" pitchFamily="18" charset="0"/>
              </a:rPr>
              <a:t>Addressing immortal time bias </a:t>
            </a:r>
            <a:endParaRPr lang="en-US" sz="3600" dirty="0">
              <a:latin typeface="Times New Roman" panose="02020603050405020304" pitchFamily="18" charset="0"/>
              <a:cs typeface="Times New Roman" panose="02020603050405020304" pitchFamily="18" charset="0"/>
            </a:endParaRPr>
          </a:p>
        </p:txBody>
      </p:sp>
      <p:pic>
        <p:nvPicPr>
          <p:cNvPr id="4" name="Content Placeholder 3">
            <a:extLst>
              <a:ext uri="{FF2B5EF4-FFF2-40B4-BE49-F238E27FC236}">
                <a16:creationId xmlns:a16="http://schemas.microsoft.com/office/drawing/2014/main" id="{3E043C6E-F4DE-DA03-D4EC-10B3B2DC36A0}"/>
              </a:ext>
            </a:extLst>
          </p:cNvPr>
          <p:cNvPicPr>
            <a:picLocks noGrp="1" noChangeAspect="1"/>
          </p:cNvPicPr>
          <p:nvPr>
            <p:ph idx="1"/>
          </p:nvPr>
        </p:nvPicPr>
        <p:blipFill>
          <a:blip r:embed="rId3"/>
          <a:srcRect l="24293"/>
          <a:stretch>
            <a:fillRect/>
          </a:stretch>
        </p:blipFill>
        <p:spPr>
          <a:xfrm>
            <a:off x="171181" y="228600"/>
            <a:ext cx="6096000" cy="6096571"/>
          </a:xfrm>
          <a:prstGeom prst="rect">
            <a:avLst/>
          </a:prstGeom>
        </p:spPr>
      </p:pic>
    </p:spTree>
    <p:extLst>
      <p:ext uri="{BB962C8B-B14F-4D97-AF65-F5344CB8AC3E}">
        <p14:creationId xmlns:p14="http://schemas.microsoft.com/office/powerpoint/2010/main" val="191168346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E5E50E-D444-3878-58BA-45280AC7A5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BE7089-46D0-6F4F-A56B-5C394B6967C7}"/>
              </a:ext>
            </a:extLst>
          </p:cNvPr>
          <p:cNvSpPr>
            <a:spLocks noGrp="1"/>
          </p:cNvSpPr>
          <p:nvPr>
            <p:ph type="title"/>
          </p:nvPr>
        </p:nvSpPr>
        <p:spPr>
          <a:xfrm>
            <a:off x="7620000" y="609600"/>
            <a:ext cx="3810000" cy="624840"/>
          </a:xfrm>
        </p:spPr>
        <p:txBody>
          <a:bodyPr>
            <a:noAutofit/>
          </a:bodyPr>
          <a:lstStyle/>
          <a:p>
            <a:r>
              <a:rPr lang="en-US" sz="3600" dirty="0">
                <a:cs typeface="Times New Roman" panose="02020603050405020304" pitchFamily="18" charset="0"/>
              </a:rPr>
              <a:t>Addressing immortal time bias </a:t>
            </a:r>
            <a:endParaRPr lang="en-US" sz="3600" dirty="0">
              <a:latin typeface="Times New Roman" panose="02020603050405020304" pitchFamily="18" charset="0"/>
              <a:cs typeface="Times New Roman" panose="02020603050405020304" pitchFamily="18" charset="0"/>
            </a:endParaRPr>
          </a:p>
        </p:txBody>
      </p:sp>
      <p:pic>
        <p:nvPicPr>
          <p:cNvPr id="4" name="Content Placeholder 3">
            <a:extLst>
              <a:ext uri="{FF2B5EF4-FFF2-40B4-BE49-F238E27FC236}">
                <a16:creationId xmlns:a16="http://schemas.microsoft.com/office/drawing/2014/main" id="{07E26DC8-F94B-DC22-4367-65D899229EB2}"/>
              </a:ext>
            </a:extLst>
          </p:cNvPr>
          <p:cNvPicPr>
            <a:picLocks noGrp="1" noChangeAspect="1"/>
          </p:cNvPicPr>
          <p:nvPr>
            <p:ph idx="1"/>
          </p:nvPr>
        </p:nvPicPr>
        <p:blipFill>
          <a:blip r:embed="rId3"/>
          <a:srcRect l="24293"/>
          <a:stretch>
            <a:fillRect/>
          </a:stretch>
        </p:blipFill>
        <p:spPr>
          <a:xfrm>
            <a:off x="171181" y="228600"/>
            <a:ext cx="6096000" cy="6096571"/>
          </a:xfrm>
          <a:prstGeom prst="rect">
            <a:avLst/>
          </a:prstGeom>
        </p:spPr>
      </p:pic>
      <p:pic>
        <p:nvPicPr>
          <p:cNvPr id="7" name="Picture 6">
            <a:extLst>
              <a:ext uri="{FF2B5EF4-FFF2-40B4-BE49-F238E27FC236}">
                <a16:creationId xmlns:a16="http://schemas.microsoft.com/office/drawing/2014/main" id="{599778F1-426E-F4C6-6743-4D1C9C8D6133}"/>
              </a:ext>
            </a:extLst>
          </p:cNvPr>
          <p:cNvPicPr>
            <a:picLocks noChangeAspect="1"/>
          </p:cNvPicPr>
          <p:nvPr/>
        </p:nvPicPr>
        <p:blipFill>
          <a:blip r:embed="rId4"/>
          <a:stretch>
            <a:fillRect/>
          </a:stretch>
        </p:blipFill>
        <p:spPr>
          <a:xfrm>
            <a:off x="171181" y="3048000"/>
            <a:ext cx="11106419" cy="3998311"/>
          </a:xfrm>
          <a:prstGeom prst="rect">
            <a:avLst/>
          </a:prstGeom>
        </p:spPr>
      </p:pic>
    </p:spTree>
    <p:extLst>
      <p:ext uri="{BB962C8B-B14F-4D97-AF65-F5344CB8AC3E}">
        <p14:creationId xmlns:p14="http://schemas.microsoft.com/office/powerpoint/2010/main" val="157587699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What kinds of methods will we cover? </a:t>
            </a:r>
          </a:p>
        </p:txBody>
      </p:sp>
      <p:sp>
        <p:nvSpPr>
          <p:cNvPr id="4" name="Rectangle: Rounded Corners 3">
            <a:extLst>
              <a:ext uri="{FF2B5EF4-FFF2-40B4-BE49-F238E27FC236}">
                <a16:creationId xmlns:a16="http://schemas.microsoft.com/office/drawing/2014/main" id="{721C889E-856B-D58D-80B9-33E0278590A0}"/>
              </a:ext>
            </a:extLst>
          </p:cNvPr>
          <p:cNvSpPr/>
          <p:nvPr/>
        </p:nvSpPr>
        <p:spPr>
          <a:xfrm>
            <a:off x="283026" y="897161"/>
            <a:ext cx="6400800" cy="726170"/>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Matching</a:t>
            </a:r>
          </a:p>
        </p:txBody>
      </p:sp>
      <p:sp>
        <p:nvSpPr>
          <p:cNvPr id="5" name="Rectangle: Rounded Corners 4">
            <a:extLst>
              <a:ext uri="{FF2B5EF4-FFF2-40B4-BE49-F238E27FC236}">
                <a16:creationId xmlns:a16="http://schemas.microsoft.com/office/drawing/2014/main" id="{E2F206EC-6543-E0C4-FDC8-58CD0E39344D}"/>
              </a:ext>
            </a:extLst>
          </p:cNvPr>
          <p:cNvSpPr/>
          <p:nvPr/>
        </p:nvSpPr>
        <p:spPr>
          <a:xfrm>
            <a:off x="283026" y="1727348"/>
            <a:ext cx="6400800" cy="726170"/>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Instrumental Variables</a:t>
            </a:r>
          </a:p>
        </p:txBody>
      </p:sp>
      <p:sp>
        <p:nvSpPr>
          <p:cNvPr id="9" name="Rectangle: Rounded Corners 8">
            <a:extLst>
              <a:ext uri="{FF2B5EF4-FFF2-40B4-BE49-F238E27FC236}">
                <a16:creationId xmlns:a16="http://schemas.microsoft.com/office/drawing/2014/main" id="{BB4DA538-9550-93F6-D747-0BC5111F6ECD}"/>
              </a:ext>
            </a:extLst>
          </p:cNvPr>
          <p:cNvSpPr/>
          <p:nvPr/>
        </p:nvSpPr>
        <p:spPr>
          <a:xfrm>
            <a:off x="283026" y="2557535"/>
            <a:ext cx="6400800" cy="679862"/>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Difference-in-differences</a:t>
            </a:r>
          </a:p>
        </p:txBody>
      </p:sp>
      <p:sp>
        <p:nvSpPr>
          <p:cNvPr id="10" name="Rectangle: Rounded Corners 9">
            <a:extLst>
              <a:ext uri="{FF2B5EF4-FFF2-40B4-BE49-F238E27FC236}">
                <a16:creationId xmlns:a16="http://schemas.microsoft.com/office/drawing/2014/main" id="{483F277D-75FB-4DD4-7F69-8FDF01FADA3F}"/>
              </a:ext>
            </a:extLst>
          </p:cNvPr>
          <p:cNvSpPr/>
          <p:nvPr/>
        </p:nvSpPr>
        <p:spPr>
          <a:xfrm>
            <a:off x="283026" y="3341414"/>
            <a:ext cx="6400800" cy="632184"/>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Synthetic Controls</a:t>
            </a:r>
          </a:p>
        </p:txBody>
      </p:sp>
      <p:sp>
        <p:nvSpPr>
          <p:cNvPr id="11" name="Rectangle: Rounded Corners 10">
            <a:extLst>
              <a:ext uri="{FF2B5EF4-FFF2-40B4-BE49-F238E27FC236}">
                <a16:creationId xmlns:a16="http://schemas.microsoft.com/office/drawing/2014/main" id="{409848EC-7066-A0C6-D997-2A2CAB05858A}"/>
              </a:ext>
            </a:extLst>
          </p:cNvPr>
          <p:cNvSpPr/>
          <p:nvPr/>
        </p:nvSpPr>
        <p:spPr>
          <a:xfrm>
            <a:off x="283026" y="4077615"/>
            <a:ext cx="6400800" cy="1479600"/>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“Applied OLS”: Logit, Poisson, fixed-effects, quantile regression, etc. </a:t>
            </a:r>
          </a:p>
        </p:txBody>
      </p:sp>
      <p:sp>
        <p:nvSpPr>
          <p:cNvPr id="13" name="Rectangle: Rounded Corners 12">
            <a:extLst>
              <a:ext uri="{FF2B5EF4-FFF2-40B4-BE49-F238E27FC236}">
                <a16:creationId xmlns:a16="http://schemas.microsoft.com/office/drawing/2014/main" id="{84B7212A-DA1C-CB7E-552A-0B434A835386}"/>
              </a:ext>
            </a:extLst>
          </p:cNvPr>
          <p:cNvSpPr/>
          <p:nvPr/>
        </p:nvSpPr>
        <p:spPr>
          <a:xfrm>
            <a:off x="283026" y="5661230"/>
            <a:ext cx="6400800" cy="1081764"/>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2400" dirty="0"/>
              <a:t>Next semester: regression discontinuity, event studies, and more! </a:t>
            </a:r>
          </a:p>
        </p:txBody>
      </p:sp>
      <p:sp>
        <p:nvSpPr>
          <p:cNvPr id="14" name="TextBox 13">
            <a:extLst>
              <a:ext uri="{FF2B5EF4-FFF2-40B4-BE49-F238E27FC236}">
                <a16:creationId xmlns:a16="http://schemas.microsoft.com/office/drawing/2014/main" id="{D02300DA-BB85-0372-318A-CE2EAB05198E}"/>
              </a:ext>
            </a:extLst>
          </p:cNvPr>
          <p:cNvSpPr txBox="1"/>
          <p:nvPr/>
        </p:nvSpPr>
        <p:spPr>
          <a:xfrm>
            <a:off x="7391400" y="1260246"/>
            <a:ext cx="3352800" cy="2400657"/>
          </a:xfrm>
          <a:prstGeom prst="rect">
            <a:avLst/>
          </a:prstGeom>
        </p:spPr>
        <p:style>
          <a:lnRef idx="3">
            <a:schemeClr val="lt1"/>
          </a:lnRef>
          <a:fillRef idx="1">
            <a:schemeClr val="accent5"/>
          </a:fillRef>
          <a:effectRef idx="1">
            <a:schemeClr val="accent5"/>
          </a:effectRef>
          <a:fontRef idx="minor">
            <a:schemeClr val="lt1"/>
          </a:fontRef>
        </p:style>
        <p:txBody>
          <a:bodyPr wrap="square" rtlCol="0">
            <a:spAutoFit/>
          </a:bodyPr>
          <a:lstStyle/>
          <a:p>
            <a:r>
              <a:rPr lang="en-US" sz="3000" dirty="0"/>
              <a:t>What if I don’t have a good natural control group for estimation? </a:t>
            </a:r>
          </a:p>
        </p:txBody>
      </p:sp>
      <p:cxnSp>
        <p:nvCxnSpPr>
          <p:cNvPr id="16" name="Straight Arrow Connector 15">
            <a:extLst>
              <a:ext uri="{FF2B5EF4-FFF2-40B4-BE49-F238E27FC236}">
                <a16:creationId xmlns:a16="http://schemas.microsoft.com/office/drawing/2014/main" id="{1D74EAEA-E157-672D-4705-05266E6706A8}"/>
              </a:ext>
            </a:extLst>
          </p:cNvPr>
          <p:cNvCxnSpPr>
            <a:stCxn id="14" idx="1"/>
            <a:endCxn id="4" idx="3"/>
          </p:cNvCxnSpPr>
          <p:nvPr/>
        </p:nvCxnSpPr>
        <p:spPr>
          <a:xfrm flipH="1" flipV="1">
            <a:off x="6683826" y="1260246"/>
            <a:ext cx="707574" cy="1200329"/>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474459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What kinds of methods will we cover? </a:t>
            </a:r>
          </a:p>
        </p:txBody>
      </p:sp>
      <p:sp>
        <p:nvSpPr>
          <p:cNvPr id="4" name="Rectangle: Rounded Corners 3">
            <a:extLst>
              <a:ext uri="{FF2B5EF4-FFF2-40B4-BE49-F238E27FC236}">
                <a16:creationId xmlns:a16="http://schemas.microsoft.com/office/drawing/2014/main" id="{721C889E-856B-D58D-80B9-33E0278590A0}"/>
              </a:ext>
            </a:extLst>
          </p:cNvPr>
          <p:cNvSpPr/>
          <p:nvPr/>
        </p:nvSpPr>
        <p:spPr>
          <a:xfrm>
            <a:off x="283026" y="897161"/>
            <a:ext cx="6400800" cy="726170"/>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Matching</a:t>
            </a:r>
          </a:p>
        </p:txBody>
      </p:sp>
      <p:sp>
        <p:nvSpPr>
          <p:cNvPr id="5" name="Rectangle: Rounded Corners 4">
            <a:extLst>
              <a:ext uri="{FF2B5EF4-FFF2-40B4-BE49-F238E27FC236}">
                <a16:creationId xmlns:a16="http://schemas.microsoft.com/office/drawing/2014/main" id="{E2F206EC-6543-E0C4-FDC8-58CD0E39344D}"/>
              </a:ext>
            </a:extLst>
          </p:cNvPr>
          <p:cNvSpPr/>
          <p:nvPr/>
        </p:nvSpPr>
        <p:spPr>
          <a:xfrm>
            <a:off x="283026" y="1727348"/>
            <a:ext cx="6400800" cy="726170"/>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Instrumental Variables</a:t>
            </a:r>
          </a:p>
        </p:txBody>
      </p:sp>
      <p:sp>
        <p:nvSpPr>
          <p:cNvPr id="9" name="Rectangle: Rounded Corners 8">
            <a:extLst>
              <a:ext uri="{FF2B5EF4-FFF2-40B4-BE49-F238E27FC236}">
                <a16:creationId xmlns:a16="http://schemas.microsoft.com/office/drawing/2014/main" id="{BB4DA538-9550-93F6-D747-0BC5111F6ECD}"/>
              </a:ext>
            </a:extLst>
          </p:cNvPr>
          <p:cNvSpPr/>
          <p:nvPr/>
        </p:nvSpPr>
        <p:spPr>
          <a:xfrm>
            <a:off x="283026" y="2557535"/>
            <a:ext cx="6400800" cy="679862"/>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Difference-in-differences</a:t>
            </a:r>
          </a:p>
        </p:txBody>
      </p:sp>
      <p:sp>
        <p:nvSpPr>
          <p:cNvPr id="10" name="Rectangle: Rounded Corners 9">
            <a:extLst>
              <a:ext uri="{FF2B5EF4-FFF2-40B4-BE49-F238E27FC236}">
                <a16:creationId xmlns:a16="http://schemas.microsoft.com/office/drawing/2014/main" id="{483F277D-75FB-4DD4-7F69-8FDF01FADA3F}"/>
              </a:ext>
            </a:extLst>
          </p:cNvPr>
          <p:cNvSpPr/>
          <p:nvPr/>
        </p:nvSpPr>
        <p:spPr>
          <a:xfrm>
            <a:off x="283026" y="3341414"/>
            <a:ext cx="6400800" cy="632184"/>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Synthetic Controls</a:t>
            </a:r>
          </a:p>
        </p:txBody>
      </p:sp>
      <p:sp>
        <p:nvSpPr>
          <p:cNvPr id="11" name="Rectangle: Rounded Corners 10">
            <a:extLst>
              <a:ext uri="{FF2B5EF4-FFF2-40B4-BE49-F238E27FC236}">
                <a16:creationId xmlns:a16="http://schemas.microsoft.com/office/drawing/2014/main" id="{409848EC-7066-A0C6-D997-2A2CAB05858A}"/>
              </a:ext>
            </a:extLst>
          </p:cNvPr>
          <p:cNvSpPr/>
          <p:nvPr/>
        </p:nvSpPr>
        <p:spPr>
          <a:xfrm>
            <a:off x="283026" y="4077615"/>
            <a:ext cx="6400800" cy="1479600"/>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“Applied OLS”: Logit, Poisson, fixed-effects, quantile regression, etc. </a:t>
            </a:r>
          </a:p>
        </p:txBody>
      </p:sp>
      <p:sp>
        <p:nvSpPr>
          <p:cNvPr id="13" name="Rectangle: Rounded Corners 12">
            <a:extLst>
              <a:ext uri="{FF2B5EF4-FFF2-40B4-BE49-F238E27FC236}">
                <a16:creationId xmlns:a16="http://schemas.microsoft.com/office/drawing/2014/main" id="{84B7212A-DA1C-CB7E-552A-0B434A835386}"/>
              </a:ext>
            </a:extLst>
          </p:cNvPr>
          <p:cNvSpPr/>
          <p:nvPr/>
        </p:nvSpPr>
        <p:spPr>
          <a:xfrm>
            <a:off x="283026" y="5661230"/>
            <a:ext cx="6400800" cy="1081764"/>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2400" dirty="0"/>
              <a:t>Next semester: regression discontinuity, event studies, and more! </a:t>
            </a:r>
          </a:p>
        </p:txBody>
      </p:sp>
      <p:sp>
        <p:nvSpPr>
          <p:cNvPr id="14" name="TextBox 13">
            <a:extLst>
              <a:ext uri="{FF2B5EF4-FFF2-40B4-BE49-F238E27FC236}">
                <a16:creationId xmlns:a16="http://schemas.microsoft.com/office/drawing/2014/main" id="{D02300DA-BB85-0372-318A-CE2EAB05198E}"/>
              </a:ext>
            </a:extLst>
          </p:cNvPr>
          <p:cNvSpPr txBox="1"/>
          <p:nvPr/>
        </p:nvSpPr>
        <p:spPr>
          <a:xfrm>
            <a:off x="7391400" y="1260246"/>
            <a:ext cx="3352800" cy="2400657"/>
          </a:xfrm>
          <a:prstGeom prst="rect">
            <a:avLst/>
          </a:prstGeom>
        </p:spPr>
        <p:style>
          <a:lnRef idx="3">
            <a:schemeClr val="lt1"/>
          </a:lnRef>
          <a:fillRef idx="1">
            <a:schemeClr val="accent5"/>
          </a:fillRef>
          <a:effectRef idx="1">
            <a:schemeClr val="accent5"/>
          </a:effectRef>
          <a:fontRef idx="minor">
            <a:schemeClr val="lt1"/>
          </a:fontRef>
        </p:style>
        <p:txBody>
          <a:bodyPr wrap="square" rtlCol="0">
            <a:spAutoFit/>
          </a:bodyPr>
          <a:lstStyle/>
          <a:p>
            <a:r>
              <a:rPr lang="en-US" sz="3000" dirty="0"/>
              <a:t>What if the behavior I’m trying to measure is “manipulable” (endogenous)? </a:t>
            </a:r>
          </a:p>
        </p:txBody>
      </p:sp>
      <p:cxnSp>
        <p:nvCxnSpPr>
          <p:cNvPr id="16" name="Straight Arrow Connector 15">
            <a:extLst>
              <a:ext uri="{FF2B5EF4-FFF2-40B4-BE49-F238E27FC236}">
                <a16:creationId xmlns:a16="http://schemas.microsoft.com/office/drawing/2014/main" id="{1D74EAEA-E157-672D-4705-05266E6706A8}"/>
              </a:ext>
            </a:extLst>
          </p:cNvPr>
          <p:cNvCxnSpPr>
            <a:cxnSpLocks/>
            <a:stCxn id="14" idx="1"/>
            <a:endCxn id="5" idx="3"/>
          </p:cNvCxnSpPr>
          <p:nvPr/>
        </p:nvCxnSpPr>
        <p:spPr>
          <a:xfrm flipH="1" flipV="1">
            <a:off x="6683826" y="2090433"/>
            <a:ext cx="707574" cy="37014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3651562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What kinds of methods will we cover? </a:t>
            </a:r>
          </a:p>
        </p:txBody>
      </p:sp>
      <p:sp>
        <p:nvSpPr>
          <p:cNvPr id="4" name="Rectangle: Rounded Corners 3">
            <a:extLst>
              <a:ext uri="{FF2B5EF4-FFF2-40B4-BE49-F238E27FC236}">
                <a16:creationId xmlns:a16="http://schemas.microsoft.com/office/drawing/2014/main" id="{721C889E-856B-D58D-80B9-33E0278590A0}"/>
              </a:ext>
            </a:extLst>
          </p:cNvPr>
          <p:cNvSpPr/>
          <p:nvPr/>
        </p:nvSpPr>
        <p:spPr>
          <a:xfrm>
            <a:off x="283026" y="897161"/>
            <a:ext cx="6400800" cy="726170"/>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Matching</a:t>
            </a:r>
          </a:p>
        </p:txBody>
      </p:sp>
      <p:sp>
        <p:nvSpPr>
          <p:cNvPr id="5" name="Rectangle: Rounded Corners 4">
            <a:extLst>
              <a:ext uri="{FF2B5EF4-FFF2-40B4-BE49-F238E27FC236}">
                <a16:creationId xmlns:a16="http://schemas.microsoft.com/office/drawing/2014/main" id="{E2F206EC-6543-E0C4-FDC8-58CD0E39344D}"/>
              </a:ext>
            </a:extLst>
          </p:cNvPr>
          <p:cNvSpPr/>
          <p:nvPr/>
        </p:nvSpPr>
        <p:spPr>
          <a:xfrm>
            <a:off x="283026" y="1727348"/>
            <a:ext cx="6400800" cy="726170"/>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Instrumental Variables</a:t>
            </a:r>
          </a:p>
        </p:txBody>
      </p:sp>
      <p:sp>
        <p:nvSpPr>
          <p:cNvPr id="9" name="Rectangle: Rounded Corners 8">
            <a:extLst>
              <a:ext uri="{FF2B5EF4-FFF2-40B4-BE49-F238E27FC236}">
                <a16:creationId xmlns:a16="http://schemas.microsoft.com/office/drawing/2014/main" id="{BB4DA538-9550-93F6-D747-0BC5111F6ECD}"/>
              </a:ext>
            </a:extLst>
          </p:cNvPr>
          <p:cNvSpPr/>
          <p:nvPr/>
        </p:nvSpPr>
        <p:spPr>
          <a:xfrm>
            <a:off x="283026" y="2557535"/>
            <a:ext cx="6400800" cy="679862"/>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Difference-in-differences</a:t>
            </a:r>
          </a:p>
        </p:txBody>
      </p:sp>
      <p:sp>
        <p:nvSpPr>
          <p:cNvPr id="10" name="Rectangle: Rounded Corners 9">
            <a:extLst>
              <a:ext uri="{FF2B5EF4-FFF2-40B4-BE49-F238E27FC236}">
                <a16:creationId xmlns:a16="http://schemas.microsoft.com/office/drawing/2014/main" id="{483F277D-75FB-4DD4-7F69-8FDF01FADA3F}"/>
              </a:ext>
            </a:extLst>
          </p:cNvPr>
          <p:cNvSpPr/>
          <p:nvPr/>
        </p:nvSpPr>
        <p:spPr>
          <a:xfrm>
            <a:off x="283026" y="3341414"/>
            <a:ext cx="6400800" cy="632184"/>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Synthetic Controls</a:t>
            </a:r>
          </a:p>
        </p:txBody>
      </p:sp>
      <p:sp>
        <p:nvSpPr>
          <p:cNvPr id="11" name="Rectangle: Rounded Corners 10">
            <a:extLst>
              <a:ext uri="{FF2B5EF4-FFF2-40B4-BE49-F238E27FC236}">
                <a16:creationId xmlns:a16="http://schemas.microsoft.com/office/drawing/2014/main" id="{409848EC-7066-A0C6-D997-2A2CAB05858A}"/>
              </a:ext>
            </a:extLst>
          </p:cNvPr>
          <p:cNvSpPr/>
          <p:nvPr/>
        </p:nvSpPr>
        <p:spPr>
          <a:xfrm>
            <a:off x="283026" y="4077615"/>
            <a:ext cx="6400800" cy="1479600"/>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3000" dirty="0"/>
              <a:t>“Applied OLS”: Logit, Poisson, fixed-effects, quantile regression, etc. </a:t>
            </a:r>
          </a:p>
        </p:txBody>
      </p:sp>
      <p:sp>
        <p:nvSpPr>
          <p:cNvPr id="13" name="Rectangle: Rounded Corners 12">
            <a:extLst>
              <a:ext uri="{FF2B5EF4-FFF2-40B4-BE49-F238E27FC236}">
                <a16:creationId xmlns:a16="http://schemas.microsoft.com/office/drawing/2014/main" id="{84B7212A-DA1C-CB7E-552A-0B434A835386}"/>
              </a:ext>
            </a:extLst>
          </p:cNvPr>
          <p:cNvSpPr/>
          <p:nvPr/>
        </p:nvSpPr>
        <p:spPr>
          <a:xfrm>
            <a:off x="283026" y="5661230"/>
            <a:ext cx="6400800" cy="1081764"/>
          </a:xfrm>
          <a:prstGeom prst="round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2400" dirty="0"/>
              <a:t>Next semester: regression discontinuity, event studies, and more! </a:t>
            </a:r>
          </a:p>
        </p:txBody>
      </p:sp>
      <p:sp>
        <p:nvSpPr>
          <p:cNvPr id="14" name="TextBox 13">
            <a:extLst>
              <a:ext uri="{FF2B5EF4-FFF2-40B4-BE49-F238E27FC236}">
                <a16:creationId xmlns:a16="http://schemas.microsoft.com/office/drawing/2014/main" id="{D02300DA-BB85-0372-318A-CE2EAB05198E}"/>
              </a:ext>
            </a:extLst>
          </p:cNvPr>
          <p:cNvSpPr txBox="1"/>
          <p:nvPr/>
        </p:nvSpPr>
        <p:spPr>
          <a:xfrm>
            <a:off x="7391400" y="1260246"/>
            <a:ext cx="3352800" cy="2400657"/>
          </a:xfrm>
          <a:prstGeom prst="rect">
            <a:avLst/>
          </a:prstGeom>
        </p:spPr>
        <p:style>
          <a:lnRef idx="3">
            <a:schemeClr val="lt1"/>
          </a:lnRef>
          <a:fillRef idx="1">
            <a:schemeClr val="accent5"/>
          </a:fillRef>
          <a:effectRef idx="1">
            <a:schemeClr val="accent5"/>
          </a:effectRef>
          <a:fontRef idx="minor">
            <a:schemeClr val="lt1"/>
          </a:fontRef>
        </p:style>
        <p:txBody>
          <a:bodyPr wrap="square" rtlCol="0">
            <a:spAutoFit/>
          </a:bodyPr>
          <a:lstStyle/>
          <a:p>
            <a:r>
              <a:rPr lang="en-US" sz="3000" dirty="0"/>
              <a:t>How can I measure differences arising from policy changes?</a:t>
            </a:r>
          </a:p>
        </p:txBody>
      </p:sp>
      <p:cxnSp>
        <p:nvCxnSpPr>
          <p:cNvPr id="16" name="Straight Arrow Connector 15">
            <a:extLst>
              <a:ext uri="{FF2B5EF4-FFF2-40B4-BE49-F238E27FC236}">
                <a16:creationId xmlns:a16="http://schemas.microsoft.com/office/drawing/2014/main" id="{1D74EAEA-E157-672D-4705-05266E6706A8}"/>
              </a:ext>
            </a:extLst>
          </p:cNvPr>
          <p:cNvCxnSpPr>
            <a:cxnSpLocks/>
            <a:stCxn id="14" idx="1"/>
          </p:cNvCxnSpPr>
          <p:nvPr/>
        </p:nvCxnSpPr>
        <p:spPr>
          <a:xfrm flipH="1">
            <a:off x="6781800" y="2460575"/>
            <a:ext cx="609600" cy="31981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A361E457-4380-4ED7-7C7C-08E0429C7210}"/>
              </a:ext>
            </a:extLst>
          </p:cNvPr>
          <p:cNvCxnSpPr>
            <a:cxnSpLocks/>
            <a:stCxn id="14" idx="1"/>
            <a:endCxn id="10" idx="3"/>
          </p:cNvCxnSpPr>
          <p:nvPr/>
        </p:nvCxnSpPr>
        <p:spPr>
          <a:xfrm flipH="1">
            <a:off x="6683826" y="2460575"/>
            <a:ext cx="707574" cy="119693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237017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How do you pick a method? </a:t>
            </a:r>
            <a:endParaRPr lang="en-US" sz="3600" dirty="0">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334B1144-9CF2-F37D-F27A-23357D3D4D6B}"/>
              </a:ext>
            </a:extLst>
          </p:cNvPr>
          <p:cNvPicPr>
            <a:picLocks noChangeAspect="1"/>
          </p:cNvPicPr>
          <p:nvPr/>
        </p:nvPicPr>
        <p:blipFill rotWithShape="1">
          <a:blip r:embed="rId3"/>
          <a:srcRect t="16178" r="5609"/>
          <a:stretch>
            <a:fillRect/>
          </a:stretch>
        </p:blipFill>
        <p:spPr>
          <a:xfrm>
            <a:off x="-304801" y="1219200"/>
            <a:ext cx="11353801" cy="4343400"/>
          </a:xfrm>
          <a:prstGeom prst="rect">
            <a:avLst/>
          </a:prstGeom>
        </p:spPr>
      </p:pic>
    </p:spTree>
    <p:extLst>
      <p:ext uri="{BB962C8B-B14F-4D97-AF65-F5344CB8AC3E}">
        <p14:creationId xmlns:p14="http://schemas.microsoft.com/office/powerpoint/2010/main" val="70770130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How do you pick a method? </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8458200" y="6112612"/>
            <a:ext cx="3697514" cy="624840"/>
          </a:xfrm>
        </p:spPr>
        <p:txBody>
          <a:bodyPr>
            <a:noAutofit/>
          </a:bodyPr>
          <a:lstStyle/>
          <a:p>
            <a:pPr marL="0" indent="0">
              <a:buNone/>
            </a:pPr>
            <a:r>
              <a:rPr lang="en-US" sz="2000" dirty="0">
                <a:solidFill>
                  <a:schemeClr val="accent3">
                    <a:lumMod val="50000"/>
                  </a:schemeClr>
                </a:solidFill>
                <a:cs typeface="Times New Roman" panose="02020603050405020304" pitchFamily="18" charset="0"/>
                <a:hlinkClick r:id="rId3"/>
              </a:rPr>
              <a:t>Source: Mahoney (2022)</a:t>
            </a:r>
            <a:endParaRPr lang="en-US" sz="2000" dirty="0">
              <a:solidFill>
                <a:schemeClr val="accent3">
                  <a:lumMod val="50000"/>
                </a:schemeClr>
              </a:solidFill>
              <a:cs typeface="Times New Roman" panose="02020603050405020304" pitchFamily="18" charset="0"/>
            </a:endParaRPr>
          </a:p>
        </p:txBody>
      </p:sp>
      <p:pic>
        <p:nvPicPr>
          <p:cNvPr id="6" name="Picture 5">
            <a:extLst>
              <a:ext uri="{FF2B5EF4-FFF2-40B4-BE49-F238E27FC236}">
                <a16:creationId xmlns:a16="http://schemas.microsoft.com/office/drawing/2014/main" id="{12A476EB-8EAA-310D-5B04-DE17127AD331}"/>
              </a:ext>
            </a:extLst>
          </p:cNvPr>
          <p:cNvPicPr>
            <a:picLocks noChangeAspect="1"/>
          </p:cNvPicPr>
          <p:nvPr/>
        </p:nvPicPr>
        <p:blipFill>
          <a:blip r:embed="rId4"/>
          <a:stretch>
            <a:fillRect/>
          </a:stretch>
        </p:blipFill>
        <p:spPr>
          <a:xfrm>
            <a:off x="152400" y="838200"/>
            <a:ext cx="8305800" cy="5844823"/>
          </a:xfrm>
          <a:prstGeom prst="rect">
            <a:avLst/>
          </a:prstGeom>
        </p:spPr>
      </p:pic>
    </p:spTree>
    <p:extLst>
      <p:ext uri="{BB962C8B-B14F-4D97-AF65-F5344CB8AC3E}">
        <p14:creationId xmlns:p14="http://schemas.microsoft.com/office/powerpoint/2010/main" val="402652023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BC9FD9-CE39-3DC7-189D-1DD027E67A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0A61CB-B725-6F05-EC4D-B4056E148A14}"/>
              </a:ext>
            </a:extLst>
          </p:cNvPr>
          <p:cNvSpPr>
            <a:spLocks noGrp="1"/>
          </p:cNvSpPr>
          <p:nvPr>
            <p:ph type="ctrTitle"/>
          </p:nvPr>
        </p:nvSpPr>
        <p:spPr>
          <a:xfrm>
            <a:off x="1261872" y="758952"/>
            <a:ext cx="10549128" cy="4041648"/>
          </a:xfrm>
        </p:spPr>
        <p:txBody>
          <a:bodyPr/>
          <a:lstStyle/>
          <a:p>
            <a:r>
              <a:rPr lang="en-US" dirty="0"/>
              <a:t>Designing a Project</a:t>
            </a:r>
          </a:p>
        </p:txBody>
      </p:sp>
      <p:sp>
        <p:nvSpPr>
          <p:cNvPr id="3" name="Subtitle 2">
            <a:extLst>
              <a:ext uri="{FF2B5EF4-FFF2-40B4-BE49-F238E27FC236}">
                <a16:creationId xmlns:a16="http://schemas.microsoft.com/office/drawing/2014/main" id="{1D4C1069-2481-C6ED-904F-BF7F2F6470F3}"/>
              </a:ext>
            </a:extLst>
          </p:cNvPr>
          <p:cNvSpPr>
            <a:spLocks noGrp="1"/>
          </p:cNvSpPr>
          <p:nvPr>
            <p:ph type="subTitle" idx="1"/>
          </p:nvPr>
        </p:nvSpPr>
        <p:spPr/>
        <p:txBody>
          <a:bodyPr>
            <a:normAutofit/>
          </a:bodyPr>
          <a:lstStyle/>
          <a:p>
            <a:endParaRPr lang="en-US" sz="4400" dirty="0"/>
          </a:p>
        </p:txBody>
      </p:sp>
    </p:spTree>
    <p:extLst>
      <p:ext uri="{BB962C8B-B14F-4D97-AF65-F5344CB8AC3E}">
        <p14:creationId xmlns:p14="http://schemas.microsoft.com/office/powerpoint/2010/main" val="148218013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04800" y="518160"/>
            <a:ext cx="10439400" cy="624840"/>
          </a:xfrm>
        </p:spPr>
        <p:txBody>
          <a:bodyPr>
            <a:noAutofit/>
          </a:bodyPr>
          <a:lstStyle/>
          <a:p>
            <a:r>
              <a:rPr lang="en-US" sz="3600" dirty="0">
                <a:cs typeface="Times New Roman" panose="02020603050405020304" pitchFamily="18" charset="0"/>
              </a:rPr>
              <a:t>Answers are only as good as your data…and your question!</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62001" y="1259412"/>
            <a:ext cx="9862990" cy="5141388"/>
          </a:xfrm>
        </p:spPr>
        <p:txBody>
          <a:bodyPr>
            <a:noAutofit/>
          </a:bodyPr>
          <a:lstStyle/>
          <a:p>
            <a:pPr marL="514350" indent="-514350">
              <a:buAutoNum type="arabicPeriod"/>
            </a:pPr>
            <a:r>
              <a:rPr lang="en-US" sz="2800" dirty="0">
                <a:cs typeface="Times New Roman" panose="02020603050405020304" pitchFamily="18" charset="0"/>
              </a:rPr>
              <a:t>Where to find data</a:t>
            </a:r>
          </a:p>
          <a:p>
            <a:pPr marL="514350" indent="-514350">
              <a:buAutoNum type="arabicPeriod"/>
            </a:pPr>
            <a:r>
              <a:rPr lang="en-US" sz="2800" dirty="0">
                <a:cs typeface="Times New Roman" panose="02020603050405020304" pitchFamily="18" charset="0"/>
              </a:rPr>
              <a:t>How to work with data (data cleaning) </a:t>
            </a:r>
          </a:p>
          <a:p>
            <a:pPr marL="514350" indent="-514350">
              <a:buAutoNum type="arabicPeriod"/>
            </a:pPr>
            <a:r>
              <a:rPr lang="en-US" sz="2800" b="1" dirty="0">
                <a:cs typeface="Times New Roman" panose="02020603050405020304" pitchFamily="18" charset="0"/>
              </a:rPr>
              <a:t>How to design good research questions</a:t>
            </a:r>
          </a:p>
          <a:p>
            <a:pPr marL="514350" indent="-514350">
              <a:buAutoNum type="arabicPeriod"/>
            </a:pPr>
            <a:r>
              <a:rPr lang="en-US" sz="2800" dirty="0">
                <a:cs typeface="Times New Roman" panose="02020603050405020304" pitchFamily="18" charset="0"/>
              </a:rPr>
              <a:t>Research designs: where we’re headed</a:t>
            </a:r>
          </a:p>
        </p:txBody>
      </p:sp>
    </p:spTree>
    <p:extLst>
      <p:ext uri="{BB962C8B-B14F-4D97-AF65-F5344CB8AC3E}">
        <p14:creationId xmlns:p14="http://schemas.microsoft.com/office/powerpoint/2010/main" val="178636805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Framework: Everything is a Remix </a:t>
            </a:r>
            <a:endParaRPr lang="en-US" sz="3600" dirty="0">
              <a:latin typeface="Times New Roman" panose="02020603050405020304" pitchFamily="18" charset="0"/>
              <a:cs typeface="Times New Roman" panose="02020603050405020304" pitchFamily="18" charset="0"/>
            </a:endParaRPr>
          </a:p>
        </p:txBody>
      </p:sp>
      <p:pic>
        <p:nvPicPr>
          <p:cNvPr id="4" name="Online Media 3" title="Everything is a Remix Remastered (2015 HD)">
            <a:hlinkClick r:id="" action="ppaction://media"/>
            <a:extLst>
              <a:ext uri="{FF2B5EF4-FFF2-40B4-BE49-F238E27FC236}">
                <a16:creationId xmlns:a16="http://schemas.microsoft.com/office/drawing/2014/main" id="{E83F5012-EF69-1350-0BA8-D15C740E0A8B}"/>
              </a:ext>
            </a:extLst>
          </p:cNvPr>
          <p:cNvPicPr>
            <a:picLocks noGrp="1" noRot="1" noChangeAspect="1"/>
          </p:cNvPicPr>
          <p:nvPr>
            <p:ph idx="1"/>
            <a:videoFile r:link="rId1"/>
          </p:nvPr>
        </p:nvPicPr>
        <p:blipFill>
          <a:blip r:embed="rId4"/>
          <a:stretch>
            <a:fillRect/>
          </a:stretch>
        </p:blipFill>
        <p:spPr>
          <a:xfrm>
            <a:off x="1566862" y="1066800"/>
            <a:ext cx="9101138" cy="5141913"/>
          </a:xfrm>
          <a:prstGeom prst="rect">
            <a:avLst/>
          </a:prstGeom>
        </p:spPr>
      </p:pic>
    </p:spTree>
    <p:extLst>
      <p:ext uri="{BB962C8B-B14F-4D97-AF65-F5344CB8AC3E}">
        <p14:creationId xmlns:p14="http://schemas.microsoft.com/office/powerpoint/2010/main" val="24582637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795188-1CDB-7555-CC88-BF4109A2FF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87312B2-99C9-6F5C-E9C1-BB95E588CB61}"/>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Framework: Everything is a Remix </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469171BB-C70C-8901-7639-2B9FB8A5BEC6}"/>
              </a:ext>
            </a:extLst>
          </p:cNvPr>
          <p:cNvSpPr>
            <a:spLocks noGrp="1"/>
          </p:cNvSpPr>
          <p:nvPr>
            <p:ph idx="1"/>
          </p:nvPr>
        </p:nvSpPr>
        <p:spPr>
          <a:xfrm>
            <a:off x="609600" y="962232"/>
            <a:ext cx="10134600" cy="5217905"/>
          </a:xfrm>
        </p:spPr>
        <p:txBody>
          <a:bodyPr>
            <a:normAutofit/>
          </a:bodyPr>
          <a:lstStyle/>
          <a:p>
            <a:pPr marL="0" indent="0">
              <a:buNone/>
            </a:pPr>
            <a:r>
              <a:rPr lang="en-US" sz="2200" dirty="0"/>
              <a:t>Sampling (in music, not statistics)</a:t>
            </a:r>
          </a:p>
          <a:p>
            <a:pPr>
              <a:buFontTx/>
              <a:buChar char="-"/>
            </a:pPr>
            <a:endParaRPr lang="en-US" sz="2200" dirty="0"/>
          </a:p>
        </p:txBody>
      </p:sp>
    </p:spTree>
    <p:extLst>
      <p:ext uri="{BB962C8B-B14F-4D97-AF65-F5344CB8AC3E}">
        <p14:creationId xmlns:p14="http://schemas.microsoft.com/office/powerpoint/2010/main" val="283332839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20E5E-BAEA-746E-B59C-D6C41F2F7E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9BCA98-14FA-907D-090A-C9B4596FCA25}"/>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Framework: Everything is a Remix </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25A66625-B9B7-4E10-B19B-08FA86E46219}"/>
              </a:ext>
            </a:extLst>
          </p:cNvPr>
          <p:cNvSpPr>
            <a:spLocks noGrp="1"/>
          </p:cNvSpPr>
          <p:nvPr>
            <p:ph idx="1"/>
          </p:nvPr>
        </p:nvSpPr>
        <p:spPr>
          <a:xfrm>
            <a:off x="609600" y="962232"/>
            <a:ext cx="10134600" cy="5217905"/>
          </a:xfrm>
        </p:spPr>
        <p:txBody>
          <a:bodyPr>
            <a:normAutofit/>
          </a:bodyPr>
          <a:lstStyle/>
          <a:p>
            <a:pPr marL="0" indent="0">
              <a:buNone/>
            </a:pPr>
            <a:r>
              <a:rPr lang="en-US" sz="2200" dirty="0"/>
              <a:t>Sampling (in music, not statistics)</a:t>
            </a:r>
          </a:p>
          <a:p>
            <a:pPr>
              <a:buFontTx/>
              <a:buChar char="-"/>
            </a:pPr>
            <a:r>
              <a:rPr lang="en-US" sz="2200" dirty="0"/>
              <a:t>Research uses the same language, structure, paragraphs, etc. </a:t>
            </a:r>
          </a:p>
          <a:p>
            <a:pPr>
              <a:buFontTx/>
              <a:buChar char="-"/>
            </a:pPr>
            <a:r>
              <a:rPr lang="en-US" sz="2200" dirty="0"/>
              <a:t>This is a case of “genre setting” – everything you produce has a genre, including your proposal, your dissertation, and your papers. You will even have to do the work of translating these across formats (e.g., when you take a dissertation chapter and make it a publishable paper). </a:t>
            </a:r>
          </a:p>
          <a:p>
            <a:pPr>
              <a:buFontTx/>
              <a:buChar char="-"/>
            </a:pPr>
            <a:r>
              <a:rPr lang="en-US" sz="2200" dirty="0"/>
              <a:t>What does this look like? Why do we do this? </a:t>
            </a:r>
          </a:p>
        </p:txBody>
      </p:sp>
    </p:spTree>
    <p:extLst>
      <p:ext uri="{BB962C8B-B14F-4D97-AF65-F5344CB8AC3E}">
        <p14:creationId xmlns:p14="http://schemas.microsoft.com/office/powerpoint/2010/main" val="82098900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29F704-C9EE-0827-C015-BCA727B0EF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AA19C7-07EF-7349-FF9B-6EF82E639CA2}"/>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Framework: Everything is a Remix </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D2E9152B-07B7-1D4E-6610-B68A81ACA70D}"/>
              </a:ext>
            </a:extLst>
          </p:cNvPr>
          <p:cNvSpPr>
            <a:spLocks noGrp="1"/>
          </p:cNvSpPr>
          <p:nvPr>
            <p:ph idx="1"/>
          </p:nvPr>
        </p:nvSpPr>
        <p:spPr>
          <a:xfrm>
            <a:off x="609600" y="962232"/>
            <a:ext cx="10134600" cy="5217905"/>
          </a:xfrm>
        </p:spPr>
        <p:txBody>
          <a:bodyPr>
            <a:normAutofit/>
          </a:bodyPr>
          <a:lstStyle/>
          <a:p>
            <a:pPr marL="0" indent="0">
              <a:buNone/>
            </a:pPr>
            <a:r>
              <a:rPr lang="en-US" sz="2200" dirty="0"/>
              <a:t>Sampling (in music, not statistics)</a:t>
            </a:r>
          </a:p>
          <a:p>
            <a:pPr>
              <a:buFontTx/>
              <a:buChar char="-"/>
            </a:pPr>
            <a:r>
              <a:rPr lang="en-US" sz="2200" dirty="0"/>
              <a:t>Research uses the same language, structure, paragraphs, etc. </a:t>
            </a:r>
          </a:p>
          <a:p>
            <a:pPr>
              <a:buFontTx/>
              <a:buChar char="-"/>
            </a:pPr>
            <a:r>
              <a:rPr lang="en-US" sz="2200" dirty="0"/>
              <a:t>This is a case of “genre setting” – everything you produce has a genre, including your proposal, your dissertation, and your papers. You will even have to do the work of translating these across formats (e.g., when you take a dissertation chapter and make it a publishable paper). </a:t>
            </a:r>
          </a:p>
          <a:p>
            <a:pPr>
              <a:buFontTx/>
              <a:buChar char="-"/>
            </a:pPr>
            <a:r>
              <a:rPr lang="en-US" sz="2200" dirty="0"/>
              <a:t>Why do we do this? 90% to improve (efficient) readability, 10% to signal you’re legit</a:t>
            </a:r>
          </a:p>
          <a:p>
            <a:pPr>
              <a:buFontTx/>
              <a:buChar char="-"/>
            </a:pPr>
            <a:r>
              <a:rPr lang="en-US" sz="2200" dirty="0"/>
              <a:t>So what is the line between sampling and copying (Led Zeppelin)? Covers vs. knockoffs?</a:t>
            </a:r>
          </a:p>
          <a:p>
            <a:pPr>
              <a:buFontTx/>
              <a:buChar char="-"/>
            </a:pPr>
            <a:endParaRPr lang="en-US" sz="2200" dirty="0"/>
          </a:p>
        </p:txBody>
      </p:sp>
    </p:spTree>
    <p:extLst>
      <p:ext uri="{BB962C8B-B14F-4D97-AF65-F5344CB8AC3E}">
        <p14:creationId xmlns:p14="http://schemas.microsoft.com/office/powerpoint/2010/main" val="16835622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E5C73E-A218-5061-A670-010A2682AB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85DCA0-75D3-9272-BCDB-64FA2089D552}"/>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Framework: Everything is a Remix </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0FFF6F7B-1F57-440F-9113-E8F38DAED85B}"/>
              </a:ext>
            </a:extLst>
          </p:cNvPr>
          <p:cNvSpPr>
            <a:spLocks noGrp="1"/>
          </p:cNvSpPr>
          <p:nvPr>
            <p:ph idx="1"/>
          </p:nvPr>
        </p:nvSpPr>
        <p:spPr>
          <a:xfrm>
            <a:off x="609600" y="962232"/>
            <a:ext cx="10134600" cy="5217905"/>
          </a:xfrm>
        </p:spPr>
        <p:txBody>
          <a:bodyPr>
            <a:normAutofit lnSpcReduction="10000"/>
          </a:bodyPr>
          <a:lstStyle/>
          <a:p>
            <a:pPr marL="0" indent="0">
              <a:buNone/>
            </a:pPr>
            <a:r>
              <a:rPr lang="en-US" sz="2200" dirty="0"/>
              <a:t>Part 1: Sampling (in music, not statistics)</a:t>
            </a:r>
          </a:p>
          <a:p>
            <a:pPr>
              <a:buFontTx/>
              <a:buChar char="-"/>
            </a:pPr>
            <a:r>
              <a:rPr lang="en-US" sz="2200" dirty="0"/>
              <a:t>Research uses the same language, structure, paragraphs, etc. </a:t>
            </a:r>
          </a:p>
          <a:p>
            <a:pPr>
              <a:buFontTx/>
              <a:buChar char="-"/>
            </a:pPr>
            <a:r>
              <a:rPr lang="en-US" sz="2200" dirty="0"/>
              <a:t>This is a case of “genre setting” – everything you produce has a genre, including your proposal, your dissertation, and your papers. You will even have to do the work of translating these across formats (e.g., when you take a dissertation chapter and make it a publishable paper). </a:t>
            </a:r>
          </a:p>
          <a:p>
            <a:pPr>
              <a:buFontTx/>
              <a:buChar char="-"/>
            </a:pPr>
            <a:r>
              <a:rPr lang="en-US" sz="2200" dirty="0"/>
              <a:t>Why do we do this? 90% to improve (efficient) readability, 10% to signal you’re legit</a:t>
            </a:r>
          </a:p>
          <a:p>
            <a:pPr>
              <a:buFontTx/>
              <a:buChar char="-"/>
            </a:pPr>
            <a:r>
              <a:rPr lang="en-US" sz="2200" dirty="0"/>
              <a:t>So what is the line between sampling and copying (Led Zeppelin)? Covers vs. knockoffs?</a:t>
            </a:r>
          </a:p>
          <a:p>
            <a:pPr lvl="1">
              <a:buFontTx/>
              <a:buChar char="-"/>
            </a:pPr>
            <a:r>
              <a:rPr lang="en-US" sz="2200" dirty="0"/>
              <a:t>Your contributions should be your own (novel mix of question, data, methods, model, and interpretation)</a:t>
            </a:r>
          </a:p>
          <a:p>
            <a:pPr lvl="1">
              <a:buFontTx/>
              <a:buChar char="-"/>
            </a:pPr>
            <a:r>
              <a:rPr lang="en-US" sz="2200" dirty="0"/>
              <a:t>Each individual piece can be adapted, but the lines should be clear.</a:t>
            </a:r>
          </a:p>
          <a:p>
            <a:pPr lvl="1">
              <a:buFontTx/>
              <a:buChar char="-"/>
            </a:pPr>
            <a:r>
              <a:rPr lang="en-US" sz="2200" dirty="0"/>
              <a:t>Plagiarism is still a sin</a:t>
            </a:r>
          </a:p>
          <a:p>
            <a:pPr>
              <a:buFontTx/>
              <a:buChar char="-"/>
            </a:pPr>
            <a:endParaRPr lang="en-US" sz="2200" dirty="0"/>
          </a:p>
        </p:txBody>
      </p:sp>
    </p:spTree>
    <p:extLst>
      <p:ext uri="{BB962C8B-B14F-4D97-AF65-F5344CB8AC3E}">
        <p14:creationId xmlns:p14="http://schemas.microsoft.com/office/powerpoint/2010/main" val="33484003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072111-40B9-6202-F694-54DCA04F98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FA100A-82E2-BB26-C355-D2209CA44E99}"/>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Framework: Everything is a Remix </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6C8416DA-4434-7389-B7F4-FCC51AEB6530}"/>
              </a:ext>
            </a:extLst>
          </p:cNvPr>
          <p:cNvSpPr>
            <a:spLocks noGrp="1"/>
          </p:cNvSpPr>
          <p:nvPr>
            <p:ph idx="1"/>
          </p:nvPr>
        </p:nvSpPr>
        <p:spPr>
          <a:xfrm>
            <a:off x="609600" y="962232"/>
            <a:ext cx="10134600" cy="5217905"/>
          </a:xfrm>
        </p:spPr>
        <p:txBody>
          <a:bodyPr>
            <a:normAutofit/>
          </a:bodyPr>
          <a:lstStyle/>
          <a:p>
            <a:pPr marL="0" indent="0">
              <a:buNone/>
            </a:pPr>
            <a:r>
              <a:rPr lang="en-US" sz="2200" dirty="0"/>
              <a:t>Part 2: film and fiction</a:t>
            </a:r>
          </a:p>
          <a:p>
            <a:pPr marL="0" indent="0">
              <a:buNone/>
            </a:pPr>
            <a:r>
              <a:rPr lang="en-US" sz="2200" dirty="0"/>
              <a:t>Let’s talk about the mechanics of a (HSR research) remix</a:t>
            </a:r>
          </a:p>
          <a:p>
            <a:pPr>
              <a:buFontTx/>
              <a:buChar char="-"/>
            </a:pPr>
            <a:r>
              <a:rPr lang="en-US" sz="2200" dirty="0"/>
              <a:t>Does “original” need to spring to mind when people think about your research? Yes and no</a:t>
            </a:r>
          </a:p>
          <a:p>
            <a:pPr>
              <a:buFontTx/>
              <a:buChar char="-"/>
            </a:pPr>
            <a:r>
              <a:rPr lang="en-US" sz="2200" dirty="0"/>
              <a:t>Remember that genre – you want to use standard elements and appropriate, transform, and subvert them as needed</a:t>
            </a:r>
          </a:p>
          <a:p>
            <a:pPr>
              <a:buFontTx/>
              <a:buChar char="-"/>
            </a:pPr>
            <a:r>
              <a:rPr lang="en-US" sz="2200" dirty="0"/>
              <a:t>Example: Star Wars</a:t>
            </a:r>
          </a:p>
          <a:p>
            <a:pPr lvl="1">
              <a:buFontTx/>
              <a:buChar char="-"/>
            </a:pPr>
            <a:r>
              <a:rPr lang="en-US" sz="2200" dirty="0"/>
              <a:t>Your dissertation chapter follows the academic monomyth structure</a:t>
            </a:r>
          </a:p>
          <a:p>
            <a:pPr lvl="1">
              <a:buFontTx/>
              <a:buChar char="-"/>
            </a:pPr>
            <a:r>
              <a:rPr lang="en-US" sz="2200" dirty="0"/>
              <a:t>There’s incredible value, though, in combining elements (soft wipes, Westerns + Kurosawa films, opening titles) – what does this look like for you?</a:t>
            </a:r>
          </a:p>
          <a:p>
            <a:pPr lvl="1">
              <a:buFontTx/>
              <a:buChar char="-"/>
            </a:pPr>
            <a:r>
              <a:rPr lang="en-US" sz="2200" dirty="0"/>
              <a:t>Creation requires influence! Originality doesn’t require isolation. </a:t>
            </a:r>
          </a:p>
          <a:p>
            <a:pPr>
              <a:buFontTx/>
              <a:buChar char="-"/>
            </a:pPr>
            <a:endParaRPr lang="en-US" sz="2200" dirty="0"/>
          </a:p>
        </p:txBody>
      </p:sp>
    </p:spTree>
    <p:extLst>
      <p:ext uri="{BB962C8B-B14F-4D97-AF65-F5344CB8AC3E}">
        <p14:creationId xmlns:p14="http://schemas.microsoft.com/office/powerpoint/2010/main" val="2446243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5C5C95-161B-9D56-9092-6E005E6C52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2C7623-0CA7-E400-AD37-1D88B8056DC8}"/>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Framework: Everything is a Remix </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3417A324-F13E-BA07-6236-2426A9A8ED86}"/>
              </a:ext>
            </a:extLst>
          </p:cNvPr>
          <p:cNvSpPr>
            <a:spLocks noGrp="1"/>
          </p:cNvSpPr>
          <p:nvPr>
            <p:ph idx="1"/>
          </p:nvPr>
        </p:nvSpPr>
        <p:spPr>
          <a:xfrm>
            <a:off x="609600" y="962232"/>
            <a:ext cx="10134600" cy="5217905"/>
          </a:xfrm>
        </p:spPr>
        <p:txBody>
          <a:bodyPr>
            <a:normAutofit/>
          </a:bodyPr>
          <a:lstStyle/>
          <a:p>
            <a:pPr marL="0" indent="0">
              <a:buNone/>
            </a:pPr>
            <a:r>
              <a:rPr lang="en-US" sz="2200" dirty="0"/>
              <a:t>Part 2: film and fiction</a:t>
            </a:r>
          </a:p>
          <a:p>
            <a:pPr marL="0" indent="0">
              <a:buNone/>
            </a:pPr>
            <a:r>
              <a:rPr lang="en-US" sz="2200" dirty="0"/>
              <a:t>Let’s talk about the mechanics of a (HSR research) remix</a:t>
            </a:r>
          </a:p>
          <a:p>
            <a:pPr>
              <a:buFontTx/>
              <a:buChar char="-"/>
            </a:pPr>
            <a:r>
              <a:rPr lang="en-US" sz="2200" dirty="0"/>
              <a:t>Does “original” need to spring to mind when people think about your research? Yes and no</a:t>
            </a:r>
          </a:p>
          <a:p>
            <a:pPr>
              <a:buFontTx/>
              <a:buChar char="-"/>
            </a:pPr>
            <a:r>
              <a:rPr lang="en-US" sz="2200" dirty="0"/>
              <a:t>Remember that genre – you want to use standard elements and appropriate, transform, and subvert them as needed</a:t>
            </a:r>
          </a:p>
          <a:p>
            <a:pPr>
              <a:buFontTx/>
              <a:buChar char="-"/>
            </a:pPr>
            <a:r>
              <a:rPr lang="en-US" sz="2200" dirty="0"/>
              <a:t>Example: Star Wars</a:t>
            </a:r>
          </a:p>
          <a:p>
            <a:pPr lvl="1">
              <a:buFontTx/>
              <a:buChar char="-"/>
            </a:pPr>
            <a:r>
              <a:rPr lang="en-US" sz="2000" dirty="0"/>
              <a:t>Your dissertation chapter follows the academic monomyth structure</a:t>
            </a:r>
          </a:p>
          <a:p>
            <a:pPr lvl="1">
              <a:buFontTx/>
              <a:buChar char="-"/>
            </a:pPr>
            <a:r>
              <a:rPr lang="en-US" sz="2000" dirty="0"/>
              <a:t>There’s incredible value, though, in combining elements (soft wipes, Westerns + Kurosawa films, opening titles) – what does this look like for you?</a:t>
            </a:r>
          </a:p>
          <a:p>
            <a:pPr lvl="1">
              <a:buFontTx/>
              <a:buChar char="-"/>
            </a:pPr>
            <a:r>
              <a:rPr lang="en-US" sz="2000" dirty="0"/>
              <a:t>Creation requires influence! Originality doesn’t require isolation. </a:t>
            </a:r>
          </a:p>
          <a:p>
            <a:pPr>
              <a:buFontTx/>
              <a:buChar char="-"/>
            </a:pPr>
            <a:endParaRPr lang="en-US" sz="2200" dirty="0"/>
          </a:p>
        </p:txBody>
      </p:sp>
      <p:pic>
        <p:nvPicPr>
          <p:cNvPr id="4" name="Picture 3">
            <a:extLst>
              <a:ext uri="{FF2B5EF4-FFF2-40B4-BE49-F238E27FC236}">
                <a16:creationId xmlns:a16="http://schemas.microsoft.com/office/drawing/2014/main" id="{2AA9ED01-CD94-BCB7-3105-533200C36B47}"/>
              </a:ext>
            </a:extLst>
          </p:cNvPr>
          <p:cNvPicPr>
            <a:picLocks noChangeAspect="1"/>
          </p:cNvPicPr>
          <p:nvPr/>
        </p:nvPicPr>
        <p:blipFill>
          <a:blip r:embed="rId3"/>
          <a:stretch>
            <a:fillRect/>
          </a:stretch>
        </p:blipFill>
        <p:spPr>
          <a:xfrm>
            <a:off x="2275251" y="2671971"/>
            <a:ext cx="8773749" cy="3848637"/>
          </a:xfrm>
          <a:prstGeom prst="rect">
            <a:avLst/>
          </a:prstGeom>
        </p:spPr>
      </p:pic>
    </p:spTree>
    <p:extLst>
      <p:ext uri="{BB962C8B-B14F-4D97-AF65-F5344CB8AC3E}">
        <p14:creationId xmlns:p14="http://schemas.microsoft.com/office/powerpoint/2010/main" val="86944378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AE22CC-AFBB-E69B-174B-75E12CC2EB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248DC6-154D-4E20-A7E3-DBCBEABF1355}"/>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Framework: Everything is a Remix </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2E2D44FE-D9C2-C4B4-BA30-72749CD53089}"/>
              </a:ext>
            </a:extLst>
          </p:cNvPr>
          <p:cNvSpPr>
            <a:spLocks noGrp="1"/>
          </p:cNvSpPr>
          <p:nvPr>
            <p:ph idx="1"/>
          </p:nvPr>
        </p:nvSpPr>
        <p:spPr>
          <a:xfrm>
            <a:off x="609600" y="962232"/>
            <a:ext cx="10134600" cy="5667168"/>
          </a:xfrm>
        </p:spPr>
        <p:txBody>
          <a:bodyPr>
            <a:normAutofit/>
          </a:bodyPr>
          <a:lstStyle/>
          <a:p>
            <a:pPr marL="0" indent="0">
              <a:buNone/>
            </a:pPr>
            <a:r>
              <a:rPr lang="en-US" sz="2200" dirty="0"/>
              <a:t>Part 3: copying and the elements of creativity</a:t>
            </a:r>
          </a:p>
          <a:p>
            <a:pPr>
              <a:buFontTx/>
              <a:buChar char="-"/>
            </a:pPr>
            <a:r>
              <a:rPr lang="en-US" sz="2200" dirty="0"/>
              <a:t>We can’t introduce anything new until we’re fluent in the language of our domain. Copying (emulation) is how we learn!</a:t>
            </a:r>
          </a:p>
          <a:p>
            <a:pPr>
              <a:buFontTx/>
              <a:buChar char="-"/>
            </a:pPr>
            <a:r>
              <a:rPr lang="en-US" sz="2200" dirty="0"/>
              <a:t>Your first dozen or more research ideas will likely be “derivative work” or “cover songs” (but do you really need to retype the Great Gatsby to get the feel of a novel?)</a:t>
            </a:r>
          </a:p>
          <a:p>
            <a:pPr marL="0" indent="0">
              <a:buNone/>
            </a:pPr>
            <a:r>
              <a:rPr lang="en-US" sz="2200" dirty="0"/>
              <a:t>What can you do </a:t>
            </a:r>
            <a:r>
              <a:rPr lang="en-US" sz="2200" u="sng" dirty="0"/>
              <a:t>when generating ideas</a:t>
            </a:r>
            <a:r>
              <a:rPr lang="en-US" sz="2200" dirty="0"/>
              <a:t>? </a:t>
            </a:r>
          </a:p>
        </p:txBody>
      </p:sp>
    </p:spTree>
    <p:extLst>
      <p:ext uri="{BB962C8B-B14F-4D97-AF65-F5344CB8AC3E}">
        <p14:creationId xmlns:p14="http://schemas.microsoft.com/office/powerpoint/2010/main" val="179736614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B4FAF1-1599-0547-7DA0-ED58B01170D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04FDAF-84C9-9F8B-7DAC-B88082794E29}"/>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Framework: Everything is a Remix </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02AB111B-ECA2-A49A-9F54-0BCA6F2E9276}"/>
              </a:ext>
            </a:extLst>
          </p:cNvPr>
          <p:cNvSpPr>
            <a:spLocks noGrp="1"/>
          </p:cNvSpPr>
          <p:nvPr>
            <p:ph idx="1"/>
          </p:nvPr>
        </p:nvSpPr>
        <p:spPr>
          <a:xfrm>
            <a:off x="609600" y="962232"/>
            <a:ext cx="10134600" cy="5667168"/>
          </a:xfrm>
        </p:spPr>
        <p:txBody>
          <a:bodyPr>
            <a:normAutofit/>
          </a:bodyPr>
          <a:lstStyle/>
          <a:p>
            <a:pPr marL="0" indent="0">
              <a:buNone/>
            </a:pPr>
            <a:r>
              <a:rPr lang="en-US" sz="2200" dirty="0"/>
              <a:t>Part 3: copying and the elements of creativity</a:t>
            </a:r>
          </a:p>
          <a:p>
            <a:pPr>
              <a:buFontTx/>
              <a:buChar char="-"/>
            </a:pPr>
            <a:r>
              <a:rPr lang="en-US" sz="2200" dirty="0"/>
              <a:t>We can’t introduce anything new until we’re fluent in the language of our domain. Copying (emulation) is how we learn!</a:t>
            </a:r>
          </a:p>
          <a:p>
            <a:pPr>
              <a:buFontTx/>
              <a:buChar char="-"/>
            </a:pPr>
            <a:r>
              <a:rPr lang="en-US" sz="2200" dirty="0"/>
              <a:t>Your first dozen or more research ideas will likely be “derivative work” or “cover songs” (but do you really need to retype the Great Gatsby to get the feel of a novel?)</a:t>
            </a:r>
          </a:p>
          <a:p>
            <a:pPr marL="0" indent="0">
              <a:buNone/>
            </a:pPr>
            <a:r>
              <a:rPr lang="en-US" sz="2200" dirty="0"/>
              <a:t>What can you do </a:t>
            </a:r>
            <a:r>
              <a:rPr lang="en-US" sz="2200" u="sng" dirty="0"/>
              <a:t>when writing</a:t>
            </a:r>
            <a:r>
              <a:rPr lang="en-US" sz="2200" dirty="0"/>
              <a:t>? </a:t>
            </a:r>
          </a:p>
          <a:p>
            <a:pPr>
              <a:buFontTx/>
              <a:buChar char="-"/>
            </a:pPr>
            <a:r>
              <a:rPr lang="en-US" sz="2200" dirty="0"/>
              <a:t>Read good papers, and try to write like them! </a:t>
            </a:r>
          </a:p>
          <a:p>
            <a:pPr>
              <a:buFontTx/>
              <a:buChar char="-"/>
            </a:pPr>
            <a:r>
              <a:rPr lang="en-US" sz="2200" dirty="0"/>
              <a:t>Investigate the structure of their arguments – what level of detail? What order? What is assumed and what is explained?</a:t>
            </a:r>
          </a:p>
          <a:p>
            <a:pPr>
              <a:buFontTx/>
              <a:buChar char="-"/>
            </a:pPr>
            <a:r>
              <a:rPr lang="en-US" sz="2200" dirty="0"/>
              <a:t>Investigate the structure of their writing: “Table X presents the results. We do X, then Y, then Z. The results suggest X1 and Y1. …” </a:t>
            </a:r>
          </a:p>
          <a:p>
            <a:pPr>
              <a:buFontTx/>
              <a:buChar char="-"/>
            </a:pPr>
            <a:r>
              <a:rPr lang="en-US" sz="2200" dirty="0"/>
              <a:t>Your paper should </a:t>
            </a:r>
            <a:r>
              <a:rPr lang="en-US" sz="2200" i="1" dirty="0"/>
              <a:t>not </a:t>
            </a:r>
            <a:r>
              <a:rPr lang="en-US" sz="2200" dirty="0"/>
              <a:t>read like an op-ed, or a novel, or even a psychology article!</a:t>
            </a:r>
          </a:p>
        </p:txBody>
      </p:sp>
    </p:spTree>
    <p:extLst>
      <p:ext uri="{BB962C8B-B14F-4D97-AF65-F5344CB8AC3E}">
        <p14:creationId xmlns:p14="http://schemas.microsoft.com/office/powerpoint/2010/main" val="268628421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1D272A-FCE2-7201-717C-3DA97930F2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C682F8-6596-485F-9448-644E51139F1B}"/>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Framework: Everything is a Remix </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11300261-7B7B-5BB5-348F-5F21962CC429}"/>
              </a:ext>
            </a:extLst>
          </p:cNvPr>
          <p:cNvSpPr>
            <a:spLocks noGrp="1"/>
          </p:cNvSpPr>
          <p:nvPr>
            <p:ph idx="1"/>
          </p:nvPr>
        </p:nvSpPr>
        <p:spPr>
          <a:xfrm>
            <a:off x="609600" y="962232"/>
            <a:ext cx="10134600" cy="5667168"/>
          </a:xfrm>
        </p:spPr>
        <p:txBody>
          <a:bodyPr>
            <a:normAutofit/>
          </a:bodyPr>
          <a:lstStyle/>
          <a:p>
            <a:pPr marL="0" indent="0">
              <a:buNone/>
            </a:pPr>
            <a:r>
              <a:rPr lang="en-US" sz="2200" dirty="0"/>
              <a:t>Part 3: copying and the elements of creativity</a:t>
            </a:r>
          </a:p>
          <a:p>
            <a:pPr>
              <a:buFontTx/>
              <a:buChar char="-"/>
            </a:pPr>
            <a:r>
              <a:rPr lang="en-US" sz="2200" dirty="0"/>
              <a:t>We can’t introduce anything new until we’re fluent in the language of our domain. Copying (emulation) is how we learn!</a:t>
            </a:r>
          </a:p>
          <a:p>
            <a:pPr>
              <a:buFontTx/>
              <a:buChar char="-"/>
            </a:pPr>
            <a:r>
              <a:rPr lang="en-US" sz="2200" dirty="0"/>
              <a:t>Your first dozen or more research ideas will likely be “derivative work” or “cover songs” (but do you really need to retype the Great Gatsby to get the feel of a novel?)</a:t>
            </a:r>
          </a:p>
          <a:p>
            <a:pPr marL="0" indent="0">
              <a:buNone/>
            </a:pPr>
            <a:r>
              <a:rPr lang="en-US" sz="2200" dirty="0"/>
              <a:t>What can you do </a:t>
            </a:r>
            <a:r>
              <a:rPr lang="en-US" sz="2200" u="sng" dirty="0"/>
              <a:t>when building a dissertation</a:t>
            </a:r>
            <a:r>
              <a:rPr lang="en-US" sz="2200" dirty="0"/>
              <a:t>? </a:t>
            </a:r>
          </a:p>
          <a:p>
            <a:pPr>
              <a:buFontTx/>
              <a:buChar char="-"/>
            </a:pPr>
            <a:r>
              <a:rPr lang="en-US" sz="2200" dirty="0"/>
              <a:t>Then you can start combining your own ideas with the genre and the literature</a:t>
            </a:r>
          </a:p>
          <a:p>
            <a:pPr>
              <a:buFontTx/>
              <a:buChar char="-"/>
            </a:pPr>
            <a:r>
              <a:rPr lang="en-US" sz="2200" dirty="0"/>
              <a:t>Like the Macintosh, can copy key elements while combining the computer with household appliances</a:t>
            </a:r>
          </a:p>
        </p:txBody>
      </p:sp>
    </p:spTree>
    <p:extLst>
      <p:ext uri="{BB962C8B-B14F-4D97-AF65-F5344CB8AC3E}">
        <p14:creationId xmlns:p14="http://schemas.microsoft.com/office/powerpoint/2010/main" val="147900316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353928-E3C0-4B41-7DC3-003C22A4025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A3ECF0-A9CC-003B-ED3E-863678954E09}"/>
              </a:ext>
            </a:extLst>
          </p:cNvPr>
          <p:cNvSpPr>
            <a:spLocks noGrp="1"/>
          </p:cNvSpPr>
          <p:nvPr>
            <p:ph type="ctrTitle"/>
          </p:nvPr>
        </p:nvSpPr>
        <p:spPr>
          <a:xfrm>
            <a:off x="1261872" y="758952"/>
            <a:ext cx="10549128" cy="4041648"/>
          </a:xfrm>
        </p:spPr>
        <p:txBody>
          <a:bodyPr/>
          <a:lstStyle/>
          <a:p>
            <a:r>
              <a:rPr lang="en-US" dirty="0"/>
              <a:t>An HSR Remix Example</a:t>
            </a:r>
          </a:p>
        </p:txBody>
      </p:sp>
      <p:sp>
        <p:nvSpPr>
          <p:cNvPr id="3" name="Subtitle 2">
            <a:extLst>
              <a:ext uri="{FF2B5EF4-FFF2-40B4-BE49-F238E27FC236}">
                <a16:creationId xmlns:a16="http://schemas.microsoft.com/office/drawing/2014/main" id="{A1A2155B-D354-F69A-430C-0E403367C9B0}"/>
              </a:ext>
            </a:extLst>
          </p:cNvPr>
          <p:cNvSpPr>
            <a:spLocks noGrp="1"/>
          </p:cNvSpPr>
          <p:nvPr>
            <p:ph type="subTitle" idx="1"/>
          </p:nvPr>
        </p:nvSpPr>
        <p:spPr/>
        <p:txBody>
          <a:bodyPr>
            <a:normAutofit/>
          </a:bodyPr>
          <a:lstStyle/>
          <a:p>
            <a:endParaRPr lang="en-US" sz="4400" dirty="0"/>
          </a:p>
        </p:txBody>
      </p:sp>
    </p:spTree>
    <p:extLst>
      <p:ext uri="{BB962C8B-B14F-4D97-AF65-F5344CB8AC3E}">
        <p14:creationId xmlns:p14="http://schemas.microsoft.com/office/powerpoint/2010/main" val="331270922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B07A2B-3920-BFB5-6388-208256DDF40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BF722E-7F45-0555-3F08-99F6AA4017C1}"/>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Framework: Everything is a Remix </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26390CF3-9C8C-6235-01F5-A32916F29301}"/>
              </a:ext>
            </a:extLst>
          </p:cNvPr>
          <p:cNvSpPr>
            <a:spLocks noGrp="1"/>
          </p:cNvSpPr>
          <p:nvPr>
            <p:ph idx="1"/>
          </p:nvPr>
        </p:nvSpPr>
        <p:spPr>
          <a:xfrm>
            <a:off x="609600" y="962232"/>
            <a:ext cx="10134600" cy="5667168"/>
          </a:xfrm>
        </p:spPr>
        <p:txBody>
          <a:bodyPr>
            <a:normAutofit/>
          </a:bodyPr>
          <a:lstStyle/>
          <a:p>
            <a:pPr marL="0" indent="0">
              <a:buNone/>
            </a:pPr>
            <a:r>
              <a:rPr lang="en-US" sz="2200" dirty="0"/>
              <a:t>Why do we care about this question? What outcomes are important? </a:t>
            </a:r>
          </a:p>
          <a:p>
            <a:pPr marL="0" indent="0">
              <a:buNone/>
            </a:pPr>
            <a:endParaRPr lang="en-US" sz="2200" dirty="0"/>
          </a:p>
        </p:txBody>
      </p:sp>
    </p:spTree>
    <p:extLst>
      <p:ext uri="{BB962C8B-B14F-4D97-AF65-F5344CB8AC3E}">
        <p14:creationId xmlns:p14="http://schemas.microsoft.com/office/powerpoint/2010/main" val="109676218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5E41AE-62C7-330C-E516-A4E338F3D8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0E9418-75A2-04AE-454A-CC3571C65698}"/>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Framework: Everything is a Remix </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0CDE6238-1712-793E-47EA-6AF3017448C5}"/>
              </a:ext>
            </a:extLst>
          </p:cNvPr>
          <p:cNvSpPr>
            <a:spLocks noGrp="1"/>
          </p:cNvSpPr>
          <p:nvPr>
            <p:ph idx="1"/>
          </p:nvPr>
        </p:nvSpPr>
        <p:spPr>
          <a:xfrm>
            <a:off x="609600" y="962232"/>
            <a:ext cx="10134600" cy="5667168"/>
          </a:xfrm>
        </p:spPr>
        <p:txBody>
          <a:bodyPr>
            <a:normAutofit/>
          </a:bodyPr>
          <a:lstStyle/>
          <a:p>
            <a:pPr marL="0" indent="0">
              <a:buNone/>
            </a:pPr>
            <a:r>
              <a:rPr lang="en-US" sz="2200" dirty="0"/>
              <a:t>1987: Rand Health Insurance Experiment </a:t>
            </a:r>
          </a:p>
          <a:p>
            <a:pPr>
              <a:buFontTx/>
              <a:buChar char="-"/>
            </a:pPr>
            <a:r>
              <a:rPr lang="en-US" sz="2200" dirty="0"/>
              <a:t>RCT assigning families to different plans with cost-sharing (shows that facing costs lowers demand for care, provides a rational for public coverage)</a:t>
            </a:r>
          </a:p>
          <a:p>
            <a:pPr marL="0" indent="0">
              <a:buNone/>
            </a:pPr>
            <a:endParaRPr lang="en-US" sz="2200" dirty="0"/>
          </a:p>
        </p:txBody>
      </p:sp>
    </p:spTree>
    <p:extLst>
      <p:ext uri="{BB962C8B-B14F-4D97-AF65-F5344CB8AC3E}">
        <p14:creationId xmlns:p14="http://schemas.microsoft.com/office/powerpoint/2010/main" val="66104470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449BDD-40DF-37D1-352A-C62D2C3697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70F703-F14F-5E7A-3CDC-FCBB24FB33DA}"/>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Framework: Everything is a Remix </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8A5D5FAC-6195-AAAC-EC9F-F6EFC7A169ED}"/>
              </a:ext>
            </a:extLst>
          </p:cNvPr>
          <p:cNvSpPr>
            <a:spLocks noGrp="1"/>
          </p:cNvSpPr>
          <p:nvPr>
            <p:ph idx="1"/>
          </p:nvPr>
        </p:nvSpPr>
        <p:spPr>
          <a:xfrm>
            <a:off x="609600" y="962232"/>
            <a:ext cx="10134600" cy="5667168"/>
          </a:xfrm>
        </p:spPr>
        <p:txBody>
          <a:bodyPr>
            <a:normAutofit/>
          </a:bodyPr>
          <a:lstStyle/>
          <a:p>
            <a:pPr marL="0" indent="0">
              <a:buNone/>
            </a:pPr>
            <a:r>
              <a:rPr lang="en-US" sz="2200" dirty="0"/>
              <a:t>1987: Rand Health Insurance Experiment </a:t>
            </a:r>
          </a:p>
          <a:p>
            <a:pPr>
              <a:buFontTx/>
              <a:buChar char="-"/>
            </a:pPr>
            <a:r>
              <a:rPr lang="en-US" sz="2200" dirty="0"/>
              <a:t>RCT assigning families to different plans with cost-sharing (shows that facing costs lowers demand for care, provides a rational for public coverage)</a:t>
            </a:r>
          </a:p>
          <a:p>
            <a:pPr>
              <a:buFontTx/>
              <a:buChar char="-"/>
            </a:pPr>
            <a:r>
              <a:rPr lang="en-US" sz="2200" dirty="0"/>
              <a:t>This led to US states taking different approaches to expanding coverage (e.g., Medicaid managed care with some cost-sharing)</a:t>
            </a:r>
          </a:p>
          <a:p>
            <a:pPr>
              <a:buFontTx/>
              <a:buChar char="-"/>
            </a:pPr>
            <a:endParaRPr lang="en-US" sz="2200" dirty="0"/>
          </a:p>
          <a:p>
            <a:pPr marL="0" indent="0">
              <a:buNone/>
            </a:pPr>
            <a:endParaRPr lang="en-US" sz="2200" dirty="0"/>
          </a:p>
        </p:txBody>
      </p:sp>
      <p:sp>
        <p:nvSpPr>
          <p:cNvPr id="4" name="Rectangle 3">
            <a:extLst>
              <a:ext uri="{FF2B5EF4-FFF2-40B4-BE49-F238E27FC236}">
                <a16:creationId xmlns:a16="http://schemas.microsoft.com/office/drawing/2014/main" id="{171E6EDC-30DF-4238-DBC0-691B51A941D4}"/>
              </a:ext>
            </a:extLst>
          </p:cNvPr>
          <p:cNvSpPr/>
          <p:nvPr/>
        </p:nvSpPr>
        <p:spPr>
          <a:xfrm>
            <a:off x="1752600" y="3124200"/>
            <a:ext cx="9144000" cy="3581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200" b="1" dirty="0"/>
              <a:t>Initial work</a:t>
            </a:r>
          </a:p>
          <a:p>
            <a:pPr marL="342900" indent="-342900">
              <a:buFontTx/>
              <a:buChar char="-"/>
            </a:pPr>
            <a:r>
              <a:rPr lang="en-US" sz="2200" dirty="0"/>
              <a:t>Currie and Gruber (1996, QJE) – leveraged that variation in simple regressions to look at children’s health outcomes and utilization (difference in differences)</a:t>
            </a:r>
          </a:p>
          <a:p>
            <a:pPr marL="285750" indent="-285750">
              <a:buFontTx/>
              <a:buChar char="-"/>
            </a:pPr>
            <a:r>
              <a:rPr lang="en-US" sz="2200" dirty="0"/>
              <a:t>Hanratty (1996, AER) – studied the same question (infant health outcomes) in Canada with a different population and identifying variation (staggered adoption of NHI)</a:t>
            </a:r>
          </a:p>
          <a:p>
            <a:pPr marL="285750" indent="-285750">
              <a:buFontTx/>
              <a:buChar char="-"/>
            </a:pPr>
            <a:r>
              <a:rPr lang="en-US" sz="2200" dirty="0"/>
              <a:t>Grootendorst, O’Brien &amp; Anderson (1997, </a:t>
            </a:r>
            <a:r>
              <a:rPr lang="en-US" sz="2200" i="1" dirty="0"/>
              <a:t>Medical Care</a:t>
            </a:r>
            <a:r>
              <a:rPr lang="en-US" sz="2200" dirty="0"/>
              <a:t>) – rather than infant/child health, use the new ODB to study effect on seniors (what’s the new variation?)</a:t>
            </a:r>
          </a:p>
          <a:p>
            <a:pPr algn="ctr"/>
            <a:endParaRPr lang="en-US" dirty="0"/>
          </a:p>
        </p:txBody>
      </p:sp>
    </p:spTree>
    <p:extLst>
      <p:ext uri="{BB962C8B-B14F-4D97-AF65-F5344CB8AC3E}">
        <p14:creationId xmlns:p14="http://schemas.microsoft.com/office/powerpoint/2010/main" val="104860217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5DF2FF-F2ED-CFDD-69B7-17A83A5DC0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E60DC6-5D91-518D-727B-3763937C2E4A}"/>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Copying and Transforming Additional Work</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4F3E35AF-4EEC-2812-5190-E90F3D118C50}"/>
              </a:ext>
            </a:extLst>
          </p:cNvPr>
          <p:cNvSpPr>
            <a:spLocks noGrp="1"/>
          </p:cNvSpPr>
          <p:nvPr>
            <p:ph idx="1"/>
          </p:nvPr>
        </p:nvSpPr>
        <p:spPr>
          <a:xfrm>
            <a:off x="609600" y="962232"/>
            <a:ext cx="10134600" cy="5667168"/>
          </a:xfrm>
        </p:spPr>
        <p:txBody>
          <a:bodyPr>
            <a:normAutofit/>
          </a:bodyPr>
          <a:lstStyle/>
          <a:p>
            <a:pPr>
              <a:buFontTx/>
              <a:buChar char="-"/>
            </a:pPr>
            <a:endParaRPr lang="en-US" sz="2200" dirty="0"/>
          </a:p>
          <a:p>
            <a:pPr marL="0" indent="0">
              <a:buNone/>
            </a:pPr>
            <a:endParaRPr lang="en-US" sz="2200" dirty="0"/>
          </a:p>
        </p:txBody>
      </p:sp>
      <p:sp>
        <p:nvSpPr>
          <p:cNvPr id="3" name="Rectangle 2">
            <a:extLst>
              <a:ext uri="{FF2B5EF4-FFF2-40B4-BE49-F238E27FC236}">
                <a16:creationId xmlns:a16="http://schemas.microsoft.com/office/drawing/2014/main" id="{FEC488FB-BA48-65ED-49AC-11A1E1D67DD6}"/>
              </a:ext>
            </a:extLst>
          </p:cNvPr>
          <p:cNvSpPr/>
          <p:nvPr/>
        </p:nvSpPr>
        <p:spPr>
          <a:xfrm>
            <a:off x="4419600" y="1053672"/>
            <a:ext cx="2819400" cy="533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200" b="1" dirty="0"/>
              <a:t>Initial work</a:t>
            </a:r>
          </a:p>
        </p:txBody>
      </p:sp>
    </p:spTree>
    <p:extLst>
      <p:ext uri="{BB962C8B-B14F-4D97-AF65-F5344CB8AC3E}">
        <p14:creationId xmlns:p14="http://schemas.microsoft.com/office/powerpoint/2010/main" val="251039093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B5D0AC-3221-DC68-A2DB-F347EDA83F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E83646-8A0C-144B-A894-5546CA8A3221}"/>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Copying and Transforming Additional Work</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3E7439E4-CC42-DC1F-9291-2EA572537509}"/>
              </a:ext>
            </a:extLst>
          </p:cNvPr>
          <p:cNvSpPr>
            <a:spLocks noGrp="1"/>
          </p:cNvSpPr>
          <p:nvPr>
            <p:ph idx="1"/>
          </p:nvPr>
        </p:nvSpPr>
        <p:spPr>
          <a:xfrm>
            <a:off x="609600" y="962232"/>
            <a:ext cx="10134600" cy="5667168"/>
          </a:xfrm>
        </p:spPr>
        <p:txBody>
          <a:bodyPr>
            <a:normAutofit/>
          </a:bodyPr>
          <a:lstStyle/>
          <a:p>
            <a:pPr>
              <a:buFontTx/>
              <a:buChar char="-"/>
            </a:pPr>
            <a:endParaRPr lang="en-US" sz="2200" dirty="0"/>
          </a:p>
          <a:p>
            <a:pPr marL="0" indent="0">
              <a:buNone/>
            </a:pPr>
            <a:endParaRPr lang="en-US" sz="2200" dirty="0"/>
          </a:p>
        </p:txBody>
      </p:sp>
      <p:sp>
        <p:nvSpPr>
          <p:cNvPr id="3" name="Rectangle 2">
            <a:extLst>
              <a:ext uri="{FF2B5EF4-FFF2-40B4-BE49-F238E27FC236}">
                <a16:creationId xmlns:a16="http://schemas.microsoft.com/office/drawing/2014/main" id="{669724E0-3993-4829-BC28-2631DF667C04}"/>
              </a:ext>
            </a:extLst>
          </p:cNvPr>
          <p:cNvSpPr/>
          <p:nvPr/>
        </p:nvSpPr>
        <p:spPr>
          <a:xfrm>
            <a:off x="4419600" y="1053672"/>
            <a:ext cx="2819400" cy="533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200" b="1" dirty="0"/>
              <a:t>Initial work</a:t>
            </a:r>
          </a:p>
        </p:txBody>
      </p:sp>
      <p:cxnSp>
        <p:nvCxnSpPr>
          <p:cNvPr id="6" name="Straight Arrow Connector 5">
            <a:extLst>
              <a:ext uri="{FF2B5EF4-FFF2-40B4-BE49-F238E27FC236}">
                <a16:creationId xmlns:a16="http://schemas.microsoft.com/office/drawing/2014/main" id="{74416CEA-81E6-C79A-31A0-6B9D351A47E2}"/>
              </a:ext>
            </a:extLst>
          </p:cNvPr>
          <p:cNvCxnSpPr>
            <a:cxnSpLocks/>
            <a:stCxn id="3" idx="2"/>
            <a:endCxn id="7" idx="0"/>
          </p:cNvCxnSpPr>
          <p:nvPr/>
        </p:nvCxnSpPr>
        <p:spPr>
          <a:xfrm flipH="1">
            <a:off x="1920240" y="1587072"/>
            <a:ext cx="3909060" cy="3941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Rectangle 6">
            <a:extLst>
              <a:ext uri="{FF2B5EF4-FFF2-40B4-BE49-F238E27FC236}">
                <a16:creationId xmlns:a16="http://schemas.microsoft.com/office/drawing/2014/main" id="{6B1407F4-388B-81EE-6840-2B08B613C74D}"/>
              </a:ext>
            </a:extLst>
          </p:cNvPr>
          <p:cNvSpPr/>
          <p:nvPr/>
        </p:nvSpPr>
        <p:spPr>
          <a:xfrm>
            <a:off x="182880" y="1981200"/>
            <a:ext cx="3474720" cy="4876800"/>
          </a:xfrm>
          <a:prstGeom prst="rect">
            <a:avLst/>
          </a:prstGeom>
          <a:solidFill>
            <a:schemeClr val="accent3">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u="sng" dirty="0">
                <a:solidFill>
                  <a:sysClr val="windowText" lastClr="000000"/>
                </a:solidFill>
              </a:rPr>
              <a:t>Copying</a:t>
            </a:r>
          </a:p>
          <a:p>
            <a:pPr marL="285750" indent="-285750">
              <a:buFontTx/>
              <a:buChar char="-"/>
            </a:pPr>
            <a:r>
              <a:rPr lang="en-US" dirty="0">
                <a:solidFill>
                  <a:sysClr val="windowText" lastClr="000000"/>
                </a:solidFill>
              </a:rPr>
              <a:t>Tamblyn et al., JAMA (2001) looking at QC </a:t>
            </a:r>
            <a:r>
              <a:rPr lang="en-US" i="1" dirty="0">
                <a:solidFill>
                  <a:sysClr val="windowText" lastClr="000000"/>
                </a:solidFill>
              </a:rPr>
              <a:t>adding </a:t>
            </a:r>
            <a:r>
              <a:rPr lang="en-US" dirty="0">
                <a:solidFill>
                  <a:sysClr val="windowText" lastClr="000000"/>
                </a:solidFill>
              </a:rPr>
              <a:t>cost-sharing to Rx coverage </a:t>
            </a:r>
          </a:p>
          <a:p>
            <a:pPr marL="285750" indent="-285750">
              <a:buFontTx/>
              <a:buChar char="-"/>
            </a:pPr>
            <a:r>
              <a:rPr lang="en-US" dirty="0">
                <a:solidFill>
                  <a:sysClr val="windowText" lastClr="000000"/>
                </a:solidFill>
              </a:rPr>
              <a:t>Grossman et al. copied in Taiwan (never published)</a:t>
            </a:r>
          </a:p>
          <a:p>
            <a:pPr marL="285750" indent="-285750">
              <a:buFontTx/>
              <a:buChar char="-"/>
            </a:pPr>
            <a:r>
              <a:rPr lang="en-US" dirty="0" err="1">
                <a:solidFill>
                  <a:sysClr val="windowText" lastClr="000000"/>
                </a:solidFill>
              </a:rPr>
              <a:t>Kozyrskyj</a:t>
            </a:r>
            <a:r>
              <a:rPr lang="en-US" dirty="0">
                <a:solidFill>
                  <a:sysClr val="windowText" lastClr="000000"/>
                </a:solidFill>
              </a:rPr>
              <a:t> et al., (2001, CMAJ) did the same thing in Manitoba</a:t>
            </a:r>
          </a:p>
          <a:p>
            <a:pPr marL="285750" indent="-285750">
              <a:buFontTx/>
              <a:buChar char="-"/>
            </a:pPr>
            <a:r>
              <a:rPr lang="en-US" dirty="0">
                <a:solidFill>
                  <a:sysClr val="windowText" lastClr="000000"/>
                </a:solidFill>
              </a:rPr>
              <a:t>Finkelstein (2007, QJE) used introduction of Medicare in US (same method but new variation based on pre-Medicare insurance coverage)</a:t>
            </a:r>
          </a:p>
          <a:p>
            <a:pPr marL="285750" indent="-285750">
              <a:buFontTx/>
              <a:buChar char="-"/>
            </a:pPr>
            <a:r>
              <a:rPr lang="en-US" dirty="0">
                <a:solidFill>
                  <a:sysClr val="windowText" lastClr="000000"/>
                </a:solidFill>
              </a:rPr>
              <a:t>Card, Dobkin, and Maestas (2008, QJE) do the same as Grootendorst but in the US</a:t>
            </a:r>
          </a:p>
        </p:txBody>
      </p:sp>
    </p:spTree>
    <p:extLst>
      <p:ext uri="{BB962C8B-B14F-4D97-AF65-F5344CB8AC3E}">
        <p14:creationId xmlns:p14="http://schemas.microsoft.com/office/powerpoint/2010/main" val="314513792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F0F964-9508-039F-727E-341C105CE4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5CE849-2BC0-AD78-B7CB-313A0510C874}"/>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Copying and Transforming Additional Work</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B2CE3BF9-0DF4-9B95-3B05-34EFBC01A1B7}"/>
              </a:ext>
            </a:extLst>
          </p:cNvPr>
          <p:cNvSpPr>
            <a:spLocks noGrp="1"/>
          </p:cNvSpPr>
          <p:nvPr>
            <p:ph idx="1"/>
          </p:nvPr>
        </p:nvSpPr>
        <p:spPr>
          <a:xfrm>
            <a:off x="609600" y="962232"/>
            <a:ext cx="10134600" cy="5667168"/>
          </a:xfrm>
        </p:spPr>
        <p:txBody>
          <a:bodyPr>
            <a:normAutofit/>
          </a:bodyPr>
          <a:lstStyle/>
          <a:p>
            <a:pPr>
              <a:buFontTx/>
              <a:buChar char="-"/>
            </a:pPr>
            <a:endParaRPr lang="en-US" sz="2200" dirty="0"/>
          </a:p>
          <a:p>
            <a:pPr marL="0" indent="0">
              <a:buNone/>
            </a:pPr>
            <a:endParaRPr lang="en-US" sz="2200" dirty="0"/>
          </a:p>
        </p:txBody>
      </p:sp>
      <p:sp>
        <p:nvSpPr>
          <p:cNvPr id="3" name="Rectangle 2">
            <a:extLst>
              <a:ext uri="{FF2B5EF4-FFF2-40B4-BE49-F238E27FC236}">
                <a16:creationId xmlns:a16="http://schemas.microsoft.com/office/drawing/2014/main" id="{26110330-5A9D-1296-AF67-B050CA0FC7EB}"/>
              </a:ext>
            </a:extLst>
          </p:cNvPr>
          <p:cNvSpPr/>
          <p:nvPr/>
        </p:nvSpPr>
        <p:spPr>
          <a:xfrm>
            <a:off x="4419600" y="1053672"/>
            <a:ext cx="2819400" cy="533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200" b="1" dirty="0"/>
              <a:t>Initial work</a:t>
            </a:r>
          </a:p>
        </p:txBody>
      </p:sp>
      <p:cxnSp>
        <p:nvCxnSpPr>
          <p:cNvPr id="6" name="Straight Arrow Connector 5">
            <a:extLst>
              <a:ext uri="{FF2B5EF4-FFF2-40B4-BE49-F238E27FC236}">
                <a16:creationId xmlns:a16="http://schemas.microsoft.com/office/drawing/2014/main" id="{6D7D9784-5920-0FF0-99B1-FBEA4DCD242F}"/>
              </a:ext>
            </a:extLst>
          </p:cNvPr>
          <p:cNvCxnSpPr>
            <a:cxnSpLocks/>
            <a:stCxn id="3" idx="2"/>
            <a:endCxn id="7" idx="0"/>
          </p:cNvCxnSpPr>
          <p:nvPr/>
        </p:nvCxnSpPr>
        <p:spPr>
          <a:xfrm flipH="1">
            <a:off x="1920240" y="1587072"/>
            <a:ext cx="3909060" cy="3941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Rectangle 6">
            <a:extLst>
              <a:ext uri="{FF2B5EF4-FFF2-40B4-BE49-F238E27FC236}">
                <a16:creationId xmlns:a16="http://schemas.microsoft.com/office/drawing/2014/main" id="{94DC9BD8-3171-08D6-B35E-9D2C2A33E8A8}"/>
              </a:ext>
            </a:extLst>
          </p:cNvPr>
          <p:cNvSpPr/>
          <p:nvPr/>
        </p:nvSpPr>
        <p:spPr>
          <a:xfrm>
            <a:off x="182880" y="1981200"/>
            <a:ext cx="3474720" cy="4876800"/>
          </a:xfrm>
          <a:prstGeom prst="rect">
            <a:avLst/>
          </a:prstGeom>
          <a:solidFill>
            <a:schemeClr val="accent3">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u="sng" dirty="0">
                <a:solidFill>
                  <a:sysClr val="windowText" lastClr="000000"/>
                </a:solidFill>
              </a:rPr>
              <a:t>Copying</a:t>
            </a:r>
          </a:p>
          <a:p>
            <a:pPr marL="285750" indent="-285750">
              <a:buFontTx/>
              <a:buChar char="-"/>
            </a:pPr>
            <a:r>
              <a:rPr lang="en-US" dirty="0">
                <a:solidFill>
                  <a:sysClr val="windowText" lastClr="000000"/>
                </a:solidFill>
              </a:rPr>
              <a:t>Tamblyn et al., JAMA (2001) looking at QC </a:t>
            </a:r>
            <a:r>
              <a:rPr lang="en-US" i="1" dirty="0">
                <a:solidFill>
                  <a:sysClr val="windowText" lastClr="000000"/>
                </a:solidFill>
              </a:rPr>
              <a:t>adding </a:t>
            </a:r>
            <a:r>
              <a:rPr lang="en-US" dirty="0">
                <a:solidFill>
                  <a:sysClr val="windowText" lastClr="000000"/>
                </a:solidFill>
              </a:rPr>
              <a:t>cost-sharing to Rx coverage </a:t>
            </a:r>
          </a:p>
          <a:p>
            <a:pPr marL="285750" indent="-285750">
              <a:buFontTx/>
              <a:buChar char="-"/>
            </a:pPr>
            <a:r>
              <a:rPr lang="en-US" dirty="0">
                <a:solidFill>
                  <a:sysClr val="windowText" lastClr="000000"/>
                </a:solidFill>
              </a:rPr>
              <a:t>Grossman et al. copied in Taiwan (never published)</a:t>
            </a:r>
          </a:p>
          <a:p>
            <a:pPr marL="285750" indent="-285750">
              <a:buFontTx/>
              <a:buChar char="-"/>
            </a:pPr>
            <a:r>
              <a:rPr lang="en-US" dirty="0" err="1">
                <a:solidFill>
                  <a:sysClr val="windowText" lastClr="000000"/>
                </a:solidFill>
              </a:rPr>
              <a:t>Kozyrskyj</a:t>
            </a:r>
            <a:r>
              <a:rPr lang="en-US" dirty="0">
                <a:solidFill>
                  <a:sysClr val="windowText" lastClr="000000"/>
                </a:solidFill>
              </a:rPr>
              <a:t> et al., (2001, CMAJ) did the same thing in Manitoba</a:t>
            </a:r>
          </a:p>
          <a:p>
            <a:pPr marL="285750" indent="-285750">
              <a:buFontTx/>
              <a:buChar char="-"/>
            </a:pPr>
            <a:r>
              <a:rPr lang="en-US" dirty="0">
                <a:solidFill>
                  <a:sysClr val="windowText" lastClr="000000"/>
                </a:solidFill>
              </a:rPr>
              <a:t>Finkelstein (2007, QJE) used introduction of Medicare in US (same method but new variation based on pre-Medicare insurance coverage)</a:t>
            </a:r>
          </a:p>
          <a:p>
            <a:pPr marL="285750" indent="-285750">
              <a:buFontTx/>
              <a:buChar char="-"/>
            </a:pPr>
            <a:r>
              <a:rPr lang="en-US" dirty="0">
                <a:solidFill>
                  <a:sysClr val="windowText" lastClr="000000"/>
                </a:solidFill>
              </a:rPr>
              <a:t>Card, Dobkin, and Maestas (2008, QJE) do the same as Grootendorst but in the US</a:t>
            </a:r>
          </a:p>
        </p:txBody>
      </p:sp>
      <p:sp>
        <p:nvSpPr>
          <p:cNvPr id="8" name="Rectangle 7">
            <a:extLst>
              <a:ext uri="{FF2B5EF4-FFF2-40B4-BE49-F238E27FC236}">
                <a16:creationId xmlns:a16="http://schemas.microsoft.com/office/drawing/2014/main" id="{B6AE60D4-655E-70A9-45A0-A4C0BE51DBBA}"/>
              </a:ext>
            </a:extLst>
          </p:cNvPr>
          <p:cNvSpPr/>
          <p:nvPr/>
        </p:nvSpPr>
        <p:spPr>
          <a:xfrm>
            <a:off x="3916680" y="1981200"/>
            <a:ext cx="3474720" cy="4876800"/>
          </a:xfrm>
          <a:prstGeom prst="rect">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u="sng" dirty="0">
                <a:solidFill>
                  <a:sysClr val="windowText" lastClr="000000"/>
                </a:solidFill>
              </a:rPr>
              <a:t>Combining</a:t>
            </a:r>
          </a:p>
          <a:p>
            <a:pPr marL="285750" indent="-285750">
              <a:buFontTx/>
              <a:buChar char="-"/>
            </a:pPr>
            <a:r>
              <a:rPr lang="en-US" dirty="0">
                <a:solidFill>
                  <a:sysClr val="windowText" lastClr="000000"/>
                </a:solidFill>
              </a:rPr>
              <a:t>Baicker et al. (2013, NEJM) used the Oregon HIE </a:t>
            </a:r>
            <a:r>
              <a:rPr lang="en-US" i="1" dirty="0">
                <a:solidFill>
                  <a:sysClr val="windowText" lastClr="000000"/>
                </a:solidFill>
              </a:rPr>
              <a:t>with biomarkers </a:t>
            </a:r>
            <a:r>
              <a:rPr lang="en-US" dirty="0">
                <a:solidFill>
                  <a:sysClr val="windowText" lastClr="000000"/>
                </a:solidFill>
              </a:rPr>
              <a:t>to more directly measure health effects</a:t>
            </a:r>
          </a:p>
          <a:p>
            <a:pPr marL="285750" indent="-285750">
              <a:buFontTx/>
              <a:buChar char="-"/>
            </a:pPr>
            <a:r>
              <a:rPr lang="en-US" dirty="0">
                <a:solidFill>
                  <a:sysClr val="windowText" lastClr="000000"/>
                </a:solidFill>
              </a:rPr>
              <a:t>Stabile (2001, CJE) examined how government subsidies to private insurance led to takeup and moral hazard: </a:t>
            </a:r>
          </a:p>
          <a:p>
            <a:pPr marL="742950" lvl="1" indent="-285750">
              <a:buFontTx/>
              <a:buChar char="-"/>
            </a:pPr>
            <a:r>
              <a:rPr lang="en-US" dirty="0">
                <a:solidFill>
                  <a:sysClr val="windowText" lastClr="000000"/>
                </a:solidFill>
              </a:rPr>
              <a:t>Unique spin</a:t>
            </a:r>
          </a:p>
          <a:p>
            <a:pPr marL="742950" lvl="1" indent="-285750">
              <a:buFontTx/>
              <a:buChar char="-"/>
            </a:pPr>
            <a:r>
              <a:rPr lang="en-US" dirty="0">
                <a:solidFill>
                  <a:sysClr val="windowText" lastClr="000000"/>
                </a:solidFill>
              </a:rPr>
              <a:t>IV drawn from public/labor econ</a:t>
            </a:r>
          </a:p>
          <a:p>
            <a:pPr marL="285750" indent="-285750">
              <a:buFontTx/>
              <a:buChar char="-"/>
            </a:pPr>
            <a:r>
              <a:rPr lang="en-US" dirty="0">
                <a:solidFill>
                  <a:sysClr val="windowText" lastClr="000000"/>
                </a:solidFill>
              </a:rPr>
              <a:t>Miller et al., (2021 QJE) linked ACA expansion data to death records to track </a:t>
            </a:r>
            <a:r>
              <a:rPr lang="en-US" i="1" dirty="0">
                <a:solidFill>
                  <a:sysClr val="windowText" lastClr="000000"/>
                </a:solidFill>
              </a:rPr>
              <a:t>long-run </a:t>
            </a:r>
            <a:r>
              <a:rPr lang="en-US" dirty="0">
                <a:solidFill>
                  <a:sysClr val="windowText" lastClr="000000"/>
                </a:solidFill>
              </a:rPr>
              <a:t>mortality effects</a:t>
            </a:r>
            <a:endParaRPr lang="en-US" b="1" u="sng" dirty="0">
              <a:solidFill>
                <a:sysClr val="windowText" lastClr="000000"/>
              </a:solidFill>
            </a:endParaRPr>
          </a:p>
        </p:txBody>
      </p:sp>
      <p:cxnSp>
        <p:nvCxnSpPr>
          <p:cNvPr id="11" name="Straight Arrow Connector 10">
            <a:extLst>
              <a:ext uri="{FF2B5EF4-FFF2-40B4-BE49-F238E27FC236}">
                <a16:creationId xmlns:a16="http://schemas.microsoft.com/office/drawing/2014/main" id="{4FB66FDB-58E8-43CD-FC47-43CDF1B515B8}"/>
              </a:ext>
            </a:extLst>
          </p:cNvPr>
          <p:cNvCxnSpPr>
            <a:cxnSpLocks/>
            <a:stCxn id="3" idx="2"/>
            <a:endCxn id="8" idx="0"/>
          </p:cNvCxnSpPr>
          <p:nvPr/>
        </p:nvCxnSpPr>
        <p:spPr>
          <a:xfrm flipH="1">
            <a:off x="5654040" y="1587072"/>
            <a:ext cx="175260" cy="3941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8119695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4BF976-7710-AF0C-C478-E156ADF92BF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AFFFBE1-825A-E07D-7641-C89064D0BED7}"/>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Copying and Transforming Additional Work</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5A7B36E5-45ED-E20E-5114-F20F77961FAD}"/>
              </a:ext>
            </a:extLst>
          </p:cNvPr>
          <p:cNvSpPr>
            <a:spLocks noGrp="1"/>
          </p:cNvSpPr>
          <p:nvPr>
            <p:ph idx="1"/>
          </p:nvPr>
        </p:nvSpPr>
        <p:spPr>
          <a:xfrm>
            <a:off x="609600" y="962232"/>
            <a:ext cx="10134600" cy="5667168"/>
          </a:xfrm>
        </p:spPr>
        <p:txBody>
          <a:bodyPr>
            <a:normAutofit/>
          </a:bodyPr>
          <a:lstStyle/>
          <a:p>
            <a:pPr>
              <a:buFontTx/>
              <a:buChar char="-"/>
            </a:pPr>
            <a:endParaRPr lang="en-US" sz="2200" dirty="0"/>
          </a:p>
          <a:p>
            <a:pPr marL="0" indent="0">
              <a:buNone/>
            </a:pPr>
            <a:endParaRPr lang="en-US" sz="2200" dirty="0"/>
          </a:p>
        </p:txBody>
      </p:sp>
      <p:sp>
        <p:nvSpPr>
          <p:cNvPr id="3" name="Rectangle 2">
            <a:extLst>
              <a:ext uri="{FF2B5EF4-FFF2-40B4-BE49-F238E27FC236}">
                <a16:creationId xmlns:a16="http://schemas.microsoft.com/office/drawing/2014/main" id="{899B2A6A-AC25-D962-CD08-674EA10D6529}"/>
              </a:ext>
            </a:extLst>
          </p:cNvPr>
          <p:cNvSpPr/>
          <p:nvPr/>
        </p:nvSpPr>
        <p:spPr>
          <a:xfrm>
            <a:off x="4419600" y="1053672"/>
            <a:ext cx="2819400" cy="533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200" b="1" dirty="0"/>
              <a:t>Initial work</a:t>
            </a:r>
          </a:p>
        </p:txBody>
      </p:sp>
      <p:cxnSp>
        <p:nvCxnSpPr>
          <p:cNvPr id="6" name="Straight Arrow Connector 5">
            <a:extLst>
              <a:ext uri="{FF2B5EF4-FFF2-40B4-BE49-F238E27FC236}">
                <a16:creationId xmlns:a16="http://schemas.microsoft.com/office/drawing/2014/main" id="{5CF8BBA5-3DC0-4F74-17D6-26884DEE2081}"/>
              </a:ext>
            </a:extLst>
          </p:cNvPr>
          <p:cNvCxnSpPr>
            <a:cxnSpLocks/>
            <a:stCxn id="3" idx="2"/>
            <a:endCxn id="7" idx="0"/>
          </p:cNvCxnSpPr>
          <p:nvPr/>
        </p:nvCxnSpPr>
        <p:spPr>
          <a:xfrm flipH="1">
            <a:off x="1920240" y="1587072"/>
            <a:ext cx="3909060" cy="3941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Rectangle 6">
            <a:extLst>
              <a:ext uri="{FF2B5EF4-FFF2-40B4-BE49-F238E27FC236}">
                <a16:creationId xmlns:a16="http://schemas.microsoft.com/office/drawing/2014/main" id="{887A0175-F3A4-B718-13E6-D8C56C2E44AD}"/>
              </a:ext>
            </a:extLst>
          </p:cNvPr>
          <p:cNvSpPr/>
          <p:nvPr/>
        </p:nvSpPr>
        <p:spPr>
          <a:xfrm>
            <a:off x="182880" y="1981200"/>
            <a:ext cx="3474720" cy="4876800"/>
          </a:xfrm>
          <a:prstGeom prst="rect">
            <a:avLst/>
          </a:prstGeom>
          <a:solidFill>
            <a:schemeClr val="accent3">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u="sng" dirty="0">
                <a:solidFill>
                  <a:sysClr val="windowText" lastClr="000000"/>
                </a:solidFill>
              </a:rPr>
              <a:t>Copying</a:t>
            </a:r>
          </a:p>
          <a:p>
            <a:pPr marL="285750" indent="-285750">
              <a:buFontTx/>
              <a:buChar char="-"/>
            </a:pPr>
            <a:r>
              <a:rPr lang="en-US" dirty="0">
                <a:solidFill>
                  <a:sysClr val="windowText" lastClr="000000"/>
                </a:solidFill>
              </a:rPr>
              <a:t>Tamblyn et al., JAMA (2001) looking at QC </a:t>
            </a:r>
            <a:r>
              <a:rPr lang="en-US" i="1" dirty="0">
                <a:solidFill>
                  <a:sysClr val="windowText" lastClr="000000"/>
                </a:solidFill>
              </a:rPr>
              <a:t>adding </a:t>
            </a:r>
            <a:r>
              <a:rPr lang="en-US" dirty="0">
                <a:solidFill>
                  <a:sysClr val="windowText" lastClr="000000"/>
                </a:solidFill>
              </a:rPr>
              <a:t>cost-sharing to Rx coverage </a:t>
            </a:r>
          </a:p>
          <a:p>
            <a:pPr marL="285750" indent="-285750">
              <a:buFontTx/>
              <a:buChar char="-"/>
            </a:pPr>
            <a:r>
              <a:rPr lang="en-US" dirty="0">
                <a:solidFill>
                  <a:sysClr val="windowText" lastClr="000000"/>
                </a:solidFill>
              </a:rPr>
              <a:t>Grossman et al. copied in Taiwan (never published)</a:t>
            </a:r>
          </a:p>
          <a:p>
            <a:pPr marL="285750" indent="-285750">
              <a:buFontTx/>
              <a:buChar char="-"/>
            </a:pPr>
            <a:r>
              <a:rPr lang="en-US" dirty="0" err="1">
                <a:solidFill>
                  <a:sysClr val="windowText" lastClr="000000"/>
                </a:solidFill>
              </a:rPr>
              <a:t>Kozyrskyj</a:t>
            </a:r>
            <a:r>
              <a:rPr lang="en-US" dirty="0">
                <a:solidFill>
                  <a:sysClr val="windowText" lastClr="000000"/>
                </a:solidFill>
              </a:rPr>
              <a:t> et al., (2001, CMAJ) did the same thing in Manitoba</a:t>
            </a:r>
          </a:p>
          <a:p>
            <a:pPr marL="285750" indent="-285750">
              <a:buFontTx/>
              <a:buChar char="-"/>
            </a:pPr>
            <a:r>
              <a:rPr lang="en-US" dirty="0">
                <a:solidFill>
                  <a:sysClr val="windowText" lastClr="000000"/>
                </a:solidFill>
              </a:rPr>
              <a:t>Finkelstein (2007, QJE) used introduction of Medicare in US (same method but new variation based on pre-Medicare insurance coverage)</a:t>
            </a:r>
          </a:p>
          <a:p>
            <a:pPr marL="285750" indent="-285750">
              <a:buFontTx/>
              <a:buChar char="-"/>
            </a:pPr>
            <a:r>
              <a:rPr lang="en-US" dirty="0">
                <a:solidFill>
                  <a:sysClr val="windowText" lastClr="000000"/>
                </a:solidFill>
              </a:rPr>
              <a:t>Card, Dobkin, and Maestas (2008, QJE) do the same as Grootendorst but in the US</a:t>
            </a:r>
          </a:p>
        </p:txBody>
      </p:sp>
      <p:sp>
        <p:nvSpPr>
          <p:cNvPr id="8" name="Rectangle 7">
            <a:extLst>
              <a:ext uri="{FF2B5EF4-FFF2-40B4-BE49-F238E27FC236}">
                <a16:creationId xmlns:a16="http://schemas.microsoft.com/office/drawing/2014/main" id="{8EE2B7CF-48C7-2073-EC92-6FC8BE99733C}"/>
              </a:ext>
            </a:extLst>
          </p:cNvPr>
          <p:cNvSpPr/>
          <p:nvPr/>
        </p:nvSpPr>
        <p:spPr>
          <a:xfrm>
            <a:off x="3916680" y="1981200"/>
            <a:ext cx="3474720" cy="4876800"/>
          </a:xfrm>
          <a:prstGeom prst="rect">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u="sng" dirty="0">
                <a:solidFill>
                  <a:sysClr val="windowText" lastClr="000000"/>
                </a:solidFill>
              </a:rPr>
              <a:t>Combining</a:t>
            </a:r>
          </a:p>
          <a:p>
            <a:pPr marL="285750" indent="-285750">
              <a:buFontTx/>
              <a:buChar char="-"/>
            </a:pPr>
            <a:r>
              <a:rPr lang="en-US" dirty="0">
                <a:solidFill>
                  <a:sysClr val="windowText" lastClr="000000"/>
                </a:solidFill>
              </a:rPr>
              <a:t>Baicker et al. (2013, NEJM) used the Oregon HIE </a:t>
            </a:r>
            <a:r>
              <a:rPr lang="en-US" i="1" dirty="0">
                <a:solidFill>
                  <a:sysClr val="windowText" lastClr="000000"/>
                </a:solidFill>
              </a:rPr>
              <a:t>with biomarkers </a:t>
            </a:r>
            <a:r>
              <a:rPr lang="en-US" dirty="0">
                <a:solidFill>
                  <a:sysClr val="windowText" lastClr="000000"/>
                </a:solidFill>
              </a:rPr>
              <a:t>to more directly measure health effects</a:t>
            </a:r>
          </a:p>
          <a:p>
            <a:pPr marL="285750" indent="-285750">
              <a:buFontTx/>
              <a:buChar char="-"/>
            </a:pPr>
            <a:r>
              <a:rPr lang="en-US" dirty="0">
                <a:solidFill>
                  <a:sysClr val="windowText" lastClr="000000"/>
                </a:solidFill>
              </a:rPr>
              <a:t>Stabile (2001, CJE) examined how government subsidies to private insurance led to takeup and moral hazard: </a:t>
            </a:r>
          </a:p>
          <a:p>
            <a:pPr marL="742950" lvl="1" indent="-285750">
              <a:buFontTx/>
              <a:buChar char="-"/>
            </a:pPr>
            <a:r>
              <a:rPr lang="en-US" dirty="0">
                <a:solidFill>
                  <a:sysClr val="windowText" lastClr="000000"/>
                </a:solidFill>
              </a:rPr>
              <a:t>Unique spin</a:t>
            </a:r>
          </a:p>
          <a:p>
            <a:pPr marL="742950" lvl="1" indent="-285750">
              <a:buFontTx/>
              <a:buChar char="-"/>
            </a:pPr>
            <a:r>
              <a:rPr lang="en-US" dirty="0">
                <a:solidFill>
                  <a:sysClr val="windowText" lastClr="000000"/>
                </a:solidFill>
              </a:rPr>
              <a:t>IV drawn from public/labor econ</a:t>
            </a:r>
          </a:p>
          <a:p>
            <a:pPr marL="285750" indent="-285750">
              <a:buFontTx/>
              <a:buChar char="-"/>
            </a:pPr>
            <a:r>
              <a:rPr lang="en-US" dirty="0">
                <a:solidFill>
                  <a:sysClr val="windowText" lastClr="000000"/>
                </a:solidFill>
              </a:rPr>
              <a:t>Miller et al., (2021 QJE) linked ACA expansion data to death records to track </a:t>
            </a:r>
            <a:r>
              <a:rPr lang="en-US" i="1" dirty="0">
                <a:solidFill>
                  <a:sysClr val="windowText" lastClr="000000"/>
                </a:solidFill>
              </a:rPr>
              <a:t>long-run </a:t>
            </a:r>
            <a:r>
              <a:rPr lang="en-US" dirty="0">
                <a:solidFill>
                  <a:sysClr val="windowText" lastClr="000000"/>
                </a:solidFill>
              </a:rPr>
              <a:t>mortality effects</a:t>
            </a:r>
            <a:endParaRPr lang="en-US" b="1" u="sng" dirty="0">
              <a:solidFill>
                <a:sysClr val="windowText" lastClr="000000"/>
              </a:solidFill>
            </a:endParaRPr>
          </a:p>
        </p:txBody>
      </p:sp>
      <p:sp>
        <p:nvSpPr>
          <p:cNvPr id="9" name="Rectangle 8">
            <a:extLst>
              <a:ext uri="{FF2B5EF4-FFF2-40B4-BE49-F238E27FC236}">
                <a16:creationId xmlns:a16="http://schemas.microsoft.com/office/drawing/2014/main" id="{C3983EB4-C84E-A1F1-F4E1-104663F6BBF3}"/>
              </a:ext>
            </a:extLst>
          </p:cNvPr>
          <p:cNvSpPr/>
          <p:nvPr/>
        </p:nvSpPr>
        <p:spPr>
          <a:xfrm>
            <a:off x="7650480" y="1981200"/>
            <a:ext cx="3474720" cy="4876800"/>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u="sng" dirty="0">
                <a:solidFill>
                  <a:sysClr val="windowText" lastClr="000000"/>
                </a:solidFill>
              </a:rPr>
              <a:t>Transforming</a:t>
            </a:r>
          </a:p>
          <a:p>
            <a:pPr marL="285750" indent="-285750">
              <a:buFontTx/>
              <a:buChar char="-"/>
            </a:pPr>
            <a:r>
              <a:rPr lang="en-US" dirty="0">
                <a:solidFill>
                  <a:sysClr val="windowText" lastClr="000000"/>
                </a:solidFill>
              </a:rPr>
              <a:t>Novel methodology (Hattab et al., 2024 use causal ML; </a:t>
            </a:r>
            <a:r>
              <a:rPr lang="en-US" dirty="0" err="1">
                <a:solidFill>
                  <a:sysClr val="windowText" lastClr="000000"/>
                </a:solidFill>
              </a:rPr>
              <a:t>Borusyak</a:t>
            </a:r>
            <a:r>
              <a:rPr lang="en-US" dirty="0">
                <a:solidFill>
                  <a:sysClr val="windowText" lastClr="000000"/>
                </a:solidFill>
              </a:rPr>
              <a:t> and Hull (WP) counterfactual shocks)</a:t>
            </a:r>
          </a:p>
          <a:p>
            <a:pPr marL="285750" indent="-285750">
              <a:buFontTx/>
              <a:buChar char="-"/>
            </a:pPr>
            <a:r>
              <a:rPr lang="en-US" dirty="0">
                <a:solidFill>
                  <a:sysClr val="windowText" lastClr="000000"/>
                </a:solidFill>
              </a:rPr>
              <a:t>Finkelstein, Gentzkow, and Williams (2016 QJE) used patient migration within US to decompose effects (more supply than demand)</a:t>
            </a:r>
          </a:p>
          <a:p>
            <a:pPr marL="285750" indent="-285750">
              <a:buFontTx/>
              <a:buChar char="-"/>
            </a:pPr>
            <a:r>
              <a:rPr lang="en-US" dirty="0">
                <a:solidFill>
                  <a:sysClr val="windowText" lastClr="000000"/>
                </a:solidFill>
              </a:rPr>
              <a:t>Developing theory to explain this (a whole lot)</a:t>
            </a:r>
          </a:p>
          <a:p>
            <a:pPr marL="285750" indent="-285750">
              <a:buFontTx/>
              <a:buChar char="-"/>
            </a:pPr>
            <a:r>
              <a:rPr lang="en-US" dirty="0">
                <a:solidFill>
                  <a:sysClr val="windowText" lastClr="000000"/>
                </a:solidFill>
              </a:rPr>
              <a:t>Grossman, Tello Trillo, and Willage (WP) study spillovers within households</a:t>
            </a:r>
          </a:p>
          <a:p>
            <a:pPr marL="285750" indent="-285750">
              <a:buFontTx/>
              <a:buChar char="-"/>
            </a:pPr>
            <a:r>
              <a:rPr lang="en-US" dirty="0">
                <a:solidFill>
                  <a:sysClr val="windowText" lastClr="000000"/>
                </a:solidFill>
              </a:rPr>
              <a:t>Next set of policy-relevant questions: so many</a:t>
            </a:r>
          </a:p>
        </p:txBody>
      </p:sp>
      <p:cxnSp>
        <p:nvCxnSpPr>
          <p:cNvPr id="11" name="Straight Arrow Connector 10">
            <a:extLst>
              <a:ext uri="{FF2B5EF4-FFF2-40B4-BE49-F238E27FC236}">
                <a16:creationId xmlns:a16="http://schemas.microsoft.com/office/drawing/2014/main" id="{DA75E354-C640-E306-6055-1F34397BD7FF}"/>
              </a:ext>
            </a:extLst>
          </p:cNvPr>
          <p:cNvCxnSpPr>
            <a:cxnSpLocks/>
            <a:stCxn id="3" idx="2"/>
            <a:endCxn id="8" idx="0"/>
          </p:cNvCxnSpPr>
          <p:nvPr/>
        </p:nvCxnSpPr>
        <p:spPr>
          <a:xfrm flipH="1">
            <a:off x="5654040" y="1587072"/>
            <a:ext cx="175260" cy="3941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48D4248E-8D81-D52F-9CF8-086DA5759BB6}"/>
              </a:ext>
            </a:extLst>
          </p:cNvPr>
          <p:cNvCxnSpPr>
            <a:cxnSpLocks/>
            <a:stCxn id="3" idx="2"/>
            <a:endCxn id="9" idx="0"/>
          </p:cNvCxnSpPr>
          <p:nvPr/>
        </p:nvCxnSpPr>
        <p:spPr>
          <a:xfrm>
            <a:off x="5829300" y="1587072"/>
            <a:ext cx="3558540" cy="3941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9917276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a:xfrm>
            <a:off x="1261872" y="758952"/>
            <a:ext cx="10549128" cy="4041648"/>
          </a:xfrm>
        </p:spPr>
        <p:txBody>
          <a:bodyPr/>
          <a:lstStyle/>
          <a:p>
            <a:r>
              <a:rPr lang="en-US" dirty="0"/>
              <a:t>Finding good data</a:t>
            </a:r>
          </a:p>
        </p:txBody>
      </p:sp>
      <p:sp>
        <p:nvSpPr>
          <p:cNvPr id="3" name="Subtitle 2">
            <a:extLst>
              <a:ext uri="{FF2B5EF4-FFF2-40B4-BE49-F238E27FC236}">
                <a16:creationId xmlns:a16="http://schemas.microsoft.com/office/drawing/2014/main" id="{9A7FADE3-4D7C-4B3A-B023-71CD85AECCCB}"/>
              </a:ext>
            </a:extLst>
          </p:cNvPr>
          <p:cNvSpPr>
            <a:spLocks noGrp="1"/>
          </p:cNvSpPr>
          <p:nvPr>
            <p:ph type="subTitle" idx="1"/>
          </p:nvPr>
        </p:nvSpPr>
        <p:spPr/>
        <p:txBody>
          <a:bodyPr>
            <a:normAutofit/>
          </a:bodyPr>
          <a:lstStyle/>
          <a:p>
            <a:endParaRPr lang="en-US" sz="4400" dirty="0"/>
          </a:p>
        </p:txBody>
      </p:sp>
    </p:spTree>
    <p:extLst>
      <p:ext uri="{BB962C8B-B14F-4D97-AF65-F5344CB8AC3E}">
        <p14:creationId xmlns:p14="http://schemas.microsoft.com/office/powerpoint/2010/main" val="295391071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Answers are only as good as your data!</a:t>
            </a:r>
            <a:endParaRPr lang="en-US" sz="3600" dirty="0">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33F0ACE8-668A-7FAE-EEE3-846ECC270725}"/>
              </a:ext>
            </a:extLst>
          </p:cNvPr>
          <p:cNvSpPr txBox="1"/>
          <p:nvPr/>
        </p:nvSpPr>
        <p:spPr>
          <a:xfrm>
            <a:off x="609600" y="962232"/>
            <a:ext cx="4953000" cy="4493538"/>
          </a:xfrm>
          <a:prstGeom prst="rect">
            <a:avLst/>
          </a:prstGeom>
          <a:solidFill>
            <a:schemeClr val="accent3">
              <a:lumMod val="40000"/>
              <a:lumOff val="60000"/>
            </a:schemeClr>
          </a:solidFill>
        </p:spPr>
        <p:txBody>
          <a:bodyPr wrap="square" rtlCol="0">
            <a:spAutoFit/>
          </a:bodyPr>
          <a:lstStyle/>
          <a:p>
            <a:r>
              <a:rPr lang="en-US" sz="2200" b="1" u="sng" dirty="0"/>
              <a:t>Immediately Available Datasets</a:t>
            </a:r>
          </a:p>
          <a:p>
            <a:endParaRPr lang="en-US" sz="2200" b="1" u="sng" dirty="0"/>
          </a:p>
          <a:p>
            <a:pPr marL="342900" indent="-342900">
              <a:buFont typeface="Arial" panose="020B0604020202020204" pitchFamily="34" charset="0"/>
              <a:buChar char="•"/>
            </a:pPr>
            <a:r>
              <a:rPr lang="en-US" sz="2200" dirty="0"/>
              <a:t>High-quality census/health data in the US and internationally: 	</a:t>
            </a:r>
            <a:r>
              <a:rPr lang="en-US" sz="2200" dirty="0">
                <a:hlinkClick r:id="rId3"/>
              </a:rPr>
              <a:t>https://www.ipums.org/</a:t>
            </a:r>
            <a:endParaRPr lang="en-US" sz="2200" dirty="0"/>
          </a:p>
          <a:p>
            <a:pPr marL="342900" indent="-342900">
              <a:buFont typeface="Arial" panose="020B0604020202020204" pitchFamily="34" charset="0"/>
              <a:buChar char="•"/>
            </a:pPr>
            <a:r>
              <a:rPr lang="en-US" sz="2200" dirty="0">
                <a:hlinkClick r:id="rId4"/>
              </a:rPr>
              <a:t>https://sebastiantellotrillo.com/resources/primer-where-to-find-data</a:t>
            </a:r>
            <a:r>
              <a:rPr lang="en-US" sz="2200" dirty="0"/>
              <a:t> </a:t>
            </a:r>
          </a:p>
          <a:p>
            <a:pPr marL="342900" indent="-342900">
              <a:buFont typeface="Arial" panose="020B0604020202020204" pitchFamily="34" charset="0"/>
              <a:buChar char="•"/>
            </a:pPr>
            <a:r>
              <a:rPr lang="en-US" sz="2200" dirty="0"/>
              <a:t>Canadian Community Health Survey (</a:t>
            </a:r>
            <a:r>
              <a:rPr lang="en-US" sz="2200" dirty="0">
                <a:hlinkClick r:id="rId5"/>
              </a:rPr>
              <a:t>ODESI</a:t>
            </a:r>
            <a:r>
              <a:rPr lang="en-US" sz="2200" dirty="0"/>
              <a:t>) </a:t>
            </a:r>
          </a:p>
          <a:p>
            <a:pPr marL="342900" indent="-342900">
              <a:buFont typeface="Arial" panose="020B0604020202020204" pitchFamily="34" charset="0"/>
              <a:buChar char="•"/>
            </a:pPr>
            <a:r>
              <a:rPr lang="en-US" sz="2200" dirty="0">
                <a:hlinkClick r:id="rId6"/>
              </a:rPr>
              <a:t>https://datacentre.chass.utoronto.ca/</a:t>
            </a:r>
            <a:endParaRPr lang="en-US" sz="2200" dirty="0"/>
          </a:p>
          <a:p>
            <a:pPr marL="342900" indent="-342900">
              <a:buFont typeface="Arial" panose="020B0604020202020204" pitchFamily="34" charset="0"/>
              <a:buChar char="•"/>
            </a:pPr>
            <a:r>
              <a:rPr lang="en-US" sz="2200" dirty="0"/>
              <a:t>Lots of others!</a:t>
            </a:r>
          </a:p>
          <a:p>
            <a:pPr marL="342900" indent="-342900">
              <a:buFont typeface="Arial" panose="020B0604020202020204" pitchFamily="34" charset="0"/>
              <a:buChar char="•"/>
            </a:pPr>
            <a:endParaRPr lang="en-US" sz="2200" dirty="0"/>
          </a:p>
        </p:txBody>
      </p:sp>
      <p:sp>
        <p:nvSpPr>
          <p:cNvPr id="7" name="TextBox 6">
            <a:extLst>
              <a:ext uri="{FF2B5EF4-FFF2-40B4-BE49-F238E27FC236}">
                <a16:creationId xmlns:a16="http://schemas.microsoft.com/office/drawing/2014/main" id="{02301630-EBF2-9429-FDAC-D7F79000AD6F}"/>
              </a:ext>
            </a:extLst>
          </p:cNvPr>
          <p:cNvSpPr txBox="1"/>
          <p:nvPr/>
        </p:nvSpPr>
        <p:spPr>
          <a:xfrm>
            <a:off x="5865586" y="962232"/>
            <a:ext cx="4724400" cy="3477875"/>
          </a:xfrm>
          <a:prstGeom prst="rect">
            <a:avLst/>
          </a:prstGeom>
          <a:solidFill>
            <a:schemeClr val="accent2">
              <a:lumMod val="40000"/>
              <a:lumOff val="60000"/>
            </a:schemeClr>
          </a:solidFill>
        </p:spPr>
        <p:txBody>
          <a:bodyPr wrap="square" rtlCol="0">
            <a:spAutoFit/>
          </a:bodyPr>
          <a:lstStyle/>
          <a:p>
            <a:r>
              <a:rPr lang="en-US" sz="2200" b="1" u="sng" dirty="0"/>
              <a:t>Good Dissertation Datasets</a:t>
            </a:r>
          </a:p>
          <a:p>
            <a:endParaRPr lang="en-US" sz="2200" b="1" u="sng" dirty="0"/>
          </a:p>
          <a:p>
            <a:pPr marL="342900" indent="-342900">
              <a:buFont typeface="Arial" panose="020B0604020202020204" pitchFamily="34" charset="0"/>
              <a:buChar char="•"/>
            </a:pPr>
            <a:r>
              <a:rPr lang="en-US" sz="2200" dirty="0"/>
              <a:t>ICES (Ontario-level claims) </a:t>
            </a:r>
          </a:p>
          <a:p>
            <a:pPr marL="342900" indent="-342900">
              <a:buFont typeface="Arial" panose="020B0604020202020204" pitchFamily="34" charset="0"/>
              <a:buChar char="•"/>
            </a:pPr>
            <a:r>
              <a:rPr lang="en-US" sz="2200" dirty="0"/>
              <a:t>PCPOP (BC-level data, links to a lot of useful demographic data) </a:t>
            </a:r>
          </a:p>
          <a:p>
            <a:pPr marL="342900" indent="-342900">
              <a:buFont typeface="Arial" panose="020B0604020202020204" pitchFamily="34" charset="0"/>
              <a:buChar char="•"/>
            </a:pPr>
            <a:r>
              <a:rPr lang="en-US" sz="2200" dirty="0"/>
              <a:t>CIHI</a:t>
            </a:r>
          </a:p>
          <a:p>
            <a:pPr marL="342900" indent="-342900">
              <a:buFont typeface="Arial" panose="020B0604020202020204" pitchFamily="34" charset="0"/>
              <a:buChar char="•"/>
            </a:pPr>
            <a:r>
              <a:rPr lang="en-US" sz="2200" dirty="0"/>
              <a:t>Medicare FFS (US; need a sponsor)</a:t>
            </a:r>
          </a:p>
          <a:p>
            <a:pPr marL="342900" indent="-342900">
              <a:buFont typeface="Arial" panose="020B0604020202020204" pitchFamily="34" charset="0"/>
              <a:buChar char="•"/>
            </a:pPr>
            <a:r>
              <a:rPr lang="en-US" sz="2200" dirty="0"/>
              <a:t>Lots of others!</a:t>
            </a:r>
          </a:p>
        </p:txBody>
      </p:sp>
    </p:spTree>
    <p:extLst>
      <p:ext uri="{BB962C8B-B14F-4D97-AF65-F5344CB8AC3E}">
        <p14:creationId xmlns:p14="http://schemas.microsoft.com/office/powerpoint/2010/main" val="88475746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Example Cohort: MEPS (</a:t>
            </a:r>
            <a:r>
              <a:rPr lang="en-US" sz="3600" dirty="0">
                <a:cs typeface="Times New Roman" panose="02020603050405020304" pitchFamily="18" charset="0"/>
                <a:hlinkClick r:id="rId3"/>
              </a:rPr>
              <a:t>Link</a:t>
            </a:r>
            <a:r>
              <a:rPr lang="en-US" sz="3600" dirty="0">
                <a:cs typeface="Times New Roman" panose="02020603050405020304" pitchFamily="18" charset="0"/>
              </a:rPr>
              <a:t>) </a:t>
            </a:r>
            <a:endParaRPr lang="en-US" sz="3600" dirty="0">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C273ECC0-3F84-B71B-5F94-7DE3CABDAA2B}"/>
              </a:ext>
            </a:extLst>
          </p:cNvPr>
          <p:cNvPicPr>
            <a:picLocks noChangeAspect="1"/>
          </p:cNvPicPr>
          <p:nvPr/>
        </p:nvPicPr>
        <p:blipFill>
          <a:blip r:embed="rId4"/>
          <a:stretch>
            <a:fillRect/>
          </a:stretch>
        </p:blipFill>
        <p:spPr>
          <a:xfrm>
            <a:off x="265683" y="1254981"/>
            <a:ext cx="11188301" cy="2678706"/>
          </a:xfrm>
          <a:prstGeom prst="rect">
            <a:avLst/>
          </a:prstGeom>
        </p:spPr>
      </p:pic>
      <p:pic>
        <p:nvPicPr>
          <p:cNvPr id="8" name="Picture 7">
            <a:extLst>
              <a:ext uri="{FF2B5EF4-FFF2-40B4-BE49-F238E27FC236}">
                <a16:creationId xmlns:a16="http://schemas.microsoft.com/office/drawing/2014/main" id="{FC814DDC-395B-B6A4-8E54-B00C91ABA9A3}"/>
              </a:ext>
            </a:extLst>
          </p:cNvPr>
          <p:cNvPicPr>
            <a:picLocks noChangeAspect="1"/>
          </p:cNvPicPr>
          <p:nvPr/>
        </p:nvPicPr>
        <p:blipFill>
          <a:blip r:embed="rId5"/>
          <a:stretch>
            <a:fillRect/>
          </a:stretch>
        </p:blipFill>
        <p:spPr>
          <a:xfrm>
            <a:off x="0" y="4627659"/>
            <a:ext cx="12192000" cy="1950720"/>
          </a:xfrm>
          <a:prstGeom prst="rect">
            <a:avLst/>
          </a:prstGeom>
        </p:spPr>
      </p:pic>
    </p:spTree>
    <p:extLst>
      <p:ext uri="{BB962C8B-B14F-4D97-AF65-F5344CB8AC3E}">
        <p14:creationId xmlns:p14="http://schemas.microsoft.com/office/powerpoint/2010/main" val="65526574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a:xfrm>
            <a:off x="1261872" y="758952"/>
            <a:ext cx="10549128" cy="4041648"/>
          </a:xfrm>
        </p:spPr>
        <p:txBody>
          <a:bodyPr/>
          <a:lstStyle/>
          <a:p>
            <a:r>
              <a:rPr lang="en-US" dirty="0"/>
              <a:t>Working with data</a:t>
            </a:r>
          </a:p>
        </p:txBody>
      </p:sp>
      <p:sp>
        <p:nvSpPr>
          <p:cNvPr id="3" name="Subtitle 2">
            <a:extLst>
              <a:ext uri="{FF2B5EF4-FFF2-40B4-BE49-F238E27FC236}">
                <a16:creationId xmlns:a16="http://schemas.microsoft.com/office/drawing/2014/main" id="{9A7FADE3-4D7C-4B3A-B023-71CD85AECCCB}"/>
              </a:ext>
            </a:extLst>
          </p:cNvPr>
          <p:cNvSpPr>
            <a:spLocks noGrp="1"/>
          </p:cNvSpPr>
          <p:nvPr>
            <p:ph type="subTitle" idx="1"/>
          </p:nvPr>
        </p:nvSpPr>
        <p:spPr/>
        <p:txBody>
          <a:bodyPr>
            <a:normAutofit/>
          </a:bodyPr>
          <a:lstStyle/>
          <a:p>
            <a:endParaRPr lang="en-US" sz="4400" dirty="0"/>
          </a:p>
        </p:txBody>
      </p:sp>
    </p:spTree>
    <p:extLst>
      <p:ext uri="{BB962C8B-B14F-4D97-AF65-F5344CB8AC3E}">
        <p14:creationId xmlns:p14="http://schemas.microsoft.com/office/powerpoint/2010/main" val="368946275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Flow of a Research Project</a:t>
            </a:r>
            <a:endParaRPr lang="en-US" sz="3600" dirty="0">
              <a:latin typeface="Times New Roman" panose="02020603050405020304" pitchFamily="18" charset="0"/>
              <a:cs typeface="Times New Roman" panose="02020603050405020304" pitchFamily="18" charset="0"/>
            </a:endParaRPr>
          </a:p>
        </p:txBody>
      </p:sp>
      <p:sp>
        <p:nvSpPr>
          <p:cNvPr id="6" name="Rectangle: Rounded Corners 5">
            <a:extLst>
              <a:ext uri="{FF2B5EF4-FFF2-40B4-BE49-F238E27FC236}">
                <a16:creationId xmlns:a16="http://schemas.microsoft.com/office/drawing/2014/main" id="{52D59849-F888-9DBD-C5D2-139594F10287}"/>
              </a:ext>
            </a:extLst>
          </p:cNvPr>
          <p:cNvSpPr/>
          <p:nvPr/>
        </p:nvSpPr>
        <p:spPr>
          <a:xfrm>
            <a:off x="3200400" y="889791"/>
            <a:ext cx="5867400" cy="624840"/>
          </a:xfrm>
          <a:prstGeom prst="round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Main data</a:t>
            </a:r>
          </a:p>
        </p:txBody>
      </p:sp>
      <p:sp>
        <p:nvSpPr>
          <p:cNvPr id="7" name="Rectangle: Rounded Corners 6">
            <a:extLst>
              <a:ext uri="{FF2B5EF4-FFF2-40B4-BE49-F238E27FC236}">
                <a16:creationId xmlns:a16="http://schemas.microsoft.com/office/drawing/2014/main" id="{DE6EA683-8A0C-F1CA-1C16-B66C3C305701}"/>
              </a:ext>
            </a:extLst>
          </p:cNvPr>
          <p:cNvSpPr/>
          <p:nvPr/>
        </p:nvSpPr>
        <p:spPr>
          <a:xfrm>
            <a:off x="5067300" y="2804160"/>
            <a:ext cx="2057400" cy="624840"/>
          </a:xfrm>
          <a:prstGeom prst="round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Cleaned data</a:t>
            </a:r>
          </a:p>
        </p:txBody>
      </p:sp>
      <p:sp>
        <p:nvSpPr>
          <p:cNvPr id="8" name="Rectangle: Rounded Corners 7">
            <a:extLst>
              <a:ext uri="{FF2B5EF4-FFF2-40B4-BE49-F238E27FC236}">
                <a16:creationId xmlns:a16="http://schemas.microsoft.com/office/drawing/2014/main" id="{212A54F9-175E-D9A5-8539-F05172C7B4A5}"/>
              </a:ext>
            </a:extLst>
          </p:cNvPr>
          <p:cNvSpPr/>
          <p:nvPr/>
        </p:nvSpPr>
        <p:spPr>
          <a:xfrm>
            <a:off x="990600" y="4543334"/>
            <a:ext cx="2362200" cy="62484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1</a:t>
            </a:r>
          </a:p>
        </p:txBody>
      </p:sp>
      <p:sp>
        <p:nvSpPr>
          <p:cNvPr id="9" name="Rectangle: Rounded Corners 8">
            <a:extLst>
              <a:ext uri="{FF2B5EF4-FFF2-40B4-BE49-F238E27FC236}">
                <a16:creationId xmlns:a16="http://schemas.microsoft.com/office/drawing/2014/main" id="{E1C2F459-540F-0487-D2CA-C9DF006B5840}"/>
              </a:ext>
            </a:extLst>
          </p:cNvPr>
          <p:cNvSpPr/>
          <p:nvPr/>
        </p:nvSpPr>
        <p:spPr>
          <a:xfrm>
            <a:off x="4914900" y="4533799"/>
            <a:ext cx="2362200" cy="624840"/>
          </a:xfrm>
          <a:prstGeom prst="round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2</a:t>
            </a:r>
          </a:p>
        </p:txBody>
      </p:sp>
      <p:sp>
        <p:nvSpPr>
          <p:cNvPr id="10" name="Rectangle: Rounded Corners 9">
            <a:extLst>
              <a:ext uri="{FF2B5EF4-FFF2-40B4-BE49-F238E27FC236}">
                <a16:creationId xmlns:a16="http://schemas.microsoft.com/office/drawing/2014/main" id="{9559DECE-33EA-A1D4-FC08-9BDFCAFFA90D}"/>
              </a:ext>
            </a:extLst>
          </p:cNvPr>
          <p:cNvSpPr/>
          <p:nvPr/>
        </p:nvSpPr>
        <p:spPr>
          <a:xfrm>
            <a:off x="8460922" y="4543334"/>
            <a:ext cx="2362200" cy="624840"/>
          </a:xfrm>
          <a:prstGeom prst="round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3</a:t>
            </a:r>
          </a:p>
        </p:txBody>
      </p:sp>
      <p:sp>
        <p:nvSpPr>
          <p:cNvPr id="11" name="Rectangle: Rounded Corners 10">
            <a:extLst>
              <a:ext uri="{FF2B5EF4-FFF2-40B4-BE49-F238E27FC236}">
                <a16:creationId xmlns:a16="http://schemas.microsoft.com/office/drawing/2014/main" id="{A963CF5F-18A2-E269-1406-19E2513C6737}"/>
              </a:ext>
            </a:extLst>
          </p:cNvPr>
          <p:cNvSpPr/>
          <p:nvPr/>
        </p:nvSpPr>
        <p:spPr>
          <a:xfrm>
            <a:off x="8153400" y="2076566"/>
            <a:ext cx="2362200" cy="624840"/>
          </a:xfrm>
          <a:prstGeom prst="roundRect">
            <a:avLst/>
          </a:prstGeom>
          <a:solidFill>
            <a:srgbClr val="E1E12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Supplemental Data</a:t>
            </a:r>
          </a:p>
        </p:txBody>
      </p:sp>
      <p:cxnSp>
        <p:nvCxnSpPr>
          <p:cNvPr id="13" name="Straight Arrow Connector 12">
            <a:extLst>
              <a:ext uri="{FF2B5EF4-FFF2-40B4-BE49-F238E27FC236}">
                <a16:creationId xmlns:a16="http://schemas.microsoft.com/office/drawing/2014/main" id="{BF59749F-8A09-D170-5987-A7EF4F367951}"/>
              </a:ext>
            </a:extLst>
          </p:cNvPr>
          <p:cNvCxnSpPr>
            <a:cxnSpLocks/>
            <a:stCxn id="6" idx="2"/>
            <a:endCxn id="7" idx="0"/>
          </p:cNvCxnSpPr>
          <p:nvPr/>
        </p:nvCxnSpPr>
        <p:spPr>
          <a:xfrm flipH="1">
            <a:off x="6096000" y="1514631"/>
            <a:ext cx="38100" cy="1289529"/>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4" name="Straight Arrow Connector 13">
            <a:extLst>
              <a:ext uri="{FF2B5EF4-FFF2-40B4-BE49-F238E27FC236}">
                <a16:creationId xmlns:a16="http://schemas.microsoft.com/office/drawing/2014/main" id="{6C649DA1-F69B-6597-7B76-B465D66C0953}"/>
              </a:ext>
            </a:extLst>
          </p:cNvPr>
          <p:cNvCxnSpPr>
            <a:cxnSpLocks/>
            <a:stCxn id="11" idx="2"/>
            <a:endCxn id="7" idx="3"/>
          </p:cNvCxnSpPr>
          <p:nvPr/>
        </p:nvCxnSpPr>
        <p:spPr>
          <a:xfrm flipH="1">
            <a:off x="7124700" y="2701406"/>
            <a:ext cx="2209800" cy="41517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 name="Straight Arrow Connector 16">
            <a:extLst>
              <a:ext uri="{FF2B5EF4-FFF2-40B4-BE49-F238E27FC236}">
                <a16:creationId xmlns:a16="http://schemas.microsoft.com/office/drawing/2014/main" id="{98ECAD19-0FB3-D2BD-E512-25E4492BF75F}"/>
              </a:ext>
            </a:extLst>
          </p:cNvPr>
          <p:cNvCxnSpPr>
            <a:cxnSpLocks/>
            <a:stCxn id="7" idx="2"/>
            <a:endCxn id="10" idx="0"/>
          </p:cNvCxnSpPr>
          <p:nvPr/>
        </p:nvCxnSpPr>
        <p:spPr>
          <a:xfrm>
            <a:off x="6096000" y="3429000"/>
            <a:ext cx="3546022" cy="111433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 name="Straight Arrow Connector 17">
            <a:extLst>
              <a:ext uri="{FF2B5EF4-FFF2-40B4-BE49-F238E27FC236}">
                <a16:creationId xmlns:a16="http://schemas.microsoft.com/office/drawing/2014/main" id="{54E8B037-6413-4F07-28A0-54C12A92E389}"/>
              </a:ext>
            </a:extLst>
          </p:cNvPr>
          <p:cNvCxnSpPr>
            <a:cxnSpLocks/>
            <a:stCxn id="7" idx="2"/>
            <a:endCxn id="9" idx="0"/>
          </p:cNvCxnSpPr>
          <p:nvPr/>
        </p:nvCxnSpPr>
        <p:spPr>
          <a:xfrm>
            <a:off x="6096000" y="3429000"/>
            <a:ext cx="0" cy="1104799"/>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9" name="Straight Arrow Connector 18">
            <a:extLst>
              <a:ext uri="{FF2B5EF4-FFF2-40B4-BE49-F238E27FC236}">
                <a16:creationId xmlns:a16="http://schemas.microsoft.com/office/drawing/2014/main" id="{2FA90A44-5FDE-8D6D-6763-75CB89B37261}"/>
              </a:ext>
            </a:extLst>
          </p:cNvPr>
          <p:cNvCxnSpPr>
            <a:cxnSpLocks/>
            <a:stCxn id="7" idx="2"/>
            <a:endCxn id="8" idx="0"/>
          </p:cNvCxnSpPr>
          <p:nvPr/>
        </p:nvCxnSpPr>
        <p:spPr>
          <a:xfrm flipH="1">
            <a:off x="2171700" y="3429000"/>
            <a:ext cx="3924300" cy="111433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47" name="Rectangle: Rounded Corners 46">
            <a:extLst>
              <a:ext uri="{FF2B5EF4-FFF2-40B4-BE49-F238E27FC236}">
                <a16:creationId xmlns:a16="http://schemas.microsoft.com/office/drawing/2014/main" id="{C876C33F-8236-0C0A-8231-E56C08712C40}"/>
              </a:ext>
            </a:extLst>
          </p:cNvPr>
          <p:cNvSpPr/>
          <p:nvPr/>
        </p:nvSpPr>
        <p:spPr>
          <a:xfrm>
            <a:off x="3200400" y="5834775"/>
            <a:ext cx="5867400" cy="624840"/>
          </a:xfrm>
          <a:prstGeom prst="roundRect">
            <a:avLst/>
          </a:prstGeom>
          <a:solidFill>
            <a:schemeClr val="accent5">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Paper!</a:t>
            </a:r>
          </a:p>
        </p:txBody>
      </p:sp>
      <p:cxnSp>
        <p:nvCxnSpPr>
          <p:cNvPr id="48" name="Straight Arrow Connector 47">
            <a:extLst>
              <a:ext uri="{FF2B5EF4-FFF2-40B4-BE49-F238E27FC236}">
                <a16:creationId xmlns:a16="http://schemas.microsoft.com/office/drawing/2014/main" id="{825838E2-661D-8687-20AB-48F19539D429}"/>
              </a:ext>
            </a:extLst>
          </p:cNvPr>
          <p:cNvCxnSpPr>
            <a:cxnSpLocks/>
            <a:stCxn id="8" idx="2"/>
            <a:endCxn id="47" idx="0"/>
          </p:cNvCxnSpPr>
          <p:nvPr/>
        </p:nvCxnSpPr>
        <p:spPr>
          <a:xfrm>
            <a:off x="2171700" y="5168174"/>
            <a:ext cx="3962400" cy="666601"/>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51" name="Straight Arrow Connector 50">
            <a:extLst>
              <a:ext uri="{FF2B5EF4-FFF2-40B4-BE49-F238E27FC236}">
                <a16:creationId xmlns:a16="http://schemas.microsoft.com/office/drawing/2014/main" id="{583A0741-7542-E51C-546D-515F0817A879}"/>
              </a:ext>
            </a:extLst>
          </p:cNvPr>
          <p:cNvCxnSpPr>
            <a:cxnSpLocks/>
            <a:stCxn id="10" idx="2"/>
            <a:endCxn id="47" idx="0"/>
          </p:cNvCxnSpPr>
          <p:nvPr/>
        </p:nvCxnSpPr>
        <p:spPr>
          <a:xfrm flipH="1">
            <a:off x="6134100" y="5168174"/>
            <a:ext cx="3507922" cy="666601"/>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52" name="Straight Arrow Connector 51">
            <a:extLst>
              <a:ext uri="{FF2B5EF4-FFF2-40B4-BE49-F238E27FC236}">
                <a16:creationId xmlns:a16="http://schemas.microsoft.com/office/drawing/2014/main" id="{032F4840-9D49-7C62-9F99-48FFF5EC77FD}"/>
              </a:ext>
            </a:extLst>
          </p:cNvPr>
          <p:cNvCxnSpPr>
            <a:cxnSpLocks/>
            <a:stCxn id="9" idx="2"/>
            <a:endCxn id="47" idx="0"/>
          </p:cNvCxnSpPr>
          <p:nvPr/>
        </p:nvCxnSpPr>
        <p:spPr>
          <a:xfrm>
            <a:off x="6096000" y="5158639"/>
            <a:ext cx="38100" cy="676136"/>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80746209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Flow of a Research Project</a:t>
            </a:r>
            <a:endParaRPr lang="en-US" sz="3600" dirty="0">
              <a:latin typeface="Times New Roman" panose="02020603050405020304" pitchFamily="18" charset="0"/>
              <a:cs typeface="Times New Roman" panose="02020603050405020304" pitchFamily="18" charset="0"/>
            </a:endParaRPr>
          </a:p>
        </p:txBody>
      </p:sp>
      <p:sp>
        <p:nvSpPr>
          <p:cNvPr id="6" name="Rectangle: Rounded Corners 5">
            <a:extLst>
              <a:ext uri="{FF2B5EF4-FFF2-40B4-BE49-F238E27FC236}">
                <a16:creationId xmlns:a16="http://schemas.microsoft.com/office/drawing/2014/main" id="{52D59849-F888-9DBD-C5D2-139594F10287}"/>
              </a:ext>
            </a:extLst>
          </p:cNvPr>
          <p:cNvSpPr/>
          <p:nvPr/>
        </p:nvSpPr>
        <p:spPr>
          <a:xfrm>
            <a:off x="3200400" y="889791"/>
            <a:ext cx="5867400" cy="624840"/>
          </a:xfrm>
          <a:prstGeom prst="round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Main data</a:t>
            </a:r>
          </a:p>
        </p:txBody>
      </p:sp>
      <p:sp>
        <p:nvSpPr>
          <p:cNvPr id="7" name="Rectangle: Rounded Corners 6">
            <a:extLst>
              <a:ext uri="{FF2B5EF4-FFF2-40B4-BE49-F238E27FC236}">
                <a16:creationId xmlns:a16="http://schemas.microsoft.com/office/drawing/2014/main" id="{DE6EA683-8A0C-F1CA-1C16-B66C3C305701}"/>
              </a:ext>
            </a:extLst>
          </p:cNvPr>
          <p:cNvSpPr/>
          <p:nvPr/>
        </p:nvSpPr>
        <p:spPr>
          <a:xfrm>
            <a:off x="5067300" y="2804160"/>
            <a:ext cx="2057400" cy="624840"/>
          </a:xfrm>
          <a:prstGeom prst="round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Cleaned data</a:t>
            </a:r>
          </a:p>
        </p:txBody>
      </p:sp>
      <p:sp>
        <p:nvSpPr>
          <p:cNvPr id="8" name="Rectangle: Rounded Corners 7">
            <a:extLst>
              <a:ext uri="{FF2B5EF4-FFF2-40B4-BE49-F238E27FC236}">
                <a16:creationId xmlns:a16="http://schemas.microsoft.com/office/drawing/2014/main" id="{212A54F9-175E-D9A5-8539-F05172C7B4A5}"/>
              </a:ext>
            </a:extLst>
          </p:cNvPr>
          <p:cNvSpPr/>
          <p:nvPr/>
        </p:nvSpPr>
        <p:spPr>
          <a:xfrm>
            <a:off x="990600" y="4543334"/>
            <a:ext cx="2362200" cy="62484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1</a:t>
            </a:r>
          </a:p>
        </p:txBody>
      </p:sp>
      <p:sp>
        <p:nvSpPr>
          <p:cNvPr id="9" name="Rectangle: Rounded Corners 8">
            <a:extLst>
              <a:ext uri="{FF2B5EF4-FFF2-40B4-BE49-F238E27FC236}">
                <a16:creationId xmlns:a16="http://schemas.microsoft.com/office/drawing/2014/main" id="{E1C2F459-540F-0487-D2CA-C9DF006B5840}"/>
              </a:ext>
            </a:extLst>
          </p:cNvPr>
          <p:cNvSpPr/>
          <p:nvPr/>
        </p:nvSpPr>
        <p:spPr>
          <a:xfrm>
            <a:off x="4914900" y="4533799"/>
            <a:ext cx="2362200" cy="624840"/>
          </a:xfrm>
          <a:prstGeom prst="round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2</a:t>
            </a:r>
          </a:p>
        </p:txBody>
      </p:sp>
      <p:sp>
        <p:nvSpPr>
          <p:cNvPr id="10" name="Rectangle: Rounded Corners 9">
            <a:extLst>
              <a:ext uri="{FF2B5EF4-FFF2-40B4-BE49-F238E27FC236}">
                <a16:creationId xmlns:a16="http://schemas.microsoft.com/office/drawing/2014/main" id="{9559DECE-33EA-A1D4-FC08-9BDFCAFFA90D}"/>
              </a:ext>
            </a:extLst>
          </p:cNvPr>
          <p:cNvSpPr/>
          <p:nvPr/>
        </p:nvSpPr>
        <p:spPr>
          <a:xfrm>
            <a:off x="8460922" y="4543334"/>
            <a:ext cx="2362200" cy="624840"/>
          </a:xfrm>
          <a:prstGeom prst="round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3</a:t>
            </a:r>
          </a:p>
        </p:txBody>
      </p:sp>
      <p:sp>
        <p:nvSpPr>
          <p:cNvPr id="11" name="Rectangle: Rounded Corners 10">
            <a:extLst>
              <a:ext uri="{FF2B5EF4-FFF2-40B4-BE49-F238E27FC236}">
                <a16:creationId xmlns:a16="http://schemas.microsoft.com/office/drawing/2014/main" id="{A963CF5F-18A2-E269-1406-19E2513C6737}"/>
              </a:ext>
            </a:extLst>
          </p:cNvPr>
          <p:cNvSpPr/>
          <p:nvPr/>
        </p:nvSpPr>
        <p:spPr>
          <a:xfrm>
            <a:off x="8153400" y="2076566"/>
            <a:ext cx="2362200" cy="624840"/>
          </a:xfrm>
          <a:prstGeom prst="roundRect">
            <a:avLst/>
          </a:prstGeom>
          <a:solidFill>
            <a:srgbClr val="E1E12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Supplemental Data</a:t>
            </a:r>
          </a:p>
        </p:txBody>
      </p:sp>
      <p:cxnSp>
        <p:nvCxnSpPr>
          <p:cNvPr id="13" name="Straight Arrow Connector 12">
            <a:extLst>
              <a:ext uri="{FF2B5EF4-FFF2-40B4-BE49-F238E27FC236}">
                <a16:creationId xmlns:a16="http://schemas.microsoft.com/office/drawing/2014/main" id="{BF59749F-8A09-D170-5987-A7EF4F367951}"/>
              </a:ext>
            </a:extLst>
          </p:cNvPr>
          <p:cNvCxnSpPr>
            <a:cxnSpLocks/>
            <a:stCxn id="6" idx="2"/>
            <a:endCxn id="7" idx="0"/>
          </p:cNvCxnSpPr>
          <p:nvPr/>
        </p:nvCxnSpPr>
        <p:spPr>
          <a:xfrm flipH="1">
            <a:off x="6096000" y="1514631"/>
            <a:ext cx="38100" cy="1289529"/>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4" name="Straight Arrow Connector 13">
            <a:extLst>
              <a:ext uri="{FF2B5EF4-FFF2-40B4-BE49-F238E27FC236}">
                <a16:creationId xmlns:a16="http://schemas.microsoft.com/office/drawing/2014/main" id="{6C649DA1-F69B-6597-7B76-B465D66C0953}"/>
              </a:ext>
            </a:extLst>
          </p:cNvPr>
          <p:cNvCxnSpPr>
            <a:cxnSpLocks/>
            <a:stCxn id="11" idx="2"/>
            <a:endCxn id="7" idx="3"/>
          </p:cNvCxnSpPr>
          <p:nvPr/>
        </p:nvCxnSpPr>
        <p:spPr>
          <a:xfrm flipH="1">
            <a:off x="7124700" y="2701406"/>
            <a:ext cx="2209800" cy="41517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 name="Straight Arrow Connector 16">
            <a:extLst>
              <a:ext uri="{FF2B5EF4-FFF2-40B4-BE49-F238E27FC236}">
                <a16:creationId xmlns:a16="http://schemas.microsoft.com/office/drawing/2014/main" id="{98ECAD19-0FB3-D2BD-E512-25E4492BF75F}"/>
              </a:ext>
            </a:extLst>
          </p:cNvPr>
          <p:cNvCxnSpPr>
            <a:cxnSpLocks/>
            <a:stCxn id="7" idx="2"/>
            <a:endCxn id="10" idx="0"/>
          </p:cNvCxnSpPr>
          <p:nvPr/>
        </p:nvCxnSpPr>
        <p:spPr>
          <a:xfrm>
            <a:off x="6096000" y="3429000"/>
            <a:ext cx="3546022" cy="111433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 name="Straight Arrow Connector 17">
            <a:extLst>
              <a:ext uri="{FF2B5EF4-FFF2-40B4-BE49-F238E27FC236}">
                <a16:creationId xmlns:a16="http://schemas.microsoft.com/office/drawing/2014/main" id="{54E8B037-6413-4F07-28A0-54C12A92E389}"/>
              </a:ext>
            </a:extLst>
          </p:cNvPr>
          <p:cNvCxnSpPr>
            <a:cxnSpLocks/>
            <a:stCxn id="7" idx="2"/>
            <a:endCxn id="9" idx="0"/>
          </p:cNvCxnSpPr>
          <p:nvPr/>
        </p:nvCxnSpPr>
        <p:spPr>
          <a:xfrm>
            <a:off x="6096000" y="3429000"/>
            <a:ext cx="0" cy="1104799"/>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9" name="Straight Arrow Connector 18">
            <a:extLst>
              <a:ext uri="{FF2B5EF4-FFF2-40B4-BE49-F238E27FC236}">
                <a16:creationId xmlns:a16="http://schemas.microsoft.com/office/drawing/2014/main" id="{2FA90A44-5FDE-8D6D-6763-75CB89B37261}"/>
              </a:ext>
            </a:extLst>
          </p:cNvPr>
          <p:cNvCxnSpPr>
            <a:cxnSpLocks/>
            <a:stCxn id="7" idx="2"/>
            <a:endCxn id="8" idx="0"/>
          </p:cNvCxnSpPr>
          <p:nvPr/>
        </p:nvCxnSpPr>
        <p:spPr>
          <a:xfrm flipH="1">
            <a:off x="2171700" y="3429000"/>
            <a:ext cx="3924300" cy="111433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47" name="Rectangle: Rounded Corners 46">
            <a:extLst>
              <a:ext uri="{FF2B5EF4-FFF2-40B4-BE49-F238E27FC236}">
                <a16:creationId xmlns:a16="http://schemas.microsoft.com/office/drawing/2014/main" id="{C876C33F-8236-0C0A-8231-E56C08712C40}"/>
              </a:ext>
            </a:extLst>
          </p:cNvPr>
          <p:cNvSpPr/>
          <p:nvPr/>
        </p:nvSpPr>
        <p:spPr>
          <a:xfrm>
            <a:off x="3200400" y="5834775"/>
            <a:ext cx="5867400" cy="624840"/>
          </a:xfrm>
          <a:prstGeom prst="roundRect">
            <a:avLst/>
          </a:prstGeom>
          <a:solidFill>
            <a:schemeClr val="accent5">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Paper!</a:t>
            </a:r>
          </a:p>
        </p:txBody>
      </p:sp>
      <p:cxnSp>
        <p:nvCxnSpPr>
          <p:cNvPr id="48" name="Straight Arrow Connector 47">
            <a:extLst>
              <a:ext uri="{FF2B5EF4-FFF2-40B4-BE49-F238E27FC236}">
                <a16:creationId xmlns:a16="http://schemas.microsoft.com/office/drawing/2014/main" id="{825838E2-661D-8687-20AB-48F19539D429}"/>
              </a:ext>
            </a:extLst>
          </p:cNvPr>
          <p:cNvCxnSpPr>
            <a:cxnSpLocks/>
            <a:stCxn id="8" idx="2"/>
            <a:endCxn id="47" idx="0"/>
          </p:cNvCxnSpPr>
          <p:nvPr/>
        </p:nvCxnSpPr>
        <p:spPr>
          <a:xfrm>
            <a:off x="2171700" y="5168174"/>
            <a:ext cx="3962400" cy="666601"/>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51" name="Straight Arrow Connector 50">
            <a:extLst>
              <a:ext uri="{FF2B5EF4-FFF2-40B4-BE49-F238E27FC236}">
                <a16:creationId xmlns:a16="http://schemas.microsoft.com/office/drawing/2014/main" id="{583A0741-7542-E51C-546D-515F0817A879}"/>
              </a:ext>
            </a:extLst>
          </p:cNvPr>
          <p:cNvCxnSpPr>
            <a:cxnSpLocks/>
            <a:stCxn id="10" idx="2"/>
            <a:endCxn id="47" idx="0"/>
          </p:cNvCxnSpPr>
          <p:nvPr/>
        </p:nvCxnSpPr>
        <p:spPr>
          <a:xfrm flipH="1">
            <a:off x="6134100" y="5168174"/>
            <a:ext cx="3507922" cy="666601"/>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52" name="Straight Arrow Connector 51">
            <a:extLst>
              <a:ext uri="{FF2B5EF4-FFF2-40B4-BE49-F238E27FC236}">
                <a16:creationId xmlns:a16="http://schemas.microsoft.com/office/drawing/2014/main" id="{032F4840-9D49-7C62-9F99-48FFF5EC77FD}"/>
              </a:ext>
            </a:extLst>
          </p:cNvPr>
          <p:cNvCxnSpPr>
            <a:cxnSpLocks/>
            <a:stCxn id="9" idx="2"/>
            <a:endCxn id="47" idx="0"/>
          </p:cNvCxnSpPr>
          <p:nvPr/>
        </p:nvCxnSpPr>
        <p:spPr>
          <a:xfrm>
            <a:off x="6096000" y="5158639"/>
            <a:ext cx="38100" cy="676136"/>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3" name="TextBox 2">
            <a:extLst>
              <a:ext uri="{FF2B5EF4-FFF2-40B4-BE49-F238E27FC236}">
                <a16:creationId xmlns:a16="http://schemas.microsoft.com/office/drawing/2014/main" id="{BD788437-5EA5-2CC0-8B56-6EADDF011479}"/>
              </a:ext>
            </a:extLst>
          </p:cNvPr>
          <p:cNvSpPr txBox="1"/>
          <p:nvPr/>
        </p:nvSpPr>
        <p:spPr>
          <a:xfrm>
            <a:off x="2324100" y="1974729"/>
            <a:ext cx="3657600" cy="523220"/>
          </a:xfrm>
          <a:prstGeom prst="rect">
            <a:avLst/>
          </a:prstGeom>
        </p:spPr>
        <p:style>
          <a:lnRef idx="0">
            <a:schemeClr val="accent4"/>
          </a:lnRef>
          <a:fillRef idx="3">
            <a:schemeClr val="accent4"/>
          </a:fillRef>
          <a:effectRef idx="3">
            <a:schemeClr val="accent4"/>
          </a:effectRef>
          <a:fontRef idx="minor">
            <a:schemeClr val="lt1"/>
          </a:fontRef>
        </p:style>
        <p:txBody>
          <a:bodyPr wrap="square" rtlCol="0">
            <a:spAutoFit/>
          </a:bodyPr>
          <a:lstStyle/>
          <a:p>
            <a:pPr algn="ctr"/>
            <a:r>
              <a:rPr lang="en-US" sz="2800" dirty="0"/>
              <a:t>1. Data cleaning</a:t>
            </a:r>
          </a:p>
        </p:txBody>
      </p:sp>
      <p:pic>
        <p:nvPicPr>
          <p:cNvPr id="4" name="Picture 2" descr="RStudio - RStudio">
            <a:extLst>
              <a:ext uri="{FF2B5EF4-FFF2-40B4-BE49-F238E27FC236}">
                <a16:creationId xmlns:a16="http://schemas.microsoft.com/office/drawing/2014/main" id="{9359B0BD-680E-A614-254B-C0EB241376D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677400" y="5257800"/>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4063591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D94B09-66A3-1639-E79E-CA4D5B7C435C}"/>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61EAF8C6-037C-285E-D30A-2EA895A391FA}"/>
              </a:ext>
            </a:extLst>
          </p:cNvPr>
          <p:cNvSpPr>
            <a:spLocks noGrp="1"/>
          </p:cNvSpPr>
          <p:nvPr>
            <p:ph type="title"/>
          </p:nvPr>
        </p:nvSpPr>
        <p:spPr/>
        <p:txBody>
          <a:bodyPr/>
          <a:lstStyle/>
          <a:p>
            <a:endParaRPr lang="en-CA"/>
          </a:p>
        </p:txBody>
      </p:sp>
      <p:pic>
        <p:nvPicPr>
          <p:cNvPr id="1026" name="Picture 2" descr="🎤 Ken voice: 'My job is just... beach.' 🌊 Would you like to be a  full-time beachcomber?">
            <a:extLst>
              <a:ext uri="{FF2B5EF4-FFF2-40B4-BE49-F238E27FC236}">
                <a16:creationId xmlns:a16="http://schemas.microsoft.com/office/drawing/2014/main" id="{0E5627B7-6175-7CA7-5645-EEE71274CE2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199" y="348826"/>
            <a:ext cx="10484733" cy="5899573"/>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EC7E712B-CA41-A25B-65EE-B5C709ECFE41}"/>
              </a:ext>
            </a:extLst>
          </p:cNvPr>
          <p:cNvSpPr txBox="1"/>
          <p:nvPr/>
        </p:nvSpPr>
        <p:spPr>
          <a:xfrm>
            <a:off x="7315200" y="5715000"/>
            <a:ext cx="1981200" cy="369332"/>
          </a:xfrm>
          <a:prstGeom prst="rect">
            <a:avLst/>
          </a:prstGeom>
          <a:solidFill>
            <a:schemeClr val="bg1"/>
          </a:solidFill>
        </p:spPr>
        <p:txBody>
          <a:bodyPr wrap="square" rtlCol="0">
            <a:spAutoFit/>
          </a:bodyPr>
          <a:lstStyle/>
          <a:p>
            <a:r>
              <a:rPr lang="en-US" b="1" dirty="0"/>
              <a:t>Data cleaning</a:t>
            </a:r>
            <a:endParaRPr lang="en-CA" b="1" dirty="0"/>
          </a:p>
        </p:txBody>
      </p:sp>
    </p:spTree>
    <p:extLst>
      <p:ext uri="{BB962C8B-B14F-4D97-AF65-F5344CB8AC3E}">
        <p14:creationId xmlns:p14="http://schemas.microsoft.com/office/powerpoint/2010/main" val="363553977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8600" y="228600"/>
            <a:ext cx="10439400" cy="624840"/>
          </a:xfrm>
        </p:spPr>
        <p:txBody>
          <a:bodyPr>
            <a:noAutofit/>
          </a:bodyPr>
          <a:lstStyle/>
          <a:p>
            <a:r>
              <a:rPr lang="en-US" sz="3600" dirty="0">
                <a:cs typeface="Times New Roman" panose="02020603050405020304" pitchFamily="18" charset="0"/>
              </a:rPr>
              <a:t>Other Data Cleaning Resources</a:t>
            </a:r>
            <a:endParaRPr lang="en-US" sz="3600" dirty="0">
              <a:latin typeface="Times New Roman" panose="02020603050405020304" pitchFamily="18" charset="0"/>
              <a:cs typeface="Times New Roman" panose="02020603050405020304" pitchFamily="18" charset="0"/>
            </a:endParaRPr>
          </a:p>
        </p:txBody>
      </p:sp>
      <p:sp>
        <p:nvSpPr>
          <p:cNvPr id="5" name="TextBox 4">
            <a:extLst>
              <a:ext uri="{FF2B5EF4-FFF2-40B4-BE49-F238E27FC236}">
                <a16:creationId xmlns:a16="http://schemas.microsoft.com/office/drawing/2014/main" id="{62C7968A-CECE-9A22-956A-384FDEE85820}"/>
              </a:ext>
            </a:extLst>
          </p:cNvPr>
          <p:cNvSpPr txBox="1"/>
          <p:nvPr/>
        </p:nvSpPr>
        <p:spPr>
          <a:xfrm>
            <a:off x="381000" y="853440"/>
            <a:ext cx="10134600" cy="1862048"/>
          </a:xfrm>
          <a:prstGeom prst="rect">
            <a:avLst/>
          </a:prstGeom>
          <a:noFill/>
        </p:spPr>
        <p:txBody>
          <a:bodyPr wrap="square" rtlCol="0">
            <a:spAutoFit/>
          </a:bodyPr>
          <a:lstStyle/>
          <a:p>
            <a:pPr marL="342900" indent="-342900">
              <a:buFont typeface="Arial" panose="020B0604020202020204" pitchFamily="34" charset="0"/>
              <a:buChar char="•"/>
            </a:pPr>
            <a:r>
              <a:rPr lang="en-US" sz="2300" dirty="0"/>
              <a:t>Reading in datasets, initializing new variables, and other useful tips: </a:t>
            </a:r>
            <a:r>
              <a:rPr lang="en-US" sz="2300" dirty="0">
                <a:hlinkClick r:id="rId3"/>
              </a:rPr>
              <a:t>Data Management Overview</a:t>
            </a:r>
            <a:endParaRPr lang="en-US" sz="2300" dirty="0"/>
          </a:p>
          <a:p>
            <a:pPr marL="342900" indent="-342900">
              <a:buFont typeface="Arial" panose="020B0604020202020204" pitchFamily="34" charset="0"/>
              <a:buChar char="•"/>
            </a:pPr>
            <a:r>
              <a:rPr lang="en-US" sz="2300" dirty="0"/>
              <a:t>Dealing with different data types: </a:t>
            </a:r>
            <a:r>
              <a:rPr lang="en-US" sz="2300" dirty="0">
                <a:hlinkClick r:id="rId4"/>
              </a:rPr>
              <a:t>https://datasciencebox.org/course-materials/_slides/u2-d10-data-types/u2-d10-data-types.html#1</a:t>
            </a:r>
            <a:endParaRPr lang="en-US" sz="2300" dirty="0"/>
          </a:p>
          <a:p>
            <a:pPr marL="342900" indent="-342900">
              <a:buFont typeface="Arial" panose="020B0604020202020204" pitchFamily="34" charset="0"/>
              <a:buChar char="•"/>
            </a:pPr>
            <a:endParaRPr lang="en-US" sz="2300" dirty="0"/>
          </a:p>
        </p:txBody>
      </p:sp>
    </p:spTree>
    <p:extLst>
      <p:ext uri="{BB962C8B-B14F-4D97-AF65-F5344CB8AC3E}">
        <p14:creationId xmlns:p14="http://schemas.microsoft.com/office/powerpoint/2010/main" val="354511758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8600" y="304800"/>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Always visualize your data!</a:t>
            </a:r>
          </a:p>
        </p:txBody>
      </p:sp>
      <p:pic>
        <p:nvPicPr>
          <p:cNvPr id="6" name="Picture 5">
            <a:extLst>
              <a:ext uri="{FF2B5EF4-FFF2-40B4-BE49-F238E27FC236}">
                <a16:creationId xmlns:a16="http://schemas.microsoft.com/office/drawing/2014/main" id="{38DD2A02-C909-59C2-3572-8E4D74D7524B}"/>
              </a:ext>
            </a:extLst>
          </p:cNvPr>
          <p:cNvPicPr>
            <a:picLocks noChangeAspect="1"/>
          </p:cNvPicPr>
          <p:nvPr/>
        </p:nvPicPr>
        <p:blipFill>
          <a:blip r:embed="rId3"/>
          <a:stretch>
            <a:fillRect/>
          </a:stretch>
        </p:blipFill>
        <p:spPr>
          <a:xfrm>
            <a:off x="222956" y="1143000"/>
            <a:ext cx="10231278" cy="2200582"/>
          </a:xfrm>
          <a:prstGeom prst="rect">
            <a:avLst/>
          </a:prstGeom>
        </p:spPr>
      </p:pic>
    </p:spTree>
    <p:extLst>
      <p:ext uri="{BB962C8B-B14F-4D97-AF65-F5344CB8AC3E}">
        <p14:creationId xmlns:p14="http://schemas.microsoft.com/office/powerpoint/2010/main" val="388115403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9EC774-14AE-F37C-BCB2-3BF3E5B5358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56C552D-4234-BC37-5D8D-03798D3B2F5C}"/>
              </a:ext>
            </a:extLst>
          </p:cNvPr>
          <p:cNvSpPr>
            <a:spLocks noGrp="1"/>
          </p:cNvSpPr>
          <p:nvPr>
            <p:ph type="title"/>
          </p:nvPr>
        </p:nvSpPr>
        <p:spPr>
          <a:xfrm>
            <a:off x="228600" y="304800"/>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Always visualize your data!</a:t>
            </a:r>
          </a:p>
        </p:txBody>
      </p:sp>
      <p:pic>
        <p:nvPicPr>
          <p:cNvPr id="4" name="Picture 3">
            <a:extLst>
              <a:ext uri="{FF2B5EF4-FFF2-40B4-BE49-F238E27FC236}">
                <a16:creationId xmlns:a16="http://schemas.microsoft.com/office/drawing/2014/main" id="{2372CA6B-952B-9339-455A-4A9520A6FB8F}"/>
              </a:ext>
            </a:extLst>
          </p:cNvPr>
          <p:cNvPicPr>
            <a:picLocks noChangeAspect="1"/>
          </p:cNvPicPr>
          <p:nvPr/>
        </p:nvPicPr>
        <p:blipFill>
          <a:blip r:embed="rId3"/>
          <a:stretch>
            <a:fillRect/>
          </a:stretch>
        </p:blipFill>
        <p:spPr>
          <a:xfrm>
            <a:off x="6255283" y="2971354"/>
            <a:ext cx="4424006" cy="3581846"/>
          </a:xfrm>
          <a:prstGeom prst="rect">
            <a:avLst/>
          </a:prstGeom>
        </p:spPr>
      </p:pic>
      <p:pic>
        <p:nvPicPr>
          <p:cNvPr id="6" name="Picture 5">
            <a:extLst>
              <a:ext uri="{FF2B5EF4-FFF2-40B4-BE49-F238E27FC236}">
                <a16:creationId xmlns:a16="http://schemas.microsoft.com/office/drawing/2014/main" id="{D4AE4CF9-D627-1924-976E-2899954985F5}"/>
              </a:ext>
            </a:extLst>
          </p:cNvPr>
          <p:cNvPicPr>
            <a:picLocks noChangeAspect="1"/>
          </p:cNvPicPr>
          <p:nvPr/>
        </p:nvPicPr>
        <p:blipFill>
          <a:blip r:embed="rId4"/>
          <a:stretch>
            <a:fillRect/>
          </a:stretch>
        </p:blipFill>
        <p:spPr>
          <a:xfrm>
            <a:off x="222956" y="1143000"/>
            <a:ext cx="10231278" cy="2200582"/>
          </a:xfrm>
          <a:prstGeom prst="rect">
            <a:avLst/>
          </a:prstGeom>
        </p:spPr>
      </p:pic>
    </p:spTree>
    <p:extLst>
      <p:ext uri="{BB962C8B-B14F-4D97-AF65-F5344CB8AC3E}">
        <p14:creationId xmlns:p14="http://schemas.microsoft.com/office/powerpoint/2010/main" val="217395548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Flow of a Research Project</a:t>
            </a:r>
            <a:endParaRPr lang="en-US" sz="3600" dirty="0">
              <a:latin typeface="Times New Roman" panose="02020603050405020304" pitchFamily="18" charset="0"/>
              <a:cs typeface="Times New Roman" panose="02020603050405020304" pitchFamily="18" charset="0"/>
            </a:endParaRPr>
          </a:p>
        </p:txBody>
      </p:sp>
      <p:sp>
        <p:nvSpPr>
          <p:cNvPr id="6" name="Rectangle: Rounded Corners 5">
            <a:extLst>
              <a:ext uri="{FF2B5EF4-FFF2-40B4-BE49-F238E27FC236}">
                <a16:creationId xmlns:a16="http://schemas.microsoft.com/office/drawing/2014/main" id="{52D59849-F888-9DBD-C5D2-139594F10287}"/>
              </a:ext>
            </a:extLst>
          </p:cNvPr>
          <p:cNvSpPr/>
          <p:nvPr/>
        </p:nvSpPr>
        <p:spPr>
          <a:xfrm>
            <a:off x="3200400" y="889791"/>
            <a:ext cx="5867400" cy="624840"/>
          </a:xfrm>
          <a:prstGeom prst="round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Main data</a:t>
            </a:r>
          </a:p>
        </p:txBody>
      </p:sp>
      <p:sp>
        <p:nvSpPr>
          <p:cNvPr id="7" name="Rectangle: Rounded Corners 6">
            <a:extLst>
              <a:ext uri="{FF2B5EF4-FFF2-40B4-BE49-F238E27FC236}">
                <a16:creationId xmlns:a16="http://schemas.microsoft.com/office/drawing/2014/main" id="{DE6EA683-8A0C-F1CA-1C16-B66C3C305701}"/>
              </a:ext>
            </a:extLst>
          </p:cNvPr>
          <p:cNvSpPr/>
          <p:nvPr/>
        </p:nvSpPr>
        <p:spPr>
          <a:xfrm>
            <a:off x="5067300" y="2804160"/>
            <a:ext cx="2057400" cy="624840"/>
          </a:xfrm>
          <a:prstGeom prst="round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Cleaned data</a:t>
            </a:r>
          </a:p>
        </p:txBody>
      </p:sp>
      <p:sp>
        <p:nvSpPr>
          <p:cNvPr id="8" name="Rectangle: Rounded Corners 7">
            <a:extLst>
              <a:ext uri="{FF2B5EF4-FFF2-40B4-BE49-F238E27FC236}">
                <a16:creationId xmlns:a16="http://schemas.microsoft.com/office/drawing/2014/main" id="{212A54F9-175E-D9A5-8539-F05172C7B4A5}"/>
              </a:ext>
            </a:extLst>
          </p:cNvPr>
          <p:cNvSpPr/>
          <p:nvPr/>
        </p:nvSpPr>
        <p:spPr>
          <a:xfrm>
            <a:off x="990600" y="4543334"/>
            <a:ext cx="2362200" cy="62484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1</a:t>
            </a:r>
          </a:p>
        </p:txBody>
      </p:sp>
      <p:sp>
        <p:nvSpPr>
          <p:cNvPr id="9" name="Rectangle: Rounded Corners 8">
            <a:extLst>
              <a:ext uri="{FF2B5EF4-FFF2-40B4-BE49-F238E27FC236}">
                <a16:creationId xmlns:a16="http://schemas.microsoft.com/office/drawing/2014/main" id="{E1C2F459-540F-0487-D2CA-C9DF006B5840}"/>
              </a:ext>
            </a:extLst>
          </p:cNvPr>
          <p:cNvSpPr/>
          <p:nvPr/>
        </p:nvSpPr>
        <p:spPr>
          <a:xfrm>
            <a:off x="4914900" y="4533799"/>
            <a:ext cx="2362200" cy="624840"/>
          </a:xfrm>
          <a:prstGeom prst="round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2</a:t>
            </a:r>
          </a:p>
        </p:txBody>
      </p:sp>
      <p:sp>
        <p:nvSpPr>
          <p:cNvPr id="10" name="Rectangle: Rounded Corners 9">
            <a:extLst>
              <a:ext uri="{FF2B5EF4-FFF2-40B4-BE49-F238E27FC236}">
                <a16:creationId xmlns:a16="http://schemas.microsoft.com/office/drawing/2014/main" id="{9559DECE-33EA-A1D4-FC08-9BDFCAFFA90D}"/>
              </a:ext>
            </a:extLst>
          </p:cNvPr>
          <p:cNvSpPr/>
          <p:nvPr/>
        </p:nvSpPr>
        <p:spPr>
          <a:xfrm>
            <a:off x="8460922" y="4543334"/>
            <a:ext cx="2362200" cy="624840"/>
          </a:xfrm>
          <a:prstGeom prst="round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3</a:t>
            </a:r>
          </a:p>
        </p:txBody>
      </p:sp>
      <p:sp>
        <p:nvSpPr>
          <p:cNvPr id="11" name="Rectangle: Rounded Corners 10">
            <a:extLst>
              <a:ext uri="{FF2B5EF4-FFF2-40B4-BE49-F238E27FC236}">
                <a16:creationId xmlns:a16="http://schemas.microsoft.com/office/drawing/2014/main" id="{A963CF5F-18A2-E269-1406-19E2513C6737}"/>
              </a:ext>
            </a:extLst>
          </p:cNvPr>
          <p:cNvSpPr/>
          <p:nvPr/>
        </p:nvSpPr>
        <p:spPr>
          <a:xfrm>
            <a:off x="8153400" y="2076566"/>
            <a:ext cx="2362200" cy="624840"/>
          </a:xfrm>
          <a:prstGeom prst="roundRect">
            <a:avLst/>
          </a:prstGeom>
          <a:solidFill>
            <a:srgbClr val="E1E12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Supplemental Data</a:t>
            </a:r>
          </a:p>
        </p:txBody>
      </p:sp>
      <p:cxnSp>
        <p:nvCxnSpPr>
          <p:cNvPr id="13" name="Straight Arrow Connector 12">
            <a:extLst>
              <a:ext uri="{FF2B5EF4-FFF2-40B4-BE49-F238E27FC236}">
                <a16:creationId xmlns:a16="http://schemas.microsoft.com/office/drawing/2014/main" id="{BF59749F-8A09-D170-5987-A7EF4F367951}"/>
              </a:ext>
            </a:extLst>
          </p:cNvPr>
          <p:cNvCxnSpPr>
            <a:cxnSpLocks/>
            <a:stCxn id="6" idx="2"/>
            <a:endCxn id="7" idx="0"/>
          </p:cNvCxnSpPr>
          <p:nvPr/>
        </p:nvCxnSpPr>
        <p:spPr>
          <a:xfrm flipH="1">
            <a:off x="6096000" y="1514631"/>
            <a:ext cx="38100" cy="1289529"/>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4" name="Straight Arrow Connector 13">
            <a:extLst>
              <a:ext uri="{FF2B5EF4-FFF2-40B4-BE49-F238E27FC236}">
                <a16:creationId xmlns:a16="http://schemas.microsoft.com/office/drawing/2014/main" id="{6C649DA1-F69B-6597-7B76-B465D66C0953}"/>
              </a:ext>
            </a:extLst>
          </p:cNvPr>
          <p:cNvCxnSpPr>
            <a:cxnSpLocks/>
            <a:stCxn id="11" idx="2"/>
            <a:endCxn id="7" idx="3"/>
          </p:cNvCxnSpPr>
          <p:nvPr/>
        </p:nvCxnSpPr>
        <p:spPr>
          <a:xfrm flipH="1">
            <a:off x="7124700" y="2701406"/>
            <a:ext cx="2209800" cy="41517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 name="Straight Arrow Connector 16">
            <a:extLst>
              <a:ext uri="{FF2B5EF4-FFF2-40B4-BE49-F238E27FC236}">
                <a16:creationId xmlns:a16="http://schemas.microsoft.com/office/drawing/2014/main" id="{98ECAD19-0FB3-D2BD-E512-25E4492BF75F}"/>
              </a:ext>
            </a:extLst>
          </p:cNvPr>
          <p:cNvCxnSpPr>
            <a:cxnSpLocks/>
            <a:stCxn id="7" idx="2"/>
            <a:endCxn id="10" idx="0"/>
          </p:cNvCxnSpPr>
          <p:nvPr/>
        </p:nvCxnSpPr>
        <p:spPr>
          <a:xfrm>
            <a:off x="6096000" y="3429000"/>
            <a:ext cx="3546022" cy="111433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 name="Straight Arrow Connector 17">
            <a:extLst>
              <a:ext uri="{FF2B5EF4-FFF2-40B4-BE49-F238E27FC236}">
                <a16:creationId xmlns:a16="http://schemas.microsoft.com/office/drawing/2014/main" id="{54E8B037-6413-4F07-28A0-54C12A92E389}"/>
              </a:ext>
            </a:extLst>
          </p:cNvPr>
          <p:cNvCxnSpPr>
            <a:cxnSpLocks/>
            <a:stCxn id="7" idx="2"/>
            <a:endCxn id="9" idx="0"/>
          </p:cNvCxnSpPr>
          <p:nvPr/>
        </p:nvCxnSpPr>
        <p:spPr>
          <a:xfrm>
            <a:off x="6096000" y="3429000"/>
            <a:ext cx="0" cy="1104799"/>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9" name="Straight Arrow Connector 18">
            <a:extLst>
              <a:ext uri="{FF2B5EF4-FFF2-40B4-BE49-F238E27FC236}">
                <a16:creationId xmlns:a16="http://schemas.microsoft.com/office/drawing/2014/main" id="{2FA90A44-5FDE-8D6D-6763-75CB89B37261}"/>
              </a:ext>
            </a:extLst>
          </p:cNvPr>
          <p:cNvCxnSpPr>
            <a:cxnSpLocks/>
            <a:stCxn id="7" idx="2"/>
            <a:endCxn id="8" idx="0"/>
          </p:cNvCxnSpPr>
          <p:nvPr/>
        </p:nvCxnSpPr>
        <p:spPr>
          <a:xfrm flipH="1">
            <a:off x="2171700" y="3429000"/>
            <a:ext cx="3924300" cy="111433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47" name="Rectangle: Rounded Corners 46">
            <a:extLst>
              <a:ext uri="{FF2B5EF4-FFF2-40B4-BE49-F238E27FC236}">
                <a16:creationId xmlns:a16="http://schemas.microsoft.com/office/drawing/2014/main" id="{C876C33F-8236-0C0A-8231-E56C08712C40}"/>
              </a:ext>
            </a:extLst>
          </p:cNvPr>
          <p:cNvSpPr/>
          <p:nvPr/>
        </p:nvSpPr>
        <p:spPr>
          <a:xfrm>
            <a:off x="3200400" y="5834775"/>
            <a:ext cx="5867400" cy="624840"/>
          </a:xfrm>
          <a:prstGeom prst="roundRect">
            <a:avLst/>
          </a:prstGeom>
          <a:solidFill>
            <a:schemeClr val="accent5">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Paper!</a:t>
            </a:r>
          </a:p>
        </p:txBody>
      </p:sp>
      <p:cxnSp>
        <p:nvCxnSpPr>
          <p:cNvPr id="48" name="Straight Arrow Connector 47">
            <a:extLst>
              <a:ext uri="{FF2B5EF4-FFF2-40B4-BE49-F238E27FC236}">
                <a16:creationId xmlns:a16="http://schemas.microsoft.com/office/drawing/2014/main" id="{825838E2-661D-8687-20AB-48F19539D429}"/>
              </a:ext>
            </a:extLst>
          </p:cNvPr>
          <p:cNvCxnSpPr>
            <a:cxnSpLocks/>
            <a:stCxn id="8" idx="2"/>
            <a:endCxn id="47" idx="0"/>
          </p:cNvCxnSpPr>
          <p:nvPr/>
        </p:nvCxnSpPr>
        <p:spPr>
          <a:xfrm>
            <a:off x="2171700" y="5168174"/>
            <a:ext cx="3962400" cy="666601"/>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51" name="Straight Arrow Connector 50">
            <a:extLst>
              <a:ext uri="{FF2B5EF4-FFF2-40B4-BE49-F238E27FC236}">
                <a16:creationId xmlns:a16="http://schemas.microsoft.com/office/drawing/2014/main" id="{583A0741-7542-E51C-546D-515F0817A879}"/>
              </a:ext>
            </a:extLst>
          </p:cNvPr>
          <p:cNvCxnSpPr>
            <a:cxnSpLocks/>
            <a:stCxn id="10" idx="2"/>
            <a:endCxn id="47" idx="0"/>
          </p:cNvCxnSpPr>
          <p:nvPr/>
        </p:nvCxnSpPr>
        <p:spPr>
          <a:xfrm flipH="1">
            <a:off x="6134100" y="5168174"/>
            <a:ext cx="3507922" cy="666601"/>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52" name="Straight Arrow Connector 51">
            <a:extLst>
              <a:ext uri="{FF2B5EF4-FFF2-40B4-BE49-F238E27FC236}">
                <a16:creationId xmlns:a16="http://schemas.microsoft.com/office/drawing/2014/main" id="{032F4840-9D49-7C62-9F99-48FFF5EC77FD}"/>
              </a:ext>
            </a:extLst>
          </p:cNvPr>
          <p:cNvCxnSpPr>
            <a:cxnSpLocks/>
            <a:stCxn id="9" idx="2"/>
            <a:endCxn id="47" idx="0"/>
          </p:cNvCxnSpPr>
          <p:nvPr/>
        </p:nvCxnSpPr>
        <p:spPr>
          <a:xfrm>
            <a:off x="6096000" y="5158639"/>
            <a:ext cx="38100" cy="676136"/>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3" name="TextBox 2">
            <a:extLst>
              <a:ext uri="{FF2B5EF4-FFF2-40B4-BE49-F238E27FC236}">
                <a16:creationId xmlns:a16="http://schemas.microsoft.com/office/drawing/2014/main" id="{BD788437-5EA5-2CC0-8B56-6EADDF011479}"/>
              </a:ext>
            </a:extLst>
          </p:cNvPr>
          <p:cNvSpPr txBox="1"/>
          <p:nvPr/>
        </p:nvSpPr>
        <p:spPr>
          <a:xfrm>
            <a:off x="6324600" y="1636476"/>
            <a:ext cx="3657600" cy="523220"/>
          </a:xfrm>
          <a:prstGeom prst="rect">
            <a:avLst/>
          </a:prstGeom>
        </p:spPr>
        <p:style>
          <a:lnRef idx="0">
            <a:schemeClr val="accent4"/>
          </a:lnRef>
          <a:fillRef idx="3">
            <a:schemeClr val="accent4"/>
          </a:fillRef>
          <a:effectRef idx="3">
            <a:schemeClr val="accent4"/>
          </a:effectRef>
          <a:fontRef idx="minor">
            <a:schemeClr val="lt1"/>
          </a:fontRef>
        </p:style>
        <p:txBody>
          <a:bodyPr wrap="square" rtlCol="0">
            <a:spAutoFit/>
          </a:bodyPr>
          <a:lstStyle/>
          <a:p>
            <a:pPr algn="ctr"/>
            <a:r>
              <a:rPr lang="en-US" sz="2800" dirty="0"/>
              <a:t>2. Data merging</a:t>
            </a:r>
          </a:p>
        </p:txBody>
      </p:sp>
      <p:pic>
        <p:nvPicPr>
          <p:cNvPr id="4" name="Picture 2" descr="RStudio - RStudio">
            <a:extLst>
              <a:ext uri="{FF2B5EF4-FFF2-40B4-BE49-F238E27FC236}">
                <a16:creationId xmlns:a16="http://schemas.microsoft.com/office/drawing/2014/main" id="{8FC038B8-F5B2-D819-118E-76DA808D1AC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677400" y="5257800"/>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435688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Flow of a Research Project</a:t>
            </a:r>
            <a:endParaRPr lang="en-US" sz="3600" dirty="0">
              <a:latin typeface="Times New Roman" panose="02020603050405020304" pitchFamily="18" charset="0"/>
              <a:cs typeface="Times New Roman" panose="02020603050405020304" pitchFamily="18" charset="0"/>
            </a:endParaRPr>
          </a:p>
        </p:txBody>
      </p:sp>
      <p:sp>
        <p:nvSpPr>
          <p:cNvPr id="6" name="Rectangle: Rounded Corners 5">
            <a:extLst>
              <a:ext uri="{FF2B5EF4-FFF2-40B4-BE49-F238E27FC236}">
                <a16:creationId xmlns:a16="http://schemas.microsoft.com/office/drawing/2014/main" id="{52D59849-F888-9DBD-C5D2-139594F10287}"/>
              </a:ext>
            </a:extLst>
          </p:cNvPr>
          <p:cNvSpPr/>
          <p:nvPr/>
        </p:nvSpPr>
        <p:spPr>
          <a:xfrm>
            <a:off x="3200400" y="889791"/>
            <a:ext cx="5867400" cy="624840"/>
          </a:xfrm>
          <a:prstGeom prst="round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Main data</a:t>
            </a:r>
          </a:p>
        </p:txBody>
      </p:sp>
      <p:sp>
        <p:nvSpPr>
          <p:cNvPr id="7" name="Rectangle: Rounded Corners 6">
            <a:extLst>
              <a:ext uri="{FF2B5EF4-FFF2-40B4-BE49-F238E27FC236}">
                <a16:creationId xmlns:a16="http://schemas.microsoft.com/office/drawing/2014/main" id="{DE6EA683-8A0C-F1CA-1C16-B66C3C305701}"/>
              </a:ext>
            </a:extLst>
          </p:cNvPr>
          <p:cNvSpPr/>
          <p:nvPr/>
        </p:nvSpPr>
        <p:spPr>
          <a:xfrm>
            <a:off x="5067300" y="2804160"/>
            <a:ext cx="2057400" cy="624840"/>
          </a:xfrm>
          <a:prstGeom prst="round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Cleaned data</a:t>
            </a:r>
          </a:p>
        </p:txBody>
      </p:sp>
      <p:sp>
        <p:nvSpPr>
          <p:cNvPr id="8" name="Rectangle: Rounded Corners 7">
            <a:extLst>
              <a:ext uri="{FF2B5EF4-FFF2-40B4-BE49-F238E27FC236}">
                <a16:creationId xmlns:a16="http://schemas.microsoft.com/office/drawing/2014/main" id="{212A54F9-175E-D9A5-8539-F05172C7B4A5}"/>
              </a:ext>
            </a:extLst>
          </p:cNvPr>
          <p:cNvSpPr/>
          <p:nvPr/>
        </p:nvSpPr>
        <p:spPr>
          <a:xfrm>
            <a:off x="990600" y="4543334"/>
            <a:ext cx="2362200" cy="62484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1</a:t>
            </a:r>
          </a:p>
        </p:txBody>
      </p:sp>
      <p:sp>
        <p:nvSpPr>
          <p:cNvPr id="9" name="Rectangle: Rounded Corners 8">
            <a:extLst>
              <a:ext uri="{FF2B5EF4-FFF2-40B4-BE49-F238E27FC236}">
                <a16:creationId xmlns:a16="http://schemas.microsoft.com/office/drawing/2014/main" id="{E1C2F459-540F-0487-D2CA-C9DF006B5840}"/>
              </a:ext>
            </a:extLst>
          </p:cNvPr>
          <p:cNvSpPr/>
          <p:nvPr/>
        </p:nvSpPr>
        <p:spPr>
          <a:xfrm>
            <a:off x="4914900" y="4533799"/>
            <a:ext cx="2362200" cy="624840"/>
          </a:xfrm>
          <a:prstGeom prst="round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2</a:t>
            </a:r>
          </a:p>
        </p:txBody>
      </p:sp>
      <p:sp>
        <p:nvSpPr>
          <p:cNvPr id="10" name="Rectangle: Rounded Corners 9">
            <a:extLst>
              <a:ext uri="{FF2B5EF4-FFF2-40B4-BE49-F238E27FC236}">
                <a16:creationId xmlns:a16="http://schemas.microsoft.com/office/drawing/2014/main" id="{9559DECE-33EA-A1D4-FC08-9BDFCAFFA90D}"/>
              </a:ext>
            </a:extLst>
          </p:cNvPr>
          <p:cNvSpPr/>
          <p:nvPr/>
        </p:nvSpPr>
        <p:spPr>
          <a:xfrm>
            <a:off x="8460922" y="4543334"/>
            <a:ext cx="2362200" cy="624840"/>
          </a:xfrm>
          <a:prstGeom prst="round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3</a:t>
            </a:r>
          </a:p>
        </p:txBody>
      </p:sp>
      <p:sp>
        <p:nvSpPr>
          <p:cNvPr id="11" name="Rectangle: Rounded Corners 10">
            <a:extLst>
              <a:ext uri="{FF2B5EF4-FFF2-40B4-BE49-F238E27FC236}">
                <a16:creationId xmlns:a16="http://schemas.microsoft.com/office/drawing/2014/main" id="{A963CF5F-18A2-E269-1406-19E2513C6737}"/>
              </a:ext>
            </a:extLst>
          </p:cNvPr>
          <p:cNvSpPr/>
          <p:nvPr/>
        </p:nvSpPr>
        <p:spPr>
          <a:xfrm>
            <a:off x="8153400" y="2076566"/>
            <a:ext cx="2362200" cy="624840"/>
          </a:xfrm>
          <a:prstGeom prst="roundRect">
            <a:avLst/>
          </a:prstGeom>
          <a:solidFill>
            <a:srgbClr val="E1E12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Supplemental Data</a:t>
            </a:r>
          </a:p>
        </p:txBody>
      </p:sp>
      <p:cxnSp>
        <p:nvCxnSpPr>
          <p:cNvPr id="13" name="Straight Arrow Connector 12">
            <a:extLst>
              <a:ext uri="{FF2B5EF4-FFF2-40B4-BE49-F238E27FC236}">
                <a16:creationId xmlns:a16="http://schemas.microsoft.com/office/drawing/2014/main" id="{BF59749F-8A09-D170-5987-A7EF4F367951}"/>
              </a:ext>
            </a:extLst>
          </p:cNvPr>
          <p:cNvCxnSpPr>
            <a:cxnSpLocks/>
            <a:stCxn id="6" idx="2"/>
            <a:endCxn id="7" idx="0"/>
          </p:cNvCxnSpPr>
          <p:nvPr/>
        </p:nvCxnSpPr>
        <p:spPr>
          <a:xfrm flipH="1">
            <a:off x="6096000" y="1514631"/>
            <a:ext cx="38100" cy="1289529"/>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4" name="Straight Arrow Connector 13">
            <a:extLst>
              <a:ext uri="{FF2B5EF4-FFF2-40B4-BE49-F238E27FC236}">
                <a16:creationId xmlns:a16="http://schemas.microsoft.com/office/drawing/2014/main" id="{6C649DA1-F69B-6597-7B76-B465D66C0953}"/>
              </a:ext>
            </a:extLst>
          </p:cNvPr>
          <p:cNvCxnSpPr>
            <a:cxnSpLocks/>
            <a:stCxn id="11" idx="2"/>
            <a:endCxn id="7" idx="3"/>
          </p:cNvCxnSpPr>
          <p:nvPr/>
        </p:nvCxnSpPr>
        <p:spPr>
          <a:xfrm flipH="1">
            <a:off x="7124700" y="2701406"/>
            <a:ext cx="2209800" cy="41517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 name="Straight Arrow Connector 16">
            <a:extLst>
              <a:ext uri="{FF2B5EF4-FFF2-40B4-BE49-F238E27FC236}">
                <a16:creationId xmlns:a16="http://schemas.microsoft.com/office/drawing/2014/main" id="{98ECAD19-0FB3-D2BD-E512-25E4492BF75F}"/>
              </a:ext>
            </a:extLst>
          </p:cNvPr>
          <p:cNvCxnSpPr>
            <a:cxnSpLocks/>
            <a:stCxn id="7" idx="2"/>
            <a:endCxn id="10" idx="0"/>
          </p:cNvCxnSpPr>
          <p:nvPr/>
        </p:nvCxnSpPr>
        <p:spPr>
          <a:xfrm>
            <a:off x="6096000" y="3429000"/>
            <a:ext cx="3546022" cy="111433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 name="Straight Arrow Connector 17">
            <a:extLst>
              <a:ext uri="{FF2B5EF4-FFF2-40B4-BE49-F238E27FC236}">
                <a16:creationId xmlns:a16="http://schemas.microsoft.com/office/drawing/2014/main" id="{54E8B037-6413-4F07-28A0-54C12A92E389}"/>
              </a:ext>
            </a:extLst>
          </p:cNvPr>
          <p:cNvCxnSpPr>
            <a:cxnSpLocks/>
            <a:stCxn id="7" idx="2"/>
            <a:endCxn id="9" idx="0"/>
          </p:cNvCxnSpPr>
          <p:nvPr/>
        </p:nvCxnSpPr>
        <p:spPr>
          <a:xfrm>
            <a:off x="6096000" y="3429000"/>
            <a:ext cx="0" cy="1104799"/>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9" name="Straight Arrow Connector 18">
            <a:extLst>
              <a:ext uri="{FF2B5EF4-FFF2-40B4-BE49-F238E27FC236}">
                <a16:creationId xmlns:a16="http://schemas.microsoft.com/office/drawing/2014/main" id="{2FA90A44-5FDE-8D6D-6763-75CB89B37261}"/>
              </a:ext>
            </a:extLst>
          </p:cNvPr>
          <p:cNvCxnSpPr>
            <a:cxnSpLocks/>
            <a:stCxn id="7" idx="2"/>
            <a:endCxn id="8" idx="0"/>
          </p:cNvCxnSpPr>
          <p:nvPr/>
        </p:nvCxnSpPr>
        <p:spPr>
          <a:xfrm flipH="1">
            <a:off x="2171700" y="3429000"/>
            <a:ext cx="3924300" cy="111433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47" name="Rectangle: Rounded Corners 46">
            <a:extLst>
              <a:ext uri="{FF2B5EF4-FFF2-40B4-BE49-F238E27FC236}">
                <a16:creationId xmlns:a16="http://schemas.microsoft.com/office/drawing/2014/main" id="{C876C33F-8236-0C0A-8231-E56C08712C40}"/>
              </a:ext>
            </a:extLst>
          </p:cNvPr>
          <p:cNvSpPr/>
          <p:nvPr/>
        </p:nvSpPr>
        <p:spPr>
          <a:xfrm>
            <a:off x="3200400" y="5834775"/>
            <a:ext cx="5867400" cy="624840"/>
          </a:xfrm>
          <a:prstGeom prst="roundRect">
            <a:avLst/>
          </a:prstGeom>
          <a:solidFill>
            <a:schemeClr val="accent5">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Paper!</a:t>
            </a:r>
          </a:p>
        </p:txBody>
      </p:sp>
      <p:cxnSp>
        <p:nvCxnSpPr>
          <p:cNvPr id="48" name="Straight Arrow Connector 47">
            <a:extLst>
              <a:ext uri="{FF2B5EF4-FFF2-40B4-BE49-F238E27FC236}">
                <a16:creationId xmlns:a16="http://schemas.microsoft.com/office/drawing/2014/main" id="{825838E2-661D-8687-20AB-48F19539D429}"/>
              </a:ext>
            </a:extLst>
          </p:cNvPr>
          <p:cNvCxnSpPr>
            <a:cxnSpLocks/>
            <a:stCxn id="8" idx="2"/>
            <a:endCxn id="47" idx="0"/>
          </p:cNvCxnSpPr>
          <p:nvPr/>
        </p:nvCxnSpPr>
        <p:spPr>
          <a:xfrm>
            <a:off x="2171700" y="5168174"/>
            <a:ext cx="3962400" cy="666601"/>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51" name="Straight Arrow Connector 50">
            <a:extLst>
              <a:ext uri="{FF2B5EF4-FFF2-40B4-BE49-F238E27FC236}">
                <a16:creationId xmlns:a16="http://schemas.microsoft.com/office/drawing/2014/main" id="{583A0741-7542-E51C-546D-515F0817A879}"/>
              </a:ext>
            </a:extLst>
          </p:cNvPr>
          <p:cNvCxnSpPr>
            <a:cxnSpLocks/>
            <a:stCxn id="10" idx="2"/>
            <a:endCxn id="47" idx="0"/>
          </p:cNvCxnSpPr>
          <p:nvPr/>
        </p:nvCxnSpPr>
        <p:spPr>
          <a:xfrm flipH="1">
            <a:off x="6134100" y="5168174"/>
            <a:ext cx="3507922" cy="666601"/>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52" name="Straight Arrow Connector 51">
            <a:extLst>
              <a:ext uri="{FF2B5EF4-FFF2-40B4-BE49-F238E27FC236}">
                <a16:creationId xmlns:a16="http://schemas.microsoft.com/office/drawing/2014/main" id="{032F4840-9D49-7C62-9F99-48FFF5EC77FD}"/>
              </a:ext>
            </a:extLst>
          </p:cNvPr>
          <p:cNvCxnSpPr>
            <a:cxnSpLocks/>
            <a:stCxn id="9" idx="2"/>
            <a:endCxn id="47" idx="0"/>
          </p:cNvCxnSpPr>
          <p:nvPr/>
        </p:nvCxnSpPr>
        <p:spPr>
          <a:xfrm>
            <a:off x="6096000" y="5158639"/>
            <a:ext cx="38100" cy="676136"/>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3" name="TextBox 2">
            <a:extLst>
              <a:ext uri="{FF2B5EF4-FFF2-40B4-BE49-F238E27FC236}">
                <a16:creationId xmlns:a16="http://schemas.microsoft.com/office/drawing/2014/main" id="{BD788437-5EA5-2CC0-8B56-6EADDF011479}"/>
              </a:ext>
            </a:extLst>
          </p:cNvPr>
          <p:cNvSpPr txBox="1"/>
          <p:nvPr/>
        </p:nvSpPr>
        <p:spPr>
          <a:xfrm>
            <a:off x="4495800" y="3626571"/>
            <a:ext cx="3657600" cy="523220"/>
          </a:xfrm>
          <a:prstGeom prst="rect">
            <a:avLst/>
          </a:prstGeom>
        </p:spPr>
        <p:style>
          <a:lnRef idx="0">
            <a:schemeClr val="accent4"/>
          </a:lnRef>
          <a:fillRef idx="3">
            <a:schemeClr val="accent4"/>
          </a:fillRef>
          <a:effectRef idx="3">
            <a:schemeClr val="accent4"/>
          </a:effectRef>
          <a:fontRef idx="minor">
            <a:schemeClr val="lt1"/>
          </a:fontRef>
        </p:style>
        <p:txBody>
          <a:bodyPr wrap="square" rtlCol="0">
            <a:spAutoFit/>
          </a:bodyPr>
          <a:lstStyle/>
          <a:p>
            <a:pPr algn="ctr"/>
            <a:r>
              <a:rPr lang="en-US" sz="2800" dirty="0"/>
              <a:t>3. Cohort Creation</a:t>
            </a:r>
          </a:p>
        </p:txBody>
      </p:sp>
      <p:pic>
        <p:nvPicPr>
          <p:cNvPr id="5" name="Picture 2" descr="RStudio - RStudio">
            <a:extLst>
              <a:ext uri="{FF2B5EF4-FFF2-40B4-BE49-F238E27FC236}">
                <a16:creationId xmlns:a16="http://schemas.microsoft.com/office/drawing/2014/main" id="{29CDD487-4295-F34F-127A-DAE6D7636C8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677400" y="5257800"/>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0764321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601200" cy="624840"/>
          </a:xfrm>
        </p:spPr>
        <p:txBody>
          <a:bodyPr>
            <a:normAutofit fontScale="90000"/>
          </a:bodyPr>
          <a:lstStyle/>
          <a:p>
            <a:r>
              <a:rPr lang="en-US" dirty="0">
                <a:latin typeface="Times New Roman" panose="02020603050405020304" pitchFamily="18" charset="0"/>
                <a:cs typeface="Times New Roman" panose="02020603050405020304" pitchFamily="18" charset="0"/>
              </a:rPr>
              <a:t>Prelude: Some Coding Organization</a:t>
            </a:r>
          </a:p>
        </p:txBody>
      </p:sp>
      <p:sp>
        <p:nvSpPr>
          <p:cNvPr id="3" name="Content Placeholder 2"/>
          <p:cNvSpPr>
            <a:spLocks noGrp="1"/>
          </p:cNvSpPr>
          <p:nvPr>
            <p:ph idx="1"/>
          </p:nvPr>
        </p:nvSpPr>
        <p:spPr>
          <a:xfrm>
            <a:off x="1219200" y="1066801"/>
            <a:ext cx="8520684" cy="5141388"/>
          </a:xfrm>
        </p:spPr>
        <p:txBody>
          <a:bodyPr>
            <a:noAutofit/>
          </a:bodyPr>
          <a:lstStyle/>
          <a:p>
            <a:r>
              <a:rPr lang="en-US" sz="2200" dirty="0">
                <a:latin typeface="Times New Roman" panose="02020603050405020304" pitchFamily="18" charset="0"/>
                <a:cs typeface="Times New Roman" panose="02020603050405020304" pitchFamily="18" charset="0"/>
              </a:rPr>
              <a:t>Project file structure</a:t>
            </a:r>
          </a:p>
          <a:p>
            <a:endParaRPr lang="en-US" sz="2200" dirty="0">
              <a:cs typeface="Times New Roman" panose="02020603050405020304" pitchFamily="18" charset="0"/>
            </a:endParaRPr>
          </a:p>
          <a:p>
            <a:endParaRPr lang="en-US" sz="2200" dirty="0">
              <a:latin typeface="Times New Roman" panose="02020603050405020304" pitchFamily="18" charset="0"/>
              <a:cs typeface="Times New Roman" panose="02020603050405020304" pitchFamily="18" charset="0"/>
            </a:endParaRPr>
          </a:p>
          <a:p>
            <a:endParaRPr lang="en-US" sz="2200" dirty="0">
              <a:latin typeface="Times New Roman" panose="02020603050405020304" pitchFamily="18" charset="0"/>
              <a:cs typeface="Times New Roman" panose="02020603050405020304" pitchFamily="18" charset="0"/>
            </a:endParaRPr>
          </a:p>
          <a:p>
            <a:endParaRPr lang="en-US" sz="2200" dirty="0">
              <a:cs typeface="Times New Roman" panose="02020603050405020304" pitchFamily="18" charset="0"/>
            </a:endParaRPr>
          </a:p>
          <a:p>
            <a:endParaRPr lang="en-US" sz="2200" dirty="0">
              <a:latin typeface="Times New Roman" panose="02020603050405020304" pitchFamily="18" charset="0"/>
              <a:cs typeface="Times New Roman" panose="02020603050405020304" pitchFamily="18" charset="0"/>
            </a:endParaRPr>
          </a:p>
          <a:p>
            <a:pPr marL="0" indent="0">
              <a:buNone/>
            </a:pPr>
            <a:endParaRPr lang="en-US" sz="2200" dirty="0">
              <a:cs typeface="Times New Roman" panose="02020603050405020304" pitchFamily="18" charset="0"/>
            </a:endParaRPr>
          </a:p>
          <a:p>
            <a:pPr marL="0" indent="0">
              <a:buNone/>
            </a:pPr>
            <a:endParaRPr lang="en-US" sz="900" dirty="0">
              <a:latin typeface="Times New Roman" panose="02020603050405020304" pitchFamily="18" charset="0"/>
              <a:cs typeface="Times New Roman" panose="02020603050405020304" pitchFamily="18" charset="0"/>
            </a:endParaRPr>
          </a:p>
          <a:p>
            <a:r>
              <a:rPr lang="en-US" sz="2200" dirty="0">
                <a:latin typeface="Times New Roman" panose="02020603050405020304" pitchFamily="18" charset="0"/>
                <a:cs typeface="Times New Roman" panose="02020603050405020304" pitchFamily="18" charset="0"/>
              </a:rPr>
              <a:t>File template</a:t>
            </a:r>
          </a:p>
          <a:p>
            <a:pPr lvl="1"/>
            <a:r>
              <a:rPr lang="en-US" sz="2200" dirty="0">
                <a:cs typeface="Times New Roman" panose="02020603050405020304" pitchFamily="18" charset="0"/>
              </a:rPr>
              <a:t>Headers</a:t>
            </a:r>
          </a:p>
          <a:p>
            <a:pPr lvl="1"/>
            <a:r>
              <a:rPr lang="en-US" sz="2200" dirty="0">
                <a:latin typeface="Times New Roman" panose="02020603050405020304" pitchFamily="18" charset="0"/>
                <a:cs typeface="Times New Roman" panose="02020603050405020304" pitchFamily="18" charset="0"/>
              </a:rPr>
              <a:t>Comment, comment, comment! </a:t>
            </a:r>
          </a:p>
        </p:txBody>
      </p:sp>
      <p:pic>
        <p:nvPicPr>
          <p:cNvPr id="5" name="Picture 4">
            <a:extLst>
              <a:ext uri="{FF2B5EF4-FFF2-40B4-BE49-F238E27FC236}">
                <a16:creationId xmlns:a16="http://schemas.microsoft.com/office/drawing/2014/main" id="{861E4066-6E02-48CA-8A39-B2151A67AA50}"/>
              </a:ext>
            </a:extLst>
          </p:cNvPr>
          <p:cNvPicPr>
            <a:picLocks noChangeAspect="1"/>
          </p:cNvPicPr>
          <p:nvPr/>
        </p:nvPicPr>
        <p:blipFill rotWithShape="1">
          <a:blip r:embed="rId3"/>
          <a:srcRect l="3008"/>
          <a:stretch/>
        </p:blipFill>
        <p:spPr>
          <a:xfrm>
            <a:off x="1295400" y="1524000"/>
            <a:ext cx="7985918" cy="3124200"/>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Flow of a Research Project</a:t>
            </a:r>
            <a:endParaRPr lang="en-US" sz="3600" dirty="0">
              <a:latin typeface="Times New Roman" panose="02020603050405020304" pitchFamily="18" charset="0"/>
              <a:cs typeface="Times New Roman" panose="02020603050405020304" pitchFamily="18" charset="0"/>
            </a:endParaRPr>
          </a:p>
        </p:txBody>
      </p:sp>
      <p:sp>
        <p:nvSpPr>
          <p:cNvPr id="6" name="Rectangle: Rounded Corners 5">
            <a:extLst>
              <a:ext uri="{FF2B5EF4-FFF2-40B4-BE49-F238E27FC236}">
                <a16:creationId xmlns:a16="http://schemas.microsoft.com/office/drawing/2014/main" id="{52D59849-F888-9DBD-C5D2-139594F10287}"/>
              </a:ext>
            </a:extLst>
          </p:cNvPr>
          <p:cNvSpPr/>
          <p:nvPr/>
        </p:nvSpPr>
        <p:spPr>
          <a:xfrm>
            <a:off x="3200400" y="889791"/>
            <a:ext cx="5867400" cy="624840"/>
          </a:xfrm>
          <a:prstGeom prst="round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Main data</a:t>
            </a:r>
          </a:p>
        </p:txBody>
      </p:sp>
      <p:sp>
        <p:nvSpPr>
          <p:cNvPr id="7" name="Rectangle: Rounded Corners 6">
            <a:extLst>
              <a:ext uri="{FF2B5EF4-FFF2-40B4-BE49-F238E27FC236}">
                <a16:creationId xmlns:a16="http://schemas.microsoft.com/office/drawing/2014/main" id="{DE6EA683-8A0C-F1CA-1C16-B66C3C305701}"/>
              </a:ext>
            </a:extLst>
          </p:cNvPr>
          <p:cNvSpPr/>
          <p:nvPr/>
        </p:nvSpPr>
        <p:spPr>
          <a:xfrm>
            <a:off x="5067300" y="2804160"/>
            <a:ext cx="2057400" cy="624840"/>
          </a:xfrm>
          <a:prstGeom prst="round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Cleaned data</a:t>
            </a:r>
          </a:p>
        </p:txBody>
      </p:sp>
      <p:sp>
        <p:nvSpPr>
          <p:cNvPr id="8" name="Rectangle: Rounded Corners 7">
            <a:extLst>
              <a:ext uri="{FF2B5EF4-FFF2-40B4-BE49-F238E27FC236}">
                <a16:creationId xmlns:a16="http://schemas.microsoft.com/office/drawing/2014/main" id="{212A54F9-175E-D9A5-8539-F05172C7B4A5}"/>
              </a:ext>
            </a:extLst>
          </p:cNvPr>
          <p:cNvSpPr/>
          <p:nvPr/>
        </p:nvSpPr>
        <p:spPr>
          <a:xfrm>
            <a:off x="990600" y="4543334"/>
            <a:ext cx="2362200" cy="624840"/>
          </a:xfrm>
          <a:prstGeom prst="roundRect">
            <a:avLst/>
          </a:pr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1</a:t>
            </a:r>
          </a:p>
        </p:txBody>
      </p:sp>
      <p:sp>
        <p:nvSpPr>
          <p:cNvPr id="9" name="Rectangle: Rounded Corners 8">
            <a:extLst>
              <a:ext uri="{FF2B5EF4-FFF2-40B4-BE49-F238E27FC236}">
                <a16:creationId xmlns:a16="http://schemas.microsoft.com/office/drawing/2014/main" id="{E1C2F459-540F-0487-D2CA-C9DF006B5840}"/>
              </a:ext>
            </a:extLst>
          </p:cNvPr>
          <p:cNvSpPr/>
          <p:nvPr/>
        </p:nvSpPr>
        <p:spPr>
          <a:xfrm>
            <a:off x="4914900" y="4533799"/>
            <a:ext cx="2362200" cy="624840"/>
          </a:xfrm>
          <a:prstGeom prst="round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2</a:t>
            </a:r>
          </a:p>
        </p:txBody>
      </p:sp>
      <p:sp>
        <p:nvSpPr>
          <p:cNvPr id="10" name="Rectangle: Rounded Corners 9">
            <a:extLst>
              <a:ext uri="{FF2B5EF4-FFF2-40B4-BE49-F238E27FC236}">
                <a16:creationId xmlns:a16="http://schemas.microsoft.com/office/drawing/2014/main" id="{9559DECE-33EA-A1D4-FC08-9BDFCAFFA90D}"/>
              </a:ext>
            </a:extLst>
          </p:cNvPr>
          <p:cNvSpPr/>
          <p:nvPr/>
        </p:nvSpPr>
        <p:spPr>
          <a:xfrm>
            <a:off x="8460922" y="4543334"/>
            <a:ext cx="2362200" cy="624840"/>
          </a:xfrm>
          <a:prstGeom prst="round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Analytic Cohort 3</a:t>
            </a:r>
          </a:p>
        </p:txBody>
      </p:sp>
      <p:sp>
        <p:nvSpPr>
          <p:cNvPr id="11" name="Rectangle: Rounded Corners 10">
            <a:extLst>
              <a:ext uri="{FF2B5EF4-FFF2-40B4-BE49-F238E27FC236}">
                <a16:creationId xmlns:a16="http://schemas.microsoft.com/office/drawing/2014/main" id="{A963CF5F-18A2-E269-1406-19E2513C6737}"/>
              </a:ext>
            </a:extLst>
          </p:cNvPr>
          <p:cNvSpPr/>
          <p:nvPr/>
        </p:nvSpPr>
        <p:spPr>
          <a:xfrm>
            <a:off x="8153400" y="2076566"/>
            <a:ext cx="2362200" cy="624840"/>
          </a:xfrm>
          <a:prstGeom prst="roundRect">
            <a:avLst/>
          </a:prstGeom>
          <a:solidFill>
            <a:srgbClr val="E1E12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Supplemental Data</a:t>
            </a:r>
          </a:p>
        </p:txBody>
      </p:sp>
      <p:cxnSp>
        <p:nvCxnSpPr>
          <p:cNvPr id="13" name="Straight Arrow Connector 12">
            <a:extLst>
              <a:ext uri="{FF2B5EF4-FFF2-40B4-BE49-F238E27FC236}">
                <a16:creationId xmlns:a16="http://schemas.microsoft.com/office/drawing/2014/main" id="{BF59749F-8A09-D170-5987-A7EF4F367951}"/>
              </a:ext>
            </a:extLst>
          </p:cNvPr>
          <p:cNvCxnSpPr>
            <a:cxnSpLocks/>
            <a:stCxn id="6" idx="2"/>
            <a:endCxn id="7" idx="0"/>
          </p:cNvCxnSpPr>
          <p:nvPr/>
        </p:nvCxnSpPr>
        <p:spPr>
          <a:xfrm flipH="1">
            <a:off x="6096000" y="1514631"/>
            <a:ext cx="38100" cy="1289529"/>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4" name="Straight Arrow Connector 13">
            <a:extLst>
              <a:ext uri="{FF2B5EF4-FFF2-40B4-BE49-F238E27FC236}">
                <a16:creationId xmlns:a16="http://schemas.microsoft.com/office/drawing/2014/main" id="{6C649DA1-F69B-6597-7B76-B465D66C0953}"/>
              </a:ext>
            </a:extLst>
          </p:cNvPr>
          <p:cNvCxnSpPr>
            <a:cxnSpLocks/>
            <a:stCxn id="11" idx="2"/>
            <a:endCxn id="7" idx="3"/>
          </p:cNvCxnSpPr>
          <p:nvPr/>
        </p:nvCxnSpPr>
        <p:spPr>
          <a:xfrm flipH="1">
            <a:off x="7124700" y="2701406"/>
            <a:ext cx="2209800" cy="41517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 name="Straight Arrow Connector 16">
            <a:extLst>
              <a:ext uri="{FF2B5EF4-FFF2-40B4-BE49-F238E27FC236}">
                <a16:creationId xmlns:a16="http://schemas.microsoft.com/office/drawing/2014/main" id="{98ECAD19-0FB3-D2BD-E512-25E4492BF75F}"/>
              </a:ext>
            </a:extLst>
          </p:cNvPr>
          <p:cNvCxnSpPr>
            <a:cxnSpLocks/>
            <a:stCxn id="7" idx="2"/>
            <a:endCxn id="10" idx="0"/>
          </p:cNvCxnSpPr>
          <p:nvPr/>
        </p:nvCxnSpPr>
        <p:spPr>
          <a:xfrm>
            <a:off x="6096000" y="3429000"/>
            <a:ext cx="3546022" cy="111433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 name="Straight Arrow Connector 17">
            <a:extLst>
              <a:ext uri="{FF2B5EF4-FFF2-40B4-BE49-F238E27FC236}">
                <a16:creationId xmlns:a16="http://schemas.microsoft.com/office/drawing/2014/main" id="{54E8B037-6413-4F07-28A0-54C12A92E389}"/>
              </a:ext>
            </a:extLst>
          </p:cNvPr>
          <p:cNvCxnSpPr>
            <a:cxnSpLocks/>
            <a:stCxn id="7" idx="2"/>
            <a:endCxn id="9" idx="0"/>
          </p:cNvCxnSpPr>
          <p:nvPr/>
        </p:nvCxnSpPr>
        <p:spPr>
          <a:xfrm>
            <a:off x="6096000" y="3429000"/>
            <a:ext cx="0" cy="1104799"/>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9" name="Straight Arrow Connector 18">
            <a:extLst>
              <a:ext uri="{FF2B5EF4-FFF2-40B4-BE49-F238E27FC236}">
                <a16:creationId xmlns:a16="http://schemas.microsoft.com/office/drawing/2014/main" id="{2FA90A44-5FDE-8D6D-6763-75CB89B37261}"/>
              </a:ext>
            </a:extLst>
          </p:cNvPr>
          <p:cNvCxnSpPr>
            <a:cxnSpLocks/>
            <a:stCxn id="7" idx="2"/>
            <a:endCxn id="8" idx="0"/>
          </p:cNvCxnSpPr>
          <p:nvPr/>
        </p:nvCxnSpPr>
        <p:spPr>
          <a:xfrm flipH="1">
            <a:off x="2171700" y="3429000"/>
            <a:ext cx="3924300" cy="1114334"/>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47" name="Rectangle: Rounded Corners 46">
            <a:extLst>
              <a:ext uri="{FF2B5EF4-FFF2-40B4-BE49-F238E27FC236}">
                <a16:creationId xmlns:a16="http://schemas.microsoft.com/office/drawing/2014/main" id="{C876C33F-8236-0C0A-8231-E56C08712C40}"/>
              </a:ext>
            </a:extLst>
          </p:cNvPr>
          <p:cNvSpPr/>
          <p:nvPr/>
        </p:nvSpPr>
        <p:spPr>
          <a:xfrm>
            <a:off x="3200400" y="5834775"/>
            <a:ext cx="5867400" cy="624840"/>
          </a:xfrm>
          <a:prstGeom prst="roundRect">
            <a:avLst/>
          </a:prstGeom>
          <a:solidFill>
            <a:schemeClr val="accent5">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Paper!</a:t>
            </a:r>
          </a:p>
        </p:txBody>
      </p:sp>
      <p:cxnSp>
        <p:nvCxnSpPr>
          <p:cNvPr id="48" name="Straight Arrow Connector 47">
            <a:extLst>
              <a:ext uri="{FF2B5EF4-FFF2-40B4-BE49-F238E27FC236}">
                <a16:creationId xmlns:a16="http://schemas.microsoft.com/office/drawing/2014/main" id="{825838E2-661D-8687-20AB-48F19539D429}"/>
              </a:ext>
            </a:extLst>
          </p:cNvPr>
          <p:cNvCxnSpPr>
            <a:cxnSpLocks/>
            <a:stCxn id="8" idx="2"/>
            <a:endCxn id="47" idx="0"/>
          </p:cNvCxnSpPr>
          <p:nvPr/>
        </p:nvCxnSpPr>
        <p:spPr>
          <a:xfrm>
            <a:off x="2171700" y="5168174"/>
            <a:ext cx="3962400" cy="666601"/>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51" name="Straight Arrow Connector 50">
            <a:extLst>
              <a:ext uri="{FF2B5EF4-FFF2-40B4-BE49-F238E27FC236}">
                <a16:creationId xmlns:a16="http://schemas.microsoft.com/office/drawing/2014/main" id="{583A0741-7542-E51C-546D-515F0817A879}"/>
              </a:ext>
            </a:extLst>
          </p:cNvPr>
          <p:cNvCxnSpPr>
            <a:cxnSpLocks/>
            <a:stCxn id="10" idx="2"/>
            <a:endCxn id="47" idx="0"/>
          </p:cNvCxnSpPr>
          <p:nvPr/>
        </p:nvCxnSpPr>
        <p:spPr>
          <a:xfrm flipH="1">
            <a:off x="6134100" y="5168174"/>
            <a:ext cx="3507922" cy="666601"/>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52" name="Straight Arrow Connector 51">
            <a:extLst>
              <a:ext uri="{FF2B5EF4-FFF2-40B4-BE49-F238E27FC236}">
                <a16:creationId xmlns:a16="http://schemas.microsoft.com/office/drawing/2014/main" id="{032F4840-9D49-7C62-9F99-48FFF5EC77FD}"/>
              </a:ext>
            </a:extLst>
          </p:cNvPr>
          <p:cNvCxnSpPr>
            <a:cxnSpLocks/>
            <a:stCxn id="9" idx="2"/>
            <a:endCxn id="47" idx="0"/>
          </p:cNvCxnSpPr>
          <p:nvPr/>
        </p:nvCxnSpPr>
        <p:spPr>
          <a:xfrm>
            <a:off x="6096000" y="5158639"/>
            <a:ext cx="38100" cy="676136"/>
          </a:xfrm>
          <a:prstGeom prst="straightConnector1">
            <a:avLst/>
          </a:prstGeom>
          <a:ln w="5715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3" name="TextBox 2">
            <a:extLst>
              <a:ext uri="{FF2B5EF4-FFF2-40B4-BE49-F238E27FC236}">
                <a16:creationId xmlns:a16="http://schemas.microsoft.com/office/drawing/2014/main" id="{BD788437-5EA5-2CC0-8B56-6EADDF011479}"/>
              </a:ext>
            </a:extLst>
          </p:cNvPr>
          <p:cNvSpPr txBox="1"/>
          <p:nvPr/>
        </p:nvSpPr>
        <p:spPr>
          <a:xfrm>
            <a:off x="4572000" y="5216706"/>
            <a:ext cx="3888922" cy="523220"/>
          </a:xfrm>
          <a:prstGeom prst="rect">
            <a:avLst/>
          </a:prstGeom>
        </p:spPr>
        <p:style>
          <a:lnRef idx="0">
            <a:schemeClr val="accent4"/>
          </a:lnRef>
          <a:fillRef idx="3">
            <a:schemeClr val="accent4"/>
          </a:fillRef>
          <a:effectRef idx="3">
            <a:schemeClr val="accent4"/>
          </a:effectRef>
          <a:fontRef idx="minor">
            <a:schemeClr val="lt1"/>
          </a:fontRef>
        </p:style>
        <p:txBody>
          <a:bodyPr wrap="square" rtlCol="0">
            <a:spAutoFit/>
          </a:bodyPr>
          <a:lstStyle/>
          <a:p>
            <a:pPr algn="ctr"/>
            <a:r>
              <a:rPr lang="en-US" sz="2800" dirty="0"/>
              <a:t>4. Analysis Reporting</a:t>
            </a:r>
          </a:p>
        </p:txBody>
      </p:sp>
      <p:pic>
        <p:nvPicPr>
          <p:cNvPr id="4" name="Picture 2" descr="RStudio - RStudio">
            <a:extLst>
              <a:ext uri="{FF2B5EF4-FFF2-40B4-BE49-F238E27FC236}">
                <a16:creationId xmlns:a16="http://schemas.microsoft.com/office/drawing/2014/main" id="{1736CD98-782E-262F-69E2-91884F48227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677400" y="5257800"/>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2370168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C744D3A-32A4-8E85-A068-46EC159067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FC47CD7-DCD6-BE2B-2F92-1DB76A0CA08C}"/>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Pre-Analysis Plans in Quantitative Research </a:t>
            </a:r>
            <a:endParaRPr lang="en-US" sz="3600" dirty="0">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6E798026-25FD-2026-5BD0-A850755F28E8}"/>
              </a:ext>
            </a:extLst>
          </p:cNvPr>
          <p:cNvSpPr>
            <a:spLocks noGrp="1"/>
          </p:cNvSpPr>
          <p:nvPr>
            <p:ph idx="1"/>
          </p:nvPr>
        </p:nvSpPr>
        <p:spPr>
          <a:xfrm>
            <a:off x="609601" y="1066801"/>
            <a:ext cx="10015390" cy="5141388"/>
          </a:xfrm>
        </p:spPr>
        <p:txBody>
          <a:bodyPr>
            <a:noAutofit/>
          </a:bodyPr>
          <a:lstStyle/>
          <a:p>
            <a:pPr marL="0" indent="0">
              <a:buNone/>
            </a:pPr>
            <a:r>
              <a:rPr lang="en-US" sz="2400" dirty="0">
                <a:cs typeface="Times New Roman" panose="02020603050405020304" pitchFamily="18" charset="0"/>
              </a:rPr>
              <a:t>Should I specify a pre-analysis plan (PAP) for my project? </a:t>
            </a:r>
          </a:p>
          <a:p>
            <a:r>
              <a:rPr lang="en-US" sz="2400" dirty="0">
                <a:cs typeface="Times New Roman" panose="02020603050405020304" pitchFamily="18" charset="0"/>
              </a:rPr>
              <a:t>Not as straightforward as you think! </a:t>
            </a:r>
          </a:p>
          <a:p>
            <a:r>
              <a:rPr lang="en-US" sz="2400" dirty="0">
                <a:cs typeface="Times New Roman" panose="02020603050405020304" pitchFamily="18" charset="0"/>
              </a:rPr>
              <a:t>PAPs are useful to reduce cherry picking, p-hacking, etc., and increase transparency</a:t>
            </a:r>
          </a:p>
          <a:p>
            <a:r>
              <a:rPr lang="en-US" sz="2400" dirty="0">
                <a:cs typeface="Times New Roman" panose="02020603050405020304" pitchFamily="18" charset="0"/>
              </a:rPr>
              <a:t>You typically specify: </a:t>
            </a:r>
          </a:p>
          <a:p>
            <a:pPr lvl="1"/>
            <a:r>
              <a:rPr lang="en-US" sz="2200" dirty="0">
                <a:cs typeface="Times New Roman" panose="02020603050405020304" pitchFamily="18" charset="0"/>
              </a:rPr>
              <a:t>Hypothesis/research question</a:t>
            </a:r>
          </a:p>
          <a:p>
            <a:pPr lvl="1"/>
            <a:r>
              <a:rPr lang="en-US" sz="2200" dirty="0">
                <a:cs typeface="Times New Roman" panose="02020603050405020304" pitchFamily="18" charset="0"/>
              </a:rPr>
              <a:t>Primary and secondary outcomes</a:t>
            </a:r>
          </a:p>
          <a:p>
            <a:pPr lvl="1"/>
            <a:r>
              <a:rPr lang="en-US" sz="2200" dirty="0">
                <a:cs typeface="Times New Roman" panose="02020603050405020304" pitchFamily="18" charset="0"/>
              </a:rPr>
              <a:t>Statistical models</a:t>
            </a:r>
          </a:p>
          <a:p>
            <a:pPr lvl="1"/>
            <a:r>
              <a:rPr lang="en-US" sz="2200" dirty="0">
                <a:cs typeface="Times New Roman" panose="02020603050405020304" pitchFamily="18" charset="0"/>
              </a:rPr>
              <a:t>Subgroup analyses</a:t>
            </a:r>
          </a:p>
          <a:p>
            <a:pPr lvl="1"/>
            <a:endParaRPr lang="en-US" sz="2200" dirty="0">
              <a:cs typeface="Times New Roman" panose="02020603050405020304" pitchFamily="18" charset="0"/>
            </a:endParaRPr>
          </a:p>
          <a:p>
            <a:pPr marL="274320" lvl="1" indent="0">
              <a:buNone/>
            </a:pPr>
            <a:r>
              <a:rPr lang="en-US" sz="2200" b="1" dirty="0">
                <a:cs typeface="Times New Roman" panose="02020603050405020304" pitchFamily="18" charset="0"/>
              </a:rPr>
              <a:t>What makes this complicated? </a:t>
            </a:r>
          </a:p>
        </p:txBody>
      </p:sp>
    </p:spTree>
    <p:extLst>
      <p:ext uri="{BB962C8B-B14F-4D97-AF65-F5344CB8AC3E}">
        <p14:creationId xmlns:p14="http://schemas.microsoft.com/office/powerpoint/2010/main" val="285465840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6BEE1C7-88A8-2A37-2949-9247DCA3BE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8C239F-ED66-7121-7585-003CF8C2C609}"/>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Pre-Analysis Plans in Quantitative Research </a:t>
            </a:r>
            <a:endParaRPr lang="en-US" sz="3600" dirty="0">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2E0DC08B-8DE7-8275-0BE7-F9A414B62ED1}"/>
              </a:ext>
            </a:extLst>
          </p:cNvPr>
          <p:cNvSpPr>
            <a:spLocks noGrp="1"/>
          </p:cNvSpPr>
          <p:nvPr>
            <p:ph idx="1"/>
          </p:nvPr>
        </p:nvSpPr>
        <p:spPr>
          <a:xfrm>
            <a:off x="609601" y="1066801"/>
            <a:ext cx="10015390" cy="5141388"/>
          </a:xfrm>
        </p:spPr>
        <p:txBody>
          <a:bodyPr>
            <a:noAutofit/>
          </a:bodyPr>
          <a:lstStyle/>
          <a:p>
            <a:pPr marL="0" indent="0">
              <a:buNone/>
            </a:pPr>
            <a:r>
              <a:rPr lang="en-US" sz="2400" dirty="0">
                <a:cs typeface="Times New Roman" panose="02020603050405020304" pitchFamily="18" charset="0"/>
              </a:rPr>
              <a:t>Should I specify a pre-analysis plan (PAP) for my project?</a:t>
            </a:r>
          </a:p>
          <a:p>
            <a:pPr marL="0" indent="0">
              <a:buNone/>
            </a:pPr>
            <a:r>
              <a:rPr lang="en-US" sz="2400" dirty="0">
                <a:cs typeface="Times New Roman" panose="02020603050405020304" pitchFamily="18" charset="0"/>
              </a:rPr>
              <a:t>Pros: Increase transparency, meet the “genre” of your field if needed. Also helpful to box yourself in a bit! </a:t>
            </a:r>
          </a:p>
          <a:p>
            <a:pPr marL="0" indent="0">
              <a:buNone/>
            </a:pPr>
            <a:r>
              <a:rPr lang="en-US" sz="2400" dirty="0">
                <a:cs typeface="Times New Roman" panose="02020603050405020304" pitchFamily="18" charset="0"/>
              </a:rPr>
              <a:t>Cons: Limits flexibility when new questions arise (what are the mechanisms) or when you are in a field that preempts referee reports (e.g., additional analysis expected prior to submission). </a:t>
            </a:r>
          </a:p>
          <a:p>
            <a:pPr marL="0" indent="0">
              <a:buNone/>
            </a:pPr>
            <a:endParaRPr lang="en-US" sz="2400" dirty="0">
              <a:cs typeface="Times New Roman" panose="02020603050405020304" pitchFamily="18" charset="0"/>
            </a:endParaRPr>
          </a:p>
        </p:txBody>
      </p:sp>
    </p:spTree>
    <p:extLst>
      <p:ext uri="{BB962C8B-B14F-4D97-AF65-F5344CB8AC3E}">
        <p14:creationId xmlns:p14="http://schemas.microsoft.com/office/powerpoint/2010/main" val="350772037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42D9556-E3CF-19F2-E99B-85A2281A16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1B5E2D4-2091-0EF1-78B2-1A02C18F370F}"/>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Pre-Analysis Plans in Quantitative Research </a:t>
            </a:r>
            <a:endParaRPr lang="en-US" sz="3600" dirty="0">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1C616851-53E9-D0EC-7FD8-CAA006776DD4}"/>
              </a:ext>
            </a:extLst>
          </p:cNvPr>
          <p:cNvSpPr>
            <a:spLocks noGrp="1"/>
          </p:cNvSpPr>
          <p:nvPr>
            <p:ph idx="1"/>
          </p:nvPr>
        </p:nvSpPr>
        <p:spPr>
          <a:xfrm>
            <a:off x="609601" y="1066801"/>
            <a:ext cx="10015390" cy="5141388"/>
          </a:xfrm>
        </p:spPr>
        <p:txBody>
          <a:bodyPr>
            <a:noAutofit/>
          </a:bodyPr>
          <a:lstStyle/>
          <a:p>
            <a:pPr marL="0" indent="0">
              <a:buNone/>
            </a:pPr>
            <a:r>
              <a:rPr lang="en-US" sz="2400" dirty="0">
                <a:cs typeface="Times New Roman" panose="02020603050405020304" pitchFamily="18" charset="0"/>
              </a:rPr>
              <a:t>Should I specify a pre-analysis plan (PAP) for my project?</a:t>
            </a:r>
          </a:p>
          <a:p>
            <a:pPr marL="0" indent="0">
              <a:buNone/>
            </a:pPr>
            <a:r>
              <a:rPr lang="en-US" sz="2400" dirty="0">
                <a:cs typeface="Times New Roman" panose="02020603050405020304" pitchFamily="18" charset="0"/>
              </a:rPr>
              <a:t>Pros: Increase transparency, meet the “genre” of your field if needed. Also helpful to box yourself in a bit! </a:t>
            </a:r>
          </a:p>
          <a:p>
            <a:pPr marL="0" indent="0">
              <a:buNone/>
            </a:pPr>
            <a:r>
              <a:rPr lang="en-US" sz="2400" dirty="0">
                <a:cs typeface="Times New Roman" panose="02020603050405020304" pitchFamily="18" charset="0"/>
              </a:rPr>
              <a:t>Cons: Limits flexibility when new questions arise (what are the mechanisms) or when you are in a field that preempts referee reports (e.g., additional analysis expected prior to submission). </a:t>
            </a:r>
          </a:p>
          <a:p>
            <a:pPr marL="0" indent="0">
              <a:buNone/>
            </a:pPr>
            <a:r>
              <a:rPr lang="en-US" sz="2400" dirty="0">
                <a:cs typeface="Times New Roman" panose="02020603050405020304" pitchFamily="18" charset="0"/>
              </a:rPr>
              <a:t>Field expectations: This is far less common in observational research compared to RCTs, but there is some overlap. </a:t>
            </a:r>
          </a:p>
          <a:p>
            <a:pPr marL="0" indent="0">
              <a:buNone/>
            </a:pPr>
            <a:r>
              <a:rPr lang="en-US" sz="2400" dirty="0">
                <a:cs typeface="Times New Roman" panose="02020603050405020304" pitchFamily="18" charset="0"/>
              </a:rPr>
              <a:t>What I recommend: Have a </a:t>
            </a:r>
            <a:r>
              <a:rPr lang="en-US" sz="2400" i="1" dirty="0">
                <a:cs typeface="Times New Roman" panose="02020603050405020304" pitchFamily="18" charset="0"/>
              </a:rPr>
              <a:t>flexible </a:t>
            </a:r>
            <a:r>
              <a:rPr lang="en-US" sz="2400" dirty="0">
                <a:cs typeface="Times New Roman" panose="02020603050405020304" pitchFamily="18" charset="0"/>
              </a:rPr>
              <a:t>PAP that specifies: </a:t>
            </a:r>
          </a:p>
          <a:p>
            <a:pPr lvl="1"/>
            <a:r>
              <a:rPr lang="en-US" sz="2200" b="1" dirty="0">
                <a:cs typeface="Times New Roman" panose="02020603050405020304" pitchFamily="18" charset="0"/>
              </a:rPr>
              <a:t>Hypothesis/research question</a:t>
            </a:r>
          </a:p>
          <a:p>
            <a:pPr lvl="1"/>
            <a:r>
              <a:rPr lang="en-US" sz="2200" b="1" dirty="0">
                <a:cs typeface="Times New Roman" panose="02020603050405020304" pitchFamily="18" charset="0"/>
              </a:rPr>
              <a:t>Primary</a:t>
            </a:r>
            <a:r>
              <a:rPr lang="en-US" sz="2200" dirty="0">
                <a:cs typeface="Times New Roman" panose="02020603050405020304" pitchFamily="18" charset="0"/>
              </a:rPr>
              <a:t> and </a:t>
            </a:r>
            <a:r>
              <a:rPr lang="en-US" sz="2200" b="1" dirty="0">
                <a:cs typeface="Times New Roman" panose="02020603050405020304" pitchFamily="18" charset="0"/>
              </a:rPr>
              <a:t>some </a:t>
            </a:r>
            <a:r>
              <a:rPr lang="en-US" sz="2200" dirty="0">
                <a:cs typeface="Times New Roman" panose="02020603050405020304" pitchFamily="18" charset="0"/>
              </a:rPr>
              <a:t>secondary outcomes</a:t>
            </a:r>
          </a:p>
          <a:p>
            <a:pPr lvl="1"/>
            <a:r>
              <a:rPr lang="en-US" sz="2200" dirty="0">
                <a:cs typeface="Times New Roman" panose="02020603050405020304" pitchFamily="18" charset="0"/>
              </a:rPr>
              <a:t>Statistical models </a:t>
            </a:r>
            <a:r>
              <a:rPr lang="en-US" sz="2200" dirty="0">
                <a:cs typeface="Times New Roman" panose="02020603050405020304" pitchFamily="18" charset="0"/>
                <a:sym typeface="Wingdings" panose="05000000000000000000" pitchFamily="2" charset="2"/>
              </a:rPr>
              <a:t> </a:t>
            </a:r>
            <a:r>
              <a:rPr lang="en-US" sz="2200" b="1" dirty="0">
                <a:cs typeface="Times New Roman" panose="02020603050405020304" pitchFamily="18" charset="0"/>
                <a:sym typeface="Wingdings" panose="05000000000000000000" pitchFamily="2" charset="2"/>
              </a:rPr>
              <a:t>research design and identification </a:t>
            </a:r>
            <a:r>
              <a:rPr lang="en-US" sz="2200" dirty="0">
                <a:cs typeface="Times New Roman" panose="02020603050405020304" pitchFamily="18" charset="0"/>
                <a:sym typeface="Wingdings" panose="05000000000000000000" pitchFamily="2" charset="2"/>
              </a:rPr>
              <a:t>(this </a:t>
            </a:r>
            <a:r>
              <a:rPr lang="en-US" sz="2200">
                <a:cs typeface="Times New Roman" panose="02020603050405020304" pitchFamily="18" charset="0"/>
                <a:sym typeface="Wingdings" panose="05000000000000000000" pitchFamily="2" charset="2"/>
              </a:rPr>
              <a:t>won’t change)</a:t>
            </a:r>
            <a:endParaRPr lang="en-US" sz="2200" dirty="0">
              <a:cs typeface="Times New Roman" panose="02020603050405020304" pitchFamily="18" charset="0"/>
            </a:endParaRPr>
          </a:p>
          <a:p>
            <a:pPr lvl="1"/>
            <a:r>
              <a:rPr lang="en-US" sz="2200" b="1" dirty="0">
                <a:cs typeface="Times New Roman" panose="02020603050405020304" pitchFamily="18" charset="0"/>
              </a:rPr>
              <a:t>Some </a:t>
            </a:r>
            <a:r>
              <a:rPr lang="en-US" sz="2200" dirty="0">
                <a:cs typeface="Times New Roman" panose="02020603050405020304" pitchFamily="18" charset="0"/>
              </a:rPr>
              <a:t>Subgroup analyses</a:t>
            </a:r>
          </a:p>
          <a:p>
            <a:pPr marL="0" indent="0">
              <a:buNone/>
            </a:pPr>
            <a:endParaRPr lang="en-US" sz="2400" dirty="0">
              <a:cs typeface="Times New Roman" panose="02020603050405020304" pitchFamily="18" charset="0"/>
            </a:endParaRPr>
          </a:p>
        </p:txBody>
      </p:sp>
    </p:spTree>
    <p:extLst>
      <p:ext uri="{BB962C8B-B14F-4D97-AF65-F5344CB8AC3E}">
        <p14:creationId xmlns:p14="http://schemas.microsoft.com/office/powerpoint/2010/main" val="326155540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chemeClr val="bg2">
            <a:lumMod val="75000"/>
          </a:schemeClr>
        </a:solidFill>
        <a:effectLst/>
      </p:bgPr>
    </p:bg>
    <p:spTree>
      <p:nvGrpSpPr>
        <p:cNvPr id="1" name="">
          <a:extLst>
            <a:ext uri="{FF2B5EF4-FFF2-40B4-BE49-F238E27FC236}">
              <a16:creationId xmlns:a16="http://schemas.microsoft.com/office/drawing/2014/main" id="{ACAEC657-6C81-8AE5-BEBA-9A639FBC0CDF}"/>
            </a:ext>
          </a:extLst>
        </p:cNvPr>
        <p:cNvGrpSpPr/>
        <p:nvPr/>
      </p:nvGrpSpPr>
      <p:grpSpPr>
        <a:xfrm>
          <a:off x="0" y="0"/>
          <a:ext cx="0" cy="0"/>
          <a:chOff x="0" y="0"/>
          <a:chExt cx="0" cy="0"/>
        </a:xfrm>
      </p:grpSpPr>
      <p:sp>
        <p:nvSpPr>
          <p:cNvPr id="11" name="Rectangle 10">
            <a:extLst>
              <a:ext uri="{FF2B5EF4-FFF2-40B4-BE49-F238E27FC236}">
                <a16:creationId xmlns:a16="http://schemas.microsoft.com/office/drawing/2014/main" id="{323D50B8-1D27-420D-BA4A-249914120C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CA"/>
          </a:p>
        </p:txBody>
      </p:sp>
      <p:sp>
        <p:nvSpPr>
          <p:cNvPr id="13" name="Rectangle 12">
            <a:extLst>
              <a:ext uri="{FF2B5EF4-FFF2-40B4-BE49-F238E27FC236}">
                <a16:creationId xmlns:a16="http://schemas.microsoft.com/office/drawing/2014/main" id="{2EFBB176-B6C1-4B5A-AADA-F930947E09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7200" y="0"/>
            <a:ext cx="10820400" cy="4949953"/>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CA"/>
          </a:p>
        </p:txBody>
      </p:sp>
      <p:sp useBgFill="1">
        <p:nvSpPr>
          <p:cNvPr id="15" name="Rectangle 14">
            <a:extLst>
              <a:ext uri="{FF2B5EF4-FFF2-40B4-BE49-F238E27FC236}">
                <a16:creationId xmlns:a16="http://schemas.microsoft.com/office/drawing/2014/main" id="{918CDC34-0F26-409D-B10F-578D4DCC46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7200" y="5105400"/>
            <a:ext cx="10835640" cy="17526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CA"/>
          </a:p>
        </p:txBody>
      </p:sp>
      <p:sp>
        <p:nvSpPr>
          <p:cNvPr id="2" name="Title 1">
            <a:extLst>
              <a:ext uri="{FF2B5EF4-FFF2-40B4-BE49-F238E27FC236}">
                <a16:creationId xmlns:a16="http://schemas.microsoft.com/office/drawing/2014/main" id="{E530B3E6-56D1-F26C-88DB-670B919BD93B}"/>
              </a:ext>
            </a:extLst>
          </p:cNvPr>
          <p:cNvSpPr>
            <a:spLocks noGrp="1"/>
          </p:cNvSpPr>
          <p:nvPr>
            <p:ph type="title"/>
          </p:nvPr>
        </p:nvSpPr>
        <p:spPr>
          <a:xfrm>
            <a:off x="944183" y="5181600"/>
            <a:ext cx="10156435" cy="1076324"/>
          </a:xfrm>
        </p:spPr>
        <p:txBody>
          <a:bodyPr vert="horz" lIns="91440" tIns="45720" rIns="91440" bIns="45720" rtlCol="0" anchor="b">
            <a:normAutofit/>
          </a:bodyPr>
          <a:lstStyle/>
          <a:p>
            <a:pPr>
              <a:lnSpc>
                <a:spcPct val="85000"/>
              </a:lnSpc>
            </a:pPr>
            <a:r>
              <a:rPr lang="en-US" sz="5400">
                <a:latin typeface="+mj-lt"/>
              </a:rPr>
              <a:t>How do we interpret results? </a:t>
            </a:r>
          </a:p>
        </p:txBody>
      </p:sp>
      <p:pic>
        <p:nvPicPr>
          <p:cNvPr id="6" name="Picture 5" descr="A graph of a normalized curve&#10;&#10;AI-generated content may be incorrect.">
            <a:extLst>
              <a:ext uri="{FF2B5EF4-FFF2-40B4-BE49-F238E27FC236}">
                <a16:creationId xmlns:a16="http://schemas.microsoft.com/office/drawing/2014/main" id="{87EEC768-DCD3-B093-02E2-D174F5009027}"/>
              </a:ext>
            </a:extLst>
          </p:cNvPr>
          <p:cNvPicPr>
            <a:picLocks noChangeAspect="1"/>
          </p:cNvPicPr>
          <p:nvPr/>
        </p:nvPicPr>
        <p:blipFill>
          <a:blip r:embed="rId3"/>
          <a:stretch>
            <a:fillRect/>
          </a:stretch>
        </p:blipFill>
        <p:spPr>
          <a:xfrm>
            <a:off x="6127044" y="838200"/>
            <a:ext cx="5364000" cy="3915719"/>
          </a:xfrm>
          <a:prstGeom prst="rect">
            <a:avLst/>
          </a:prstGeom>
        </p:spPr>
      </p:pic>
      <p:pic>
        <p:nvPicPr>
          <p:cNvPr id="4" name="Picture 3" descr="A graph of a normal distribution&#10;&#10;AI-generated content may be incorrect.">
            <a:extLst>
              <a:ext uri="{FF2B5EF4-FFF2-40B4-BE49-F238E27FC236}">
                <a16:creationId xmlns:a16="http://schemas.microsoft.com/office/drawing/2014/main" id="{7BCA0059-7FBA-273F-333B-842395C70D85}"/>
              </a:ext>
            </a:extLst>
          </p:cNvPr>
          <p:cNvPicPr>
            <a:picLocks noChangeAspect="1"/>
          </p:cNvPicPr>
          <p:nvPr/>
        </p:nvPicPr>
        <p:blipFill>
          <a:blip r:embed="rId4"/>
          <a:stretch>
            <a:fillRect/>
          </a:stretch>
        </p:blipFill>
        <p:spPr>
          <a:xfrm>
            <a:off x="558067" y="718497"/>
            <a:ext cx="5364000" cy="3902309"/>
          </a:xfrm>
          <a:prstGeom prst="rect">
            <a:avLst/>
          </a:prstGeom>
        </p:spPr>
      </p:pic>
    </p:spTree>
    <p:extLst>
      <p:ext uri="{BB962C8B-B14F-4D97-AF65-F5344CB8AC3E}">
        <p14:creationId xmlns:p14="http://schemas.microsoft.com/office/powerpoint/2010/main" val="337770327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chemeClr val="bg2">
            <a:lumMod val="75000"/>
          </a:schemeClr>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323D50B8-1D27-420D-BA4A-249914120C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CA"/>
          </a:p>
        </p:txBody>
      </p:sp>
      <p:sp>
        <p:nvSpPr>
          <p:cNvPr id="2" name="Title 1"/>
          <p:cNvSpPr>
            <a:spLocks noGrp="1"/>
          </p:cNvSpPr>
          <p:nvPr>
            <p:ph type="title"/>
          </p:nvPr>
        </p:nvSpPr>
        <p:spPr>
          <a:xfrm>
            <a:off x="944183" y="4624001"/>
            <a:ext cx="10156435" cy="1152524"/>
          </a:xfrm>
        </p:spPr>
        <p:txBody>
          <a:bodyPr vert="horz" lIns="91440" tIns="45720" rIns="91440" bIns="45720" rtlCol="0" anchor="b">
            <a:normAutofit/>
          </a:bodyPr>
          <a:lstStyle/>
          <a:p>
            <a:pPr>
              <a:lnSpc>
                <a:spcPct val="85000"/>
              </a:lnSpc>
            </a:pPr>
            <a:r>
              <a:rPr lang="en-US" sz="5400">
                <a:latin typeface="+mj-lt"/>
              </a:rPr>
              <a:t>How do we interpret results? </a:t>
            </a:r>
          </a:p>
        </p:txBody>
      </p:sp>
      <p:pic>
        <p:nvPicPr>
          <p:cNvPr id="8" name="Picture 7">
            <a:extLst>
              <a:ext uri="{FF2B5EF4-FFF2-40B4-BE49-F238E27FC236}">
                <a16:creationId xmlns:a16="http://schemas.microsoft.com/office/drawing/2014/main" id="{3DCC1165-A68E-CACB-4AD8-1679DD94F0EA}"/>
              </a:ext>
            </a:extLst>
          </p:cNvPr>
          <p:cNvPicPr>
            <a:picLocks noChangeAspect="1"/>
          </p:cNvPicPr>
          <p:nvPr/>
        </p:nvPicPr>
        <p:blipFill>
          <a:blip r:embed="rId3"/>
          <a:stretch>
            <a:fillRect/>
          </a:stretch>
        </p:blipFill>
        <p:spPr>
          <a:xfrm>
            <a:off x="6253518" y="685800"/>
            <a:ext cx="5938482" cy="4275706"/>
          </a:xfrm>
          <a:prstGeom prst="rect">
            <a:avLst/>
          </a:prstGeom>
        </p:spPr>
      </p:pic>
      <p:pic>
        <p:nvPicPr>
          <p:cNvPr id="5" name="Picture 4">
            <a:extLst>
              <a:ext uri="{FF2B5EF4-FFF2-40B4-BE49-F238E27FC236}">
                <a16:creationId xmlns:a16="http://schemas.microsoft.com/office/drawing/2014/main" id="{9EAF6FBD-7571-62AF-E212-37848742182B}"/>
              </a:ext>
            </a:extLst>
          </p:cNvPr>
          <p:cNvPicPr>
            <a:picLocks noChangeAspect="1"/>
          </p:cNvPicPr>
          <p:nvPr/>
        </p:nvPicPr>
        <p:blipFill>
          <a:blip r:embed="rId4"/>
          <a:stretch>
            <a:fillRect/>
          </a:stretch>
        </p:blipFill>
        <p:spPr>
          <a:xfrm>
            <a:off x="152399" y="685800"/>
            <a:ext cx="5960009" cy="4261405"/>
          </a:xfrm>
          <a:prstGeom prst="rect">
            <a:avLst/>
          </a:prstGeom>
        </p:spPr>
      </p:pic>
    </p:spTree>
    <p:extLst>
      <p:ext uri="{BB962C8B-B14F-4D97-AF65-F5344CB8AC3E}">
        <p14:creationId xmlns:p14="http://schemas.microsoft.com/office/powerpoint/2010/main" val="429217445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4DF8AD-069A-4F9C-F988-5F1B2FE2913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03D0EE-5F5A-066A-EC7D-4AE5C4E3B54E}"/>
              </a:ext>
            </a:extLst>
          </p:cNvPr>
          <p:cNvSpPr>
            <a:spLocks noGrp="1"/>
          </p:cNvSpPr>
          <p:nvPr>
            <p:ph type="ctrTitle"/>
          </p:nvPr>
        </p:nvSpPr>
        <p:spPr>
          <a:xfrm>
            <a:off x="1261872" y="758952"/>
            <a:ext cx="10549128" cy="4041648"/>
          </a:xfrm>
        </p:spPr>
        <p:txBody>
          <a:bodyPr/>
          <a:lstStyle/>
          <a:p>
            <a:r>
              <a:rPr lang="en-US" dirty="0"/>
              <a:t>Conclusion</a:t>
            </a:r>
          </a:p>
        </p:txBody>
      </p:sp>
      <p:sp>
        <p:nvSpPr>
          <p:cNvPr id="3" name="Subtitle 2">
            <a:extLst>
              <a:ext uri="{FF2B5EF4-FFF2-40B4-BE49-F238E27FC236}">
                <a16:creationId xmlns:a16="http://schemas.microsoft.com/office/drawing/2014/main" id="{DA767F5D-2082-3A1C-315D-4C0306A835E8}"/>
              </a:ext>
            </a:extLst>
          </p:cNvPr>
          <p:cNvSpPr>
            <a:spLocks noGrp="1"/>
          </p:cNvSpPr>
          <p:nvPr>
            <p:ph type="subTitle" idx="1"/>
          </p:nvPr>
        </p:nvSpPr>
        <p:spPr/>
        <p:txBody>
          <a:bodyPr>
            <a:normAutofit/>
          </a:bodyPr>
          <a:lstStyle/>
          <a:p>
            <a:endParaRPr lang="en-US" sz="4400" dirty="0"/>
          </a:p>
        </p:txBody>
      </p:sp>
    </p:spTree>
    <p:extLst>
      <p:ext uri="{BB962C8B-B14F-4D97-AF65-F5344CB8AC3E}">
        <p14:creationId xmlns:p14="http://schemas.microsoft.com/office/powerpoint/2010/main" val="357231535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So where do you find questions? </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0" y="1066801"/>
            <a:ext cx="10363199" cy="5141388"/>
          </a:xfrm>
        </p:spPr>
        <p:txBody>
          <a:bodyPr>
            <a:noAutofit/>
          </a:bodyPr>
          <a:lstStyle/>
          <a:p>
            <a:r>
              <a:rPr lang="en-US" sz="2800" dirty="0">
                <a:cs typeface="Times New Roman" panose="02020603050405020304" pitchFamily="18" charset="0"/>
              </a:rPr>
              <a:t>Reading papers is a good start, but not everything! </a:t>
            </a:r>
          </a:p>
          <a:p>
            <a:pPr lvl="1"/>
            <a:r>
              <a:rPr lang="en-US" sz="2600" dirty="0">
                <a:cs typeface="Times New Roman" panose="02020603050405020304" pitchFamily="18" charset="0"/>
              </a:rPr>
              <a:t>You don’t want to get caught in an echo chamber</a:t>
            </a:r>
          </a:p>
          <a:p>
            <a:r>
              <a:rPr lang="en-US" sz="2800" dirty="0">
                <a:cs typeface="Times New Roman" panose="02020603050405020304" pitchFamily="18" charset="0"/>
              </a:rPr>
              <a:t>Come to seminars! </a:t>
            </a:r>
          </a:p>
          <a:p>
            <a:pPr lvl="1"/>
            <a:r>
              <a:rPr lang="en-US" sz="2600" dirty="0">
                <a:cs typeface="Times New Roman" panose="02020603050405020304" pitchFamily="18" charset="0"/>
              </a:rPr>
              <a:t>Go see the big names when they come in (look at other departments too)</a:t>
            </a:r>
          </a:p>
          <a:p>
            <a:pPr lvl="1"/>
            <a:r>
              <a:rPr lang="en-US" sz="2600" dirty="0">
                <a:cs typeface="Times New Roman" panose="02020603050405020304" pitchFamily="18" charset="0"/>
              </a:rPr>
              <a:t>But also go see the works in progress, what your peers are working on, your faculty, etc. </a:t>
            </a:r>
          </a:p>
          <a:p>
            <a:pPr lvl="1"/>
            <a:r>
              <a:rPr lang="en-US" sz="2600" dirty="0">
                <a:cs typeface="Times New Roman" panose="02020603050405020304" pitchFamily="18" charset="0"/>
              </a:rPr>
              <a:t>Try to go to talks outside your field</a:t>
            </a:r>
          </a:p>
          <a:p>
            <a:r>
              <a:rPr lang="en-US" sz="2800" dirty="0">
                <a:cs typeface="Times New Roman" panose="02020603050405020304" pitchFamily="18" charset="0"/>
              </a:rPr>
              <a:t>Subscribe to newsletters</a:t>
            </a:r>
          </a:p>
          <a:p>
            <a:pPr lvl="1"/>
            <a:r>
              <a:rPr lang="en-US" sz="2600" dirty="0">
                <a:cs typeface="Times New Roman" panose="02020603050405020304" pitchFamily="18" charset="0"/>
              </a:rPr>
              <a:t>Academic journals, sure</a:t>
            </a:r>
          </a:p>
          <a:p>
            <a:pPr lvl="1"/>
            <a:r>
              <a:rPr lang="en-US" sz="2600" dirty="0">
                <a:cs typeface="Times New Roman" panose="02020603050405020304" pitchFamily="18" charset="0"/>
              </a:rPr>
              <a:t>But also things like: </a:t>
            </a:r>
            <a:r>
              <a:rPr lang="en-US" sz="2600" dirty="0">
                <a:cs typeface="Times New Roman" panose="02020603050405020304" pitchFamily="18" charset="0"/>
                <a:hlinkClick r:id="rId3"/>
              </a:rPr>
              <a:t>Axios Vitals</a:t>
            </a:r>
            <a:r>
              <a:rPr lang="en-US" sz="2600" dirty="0">
                <a:cs typeface="Times New Roman" panose="02020603050405020304" pitchFamily="18" charset="0"/>
              </a:rPr>
              <a:t>, </a:t>
            </a:r>
            <a:r>
              <a:rPr lang="en-US" sz="2600" dirty="0" err="1">
                <a:cs typeface="Times New Roman" panose="02020603050405020304" pitchFamily="18" charset="0"/>
                <a:hlinkClick r:id="rId4"/>
              </a:rPr>
              <a:t>Postcall</a:t>
            </a:r>
            <a:r>
              <a:rPr lang="en-US" sz="2600" dirty="0">
                <a:cs typeface="Times New Roman" panose="02020603050405020304" pitchFamily="18" charset="0"/>
              </a:rPr>
              <a:t>, etc. </a:t>
            </a:r>
          </a:p>
          <a:p>
            <a:pPr lvl="1"/>
            <a:endParaRPr lang="en-US" sz="2600" dirty="0">
              <a:cs typeface="Times New Roman" panose="02020603050405020304" pitchFamily="18" charset="0"/>
            </a:endParaRPr>
          </a:p>
          <a:p>
            <a:pPr lvl="1"/>
            <a:endParaRPr lang="en-US" sz="2600" dirty="0">
              <a:cs typeface="Times New Roman" panose="02020603050405020304" pitchFamily="18" charset="0"/>
            </a:endParaRPr>
          </a:p>
        </p:txBody>
      </p:sp>
    </p:spTree>
    <p:extLst>
      <p:ext uri="{BB962C8B-B14F-4D97-AF65-F5344CB8AC3E}">
        <p14:creationId xmlns:p14="http://schemas.microsoft.com/office/powerpoint/2010/main" val="143951414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Choosing an Empirical Strategy</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62000" y="1066801"/>
            <a:ext cx="10286999" cy="5141388"/>
          </a:xfrm>
        </p:spPr>
        <p:txBody>
          <a:bodyPr>
            <a:noAutofit/>
          </a:bodyPr>
          <a:lstStyle/>
          <a:p>
            <a:pPr marL="0" indent="0">
              <a:buNone/>
            </a:pPr>
            <a:r>
              <a:rPr lang="en-US" sz="2400" dirty="0">
                <a:cs typeface="Times New Roman" panose="02020603050405020304" pitchFamily="18" charset="0"/>
              </a:rPr>
              <a:t>Your empirical strategy consists of two (related) components: </a:t>
            </a:r>
          </a:p>
          <a:p>
            <a:pPr marL="457200" indent="-457200">
              <a:buFont typeface="+mj-lt"/>
              <a:buAutoNum type="arabicPeriod"/>
            </a:pPr>
            <a:r>
              <a:rPr lang="en-US" sz="2400" b="1" dirty="0">
                <a:solidFill>
                  <a:schemeClr val="accent2">
                    <a:lumMod val="75000"/>
                  </a:schemeClr>
                </a:solidFill>
                <a:cs typeface="Times New Roman" panose="02020603050405020304" pitchFamily="18" charset="0"/>
              </a:rPr>
              <a:t>Estimation strategy: </a:t>
            </a:r>
            <a:r>
              <a:rPr lang="en-US" sz="2400" dirty="0">
                <a:cs typeface="Times New Roman" panose="02020603050405020304" pitchFamily="18" charset="0"/>
              </a:rPr>
              <a:t>what is estimated, how, inference, etc.</a:t>
            </a:r>
          </a:p>
          <a:p>
            <a:pPr lvl="1"/>
            <a:r>
              <a:rPr lang="en-US" sz="2400" dirty="0">
                <a:cs typeface="Times New Roman" panose="02020603050405020304" pitchFamily="18" charset="0"/>
              </a:rPr>
              <a:t>Put equations in your papers! </a:t>
            </a:r>
          </a:p>
          <a:p>
            <a:pPr marL="457200" indent="-457200">
              <a:buFont typeface="+mj-lt"/>
              <a:buAutoNum type="arabicPeriod"/>
            </a:pPr>
            <a:r>
              <a:rPr lang="en-US" sz="2400" b="1" dirty="0">
                <a:solidFill>
                  <a:schemeClr val="accent3">
                    <a:lumMod val="75000"/>
                  </a:schemeClr>
                </a:solidFill>
                <a:cs typeface="Times New Roman" panose="02020603050405020304" pitchFamily="18" charset="0"/>
              </a:rPr>
              <a:t>Identification strategy: </a:t>
            </a:r>
            <a:r>
              <a:rPr lang="en-US" sz="2400" dirty="0">
                <a:cs typeface="Times New Roman" panose="02020603050405020304" pitchFamily="18" charset="0"/>
              </a:rPr>
              <a:t>what allows making a causal statement?</a:t>
            </a:r>
          </a:p>
          <a:p>
            <a:pPr lvl="1"/>
            <a:r>
              <a:rPr lang="en-US" sz="2400" dirty="0">
                <a:cs typeface="Times New Roman" panose="02020603050405020304" pitchFamily="18" charset="0"/>
              </a:rPr>
              <a:t>Do you have experimental variation? </a:t>
            </a:r>
          </a:p>
          <a:p>
            <a:pPr lvl="1"/>
            <a:r>
              <a:rPr lang="en-US" sz="2400" dirty="0">
                <a:cs typeface="Times New Roman" panose="02020603050405020304" pitchFamily="18" charset="0"/>
              </a:rPr>
              <a:t>Balance? </a:t>
            </a:r>
          </a:p>
          <a:p>
            <a:pPr lvl="1"/>
            <a:r>
              <a:rPr lang="en-US" sz="2400" dirty="0">
                <a:cs typeface="Times New Roman" panose="02020603050405020304" pitchFamily="18" charset="0"/>
              </a:rPr>
              <a:t>Is there endogeneity in your design? </a:t>
            </a:r>
          </a:p>
          <a:p>
            <a:pPr lvl="2"/>
            <a:r>
              <a:rPr lang="en-US" sz="2400" dirty="0">
                <a:cs typeface="Times New Roman" panose="02020603050405020304" pitchFamily="18" charset="0"/>
              </a:rPr>
              <a:t>(reverse causality, heterogeneity, measurement/omitted error)</a:t>
            </a:r>
          </a:p>
          <a:p>
            <a:pPr lvl="1"/>
            <a:r>
              <a:rPr lang="en-US" sz="2600" b="1" u="sng" dirty="0">
                <a:cs typeface="Times New Roman" panose="02020603050405020304" pitchFamily="18" charset="0"/>
              </a:rPr>
              <a:t>This will require your (untestable) identifying assumptions to move from randomized to quasi-experimental data!</a:t>
            </a:r>
          </a:p>
          <a:p>
            <a:pPr lvl="1"/>
            <a:endParaRPr lang="en-US" sz="2600" dirty="0">
              <a:cs typeface="Times New Roman" panose="02020603050405020304" pitchFamily="18" charset="0"/>
            </a:endParaRPr>
          </a:p>
        </p:txBody>
      </p:sp>
    </p:spTree>
    <p:extLst>
      <p:ext uri="{BB962C8B-B14F-4D97-AF65-F5344CB8AC3E}">
        <p14:creationId xmlns:p14="http://schemas.microsoft.com/office/powerpoint/2010/main" val="1502230994"/>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Where do we get the identification?</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838201" y="1066801"/>
            <a:ext cx="9786790" cy="5141388"/>
          </a:xfrm>
        </p:spPr>
        <p:txBody>
          <a:bodyPr>
            <a:noAutofit/>
          </a:bodyPr>
          <a:lstStyle/>
          <a:p>
            <a:r>
              <a:rPr lang="en-US" sz="2600" dirty="0">
                <a:cs typeface="Times New Roman" panose="02020603050405020304" pitchFamily="18" charset="0"/>
              </a:rPr>
              <a:t>So what are the </a:t>
            </a:r>
            <a:r>
              <a:rPr lang="en-US" sz="2600" b="1" dirty="0">
                <a:solidFill>
                  <a:schemeClr val="accent2">
                    <a:lumMod val="75000"/>
                  </a:schemeClr>
                </a:solidFill>
                <a:cs typeface="Times New Roman" panose="02020603050405020304" pitchFamily="18" charset="0"/>
              </a:rPr>
              <a:t>specific</a:t>
            </a:r>
            <a:r>
              <a:rPr lang="en-US" sz="2600" dirty="0">
                <a:cs typeface="Times New Roman" panose="02020603050405020304" pitchFamily="18" charset="0"/>
              </a:rPr>
              <a:t> data and </a:t>
            </a:r>
            <a:r>
              <a:rPr lang="en-US" sz="2600" b="1" dirty="0">
                <a:solidFill>
                  <a:schemeClr val="accent2">
                    <a:lumMod val="75000"/>
                  </a:schemeClr>
                </a:solidFill>
                <a:cs typeface="Times New Roman" panose="02020603050405020304" pitchFamily="18" charset="0"/>
              </a:rPr>
              <a:t>circumstances</a:t>
            </a:r>
            <a:r>
              <a:rPr lang="en-US" sz="2600" dirty="0">
                <a:cs typeface="Times New Roman" panose="02020603050405020304" pitchFamily="18" charset="0"/>
              </a:rPr>
              <a:t> we need to answer a question? </a:t>
            </a:r>
          </a:p>
          <a:p>
            <a:pPr marL="0" indent="0">
              <a:buNone/>
            </a:pPr>
            <a:r>
              <a:rPr lang="en-US" sz="2600" dirty="0">
                <a:cs typeface="Times New Roman" panose="02020603050405020304" pitchFamily="18" charset="0"/>
              </a:rPr>
              <a:t>The method you use will depend on the </a:t>
            </a:r>
            <a:r>
              <a:rPr lang="en-US" sz="2600" b="1" dirty="0">
                <a:solidFill>
                  <a:schemeClr val="accent3">
                    <a:lumMod val="75000"/>
                  </a:schemeClr>
                </a:solidFill>
                <a:cs typeface="Times New Roman" panose="02020603050405020304" pitchFamily="18" charset="0"/>
              </a:rPr>
              <a:t>variation you have</a:t>
            </a:r>
            <a:r>
              <a:rPr lang="en-US" sz="2600" dirty="0">
                <a:cs typeface="Times New Roman" panose="02020603050405020304" pitchFamily="18" charset="0"/>
              </a:rPr>
              <a:t> </a:t>
            </a:r>
          </a:p>
          <a:p>
            <a:pPr lvl="1"/>
            <a:r>
              <a:rPr lang="en-US" sz="2600" dirty="0">
                <a:cs typeface="Times New Roman" panose="02020603050405020304" pitchFamily="18" charset="0"/>
              </a:rPr>
              <a:t>Variation across units? </a:t>
            </a:r>
          </a:p>
          <a:p>
            <a:pPr lvl="1"/>
            <a:r>
              <a:rPr lang="en-US" sz="2600" dirty="0">
                <a:cs typeface="Times New Roman" panose="02020603050405020304" pitchFamily="18" charset="0"/>
              </a:rPr>
              <a:t>Across time? </a:t>
            </a:r>
          </a:p>
          <a:p>
            <a:pPr lvl="1"/>
            <a:r>
              <a:rPr lang="en-US" sz="2600" dirty="0">
                <a:cs typeface="Times New Roman" panose="02020603050405020304" pitchFamily="18" charset="0"/>
              </a:rPr>
              <a:t>Policy changes</a:t>
            </a:r>
          </a:p>
          <a:p>
            <a:pPr lvl="1"/>
            <a:r>
              <a:rPr lang="en-US" sz="2600" dirty="0">
                <a:cs typeface="Times New Roman" panose="02020603050405020304" pitchFamily="18" charset="0"/>
              </a:rPr>
              <a:t>Weird policy rules?</a:t>
            </a:r>
          </a:p>
          <a:p>
            <a:pPr lvl="1"/>
            <a:r>
              <a:rPr lang="en-US" sz="2600" dirty="0">
                <a:cs typeface="Times New Roman" panose="02020603050405020304" pitchFamily="18" charset="0"/>
              </a:rPr>
              <a:t>Instruments? </a:t>
            </a:r>
          </a:p>
          <a:p>
            <a:endParaRPr lang="en-US" sz="2600" dirty="0">
              <a:cs typeface="Times New Roman" panose="02020603050405020304" pitchFamily="18" charset="0"/>
            </a:endParaRPr>
          </a:p>
        </p:txBody>
      </p:sp>
    </p:spTree>
    <p:extLst>
      <p:ext uri="{BB962C8B-B14F-4D97-AF65-F5344CB8AC3E}">
        <p14:creationId xmlns:p14="http://schemas.microsoft.com/office/powerpoint/2010/main" val="62848513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2DFC1-75AB-AC6B-239B-8E58BDB810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7FC111-D0D5-7B7A-6856-6DBE514BDF72}"/>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Stages of Research</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26B7C119-402F-1938-AE40-B976944AB0EF}"/>
              </a:ext>
            </a:extLst>
          </p:cNvPr>
          <p:cNvSpPr>
            <a:spLocks noGrp="1"/>
          </p:cNvSpPr>
          <p:nvPr>
            <p:ph idx="1"/>
          </p:nvPr>
        </p:nvSpPr>
        <p:spPr>
          <a:xfrm>
            <a:off x="609600" y="1143000"/>
            <a:ext cx="10439400" cy="5037137"/>
          </a:xfrm>
        </p:spPr>
        <p:txBody>
          <a:bodyPr>
            <a:normAutofit lnSpcReduction="10000"/>
          </a:bodyPr>
          <a:lstStyle/>
          <a:p>
            <a:pPr marL="0" indent="0">
              <a:buNone/>
            </a:pPr>
            <a:r>
              <a:rPr lang="en-US" sz="2400" dirty="0"/>
              <a:t>Follow the genre!</a:t>
            </a:r>
          </a:p>
          <a:p>
            <a:pPr>
              <a:buFontTx/>
              <a:buChar char="-"/>
            </a:pPr>
            <a:r>
              <a:rPr lang="en-US" sz="2400" dirty="0"/>
              <a:t>Motivate your question</a:t>
            </a:r>
          </a:p>
          <a:p>
            <a:pPr>
              <a:buFontTx/>
              <a:buChar char="-"/>
            </a:pPr>
            <a:r>
              <a:rPr lang="en-US" sz="2400" dirty="0"/>
              <a:t>Descriptive evidence (don’t underestimate its importance!)</a:t>
            </a:r>
          </a:p>
          <a:p>
            <a:pPr>
              <a:buFontTx/>
              <a:buChar char="-"/>
            </a:pPr>
            <a:r>
              <a:rPr lang="en-US" sz="2400" dirty="0"/>
              <a:t>Give us a framework to think about your results (model, an ideal experiment, etc.)</a:t>
            </a:r>
          </a:p>
          <a:p>
            <a:pPr>
              <a:buFontTx/>
              <a:buChar char="-"/>
            </a:pPr>
            <a:r>
              <a:rPr lang="en-US" sz="2400" dirty="0"/>
              <a:t>Clearly present your data sources + methods. Copy and combine presentation methods here</a:t>
            </a:r>
          </a:p>
          <a:p>
            <a:pPr>
              <a:buFontTx/>
              <a:buChar char="-"/>
            </a:pPr>
            <a:r>
              <a:rPr lang="en-US" sz="2400" dirty="0"/>
              <a:t>Your main real estate: abstract/intro + tables and figures. These should be the best part of your paper *by far*!</a:t>
            </a:r>
          </a:p>
          <a:p>
            <a:pPr>
              <a:buFontTx/>
              <a:buChar char="-"/>
            </a:pPr>
            <a:r>
              <a:rPr lang="en-US" sz="2400" dirty="0"/>
              <a:t>Focus on identification assumptions, threats, and robustness in methods</a:t>
            </a:r>
          </a:p>
          <a:p>
            <a:pPr>
              <a:buFontTx/>
              <a:buChar char="-"/>
            </a:pPr>
            <a:r>
              <a:rPr lang="en-US" sz="2400" dirty="0"/>
              <a:t>Then present and discuss results (again, copy/combine/transform)</a:t>
            </a:r>
          </a:p>
        </p:txBody>
      </p:sp>
    </p:spTree>
    <p:extLst>
      <p:ext uri="{BB962C8B-B14F-4D97-AF65-F5344CB8AC3E}">
        <p14:creationId xmlns:p14="http://schemas.microsoft.com/office/powerpoint/2010/main" val="33972710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Stages of Research</a:t>
            </a:r>
            <a:endParaRPr lang="en-US" sz="3600" dirty="0">
              <a:latin typeface="Times New Roman" panose="02020603050405020304" pitchFamily="18" charset="0"/>
              <a:cs typeface="Times New Roman" panose="02020603050405020304" pitchFamily="18" charset="0"/>
            </a:endParaRPr>
          </a:p>
        </p:txBody>
      </p:sp>
      <p:sp>
        <p:nvSpPr>
          <p:cNvPr id="5" name="Content Placeholder 4">
            <a:extLst>
              <a:ext uri="{FF2B5EF4-FFF2-40B4-BE49-F238E27FC236}">
                <a16:creationId xmlns:a16="http://schemas.microsoft.com/office/drawing/2014/main" id="{20CBD1B4-835B-05AF-EF76-A49A2BB18B6B}"/>
              </a:ext>
            </a:extLst>
          </p:cNvPr>
          <p:cNvSpPr>
            <a:spLocks noGrp="1"/>
          </p:cNvSpPr>
          <p:nvPr>
            <p:ph idx="1"/>
          </p:nvPr>
        </p:nvSpPr>
        <p:spPr/>
        <p:txBody>
          <a:bodyPr/>
          <a:lstStyle/>
          <a:p>
            <a:endParaRPr lang="en-US"/>
          </a:p>
        </p:txBody>
      </p:sp>
      <p:pic>
        <p:nvPicPr>
          <p:cNvPr id="7" name="Picture 6">
            <a:extLst>
              <a:ext uri="{FF2B5EF4-FFF2-40B4-BE49-F238E27FC236}">
                <a16:creationId xmlns:a16="http://schemas.microsoft.com/office/drawing/2014/main" id="{6B646F90-1E1A-6789-551E-B5CEF9274BA6}"/>
              </a:ext>
            </a:extLst>
          </p:cNvPr>
          <p:cNvPicPr>
            <a:picLocks noChangeAspect="1"/>
          </p:cNvPicPr>
          <p:nvPr/>
        </p:nvPicPr>
        <p:blipFill>
          <a:blip r:embed="rId3"/>
          <a:stretch>
            <a:fillRect/>
          </a:stretch>
        </p:blipFill>
        <p:spPr>
          <a:xfrm>
            <a:off x="304800" y="962232"/>
            <a:ext cx="8305800" cy="5856654"/>
          </a:xfrm>
          <a:prstGeom prst="rect">
            <a:avLst/>
          </a:prstGeom>
        </p:spPr>
      </p:pic>
    </p:spTree>
    <p:extLst>
      <p:ext uri="{BB962C8B-B14F-4D97-AF65-F5344CB8AC3E}">
        <p14:creationId xmlns:p14="http://schemas.microsoft.com/office/powerpoint/2010/main" val="11118852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a:xfrm>
            <a:off x="1261872" y="758952"/>
            <a:ext cx="10549128" cy="4041648"/>
          </a:xfrm>
        </p:spPr>
        <p:txBody>
          <a:bodyPr/>
          <a:lstStyle/>
          <a:p>
            <a:r>
              <a:rPr lang="en-US" dirty="0"/>
              <a:t>Appendix</a:t>
            </a:r>
            <a:br>
              <a:rPr lang="en-US" dirty="0"/>
            </a:br>
            <a:endParaRPr lang="en-US" dirty="0"/>
          </a:p>
        </p:txBody>
      </p:sp>
      <p:sp>
        <p:nvSpPr>
          <p:cNvPr id="3" name="Subtitle 2">
            <a:extLst>
              <a:ext uri="{FF2B5EF4-FFF2-40B4-BE49-F238E27FC236}">
                <a16:creationId xmlns:a16="http://schemas.microsoft.com/office/drawing/2014/main" id="{9A7FADE3-4D7C-4B3A-B023-71CD85AECCCB}"/>
              </a:ext>
            </a:extLst>
          </p:cNvPr>
          <p:cNvSpPr>
            <a:spLocks noGrp="1"/>
          </p:cNvSpPr>
          <p:nvPr>
            <p:ph type="subTitle" idx="1"/>
          </p:nvPr>
        </p:nvSpPr>
        <p:spPr/>
        <p:txBody>
          <a:bodyPr>
            <a:normAutofit/>
          </a:bodyPr>
          <a:lstStyle/>
          <a:p>
            <a:endParaRPr lang="en-US" sz="4400" dirty="0"/>
          </a:p>
        </p:txBody>
      </p:sp>
    </p:spTree>
    <p:extLst>
      <p:ext uri="{BB962C8B-B14F-4D97-AF65-F5344CB8AC3E}">
        <p14:creationId xmlns:p14="http://schemas.microsoft.com/office/powerpoint/2010/main" val="2673239905"/>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a:xfrm>
            <a:off x="1261872" y="758952"/>
            <a:ext cx="10549128" cy="4041648"/>
          </a:xfrm>
        </p:spPr>
        <p:txBody>
          <a:bodyPr/>
          <a:lstStyle/>
          <a:p>
            <a:r>
              <a:rPr lang="en-US" dirty="0"/>
              <a:t>Organizing a Project</a:t>
            </a:r>
          </a:p>
        </p:txBody>
      </p:sp>
      <p:sp>
        <p:nvSpPr>
          <p:cNvPr id="3" name="Subtitle 2">
            <a:extLst>
              <a:ext uri="{FF2B5EF4-FFF2-40B4-BE49-F238E27FC236}">
                <a16:creationId xmlns:a16="http://schemas.microsoft.com/office/drawing/2014/main" id="{9A7FADE3-4D7C-4B3A-B023-71CD85AECCCB}"/>
              </a:ext>
            </a:extLst>
          </p:cNvPr>
          <p:cNvSpPr>
            <a:spLocks noGrp="1"/>
          </p:cNvSpPr>
          <p:nvPr>
            <p:ph type="subTitle" idx="1"/>
          </p:nvPr>
        </p:nvSpPr>
        <p:spPr/>
        <p:txBody>
          <a:bodyPr>
            <a:normAutofit/>
          </a:bodyPr>
          <a:lstStyle/>
          <a:p>
            <a:endParaRPr lang="en-US" sz="4400" dirty="0"/>
          </a:p>
        </p:txBody>
      </p:sp>
    </p:spTree>
    <p:extLst>
      <p:ext uri="{BB962C8B-B14F-4D97-AF65-F5344CB8AC3E}">
        <p14:creationId xmlns:p14="http://schemas.microsoft.com/office/powerpoint/2010/main" val="217572423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How do we structure a project? </a:t>
            </a:r>
          </a:p>
        </p:txBody>
      </p:sp>
      <p:sp>
        <p:nvSpPr>
          <p:cNvPr id="3" name="Content Placeholder 2"/>
          <p:cNvSpPr>
            <a:spLocks noGrp="1"/>
          </p:cNvSpPr>
          <p:nvPr>
            <p:ph idx="1"/>
          </p:nvPr>
        </p:nvSpPr>
        <p:spPr>
          <a:xfrm>
            <a:off x="1219199" y="1066801"/>
            <a:ext cx="9405791" cy="5141388"/>
          </a:xfrm>
        </p:spPr>
        <p:txBody>
          <a:bodyPr>
            <a:noAutofit/>
          </a:bodyPr>
          <a:lstStyle/>
          <a:p>
            <a:pPr>
              <a:buFont typeface="+mj-lt"/>
              <a:buAutoNum type="arabicPeriod"/>
            </a:pPr>
            <a:r>
              <a:rPr lang="en-US" sz="2400" b="0" i="0" dirty="0">
                <a:solidFill>
                  <a:srgbClr val="000000"/>
                </a:solidFill>
                <a:effectLst/>
                <a:cs typeface="Times New Roman" panose="02020603050405020304" pitchFamily="18" charset="0"/>
              </a:rPr>
              <a:t> File organization</a:t>
            </a:r>
          </a:p>
          <a:p>
            <a:pPr>
              <a:buFont typeface="+mj-lt"/>
              <a:buAutoNum type="arabicPeriod"/>
            </a:pPr>
            <a:r>
              <a:rPr lang="en-US" sz="2400" b="0" i="0" dirty="0">
                <a:solidFill>
                  <a:srgbClr val="000000"/>
                </a:solidFill>
                <a:effectLst/>
                <a:cs typeface="Times New Roman" panose="02020603050405020304" pitchFamily="18" charset="0"/>
              </a:rPr>
              <a:t> Clean code</a:t>
            </a:r>
          </a:p>
          <a:p>
            <a:pPr>
              <a:buFont typeface="+mj-lt"/>
              <a:buAutoNum type="arabicPeriod"/>
            </a:pPr>
            <a:r>
              <a:rPr lang="en-US" sz="2400" dirty="0">
                <a:solidFill>
                  <a:srgbClr val="000000"/>
                </a:solidFill>
                <a:cs typeface="Times New Roman" panose="02020603050405020304" pitchFamily="18" charset="0"/>
              </a:rPr>
              <a:t> Robustness checks</a:t>
            </a:r>
            <a:endParaRPr lang="en-US" sz="2400" b="0" i="0" dirty="0">
              <a:solidFill>
                <a:srgbClr val="000000"/>
              </a:solidFill>
              <a:effectLst/>
              <a:cs typeface="Times New Roman" panose="02020603050405020304" pitchFamily="18" charset="0"/>
            </a:endParaRPr>
          </a:p>
          <a:p>
            <a:pPr>
              <a:buFont typeface="+mj-lt"/>
              <a:buAutoNum type="arabicPeriod"/>
            </a:pPr>
            <a:r>
              <a:rPr lang="en-US" sz="2400" dirty="0">
                <a:solidFill>
                  <a:srgbClr val="000000"/>
                </a:solidFill>
                <a:cs typeface="Times New Roman" panose="02020603050405020304" pitchFamily="18" charset="0"/>
              </a:rPr>
              <a:t> Writing! </a:t>
            </a:r>
            <a:endParaRPr lang="en-US" sz="2400" b="0" i="0" dirty="0">
              <a:solidFill>
                <a:srgbClr val="000000"/>
              </a:solidFill>
              <a:effectLst/>
              <a:cs typeface="Times New Roman" panose="02020603050405020304" pitchFamily="18" charset="0"/>
            </a:endParaRPr>
          </a:p>
          <a:p>
            <a:pPr marL="0" indent="0">
              <a:buNone/>
            </a:pPr>
            <a:endParaRPr lang="en-US" sz="2400" dirty="0">
              <a:cs typeface="Times New Roman" panose="02020603050405020304" pitchFamily="18" charset="0"/>
            </a:endParaRPr>
          </a:p>
        </p:txBody>
      </p:sp>
    </p:spTree>
    <p:extLst>
      <p:ext uri="{BB962C8B-B14F-4D97-AF65-F5344CB8AC3E}">
        <p14:creationId xmlns:p14="http://schemas.microsoft.com/office/powerpoint/2010/main" val="78818278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What is Clean Code? </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405791" cy="5141388"/>
          </a:xfrm>
        </p:spPr>
        <p:txBody>
          <a:bodyPr>
            <a:noAutofit/>
          </a:bodyPr>
          <a:lstStyle/>
          <a:p>
            <a:r>
              <a:rPr lang="en-US" sz="2400" dirty="0">
                <a:cs typeface="Times New Roman" panose="02020603050405020304" pitchFamily="18" charset="0"/>
              </a:rPr>
              <a:t>Code that is easy to understand, easy to modify, and hence easy to debug</a:t>
            </a:r>
          </a:p>
          <a:p>
            <a:r>
              <a:rPr lang="en-US" sz="2400" dirty="0">
                <a:cs typeface="Times New Roman" panose="02020603050405020304" pitchFamily="18" charset="0"/>
              </a:rPr>
              <a:t>Some sources: </a:t>
            </a:r>
          </a:p>
          <a:p>
            <a:pPr lvl="1">
              <a:buFont typeface="+mj-lt"/>
              <a:buAutoNum type="arabicPeriod"/>
            </a:pPr>
            <a:r>
              <a:rPr lang="en-US" sz="2200" b="0" i="1" dirty="0">
                <a:solidFill>
                  <a:srgbClr val="000000"/>
                </a:solidFill>
                <a:effectLst/>
                <a:cs typeface="Times New Roman" panose="02020603050405020304" pitchFamily="18" charset="0"/>
              </a:rPr>
              <a:t>The Clean Coder</a:t>
            </a:r>
            <a:r>
              <a:rPr lang="en-US" sz="2200" b="0" i="0" dirty="0">
                <a:solidFill>
                  <a:srgbClr val="000000"/>
                </a:solidFill>
                <a:effectLst/>
                <a:cs typeface="Times New Roman" panose="02020603050405020304" pitchFamily="18" charset="0"/>
              </a:rPr>
              <a:t>, by Robert C. Martin</a:t>
            </a:r>
          </a:p>
          <a:p>
            <a:pPr lvl="1">
              <a:buFont typeface="+mj-lt"/>
              <a:buAutoNum type="arabicPeriod"/>
            </a:pPr>
            <a:r>
              <a:rPr lang="en-US" sz="2200" b="0" i="1" u="none" strike="noStrike" dirty="0">
                <a:solidFill>
                  <a:srgbClr val="841617"/>
                </a:solidFill>
                <a:effectLst/>
                <a:cs typeface="Times New Roman" panose="02020603050405020304" pitchFamily="18" charset="0"/>
                <a:hlinkClick r:id="rId3"/>
              </a:rPr>
              <a:t>Code and Data for the Social Sciences: A Practitioner's Guide</a:t>
            </a:r>
            <a:r>
              <a:rPr lang="en-US" sz="2200" b="0" i="0" dirty="0">
                <a:solidFill>
                  <a:srgbClr val="000000"/>
                </a:solidFill>
                <a:effectLst/>
                <a:cs typeface="Times New Roman" panose="02020603050405020304" pitchFamily="18" charset="0"/>
              </a:rPr>
              <a:t>, by Gentzkow and Shapiro</a:t>
            </a:r>
          </a:p>
          <a:p>
            <a:pPr lvl="1">
              <a:buFont typeface="+mj-lt"/>
              <a:buAutoNum type="arabicPeriod"/>
            </a:pPr>
            <a:r>
              <a:rPr lang="en-US" sz="2200" dirty="0">
                <a:solidFill>
                  <a:srgbClr val="000000"/>
                </a:solidFill>
                <a:cs typeface="Times New Roman" panose="02020603050405020304" pitchFamily="18" charset="0"/>
              </a:rPr>
              <a:t>Tyler Ransom’s (Oklahoma University) slides: </a:t>
            </a:r>
            <a:r>
              <a:rPr lang="en-US" sz="2200" dirty="0">
                <a:solidFill>
                  <a:srgbClr val="000000"/>
                </a:solidFill>
                <a:cs typeface="Times New Roman" panose="02020603050405020304" pitchFamily="18" charset="0"/>
                <a:hlinkClick r:id="rId4"/>
              </a:rPr>
              <a:t>https://raw.githack.com/OU-PhD-Econometrics/fall-2022/master/LectureNotes/01a-CleanCode/01aslides.html#2</a:t>
            </a:r>
            <a:r>
              <a:rPr lang="en-US" sz="2200" dirty="0">
                <a:solidFill>
                  <a:srgbClr val="000000"/>
                </a:solidFill>
                <a:cs typeface="Times New Roman" panose="02020603050405020304" pitchFamily="18" charset="0"/>
              </a:rPr>
              <a:t> </a:t>
            </a:r>
          </a:p>
          <a:p>
            <a:pPr lvl="1">
              <a:buFont typeface="+mj-lt"/>
              <a:buAutoNum type="arabicPeriod"/>
            </a:pPr>
            <a:endParaRPr lang="en-US" sz="2200" b="0" i="0" dirty="0">
              <a:solidFill>
                <a:srgbClr val="000000"/>
              </a:solidFill>
              <a:effectLst/>
              <a:cs typeface="Times New Roman" panose="02020603050405020304" pitchFamily="18" charset="0"/>
            </a:endParaRPr>
          </a:p>
          <a:p>
            <a:pPr marL="0" indent="0">
              <a:buNone/>
            </a:pPr>
            <a:endParaRPr lang="en-US" sz="2400" dirty="0">
              <a:cs typeface="Times New Roman" panose="02020603050405020304" pitchFamily="18" charset="0"/>
            </a:endParaRPr>
          </a:p>
        </p:txBody>
      </p:sp>
    </p:spTree>
    <p:extLst>
      <p:ext uri="{BB962C8B-B14F-4D97-AF65-F5344CB8AC3E}">
        <p14:creationId xmlns:p14="http://schemas.microsoft.com/office/powerpoint/2010/main" val="61034040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Principles of Clean Code</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Autofit/>
          </a:bodyPr>
          <a:lstStyle/>
          <a:p>
            <a:pPr algn="l">
              <a:buFont typeface="Arial" panose="020B0604020202020204" pitchFamily="34" charset="0"/>
              <a:buChar char="•"/>
            </a:pPr>
            <a:r>
              <a:rPr lang="en-US" sz="2400" b="0" i="0" dirty="0">
                <a:solidFill>
                  <a:srgbClr val="000000"/>
                </a:solidFill>
                <a:effectLst/>
                <a:cs typeface="Times New Roman" panose="02020603050405020304" pitchFamily="18" charset="0"/>
              </a:rPr>
              <a:t>Automation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Version control</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Abstraction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Documentation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Time / task management</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Test-driven development (unit testing, profiling, refactoring)</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Pair programming</a:t>
            </a:r>
          </a:p>
        </p:txBody>
      </p:sp>
    </p:spTree>
    <p:extLst>
      <p:ext uri="{BB962C8B-B14F-4D97-AF65-F5344CB8AC3E}">
        <p14:creationId xmlns:p14="http://schemas.microsoft.com/office/powerpoint/2010/main" val="52242805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Principles of Clean Code</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Autofit/>
          </a:bodyPr>
          <a:lstStyle/>
          <a:p>
            <a:pPr algn="l">
              <a:buFont typeface="Arial" panose="020B0604020202020204" pitchFamily="34" charset="0"/>
              <a:buChar char="•"/>
            </a:pPr>
            <a:r>
              <a:rPr lang="en-US" sz="2400" b="1" i="0" dirty="0">
                <a:solidFill>
                  <a:schemeClr val="accent2">
                    <a:lumMod val="75000"/>
                  </a:schemeClr>
                </a:solidFill>
                <a:effectLst/>
                <a:cs typeface="Times New Roman" panose="02020603050405020304" pitchFamily="18" charset="0"/>
              </a:rPr>
              <a:t>Automation – automate everything (that can be)!</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Version control</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Abstraction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Documentation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Time / task management</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Test-driven development (unit testing, profiling, refactoring)</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Pair programming</a:t>
            </a:r>
          </a:p>
        </p:txBody>
      </p:sp>
    </p:spTree>
    <p:extLst>
      <p:ext uri="{BB962C8B-B14F-4D97-AF65-F5344CB8AC3E}">
        <p14:creationId xmlns:p14="http://schemas.microsoft.com/office/powerpoint/2010/main" val="260002459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Principles of Clean Code</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Autofit/>
          </a:bodyPr>
          <a:lstStyle/>
          <a:p>
            <a:pPr algn="l">
              <a:buFont typeface="Arial" panose="020B0604020202020204" pitchFamily="34" charset="0"/>
              <a:buChar char="•"/>
            </a:pPr>
            <a:r>
              <a:rPr lang="en-US" sz="2400" b="0" i="0" dirty="0">
                <a:solidFill>
                  <a:srgbClr val="000000"/>
                </a:solidFill>
                <a:effectLst/>
                <a:cs typeface="Times New Roman" panose="02020603050405020304" pitchFamily="18" charset="0"/>
              </a:rPr>
              <a:t>Automation</a:t>
            </a:r>
          </a:p>
          <a:p>
            <a:pPr algn="l">
              <a:buFont typeface="Arial" panose="020B0604020202020204" pitchFamily="34" charset="0"/>
              <a:buChar char="•"/>
            </a:pPr>
            <a:r>
              <a:rPr lang="en-US" sz="2400" b="1" i="0" dirty="0">
                <a:solidFill>
                  <a:schemeClr val="accent2">
                    <a:lumMod val="75000"/>
                  </a:schemeClr>
                </a:solidFill>
                <a:effectLst/>
                <a:cs typeface="Times New Roman" panose="02020603050405020304" pitchFamily="18" charset="0"/>
              </a:rPr>
              <a:t>Version control – </a:t>
            </a:r>
            <a:r>
              <a:rPr lang="en-US" sz="2400" b="1" i="0" dirty="0" err="1">
                <a:solidFill>
                  <a:schemeClr val="accent2">
                    <a:lumMod val="75000"/>
                  </a:schemeClr>
                </a:solidFill>
                <a:effectLst/>
                <a:cs typeface="Times New Roman" panose="02020603050405020304" pitchFamily="18" charset="0"/>
              </a:rPr>
              <a:t>Github</a:t>
            </a:r>
            <a:r>
              <a:rPr lang="en-US" sz="2400" b="1" dirty="0">
                <a:solidFill>
                  <a:schemeClr val="accent2">
                    <a:lumMod val="75000"/>
                  </a:schemeClr>
                </a:solidFill>
                <a:cs typeface="Times New Roman" panose="02020603050405020304" pitchFamily="18" charset="0"/>
              </a:rPr>
              <a:t>, Dropbox, Overleaf!</a:t>
            </a:r>
            <a:endParaRPr lang="en-US" sz="2400" b="1" i="0" dirty="0">
              <a:solidFill>
                <a:schemeClr val="accent2">
                  <a:lumMod val="75000"/>
                </a:schemeClr>
              </a:solidFill>
              <a:effectLst/>
              <a:cs typeface="Times New Roman" panose="02020603050405020304" pitchFamily="18" charset="0"/>
            </a:endParaRP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Abstraction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Documentation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Time / task management</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Test-driven development (unit testing, profiling, refactoring)</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Pair programming</a:t>
            </a:r>
          </a:p>
        </p:txBody>
      </p:sp>
    </p:spTree>
    <p:extLst>
      <p:ext uri="{BB962C8B-B14F-4D97-AF65-F5344CB8AC3E}">
        <p14:creationId xmlns:p14="http://schemas.microsoft.com/office/powerpoint/2010/main" val="30558549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Principles of Clean Code</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Autofit/>
          </a:bodyPr>
          <a:lstStyle/>
          <a:p>
            <a:pPr algn="l">
              <a:buFont typeface="Arial" panose="020B0604020202020204" pitchFamily="34" charset="0"/>
              <a:buChar char="•"/>
            </a:pPr>
            <a:r>
              <a:rPr lang="en-US" sz="2400" b="0" i="0" dirty="0">
                <a:solidFill>
                  <a:srgbClr val="000000"/>
                </a:solidFill>
                <a:effectLst/>
                <a:cs typeface="Times New Roman" panose="02020603050405020304" pitchFamily="18" charset="0"/>
              </a:rPr>
              <a:t>Automation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Version control</a:t>
            </a:r>
          </a:p>
          <a:p>
            <a:pPr algn="l">
              <a:buFont typeface="Arial" panose="020B0604020202020204" pitchFamily="34" charset="0"/>
              <a:buChar char="•"/>
            </a:pPr>
            <a:r>
              <a:rPr lang="en-US" sz="2400" b="1" i="0" dirty="0">
                <a:solidFill>
                  <a:schemeClr val="accent2">
                    <a:lumMod val="75000"/>
                  </a:schemeClr>
                </a:solidFill>
                <a:effectLst/>
                <a:cs typeface="Times New Roman" panose="02020603050405020304" pitchFamily="18" charset="0"/>
              </a:rPr>
              <a:t>Abstraction – use functions to reduce complexity of code!</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Documentation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Time / task management</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Test-driven development (unit testing, profiling, refactoring)</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Pair programming</a:t>
            </a:r>
          </a:p>
        </p:txBody>
      </p:sp>
    </p:spTree>
    <p:extLst>
      <p:ext uri="{BB962C8B-B14F-4D97-AF65-F5344CB8AC3E}">
        <p14:creationId xmlns:p14="http://schemas.microsoft.com/office/powerpoint/2010/main" val="14032070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Principles of Clean Code</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Autofit/>
          </a:bodyPr>
          <a:lstStyle/>
          <a:p>
            <a:pPr algn="l">
              <a:buFont typeface="Arial" panose="020B0604020202020204" pitchFamily="34" charset="0"/>
              <a:buChar char="•"/>
            </a:pPr>
            <a:r>
              <a:rPr lang="en-US" sz="2400" b="0" i="0" dirty="0">
                <a:solidFill>
                  <a:srgbClr val="000000"/>
                </a:solidFill>
                <a:effectLst/>
                <a:cs typeface="Times New Roman" panose="02020603050405020304" pitchFamily="18" charset="0"/>
              </a:rPr>
              <a:t>Automation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Version control</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Abstraction</a:t>
            </a:r>
          </a:p>
          <a:p>
            <a:pPr algn="l">
              <a:buFont typeface="Arial" panose="020B0604020202020204" pitchFamily="34" charset="0"/>
              <a:buChar char="•"/>
            </a:pPr>
            <a:r>
              <a:rPr lang="en-US" sz="2400" b="1" i="0" dirty="0">
                <a:solidFill>
                  <a:schemeClr val="accent2">
                    <a:lumMod val="75000"/>
                  </a:schemeClr>
                </a:solidFill>
                <a:effectLst/>
                <a:cs typeface="Times New Roman" panose="02020603050405020304" pitchFamily="18" charset="0"/>
              </a:rPr>
              <a:t>Documentation – make code readable! (Variable names, comments)</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Time / task management</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Test-driven development (unit testing, profiling, refactoring)</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Pair programming</a:t>
            </a:r>
          </a:p>
        </p:txBody>
      </p:sp>
    </p:spTree>
    <p:extLst>
      <p:ext uri="{BB962C8B-B14F-4D97-AF65-F5344CB8AC3E}">
        <p14:creationId xmlns:p14="http://schemas.microsoft.com/office/powerpoint/2010/main" val="140792331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Principles of Clean Code</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Autofit/>
          </a:bodyPr>
          <a:lstStyle/>
          <a:p>
            <a:pPr algn="l">
              <a:buFont typeface="Arial" panose="020B0604020202020204" pitchFamily="34" charset="0"/>
              <a:buChar char="•"/>
            </a:pPr>
            <a:r>
              <a:rPr lang="en-US" sz="2400" b="0" i="0" dirty="0">
                <a:solidFill>
                  <a:srgbClr val="000000"/>
                </a:solidFill>
                <a:effectLst/>
                <a:cs typeface="Times New Roman" panose="02020603050405020304" pitchFamily="18" charset="0"/>
              </a:rPr>
              <a:t>Automation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Version control</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Abstraction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Documentation</a:t>
            </a:r>
          </a:p>
          <a:p>
            <a:pPr algn="l">
              <a:buFont typeface="Arial" panose="020B0604020202020204" pitchFamily="34" charset="0"/>
              <a:buChar char="•"/>
            </a:pPr>
            <a:r>
              <a:rPr lang="en-US" sz="2400" b="1" i="0" dirty="0">
                <a:solidFill>
                  <a:schemeClr val="accent2">
                    <a:lumMod val="75000"/>
                  </a:schemeClr>
                </a:solidFill>
                <a:effectLst/>
                <a:cs typeface="Times New Roman" panose="02020603050405020304" pitchFamily="18" charset="0"/>
              </a:rPr>
              <a:t>Time / task management – think carefully about </a:t>
            </a:r>
            <a:r>
              <a:rPr lang="en-US" sz="2400" b="1" i="1" dirty="0">
                <a:solidFill>
                  <a:schemeClr val="accent2">
                    <a:lumMod val="75000"/>
                  </a:schemeClr>
                </a:solidFill>
                <a:effectLst/>
                <a:cs typeface="Times New Roman" panose="02020603050405020304" pitchFamily="18" charset="0"/>
              </a:rPr>
              <a:t>when </a:t>
            </a:r>
            <a:r>
              <a:rPr lang="en-US" sz="2400" b="1" dirty="0">
                <a:solidFill>
                  <a:schemeClr val="accent2">
                    <a:lumMod val="75000"/>
                  </a:schemeClr>
                </a:solidFill>
                <a:effectLst/>
                <a:cs typeface="Times New Roman" panose="02020603050405020304" pitchFamily="18" charset="0"/>
              </a:rPr>
              <a:t>you code</a:t>
            </a:r>
            <a:endParaRPr lang="en-US" sz="2400" b="1" i="0" dirty="0">
              <a:solidFill>
                <a:schemeClr val="accent2">
                  <a:lumMod val="75000"/>
                </a:schemeClr>
              </a:solidFill>
              <a:effectLst/>
              <a:cs typeface="Times New Roman" panose="02020603050405020304" pitchFamily="18" charset="0"/>
            </a:endParaRP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Test-driven development (unit testing, profiling, refactoring)</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Pair programming</a:t>
            </a:r>
          </a:p>
        </p:txBody>
      </p:sp>
    </p:spTree>
    <p:extLst>
      <p:ext uri="{BB962C8B-B14F-4D97-AF65-F5344CB8AC3E}">
        <p14:creationId xmlns:p14="http://schemas.microsoft.com/office/powerpoint/2010/main" val="1524107690"/>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Principles of Clean Code: Task Management Software</a:t>
            </a:r>
            <a:endParaRPr lang="en-US" sz="3600" dirty="0">
              <a:latin typeface="Times New Roman" panose="02020603050405020304" pitchFamily="18" charset="0"/>
              <a:cs typeface="Times New Roman" panose="02020603050405020304" pitchFamily="18" charset="0"/>
            </a:endParaRPr>
          </a:p>
        </p:txBody>
      </p:sp>
      <p:pic>
        <p:nvPicPr>
          <p:cNvPr id="5" name="Content Placeholder 4">
            <a:extLst>
              <a:ext uri="{FF2B5EF4-FFF2-40B4-BE49-F238E27FC236}">
                <a16:creationId xmlns:a16="http://schemas.microsoft.com/office/drawing/2014/main" id="{0960B487-5864-2DAF-FE6B-A73BE17663B8}"/>
              </a:ext>
            </a:extLst>
          </p:cNvPr>
          <p:cNvPicPr>
            <a:picLocks noGrp="1" noChangeAspect="1"/>
          </p:cNvPicPr>
          <p:nvPr>
            <p:ph idx="1"/>
          </p:nvPr>
        </p:nvPicPr>
        <p:blipFill>
          <a:blip r:embed="rId3"/>
          <a:stretch>
            <a:fillRect/>
          </a:stretch>
        </p:blipFill>
        <p:spPr>
          <a:xfrm>
            <a:off x="152400" y="1143000"/>
            <a:ext cx="10015538" cy="2816475"/>
          </a:xfrm>
        </p:spPr>
      </p:pic>
      <p:pic>
        <p:nvPicPr>
          <p:cNvPr id="7" name="Picture 6">
            <a:extLst>
              <a:ext uri="{FF2B5EF4-FFF2-40B4-BE49-F238E27FC236}">
                <a16:creationId xmlns:a16="http://schemas.microsoft.com/office/drawing/2014/main" id="{BD91D579-E8CE-DA8A-0E4E-EFDC9EF14CB2}"/>
              </a:ext>
            </a:extLst>
          </p:cNvPr>
          <p:cNvPicPr>
            <a:picLocks noChangeAspect="1"/>
          </p:cNvPicPr>
          <p:nvPr/>
        </p:nvPicPr>
        <p:blipFill>
          <a:blip r:embed="rId4"/>
          <a:stretch>
            <a:fillRect/>
          </a:stretch>
        </p:blipFill>
        <p:spPr>
          <a:xfrm>
            <a:off x="253386" y="4572000"/>
            <a:ext cx="11938614" cy="1625684"/>
          </a:xfrm>
          <a:prstGeom prst="rect">
            <a:avLst/>
          </a:prstGeom>
        </p:spPr>
      </p:pic>
      <p:sp>
        <p:nvSpPr>
          <p:cNvPr id="8" name="Arrow: Down 7">
            <a:extLst>
              <a:ext uri="{FF2B5EF4-FFF2-40B4-BE49-F238E27FC236}">
                <a16:creationId xmlns:a16="http://schemas.microsoft.com/office/drawing/2014/main" id="{DF0A294B-50C9-5EB1-644E-91E309CA67FC}"/>
              </a:ext>
            </a:extLst>
          </p:cNvPr>
          <p:cNvSpPr/>
          <p:nvPr/>
        </p:nvSpPr>
        <p:spPr>
          <a:xfrm>
            <a:off x="8805862" y="2895600"/>
            <a:ext cx="838200" cy="1524000"/>
          </a:xfrm>
          <a:prstGeom prst="downArrow">
            <a:avLst/>
          </a:prstGeom>
          <a:solidFill>
            <a:schemeClr val="accent5">
              <a:lumMod val="40000"/>
              <a:lumOff val="60000"/>
            </a:schemeClr>
          </a:solidFill>
          <a:ln>
            <a:solidFill>
              <a:schemeClr val="accent5">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76460415"/>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Principles of Clean Code</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Autofit/>
          </a:bodyPr>
          <a:lstStyle/>
          <a:p>
            <a:pPr algn="l">
              <a:buFont typeface="Arial" panose="020B0604020202020204" pitchFamily="34" charset="0"/>
              <a:buChar char="•"/>
            </a:pPr>
            <a:r>
              <a:rPr lang="en-US" sz="2400" b="0" i="0" dirty="0">
                <a:solidFill>
                  <a:srgbClr val="000000"/>
                </a:solidFill>
                <a:effectLst/>
                <a:cs typeface="Times New Roman" panose="02020603050405020304" pitchFamily="18" charset="0"/>
              </a:rPr>
              <a:t>Automation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Version control</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Abstraction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Documentation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Time / task management</a:t>
            </a:r>
          </a:p>
          <a:p>
            <a:pPr algn="l">
              <a:buFont typeface="Arial" panose="020B0604020202020204" pitchFamily="34" charset="0"/>
              <a:buChar char="•"/>
            </a:pPr>
            <a:r>
              <a:rPr lang="en-US" sz="2400" b="1" i="0" dirty="0">
                <a:solidFill>
                  <a:schemeClr val="accent2">
                    <a:lumMod val="75000"/>
                  </a:schemeClr>
                </a:solidFill>
                <a:effectLst/>
                <a:cs typeface="Times New Roman" panose="02020603050405020304" pitchFamily="18" charset="0"/>
              </a:rPr>
              <a:t>Test-driven development (unit testing, profiling, refactoring) –</a:t>
            </a:r>
          </a:p>
          <a:p>
            <a:pPr lvl="1">
              <a:buFont typeface="Arial" panose="020B0604020202020204" pitchFamily="34" charset="0"/>
              <a:buChar char="•"/>
            </a:pPr>
            <a:r>
              <a:rPr lang="en-US" sz="2400" b="1" i="0" dirty="0">
                <a:solidFill>
                  <a:schemeClr val="accent2">
                    <a:lumMod val="75000"/>
                  </a:schemeClr>
                </a:solidFill>
                <a:effectLst/>
                <a:cs typeface="Times New Roman" panose="02020603050405020304" pitchFamily="18" charset="0"/>
              </a:rPr>
              <a:t>The only way to know that your code works is to test it!</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Pair programming</a:t>
            </a:r>
          </a:p>
        </p:txBody>
      </p:sp>
    </p:spTree>
    <p:extLst>
      <p:ext uri="{BB962C8B-B14F-4D97-AF65-F5344CB8AC3E}">
        <p14:creationId xmlns:p14="http://schemas.microsoft.com/office/powerpoint/2010/main" val="362942854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Unit Testing </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Autofit/>
          </a:bodyPr>
          <a:lstStyle/>
          <a:p>
            <a:pPr algn="l">
              <a:buFont typeface="Arial" panose="020B0604020202020204" pitchFamily="34" charset="0"/>
              <a:buChar char="•"/>
            </a:pPr>
            <a:endParaRPr lang="en-US" sz="2400" b="0" i="0" dirty="0">
              <a:solidFill>
                <a:srgbClr val="000000"/>
              </a:solidFill>
              <a:effectLst/>
              <a:cs typeface="Times New Roman" panose="02020603050405020304" pitchFamily="18" charset="0"/>
            </a:endParaRPr>
          </a:p>
        </p:txBody>
      </p:sp>
      <p:pic>
        <p:nvPicPr>
          <p:cNvPr id="5" name="Picture 4">
            <a:extLst>
              <a:ext uri="{FF2B5EF4-FFF2-40B4-BE49-F238E27FC236}">
                <a16:creationId xmlns:a16="http://schemas.microsoft.com/office/drawing/2014/main" id="{9D1F98F1-0F25-C8BC-2BBB-5B7C99012979}"/>
              </a:ext>
            </a:extLst>
          </p:cNvPr>
          <p:cNvPicPr>
            <a:picLocks noChangeAspect="1"/>
          </p:cNvPicPr>
          <p:nvPr/>
        </p:nvPicPr>
        <p:blipFill>
          <a:blip r:embed="rId3"/>
          <a:stretch>
            <a:fillRect/>
          </a:stretch>
        </p:blipFill>
        <p:spPr>
          <a:xfrm>
            <a:off x="609600" y="1066800"/>
            <a:ext cx="10134600" cy="5828205"/>
          </a:xfrm>
          <a:prstGeom prst="rect">
            <a:avLst/>
          </a:prstGeom>
        </p:spPr>
      </p:pic>
    </p:spTree>
    <p:extLst>
      <p:ext uri="{BB962C8B-B14F-4D97-AF65-F5344CB8AC3E}">
        <p14:creationId xmlns:p14="http://schemas.microsoft.com/office/powerpoint/2010/main" val="3453024309"/>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Unit Testing </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Autofit/>
          </a:bodyPr>
          <a:lstStyle/>
          <a:p>
            <a:pPr algn="l">
              <a:buFont typeface="Arial" panose="020B0604020202020204" pitchFamily="34" charset="0"/>
              <a:buChar char="•"/>
            </a:pPr>
            <a:endParaRPr lang="en-US" sz="2400" b="0" i="0" dirty="0">
              <a:solidFill>
                <a:srgbClr val="000000"/>
              </a:solidFill>
              <a:effectLst/>
              <a:cs typeface="Times New Roman" panose="02020603050405020304" pitchFamily="18" charset="0"/>
            </a:endParaRPr>
          </a:p>
        </p:txBody>
      </p:sp>
      <p:pic>
        <p:nvPicPr>
          <p:cNvPr id="6" name="Picture 5">
            <a:extLst>
              <a:ext uri="{FF2B5EF4-FFF2-40B4-BE49-F238E27FC236}">
                <a16:creationId xmlns:a16="http://schemas.microsoft.com/office/drawing/2014/main" id="{C2B86CCA-AF9D-18BE-E5E5-78BF75FD3D0B}"/>
              </a:ext>
            </a:extLst>
          </p:cNvPr>
          <p:cNvPicPr>
            <a:picLocks noChangeAspect="1"/>
          </p:cNvPicPr>
          <p:nvPr/>
        </p:nvPicPr>
        <p:blipFill>
          <a:blip r:embed="rId3"/>
          <a:stretch>
            <a:fillRect/>
          </a:stretch>
        </p:blipFill>
        <p:spPr>
          <a:xfrm>
            <a:off x="619246" y="1064871"/>
            <a:ext cx="9896354" cy="5743891"/>
          </a:xfrm>
          <a:prstGeom prst="rect">
            <a:avLst/>
          </a:prstGeom>
        </p:spPr>
      </p:pic>
    </p:spTree>
    <p:extLst>
      <p:ext uri="{BB962C8B-B14F-4D97-AF65-F5344CB8AC3E}">
        <p14:creationId xmlns:p14="http://schemas.microsoft.com/office/powerpoint/2010/main" val="1468025061"/>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Principles of Clean Code</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Autofit/>
          </a:bodyPr>
          <a:lstStyle/>
          <a:p>
            <a:pPr algn="l">
              <a:buFont typeface="Arial" panose="020B0604020202020204" pitchFamily="34" charset="0"/>
              <a:buChar char="•"/>
            </a:pPr>
            <a:r>
              <a:rPr lang="en-US" sz="2400" b="0" i="0" dirty="0">
                <a:solidFill>
                  <a:srgbClr val="000000"/>
                </a:solidFill>
                <a:effectLst/>
                <a:cs typeface="Times New Roman" panose="02020603050405020304" pitchFamily="18" charset="0"/>
              </a:rPr>
              <a:t>Automation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Version control</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Abstraction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Documentation</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Time / task management</a:t>
            </a:r>
          </a:p>
          <a:p>
            <a:pPr algn="l">
              <a:buFont typeface="Arial" panose="020B0604020202020204" pitchFamily="34" charset="0"/>
              <a:buChar char="•"/>
            </a:pPr>
            <a:r>
              <a:rPr lang="en-US" sz="2400" b="0" i="0" dirty="0">
                <a:solidFill>
                  <a:srgbClr val="000000"/>
                </a:solidFill>
                <a:effectLst/>
                <a:cs typeface="Times New Roman" panose="02020603050405020304" pitchFamily="18" charset="0"/>
              </a:rPr>
              <a:t>Test-driven development (unit testing, profiling, refactoring)</a:t>
            </a:r>
          </a:p>
          <a:p>
            <a:pPr algn="l">
              <a:buFont typeface="Arial" panose="020B0604020202020204" pitchFamily="34" charset="0"/>
              <a:buChar char="•"/>
            </a:pPr>
            <a:r>
              <a:rPr lang="en-US" sz="2400" b="1" i="0" dirty="0">
                <a:solidFill>
                  <a:schemeClr val="accent2">
                    <a:lumMod val="75000"/>
                  </a:schemeClr>
                </a:solidFill>
                <a:effectLst/>
                <a:cs typeface="Times New Roman" panose="02020603050405020304" pitchFamily="18" charset="0"/>
              </a:rPr>
              <a:t>Pair programming – have people look at your code!</a:t>
            </a:r>
          </a:p>
        </p:txBody>
      </p:sp>
    </p:spTree>
    <p:extLst>
      <p:ext uri="{BB962C8B-B14F-4D97-AF65-F5344CB8AC3E}">
        <p14:creationId xmlns:p14="http://schemas.microsoft.com/office/powerpoint/2010/main" val="74156773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55DFBB-690A-97FF-BB87-4A0449BE81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DB58B46-639B-72EF-3FE1-5E5D80B553F5}"/>
              </a:ext>
            </a:extLst>
          </p:cNvPr>
          <p:cNvSpPr>
            <a:spLocks noGrp="1"/>
          </p:cNvSpPr>
          <p:nvPr>
            <p:ph type="ctrTitle"/>
          </p:nvPr>
        </p:nvSpPr>
        <p:spPr>
          <a:xfrm>
            <a:off x="1261872" y="758952"/>
            <a:ext cx="10549128" cy="4041648"/>
          </a:xfrm>
        </p:spPr>
        <p:txBody>
          <a:bodyPr/>
          <a:lstStyle/>
          <a:p>
            <a:r>
              <a:rPr lang="en-US" dirty="0"/>
              <a:t>Why models?</a:t>
            </a:r>
          </a:p>
        </p:txBody>
      </p:sp>
      <p:sp>
        <p:nvSpPr>
          <p:cNvPr id="3" name="Subtitle 2">
            <a:extLst>
              <a:ext uri="{FF2B5EF4-FFF2-40B4-BE49-F238E27FC236}">
                <a16:creationId xmlns:a16="http://schemas.microsoft.com/office/drawing/2014/main" id="{F076C414-AD8E-038F-5A36-E138AA9056EB}"/>
              </a:ext>
            </a:extLst>
          </p:cNvPr>
          <p:cNvSpPr>
            <a:spLocks noGrp="1"/>
          </p:cNvSpPr>
          <p:nvPr>
            <p:ph type="subTitle" idx="1"/>
          </p:nvPr>
        </p:nvSpPr>
        <p:spPr/>
        <p:txBody>
          <a:bodyPr>
            <a:normAutofit/>
          </a:bodyPr>
          <a:lstStyle/>
          <a:p>
            <a:endParaRPr lang="en-US" sz="4400" dirty="0"/>
          </a:p>
        </p:txBody>
      </p:sp>
    </p:spTree>
    <p:extLst>
      <p:ext uri="{BB962C8B-B14F-4D97-AF65-F5344CB8AC3E}">
        <p14:creationId xmlns:p14="http://schemas.microsoft.com/office/powerpoint/2010/main" val="753035484"/>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Model vs. Design-based Approaches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Autofit/>
          </a:bodyPr>
          <a:lstStyle/>
          <a:p>
            <a:r>
              <a:rPr lang="en-US" sz="2800" dirty="0">
                <a:cs typeface="Times New Roman" panose="02020603050405020304" pitchFamily="18" charset="0"/>
              </a:rPr>
              <a:t>Approaches either rest on you having a DAG (</a:t>
            </a:r>
            <a:r>
              <a:rPr lang="en-US" sz="2800" dirty="0">
                <a:solidFill>
                  <a:schemeClr val="accent3">
                    <a:lumMod val="75000"/>
                  </a:schemeClr>
                </a:solidFill>
                <a:cs typeface="Times New Roman" panose="02020603050405020304" pitchFamily="18" charset="0"/>
              </a:rPr>
              <a:t>model-based</a:t>
            </a:r>
            <a:r>
              <a:rPr lang="en-US" sz="2800" dirty="0">
                <a:cs typeface="Times New Roman" panose="02020603050405020304" pitchFamily="18" charset="0"/>
              </a:rPr>
              <a:t>) or a good source of exogenous variation to identify data generating processes (</a:t>
            </a:r>
            <a:r>
              <a:rPr lang="en-US" sz="2800" dirty="0">
                <a:solidFill>
                  <a:schemeClr val="accent2">
                    <a:lumMod val="75000"/>
                  </a:schemeClr>
                </a:solidFill>
                <a:cs typeface="Times New Roman" panose="02020603050405020304" pitchFamily="18" charset="0"/>
              </a:rPr>
              <a:t>design-based</a:t>
            </a:r>
            <a:r>
              <a:rPr lang="en-US" sz="2800" dirty="0">
                <a:cs typeface="Times New Roman" panose="02020603050405020304" pitchFamily="18" charset="0"/>
              </a:rPr>
              <a:t>) </a:t>
            </a:r>
          </a:p>
          <a:p>
            <a:r>
              <a:rPr lang="en-US" sz="2800" dirty="0">
                <a:cs typeface="Times New Roman" panose="02020603050405020304" pitchFamily="18" charset="0"/>
              </a:rPr>
              <a:t>Examples of </a:t>
            </a:r>
            <a:r>
              <a:rPr lang="en-US" sz="2800" dirty="0">
                <a:solidFill>
                  <a:schemeClr val="accent3">
                    <a:lumMod val="75000"/>
                  </a:schemeClr>
                </a:solidFill>
                <a:cs typeface="Times New Roman" panose="02020603050405020304" pitchFamily="18" charset="0"/>
              </a:rPr>
              <a:t>model-based</a:t>
            </a:r>
            <a:r>
              <a:rPr lang="en-US" sz="2800" dirty="0">
                <a:cs typeface="Times New Roman" panose="02020603050405020304" pitchFamily="18" charset="0"/>
              </a:rPr>
              <a:t>: matching, controlling, IPW</a:t>
            </a:r>
          </a:p>
          <a:p>
            <a:pPr lvl="1"/>
            <a:r>
              <a:rPr lang="en-US" sz="2400" dirty="0">
                <a:cs typeface="Times New Roman" panose="02020603050405020304" pitchFamily="18" charset="0"/>
              </a:rPr>
              <a:t>Requires a</a:t>
            </a:r>
            <a:r>
              <a:rPr lang="en-US" sz="2400" dirty="0">
                <a:solidFill>
                  <a:schemeClr val="accent3">
                    <a:lumMod val="75000"/>
                  </a:schemeClr>
                </a:solidFill>
                <a:cs typeface="Times New Roman" panose="02020603050405020304" pitchFamily="18" charset="0"/>
              </a:rPr>
              <a:t> </a:t>
            </a:r>
            <a:r>
              <a:rPr lang="en-US" sz="2400" b="1" dirty="0">
                <a:solidFill>
                  <a:schemeClr val="accent3">
                    <a:lumMod val="75000"/>
                  </a:schemeClr>
                </a:solidFill>
                <a:cs typeface="Times New Roman" panose="02020603050405020304" pitchFamily="18" charset="0"/>
              </a:rPr>
              <a:t>big assumption</a:t>
            </a:r>
            <a:r>
              <a:rPr lang="en-US" sz="2400" dirty="0">
                <a:cs typeface="Times New Roman" panose="02020603050405020304" pitchFamily="18" charset="0"/>
              </a:rPr>
              <a:t> about your DAG (and selection on </a:t>
            </a:r>
            <a:r>
              <a:rPr lang="en-US" sz="2400" dirty="0" err="1">
                <a:cs typeface="Times New Roman" panose="02020603050405020304" pitchFamily="18" charset="0"/>
              </a:rPr>
              <a:t>unobservables</a:t>
            </a:r>
            <a:r>
              <a:rPr lang="en-US" sz="2400" dirty="0">
                <a:cs typeface="Times New Roman" panose="02020603050405020304" pitchFamily="18" charset="0"/>
              </a:rPr>
              <a:t>)</a:t>
            </a:r>
          </a:p>
          <a:p>
            <a:pPr lvl="1"/>
            <a:r>
              <a:rPr lang="en-US" sz="2400" dirty="0">
                <a:cs typeface="Times New Roman" panose="02020603050405020304" pitchFamily="18" charset="0"/>
              </a:rPr>
              <a:t>Can go as far as structural model approaches</a:t>
            </a:r>
          </a:p>
          <a:p>
            <a:r>
              <a:rPr lang="en-US" sz="2800" dirty="0">
                <a:cs typeface="Times New Roman" panose="02020603050405020304" pitchFamily="18" charset="0"/>
              </a:rPr>
              <a:t>Examples of </a:t>
            </a:r>
            <a:r>
              <a:rPr lang="en-US" sz="2800" dirty="0">
                <a:solidFill>
                  <a:schemeClr val="accent2">
                    <a:lumMod val="75000"/>
                  </a:schemeClr>
                </a:solidFill>
                <a:cs typeface="Times New Roman" panose="02020603050405020304" pitchFamily="18" charset="0"/>
              </a:rPr>
              <a:t>design-based:</a:t>
            </a:r>
            <a:r>
              <a:rPr lang="en-US" sz="2800" dirty="0">
                <a:cs typeface="Times New Roman" panose="02020603050405020304" pitchFamily="18" charset="0"/>
              </a:rPr>
              <a:t> RCT, DID, IV</a:t>
            </a:r>
          </a:p>
          <a:p>
            <a:pPr lvl="1"/>
            <a:r>
              <a:rPr lang="en-US" sz="2400" dirty="0">
                <a:cs typeface="Times New Roman" panose="02020603050405020304" pitchFamily="18" charset="0"/>
              </a:rPr>
              <a:t>Need a </a:t>
            </a:r>
            <a:r>
              <a:rPr lang="en-US" sz="2400" b="1" dirty="0">
                <a:solidFill>
                  <a:schemeClr val="accent2">
                    <a:lumMod val="75000"/>
                  </a:schemeClr>
                </a:solidFill>
                <a:cs typeface="Times New Roman" panose="02020603050405020304" pitchFamily="18" charset="0"/>
              </a:rPr>
              <a:t>specific</a:t>
            </a:r>
            <a:r>
              <a:rPr lang="en-US" sz="2400" dirty="0">
                <a:cs typeface="Times New Roman" panose="02020603050405020304" pitchFamily="18" charset="0"/>
              </a:rPr>
              <a:t> set of data and </a:t>
            </a:r>
            <a:r>
              <a:rPr lang="en-US" sz="2400" b="1" dirty="0">
                <a:solidFill>
                  <a:schemeClr val="accent2">
                    <a:lumMod val="75000"/>
                  </a:schemeClr>
                </a:solidFill>
                <a:cs typeface="Times New Roman" panose="02020603050405020304" pitchFamily="18" charset="0"/>
              </a:rPr>
              <a:t>circumstances</a:t>
            </a:r>
            <a:r>
              <a:rPr lang="en-US" sz="2400" dirty="0">
                <a:cs typeface="Times New Roman" panose="02020603050405020304" pitchFamily="18" charset="0"/>
              </a:rPr>
              <a:t> (policy change, instrument)</a:t>
            </a:r>
          </a:p>
          <a:p>
            <a:pPr lvl="1"/>
            <a:r>
              <a:rPr lang="en-US" sz="2400" dirty="0">
                <a:cs typeface="Times New Roman" panose="02020603050405020304" pitchFamily="18" charset="0"/>
              </a:rPr>
              <a:t>Still making assumptions about an underlying model! But minimizing the set of assumptions and making them more transparent</a:t>
            </a:r>
          </a:p>
          <a:p>
            <a:pPr lvl="1"/>
            <a:r>
              <a:rPr lang="en-US" sz="2400" dirty="0">
                <a:cs typeface="Times New Roman" panose="02020603050405020304" pitchFamily="18" charset="0"/>
              </a:rPr>
              <a:t>Typically relies on what’s referred to as </a:t>
            </a:r>
            <a:r>
              <a:rPr lang="en-US" sz="2400" u="sng" dirty="0">
                <a:cs typeface="Times New Roman" panose="02020603050405020304" pitchFamily="18" charset="0"/>
              </a:rPr>
              <a:t>quasi-random variation</a:t>
            </a:r>
          </a:p>
          <a:p>
            <a:pPr lvl="1"/>
            <a:r>
              <a:rPr lang="en-US" sz="2400" b="1" u="sng" dirty="0">
                <a:cs typeface="Times New Roman" panose="02020603050405020304" pitchFamily="18" charset="0"/>
              </a:rPr>
              <a:t>This is where we’re headed</a:t>
            </a:r>
          </a:p>
          <a:p>
            <a:endParaRPr lang="en-US" sz="2800" dirty="0">
              <a:cs typeface="Times New Roman" panose="02020603050405020304" pitchFamily="18" charset="0"/>
            </a:endParaRPr>
          </a:p>
        </p:txBody>
      </p:sp>
    </p:spTree>
    <p:extLst>
      <p:ext uri="{BB962C8B-B14F-4D97-AF65-F5344CB8AC3E}">
        <p14:creationId xmlns:p14="http://schemas.microsoft.com/office/powerpoint/2010/main" val="2824117371"/>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Why models? Why not models?  </a:t>
            </a:r>
          </a:p>
        </p:txBody>
      </p:sp>
      <p:sp>
        <p:nvSpPr>
          <p:cNvPr id="3" name="Content Placeholder 2"/>
          <p:cNvSpPr>
            <a:spLocks noGrp="1"/>
          </p:cNvSpPr>
          <p:nvPr>
            <p:ph idx="1"/>
          </p:nvPr>
        </p:nvSpPr>
        <p:spPr>
          <a:xfrm>
            <a:off x="609601" y="1066801"/>
            <a:ext cx="10015390" cy="5141388"/>
          </a:xfrm>
        </p:spPr>
        <p:txBody>
          <a:bodyPr>
            <a:noAutofit/>
          </a:bodyPr>
          <a:lstStyle/>
          <a:p>
            <a:r>
              <a:rPr lang="en-US" sz="2800" dirty="0">
                <a:cs typeface="Times New Roman" panose="02020603050405020304" pitchFamily="18" charset="0"/>
              </a:rPr>
              <a:t>Economic studies almost always have a “working model” </a:t>
            </a:r>
          </a:p>
          <a:p>
            <a:pPr lvl="1"/>
            <a:r>
              <a:rPr lang="en-US" sz="2600" dirty="0">
                <a:cs typeface="Times New Roman" panose="02020603050405020304" pitchFamily="18" charset="0"/>
              </a:rPr>
              <a:t>Can be as complicated as a formal microeconomic theory model</a:t>
            </a:r>
          </a:p>
          <a:p>
            <a:pPr lvl="1"/>
            <a:r>
              <a:rPr lang="en-US" sz="2600" dirty="0">
                <a:cs typeface="Times New Roman" panose="02020603050405020304" pitchFamily="18" charset="0"/>
              </a:rPr>
              <a:t>Or as simple as an OLS regression equation</a:t>
            </a:r>
          </a:p>
          <a:p>
            <a:r>
              <a:rPr lang="en-US" sz="2800" dirty="0">
                <a:cs typeface="Times New Roman" panose="02020603050405020304" pitchFamily="18" charset="0"/>
              </a:rPr>
              <a:t>But this framework specifies: </a:t>
            </a:r>
          </a:p>
          <a:p>
            <a:pPr lvl="1"/>
            <a:r>
              <a:rPr lang="en-US" sz="2600" dirty="0">
                <a:cs typeface="Times New Roman" panose="02020603050405020304" pitchFamily="18" charset="0"/>
              </a:rPr>
              <a:t>Whose behavior we are modeling</a:t>
            </a:r>
          </a:p>
          <a:p>
            <a:pPr lvl="1"/>
            <a:r>
              <a:rPr lang="en-US" sz="2600" dirty="0">
                <a:cs typeface="Times New Roman" panose="02020603050405020304" pitchFamily="18" charset="0"/>
              </a:rPr>
              <a:t>Under what constraints</a:t>
            </a:r>
          </a:p>
          <a:p>
            <a:pPr lvl="1"/>
            <a:r>
              <a:rPr lang="en-US" sz="2600" dirty="0">
                <a:cs typeface="Times New Roman" panose="02020603050405020304" pitchFamily="18" charset="0"/>
              </a:rPr>
              <a:t>With what sets of </a:t>
            </a:r>
            <a:r>
              <a:rPr lang="en-US" sz="2600" b="1" dirty="0">
                <a:cs typeface="Times New Roman" panose="02020603050405020304" pitchFamily="18" charset="0"/>
              </a:rPr>
              <a:t>endogenous</a:t>
            </a:r>
            <a:r>
              <a:rPr lang="en-US" sz="2600" dirty="0">
                <a:cs typeface="Times New Roman" panose="02020603050405020304" pitchFamily="18" charset="0"/>
              </a:rPr>
              <a:t> and </a:t>
            </a:r>
            <a:r>
              <a:rPr lang="en-US" sz="2600" b="1" dirty="0">
                <a:cs typeface="Times New Roman" panose="02020603050405020304" pitchFamily="18" charset="0"/>
              </a:rPr>
              <a:t>exogenous </a:t>
            </a:r>
            <a:r>
              <a:rPr lang="en-US" sz="2600" dirty="0">
                <a:cs typeface="Times New Roman" panose="02020603050405020304" pitchFamily="18" charset="0"/>
              </a:rPr>
              <a:t>variables (for now, choices vs. circumstances)</a:t>
            </a:r>
          </a:p>
          <a:p>
            <a:pPr lvl="1"/>
            <a:r>
              <a:rPr lang="en-US" sz="2600" dirty="0">
                <a:cs typeface="Times New Roman" panose="02020603050405020304" pitchFamily="18" charset="0"/>
              </a:rPr>
              <a:t>With what set of </a:t>
            </a:r>
            <a:r>
              <a:rPr lang="en-US" sz="2600" b="1" dirty="0">
                <a:cs typeface="Times New Roman" panose="02020603050405020304" pitchFamily="18" charset="0"/>
              </a:rPr>
              <a:t>observed data</a:t>
            </a:r>
          </a:p>
          <a:p>
            <a:r>
              <a:rPr lang="en-US" sz="2800" dirty="0">
                <a:cs typeface="Times New Roman" panose="02020603050405020304" pitchFamily="18" charset="0"/>
              </a:rPr>
              <a:t>Working models require “suspension of disbelief” and narrowing of focus (no model is perfect!) but must also capture the question at hand</a:t>
            </a:r>
          </a:p>
          <a:p>
            <a:pPr lvl="1"/>
            <a:endParaRPr lang="en-US" sz="2600" dirty="0">
              <a:cs typeface="Times New Roman" panose="02020603050405020304" pitchFamily="18" charset="0"/>
            </a:endParaRPr>
          </a:p>
        </p:txBody>
      </p:sp>
    </p:spTree>
    <p:extLst>
      <p:ext uri="{BB962C8B-B14F-4D97-AF65-F5344CB8AC3E}">
        <p14:creationId xmlns:p14="http://schemas.microsoft.com/office/powerpoint/2010/main" val="3690511320"/>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Three Examples of Models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015390" cy="5141388"/>
              </a:xfrm>
            </p:spPr>
            <p:txBody>
              <a:bodyPr>
                <a:noAutofit/>
              </a:bodyPr>
              <a:lstStyle/>
              <a:p>
                <a:pPr marL="788670" lvl="1" indent="-514350">
                  <a:buFont typeface="+mj-lt"/>
                  <a:buAutoNum type="arabicPeriod"/>
                </a:pPr>
                <a:r>
                  <a:rPr lang="en-US" sz="2600" u="sng" dirty="0">
                    <a:cs typeface="Times New Roman" panose="02020603050405020304" pitchFamily="18" charset="0"/>
                  </a:rPr>
                  <a:t>Explicit, approximation</a:t>
                </a:r>
              </a:p>
              <a:p>
                <a:pPr marL="274320" lvl="1" indent="0">
                  <a:buNone/>
                </a:pPr>
                <a:endParaRPr lang="en-US" sz="2600" u="sng" dirty="0">
                  <a:cs typeface="Times New Roman" panose="02020603050405020304" pitchFamily="18" charset="0"/>
                </a:endParaRPr>
              </a:p>
              <a:p>
                <a:pPr marL="274320" lvl="1" indent="0">
                  <a:buNone/>
                </a:pPr>
                <a:r>
                  <a:rPr lang="en-US" sz="2600" dirty="0">
                    <a:cs typeface="Times New Roman" panose="02020603050405020304" pitchFamily="18" charset="0"/>
                  </a:rPr>
                  <a:t>Suppose we have some relationship between </a:t>
                </a:r>
                <a14:m>
                  <m:oMath xmlns:m="http://schemas.openxmlformats.org/officeDocument/2006/math">
                    <m:r>
                      <a:rPr lang="en-US" sz="2600" b="0" i="1" smtClean="0">
                        <a:latin typeface="Cambria Math" panose="02040503050406030204" pitchFamily="18" charset="0"/>
                        <a:cs typeface="Times New Roman" panose="02020603050405020304" pitchFamily="18" charset="0"/>
                      </a:rPr>
                      <m:t>𝑋</m:t>
                    </m:r>
                  </m:oMath>
                </a14:m>
                <a:r>
                  <a:rPr lang="en-US" sz="2600" dirty="0">
                    <a:cs typeface="Times New Roman" panose="02020603050405020304" pitchFamily="18" charset="0"/>
                  </a:rPr>
                  <a:t> and </a:t>
                </a:r>
                <a14:m>
                  <m:oMath xmlns:m="http://schemas.openxmlformats.org/officeDocument/2006/math">
                    <m:r>
                      <a:rPr lang="en-US" sz="2600" b="0" i="1" smtClean="0">
                        <a:latin typeface="Cambria Math" panose="02040503050406030204" pitchFamily="18" charset="0"/>
                        <a:cs typeface="Times New Roman" panose="02020603050405020304" pitchFamily="18" charset="0"/>
                      </a:rPr>
                      <m:t>𝑌</m:t>
                    </m:r>
                  </m:oMath>
                </a14:m>
                <a:r>
                  <a:rPr lang="en-US" sz="2600" dirty="0">
                    <a:cs typeface="Times New Roman" panose="02020603050405020304" pitchFamily="18" charset="0"/>
                  </a:rPr>
                  <a:t> as </a:t>
                </a:r>
                <a14:m>
                  <m:oMath xmlns:m="http://schemas.openxmlformats.org/officeDocument/2006/math">
                    <m:sSub>
                      <m:sSubPr>
                        <m:ctrlPr>
                          <a:rPr lang="en-US" sz="2600" b="0" i="0" smtClean="0">
                            <a:latin typeface="Cambria Math" panose="02040503050406030204" pitchFamily="18" charset="0"/>
                            <a:cs typeface="Times New Roman" panose="02020603050405020304" pitchFamily="18" charset="0"/>
                          </a:rPr>
                        </m:ctrlPr>
                      </m:sSubPr>
                      <m:e>
                        <m:r>
                          <m:rPr>
                            <m:sty m:val="p"/>
                          </m:rPr>
                          <a:rPr lang="en-US" sz="2600" b="0" i="0" smtClean="0">
                            <a:latin typeface="Cambria Math" panose="02040503050406030204" pitchFamily="18" charset="0"/>
                            <a:cs typeface="Times New Roman" panose="02020603050405020304" pitchFamily="18" charset="0"/>
                          </a:rPr>
                          <m:t>Y</m:t>
                        </m:r>
                      </m:e>
                      <m:sub>
                        <m:r>
                          <m:rPr>
                            <m:sty m:val="p"/>
                          </m:rPr>
                          <a:rPr lang="en-US" sz="2600" b="0" i="0" smtClean="0">
                            <a:latin typeface="Cambria Math" panose="02040503050406030204" pitchFamily="18" charset="0"/>
                            <a:cs typeface="Times New Roman" panose="02020603050405020304" pitchFamily="18" charset="0"/>
                          </a:rPr>
                          <m:t>i</m:t>
                        </m:r>
                      </m:sub>
                    </m:sSub>
                    <m:r>
                      <a:rPr lang="en-US" sz="2600" b="0" i="0" smtClean="0">
                        <a:latin typeface="Cambria Math" panose="02040503050406030204" pitchFamily="18" charset="0"/>
                        <a:cs typeface="Times New Roman" panose="02020603050405020304" pitchFamily="18" charset="0"/>
                      </a:rPr>
                      <m:t>=</m:t>
                    </m:r>
                    <m:sSub>
                      <m:sSubPr>
                        <m:ctrlPr>
                          <a:rPr lang="en-US" sz="2600" b="0" i="1" smtClean="0">
                            <a:latin typeface="Cambria Math" panose="02040503050406030204" pitchFamily="18" charset="0"/>
                            <a:cs typeface="Times New Roman" panose="02020603050405020304" pitchFamily="18" charset="0"/>
                          </a:rPr>
                        </m:ctrlPr>
                      </m:sSubPr>
                      <m:e>
                        <m:r>
                          <a:rPr lang="en-US" sz="2600" b="0" i="1" smtClean="0">
                            <a:latin typeface="Cambria Math" panose="02040503050406030204" pitchFamily="18" charset="0"/>
                            <a:cs typeface="Times New Roman" panose="02020603050405020304" pitchFamily="18" charset="0"/>
                          </a:rPr>
                          <m:t>𝑓</m:t>
                        </m:r>
                      </m:e>
                      <m:sub>
                        <m:r>
                          <a:rPr lang="en-US" sz="2600" b="0" i="1" smtClean="0">
                            <a:latin typeface="Cambria Math" panose="02040503050406030204" pitchFamily="18" charset="0"/>
                            <a:cs typeface="Times New Roman" panose="02020603050405020304" pitchFamily="18" charset="0"/>
                          </a:rPr>
                          <m:t>𝑖</m:t>
                        </m:r>
                      </m:sub>
                    </m:sSub>
                    <m:r>
                      <a:rPr lang="en-US" sz="2600" b="0" i="1" smtClean="0">
                        <a:latin typeface="Cambria Math" panose="02040503050406030204" pitchFamily="18" charset="0"/>
                        <a:cs typeface="Times New Roman" panose="02020603050405020304" pitchFamily="18" charset="0"/>
                      </a:rPr>
                      <m:t>(</m:t>
                    </m:r>
                    <m:sSub>
                      <m:sSubPr>
                        <m:ctrlPr>
                          <a:rPr lang="en-US" sz="2600" b="0" i="1" smtClean="0">
                            <a:latin typeface="Cambria Math" panose="02040503050406030204" pitchFamily="18" charset="0"/>
                            <a:cs typeface="Times New Roman" panose="02020603050405020304" pitchFamily="18" charset="0"/>
                          </a:rPr>
                        </m:ctrlPr>
                      </m:sSubPr>
                      <m:e>
                        <m:r>
                          <a:rPr lang="en-US" sz="2600" b="0" i="1" smtClean="0">
                            <a:latin typeface="Cambria Math" panose="02040503050406030204" pitchFamily="18" charset="0"/>
                            <a:cs typeface="Times New Roman" panose="02020603050405020304" pitchFamily="18" charset="0"/>
                          </a:rPr>
                          <m:t>𝑋</m:t>
                        </m:r>
                      </m:e>
                      <m:sub>
                        <m:r>
                          <a:rPr lang="en-US" sz="2600" b="0" i="1" smtClean="0">
                            <a:latin typeface="Cambria Math" panose="02040503050406030204" pitchFamily="18" charset="0"/>
                            <a:cs typeface="Times New Roman" panose="02020603050405020304" pitchFamily="18" charset="0"/>
                          </a:rPr>
                          <m:t>𝑖</m:t>
                        </m:r>
                      </m:sub>
                    </m:sSub>
                    <m:r>
                      <a:rPr lang="en-US" sz="2600" b="0" i="1" smtClean="0">
                        <a:latin typeface="Cambria Math" panose="02040503050406030204" pitchFamily="18" charset="0"/>
                        <a:cs typeface="Times New Roman" panose="02020603050405020304" pitchFamily="18" charset="0"/>
                      </a:rPr>
                      <m:t>)</m:t>
                    </m:r>
                  </m:oMath>
                </a14:m>
                <a:r>
                  <a:rPr lang="en-US" sz="2600" dirty="0">
                    <a:cs typeface="Times New Roman" panose="02020603050405020304" pitchFamily="18" charset="0"/>
                  </a:rPr>
                  <a:t>.</a:t>
                </a:r>
              </a:p>
              <a:p>
                <a:pPr marL="274320" lvl="1" indent="0">
                  <a:buNone/>
                </a:pPr>
                <a:endParaRPr lang="en-US" sz="2600" dirty="0">
                  <a:cs typeface="Times New Roman" panose="02020603050405020304" pitchFamily="18" charset="0"/>
                </a:endParaRPr>
              </a:p>
              <a:p>
                <a:pPr marL="274320" lvl="1" indent="0">
                  <a:buNone/>
                </a:pPr>
                <a:r>
                  <a:rPr lang="en-US" sz="2600" dirty="0">
                    <a:cs typeface="Times New Roman" panose="02020603050405020304" pitchFamily="18" charset="0"/>
                  </a:rPr>
                  <a:t>Given our data, we write down instead</a:t>
                </a:r>
              </a:p>
              <a:p>
                <a:pPr marL="274320" lvl="1" indent="0" algn="ctr">
                  <a:buNone/>
                </a:pPr>
                <a14:m>
                  <m:oMath xmlns:m="http://schemas.openxmlformats.org/officeDocument/2006/math">
                    <m:sSub>
                      <m:sSubPr>
                        <m:ctrlPr>
                          <a:rPr lang="en-US" sz="2600" b="0" i="1" smtClean="0">
                            <a:latin typeface="Cambria Math" panose="02040503050406030204" pitchFamily="18" charset="0"/>
                            <a:cs typeface="Times New Roman" panose="02020603050405020304" pitchFamily="18" charset="0"/>
                          </a:rPr>
                        </m:ctrlPr>
                      </m:sSubPr>
                      <m:e>
                        <m:r>
                          <a:rPr lang="en-US" sz="2600" b="0" i="1" smtClean="0">
                            <a:latin typeface="Cambria Math" panose="02040503050406030204" pitchFamily="18" charset="0"/>
                            <a:cs typeface="Times New Roman" panose="02020603050405020304" pitchFamily="18" charset="0"/>
                          </a:rPr>
                          <m:t>𝑌</m:t>
                        </m:r>
                      </m:e>
                      <m:sub>
                        <m:r>
                          <a:rPr lang="en-US" sz="2600" b="0" i="1" smtClean="0">
                            <a:latin typeface="Cambria Math" panose="02040503050406030204" pitchFamily="18" charset="0"/>
                            <a:cs typeface="Times New Roman" panose="02020603050405020304" pitchFamily="18" charset="0"/>
                          </a:rPr>
                          <m:t>𝑖</m:t>
                        </m:r>
                      </m:sub>
                    </m:sSub>
                    <m:r>
                      <a:rPr lang="en-US" sz="2600" b="0" i="1" smtClean="0">
                        <a:latin typeface="Cambria Math" panose="02040503050406030204" pitchFamily="18" charset="0"/>
                        <a:cs typeface="Times New Roman" panose="02020603050405020304" pitchFamily="18" charset="0"/>
                      </a:rPr>
                      <m:t>=</m:t>
                    </m:r>
                    <m:sSub>
                      <m:sSubPr>
                        <m:ctrlPr>
                          <a:rPr lang="en-US" sz="2600" b="0" i="1" smtClean="0">
                            <a:latin typeface="Cambria Math" panose="02040503050406030204" pitchFamily="18" charset="0"/>
                            <a:cs typeface="Times New Roman" panose="02020603050405020304" pitchFamily="18" charset="0"/>
                          </a:rPr>
                        </m:ctrlPr>
                      </m:sSubPr>
                      <m:e>
                        <m:r>
                          <a:rPr lang="en-US" sz="2600" b="0" i="1" smtClean="0">
                            <a:latin typeface="Cambria Math" panose="02040503050406030204" pitchFamily="18" charset="0"/>
                            <a:cs typeface="Times New Roman" panose="02020603050405020304" pitchFamily="18" charset="0"/>
                          </a:rPr>
                          <m:t>𝛽</m:t>
                        </m:r>
                      </m:e>
                      <m:sub>
                        <m:r>
                          <a:rPr lang="en-US" sz="2600" b="0" i="1" smtClean="0">
                            <a:latin typeface="Cambria Math" panose="02040503050406030204" pitchFamily="18" charset="0"/>
                            <a:cs typeface="Times New Roman" panose="02020603050405020304" pitchFamily="18" charset="0"/>
                          </a:rPr>
                          <m:t>0</m:t>
                        </m:r>
                      </m:sub>
                    </m:sSub>
                    <m:r>
                      <a:rPr lang="en-US" sz="2600" b="0" i="1" smtClean="0">
                        <a:latin typeface="Cambria Math" panose="02040503050406030204" pitchFamily="18" charset="0"/>
                        <a:cs typeface="Times New Roman" panose="02020603050405020304" pitchFamily="18" charset="0"/>
                      </a:rPr>
                      <m:t>+</m:t>
                    </m:r>
                    <m:sSub>
                      <m:sSubPr>
                        <m:ctrlPr>
                          <a:rPr lang="en-US" sz="2600" b="0" i="1" smtClean="0">
                            <a:latin typeface="Cambria Math" panose="02040503050406030204" pitchFamily="18" charset="0"/>
                            <a:cs typeface="Times New Roman" panose="02020603050405020304" pitchFamily="18" charset="0"/>
                          </a:rPr>
                        </m:ctrlPr>
                      </m:sSubPr>
                      <m:e>
                        <m:r>
                          <a:rPr lang="en-US" sz="2600" b="0" i="1" smtClean="0">
                            <a:latin typeface="Cambria Math" panose="02040503050406030204" pitchFamily="18" charset="0"/>
                            <a:cs typeface="Times New Roman" panose="02020603050405020304" pitchFamily="18" charset="0"/>
                          </a:rPr>
                          <m:t>𝛽</m:t>
                        </m:r>
                      </m:e>
                      <m:sub>
                        <m:r>
                          <a:rPr lang="en-US" sz="2600" b="0" i="1" smtClean="0">
                            <a:latin typeface="Cambria Math" panose="02040503050406030204" pitchFamily="18" charset="0"/>
                            <a:cs typeface="Times New Roman" panose="02020603050405020304" pitchFamily="18" charset="0"/>
                          </a:rPr>
                          <m:t>1</m:t>
                        </m:r>
                      </m:sub>
                    </m:sSub>
                    <m:sSub>
                      <m:sSubPr>
                        <m:ctrlPr>
                          <a:rPr lang="en-US" sz="2600" b="0" i="1" smtClean="0">
                            <a:latin typeface="Cambria Math" panose="02040503050406030204" pitchFamily="18" charset="0"/>
                            <a:cs typeface="Times New Roman" panose="02020603050405020304" pitchFamily="18" charset="0"/>
                          </a:rPr>
                        </m:ctrlPr>
                      </m:sSubPr>
                      <m:e>
                        <m:r>
                          <a:rPr lang="en-US" sz="2600" b="0" i="1" smtClean="0">
                            <a:latin typeface="Cambria Math" panose="02040503050406030204" pitchFamily="18" charset="0"/>
                            <a:cs typeface="Times New Roman" panose="02020603050405020304" pitchFamily="18" charset="0"/>
                          </a:rPr>
                          <m:t>𝑋</m:t>
                        </m:r>
                      </m:e>
                      <m:sub>
                        <m:r>
                          <a:rPr lang="en-US" sz="2600" b="0" i="1" smtClean="0">
                            <a:latin typeface="Cambria Math" panose="02040503050406030204" pitchFamily="18" charset="0"/>
                            <a:cs typeface="Times New Roman" panose="02020603050405020304" pitchFamily="18" charset="0"/>
                          </a:rPr>
                          <m:t>𝑖</m:t>
                        </m:r>
                      </m:sub>
                    </m:sSub>
                    <m:r>
                      <a:rPr lang="en-US" sz="2600" b="0" i="1" smtClean="0">
                        <a:latin typeface="Cambria Math" panose="02040503050406030204" pitchFamily="18" charset="0"/>
                        <a:cs typeface="Times New Roman" panose="02020603050405020304" pitchFamily="18" charset="0"/>
                      </a:rPr>
                      <m:t>+</m:t>
                    </m:r>
                    <m:sSub>
                      <m:sSubPr>
                        <m:ctrlPr>
                          <a:rPr lang="en-US" sz="2600" b="0" i="1" smtClean="0">
                            <a:latin typeface="Cambria Math" panose="02040503050406030204" pitchFamily="18" charset="0"/>
                            <a:cs typeface="Times New Roman" panose="02020603050405020304" pitchFamily="18" charset="0"/>
                          </a:rPr>
                        </m:ctrlPr>
                      </m:sSubPr>
                      <m:e>
                        <m:r>
                          <a:rPr lang="en-US" sz="2600" b="0" i="1" smtClean="0">
                            <a:latin typeface="Cambria Math" panose="02040503050406030204" pitchFamily="18" charset="0"/>
                            <a:cs typeface="Times New Roman" panose="02020603050405020304" pitchFamily="18" charset="0"/>
                          </a:rPr>
                          <m:t>𝜀</m:t>
                        </m:r>
                      </m:e>
                      <m:sub>
                        <m:r>
                          <a:rPr lang="en-US" sz="2600" b="0" i="1" smtClean="0">
                            <a:latin typeface="Cambria Math" panose="02040503050406030204" pitchFamily="18" charset="0"/>
                            <a:cs typeface="Times New Roman" panose="02020603050405020304" pitchFamily="18" charset="0"/>
                          </a:rPr>
                          <m:t>𝑖</m:t>
                        </m:r>
                      </m:sub>
                    </m:sSub>
                  </m:oMath>
                </a14:m>
                <a:r>
                  <a:rPr lang="en-US" sz="2600" dirty="0">
                    <a:cs typeface="Times New Roman" panose="02020603050405020304" pitchFamily="18" charset="0"/>
                  </a:rPr>
                  <a:t> </a:t>
                </a:r>
              </a:p>
              <a:p>
                <a:pPr marL="274320" lvl="1" indent="0">
                  <a:buNone/>
                </a:pPr>
                <a:endParaRPr lang="en-US" sz="2600" dirty="0">
                  <a:cs typeface="Times New Roman" panose="02020603050405020304" pitchFamily="18" charset="0"/>
                </a:endParaRPr>
              </a:p>
              <a:p>
                <a:pPr marL="274320" lvl="1" indent="0">
                  <a:buNone/>
                </a:pPr>
                <a:r>
                  <a:rPr lang="en-US" sz="2600" dirty="0">
                    <a:cs typeface="Times New Roman" panose="02020603050405020304" pitchFamily="18" charset="0"/>
                  </a:rPr>
                  <a:t>What are we limiting here? What are we able to test? </a:t>
                </a:r>
              </a:p>
              <a:p>
                <a:pPr lvl="1"/>
                <a:r>
                  <a:rPr lang="en-US" sz="2600" dirty="0">
                    <a:cs typeface="Times New Roman" panose="02020603050405020304" pitchFamily="18" charset="0"/>
                  </a:rPr>
                  <a:t>Common DGP </a:t>
                </a:r>
              </a:p>
              <a:p>
                <a:pPr lvl="1"/>
                <a:r>
                  <a:rPr lang="en-US" sz="2600" dirty="0">
                    <a:cs typeface="Times New Roman" panose="02020603050405020304" pitchFamily="18" charset="0"/>
                  </a:rPr>
                  <a:t>Simple functional form</a:t>
                </a:r>
              </a:p>
              <a:p>
                <a:pPr lvl="1"/>
                <a:r>
                  <a:rPr lang="en-US" sz="2600" dirty="0">
                    <a:cs typeface="Times New Roman" panose="02020603050405020304" pitchFamily="18" charset="0"/>
                  </a:rPr>
                  <a:t>Can test general predictions and/or falsification tests </a:t>
                </a:r>
                <a:r>
                  <a:rPr lang="en-US" sz="2600" u="sng" dirty="0">
                    <a:cs typeface="Times New Roman" panose="02020603050405020304" pitchFamily="18" charset="0"/>
                  </a:rPr>
                  <a:t>based only on correlations</a:t>
                </a:r>
              </a:p>
              <a:p>
                <a:pPr lvl="1"/>
                <a:r>
                  <a:rPr lang="en-US" sz="2600" dirty="0">
                    <a:cs typeface="Times New Roman" panose="02020603050405020304" pitchFamily="18" charset="0"/>
                  </a:rPr>
                  <a:t>Have we said anything about causality? </a:t>
                </a:r>
              </a:p>
              <a:p>
                <a:pPr marL="274320" lvl="1" indent="0">
                  <a:buNone/>
                </a:pPr>
                <a:endParaRPr lang="en-US" sz="26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015390" cy="5141388"/>
              </a:xfrm>
              <a:blipFill>
                <a:blip r:embed="rId3"/>
                <a:stretch>
                  <a:fillRect t="-1779" b="-11269"/>
                </a:stretch>
              </a:blipFill>
            </p:spPr>
            <p:txBody>
              <a:bodyPr/>
              <a:lstStyle/>
              <a:p>
                <a:r>
                  <a:rPr lang="en-US">
                    <a:noFill/>
                  </a:rPr>
                  <a:t> </a:t>
                </a:r>
              </a:p>
            </p:txBody>
          </p:sp>
        </mc:Fallback>
      </mc:AlternateContent>
    </p:spTree>
    <p:extLst>
      <p:ext uri="{BB962C8B-B14F-4D97-AF65-F5344CB8AC3E}">
        <p14:creationId xmlns:p14="http://schemas.microsoft.com/office/powerpoint/2010/main" val="154254323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Three Examples of Models</a:t>
            </a:r>
          </a:p>
        </p:txBody>
      </p:sp>
      <p:sp>
        <p:nvSpPr>
          <p:cNvPr id="3" name="Content Placeholder 2"/>
          <p:cNvSpPr>
            <a:spLocks noGrp="1"/>
          </p:cNvSpPr>
          <p:nvPr>
            <p:ph idx="1"/>
          </p:nvPr>
        </p:nvSpPr>
        <p:spPr>
          <a:xfrm>
            <a:off x="609601" y="1066801"/>
            <a:ext cx="10015390" cy="5141388"/>
          </a:xfrm>
        </p:spPr>
        <p:txBody>
          <a:bodyPr>
            <a:noAutofit/>
          </a:bodyPr>
          <a:lstStyle/>
          <a:p>
            <a:pPr marL="788670" lvl="1" indent="-514350">
              <a:buFont typeface="+mj-lt"/>
              <a:buAutoNum type="arabicPeriod"/>
            </a:pPr>
            <a:r>
              <a:rPr lang="en-US" sz="2600" dirty="0">
                <a:cs typeface="Times New Roman" panose="02020603050405020304" pitchFamily="18" charset="0"/>
              </a:rPr>
              <a:t>Explicit, approximation</a:t>
            </a:r>
          </a:p>
          <a:p>
            <a:pPr marL="788670" lvl="1" indent="-514350">
              <a:buFont typeface="+mj-lt"/>
              <a:buAutoNum type="arabicPeriod"/>
            </a:pPr>
            <a:r>
              <a:rPr lang="en-US" sz="2600" u="sng" dirty="0">
                <a:cs typeface="Times New Roman" panose="02020603050405020304" pitchFamily="18" charset="0"/>
              </a:rPr>
              <a:t>Explicit, (more) exact</a:t>
            </a:r>
          </a:p>
          <a:p>
            <a:pPr marL="788670" lvl="1" indent="-514350">
              <a:buFont typeface="+mj-lt"/>
              <a:buAutoNum type="arabicPeriod"/>
            </a:pPr>
            <a:endParaRPr lang="en-US" sz="2600" u="sng" dirty="0">
              <a:cs typeface="Times New Roman" panose="02020603050405020304" pitchFamily="18" charset="0"/>
            </a:endParaRPr>
          </a:p>
          <a:p>
            <a:pPr marL="274320" lvl="1" indent="0">
              <a:buNone/>
            </a:pPr>
            <a:r>
              <a:rPr lang="en-US" sz="2600" dirty="0">
                <a:cs typeface="Times New Roman" panose="02020603050405020304" pitchFamily="18" charset="0"/>
              </a:rPr>
              <a:t>We could go to the other extreme, and set a full model (e.g., structural model) </a:t>
            </a:r>
          </a:p>
          <a:p>
            <a:pPr lvl="1"/>
            <a:r>
              <a:rPr lang="en-US" sz="2600" dirty="0">
                <a:cs typeface="Times New Roman" panose="02020603050405020304" pitchFamily="18" charset="0"/>
              </a:rPr>
              <a:t>Specify the complete data generating process (e.g., all utility functions for each individual-outcome pair + unobserved heterogeneity in tastes) </a:t>
            </a:r>
          </a:p>
          <a:p>
            <a:pPr lvl="1"/>
            <a:r>
              <a:rPr lang="en-US" sz="2600" dirty="0">
                <a:cs typeface="Times New Roman" panose="02020603050405020304" pitchFamily="18" charset="0"/>
              </a:rPr>
              <a:t>Doing so yields a fully-specified (over-specified) demand system that identifies many parameters</a:t>
            </a:r>
          </a:p>
          <a:p>
            <a:pPr lvl="1"/>
            <a:r>
              <a:rPr lang="en-US" sz="2600" dirty="0">
                <a:cs typeface="Times New Roman" panose="02020603050405020304" pitchFamily="18" charset="0"/>
              </a:rPr>
              <a:t>Estimation is extremely complicated</a:t>
            </a:r>
          </a:p>
          <a:p>
            <a:pPr lvl="1"/>
            <a:r>
              <a:rPr lang="en-US" sz="2600" dirty="0">
                <a:cs typeface="Times New Roman" panose="02020603050405020304" pitchFamily="18" charset="0"/>
              </a:rPr>
              <a:t>Each identified parameter requires a unique identifying assumption – strong set of assumptions! </a:t>
            </a:r>
          </a:p>
        </p:txBody>
      </p:sp>
    </p:spTree>
    <p:extLst>
      <p:ext uri="{BB962C8B-B14F-4D97-AF65-F5344CB8AC3E}">
        <p14:creationId xmlns:p14="http://schemas.microsoft.com/office/powerpoint/2010/main" val="203501746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Relying on Theoretical Frameworks</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762001" y="1066801"/>
                <a:ext cx="9862990" cy="5141388"/>
              </a:xfrm>
            </p:spPr>
            <p:txBody>
              <a:bodyPr>
                <a:noAutofit/>
              </a:bodyPr>
              <a:lstStyle/>
              <a:p>
                <a:r>
                  <a:rPr lang="en-US" sz="2400" dirty="0">
                    <a:cs typeface="Times New Roman" panose="02020603050405020304" pitchFamily="18" charset="0"/>
                  </a:rPr>
                  <a:t>Almost all frameworks are </a:t>
                </a:r>
                <a:r>
                  <a:rPr lang="en-US" sz="2400" b="1" dirty="0">
                    <a:solidFill>
                      <a:schemeClr val="accent2">
                        <a:lumMod val="75000"/>
                      </a:schemeClr>
                    </a:solidFill>
                    <a:cs typeface="Times New Roman" panose="02020603050405020304" pitchFamily="18" charset="0"/>
                  </a:rPr>
                  <a:t>theories of change </a:t>
                </a:r>
                <a:r>
                  <a:rPr lang="en-US" sz="2400" dirty="0">
                    <a:cs typeface="Times New Roman" panose="02020603050405020304" pitchFamily="18" charset="0"/>
                  </a:rPr>
                  <a:t>(causal pathways)</a:t>
                </a:r>
              </a:p>
              <a:p>
                <a:r>
                  <a:rPr lang="en-US" sz="2400" dirty="0">
                    <a:cs typeface="Times New Roman" panose="02020603050405020304" pitchFamily="18" charset="0"/>
                  </a:rPr>
                  <a:t>But how can a framework motivate a design?</a:t>
                </a:r>
              </a:p>
              <a:p>
                <a:pPr marL="731520" lvl="1" indent="-457200">
                  <a:buFont typeface="+mj-lt"/>
                  <a:buAutoNum type="arabicPeriod"/>
                </a:pPr>
                <a:r>
                  <a:rPr lang="en-US" sz="2200" dirty="0">
                    <a:cs typeface="Times New Roman" panose="02020603050405020304" pitchFamily="18" charset="0"/>
                  </a:rPr>
                  <a:t>Write your research question as </a:t>
                </a:r>
                <a:r>
                  <a:rPr lang="en-US" sz="2200" b="1" dirty="0">
                    <a:solidFill>
                      <a:schemeClr val="accent2">
                        <a:lumMod val="75000"/>
                      </a:schemeClr>
                    </a:solidFill>
                    <a:cs typeface="Times New Roman" panose="02020603050405020304" pitchFamily="18" charset="0"/>
                  </a:rPr>
                  <a:t>explicitly</a:t>
                </a:r>
                <a:r>
                  <a:rPr lang="en-US" sz="2200" b="1" dirty="0">
                    <a:cs typeface="Times New Roman" panose="02020603050405020304" pitchFamily="18" charset="0"/>
                  </a:rPr>
                  <a:t> </a:t>
                </a:r>
                <a:r>
                  <a:rPr lang="en-US" sz="2200" dirty="0">
                    <a:cs typeface="Times New Roman" panose="02020603050405020304" pitchFamily="18" charset="0"/>
                  </a:rPr>
                  <a:t>as possible</a:t>
                </a:r>
              </a:p>
              <a:p>
                <a:pPr marL="731520" lvl="1" indent="-457200">
                  <a:buFont typeface="+mj-lt"/>
                  <a:buAutoNum type="arabicPeriod"/>
                </a:pPr>
                <a:r>
                  <a:rPr lang="en-US" sz="2200" dirty="0">
                    <a:cs typeface="Times New Roman" panose="02020603050405020304" pitchFamily="18" charset="0"/>
                  </a:rPr>
                  <a:t>Draw a DAG! Take time thinking about open back- and front-doors</a:t>
                </a:r>
              </a:p>
              <a:p>
                <a:pPr marL="731520" lvl="1" indent="-457200">
                  <a:buFont typeface="+mj-lt"/>
                  <a:buAutoNum type="arabicPeriod"/>
                </a:pPr>
                <a:r>
                  <a:rPr lang="en-US" sz="2200" dirty="0">
                    <a:cs typeface="Times New Roman" panose="02020603050405020304" pitchFamily="18" charset="0"/>
                  </a:rPr>
                  <a:t>Maybe build the DAG into a theoretical model</a:t>
                </a:r>
              </a:p>
              <a:p>
                <a:pPr marL="731520" lvl="1" indent="-457200">
                  <a:buFont typeface="+mj-lt"/>
                  <a:buAutoNum type="arabicPeriod"/>
                </a:pPr>
                <a:r>
                  <a:rPr lang="en-US" sz="2200" dirty="0">
                    <a:cs typeface="Times New Roman" panose="02020603050405020304" pitchFamily="18" charset="0"/>
                  </a:rPr>
                  <a:t>DAG + model </a:t>
                </a:r>
                <a14:m>
                  <m:oMath xmlns:m="http://schemas.openxmlformats.org/officeDocument/2006/math">
                    <m:r>
                      <a:rPr lang="en-CA" sz="2200" b="0" i="1" smtClean="0">
                        <a:latin typeface="Cambria Math" panose="02040503050406030204" pitchFamily="18" charset="0"/>
                        <a:cs typeface="Times New Roman" panose="02020603050405020304" pitchFamily="18" charset="0"/>
                      </a:rPr>
                      <m:t>⇒</m:t>
                    </m:r>
                  </m:oMath>
                </a14:m>
                <a:r>
                  <a:rPr lang="en-US" sz="2200" dirty="0">
                    <a:cs typeface="Times New Roman" panose="02020603050405020304" pitchFamily="18" charset="0"/>
                  </a:rPr>
                  <a:t> Regressions, assumptions, even </a:t>
                </a:r>
                <a:r>
                  <a:rPr lang="en-US" sz="2200" b="1" dirty="0">
                    <a:solidFill>
                      <a:schemeClr val="accent3">
                        <a:lumMod val="75000"/>
                      </a:schemeClr>
                    </a:solidFill>
                    <a:cs typeface="Times New Roman" panose="02020603050405020304" pitchFamily="18" charset="0"/>
                  </a:rPr>
                  <a:t>identification</a:t>
                </a:r>
                <a:r>
                  <a:rPr lang="en-US" sz="2200" dirty="0">
                    <a:cs typeface="Times New Roman" panose="02020603050405020304" pitchFamily="18" charset="0"/>
                  </a:rPr>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762001" y="1066801"/>
                <a:ext cx="9862990" cy="5141388"/>
              </a:xfrm>
              <a:blipFill>
                <a:blip r:embed="rId3"/>
                <a:stretch>
                  <a:fillRect l="-433" t="-1305"/>
                </a:stretch>
              </a:blipFill>
            </p:spPr>
            <p:txBody>
              <a:bodyPr/>
              <a:lstStyle/>
              <a:p>
                <a:r>
                  <a:rPr lang="en-US">
                    <a:noFill/>
                  </a:rPr>
                  <a:t> </a:t>
                </a:r>
              </a:p>
            </p:txBody>
          </p:sp>
        </mc:Fallback>
      </mc:AlternateContent>
    </p:spTree>
    <p:extLst>
      <p:ext uri="{BB962C8B-B14F-4D97-AF65-F5344CB8AC3E}">
        <p14:creationId xmlns:p14="http://schemas.microsoft.com/office/powerpoint/2010/main" val="1507514134"/>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Three Examples of Models – why design-based?</a:t>
            </a:r>
          </a:p>
        </p:txBody>
      </p:sp>
      <p:sp>
        <p:nvSpPr>
          <p:cNvPr id="3" name="Content Placeholder 2"/>
          <p:cNvSpPr>
            <a:spLocks noGrp="1"/>
          </p:cNvSpPr>
          <p:nvPr>
            <p:ph idx="1"/>
          </p:nvPr>
        </p:nvSpPr>
        <p:spPr>
          <a:xfrm>
            <a:off x="609601" y="1066801"/>
            <a:ext cx="10015390" cy="5141388"/>
          </a:xfrm>
        </p:spPr>
        <p:txBody>
          <a:bodyPr>
            <a:noAutofit/>
          </a:bodyPr>
          <a:lstStyle/>
          <a:p>
            <a:pPr marL="788670" lvl="1" indent="-514350">
              <a:buFont typeface="+mj-lt"/>
              <a:buAutoNum type="arabicPeriod"/>
            </a:pPr>
            <a:r>
              <a:rPr lang="en-US" sz="2600" dirty="0">
                <a:cs typeface="Times New Roman" panose="02020603050405020304" pitchFamily="18" charset="0"/>
              </a:rPr>
              <a:t>Explicit, approximation</a:t>
            </a:r>
          </a:p>
          <a:p>
            <a:pPr marL="788670" lvl="1" indent="-514350">
              <a:buFont typeface="+mj-lt"/>
              <a:buAutoNum type="arabicPeriod"/>
            </a:pPr>
            <a:r>
              <a:rPr lang="en-US" sz="2600" dirty="0">
                <a:cs typeface="Times New Roman" panose="02020603050405020304" pitchFamily="18" charset="0"/>
              </a:rPr>
              <a:t>Explicit, (more) exact</a:t>
            </a:r>
          </a:p>
          <a:p>
            <a:pPr marL="788670" lvl="1" indent="-514350">
              <a:buFont typeface="+mj-lt"/>
              <a:buAutoNum type="arabicPeriod"/>
            </a:pPr>
            <a:r>
              <a:rPr lang="en-US" sz="2600" u="sng" dirty="0">
                <a:cs typeface="Times New Roman" panose="02020603050405020304" pitchFamily="18" charset="0"/>
              </a:rPr>
              <a:t>Implicit</a:t>
            </a:r>
          </a:p>
          <a:p>
            <a:pPr marL="788670" lvl="1" indent="-514350">
              <a:buFont typeface="+mj-lt"/>
              <a:buAutoNum type="arabicPeriod"/>
            </a:pPr>
            <a:endParaRPr lang="en-US" sz="2600" u="sng" dirty="0">
              <a:cs typeface="Times New Roman" panose="02020603050405020304" pitchFamily="18" charset="0"/>
            </a:endParaRPr>
          </a:p>
          <a:p>
            <a:pPr marL="274320" lvl="1" indent="0">
              <a:buNone/>
            </a:pPr>
            <a:r>
              <a:rPr lang="en-US" sz="2600" dirty="0">
                <a:cs typeface="Times New Roman" panose="02020603050405020304" pitchFamily="18" charset="0"/>
              </a:rPr>
              <a:t>So frequently, we do something that’s more in the middle </a:t>
            </a:r>
          </a:p>
          <a:p>
            <a:pPr marL="274320" lvl="1" indent="0">
              <a:buNone/>
            </a:pPr>
            <a:endParaRPr lang="en-US" sz="2600" dirty="0">
              <a:cs typeface="Times New Roman" panose="02020603050405020304" pitchFamily="18" charset="0"/>
            </a:endParaRPr>
          </a:p>
          <a:p>
            <a:pPr marL="274320" lvl="1" indent="0">
              <a:buNone/>
            </a:pPr>
            <a:r>
              <a:rPr lang="en-US" sz="2600" dirty="0">
                <a:cs typeface="Times New Roman" panose="02020603050405020304" pitchFamily="18" charset="0"/>
              </a:rPr>
              <a:t>Rather than specify a behavioral model explicitly, we focus on a single causal relationship and identify it using quasi-exogenous variation: </a:t>
            </a:r>
          </a:p>
          <a:p>
            <a:pPr lvl="1"/>
            <a:r>
              <a:rPr lang="en-US" sz="2600" dirty="0">
                <a:cs typeface="Times New Roman" panose="02020603050405020304" pitchFamily="18" charset="0"/>
              </a:rPr>
              <a:t>What is the effect of job training on employment/income? Find a state that randomized people to take job training and evaluate their outcomes relative to a control state</a:t>
            </a:r>
          </a:p>
          <a:p>
            <a:pPr lvl="1"/>
            <a:r>
              <a:rPr lang="en-US" sz="2600" dirty="0">
                <a:cs typeface="Times New Roman" panose="02020603050405020304" pitchFamily="18" charset="0"/>
              </a:rPr>
              <a:t>What are the advantages/disadvantages of this? </a:t>
            </a:r>
          </a:p>
        </p:txBody>
      </p:sp>
    </p:spTree>
    <p:extLst>
      <p:ext uri="{BB962C8B-B14F-4D97-AF65-F5344CB8AC3E}">
        <p14:creationId xmlns:p14="http://schemas.microsoft.com/office/powerpoint/2010/main" val="4230878884"/>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So what do we get from design-based inference?</a:t>
            </a:r>
          </a:p>
        </p:txBody>
      </p:sp>
      <p:sp>
        <p:nvSpPr>
          <p:cNvPr id="3" name="Content Placeholder 2"/>
          <p:cNvSpPr>
            <a:spLocks noGrp="1"/>
          </p:cNvSpPr>
          <p:nvPr>
            <p:ph idx="1"/>
          </p:nvPr>
        </p:nvSpPr>
        <p:spPr>
          <a:xfrm>
            <a:off x="609601" y="1066801"/>
            <a:ext cx="10015390" cy="5141388"/>
          </a:xfrm>
        </p:spPr>
        <p:txBody>
          <a:bodyPr>
            <a:noAutofit/>
          </a:bodyPr>
          <a:lstStyle/>
          <a:p>
            <a:pPr marL="274320" lvl="1" indent="0">
              <a:buNone/>
            </a:pPr>
            <a:r>
              <a:rPr lang="en-US" sz="2600" b="1" dirty="0">
                <a:cs typeface="Times New Roman" panose="02020603050405020304" pitchFamily="18" charset="0"/>
              </a:rPr>
              <a:t>Counterfactuals and causality</a:t>
            </a:r>
          </a:p>
          <a:p>
            <a:pPr lvl="1"/>
            <a:r>
              <a:rPr lang="en-US" sz="2600" dirty="0">
                <a:cs typeface="Times New Roman" panose="02020603050405020304" pitchFamily="18" charset="0"/>
              </a:rPr>
              <a:t>In many ways, the identification </a:t>
            </a:r>
            <a:r>
              <a:rPr lang="en-US" sz="2600" i="1" dirty="0">
                <a:cs typeface="Times New Roman" panose="02020603050405020304" pitchFamily="18" charset="0"/>
              </a:rPr>
              <a:t>becomes</a:t>
            </a:r>
            <a:r>
              <a:rPr lang="en-US" sz="2600" dirty="0">
                <a:cs typeface="Times New Roman" panose="02020603050405020304" pitchFamily="18" charset="0"/>
              </a:rPr>
              <a:t> the research design</a:t>
            </a:r>
          </a:p>
          <a:p>
            <a:pPr lvl="1"/>
            <a:r>
              <a:rPr lang="en-US" sz="2600" dirty="0">
                <a:cs typeface="Times New Roman" panose="02020603050405020304" pitchFamily="18" charset="0"/>
              </a:rPr>
              <a:t>It defines the counterfactual estimation when the design is credible</a:t>
            </a:r>
          </a:p>
          <a:p>
            <a:pPr lvl="1"/>
            <a:endParaRPr lang="en-US" sz="2600" dirty="0">
              <a:cs typeface="Times New Roman" panose="02020603050405020304" pitchFamily="18" charset="0"/>
            </a:endParaRPr>
          </a:p>
          <a:p>
            <a:pPr marL="274320" lvl="1" indent="0">
              <a:buNone/>
            </a:pPr>
            <a:r>
              <a:rPr lang="en-US" sz="2600" b="1" dirty="0">
                <a:cs typeface="Times New Roman" panose="02020603050405020304" pitchFamily="18" charset="0"/>
              </a:rPr>
              <a:t>Descriptive + Causal Evidence</a:t>
            </a:r>
          </a:p>
          <a:p>
            <a:pPr lvl="1"/>
            <a:r>
              <a:rPr lang="en-US" sz="2600" dirty="0">
                <a:cs typeface="Times New Roman" panose="02020603050405020304" pitchFamily="18" charset="0"/>
              </a:rPr>
              <a:t>Without a full structural approach, many papers become “storytelling” </a:t>
            </a:r>
          </a:p>
          <a:p>
            <a:pPr lvl="1"/>
            <a:r>
              <a:rPr lang="en-US" sz="2600" dirty="0">
                <a:cs typeface="Times New Roman" panose="02020603050405020304" pitchFamily="18" charset="0"/>
              </a:rPr>
              <a:t>You present a set of descriptive + causal evidence, sometimes under the umbrella of a formal model (“applied theory”) and sometimes just as a narrative</a:t>
            </a:r>
          </a:p>
          <a:p>
            <a:pPr lvl="1"/>
            <a:endParaRPr lang="en-US" sz="2600" dirty="0">
              <a:cs typeface="Times New Roman" panose="02020603050405020304" pitchFamily="18" charset="0"/>
            </a:endParaRPr>
          </a:p>
          <a:p>
            <a:pPr marL="274320" lvl="1" indent="0">
              <a:buNone/>
            </a:pPr>
            <a:r>
              <a:rPr lang="en-US" sz="2600" b="1" dirty="0">
                <a:cs typeface="Times New Roman" panose="02020603050405020304" pitchFamily="18" charset="0"/>
              </a:rPr>
              <a:t>Replicability </a:t>
            </a:r>
          </a:p>
          <a:p>
            <a:pPr lvl="1"/>
            <a:r>
              <a:rPr lang="en-US" sz="2600" dirty="0">
                <a:cs typeface="Times New Roman" panose="02020603050405020304" pitchFamily="18" charset="0"/>
              </a:rPr>
              <a:t>Credible replication of your own results</a:t>
            </a:r>
          </a:p>
          <a:p>
            <a:pPr lvl="1"/>
            <a:r>
              <a:rPr lang="en-US" sz="2600" dirty="0">
                <a:cs typeface="Times New Roman" panose="02020603050405020304" pitchFamily="18" charset="0"/>
              </a:rPr>
              <a:t>Credible replication of results in other contexts/data/etc.</a:t>
            </a:r>
          </a:p>
          <a:p>
            <a:pPr lvl="1"/>
            <a:endParaRPr lang="en-US" sz="2600" dirty="0">
              <a:cs typeface="Times New Roman" panose="02020603050405020304" pitchFamily="18" charset="0"/>
            </a:endParaRPr>
          </a:p>
        </p:txBody>
      </p:sp>
    </p:spTree>
    <p:extLst>
      <p:ext uri="{BB962C8B-B14F-4D97-AF65-F5344CB8AC3E}">
        <p14:creationId xmlns:p14="http://schemas.microsoft.com/office/powerpoint/2010/main" val="2203409957"/>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FCF29B-C526-4B29-7CD4-F60A983018E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5D02D30-86C3-6C5D-4A14-D848CC6168CE}"/>
              </a:ext>
            </a:extLst>
          </p:cNvPr>
          <p:cNvSpPr>
            <a:spLocks noGrp="1"/>
          </p:cNvSpPr>
          <p:nvPr>
            <p:ph type="ctrTitle"/>
          </p:nvPr>
        </p:nvSpPr>
        <p:spPr>
          <a:xfrm>
            <a:off x="1261872" y="758952"/>
            <a:ext cx="10549128" cy="4041648"/>
          </a:xfrm>
        </p:spPr>
        <p:txBody>
          <a:bodyPr/>
          <a:lstStyle/>
          <a:p>
            <a:r>
              <a:rPr lang="en-US" dirty="0"/>
              <a:t>Communicating Findings</a:t>
            </a:r>
          </a:p>
        </p:txBody>
      </p:sp>
      <p:sp>
        <p:nvSpPr>
          <p:cNvPr id="3" name="Subtitle 2">
            <a:extLst>
              <a:ext uri="{FF2B5EF4-FFF2-40B4-BE49-F238E27FC236}">
                <a16:creationId xmlns:a16="http://schemas.microsoft.com/office/drawing/2014/main" id="{1D6216EC-BC76-242D-F4A5-D7C4C024FAC0}"/>
              </a:ext>
            </a:extLst>
          </p:cNvPr>
          <p:cNvSpPr>
            <a:spLocks noGrp="1"/>
          </p:cNvSpPr>
          <p:nvPr>
            <p:ph type="subTitle" idx="1"/>
          </p:nvPr>
        </p:nvSpPr>
        <p:spPr/>
        <p:txBody>
          <a:bodyPr>
            <a:normAutofit/>
          </a:bodyPr>
          <a:lstStyle/>
          <a:p>
            <a:endParaRPr lang="en-US" sz="4400" dirty="0"/>
          </a:p>
        </p:txBody>
      </p:sp>
    </p:spTree>
    <p:extLst>
      <p:ext uri="{BB962C8B-B14F-4D97-AF65-F5344CB8AC3E}">
        <p14:creationId xmlns:p14="http://schemas.microsoft.com/office/powerpoint/2010/main" val="1974926705"/>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Data Viz</a:t>
            </a:r>
            <a:endParaRPr lang="en-US" sz="3600" dirty="0">
              <a:latin typeface="Times New Roman" panose="02020603050405020304" pitchFamily="18" charset="0"/>
              <a:cs typeface="Times New Roman" panose="02020603050405020304" pitchFamily="18" charset="0"/>
            </a:endParaRPr>
          </a:p>
        </p:txBody>
      </p:sp>
      <p:pic>
        <p:nvPicPr>
          <p:cNvPr id="5" name="Content Placeholder 4">
            <a:extLst>
              <a:ext uri="{FF2B5EF4-FFF2-40B4-BE49-F238E27FC236}">
                <a16:creationId xmlns:a16="http://schemas.microsoft.com/office/drawing/2014/main" id="{AAB1EA4F-F0E1-7CB3-EEAB-0504685502E6}"/>
              </a:ext>
            </a:extLst>
          </p:cNvPr>
          <p:cNvPicPr>
            <a:picLocks noGrp="1" noChangeAspect="1"/>
          </p:cNvPicPr>
          <p:nvPr>
            <p:ph idx="1"/>
          </p:nvPr>
        </p:nvPicPr>
        <p:blipFill>
          <a:blip r:embed="rId3"/>
          <a:stretch>
            <a:fillRect/>
          </a:stretch>
        </p:blipFill>
        <p:spPr>
          <a:xfrm>
            <a:off x="6950765" y="167175"/>
            <a:ext cx="4114800" cy="6690825"/>
          </a:xfrm>
        </p:spPr>
      </p:pic>
      <p:sp>
        <p:nvSpPr>
          <p:cNvPr id="3" name="TextBox 2">
            <a:extLst>
              <a:ext uri="{FF2B5EF4-FFF2-40B4-BE49-F238E27FC236}">
                <a16:creationId xmlns:a16="http://schemas.microsoft.com/office/drawing/2014/main" id="{84E41639-9B59-79BB-5165-55F708335CB7}"/>
              </a:ext>
            </a:extLst>
          </p:cNvPr>
          <p:cNvSpPr txBox="1"/>
          <p:nvPr/>
        </p:nvSpPr>
        <p:spPr>
          <a:xfrm>
            <a:off x="762000" y="962232"/>
            <a:ext cx="6096000" cy="2308324"/>
          </a:xfrm>
          <a:prstGeom prst="rect">
            <a:avLst/>
          </a:prstGeom>
          <a:noFill/>
        </p:spPr>
        <p:txBody>
          <a:bodyPr wrap="square" rtlCol="0">
            <a:spAutoFit/>
          </a:bodyPr>
          <a:lstStyle/>
          <a:p>
            <a:r>
              <a:rPr lang="en-US" sz="2400" dirty="0" err="1">
                <a:latin typeface="Times New Roman" panose="02020603050405020304" pitchFamily="18" charset="0"/>
                <a:cs typeface="Times New Roman" panose="02020603050405020304" pitchFamily="18" charset="0"/>
              </a:rPr>
              <a:t>Schwabish</a:t>
            </a:r>
            <a:r>
              <a:rPr lang="en-US" sz="2400" dirty="0">
                <a:latin typeface="Times New Roman" panose="02020603050405020304" pitchFamily="18" charset="0"/>
                <a:cs typeface="Times New Roman" panose="02020603050405020304" pitchFamily="18" charset="0"/>
              </a:rPr>
              <a:t> (2014): </a:t>
            </a:r>
          </a:p>
          <a:p>
            <a:pPr marL="457200" indent="-457200">
              <a:buAutoNum type="arabicPeriod"/>
            </a:pPr>
            <a:r>
              <a:rPr lang="en-US" sz="2400" dirty="0">
                <a:latin typeface="Times New Roman" panose="02020603050405020304" pitchFamily="18" charset="0"/>
                <a:cs typeface="Times New Roman" panose="02020603050405020304" pitchFamily="18" charset="0"/>
              </a:rPr>
              <a:t>Show the data</a:t>
            </a:r>
          </a:p>
          <a:p>
            <a:pPr marL="457200" indent="-457200">
              <a:buAutoNum type="arabicPeriod"/>
            </a:pPr>
            <a:r>
              <a:rPr lang="en-US" sz="2400" dirty="0">
                <a:latin typeface="Times New Roman" panose="02020603050405020304" pitchFamily="18" charset="0"/>
                <a:cs typeface="Times New Roman" panose="02020603050405020304" pitchFamily="18" charset="0"/>
              </a:rPr>
              <a:t>Reduce the clutter</a:t>
            </a:r>
          </a:p>
          <a:p>
            <a:pPr marL="457200" indent="-457200">
              <a:buAutoNum type="arabicPeriod"/>
            </a:pPr>
            <a:r>
              <a:rPr lang="en-US" sz="2400" dirty="0">
                <a:latin typeface="Times New Roman" panose="02020603050405020304" pitchFamily="18" charset="0"/>
                <a:cs typeface="Times New Roman" panose="02020603050405020304" pitchFamily="18" charset="0"/>
              </a:rPr>
              <a:t>Integrate the text and the graph</a:t>
            </a:r>
          </a:p>
          <a:p>
            <a:pPr marL="457200" indent="-457200">
              <a:buAutoNum type="arabicPeriod"/>
            </a:pPr>
            <a:endParaRPr lang="en-US" sz="2400" dirty="0">
              <a:latin typeface="Times New Roman" panose="02020603050405020304" pitchFamily="18" charset="0"/>
              <a:cs typeface="Times New Roman" panose="02020603050405020304" pitchFamily="18" charset="0"/>
            </a:endParaRPr>
          </a:p>
          <a:p>
            <a:r>
              <a:rPr lang="en-US" sz="2400" dirty="0">
                <a:latin typeface="Times New Roman" panose="02020603050405020304" pitchFamily="18" charset="0"/>
                <a:cs typeface="Times New Roman" panose="02020603050405020304" pitchFamily="18" charset="0"/>
              </a:rPr>
              <a:t>See some helpful slides and examples </a:t>
            </a:r>
            <a:r>
              <a:rPr lang="en-US" sz="2400" dirty="0">
                <a:latin typeface="Times New Roman" panose="02020603050405020304" pitchFamily="18" charset="0"/>
                <a:cs typeface="Times New Roman" panose="02020603050405020304" pitchFamily="18" charset="0"/>
                <a:hlinkClick r:id="rId4"/>
              </a:rPr>
              <a:t>here</a:t>
            </a:r>
            <a:r>
              <a:rPr lang="en-US" sz="2400" dirty="0">
                <a:latin typeface="Times New Roman" panose="02020603050405020304" pitchFamily="18" charset="0"/>
                <a:cs typeface="Times New Roman" panose="02020603050405020304" pitchFamily="18" charset="0"/>
              </a:rPr>
              <a:t> </a:t>
            </a:r>
            <a:endParaRPr lang="en-CA"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94722497"/>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Data Viz: Before (1/2)</a:t>
            </a:r>
            <a:endParaRPr lang="en-US" sz="3600" dirty="0">
              <a:latin typeface="Times New Roman" panose="02020603050405020304" pitchFamily="18" charset="0"/>
              <a:cs typeface="Times New Roman" panose="02020603050405020304" pitchFamily="18" charset="0"/>
            </a:endParaRPr>
          </a:p>
        </p:txBody>
      </p:sp>
      <p:sp>
        <p:nvSpPr>
          <p:cNvPr id="6" name="Content Placeholder 5">
            <a:extLst>
              <a:ext uri="{FF2B5EF4-FFF2-40B4-BE49-F238E27FC236}">
                <a16:creationId xmlns:a16="http://schemas.microsoft.com/office/drawing/2014/main" id="{00A23F39-3025-3A5A-66CA-253F1A1CF96F}"/>
              </a:ext>
            </a:extLst>
          </p:cNvPr>
          <p:cNvSpPr>
            <a:spLocks noGrp="1"/>
          </p:cNvSpPr>
          <p:nvPr>
            <p:ph idx="1"/>
          </p:nvPr>
        </p:nvSpPr>
        <p:spPr/>
        <p:txBody>
          <a:bodyPr/>
          <a:lstStyle/>
          <a:p>
            <a:endParaRPr lang="en-CA"/>
          </a:p>
        </p:txBody>
      </p:sp>
      <p:pic>
        <p:nvPicPr>
          <p:cNvPr id="8" name="Picture 7">
            <a:extLst>
              <a:ext uri="{FF2B5EF4-FFF2-40B4-BE49-F238E27FC236}">
                <a16:creationId xmlns:a16="http://schemas.microsoft.com/office/drawing/2014/main" id="{D03CD802-E471-98AB-7AFD-78F2E9D89E28}"/>
              </a:ext>
            </a:extLst>
          </p:cNvPr>
          <p:cNvPicPr>
            <a:picLocks noChangeAspect="1"/>
          </p:cNvPicPr>
          <p:nvPr/>
        </p:nvPicPr>
        <p:blipFill>
          <a:blip r:embed="rId3"/>
          <a:stretch>
            <a:fillRect/>
          </a:stretch>
        </p:blipFill>
        <p:spPr>
          <a:xfrm>
            <a:off x="1689300" y="1176403"/>
            <a:ext cx="8280000" cy="5656129"/>
          </a:xfrm>
          <a:prstGeom prst="rect">
            <a:avLst/>
          </a:prstGeom>
        </p:spPr>
      </p:pic>
    </p:spTree>
    <p:extLst>
      <p:ext uri="{BB962C8B-B14F-4D97-AF65-F5344CB8AC3E}">
        <p14:creationId xmlns:p14="http://schemas.microsoft.com/office/powerpoint/2010/main" val="3483211793"/>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Data Viz: After (1/2)</a:t>
            </a:r>
            <a:endParaRPr lang="en-US" sz="3600" dirty="0">
              <a:latin typeface="Times New Roman" panose="02020603050405020304" pitchFamily="18" charset="0"/>
              <a:cs typeface="Times New Roman" panose="02020603050405020304" pitchFamily="18" charset="0"/>
            </a:endParaRPr>
          </a:p>
        </p:txBody>
      </p:sp>
      <p:sp>
        <p:nvSpPr>
          <p:cNvPr id="6" name="Content Placeholder 5">
            <a:extLst>
              <a:ext uri="{FF2B5EF4-FFF2-40B4-BE49-F238E27FC236}">
                <a16:creationId xmlns:a16="http://schemas.microsoft.com/office/drawing/2014/main" id="{00A23F39-3025-3A5A-66CA-253F1A1CF96F}"/>
              </a:ext>
            </a:extLst>
          </p:cNvPr>
          <p:cNvSpPr>
            <a:spLocks noGrp="1"/>
          </p:cNvSpPr>
          <p:nvPr>
            <p:ph idx="1"/>
          </p:nvPr>
        </p:nvSpPr>
        <p:spPr/>
        <p:txBody>
          <a:bodyPr/>
          <a:lstStyle/>
          <a:p>
            <a:endParaRPr lang="en-CA"/>
          </a:p>
        </p:txBody>
      </p:sp>
      <p:pic>
        <p:nvPicPr>
          <p:cNvPr id="7" name="Picture 6">
            <a:extLst>
              <a:ext uri="{FF2B5EF4-FFF2-40B4-BE49-F238E27FC236}">
                <a16:creationId xmlns:a16="http://schemas.microsoft.com/office/drawing/2014/main" id="{62B7439C-B6CB-8741-647B-B7EFF5A2C58D}"/>
              </a:ext>
            </a:extLst>
          </p:cNvPr>
          <p:cNvPicPr>
            <a:picLocks noChangeAspect="1"/>
          </p:cNvPicPr>
          <p:nvPr/>
        </p:nvPicPr>
        <p:blipFill>
          <a:blip r:embed="rId3"/>
          <a:stretch>
            <a:fillRect/>
          </a:stretch>
        </p:blipFill>
        <p:spPr>
          <a:xfrm>
            <a:off x="1689300" y="1162992"/>
            <a:ext cx="8280000" cy="5682952"/>
          </a:xfrm>
          <a:prstGeom prst="rect">
            <a:avLst/>
          </a:prstGeom>
        </p:spPr>
      </p:pic>
    </p:spTree>
    <p:extLst>
      <p:ext uri="{BB962C8B-B14F-4D97-AF65-F5344CB8AC3E}">
        <p14:creationId xmlns:p14="http://schemas.microsoft.com/office/powerpoint/2010/main" val="3988444205"/>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Data Viz: Before (2/2)</a:t>
            </a:r>
            <a:endParaRPr lang="en-US" sz="3600" dirty="0">
              <a:latin typeface="Times New Roman" panose="02020603050405020304" pitchFamily="18" charset="0"/>
              <a:cs typeface="Times New Roman" panose="02020603050405020304" pitchFamily="18" charset="0"/>
            </a:endParaRPr>
          </a:p>
        </p:txBody>
      </p:sp>
      <p:sp>
        <p:nvSpPr>
          <p:cNvPr id="6" name="Content Placeholder 5">
            <a:extLst>
              <a:ext uri="{FF2B5EF4-FFF2-40B4-BE49-F238E27FC236}">
                <a16:creationId xmlns:a16="http://schemas.microsoft.com/office/drawing/2014/main" id="{00A23F39-3025-3A5A-66CA-253F1A1CF96F}"/>
              </a:ext>
            </a:extLst>
          </p:cNvPr>
          <p:cNvSpPr>
            <a:spLocks noGrp="1"/>
          </p:cNvSpPr>
          <p:nvPr>
            <p:ph idx="1"/>
          </p:nvPr>
        </p:nvSpPr>
        <p:spPr/>
        <p:txBody>
          <a:bodyPr/>
          <a:lstStyle/>
          <a:p>
            <a:endParaRPr lang="en-CA"/>
          </a:p>
        </p:txBody>
      </p:sp>
      <p:pic>
        <p:nvPicPr>
          <p:cNvPr id="4" name="Picture 3">
            <a:extLst>
              <a:ext uri="{FF2B5EF4-FFF2-40B4-BE49-F238E27FC236}">
                <a16:creationId xmlns:a16="http://schemas.microsoft.com/office/drawing/2014/main" id="{664DBAFB-5540-F4B1-B42A-384B3CD1BA28}"/>
              </a:ext>
            </a:extLst>
          </p:cNvPr>
          <p:cNvPicPr>
            <a:picLocks noChangeAspect="1"/>
          </p:cNvPicPr>
          <p:nvPr/>
        </p:nvPicPr>
        <p:blipFill>
          <a:blip r:embed="rId3"/>
          <a:stretch>
            <a:fillRect/>
          </a:stretch>
        </p:blipFill>
        <p:spPr>
          <a:xfrm>
            <a:off x="2123520" y="1066800"/>
            <a:ext cx="7944959" cy="5344271"/>
          </a:xfrm>
          <a:prstGeom prst="rect">
            <a:avLst/>
          </a:prstGeom>
        </p:spPr>
      </p:pic>
    </p:spTree>
    <p:extLst>
      <p:ext uri="{BB962C8B-B14F-4D97-AF65-F5344CB8AC3E}">
        <p14:creationId xmlns:p14="http://schemas.microsoft.com/office/powerpoint/2010/main" val="574472925"/>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Data Viz: After (2/2)</a:t>
            </a:r>
            <a:endParaRPr lang="en-US" sz="3600" dirty="0">
              <a:latin typeface="Times New Roman" panose="02020603050405020304" pitchFamily="18" charset="0"/>
              <a:cs typeface="Times New Roman" panose="02020603050405020304" pitchFamily="18" charset="0"/>
            </a:endParaRPr>
          </a:p>
        </p:txBody>
      </p:sp>
      <p:sp>
        <p:nvSpPr>
          <p:cNvPr id="6" name="Content Placeholder 5">
            <a:extLst>
              <a:ext uri="{FF2B5EF4-FFF2-40B4-BE49-F238E27FC236}">
                <a16:creationId xmlns:a16="http://schemas.microsoft.com/office/drawing/2014/main" id="{00A23F39-3025-3A5A-66CA-253F1A1CF96F}"/>
              </a:ext>
            </a:extLst>
          </p:cNvPr>
          <p:cNvSpPr>
            <a:spLocks noGrp="1"/>
          </p:cNvSpPr>
          <p:nvPr>
            <p:ph idx="1"/>
          </p:nvPr>
        </p:nvSpPr>
        <p:spPr/>
        <p:txBody>
          <a:bodyPr/>
          <a:lstStyle/>
          <a:p>
            <a:endParaRPr lang="en-CA"/>
          </a:p>
        </p:txBody>
      </p:sp>
      <p:pic>
        <p:nvPicPr>
          <p:cNvPr id="4" name="Picture 3">
            <a:extLst>
              <a:ext uri="{FF2B5EF4-FFF2-40B4-BE49-F238E27FC236}">
                <a16:creationId xmlns:a16="http://schemas.microsoft.com/office/drawing/2014/main" id="{AD05C0FA-9A2B-7EA1-0F4E-5B15FC2629DA}"/>
              </a:ext>
            </a:extLst>
          </p:cNvPr>
          <p:cNvPicPr>
            <a:picLocks noChangeAspect="1"/>
          </p:cNvPicPr>
          <p:nvPr/>
        </p:nvPicPr>
        <p:blipFill>
          <a:blip r:embed="rId3"/>
          <a:stretch>
            <a:fillRect/>
          </a:stretch>
        </p:blipFill>
        <p:spPr>
          <a:xfrm>
            <a:off x="4572000" y="57888"/>
            <a:ext cx="5867400" cy="6800112"/>
          </a:xfrm>
          <a:prstGeom prst="rect">
            <a:avLst/>
          </a:prstGeom>
        </p:spPr>
      </p:pic>
    </p:spTree>
    <p:extLst>
      <p:ext uri="{BB962C8B-B14F-4D97-AF65-F5344CB8AC3E}">
        <p14:creationId xmlns:p14="http://schemas.microsoft.com/office/powerpoint/2010/main" val="1316041077"/>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Data Storytelling and Making Good Charts</a:t>
            </a:r>
          </a:p>
        </p:txBody>
      </p:sp>
      <p:pic>
        <p:nvPicPr>
          <p:cNvPr id="4" name="Online Media 3" title="Making data mean more through storytelling | Ben Wellington | TEDxBroadway">
            <a:hlinkClick r:id="" action="ppaction://media"/>
            <a:extLst>
              <a:ext uri="{FF2B5EF4-FFF2-40B4-BE49-F238E27FC236}">
                <a16:creationId xmlns:a16="http://schemas.microsoft.com/office/drawing/2014/main" id="{FAC6EFEE-0743-FE27-6ED7-99F61CD0FF81}"/>
              </a:ext>
            </a:extLst>
          </p:cNvPr>
          <p:cNvPicPr>
            <a:picLocks noGrp="1" noRot="1" noChangeAspect="1"/>
          </p:cNvPicPr>
          <p:nvPr>
            <p:ph idx="1"/>
            <a:videoFile r:link="rId1"/>
          </p:nvPr>
        </p:nvPicPr>
        <p:blipFill>
          <a:blip r:embed="rId5"/>
          <a:stretch>
            <a:fillRect/>
          </a:stretch>
        </p:blipFill>
        <p:spPr>
          <a:xfrm>
            <a:off x="228600" y="1055145"/>
            <a:ext cx="5400000" cy="3050864"/>
          </a:xfrm>
          <a:prstGeom prst="rect">
            <a:avLst/>
          </a:prstGeom>
        </p:spPr>
      </p:pic>
      <p:pic>
        <p:nvPicPr>
          <p:cNvPr id="3" name="Online Media 2" title="Turning Bad Charts into Compelling Data Stories | Dominic Bohan | TEDxYouth@Singapore">
            <a:hlinkClick r:id="" action="ppaction://media"/>
            <a:extLst>
              <a:ext uri="{FF2B5EF4-FFF2-40B4-BE49-F238E27FC236}">
                <a16:creationId xmlns:a16="http://schemas.microsoft.com/office/drawing/2014/main" id="{19461D35-9C17-5609-F511-5F905CD8E11F}"/>
              </a:ext>
            </a:extLst>
          </p:cNvPr>
          <p:cNvPicPr>
            <a:picLocks noRot="1" noChangeAspect="1"/>
          </p:cNvPicPr>
          <p:nvPr>
            <a:videoFile r:link="rId2"/>
          </p:nvPr>
        </p:nvPicPr>
        <p:blipFill>
          <a:blip r:embed="rId6"/>
          <a:stretch>
            <a:fillRect/>
          </a:stretch>
        </p:blipFill>
        <p:spPr>
          <a:xfrm>
            <a:off x="5692775" y="1055077"/>
            <a:ext cx="5400000" cy="3051000"/>
          </a:xfrm>
          <a:prstGeom prst="rect">
            <a:avLst/>
          </a:prstGeom>
        </p:spPr>
      </p:pic>
    </p:spTree>
    <p:extLst>
      <p:ext uri="{BB962C8B-B14F-4D97-AF65-F5344CB8AC3E}">
        <p14:creationId xmlns:p14="http://schemas.microsoft.com/office/powerpoint/2010/main" val="6962709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par>
                    <p:cTn id="7" fill="hold">
                      <p:stCondLst>
                        <p:cond delay="indefinite"/>
                      </p:stCondLst>
                      <p:childTnLst>
                        <p:par>
                          <p:cTn id="8" fill="hold">
                            <p:stCondLst>
                              <p:cond delay="0"/>
                            </p:stCondLst>
                            <p:childTnLst>
                              <p:par>
                                <p:cTn id="9" presetID="1" presetClass="mediacall" presetSubtype="0" fill="hold" nodeType="clickEffect">
                                  <p:stCondLst>
                                    <p:cond delay="0"/>
                                  </p:stCondLst>
                                  <p:childTnLst>
                                    <p:cmd type="call" cmd="playFrom(0.0)">
                                      <p:cBhvr>
                                        <p:cTn id="10"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11" fill="hold" display="0">
                  <p:stCondLst>
                    <p:cond delay="indefinite"/>
                  </p:stCondLst>
                </p:cTn>
                <p:tgtEl>
                  <p:spTgt spid="4"/>
                </p:tgtEl>
              </p:cMediaNode>
            </p:video>
            <p:seq concurrent="1" nextAc="seek">
              <p:cTn id="12" restart="whenNotActive" fill="hold" evtFilter="cancelBubble" nodeType="interactiveSeq">
                <p:stCondLst>
                  <p:cond evt="onClick" delay="0">
                    <p:tgtEl>
                      <p:spTgt spid="4"/>
                    </p:tgtEl>
                  </p:cond>
                </p:stCondLst>
                <p:endSync evt="end" delay="0">
                  <p:rtn val="all"/>
                </p:endSync>
                <p:childTnLst>
                  <p:par>
                    <p:cTn id="13" fill="hold">
                      <p:stCondLst>
                        <p:cond delay="0"/>
                      </p:stCondLst>
                      <p:childTnLst>
                        <p:par>
                          <p:cTn id="14" fill="hold">
                            <p:stCondLst>
                              <p:cond delay="0"/>
                            </p:stCondLst>
                            <p:childTnLst>
                              <p:par>
                                <p:cTn id="15" presetID="2" presetClass="mediacall" presetSubtype="0" fill="hold" nodeType="clickEffect">
                                  <p:stCondLst>
                                    <p:cond delay="0"/>
                                  </p:stCondLst>
                                  <p:childTnLst>
                                    <p:cmd type="call" cmd="togglePause">
                                      <p:cBhvr>
                                        <p:cTn id="16" dur="1" fill="hold"/>
                                        <p:tgtEl>
                                          <p:spTgt spid="4"/>
                                        </p:tgtEl>
                                      </p:cBhvr>
                                    </p:cmd>
                                  </p:childTnLst>
                                </p:cTn>
                              </p:par>
                            </p:childTnLst>
                          </p:cTn>
                        </p:par>
                      </p:childTnLst>
                    </p:cTn>
                  </p:par>
                </p:childTnLst>
              </p:cTn>
              <p:nextCondLst>
                <p:cond evt="onClick" delay="0">
                  <p:tgtEl>
                    <p:spTgt spid="4"/>
                  </p:tgtEl>
                </p:cond>
              </p:nextCondLst>
            </p:seq>
            <p:video>
              <p:cMediaNode vol="80000">
                <p:cTn id="17" fill="hold" display="0">
                  <p:stCondLst>
                    <p:cond delay="indefinite"/>
                  </p:stCondLst>
                </p:cTn>
                <p:tgtEl>
                  <p:spTgt spid="3"/>
                </p:tgtEl>
              </p:cMediaNode>
            </p:video>
            <p:seq concurrent="1" nextAc="seek">
              <p:cTn id="18" restart="whenNotActive" fill="hold" evtFilter="cancelBubble" nodeType="interactiveSeq">
                <p:stCondLst>
                  <p:cond evt="onClick" delay="0">
                    <p:tgtEl>
                      <p:spTgt spid="3"/>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Writing a Paper</a:t>
            </a:r>
          </a:p>
        </p:txBody>
      </p:sp>
      <p:sp>
        <p:nvSpPr>
          <p:cNvPr id="5" name="Content Placeholder 4">
            <a:extLst>
              <a:ext uri="{FF2B5EF4-FFF2-40B4-BE49-F238E27FC236}">
                <a16:creationId xmlns:a16="http://schemas.microsoft.com/office/drawing/2014/main" id="{5828A1A5-F032-5A06-6970-3C7E23D738D6}"/>
              </a:ext>
            </a:extLst>
          </p:cNvPr>
          <p:cNvSpPr>
            <a:spLocks noGrp="1"/>
          </p:cNvSpPr>
          <p:nvPr>
            <p:ph idx="1"/>
          </p:nvPr>
        </p:nvSpPr>
        <p:spPr>
          <a:xfrm>
            <a:off x="762000" y="962232"/>
            <a:ext cx="9095232" cy="5217905"/>
          </a:xfrm>
        </p:spPr>
        <p:txBody>
          <a:bodyPr>
            <a:normAutofit/>
          </a:bodyPr>
          <a:lstStyle/>
          <a:p>
            <a:r>
              <a:rPr lang="en-US" sz="2400" dirty="0"/>
              <a:t>Academic writing is formulaic – take advantage of that! </a:t>
            </a:r>
          </a:p>
        </p:txBody>
      </p:sp>
      <p:pic>
        <p:nvPicPr>
          <p:cNvPr id="4" name="Picture 3">
            <a:extLst>
              <a:ext uri="{FF2B5EF4-FFF2-40B4-BE49-F238E27FC236}">
                <a16:creationId xmlns:a16="http://schemas.microsoft.com/office/drawing/2014/main" id="{668A1BD6-B7C1-C898-9A08-0302F34E54E5}"/>
              </a:ext>
            </a:extLst>
          </p:cNvPr>
          <p:cNvPicPr>
            <a:picLocks noChangeAspect="1"/>
          </p:cNvPicPr>
          <p:nvPr/>
        </p:nvPicPr>
        <p:blipFill>
          <a:blip r:embed="rId3"/>
          <a:stretch>
            <a:fillRect/>
          </a:stretch>
        </p:blipFill>
        <p:spPr>
          <a:xfrm>
            <a:off x="914400" y="1447800"/>
            <a:ext cx="4997319" cy="5072808"/>
          </a:xfrm>
          <a:prstGeom prst="rect">
            <a:avLst/>
          </a:prstGeom>
        </p:spPr>
      </p:pic>
    </p:spTree>
    <p:extLst>
      <p:ext uri="{BB962C8B-B14F-4D97-AF65-F5344CB8AC3E}">
        <p14:creationId xmlns:p14="http://schemas.microsoft.com/office/powerpoint/2010/main" val="1234283388"/>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Writing a Paper</a:t>
            </a:r>
          </a:p>
        </p:txBody>
      </p:sp>
      <p:sp>
        <p:nvSpPr>
          <p:cNvPr id="5" name="Content Placeholder 4">
            <a:extLst>
              <a:ext uri="{FF2B5EF4-FFF2-40B4-BE49-F238E27FC236}">
                <a16:creationId xmlns:a16="http://schemas.microsoft.com/office/drawing/2014/main" id="{5828A1A5-F032-5A06-6970-3C7E23D738D6}"/>
              </a:ext>
            </a:extLst>
          </p:cNvPr>
          <p:cNvSpPr>
            <a:spLocks noGrp="1"/>
          </p:cNvSpPr>
          <p:nvPr>
            <p:ph idx="1"/>
          </p:nvPr>
        </p:nvSpPr>
        <p:spPr>
          <a:xfrm>
            <a:off x="762000" y="962232"/>
            <a:ext cx="9829800" cy="5217905"/>
          </a:xfrm>
        </p:spPr>
        <p:txBody>
          <a:bodyPr>
            <a:normAutofit/>
          </a:bodyPr>
          <a:lstStyle/>
          <a:p>
            <a:pPr marL="457200" indent="-457200">
              <a:buFont typeface="+mj-lt"/>
              <a:buAutoNum type="arabicPeriod"/>
            </a:pPr>
            <a:r>
              <a:rPr lang="en-US" sz="2400" dirty="0"/>
              <a:t>Academic writing is formulaic – take advantage of that! </a:t>
            </a:r>
          </a:p>
          <a:p>
            <a:pPr marL="457200" indent="-457200">
              <a:buFont typeface="+mj-lt"/>
              <a:buAutoNum type="arabicPeriod"/>
            </a:pPr>
            <a:r>
              <a:rPr lang="en-US" sz="2400" dirty="0"/>
              <a:t>Copy good writers</a:t>
            </a:r>
          </a:p>
          <a:p>
            <a:pPr marL="457200" indent="-457200">
              <a:buFont typeface="+mj-lt"/>
              <a:buAutoNum type="arabicPeriod"/>
            </a:pPr>
            <a:r>
              <a:rPr lang="en-US" sz="2400" b="1" dirty="0">
                <a:solidFill>
                  <a:schemeClr val="accent2">
                    <a:lumMod val="75000"/>
                  </a:schemeClr>
                </a:solidFill>
              </a:rPr>
              <a:t>Prioritize good writing – it will make your papers more successful</a:t>
            </a:r>
          </a:p>
          <a:p>
            <a:r>
              <a:rPr lang="en-US" sz="2400" dirty="0"/>
              <a:t>Some other good sources: </a:t>
            </a:r>
          </a:p>
          <a:p>
            <a:pPr lvl="1"/>
            <a:r>
              <a:rPr lang="en-US" sz="2200" dirty="0">
                <a:solidFill>
                  <a:schemeClr val="tx1"/>
                </a:solidFill>
              </a:rPr>
              <a:t>Marc Bellemare “</a:t>
            </a:r>
            <a:r>
              <a:rPr lang="en-US" sz="2200" dirty="0">
                <a:solidFill>
                  <a:srgbClr val="00B0F0"/>
                </a:solidFill>
                <a:hlinkClick r:id="rId3">
                  <a:extLst>
                    <a:ext uri="{A12FA001-AC4F-418D-AE19-62706E023703}">
                      <ahyp:hlinkClr xmlns:ahyp="http://schemas.microsoft.com/office/drawing/2018/hyperlinkcolor" val="tx"/>
                    </a:ext>
                  </a:extLst>
                </a:hlinkClick>
              </a:rPr>
              <a:t>How to Write an Applied Economics Paper</a:t>
            </a:r>
            <a:r>
              <a:rPr lang="en-US" sz="2200" dirty="0">
                <a:solidFill>
                  <a:schemeClr val="tx1"/>
                </a:solidFill>
              </a:rPr>
              <a:t>” </a:t>
            </a:r>
          </a:p>
          <a:p>
            <a:pPr lvl="1"/>
            <a:r>
              <a:rPr lang="en-US" sz="2200" dirty="0">
                <a:solidFill>
                  <a:schemeClr val="tx1"/>
                </a:solidFill>
              </a:rPr>
              <a:t>Neil Mahoney “</a:t>
            </a:r>
            <a:r>
              <a:rPr lang="en-US" sz="2200" dirty="0">
                <a:solidFill>
                  <a:srgbClr val="00B0F0"/>
                </a:solidFill>
                <a:hlinkClick r:id="rId4">
                  <a:extLst>
                    <a:ext uri="{A12FA001-AC4F-418D-AE19-62706E023703}">
                      <ahyp:hlinkClr xmlns:ahyp="http://schemas.microsoft.com/office/drawing/2018/hyperlinkcolor" val="tx"/>
                    </a:ext>
                  </a:extLst>
                </a:hlinkClick>
              </a:rPr>
              <a:t>Principles for Combining Descriptive and Model-Based Analysis in Applied Microeconomics Research</a:t>
            </a:r>
            <a:r>
              <a:rPr lang="en-US" sz="2200" dirty="0">
                <a:solidFill>
                  <a:schemeClr val="tx1"/>
                </a:solidFill>
              </a:rPr>
              <a:t>”</a:t>
            </a:r>
          </a:p>
        </p:txBody>
      </p:sp>
    </p:spTree>
    <p:extLst>
      <p:ext uri="{BB962C8B-B14F-4D97-AF65-F5344CB8AC3E}">
        <p14:creationId xmlns:p14="http://schemas.microsoft.com/office/powerpoint/2010/main" val="2855297528"/>
      </p:ext>
    </p:extLst>
  </p:cSld>
  <p:clrMapOvr>
    <a:masterClrMapping/>
  </p:clrMapOvr>
</p:sld>
</file>

<file path=ppt/theme/theme1.xml><?xml version="1.0" encoding="utf-8"?>
<a:theme xmlns:a="http://schemas.openxmlformats.org/drawingml/2006/main" name="View">
  <a:themeElements>
    <a:clrScheme name="View">
      <a:dk1>
        <a:srgbClr val="000000"/>
      </a:dk1>
      <a:lt1>
        <a:srgbClr val="FFFFFF"/>
      </a:lt1>
      <a:dk2>
        <a:srgbClr val="46464A"/>
      </a:dk2>
      <a:lt2>
        <a:srgbClr val="D6D3CC"/>
      </a:lt2>
      <a:accent1>
        <a:srgbClr val="6F6F74"/>
      </a:accent1>
      <a:accent2>
        <a:srgbClr val="92A9B9"/>
      </a:accent2>
      <a:accent3>
        <a:srgbClr val="A7B789"/>
      </a:accent3>
      <a:accent4>
        <a:srgbClr val="B9A489"/>
      </a:accent4>
      <a:accent5>
        <a:srgbClr val="8D6374"/>
      </a:accent5>
      <a:accent6>
        <a:srgbClr val="9B7362"/>
      </a:accent6>
      <a:hlink>
        <a:srgbClr val="67AABF"/>
      </a:hlink>
      <a:folHlink>
        <a:srgbClr val="ABAFA5"/>
      </a:folHlink>
    </a:clrScheme>
    <a:fontScheme name="View">
      <a:maj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View">
      <a:fillStyleLst>
        <a:solidFill>
          <a:schemeClr val="phClr"/>
        </a:solidFill>
        <a:solidFill>
          <a:schemeClr val="phClr">
            <a:tint val="60000"/>
            <a:satMod val="120000"/>
          </a:schemeClr>
        </a:solidFill>
        <a:solidFill>
          <a:schemeClr val="phClr">
            <a:shade val="75000"/>
            <a:satMod val="160000"/>
          </a:schemeClr>
        </a:solidFill>
      </a:fillStyleLst>
      <a:lnStyleLst>
        <a:ln w="9525" cap="flat" cmpd="sng" algn="ctr">
          <a:solidFill>
            <a:schemeClr val="phClr"/>
          </a:solidFill>
          <a:prstDash val="solid"/>
        </a:ln>
        <a:ln w="13970" cap="flat" cmpd="sng" algn="ctr">
          <a:solidFill>
            <a:schemeClr val="phClr"/>
          </a:solidFill>
          <a:prstDash val="solid"/>
        </a:ln>
        <a:ln w="17145" cap="flat" cmpd="sng" algn="ctr">
          <a:solidFill>
            <a:schemeClr val="phClr">
              <a:shade val="95000"/>
              <a:alpha val="95000"/>
              <a:satMod val="150000"/>
            </a:schemeClr>
          </a:solidFill>
          <a:prstDash val="solid"/>
        </a:ln>
      </a:lnStyleLst>
      <a:effectStyleLst>
        <a:effectStyle>
          <a:effectLst/>
        </a:effectStyle>
        <a:effectStyle>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phClr">
                <a:shade val="35000"/>
                <a:satMod val="130000"/>
              </a:schemeClr>
            </a:contourClr>
          </a:sp3d>
        </a:effectStyle>
        <a:effectStyle>
          <a:effectLst>
            <a:outerShdw blurRad="76200" dist="25400" dir="5400000" algn="tl" rotWithShape="0">
              <a:srgbClr val="000000">
                <a:alpha val="55000"/>
              </a:srgbClr>
            </a:outerShdw>
          </a:effectLst>
          <a:scene3d>
            <a:camera prst="orthographicFront">
              <a:rot lat="0" lon="0" rev="0"/>
            </a:camera>
            <a:lightRig rig="brightRoom" dir="tl"/>
          </a:scene3d>
          <a:sp3d contourW="19050" prstMaterial="flat">
            <a:bevelT w="0" h="0" prst="coolSlant"/>
            <a:contourClr>
              <a:schemeClr val="phClr">
                <a:shade val="25000"/>
                <a:satMod val="140000"/>
              </a:schemeClr>
            </a:contourClr>
          </a:sp3d>
        </a:effectStyle>
      </a:effectStyleLst>
      <a:bgFillStyleLst>
        <a:solidFill>
          <a:schemeClr val="phClr"/>
        </a:solidFill>
        <a:solidFill>
          <a:schemeClr val="phClr">
            <a:tint val="95000"/>
            <a:satMod val="170000"/>
          </a:schemeClr>
        </a:solidFill>
        <a:gradFill rotWithShape="1">
          <a:gsLst>
            <a:gs pos="0">
              <a:schemeClr val="phClr">
                <a:tint val="94000"/>
                <a:shade val="98000"/>
                <a:satMod val="130000"/>
                <a:lumMod val="102000"/>
              </a:schemeClr>
            </a:gs>
            <a:gs pos="100000">
              <a:schemeClr val="phClr">
                <a:tint val="98000"/>
                <a:shade val="78000"/>
                <a:satMod val="140000"/>
              </a:schemeClr>
            </a:gs>
          </a:gsLst>
          <a:path path="circle">
            <a:fillToRect l="100000" t="100000" r="100000" b="100000"/>
          </a:path>
        </a:gradFill>
      </a:bgFillStyleLst>
    </a:fmtScheme>
  </a:themeElements>
  <a:objectDefaults/>
  <a:extraClrSchemeLst/>
  <a:extLst>
    <a:ext uri="{05A4C25C-085E-4340-85A3-A5531E510DB2}">
      <thm15:themeFamily xmlns:thm15="http://schemas.microsoft.com/office/thememl/2012/main" name="View" id="{BA0EB5A6-F2D4-4F82-977B-64ADEE4A2A69}" vid="{3969A8A2-35DB-4E3B-8885-16FD2056867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View</Template>
  <TotalTime>7985</TotalTime>
  <Words>9648</Words>
  <Application>Microsoft Office PowerPoint</Application>
  <PresentationFormat>Widescreen</PresentationFormat>
  <Paragraphs>861</Paragraphs>
  <Slides>108</Slides>
  <Notes>107</Notes>
  <HiddenSlides>5</HiddenSlides>
  <MMClips>3</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108</vt:i4>
      </vt:variant>
    </vt:vector>
  </HeadingPairs>
  <TitlesOfParts>
    <vt:vector size="118" baseType="lpstr">
      <vt:lpstr>Arial</vt:lpstr>
      <vt:lpstr>Calibri</vt:lpstr>
      <vt:lpstr>Cambria Math</vt:lpstr>
      <vt:lpstr>Century Schoolbook</vt:lpstr>
      <vt:lpstr>Fira Sans</vt:lpstr>
      <vt:lpstr>Symbol</vt:lpstr>
      <vt:lpstr>Times New Roman</vt:lpstr>
      <vt:lpstr>Wingdings</vt:lpstr>
      <vt:lpstr>Wingdings 2</vt:lpstr>
      <vt:lpstr>View</vt:lpstr>
      <vt:lpstr>Quantitative Methods for HSR I </vt:lpstr>
      <vt:lpstr>Thoughts from Assignment 1?</vt:lpstr>
      <vt:lpstr>Session Outline</vt:lpstr>
      <vt:lpstr>Why Research Designs?</vt:lpstr>
      <vt:lpstr>Why not use DAGs till the cows come home?</vt:lpstr>
      <vt:lpstr>An alternative approach to controls</vt:lpstr>
      <vt:lpstr>An alternative approach to controls</vt:lpstr>
      <vt:lpstr>Example: discrimination in healthcare </vt:lpstr>
      <vt:lpstr>Example: discrimination in healthcare </vt:lpstr>
      <vt:lpstr>Example: discrimination in healthcare </vt:lpstr>
      <vt:lpstr>Example: discrimination in healthcare </vt:lpstr>
      <vt:lpstr>Example: discrimination in healthcare </vt:lpstr>
      <vt:lpstr>Example: discrimination in healthcare </vt:lpstr>
      <vt:lpstr>Example: discrimination in healthcare </vt:lpstr>
      <vt:lpstr>Example: discrimination in healthcare </vt:lpstr>
      <vt:lpstr>Example: discrimination in healthcare </vt:lpstr>
      <vt:lpstr>PowerPoint Presentation</vt:lpstr>
      <vt:lpstr>Selecting a Research Design</vt:lpstr>
      <vt:lpstr>One approach: target trial emulation</vt:lpstr>
      <vt:lpstr>Target Trial Emulation</vt:lpstr>
      <vt:lpstr>Why the complexity? </vt:lpstr>
      <vt:lpstr>Case study: Cancer Screening and Diagnoses</vt:lpstr>
      <vt:lpstr>Case study: Cancer Screening and Diagnoses</vt:lpstr>
      <vt:lpstr>PowerPoint Presentation</vt:lpstr>
      <vt:lpstr>Addressing immortal time bias </vt:lpstr>
      <vt:lpstr>Addressing immortal time bias </vt:lpstr>
      <vt:lpstr>What kinds of methods will we cover? </vt:lpstr>
      <vt:lpstr>What kinds of methods will we cover? </vt:lpstr>
      <vt:lpstr>What kinds of methods will we cover? </vt:lpstr>
      <vt:lpstr>How do you pick a method? </vt:lpstr>
      <vt:lpstr>How do you pick a method? </vt:lpstr>
      <vt:lpstr>Designing a Project</vt:lpstr>
      <vt:lpstr>Answers are only as good as your data…and your question!</vt:lpstr>
      <vt:lpstr>Framework: Everything is a Remix </vt:lpstr>
      <vt:lpstr>Framework: Everything is a Remix </vt:lpstr>
      <vt:lpstr>Framework: Everything is a Remix </vt:lpstr>
      <vt:lpstr>Framework: Everything is a Remix </vt:lpstr>
      <vt:lpstr>Framework: Everything is a Remix </vt:lpstr>
      <vt:lpstr>Framework: Everything is a Remix </vt:lpstr>
      <vt:lpstr>Framework: Everything is a Remix </vt:lpstr>
      <vt:lpstr>Framework: Everything is a Remix </vt:lpstr>
      <vt:lpstr>Framework: Everything is a Remix </vt:lpstr>
      <vt:lpstr>Framework: Everything is a Remix </vt:lpstr>
      <vt:lpstr>An HSR Remix Example</vt:lpstr>
      <vt:lpstr>Framework: Everything is a Remix </vt:lpstr>
      <vt:lpstr>Framework: Everything is a Remix </vt:lpstr>
      <vt:lpstr>Framework: Everything is a Remix </vt:lpstr>
      <vt:lpstr>Copying and Transforming Additional Work</vt:lpstr>
      <vt:lpstr>Copying and Transforming Additional Work</vt:lpstr>
      <vt:lpstr>Copying and Transforming Additional Work</vt:lpstr>
      <vt:lpstr>Copying and Transforming Additional Work</vt:lpstr>
      <vt:lpstr>Finding good data</vt:lpstr>
      <vt:lpstr>Answers are only as good as your data!</vt:lpstr>
      <vt:lpstr>Example Cohort: MEPS (Link) </vt:lpstr>
      <vt:lpstr>Working with data</vt:lpstr>
      <vt:lpstr>Flow of a Research Project</vt:lpstr>
      <vt:lpstr>Flow of a Research Project</vt:lpstr>
      <vt:lpstr>PowerPoint Presentation</vt:lpstr>
      <vt:lpstr>Other Data Cleaning Resources</vt:lpstr>
      <vt:lpstr>Always visualize your data!</vt:lpstr>
      <vt:lpstr>Always visualize your data!</vt:lpstr>
      <vt:lpstr>Flow of a Research Project</vt:lpstr>
      <vt:lpstr>Flow of a Research Project</vt:lpstr>
      <vt:lpstr>Prelude: Some Coding Organization</vt:lpstr>
      <vt:lpstr>Flow of a Research Project</vt:lpstr>
      <vt:lpstr>Pre-Analysis Plans in Quantitative Research </vt:lpstr>
      <vt:lpstr>Pre-Analysis Plans in Quantitative Research </vt:lpstr>
      <vt:lpstr>Pre-Analysis Plans in Quantitative Research </vt:lpstr>
      <vt:lpstr>How do we interpret results? </vt:lpstr>
      <vt:lpstr>How do we interpret results? </vt:lpstr>
      <vt:lpstr>Conclusion</vt:lpstr>
      <vt:lpstr>So where do you find questions? </vt:lpstr>
      <vt:lpstr>Choosing an Empirical Strategy</vt:lpstr>
      <vt:lpstr>Where do we get the identification?</vt:lpstr>
      <vt:lpstr>Stages of Research</vt:lpstr>
      <vt:lpstr>Stages of Research</vt:lpstr>
      <vt:lpstr>Appendix </vt:lpstr>
      <vt:lpstr>Organizing a Project</vt:lpstr>
      <vt:lpstr>How do we structure a project? </vt:lpstr>
      <vt:lpstr>What is Clean Code? </vt:lpstr>
      <vt:lpstr>Principles of Clean Code</vt:lpstr>
      <vt:lpstr>Principles of Clean Code</vt:lpstr>
      <vt:lpstr>Principles of Clean Code</vt:lpstr>
      <vt:lpstr>Principles of Clean Code</vt:lpstr>
      <vt:lpstr>Principles of Clean Code</vt:lpstr>
      <vt:lpstr>Principles of Clean Code</vt:lpstr>
      <vt:lpstr>Principles of Clean Code: Task Management Software</vt:lpstr>
      <vt:lpstr>Principles of Clean Code</vt:lpstr>
      <vt:lpstr>Unit Testing </vt:lpstr>
      <vt:lpstr>Unit Testing </vt:lpstr>
      <vt:lpstr>Principles of Clean Code</vt:lpstr>
      <vt:lpstr>Why models?</vt:lpstr>
      <vt:lpstr>Model vs. Design-based Approaches</vt:lpstr>
      <vt:lpstr>Why models? Why not models?  </vt:lpstr>
      <vt:lpstr>Three Examples of Models</vt:lpstr>
      <vt:lpstr>Three Examples of Models</vt:lpstr>
      <vt:lpstr>Relying on Theoretical Frameworks</vt:lpstr>
      <vt:lpstr>Three Examples of Models – why design-based?</vt:lpstr>
      <vt:lpstr>So what do we get from design-based inference?</vt:lpstr>
      <vt:lpstr>Communicating Findings</vt:lpstr>
      <vt:lpstr>Data Viz</vt:lpstr>
      <vt:lpstr>Data Viz: Before (1/2)</vt:lpstr>
      <vt:lpstr>Data Viz: After (1/2)</vt:lpstr>
      <vt:lpstr>Data Viz: Before (2/2)</vt:lpstr>
      <vt:lpstr>Data Viz: After (2/2)</vt:lpstr>
      <vt:lpstr>Data Storytelling and Making Good Charts</vt:lpstr>
      <vt:lpstr>Writing a Paper</vt:lpstr>
      <vt:lpstr>Writing a Paper</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Econometrics I:</dc:title>
  <dc:creator>Audrey Laporte</dc:creator>
  <cp:lastModifiedBy>Alexander Hoagland</cp:lastModifiedBy>
  <cp:revision>648</cp:revision>
  <dcterms:created xsi:type="dcterms:W3CDTF">2011-01-10T00:42:42Z</dcterms:created>
  <dcterms:modified xsi:type="dcterms:W3CDTF">2026-10-17T23:30:30Z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034a106e-6316-442c-ad35-738afd673d2b_Enabled">
    <vt:lpwstr>True</vt:lpwstr>
  </property>
  <property fmtid="{D5CDD505-2E9C-101B-9397-08002B2CF9AE}" pid="3" name="MSIP_Label_034a106e-6316-442c-ad35-738afd673d2b_SiteId">
    <vt:lpwstr>cddc1229-ac2a-4b97-b78a-0e5cacb5865c</vt:lpwstr>
  </property>
  <property fmtid="{D5CDD505-2E9C-101B-9397-08002B2CF9AE}" pid="4" name="MSIP_Label_034a106e-6316-442c-ad35-738afd673d2b_Owner">
    <vt:lpwstr>Eric.Nauenberg@ontario.ca</vt:lpwstr>
  </property>
  <property fmtid="{D5CDD505-2E9C-101B-9397-08002B2CF9AE}" pid="5" name="MSIP_Label_034a106e-6316-442c-ad35-738afd673d2b_SetDate">
    <vt:lpwstr>2020-08-28T20:23:07.5369310Z</vt:lpwstr>
  </property>
  <property fmtid="{D5CDD505-2E9C-101B-9397-08002B2CF9AE}" pid="6" name="MSIP_Label_034a106e-6316-442c-ad35-738afd673d2b_Name">
    <vt:lpwstr>OPS - Unclassified Information</vt:lpwstr>
  </property>
  <property fmtid="{D5CDD505-2E9C-101B-9397-08002B2CF9AE}" pid="7" name="MSIP_Label_034a106e-6316-442c-ad35-738afd673d2b_Application">
    <vt:lpwstr>Microsoft Azure Information Protection</vt:lpwstr>
  </property>
  <property fmtid="{D5CDD505-2E9C-101B-9397-08002B2CF9AE}" pid="8" name="MSIP_Label_034a106e-6316-442c-ad35-738afd673d2b_ActionId">
    <vt:lpwstr>e0d92f5a-28a2-4725-917b-84a82b221364</vt:lpwstr>
  </property>
  <property fmtid="{D5CDD505-2E9C-101B-9397-08002B2CF9AE}" pid="9" name="MSIP_Label_034a106e-6316-442c-ad35-738afd673d2b_Extended_MSFT_Method">
    <vt:lpwstr>Automatic</vt:lpwstr>
  </property>
  <property fmtid="{D5CDD505-2E9C-101B-9397-08002B2CF9AE}" pid="10" name="Sensitivity">
    <vt:lpwstr>OPS - Unclassified Information</vt:lpwstr>
  </property>
</Properties>
</file>