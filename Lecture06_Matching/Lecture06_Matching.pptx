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85"/>
  </p:notesMasterIdLst>
  <p:sldIdLst>
    <p:sldId id="256" r:id="rId2"/>
    <p:sldId id="564" r:id="rId3"/>
    <p:sldId id="565" r:id="rId4"/>
    <p:sldId id="566" r:id="rId5"/>
    <p:sldId id="561" r:id="rId6"/>
    <p:sldId id="461" r:id="rId7"/>
    <p:sldId id="420" r:id="rId8"/>
    <p:sldId id="466" r:id="rId9"/>
    <p:sldId id="459" r:id="rId10"/>
    <p:sldId id="468" r:id="rId11"/>
    <p:sldId id="469" r:id="rId12"/>
    <p:sldId id="470" r:id="rId13"/>
    <p:sldId id="471" r:id="rId14"/>
    <p:sldId id="472" r:id="rId15"/>
    <p:sldId id="473" r:id="rId16"/>
    <p:sldId id="482" r:id="rId17"/>
    <p:sldId id="423" r:id="rId18"/>
    <p:sldId id="489" r:id="rId19"/>
    <p:sldId id="530" r:id="rId20"/>
    <p:sldId id="558" r:id="rId21"/>
    <p:sldId id="532" r:id="rId22"/>
    <p:sldId id="554" r:id="rId23"/>
    <p:sldId id="398" r:id="rId24"/>
    <p:sldId id="427" r:id="rId25"/>
    <p:sldId id="428" r:id="rId26"/>
    <p:sldId id="474" r:id="rId27"/>
    <p:sldId id="483" r:id="rId28"/>
    <p:sldId id="422" r:id="rId29"/>
    <p:sldId id="443" r:id="rId30"/>
    <p:sldId id="462" r:id="rId31"/>
    <p:sldId id="559" r:id="rId32"/>
    <p:sldId id="560" r:id="rId33"/>
    <p:sldId id="424" r:id="rId34"/>
    <p:sldId id="429" r:id="rId35"/>
    <p:sldId id="460" r:id="rId36"/>
    <p:sldId id="430" r:id="rId37"/>
    <p:sldId id="431" r:id="rId38"/>
    <p:sldId id="432" r:id="rId39"/>
    <p:sldId id="425" r:id="rId40"/>
    <p:sldId id="433" r:id="rId41"/>
    <p:sldId id="434" r:id="rId42"/>
    <p:sldId id="435" r:id="rId43"/>
    <p:sldId id="436" r:id="rId44"/>
    <p:sldId id="437" r:id="rId45"/>
    <p:sldId id="446" r:id="rId46"/>
    <p:sldId id="447" r:id="rId47"/>
    <p:sldId id="438" r:id="rId48"/>
    <p:sldId id="449" r:id="rId49"/>
    <p:sldId id="451" r:id="rId50"/>
    <p:sldId id="452" r:id="rId51"/>
    <p:sldId id="453" r:id="rId52"/>
    <p:sldId id="534" r:id="rId53"/>
    <p:sldId id="549" r:id="rId54"/>
    <p:sldId id="551" r:id="rId55"/>
    <p:sldId id="475" r:id="rId56"/>
    <p:sldId id="484" r:id="rId57"/>
    <p:sldId id="455" r:id="rId58"/>
    <p:sldId id="539" r:id="rId59"/>
    <p:sldId id="563" r:id="rId60"/>
    <p:sldId id="555" r:id="rId61"/>
    <p:sldId id="526" r:id="rId62"/>
    <p:sldId id="557" r:id="rId63"/>
    <p:sldId id="556" r:id="rId64"/>
    <p:sldId id="553" r:id="rId65"/>
    <p:sldId id="550" r:id="rId66"/>
    <p:sldId id="544" r:id="rId67"/>
    <p:sldId id="552" r:id="rId68"/>
    <p:sldId id="441" r:id="rId69"/>
    <p:sldId id="463" r:id="rId70"/>
    <p:sldId id="464" r:id="rId71"/>
    <p:sldId id="444" r:id="rId72"/>
    <p:sldId id="479" r:id="rId73"/>
    <p:sldId id="481" r:id="rId74"/>
    <p:sldId id="478" r:id="rId75"/>
    <p:sldId id="477" r:id="rId76"/>
    <p:sldId id="476" r:id="rId77"/>
    <p:sldId id="485" r:id="rId78"/>
    <p:sldId id="487" r:id="rId79"/>
    <p:sldId id="486" r:id="rId80"/>
    <p:sldId id="488" r:id="rId81"/>
    <p:sldId id="456" r:id="rId82"/>
    <p:sldId id="445" r:id="rId83"/>
    <p:sldId id="465" r:id="rId84"/>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89346" autoAdjust="0"/>
  </p:normalViewPr>
  <p:slideViewPr>
    <p:cSldViewPr>
      <p:cViewPr>
        <p:scale>
          <a:sx n="80" d="100"/>
          <a:sy n="80" d="100"/>
        </p:scale>
        <p:origin x="1758" y="50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8-11T15:55:06.37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0 105,'8'0,"0"-1,1-1,-1 0,-1 0,1 0,9-5,29-8,19 4,128-4,72 17,-111 1,-73-2,3 1,0-4,97-14,-79 0,1 4,116 3,1036 10,-1211 1,50 8,26 3,118 13,-157-14,94 3,-133-12,-1 2,73 17,1 1,193 16,510-1,2662-41,-1789 5,812-2,-2471-1,61-13,-4 2,136-13,-60 1,-101 12,111-5,143 19,-296-2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8-11T15:55:12.41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0 445,'4'1,"0"0,0 0,0 0,-1 1,1-1,0 1,-1 0,1 0,3 3,27 13,10-10,-1-1,1-3,0-1,71-5,-34 0,3063-1,-1904 4,-1025-10,0-9,257-54,-164 17,574-26,40 82,79-1,-938-5,0-2,111-28,-127 24,7 1,68-3,7-1,202-58,-222 44,2 4,157-13,521 31,-434 9,1698-3,-2002 1,-1 2,1 2,0 2,-1 3,-1 2,0 1,0 4,-2 1,0 2,68 40,-89-46,1-1,50 16,-19-7,-39-14,-1 2,30 19,-33-19,0 0,1-1,1-1,19 8,-7-9,0-1,1-2,0 0,0-2,41-3,8 2,-78-1,1-1,-1 1,0 0,0 0,1 0,-1 0,0 0,1 0,-1 1,0-1,1 0,-1 1,0-1,0 1,1-1,-1 1,0 0,0-1,0 1,0 0,0 0,0 0,0 0,0 0,1 2,-2-2,-1 0,0 0,1 1,-1-1,0 0,0 0,0 0,0 0,0 0,0 0,0 0,0 0,0-1,-1 1,1 0,0-1,-1 1,1 0,0-1,-1 0,1 1,0-1,-1 0,-2 0,-48 12,-74 5,45-8,-381 26,-6-36,174-3,-497 4,629-13,23 1,-755 8,458 7,-426-3,845 1,0 1,-33 7,-17 3,-54 0,-99 5,-199 14,333-22,-492 4,355-15,-6601 2,6792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8-11T15:55:18.0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28,'0'-1,"1"0,0 0,-1-1,1 1,0 0,-1 0,1 0,0 0,0 0,0 0,0 0,0 0,0 0,1 0,-1 0,0 1,0-1,0 0,1 1,-1-1,0 1,1 0,-1-1,1 1,-1 0,0 0,3 0,40-3,-20 7,1 1,-1 2,38 15,-40-14,0 0,0-1,1-1,44 5,341-9,-119-5,195 15,343 1,864-14,-893 2,-690-6,161-28,-250 30,84-8,127 3,8 0,497-5,-456 16,1332-3,-1298 27,-44-2,9-20,139 6,453 1,-547-14,-136-11,5-1,-163 12,0-1,0-1,0-2,53-18,-52 14,1 2,1 1,59-7,-36 13,-32 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8-11T15:55:21.08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20059 1,'-32'12,"0"0,-1-3,0 0,-40 4,-26 7,-45 15,-2-8,0-5,-266 4,211-31,-188 7,307 8,-84 21,-5 2,-238 0,-3-34,187-2,-4166 3,3884-27,74 2,-368-31,264 15,-1 33,273 6,-111-9,-71-2,-4249 13,2143 1,2364-14,4-1,63 16,-99-4,196-1,1-2,-38-12,41 10,-1 1,0 1,-35-3,-166 7,108 2,93-1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8-11T15:55:23.71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6580 261,'0'-1,"0"-1,0 0,0 0,-1 1,1-1,0 0,-1 1,0-1,1 0,-1 1,0-1,0 1,0-1,0 1,0-1,0 1,0 0,-1 0,1-1,0 1,-1 0,1 0,-1 0,1 0,-1 1,1-1,-1 0,0 1,-1-1,-7-2,0 1,0 1,0-1,-11 1,5 1,-560-7,307 11,-3920-5,4120-3,1-3,-110-26,61 10,-329-56,243 49,123 17,37 6,0 1,-48 0,13 6,56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8-11T15:55:26.22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6288 0,'0'2,"-1"-1,0 1,0-1,0 0,0 1,0-1,0 0,0 0,-1 0,1 0,0 0,-1 0,1 0,-1 0,1-1,-1 1,1 0,-1-1,1 1,-1-1,-1 1,-41 10,43-11,-319 61,238-46,0-3,-100 2,-166-16,133-2,-1154 5,1225 5,-146 26,256-28,-222 11,49-5,-409 2,379-14,-591 2,665-12,36 1,37 11,60 1,0-1,0-1,0-1,0-2,-52-13,49 7,-1 2,0 2,-62-4,96 10,-18-3,0 0,0-2,-24-8,-32-7,49 16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8-11T15:55:36.99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569 521,'6385'0,"-6031"27,-99-4,0 12,-55-5,229 7,-26-30,-242-10,88 5,227-5,-343-9,34-1,-69 12,0-5,117-21,-141 17,1 3,106 3,-91 4,94-13,-59 3,199 7,-153 6,-157-3,40 1,-1-3,78-12,-85 7,0 2,0 2,1 3,50 5,-91-4,0 1,0 0,0 0,-1 0,1 1,-1 0,1 0,-1 0,0 1,0 0,-1 0,1 0,-1 0,0 1,0-1,0 1,-1 0,1 1,-1-1,-1 0,4 10,5 10,-2 0,0 1,7 40,-11-42,-2 0,-1-1,0 34,-2-45,-1 0,-1 0,0 0,0 0,-1 0,-1-1,0 1,-8 15,6-13,1 0,1 1,0-1,0 1,2-1,-1 1,2 0,0 0,1 0,2 19,-26-271,22-263,4 261,-2 230,-1 0,0 0,0 1,0-1,-1 0,-1 1,1 0,-1-1,-1 1,1 0,-2 0,1 1,-7-9,7 11,0 0,-1 0,0 0,0 1,0 0,-1 0,1 0,-1 1,0 0,0 0,0 0,0 1,0 0,-1 0,1 0,-1 1,-11-1,-262 2,115 4,-104 9,-11 1,112-1,9 0,-26-1,-10 1,169-11,0 0,1 2,-45 13,40-9,-1-1,-40 3,-418-6,250-7,-628 3,812-3,0-2,-60-14,59 9,-115-7,91 13,-115-22,170 22,-108-24,82 16,-92-11,-386 17,304 8,-100-17,196 6,-437 4,305 8,-1352-3,1553 3,-104 19,53-5,-60 11,106-15,-1-2,-97 1,114-13,0 2,-1 2,1 2,1 2,-1 2,-48 17,65-18,0-1,-1-1,0-2,0-1,0-1,-35-4,18 2,-77 8,-17 5,-260-8,208-8,190 3,-764-24,676 11,59 6,-1 3,-38-1,-50 4,-114 4,235-2,1-1,-1 1,1-1,-1 1,1 0,0 0,-1 0,1 0,0 0,0 0,-1 1,1-1,0 1,1 0,-1 0,0-1,0 1,1 0,-1 0,1 1,0-1,-1 0,1 0,0 1,0-1,1 0,-2 4,-1 8,0 1,2-1,-2 28,1 3,-3-16,2 0,0 31,3-49,1 0,1 0,-1 0,2 0,-1 0,2-1,-1 1,9 16,-3-9,-2-1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10/26/2026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bad</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564401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 different estimates! Notice that log models here had a tighter distribution, why?</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2234047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could throw everything into a regression, but what if we can’t close all back doors? </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1155383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Draw this DAG on the whiteboard – erase links between ability and education (removes omitted variable bias)</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924212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the magic of randomization! It’s what makes an RCT so powerful – here, we will approximate it (design-based inference) by selecting a subset of our data where individuals look similar (including in ability), but where treatment is quasi-randomly assigned. </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2277485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conditionally random is conditional on regression controls, but on </a:t>
            </a:r>
            <a:r>
              <a:rPr lang="en-US" b="1" dirty="0"/>
              <a:t>matching.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1893291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Why is just controlling for education here not enough? You’re still using the data! In health, suppose you want to compare how a heart attack affects a family – if you just throw in controls for age/sex/risk/etc., you’re still using data on the triathlon runners against the heart attack families. </a:t>
            </a:r>
          </a:p>
          <a:p>
            <a:endParaRPr lang="en-CA" dirty="0"/>
          </a:p>
          <a:p>
            <a:r>
              <a:rPr lang="en-CA" dirty="0"/>
              <a:t>Reducing model dependence means that researcher discretion is limited – you’re really comparing apples to apples. Suppose we have this data and want a treatment effect </a:t>
            </a:r>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4246194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what happens if you pool all data. We can try either a linear regression (what’s the treatment effect)</a:t>
            </a:r>
          </a:p>
        </p:txBody>
      </p:sp>
      <p:sp>
        <p:nvSpPr>
          <p:cNvPr id="4" name="Slide Number Placeholder 3"/>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888459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Or we try a quadratic fit – now the ATE is flipped? Which is correct? </a:t>
            </a:r>
          </a:p>
          <a:p>
            <a:r>
              <a:rPr lang="en-CA" dirty="0"/>
              <a:t>Can anyone see what the problem is (we have untreated outliers that are skewing regressions – we don’t want these observations because they aren’t comparable to treated group)</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1879052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So drop these observations – now line and quadratic tell similar stories</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3637710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So drop these observations – now line and quadratic tell similar stories</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1561896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Without need to fit the poorly matching observations, models tell a story that reflects the data we care about. (That’s the kicker philosophically here – is there data we can say we “care more about”)?</a:t>
            </a:r>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3544501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Really, it’s not matching or regression – it’s matching + regression! Appropriate data selection + model selection can be your friend. </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4165792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an economics paper! And using the CCHS! You’re welcome</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4162473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Note: still using </a:t>
            </a:r>
            <a:r>
              <a:rPr lang="en-CA" u="sng" dirty="0"/>
              <a:t>association</a:t>
            </a:r>
            <a:r>
              <a:rPr lang="en-CA" dirty="0"/>
              <a:t>. Why? What might be imperfect about matching? What might the journal be requiring here? </a:t>
            </a:r>
          </a:p>
          <a:p>
            <a:r>
              <a:rPr lang="en-CA" dirty="0"/>
              <a:t>Discussion questions: </a:t>
            </a:r>
          </a:p>
          <a:p>
            <a:pPr marL="171450" indent="-171450">
              <a:buFont typeface="Arial" panose="020B0604020202020204" pitchFamily="34" charset="0"/>
              <a:buChar char="•"/>
            </a:pPr>
            <a:r>
              <a:rPr lang="en-CA" dirty="0"/>
              <a:t>What is the importance of this question? (</a:t>
            </a:r>
            <a:r>
              <a:rPr lang="en-US" dirty="0"/>
              <a:t>deteriorating labor market conditions will produce adverse effects on the health of socioeconomically vulnerable population)</a:t>
            </a:r>
            <a:r>
              <a:rPr lang="en-CA" dirty="0"/>
              <a:t>  </a:t>
            </a:r>
          </a:p>
          <a:p>
            <a:pPr marL="171450" indent="-171450">
              <a:buFont typeface="Arial" panose="020B0604020202020204" pitchFamily="34" charset="0"/>
              <a:buChar char="•"/>
            </a:pPr>
            <a:r>
              <a:rPr lang="en-CA" dirty="0"/>
              <a:t>What are the outcomes? What is the independent and dependent variable here? How are they defined and is it okay? (</a:t>
            </a:r>
            <a:r>
              <a:rPr lang="en-US" dirty="0"/>
              <a:t>unemployment benefit recipiency on self-rated health)</a:t>
            </a:r>
            <a:endParaRPr lang="en-CA" dirty="0"/>
          </a:p>
          <a:p>
            <a:pPr marL="171450" indent="-171450">
              <a:buFont typeface="Arial" panose="020B0604020202020204" pitchFamily="34" charset="0"/>
              <a:buChar char="•"/>
            </a:pPr>
            <a:r>
              <a:rPr lang="en-CA" dirty="0"/>
              <a:t>Why can’t we do an RCT here? What is the ideal comparison?</a:t>
            </a:r>
          </a:p>
          <a:p>
            <a:pPr marL="171450" indent="-171450">
              <a:buFont typeface="Arial" panose="020B0604020202020204" pitchFamily="34" charset="0"/>
              <a:buChar char="•"/>
            </a:pPr>
            <a:r>
              <a:rPr lang="en-CA" dirty="0"/>
              <a:t>What is the comparison without matching? What are the open back doors we need to close?  (main problem: selection into unemployment based on health; secondary: </a:t>
            </a:r>
            <a:r>
              <a:rPr lang="en-US" dirty="0"/>
              <a:t>recipients of unemployment benefits tend to exhibit a more </a:t>
            </a:r>
            <a:r>
              <a:rPr lang="en-US" dirty="0" err="1"/>
              <a:t>favourable</a:t>
            </a:r>
            <a:r>
              <a:rPr lang="en-US" dirty="0"/>
              <a:t> socioeconomic profile than their nonrecipient counterparts.</a:t>
            </a:r>
            <a:r>
              <a:rPr lang="en-CA" dirty="0"/>
              <a:t>)</a:t>
            </a:r>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14640853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Note: still using </a:t>
            </a:r>
            <a:r>
              <a:rPr lang="en-CA" u="sng" dirty="0"/>
              <a:t>association</a:t>
            </a:r>
            <a:r>
              <a:rPr lang="en-CA" dirty="0"/>
              <a:t>. Why? What might be imperfect about matching? </a:t>
            </a:r>
          </a:p>
          <a:p>
            <a:r>
              <a:rPr lang="en-CA" dirty="0"/>
              <a:t>Discussion questions: </a:t>
            </a:r>
          </a:p>
          <a:p>
            <a:pPr marL="171450" indent="-171450">
              <a:buFont typeface="Arial" panose="020B0604020202020204" pitchFamily="34" charset="0"/>
              <a:buChar char="•"/>
            </a:pPr>
            <a:r>
              <a:rPr lang="en-CA" dirty="0"/>
              <a:t>What is the importance of this question? (</a:t>
            </a:r>
            <a:r>
              <a:rPr lang="en-US" dirty="0"/>
              <a:t>deteriorating labor market conditions will produce adverse effects on the health of socioeconomically vulnerable population)</a:t>
            </a:r>
            <a:r>
              <a:rPr lang="en-CA" dirty="0"/>
              <a:t>  </a:t>
            </a:r>
          </a:p>
          <a:p>
            <a:pPr marL="171450" indent="-171450">
              <a:buFont typeface="Arial" panose="020B0604020202020204" pitchFamily="34" charset="0"/>
              <a:buChar char="•"/>
            </a:pPr>
            <a:r>
              <a:rPr lang="en-CA" dirty="0"/>
              <a:t>What are the outcomes? What is the independent and dependent variable here? How are they defined and is it okay? (</a:t>
            </a:r>
            <a:r>
              <a:rPr lang="en-US" dirty="0"/>
              <a:t>unemployment benefit recipiency on self-rated health)</a:t>
            </a:r>
            <a:endParaRPr lang="en-CA" dirty="0"/>
          </a:p>
          <a:p>
            <a:pPr marL="171450" indent="-171450">
              <a:buFont typeface="Arial" panose="020B0604020202020204" pitchFamily="34" charset="0"/>
              <a:buChar char="•"/>
            </a:pPr>
            <a:r>
              <a:rPr lang="en-CA" dirty="0"/>
              <a:t>Why can’t we do an RCT here? What is the ideal comparison? </a:t>
            </a:r>
          </a:p>
          <a:p>
            <a:pPr marL="171450" indent="-171450">
              <a:buFont typeface="Arial" panose="020B0604020202020204" pitchFamily="34" charset="0"/>
              <a:buChar char="•"/>
            </a:pPr>
            <a:r>
              <a:rPr lang="en-CA" dirty="0"/>
              <a:t>What is the comparison without matching? What are the open back doors we need to close?  (main problem: selection into unemployment based on health; secondary: </a:t>
            </a:r>
            <a:r>
              <a:rPr lang="en-US" dirty="0"/>
              <a:t>recipients of unemployment benefits tend to exhibit a more </a:t>
            </a:r>
            <a:r>
              <a:rPr lang="en-US" dirty="0" err="1"/>
              <a:t>favourable</a:t>
            </a:r>
            <a:r>
              <a:rPr lang="en-US" dirty="0"/>
              <a:t> socioeconomic profile than their nonrecipient counterparts.</a:t>
            </a:r>
            <a:r>
              <a:rPr lang="en-CA" dirty="0"/>
              <a:t>)</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4180550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tables! How do we interpret these?</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3582323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tables! How do we interpret these?</a:t>
            </a:r>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5431474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Want to do some visualizations in R to look at and replicate (ish) the “unbalance” table</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3930385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should be informed by the causal model you have in mind (you guess something about what is non-random in treatment assignment and fix it)</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31080542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what is the regression to identify difference in means between two groups? </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3657453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Estimator notes – want difference in means across groups (treated and control). If D = 1 , then we want the positive difference; if D = 0, then we want the reverse (because </a:t>
            </a:r>
            <a:r>
              <a:rPr lang="en-US" dirty="0" err="1"/>
              <a:t>Y_i</a:t>
            </a:r>
            <a:r>
              <a:rPr lang="en-US" dirty="0"/>
              <a:t> is control and </a:t>
            </a:r>
            <a:r>
              <a:rPr lang="en-US" dirty="0" err="1"/>
              <a:t>Y_j</a:t>
            </a:r>
            <a:r>
              <a:rPr lang="en-US" dirty="0"/>
              <a:t>(</a:t>
            </a:r>
            <a:r>
              <a:rPr lang="en-US" dirty="0" err="1"/>
              <a:t>i</a:t>
            </a:r>
            <a:r>
              <a:rPr lang="en-US" dirty="0"/>
              <a:t>) is treated). Always want treated – control for each pair. </a:t>
            </a:r>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16591174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So if you are analyzing data from an RCT, you really just have to look at differences in means (maybe adjusting the SE s or adjusting for multiple hypothesis testing). You don’t even need controls (in theory, see below)! (Why? No confounding) Our goal today: can we simulate an RCT in the real world? </a:t>
            </a: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40672552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selecting the comparisons directly (and throwing away unused data)</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37213293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note that the OLS assigns weights to observations that may bias your estimate of ATE or ATT, particularly if (1) probability of treatment varies with x and (2) E(Y_1-Y_0|x) varies in x</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481348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F3484-1E52-A3D3-5850-6E8873F4C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2FE81E-8F7E-6857-6BEA-FC092E1E85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28DF91-DFED-69C9-71B9-D025929CFD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Had to update the slide here. </a:t>
            </a:r>
          </a:p>
          <a:p>
            <a:endParaRPr lang="en-US" dirty="0"/>
          </a:p>
        </p:txBody>
      </p:sp>
      <p:sp>
        <p:nvSpPr>
          <p:cNvPr id="4" name="Slide Number Placeholder 3">
            <a:extLst>
              <a:ext uri="{FF2B5EF4-FFF2-40B4-BE49-F238E27FC236}">
                <a16:creationId xmlns:a16="http://schemas.microsoft.com/office/drawing/2014/main" id="{064B025C-6562-AF3F-3184-C7B01FA0E853}"/>
              </a:ext>
            </a:extLst>
          </p:cNvPr>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9193518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C52F2-F665-A674-EC8A-4C2F4A057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56935-2EB9-06D5-E1DC-9B2FDE42D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5D917-9F71-F031-0B84-FCD1387CDF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8702B3-89B6-3CE5-4BEA-AD02AAD57F48}"/>
              </a:ext>
            </a:extLst>
          </p:cNvPr>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33752906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You want to go through this section quickly – just to build intuition. </a:t>
            </a:r>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17015682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Subclassification is a simplistic form of matching, used to give intuition here.</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30426731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determined by the frequency of data – how likely is it that you see someone in a certain quantile of BMI. Do you see how this is really not that different from a fixed effects estimator?</a:t>
            </a:r>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30458474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this to use MatchIt** Packages: good, but make sure you know what is happening under the hood! If you can code up your own estimator, do. Otherwise, cite your packages (show the citations in RMD, don’t go through code)</a:t>
            </a:r>
          </a:p>
          <a:p>
            <a:pPr marL="171450" indent="-171450">
              <a:buFont typeface="Arial" panose="020B0604020202020204" pitchFamily="34" charset="0"/>
              <a:buChar char="•"/>
            </a:pPr>
            <a:r>
              <a:rPr lang="en-US" dirty="0"/>
              <a:t>MatchIt method</a:t>
            </a:r>
          </a:p>
          <a:p>
            <a:pPr marL="171450" indent="-171450">
              <a:buFont typeface="Arial" panose="020B0604020202020204" pitchFamily="34" charset="0"/>
              <a:buChar char="•"/>
            </a:pPr>
            <a:r>
              <a:rPr lang="en-US" dirty="0"/>
              <a:t>Mention that Stata really is </a:t>
            </a:r>
            <a:r>
              <a:rPr lang="en-US"/>
              <a:t>better than R when </a:t>
            </a:r>
            <a:r>
              <a:rPr lang="en-US" dirty="0"/>
              <a:t>it comes to matching. </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32760369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might some examples be here? What are some problems with subclassification? How many classifications? </a:t>
            </a:r>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33062353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typically assume away sparsity problems (or use a different strategy if we have this problem – then matching doesn’t get rid of the selection (they’re still apples and oranges after matching))</a:t>
            </a:r>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27896665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Exact matching should be covered quickly, want to get to approximate matches</a:t>
            </a:r>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35088600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29866733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over the code for exact matching, don’t need it? </a:t>
            </a:r>
          </a:p>
        </p:txBody>
      </p:sp>
      <p:sp>
        <p:nvSpPr>
          <p:cNvPr id="4" name="Slide Number Placeholder 3"/>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32898972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way most matching actually happens these days!</a:t>
            </a:r>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18107268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Subscript notes: I and j are people, n is covariate (age, sex, </a:t>
            </a:r>
            <a:r>
              <a:rPr lang="en-US" dirty="0" err="1"/>
              <a:t>bmi</a:t>
            </a:r>
            <a:r>
              <a:rPr lang="en-US" dirty="0"/>
              <a:t>, married, etc.)</a:t>
            </a:r>
          </a:p>
        </p:txBody>
      </p:sp>
      <p:sp>
        <p:nvSpPr>
          <p:cNvPr id="4" name="Slide Number Placeholder 3"/>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27024358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to choose k</a:t>
            </a:r>
          </a:p>
        </p:txBody>
      </p:sp>
      <p:sp>
        <p:nvSpPr>
          <p:cNvPr id="4" name="Slide Number Placeholder 3"/>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15510355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are the neighbors of this guy? </a:t>
            </a:r>
          </a:p>
        </p:txBody>
      </p:sp>
      <p:sp>
        <p:nvSpPr>
          <p:cNvPr id="4" name="Slide Number Placeholder 3"/>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4481317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choose k? </a:t>
            </a:r>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40922784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251111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Is there a better way to solve these problems? Can we beat the curse of dimensionality? Is there an optimal bandwidth? </a:t>
            </a:r>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18243736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Section 2.4 in the case study. What goes in X? </a:t>
            </a:r>
            <a:r>
              <a:rPr lang="en-US" dirty="0"/>
              <a:t>age(years), sex (male versus female), marital status (couple, single, or widowed/divorced), whether there are children living in the household, self-reported race/ethnicity (white, black, Aboriginal, Asian, or multiple/other), immigrant status (non-immigrant, immigrant less than 15years, or immigrant 15 years or more), geographical region (Atlantic, Central, or Western), urbanicity (urban versus rural), education (less than secondary, secondary degree, some post-secondary, post-secondary degree), home ownership (owner versus renter), and survey  year.</a:t>
            </a:r>
          </a:p>
          <a:p>
            <a:pPr marL="171450" indent="-171450">
              <a:buFont typeface="Arial" panose="020B0604020202020204" pitchFamily="34" charset="0"/>
              <a:buChar char="•"/>
            </a:pPr>
            <a:r>
              <a:rPr lang="en-US" dirty="0"/>
              <a:t>Note: should we really be controlling for home ownership? Why or why not? </a:t>
            </a:r>
          </a:p>
          <a:p>
            <a:pPr marL="171450" indent="-171450">
              <a:buFont typeface="Arial" panose="020B0604020202020204" pitchFamily="34" charset="0"/>
              <a:buChar char="•"/>
            </a:pPr>
            <a:r>
              <a:rPr lang="en-US" dirty="0"/>
              <a:t>What are we missing? </a:t>
            </a:r>
            <a:r>
              <a:rPr lang="en-US" b="1" dirty="0"/>
              <a:t>Income! </a:t>
            </a:r>
            <a:r>
              <a:rPr lang="en-US" b="0" dirty="0"/>
              <a:t>Why do they exclude it?</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6214378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turn this into plain English – what are we doing here? </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15682551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turn this into plain English – what are we doing here? </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10292844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We haven’t covered logit or </a:t>
            </a:r>
            <a:r>
              <a:rPr lang="en-CA" dirty="0" err="1"/>
              <a:t>probit</a:t>
            </a:r>
            <a:r>
              <a:rPr lang="en-CA" dirty="0"/>
              <a:t> yet, will in future lectures. If I have two observations with similar propensities but only one is treated, then differences across those observations are more likely to be treatment related, right? But the true propensity score is (of course) unknown </a:t>
            </a:r>
          </a:p>
        </p:txBody>
      </p:sp>
      <p:sp>
        <p:nvSpPr>
          <p:cNvPr id="4" name="Slide Number Placeholder 3"/>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22317638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 true RCT, this is just the probability of the coin flip (e.g., 0.5) But in a non-RCT, there are lots of ways your treatment probabilities could change (e.g., remember that this is why we cluster?)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What’s the logic for using this in matching? If you and I have the same probability of being treated, but only one of us is actually treated, then we’re pretty similar in the counterfactual worlds, right? </a:t>
            </a:r>
          </a:p>
          <a:p>
            <a:r>
              <a:rPr lang="en-US" dirty="0"/>
              <a:t> Plus this is pretty easy to implement!</a:t>
            </a:r>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2040940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Matching (and regression, and all design-based approaches) are approximating an RCT – what kind of RCT are you comfortable with? </a:t>
            </a:r>
          </a:p>
        </p:txBody>
      </p:sp>
      <p:sp>
        <p:nvSpPr>
          <p:cNvPr id="4" name="Slide Number Placeholder 3"/>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24556350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tables! Can look at the full one here: https://www.sciencedirect.com/science/article/pii/S0277953619301200?casa_token=3sZ0ALXMOo8AAAAA:uB1kjnETLu-dhuvYmrUzTkvSr1DGtpUXDn1dtMb44fKQKt97v7Exe4HX0kEjveHIk4dsl2uftsw#appsec1. </a:t>
            </a:r>
          </a:p>
          <a:p>
            <a:r>
              <a:rPr lang="en-US" dirty="0"/>
              <a:t>How do we interpret these? </a:t>
            </a:r>
            <a:r>
              <a:rPr lang="en-US" b="1" u="sng" dirty="0"/>
              <a:t>How do we decide if the match is good enough? </a:t>
            </a:r>
          </a:p>
        </p:txBody>
      </p:sp>
      <p:sp>
        <p:nvSpPr>
          <p:cNvPr id="4" name="Slide Number Placeholder 3"/>
          <p:cNvSpPr>
            <a:spLocks noGrp="1"/>
          </p:cNvSpPr>
          <p:nvPr>
            <p:ph type="sldNum" sz="quarter" idx="5"/>
          </p:nvPr>
        </p:nvSpPr>
        <p:spPr/>
        <p:txBody>
          <a:bodyPr/>
          <a:lstStyle/>
          <a:p>
            <a:fld id="{4AF79E1B-2C51-4B9B-8EA4-26DE9E345AFF}" type="slidenum">
              <a:rPr lang="en-US" smtClean="0"/>
              <a:t>58</a:t>
            </a:fld>
            <a:endParaRPr lang="en-US"/>
          </a:p>
        </p:txBody>
      </p:sp>
    </p:spTree>
    <p:extLst>
      <p:ext uri="{BB962C8B-B14F-4D97-AF65-F5344CB8AC3E}">
        <p14:creationId xmlns:p14="http://schemas.microsoft.com/office/powerpoint/2010/main" val="4189482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6296F-D0ED-FC68-EAB1-DF75F4928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5CE477-759E-CE7D-F388-D3405E0533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50F5D-F1B6-0B83-B00E-32626F0E5504}"/>
              </a:ext>
            </a:extLst>
          </p:cNvPr>
          <p:cNvSpPr>
            <a:spLocks noGrp="1"/>
          </p:cNvSpPr>
          <p:nvPr>
            <p:ph type="body" idx="1"/>
          </p:nvPr>
        </p:nvSpPr>
        <p:spPr/>
        <p:txBody>
          <a:bodyPr/>
          <a:lstStyle/>
          <a:p>
            <a:endParaRPr lang="en-US" b="1" u="sng" dirty="0"/>
          </a:p>
        </p:txBody>
      </p:sp>
      <p:sp>
        <p:nvSpPr>
          <p:cNvPr id="4" name="Slide Number Placeholder 3">
            <a:extLst>
              <a:ext uri="{FF2B5EF4-FFF2-40B4-BE49-F238E27FC236}">
                <a16:creationId xmlns:a16="http://schemas.microsoft.com/office/drawing/2014/main" id="{E1276A36-E5B7-5B88-1924-9DF30E1972C0}"/>
              </a:ext>
            </a:extLst>
          </p:cNvPr>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7075578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So then what? </a:t>
            </a:r>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31167950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61</a:t>
            </a:fld>
            <a:endParaRPr lang="en-US"/>
          </a:p>
        </p:txBody>
      </p:sp>
    </p:spTree>
    <p:extLst>
      <p:ext uri="{BB962C8B-B14F-4D97-AF65-F5344CB8AC3E}">
        <p14:creationId xmlns:p14="http://schemas.microsoft.com/office/powerpoint/2010/main" val="40672552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what is the regression? What is the main coefficient of interest? </a:t>
            </a:r>
          </a:p>
        </p:txBody>
      </p:sp>
      <p:sp>
        <p:nvSpPr>
          <p:cNvPr id="4" name="Slide Number Placeholder 3"/>
          <p:cNvSpPr>
            <a:spLocks noGrp="1"/>
          </p:cNvSpPr>
          <p:nvPr>
            <p:ph type="sldNum" sz="quarter" idx="5"/>
          </p:nvPr>
        </p:nvSpPr>
        <p:spPr/>
        <p:txBody>
          <a:bodyPr/>
          <a:lstStyle/>
          <a:p>
            <a:fld id="{4AF79E1B-2C51-4B9B-8EA4-26DE9E345AFF}" type="slidenum">
              <a:rPr lang="en-US" smtClean="0"/>
              <a:t>62</a:t>
            </a:fld>
            <a:endParaRPr lang="en-US"/>
          </a:p>
        </p:txBody>
      </p:sp>
    </p:spTree>
    <p:extLst>
      <p:ext uri="{BB962C8B-B14F-4D97-AF65-F5344CB8AC3E}">
        <p14:creationId xmlns:p14="http://schemas.microsoft.com/office/powerpoint/2010/main" val="36574532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How do we interpret these results? </a:t>
            </a:r>
          </a:p>
        </p:txBody>
      </p:sp>
      <p:sp>
        <p:nvSpPr>
          <p:cNvPr id="4" name="Slide Number Placeholder 3"/>
          <p:cNvSpPr>
            <a:spLocks noGrp="1"/>
          </p:cNvSpPr>
          <p:nvPr>
            <p:ph type="sldNum" sz="quarter" idx="5"/>
          </p:nvPr>
        </p:nvSpPr>
        <p:spPr/>
        <p:txBody>
          <a:bodyPr/>
          <a:lstStyle/>
          <a:p>
            <a:fld id="{4AF79E1B-2C51-4B9B-8EA4-26DE9E345AFF}" type="slidenum">
              <a:rPr lang="en-US" smtClean="0"/>
              <a:t>63</a:t>
            </a:fld>
            <a:endParaRPr lang="en-US"/>
          </a:p>
        </p:txBody>
      </p:sp>
    </p:spTree>
    <p:extLst>
      <p:ext uri="{BB962C8B-B14F-4D97-AF65-F5344CB8AC3E}">
        <p14:creationId xmlns:p14="http://schemas.microsoft.com/office/powerpoint/2010/main" val="9868146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64</a:t>
            </a:fld>
            <a:endParaRPr lang="en-US"/>
          </a:p>
        </p:txBody>
      </p:sp>
    </p:spTree>
    <p:extLst>
      <p:ext uri="{BB962C8B-B14F-4D97-AF65-F5344CB8AC3E}">
        <p14:creationId xmlns:p14="http://schemas.microsoft.com/office/powerpoint/2010/main" val="182299196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The problem: income is the main way that you get the benefits, but its also the way benefits are meant to affect health. They (</a:t>
            </a:r>
            <a:r>
              <a:rPr lang="en-US" dirty="0" err="1"/>
              <a:t>i</a:t>
            </a:r>
            <a:r>
              <a:rPr lang="en-US" dirty="0"/>
              <a:t>) adjusted the measure of income and (ii) ran a second model where recipients and non-recipients were also matched on household income, in addition to the original set of covariates, to ascertain whether our results were sensitive to this analytic decision. However, to address the aforementioned challenge, we calculated a revised measure of household income in which the average annual EI benefit amount($8246) was subtracted from the reported income values of individuals in the recipient group. This mitigated some of the concern around including income in the model, since </a:t>
            </a:r>
            <a:r>
              <a:rPr lang="en-US" b="1" dirty="0"/>
              <a:t>after accounting for benefit receipt, income should be independent of treatment assignment. </a:t>
            </a:r>
            <a:r>
              <a:rPr lang="en-US" dirty="0"/>
              <a:t>To calculate the annual average benefit amount, we multiplied the average duration of EI benefits by the average weekly benefit level over the study period– 21.7 weeks and $380, respectively (Statistics Canada, 2015). We included a second model in which recipients and non-recipients were matched on this revised household income measure.</a:t>
            </a:r>
          </a:p>
          <a:p>
            <a:pPr marL="228600" indent="-228600">
              <a:buAutoNum type="arabicPeriod"/>
            </a:pPr>
            <a:r>
              <a:rPr lang="en-US" dirty="0"/>
              <a:t>To address </a:t>
            </a:r>
            <a:r>
              <a:rPr lang="en-US" dirty="0" err="1"/>
              <a:t>thischallenge</a:t>
            </a:r>
            <a:r>
              <a:rPr lang="en-US" dirty="0"/>
              <a:t>, we treated chronic conditions as a proxy for labor </a:t>
            </a:r>
            <a:r>
              <a:rPr lang="en-US" dirty="0" err="1"/>
              <a:t>marketdisadvantage</a:t>
            </a:r>
            <a:r>
              <a:rPr lang="en-US" dirty="0"/>
              <a:t> – albeit a limited one – and ran a supplementary set </a:t>
            </a:r>
            <a:r>
              <a:rPr lang="en-US" dirty="0" err="1"/>
              <a:t>ofmodels</a:t>
            </a:r>
            <a:r>
              <a:rPr lang="en-US" dirty="0"/>
              <a:t> in which we restricted our analysis to the subset of </a:t>
            </a:r>
            <a:r>
              <a:rPr lang="en-US" dirty="0" err="1"/>
              <a:t>individualswho</a:t>
            </a:r>
            <a:r>
              <a:rPr lang="en-US" dirty="0"/>
              <a:t> reported having no chronic conditions.</a:t>
            </a:r>
          </a:p>
          <a:p>
            <a:pPr marL="228600" indent="-228600">
              <a:buAutoNum type="arabicPeriod"/>
            </a:pPr>
            <a:r>
              <a:rPr lang="en-US" dirty="0"/>
              <a:t>Strongest in bottom five deciles (lol) – this is convincing though. </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65</a:t>
            </a:fld>
            <a:endParaRPr lang="en-US"/>
          </a:p>
        </p:txBody>
      </p:sp>
    </p:spTree>
    <p:extLst>
      <p:ext uri="{BB962C8B-B14F-4D97-AF65-F5344CB8AC3E}">
        <p14:creationId xmlns:p14="http://schemas.microsoft.com/office/powerpoint/2010/main" val="16888125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think they did a super good job dealing with this. Their limitations are all “fake” limitations. </a:t>
            </a:r>
          </a:p>
        </p:txBody>
      </p:sp>
      <p:sp>
        <p:nvSpPr>
          <p:cNvPr id="4" name="Slide Number Placeholder 3"/>
          <p:cNvSpPr>
            <a:spLocks noGrp="1"/>
          </p:cNvSpPr>
          <p:nvPr>
            <p:ph type="sldNum" sz="quarter" idx="5"/>
          </p:nvPr>
        </p:nvSpPr>
        <p:spPr/>
        <p:txBody>
          <a:bodyPr/>
          <a:lstStyle/>
          <a:p>
            <a:fld id="{4AF79E1B-2C51-4B9B-8EA4-26DE9E345AFF}" type="slidenum">
              <a:rPr lang="en-US" smtClean="0"/>
              <a:t>66</a:t>
            </a:fld>
            <a:endParaRPr lang="en-US"/>
          </a:p>
        </p:txBody>
      </p:sp>
    </p:spTree>
    <p:extLst>
      <p:ext uri="{BB962C8B-B14F-4D97-AF65-F5344CB8AC3E}">
        <p14:creationId xmlns:p14="http://schemas.microsoft.com/office/powerpoint/2010/main" val="3451443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Exact matching should be covered quickly, want to get to approximate matches</a:t>
            </a:r>
          </a:p>
        </p:txBody>
      </p:sp>
      <p:sp>
        <p:nvSpPr>
          <p:cNvPr id="4" name="Slide Number Placeholder 3"/>
          <p:cNvSpPr>
            <a:spLocks noGrp="1"/>
          </p:cNvSpPr>
          <p:nvPr>
            <p:ph type="sldNum" sz="quarter" idx="5"/>
          </p:nvPr>
        </p:nvSpPr>
        <p:spPr/>
        <p:txBody>
          <a:bodyPr/>
          <a:lstStyle/>
          <a:p>
            <a:fld id="{4AF79E1B-2C51-4B9B-8EA4-26DE9E345AFF}" type="slidenum">
              <a:rPr lang="en-US" smtClean="0"/>
              <a:t>67</a:t>
            </a:fld>
            <a:endParaRPr lang="en-US"/>
          </a:p>
        </p:txBody>
      </p:sp>
    </p:spTree>
    <p:extLst>
      <p:ext uri="{BB962C8B-B14F-4D97-AF65-F5344CB8AC3E}">
        <p14:creationId xmlns:p14="http://schemas.microsoft.com/office/powerpoint/2010/main" val="20525965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If you can’t match on, say, ability, your matching might be making things worse. </a:t>
            </a:r>
          </a:p>
          <a:p>
            <a:r>
              <a:rPr lang="en-CA" dirty="0"/>
              <a:t>PSM had its heyday, now we have problems with it.</a:t>
            </a:r>
          </a:p>
        </p:txBody>
      </p:sp>
      <p:sp>
        <p:nvSpPr>
          <p:cNvPr id="4" name="Slide Number Placeholder 3"/>
          <p:cNvSpPr>
            <a:spLocks noGrp="1"/>
          </p:cNvSpPr>
          <p:nvPr>
            <p:ph type="sldNum" sz="quarter" idx="5"/>
          </p:nvPr>
        </p:nvSpPr>
        <p:spPr/>
        <p:txBody>
          <a:bodyPr/>
          <a:lstStyle/>
          <a:p>
            <a:fld id="{4AF79E1B-2C51-4B9B-8EA4-26DE9E345AFF}" type="slidenum">
              <a:rPr lang="en-US" smtClean="0"/>
              <a:t>71</a:t>
            </a:fld>
            <a:endParaRPr lang="en-US"/>
          </a:p>
        </p:txBody>
      </p:sp>
    </p:spTree>
    <p:extLst>
      <p:ext uri="{BB962C8B-B14F-4D97-AF65-F5344CB8AC3E}">
        <p14:creationId xmlns:p14="http://schemas.microsoft.com/office/powerpoint/2010/main" val="33654139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Had to update the slide here.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72</a:t>
            </a:fld>
            <a:endParaRPr lang="en-US"/>
          </a:p>
        </p:txBody>
      </p:sp>
    </p:spTree>
    <p:extLst>
      <p:ext uri="{BB962C8B-B14F-4D97-AF65-F5344CB8AC3E}">
        <p14:creationId xmlns:p14="http://schemas.microsoft.com/office/powerpoint/2010/main" val="29263967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73</a:t>
            </a:fld>
            <a:endParaRPr lang="en-US"/>
          </a:p>
        </p:txBody>
      </p:sp>
    </p:spTree>
    <p:extLst>
      <p:ext uri="{BB962C8B-B14F-4D97-AF65-F5344CB8AC3E}">
        <p14:creationId xmlns:p14="http://schemas.microsoft.com/office/powerpoint/2010/main" val="201453718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Results of a MC simulation with different treatment effects (no omitted covariates) – note the performance of regression and IPW against PSM</a:t>
            </a:r>
          </a:p>
        </p:txBody>
      </p:sp>
      <p:sp>
        <p:nvSpPr>
          <p:cNvPr id="4" name="Slide Number Placeholder 3"/>
          <p:cNvSpPr>
            <a:spLocks noGrp="1"/>
          </p:cNvSpPr>
          <p:nvPr>
            <p:ph type="sldNum" sz="quarter" idx="5"/>
          </p:nvPr>
        </p:nvSpPr>
        <p:spPr/>
        <p:txBody>
          <a:bodyPr/>
          <a:lstStyle/>
          <a:p>
            <a:fld id="{4AF79E1B-2C51-4B9B-8EA4-26DE9E345AFF}" type="slidenum">
              <a:rPr lang="en-US" smtClean="0"/>
              <a:t>74</a:t>
            </a:fld>
            <a:endParaRPr lang="en-US"/>
          </a:p>
        </p:txBody>
      </p:sp>
    </p:spTree>
    <p:extLst>
      <p:ext uri="{BB962C8B-B14F-4D97-AF65-F5344CB8AC3E}">
        <p14:creationId xmlns:p14="http://schemas.microsoft.com/office/powerpoint/2010/main" val="37968579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If you leave out covariates, this gets worse (particularly for PSM – I trimmed out PSM with regression because there’s so much variation it’s impossible to see others)</a:t>
            </a:r>
          </a:p>
        </p:txBody>
      </p:sp>
      <p:sp>
        <p:nvSpPr>
          <p:cNvPr id="4" name="Slide Number Placeholder 3"/>
          <p:cNvSpPr>
            <a:spLocks noGrp="1"/>
          </p:cNvSpPr>
          <p:nvPr>
            <p:ph type="sldNum" sz="quarter" idx="5"/>
          </p:nvPr>
        </p:nvSpPr>
        <p:spPr/>
        <p:txBody>
          <a:bodyPr/>
          <a:lstStyle/>
          <a:p>
            <a:fld id="{4AF79E1B-2C51-4B9B-8EA4-26DE9E345AFF}" type="slidenum">
              <a:rPr lang="en-US" smtClean="0"/>
              <a:t>75</a:t>
            </a:fld>
            <a:endParaRPr lang="en-US"/>
          </a:p>
        </p:txBody>
      </p:sp>
    </p:spTree>
    <p:extLst>
      <p:ext uri="{BB962C8B-B14F-4D97-AF65-F5344CB8AC3E}">
        <p14:creationId xmlns:p14="http://schemas.microsoft.com/office/powerpoint/2010/main" val="20362409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PSM isn’t a great matching technique, because it’s trying to randomize in the wrong way. PSM wants to fully randomize the experiment by collapsing all covariates into a single estimator – you’re better off doing a blocked experiment by matching on multiple variables without collapsing them. This takes us back to NN matching. </a:t>
            </a:r>
          </a:p>
        </p:txBody>
      </p:sp>
      <p:sp>
        <p:nvSpPr>
          <p:cNvPr id="4" name="Slide Number Placeholder 3"/>
          <p:cNvSpPr>
            <a:spLocks noGrp="1"/>
          </p:cNvSpPr>
          <p:nvPr>
            <p:ph type="sldNum" sz="quarter" idx="5"/>
          </p:nvPr>
        </p:nvSpPr>
        <p:spPr/>
        <p:txBody>
          <a:bodyPr/>
          <a:lstStyle/>
          <a:p>
            <a:fld id="{4AF79E1B-2C51-4B9B-8EA4-26DE9E345AFF}" type="slidenum">
              <a:rPr lang="en-US" smtClean="0"/>
              <a:t>76</a:t>
            </a:fld>
            <a:endParaRPr lang="en-US"/>
          </a:p>
        </p:txBody>
      </p:sp>
    </p:spTree>
    <p:extLst>
      <p:ext uri="{BB962C8B-B14F-4D97-AF65-F5344CB8AC3E}">
        <p14:creationId xmlns:p14="http://schemas.microsoft.com/office/powerpoint/2010/main" val="39609118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Machine learning might not be quite the right way to learn which observations are similar, depending on your philosophy . </a:t>
            </a:r>
          </a:p>
        </p:txBody>
      </p:sp>
      <p:sp>
        <p:nvSpPr>
          <p:cNvPr id="4" name="Slide Number Placeholder 3"/>
          <p:cNvSpPr>
            <a:spLocks noGrp="1"/>
          </p:cNvSpPr>
          <p:nvPr>
            <p:ph type="sldNum" sz="quarter" idx="5"/>
          </p:nvPr>
        </p:nvSpPr>
        <p:spPr/>
        <p:txBody>
          <a:bodyPr/>
          <a:lstStyle/>
          <a:p>
            <a:fld id="{4AF79E1B-2C51-4B9B-8EA4-26DE9E345AFF}" type="slidenum">
              <a:rPr lang="en-US" smtClean="0"/>
              <a:t>77</a:t>
            </a:fld>
            <a:endParaRPr lang="en-US"/>
          </a:p>
        </p:txBody>
      </p:sp>
    </p:spTree>
    <p:extLst>
      <p:ext uri="{BB962C8B-B14F-4D97-AF65-F5344CB8AC3E}">
        <p14:creationId xmlns:p14="http://schemas.microsoft.com/office/powerpoint/2010/main" val="14309044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 addition, PS are everywhere, even in OLS – the only difference is that OLS adds assumptions to PS, just like PSM does. </a:t>
            </a:r>
          </a:p>
        </p:txBody>
      </p:sp>
      <p:sp>
        <p:nvSpPr>
          <p:cNvPr id="4" name="Slide Number Placeholder 3"/>
          <p:cNvSpPr>
            <a:spLocks noGrp="1"/>
          </p:cNvSpPr>
          <p:nvPr>
            <p:ph type="sldNum" sz="quarter" idx="5"/>
          </p:nvPr>
        </p:nvSpPr>
        <p:spPr/>
        <p:txBody>
          <a:bodyPr/>
          <a:lstStyle/>
          <a:p>
            <a:fld id="{4AF79E1B-2C51-4B9B-8EA4-26DE9E345AFF}" type="slidenum">
              <a:rPr lang="en-US" smtClean="0"/>
              <a:t>78</a:t>
            </a:fld>
            <a:endParaRPr lang="en-US"/>
          </a:p>
        </p:txBody>
      </p:sp>
    </p:spTree>
    <p:extLst>
      <p:ext uri="{BB962C8B-B14F-4D97-AF65-F5344CB8AC3E}">
        <p14:creationId xmlns:p14="http://schemas.microsoft.com/office/powerpoint/2010/main" val="161441957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Here’s the rub (on board): assume</a:t>
                </a:r>
                <a:r>
                  <a:rPr lang="en-CA" baseline="0" dirty="0"/>
                  <a:t> that</a:t>
                </a:r>
                <a:r>
                  <a:rPr lang="en-CA" dirty="0"/>
                  <a:t> </a:t>
                </a:r>
                <a14:m>
                  <m:oMath xmlns:m="http://schemas.openxmlformats.org/officeDocument/2006/math">
                    <m:sSup>
                      <m:sSupPr>
                        <m:ctrlPr>
                          <a:rPr lang="en-US" sz="1200" b="0" i="1" smtClean="0">
                            <a:latin typeface="Cambria Math" panose="02040503050406030204" pitchFamily="18" charset="0"/>
                            <a:cs typeface="Times New Roman" panose="02020603050405020304" pitchFamily="18" charset="0"/>
                          </a:rPr>
                        </m:ctrlPr>
                      </m:sSupPr>
                      <m:e>
                        <m:r>
                          <a:rPr lang="en-US" sz="1200" b="0" i="1" smtClean="0">
                            <a:latin typeface="Cambria Math" panose="02040503050406030204" pitchFamily="18" charset="0"/>
                            <a:cs typeface="Times New Roman" panose="02020603050405020304" pitchFamily="18" charset="0"/>
                          </a:rPr>
                          <m:t>𝑌</m:t>
                        </m:r>
                      </m:e>
                      <m:sup>
                        <m:r>
                          <a:rPr lang="en-US" sz="1200" b="0" i="1" smtClean="0">
                            <a:latin typeface="Cambria Math" panose="02040503050406030204" pitchFamily="18" charset="0"/>
                            <a:cs typeface="Times New Roman" panose="02020603050405020304" pitchFamily="18" charset="0"/>
                          </a:rPr>
                          <m:t>1</m:t>
                        </m:r>
                      </m:sup>
                    </m:sSup>
                    <m:r>
                      <a:rPr lang="en-US" sz="1200" b="0" i="1" smtClean="0">
                        <a:latin typeface="Cambria Math" panose="02040503050406030204" pitchFamily="18" charset="0"/>
                        <a:cs typeface="Times New Roman" panose="02020603050405020304" pitchFamily="18" charset="0"/>
                      </a:rPr>
                      <m:t>,</m:t>
                    </m:r>
                    <m:sSup>
                      <m:sSupPr>
                        <m:ctrlPr>
                          <a:rPr lang="en-US" sz="1200" b="0" i="1" smtClean="0">
                            <a:latin typeface="Cambria Math" panose="02040503050406030204" pitchFamily="18" charset="0"/>
                            <a:cs typeface="Times New Roman" panose="02020603050405020304" pitchFamily="18" charset="0"/>
                          </a:rPr>
                        </m:ctrlPr>
                      </m:sSupPr>
                      <m:e>
                        <m:r>
                          <a:rPr lang="en-US" sz="1200" b="0" i="1" smtClean="0">
                            <a:latin typeface="Cambria Math" panose="02040503050406030204" pitchFamily="18" charset="0"/>
                            <a:cs typeface="Times New Roman" panose="02020603050405020304" pitchFamily="18" charset="0"/>
                          </a:rPr>
                          <m:t>𝑌</m:t>
                        </m:r>
                      </m:e>
                      <m:sup>
                        <m:r>
                          <a:rPr lang="en-US" sz="1200" b="0" i="1" smtClean="0">
                            <a:latin typeface="Cambria Math" panose="02040503050406030204" pitchFamily="18" charset="0"/>
                            <a:cs typeface="Times New Roman" panose="02020603050405020304" pitchFamily="18" charset="0"/>
                          </a:rPr>
                          <m:t>0</m:t>
                        </m:r>
                      </m:sup>
                    </m:sSup>
                    <m:r>
                      <a:rPr lang="en-US" sz="1200" b="0" i="1" smtClean="0">
                        <a:latin typeface="Cambria Math" panose="02040503050406030204" pitchFamily="18" charset="0"/>
                        <a:cs typeface="Times New Roman" panose="02020603050405020304" pitchFamily="18" charset="0"/>
                      </a:rPr>
                      <m:t>⊥</m:t>
                    </m:r>
                    <m:r>
                      <a:rPr lang="en-US" sz="1200" b="0" i="1" smtClean="0">
                        <a:latin typeface="Cambria Math" panose="02040503050406030204" pitchFamily="18" charset="0"/>
                        <a:cs typeface="Times New Roman" panose="02020603050405020304" pitchFamily="18" charset="0"/>
                      </a:rPr>
                      <m:t>𝐷</m:t>
                    </m:r>
                    <m:r>
                      <a:rPr lang="en-US" sz="1200" b="0" i="1" smtClean="0">
                        <a:latin typeface="Cambria Math" panose="02040503050406030204" pitchFamily="18" charset="0"/>
                        <a:cs typeface="Times New Roman" panose="02020603050405020304" pitchFamily="18" charset="0"/>
                      </a:rPr>
                      <m:t>|</m:t>
                    </m:r>
                    <m:r>
                      <a:rPr lang="en-US" sz="1200" b="0" i="1" smtClean="0">
                        <a:latin typeface="Cambria Math" panose="02040503050406030204" pitchFamily="18" charset="0"/>
                        <a:cs typeface="Times New Roman" panose="02020603050405020304" pitchFamily="18" charset="0"/>
                      </a:rPr>
                      <m:t>𝑋</m:t>
                    </m:r>
                  </m:oMath>
                </a14:m>
                <a:r>
                  <a:rPr lang="en-US" sz="1200" dirty="0">
                    <a:cs typeface="Times New Roman" panose="02020603050405020304" pitchFamily="18" charset="0"/>
                  </a:rPr>
                  <a:t>, then you only have to condition on </a:t>
                </a:r>
                <a14:m>
                  <m:oMath xmlns:m="http://schemas.openxmlformats.org/officeDocument/2006/math">
                    <m:r>
                      <a:rPr lang="en-US" sz="1200" b="0" i="1" smtClean="0">
                        <a:latin typeface="Cambria Math" panose="02040503050406030204" pitchFamily="18" charset="0"/>
                        <a:cs typeface="Times New Roman" panose="02020603050405020304" pitchFamily="18" charset="0"/>
                      </a:rPr>
                      <m:t>𝑝</m:t>
                    </m:r>
                    <m:d>
                      <m:dPr>
                        <m:ctrlPr>
                          <a:rPr lang="en-US" sz="1200" b="0" i="1" smtClean="0">
                            <a:latin typeface="Cambria Math" panose="02040503050406030204" pitchFamily="18" charset="0"/>
                            <a:cs typeface="Times New Roman" panose="02020603050405020304" pitchFamily="18" charset="0"/>
                          </a:rPr>
                        </m:ctrlPr>
                      </m:dPr>
                      <m:e>
                        <m:r>
                          <a:rPr lang="en-US" sz="1200" b="0" i="1" smtClean="0">
                            <a:latin typeface="Cambria Math" panose="02040503050406030204" pitchFamily="18" charset="0"/>
                            <a:cs typeface="Times New Roman" panose="02020603050405020304" pitchFamily="18" charset="0"/>
                          </a:rPr>
                          <m:t>𝑋</m:t>
                        </m:r>
                      </m:e>
                    </m:d>
                  </m:oMath>
                </a14:m>
                <a:r>
                  <a:rPr lang="en-US" sz="1200" dirty="0">
                    <a:cs typeface="Times New Roman" panose="02020603050405020304" pitchFamily="18" charset="0"/>
                  </a:rPr>
                  <a:t>, not </a:t>
                </a:r>
                <a14:m>
                  <m:oMath xmlns:m="http://schemas.openxmlformats.org/officeDocument/2006/math">
                    <m:r>
                      <a:rPr lang="en-US" sz="1200" b="0" i="1" smtClean="0">
                        <a:latin typeface="Cambria Math" panose="02040503050406030204" pitchFamily="18" charset="0"/>
                        <a:cs typeface="Times New Roman" panose="02020603050405020304" pitchFamily="18" charset="0"/>
                      </a:rPr>
                      <m:t>𝑋</m:t>
                    </m:r>
                  </m:oMath>
                </a14:m>
                <a:r>
                  <a:rPr lang="en-US" sz="1200" dirty="0">
                    <a:cs typeface="Times New Roman" panose="02020603050405020304" pitchFamily="18" charset="0"/>
                  </a:rPr>
                  <a:t>. For</a:t>
                </a:r>
                <a:r>
                  <a:rPr lang="en-US" sz="1200" baseline="0" dirty="0">
                    <a:cs typeface="Times New Roman" panose="02020603050405020304" pitchFamily="18" charset="0"/>
                  </a:rPr>
                  <a:t> OLS, we just assume X enters linearly and control for it in a regression Y = b + </a:t>
                </a:r>
                <a:r>
                  <a:rPr lang="en-US" sz="1200" baseline="0" dirty="0" err="1">
                    <a:cs typeface="Times New Roman" panose="02020603050405020304" pitchFamily="18" charset="0"/>
                  </a:rPr>
                  <a:t>bD</a:t>
                </a:r>
                <a:r>
                  <a:rPr lang="en-US" sz="1200" baseline="0" dirty="0">
                    <a:cs typeface="Times New Roman" panose="02020603050405020304" pitchFamily="18" charset="0"/>
                  </a:rPr>
                  <a:t> + </a:t>
                </a:r>
                <a:r>
                  <a:rPr lang="en-US" sz="1200" baseline="0" dirty="0" err="1">
                    <a:cs typeface="Times New Roman" panose="02020603050405020304" pitchFamily="18" charset="0"/>
                  </a:rPr>
                  <a:t>bX.</a:t>
                </a:r>
                <a:r>
                  <a:rPr lang="en-US" sz="1200" baseline="0" dirty="0">
                    <a:cs typeface="Times New Roman" panose="02020603050405020304" pitchFamily="18" charset="0"/>
                  </a:rPr>
                  <a:t> Is this good? Not necessarily – what if p(X) = x + x^2 + x^3? So instead, we add in f(X) as our control, not </a:t>
                </a:r>
                <a:r>
                  <a:rPr lang="en-US" sz="1200" baseline="0" dirty="0" err="1">
                    <a:cs typeface="Times New Roman" panose="02020603050405020304" pitchFamily="18" charset="0"/>
                  </a:rPr>
                  <a:t>bX</a:t>
                </a:r>
                <a:r>
                  <a:rPr lang="en-US" sz="1200" baseline="0" dirty="0">
                    <a:cs typeface="Times New Roman" panose="02020603050405020304" pitchFamily="18" charset="0"/>
                  </a:rPr>
                  <a:t> – but then, FWL shows that the “inner” regression of D on f(X) is exactly E[D|X]. OLS already uses PS, but assumes linear model—hence, there’s no reason PSM should be worse than OLS (although it might be worse than NN)</a:t>
                </a:r>
                <a:endParaRPr lang="en-US" sz="1200" dirty="0">
                  <a:cs typeface="Times New Roman" panose="02020603050405020304" pitchFamily="18" charset="0"/>
                </a:endParaRPr>
              </a:p>
              <a:p>
                <a:endParaRPr lang="en-CA"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Here’s the rub (on board): assume</a:t>
                </a:r>
                <a:r>
                  <a:rPr lang="en-CA" baseline="0" dirty="0"/>
                  <a:t> that</a:t>
                </a:r>
                <a:r>
                  <a:rPr lang="en-CA" dirty="0"/>
                  <a:t> </a:t>
                </a:r>
                <a:r>
                  <a:rPr lang="en-US" sz="1200" b="0" i="0">
                    <a:latin typeface="Cambria Math" panose="02040503050406030204" pitchFamily="18" charset="0"/>
                    <a:cs typeface="Times New Roman" panose="02020603050405020304" pitchFamily="18" charset="0"/>
                  </a:rPr>
                  <a:t>𝑌^1,𝑌^0⊥𝐷|𝑋</a:t>
                </a:r>
                <a:r>
                  <a:rPr lang="en-US" sz="1200" dirty="0">
                    <a:cs typeface="Times New Roman" panose="02020603050405020304" pitchFamily="18" charset="0"/>
                  </a:rPr>
                  <a:t>, then you only have to condition on </a:t>
                </a:r>
                <a:r>
                  <a:rPr lang="en-US" sz="1200" b="0" i="0">
                    <a:latin typeface="Cambria Math" panose="02040503050406030204" pitchFamily="18" charset="0"/>
                    <a:cs typeface="Times New Roman" panose="02020603050405020304" pitchFamily="18" charset="0"/>
                  </a:rPr>
                  <a:t>𝑝(𝑋)</a:t>
                </a:r>
                <a:r>
                  <a:rPr lang="en-US" sz="1200" dirty="0">
                    <a:cs typeface="Times New Roman" panose="02020603050405020304" pitchFamily="18" charset="0"/>
                  </a:rPr>
                  <a:t>, not </a:t>
                </a:r>
                <a:r>
                  <a:rPr lang="en-US" sz="1200" b="0" i="0">
                    <a:latin typeface="Cambria Math" panose="02040503050406030204" pitchFamily="18" charset="0"/>
                    <a:cs typeface="Times New Roman" panose="02020603050405020304" pitchFamily="18" charset="0"/>
                  </a:rPr>
                  <a:t>𝑋</a:t>
                </a:r>
                <a:r>
                  <a:rPr lang="en-US" sz="1200" dirty="0">
                    <a:cs typeface="Times New Roman" panose="02020603050405020304" pitchFamily="18" charset="0"/>
                  </a:rPr>
                  <a:t>. For</a:t>
                </a:r>
                <a:r>
                  <a:rPr lang="en-US" sz="1200" baseline="0" dirty="0">
                    <a:cs typeface="Times New Roman" panose="02020603050405020304" pitchFamily="18" charset="0"/>
                  </a:rPr>
                  <a:t> OLS, we just assume X enters linearly and control for it in a regression Y = b + </a:t>
                </a:r>
                <a:r>
                  <a:rPr lang="en-US" sz="1200" baseline="0" dirty="0" err="1">
                    <a:cs typeface="Times New Roman" panose="02020603050405020304" pitchFamily="18" charset="0"/>
                  </a:rPr>
                  <a:t>bD</a:t>
                </a:r>
                <a:r>
                  <a:rPr lang="en-US" sz="1200" baseline="0" dirty="0">
                    <a:cs typeface="Times New Roman" panose="02020603050405020304" pitchFamily="18" charset="0"/>
                  </a:rPr>
                  <a:t> + </a:t>
                </a:r>
                <a:r>
                  <a:rPr lang="en-US" sz="1200" baseline="0" dirty="0" err="1">
                    <a:cs typeface="Times New Roman" panose="02020603050405020304" pitchFamily="18" charset="0"/>
                  </a:rPr>
                  <a:t>bX.</a:t>
                </a:r>
                <a:r>
                  <a:rPr lang="en-US" sz="1200" baseline="0" dirty="0">
                    <a:cs typeface="Times New Roman" panose="02020603050405020304" pitchFamily="18" charset="0"/>
                  </a:rPr>
                  <a:t> Is this good? Not necessarily – what if p(X) = x + x^2 + x^3? So instead, we add in f(X) as our control, not </a:t>
                </a:r>
                <a:r>
                  <a:rPr lang="en-US" sz="1200" baseline="0" dirty="0" err="1">
                    <a:cs typeface="Times New Roman" panose="02020603050405020304" pitchFamily="18" charset="0"/>
                  </a:rPr>
                  <a:t>bX</a:t>
                </a:r>
                <a:r>
                  <a:rPr lang="en-US" sz="1200" baseline="0" dirty="0">
                    <a:cs typeface="Times New Roman" panose="02020603050405020304" pitchFamily="18" charset="0"/>
                  </a:rPr>
                  <a:t> – but then, FWL shows that the “inner” regression of D on f(X) is exactly E[D|X]. OLS already uses PS, but assumes linear model—hence, there’s no reason PSM should be worse than OLS (although it might be worse than NN)</a:t>
                </a:r>
                <a:endParaRPr lang="en-US" sz="1200" dirty="0">
                  <a:cs typeface="Times New Roman" panose="02020603050405020304" pitchFamily="18" charset="0"/>
                </a:endParaRPr>
              </a:p>
              <a:p>
                <a:endParaRPr lang="en-CA" dirty="0"/>
              </a:p>
            </p:txBody>
          </p:sp>
        </mc:Fallback>
      </mc:AlternateContent>
      <p:sp>
        <p:nvSpPr>
          <p:cNvPr id="4" name="Slide Number Placeholder 3"/>
          <p:cNvSpPr>
            <a:spLocks noGrp="1"/>
          </p:cNvSpPr>
          <p:nvPr>
            <p:ph type="sldNum" sz="quarter" idx="5"/>
          </p:nvPr>
        </p:nvSpPr>
        <p:spPr/>
        <p:txBody>
          <a:bodyPr/>
          <a:lstStyle/>
          <a:p>
            <a:fld id="{4AF79E1B-2C51-4B9B-8EA4-26DE9E345AFF}" type="slidenum">
              <a:rPr lang="en-US" smtClean="0"/>
              <a:t>79</a:t>
            </a:fld>
            <a:endParaRPr lang="en-US"/>
          </a:p>
        </p:txBody>
      </p:sp>
    </p:spTree>
    <p:extLst>
      <p:ext uri="{BB962C8B-B14F-4D97-AF65-F5344CB8AC3E}">
        <p14:creationId xmlns:p14="http://schemas.microsoft.com/office/powerpoint/2010/main" val="177686705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Even though NN matching can be greedy (meaning low quality matches), PSM doesn’t work as well. A better approach is to weight your matches. Either pre-specify a kernel (lots of random functions like this) or …</a:t>
            </a:r>
          </a:p>
        </p:txBody>
      </p:sp>
      <p:sp>
        <p:nvSpPr>
          <p:cNvPr id="4" name="Slide Number Placeholder 3"/>
          <p:cNvSpPr>
            <a:spLocks noGrp="1"/>
          </p:cNvSpPr>
          <p:nvPr>
            <p:ph type="sldNum" sz="quarter" idx="5"/>
          </p:nvPr>
        </p:nvSpPr>
        <p:spPr/>
        <p:txBody>
          <a:bodyPr/>
          <a:lstStyle/>
          <a:p>
            <a:fld id="{4AF79E1B-2C51-4B9B-8EA4-26DE9E345AFF}" type="slidenum">
              <a:rPr lang="en-US" smtClean="0"/>
              <a:t>80</a:t>
            </a:fld>
            <a:endParaRPr lang="en-US"/>
          </a:p>
        </p:txBody>
      </p:sp>
    </p:spTree>
    <p:extLst>
      <p:ext uri="{BB962C8B-B14F-4D97-AF65-F5344CB8AC3E}">
        <p14:creationId xmlns:p14="http://schemas.microsoft.com/office/powerpoint/2010/main" val="287666359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use the propensity score! (note that this is *not* using the PSM for matching). You’re weighting by how “weird” treatment assignment is (more weird </a:t>
            </a:r>
            <a:r>
              <a:rPr lang="en-CA" dirty="0">
                <a:sym typeface="Wingdings" panose="05000000000000000000" pitchFamily="2" charset="2"/>
              </a:rPr>
              <a:t> more weight) Why? Cause that’s the interesting stuff! </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81</a:t>
            </a:fld>
            <a:endParaRPr lang="en-US"/>
          </a:p>
        </p:txBody>
      </p:sp>
    </p:spTree>
    <p:extLst>
      <p:ext uri="{BB962C8B-B14F-4D97-AF65-F5344CB8AC3E}">
        <p14:creationId xmlns:p14="http://schemas.microsoft.com/office/powerpoint/2010/main" val="1957441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10/26/2026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10/26/2026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5.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6.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59.xml.rels><?xml version="1.0" encoding="UTF-8" standalone="yes"?>
<Relationships xmlns="http://schemas.openxmlformats.org/package/2006/relationships"><Relationship Id="rId3" Type="http://schemas.openxmlformats.org/officeDocument/2006/relationships/hyperlink" Target="https://pmc.ncbi.nlm.nih.gov/articles/PMC9260471/#:~:text=Performing%20numerical%20and%20visual%20checks,balance%20summary%20for%20all%20covariates.&amp;text=A%20threshold%20should%20be%20defined,sufficient%20balance%20on%20the%20covariate.&amp;text=To%20some%20extent%2C%20the%20threshold,be%20used%20for%20important%20ones.&amp;text=Balance%20should%20also%20be%20assessed,relying%20on%20a%20single%20one."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hyperlink" Target="https://bmjopenrespres.bmj.com/content/bmjresp/9/1/e001216.full.pdf" TargetMode="External"/><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logs.worldbank.org/impactevaluations/what-do-you-need-do-make-matching-estimator-convincing-rhetorical-vs-statistical"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www.jstor.org/stable/pdf/2677743.pdf?casa_token=IjzYni5P9uUAAAAA:HbrUlmcnj8t1GBBHJytsvqUEIdLKpMC1ABrVGkWiLLcQgUWY5UbC-yXn2gcvE6OuPNOfoxREOtA1F7sBaoqtyetfAHB4x2VnbXh4rjJY5UhP97YRSzNm"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hyperlink" Target="https://pdf.sciencedirectassets.com/271689/1-s2.0-S0304407600X02643/1-s2.0-S030440760400082X/main.pdf?X-Amz-Security-Token=IQoJb3JpZ2luX2VjEPH%2F%2F%2F%2F%2F%2F%2F%2F%2F%2FwEaCXVzLWVhc3QtMSJIMEYCIQCxQ2yfY%2Bmqiau%2BNmeT3aqLxeiqpqaEcfD3fPUsQSTf1gIhAPQQiF1vxLCj9kq3OKqZK4YvXdCZYVPmRpZAvn3TPBwzKtIECBoQBBoMMDU5MDAzNTQ2ODY1IgzIe%2FIcvUCnkPdcMXkqrwTYN%2Fh3YrhG3ofbMxPmDgkvPvZx9pl1jttMyJsr7Xmpe9PNYfw0vL1DsFCxlSI1DEf2ThFEDOzpevTFRYKD%2FIBeep7juH%2F2AsEnpuUBRj573hp9nXCjUEj92GrGuAFuavXve57oK85yIM7EFxMv%2FIktfEFhR220IeG6tlANa0ItmbafZ2VSlYqgUmuEVCkYmItrCDOdN9UidlUQ4ISJx5PFmwSb%2BAYeMOOjE0m%2BTgYwoFS%2B70cBbemdDuj%2Fvu1hK8R9xoGaVzP9rnLdkqdM1m8q1iHtqVad%2FQCpbIwQu3xEviPk2DwCLk7v00lxGy7KqfIWcJr2VS11MscQRxBGnBvQqvcChxBOyB%2FM4Mfs2fNqoUY9dbF5InaXWi9CnAKI5UUKC2d7cEYK09bwOmLaTyxWckXx631DPzV%2Bd7ZDCidN6SP4fyv66RuewRi6MAuAbuJZ7QkL8SSOlohZqIHHDLEf4WHH0GlKay4VJVHJHTG7oXOQQQRjP4aCnQXpiIHJ7xpVipVNgiTPDewXgkgzc%2FeQnawbDsghH89%2F6Hytn3799bfqgrY43WC1AfP%2FN%2B%2BygogYoXigg%2FXmzZSiFdLuEkSbK7E42o1II%2BPUcvUDTONw26Nbmee30xpBdjrmjt35S9mcaE0eiNH0Ee7%2FBGPw1eWtfoPC%2FZDrKQWm7kD8zOKxS1w%2F3%2BrlT0JWFJsoGOE2TmLVteBnhUYy3gzCdJjDW4ien7kKVccXes3A2l4j7cDsMOWD8pUGOqgBJHdU7Aq0fFV2aQW1OmEPPVMdR5HQ74O0N75p6BjvrHhVEpTKxRfxtjhZB4XLCmU9clfVk7sLx4siGutqz80VEvEIKHcJiKVPsOotlMmNiUIsDbZ%2BRMOzQC2alEQvRfyYuPCQVRolFZ2Dw5nX6ge%2B%2B0aDjaOIDZNd96sz70oGeRkFXiZqV2374Q2VJDYB2mjGnDBowgBpw1P57pcqtQx1DFLNx8qzl1Y6&amp;X-Amz-Algorithm=AWS4-HMAC-SHA256&amp;X-Amz-Date=20220629T173022Z&amp;X-Amz-SignedHeaders=host&amp;X-Amz-Expires=300&amp;X-Amz-Credential=ASIAQ3PHCVTYQKIYNGUC%2F20220629%2Fus-east-1%2Fs3%2Faws4_request&amp;X-Amz-Signature=7675288f4216322759d9dbf1129663aad221c7c4cbdb7c29033ed52bdc90e1bf&amp;hash=308fa8f869edd6ef8ffd5f9bb51d2a15a87e1a23ec43e6d9cd64d74d8f99ab4c&amp;host=68042c943591013ac2b2430a89b270f6af2c76d8dfd086a07176afe7c76c2c61&amp;pii=S030440760400082X&amp;tid=spdf-06185d94-b6ea-4d72-b35a-150107643f7a&amp;sid=5e9271e41aae99496638b365e05f5c642176gxrqa&amp;type=client&amp;ua=4d50515653510250050c&amp;rr=723063c2dc5217f1" TargetMode="External"/></Relationships>
</file>

<file path=ppt/slides/_rels/slide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tinyurl.com/2dpkpad9"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75.xml.rels><?xml version="1.0" encoding="UTF-8" standalone="yes"?>
<Relationships xmlns="http://schemas.openxmlformats.org/package/2006/relationships"><Relationship Id="rId3" Type="http://schemas.openxmlformats.org/officeDocument/2006/relationships/hyperlink" Target="https://tinyurl.com/2dpkpad9"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76.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230.png"/><Relationship Id="rId3" Type="http://schemas.openxmlformats.org/officeDocument/2006/relationships/image" Target="../media/image38.png"/><Relationship Id="rId7" Type="http://schemas.openxmlformats.org/officeDocument/2006/relationships/image" Target="../media/image200.png"/><Relationship Id="rId12" Type="http://schemas.openxmlformats.org/officeDocument/2006/relationships/customXml" Target="../ink/ink5.xml"/><Relationship Id="rId17" Type="http://schemas.openxmlformats.org/officeDocument/2006/relationships/image" Target="../media/image250.png"/><Relationship Id="rId2" Type="http://schemas.openxmlformats.org/officeDocument/2006/relationships/notesSlide" Target="../notesSlides/notesSlide66.xml"/><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220.png"/><Relationship Id="rId5" Type="http://schemas.openxmlformats.org/officeDocument/2006/relationships/image" Target="../media/image190.png"/><Relationship Id="rId15" Type="http://schemas.openxmlformats.org/officeDocument/2006/relationships/image" Target="../media/image24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210.png"/><Relationship Id="rId14" Type="http://schemas.openxmlformats.org/officeDocument/2006/relationships/customXml" Target="../ink/ink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tinyurl.com/h7sdwjh6" TargetMode="External"/><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8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1.png"/></Relationships>
</file>

<file path=ppt/slides/_rels/slide81.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2209800"/>
            <a:ext cx="10515600" cy="1894362"/>
          </a:xfrm>
        </p:spPr>
        <p:txBody>
          <a:bodyPr>
            <a:normAutofit/>
          </a:bodyPr>
          <a:lstStyle/>
          <a:p>
            <a:r>
              <a:rPr lang="en-US" dirty="0"/>
              <a:t>Quant Methods </a:t>
            </a:r>
            <a:r>
              <a:rPr lang="en-US"/>
              <a:t>in HSR I </a:t>
            </a:r>
            <a:endParaRPr lang="en-US" dirty="0"/>
          </a:p>
        </p:txBody>
      </p:sp>
      <p:sp>
        <p:nvSpPr>
          <p:cNvPr id="3" name="Subtitle 2"/>
          <p:cNvSpPr>
            <a:spLocks noGrp="1"/>
          </p:cNvSpPr>
          <p:nvPr>
            <p:ph type="subTitle" idx="1"/>
          </p:nvPr>
        </p:nvSpPr>
        <p:spPr>
          <a:xfrm>
            <a:off x="990600" y="4191000"/>
            <a:ext cx="10363200" cy="1981200"/>
          </a:xfrm>
        </p:spPr>
        <p:txBody>
          <a:bodyPr>
            <a:noAutofit/>
          </a:bodyPr>
          <a:lstStyle/>
          <a:p>
            <a:r>
              <a:rPr lang="en-US" sz="2400" dirty="0"/>
              <a:t>Lecture 6: Matching Methods</a:t>
            </a:r>
          </a:p>
          <a:p>
            <a:r>
              <a:rPr lang="en-US" sz="2400" dirty="0"/>
              <a:t>October 26,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A51564-B161-D439-9BC1-08C3F5BD553E}"/>
              </a:ext>
            </a:extLst>
          </p:cNvPr>
          <p:cNvPicPr>
            <a:picLocks noChangeAspect="1"/>
          </p:cNvPicPr>
          <p:nvPr/>
        </p:nvPicPr>
        <p:blipFill>
          <a:blip r:embed="rId3"/>
          <a:stretch>
            <a:fillRect/>
          </a:stretch>
        </p:blipFill>
        <p:spPr>
          <a:xfrm>
            <a:off x="0" y="907404"/>
            <a:ext cx="11353800" cy="6007248"/>
          </a:xfrm>
          <a:prstGeom prst="rect">
            <a:avLst/>
          </a:prstGeom>
        </p:spPr>
      </p:pic>
      <p:sp>
        <p:nvSpPr>
          <p:cNvPr id="2" name="Title 1">
            <a:extLst>
              <a:ext uri="{FF2B5EF4-FFF2-40B4-BE49-F238E27FC236}">
                <a16:creationId xmlns:a16="http://schemas.microsoft.com/office/drawing/2014/main" id="{6121E06D-F3DD-5919-D470-9A5349E3E689}"/>
              </a:ext>
            </a:extLst>
          </p:cNvPr>
          <p:cNvSpPr>
            <a:spLocks noGrp="1"/>
          </p:cNvSpPr>
          <p:nvPr>
            <p:ph type="title"/>
          </p:nvPr>
        </p:nvSpPr>
        <p:spPr>
          <a:xfrm>
            <a:off x="228600" y="365760"/>
            <a:ext cx="10725912" cy="728525"/>
          </a:xfrm>
        </p:spPr>
        <p:txBody>
          <a:bodyPr>
            <a:normAutofit/>
          </a:bodyPr>
          <a:lstStyle/>
          <a:p>
            <a:r>
              <a:rPr lang="en-US" dirty="0"/>
              <a:t>Assignment 1 Notes </a:t>
            </a:r>
          </a:p>
        </p:txBody>
      </p:sp>
    </p:spTree>
    <p:extLst>
      <p:ext uri="{BB962C8B-B14F-4D97-AF65-F5344CB8AC3E}">
        <p14:creationId xmlns:p14="http://schemas.microsoft.com/office/powerpoint/2010/main" val="3119370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53820-D82C-3EDE-38B2-F3712A1D3BDA}"/>
              </a:ext>
            </a:extLst>
          </p:cNvPr>
          <p:cNvSpPr>
            <a:spLocks noGrp="1"/>
          </p:cNvSpPr>
          <p:nvPr>
            <p:ph type="title"/>
          </p:nvPr>
        </p:nvSpPr>
        <p:spPr>
          <a:xfrm>
            <a:off x="111950" y="-381000"/>
            <a:ext cx="9692640" cy="1325562"/>
          </a:xfrm>
        </p:spPr>
        <p:txBody>
          <a:bodyPr/>
          <a:lstStyle/>
          <a:p>
            <a:r>
              <a:rPr lang="en-US" dirty="0"/>
              <a:t>Assignment 1 Notes</a:t>
            </a:r>
          </a:p>
        </p:txBody>
      </p:sp>
      <p:pic>
        <p:nvPicPr>
          <p:cNvPr id="5" name="Picture 4">
            <a:extLst>
              <a:ext uri="{FF2B5EF4-FFF2-40B4-BE49-F238E27FC236}">
                <a16:creationId xmlns:a16="http://schemas.microsoft.com/office/drawing/2014/main" id="{8BE5B3E3-9ADF-0250-3643-780EB134E18F}"/>
              </a:ext>
            </a:extLst>
          </p:cNvPr>
          <p:cNvPicPr>
            <a:picLocks noChangeAspect="1"/>
          </p:cNvPicPr>
          <p:nvPr/>
        </p:nvPicPr>
        <p:blipFill>
          <a:blip r:embed="rId3"/>
          <a:stretch>
            <a:fillRect/>
          </a:stretch>
        </p:blipFill>
        <p:spPr>
          <a:xfrm>
            <a:off x="111950" y="972271"/>
            <a:ext cx="10766122" cy="5733329"/>
          </a:xfrm>
          <a:prstGeom prst="rect">
            <a:avLst/>
          </a:prstGeom>
        </p:spPr>
      </p:pic>
    </p:spTree>
    <p:extLst>
      <p:ext uri="{BB962C8B-B14F-4D97-AF65-F5344CB8AC3E}">
        <p14:creationId xmlns:p14="http://schemas.microsoft.com/office/powerpoint/2010/main" val="3125337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a:extLst>
            <a:ext uri="{FF2B5EF4-FFF2-40B4-BE49-F238E27FC236}">
              <a16:creationId xmlns:a16="http://schemas.microsoft.com/office/drawing/2014/main" id="{80B3AC65-DEC5-43F0-AB8F-40CB9D9B6213}"/>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BC921DF-9345-4B9D-A324-FA2A21AFF5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useBgFill="1">
        <p:nvSpPr>
          <p:cNvPr id="20" name="Rectangle 19">
            <a:extLst>
              <a:ext uri="{FF2B5EF4-FFF2-40B4-BE49-F238E27FC236}">
                <a16:creationId xmlns:a16="http://schemas.microsoft.com/office/drawing/2014/main" id="{A1EE3CC7-2194-4DE5-B62A-44A7077D0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51489"/>
            <a:ext cx="11292840" cy="26065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3" name="Title 12">
            <a:extLst>
              <a:ext uri="{FF2B5EF4-FFF2-40B4-BE49-F238E27FC236}">
                <a16:creationId xmlns:a16="http://schemas.microsoft.com/office/drawing/2014/main" id="{A1983217-1DC2-463A-9BB6-AFE892A18068}"/>
              </a:ext>
            </a:extLst>
          </p:cNvPr>
          <p:cNvSpPr>
            <a:spLocks noGrp="1"/>
          </p:cNvSpPr>
          <p:nvPr>
            <p:ph type="title"/>
          </p:nvPr>
        </p:nvSpPr>
        <p:spPr>
          <a:xfrm>
            <a:off x="914400" y="4624001"/>
            <a:ext cx="9777603" cy="1152524"/>
          </a:xfrm>
        </p:spPr>
        <p:txBody>
          <a:bodyPr vert="horz" lIns="91440" tIns="45720" rIns="91440" bIns="45720" rtlCol="0" anchor="b">
            <a:normAutofit/>
          </a:bodyPr>
          <a:lstStyle/>
          <a:p>
            <a:pPr>
              <a:lnSpc>
                <a:spcPct val="85000"/>
              </a:lnSpc>
            </a:pPr>
            <a:endParaRPr lang="en-US" sz="4800" kern="1200" spc="-50" baseline="0">
              <a:solidFill>
                <a:schemeClr val="tx1"/>
              </a:solidFill>
              <a:latin typeface="+mj-lt"/>
              <a:ea typeface="+mj-ea"/>
              <a:cs typeface="+mj-cs"/>
            </a:endParaRPr>
          </a:p>
        </p:txBody>
      </p:sp>
      <p:sp>
        <p:nvSpPr>
          <p:cNvPr id="22" name="Rectangle 21">
            <a:extLst>
              <a:ext uri="{FF2B5EF4-FFF2-40B4-BE49-F238E27FC236}">
                <a16:creationId xmlns:a16="http://schemas.microsoft.com/office/drawing/2014/main" id="{5C86F7B6-C089-4557-B97A-3E9D42392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4" name="Rectangle 23">
            <a:extLst>
              <a:ext uri="{FF2B5EF4-FFF2-40B4-BE49-F238E27FC236}">
                <a16:creationId xmlns:a16="http://schemas.microsoft.com/office/drawing/2014/main" id="{47130899-E4D0-4FB2-BA18-591F0CA89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12092" cy="425148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97E0BA86-897D-E038-46D4-D71B6F5BAA94}"/>
              </a:ext>
            </a:extLst>
          </p:cNvPr>
          <p:cNvPicPr>
            <a:picLocks noChangeAspect="1"/>
          </p:cNvPicPr>
          <p:nvPr/>
        </p:nvPicPr>
        <p:blipFill>
          <a:blip r:embed="rId2"/>
          <a:stretch>
            <a:fillRect/>
          </a:stretch>
        </p:blipFill>
        <p:spPr>
          <a:xfrm>
            <a:off x="228600" y="19878"/>
            <a:ext cx="4310494" cy="3028122"/>
          </a:xfrm>
          <a:prstGeom prst="rect">
            <a:avLst/>
          </a:prstGeom>
        </p:spPr>
      </p:pic>
      <p:pic>
        <p:nvPicPr>
          <p:cNvPr id="7" name="Picture 6">
            <a:extLst>
              <a:ext uri="{FF2B5EF4-FFF2-40B4-BE49-F238E27FC236}">
                <a16:creationId xmlns:a16="http://schemas.microsoft.com/office/drawing/2014/main" id="{2ACBA3F3-CF9A-36A0-9C3F-DF6649858B2E}"/>
              </a:ext>
            </a:extLst>
          </p:cNvPr>
          <p:cNvPicPr>
            <a:picLocks noChangeAspect="1"/>
          </p:cNvPicPr>
          <p:nvPr/>
        </p:nvPicPr>
        <p:blipFill>
          <a:blip r:embed="rId3"/>
          <a:stretch>
            <a:fillRect/>
          </a:stretch>
        </p:blipFill>
        <p:spPr>
          <a:xfrm>
            <a:off x="4513419" y="1056420"/>
            <a:ext cx="4404313" cy="3049985"/>
          </a:xfrm>
          <a:prstGeom prst="rect">
            <a:avLst/>
          </a:prstGeom>
        </p:spPr>
      </p:pic>
      <p:pic>
        <p:nvPicPr>
          <p:cNvPr id="9" name="Picture 8">
            <a:extLst>
              <a:ext uri="{FF2B5EF4-FFF2-40B4-BE49-F238E27FC236}">
                <a16:creationId xmlns:a16="http://schemas.microsoft.com/office/drawing/2014/main" id="{7A72ADEB-4643-AB26-806B-F7FAE10C3FFE}"/>
              </a:ext>
            </a:extLst>
          </p:cNvPr>
          <p:cNvPicPr>
            <a:picLocks noChangeAspect="1"/>
          </p:cNvPicPr>
          <p:nvPr/>
        </p:nvPicPr>
        <p:blipFill>
          <a:blip r:embed="rId4"/>
          <a:stretch>
            <a:fillRect/>
          </a:stretch>
        </p:blipFill>
        <p:spPr>
          <a:xfrm>
            <a:off x="7819260" y="2886586"/>
            <a:ext cx="4372740" cy="3028121"/>
          </a:xfrm>
          <a:prstGeom prst="rect">
            <a:avLst/>
          </a:prstGeom>
        </p:spPr>
      </p:pic>
    </p:spTree>
    <p:extLst>
      <p:ext uri="{BB962C8B-B14F-4D97-AF65-F5344CB8AC3E}">
        <p14:creationId xmlns:p14="http://schemas.microsoft.com/office/powerpoint/2010/main" val="417142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F94EC-69BE-F465-466F-DA365B0DC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412DD-FE2F-17E5-ECFA-53E31C8C6669}"/>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Where were we? Multivariate OLS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85AB27-FCC1-4E93-5CC5-0CF209396249}"/>
              </a:ext>
            </a:extLst>
          </p:cNvPr>
          <p:cNvSpPr>
            <a:spLocks noGrp="1"/>
          </p:cNvSpPr>
          <p:nvPr>
            <p:ph idx="1"/>
          </p:nvPr>
        </p:nvSpPr>
        <p:spPr>
          <a:xfrm>
            <a:off x="609601" y="1066801"/>
            <a:ext cx="10015390" cy="5141388"/>
          </a:xfrm>
        </p:spPr>
        <p:txBody>
          <a:bodyPr>
            <a:noAutofit/>
          </a:bodyPr>
          <a:lstStyle/>
          <a:p>
            <a:r>
              <a:rPr lang="en-US" sz="2400" dirty="0">
                <a:cs typeface="Times New Roman" panose="02020603050405020304" pitchFamily="18" charset="0"/>
              </a:rPr>
              <a:t>Flexibility of regression: </a:t>
            </a:r>
          </a:p>
          <a:p>
            <a:pPr marL="731520" lvl="1" indent="-457200">
              <a:buFont typeface="+mj-lt"/>
              <a:buAutoNum type="arabicPeriod"/>
            </a:pPr>
            <a:r>
              <a:rPr lang="en-US" sz="2400" dirty="0">
                <a:cs typeface="Times New Roman" panose="02020603050405020304" pitchFamily="18" charset="0"/>
              </a:rPr>
              <a:t>Options for variables (binary variables, scaling, transformations)</a:t>
            </a:r>
          </a:p>
          <a:p>
            <a:pPr marL="731520" lvl="1" indent="-457200">
              <a:buFont typeface="+mj-lt"/>
              <a:buAutoNum type="arabicPeriod"/>
            </a:pPr>
            <a:r>
              <a:rPr lang="en-US" sz="2400" dirty="0">
                <a:cs typeface="Times New Roman" panose="02020603050405020304" pitchFamily="18" charset="0"/>
              </a:rPr>
              <a:t>Interactions</a:t>
            </a:r>
          </a:p>
          <a:p>
            <a:pPr marL="731520" lvl="1" indent="-457200">
              <a:buFont typeface="+mj-lt"/>
              <a:buAutoNum type="arabicPeriod"/>
            </a:pPr>
            <a:r>
              <a:rPr lang="en-US" sz="2400" dirty="0">
                <a:cs typeface="Times New Roman" panose="02020603050405020304" pitchFamily="18" charset="0"/>
              </a:rPr>
              <a:t>Nonlinear effects </a:t>
            </a:r>
            <a:r>
              <a:rPr lang="en-US" sz="2400" i="1" dirty="0">
                <a:cs typeface="Times New Roman" panose="02020603050405020304" pitchFamily="18" charset="0"/>
              </a:rPr>
              <a:t>which are linear in parameters</a:t>
            </a:r>
          </a:p>
          <a:p>
            <a:r>
              <a:rPr lang="en-US" sz="2400" b="1" dirty="0">
                <a:highlight>
                  <a:srgbClr val="FFFF00"/>
                </a:highlight>
                <a:cs typeface="Times New Roman" panose="02020603050405020304" pitchFamily="18" charset="0"/>
              </a:rPr>
              <a:t>Standard errors: </a:t>
            </a:r>
          </a:p>
          <a:p>
            <a:pPr marL="731520" lvl="1" indent="-457200">
              <a:buFont typeface="+mj-lt"/>
              <a:buAutoNum type="arabicPeriod"/>
            </a:pPr>
            <a:r>
              <a:rPr lang="en-US" sz="2400" b="1" dirty="0">
                <a:highlight>
                  <a:srgbClr val="FFFF00"/>
                </a:highlight>
                <a:cs typeface="Times New Roman" panose="02020603050405020304" pitchFamily="18" charset="0"/>
              </a:rPr>
              <a:t>Heteroskedasticity</a:t>
            </a:r>
          </a:p>
          <a:p>
            <a:pPr marL="731520" lvl="1" indent="-457200">
              <a:buFont typeface="+mj-lt"/>
              <a:buAutoNum type="arabicPeriod"/>
            </a:pPr>
            <a:r>
              <a:rPr lang="en-US" sz="2400" b="1" dirty="0">
                <a:highlight>
                  <a:srgbClr val="FFFF00"/>
                </a:highlight>
                <a:cs typeface="Times New Roman" panose="02020603050405020304" pitchFamily="18" charset="0"/>
              </a:rPr>
              <a:t>Autocorrelation</a:t>
            </a:r>
          </a:p>
          <a:p>
            <a:pPr marL="731520" lvl="1" indent="-457200">
              <a:buFont typeface="+mj-lt"/>
              <a:buAutoNum type="arabicPeriod"/>
            </a:pPr>
            <a:r>
              <a:rPr lang="en-US" sz="2400" b="1" dirty="0">
                <a:highlight>
                  <a:srgbClr val="FFFF00"/>
                </a:highlight>
                <a:cs typeface="Times New Roman" panose="02020603050405020304" pitchFamily="18" charset="0"/>
              </a:rPr>
              <a:t>Clustering</a:t>
            </a:r>
          </a:p>
          <a:p>
            <a:r>
              <a:rPr lang="en-US" sz="2400" dirty="0">
                <a:cs typeface="Times New Roman" panose="02020603050405020304" pitchFamily="18" charset="0"/>
              </a:rPr>
              <a:t>Other features: </a:t>
            </a:r>
          </a:p>
          <a:p>
            <a:pPr marL="731520" lvl="1" indent="-457200">
              <a:buFont typeface="+mj-lt"/>
              <a:buAutoNum type="arabicPeriod"/>
            </a:pPr>
            <a:r>
              <a:rPr lang="en-US" sz="2400" dirty="0">
                <a:cs typeface="Times New Roman" panose="02020603050405020304" pitchFamily="18" charset="0"/>
              </a:rPr>
              <a:t>Omitted Variable Bias</a:t>
            </a:r>
          </a:p>
          <a:p>
            <a:pPr marL="731520" lvl="1" indent="-457200">
              <a:buFont typeface="+mj-lt"/>
              <a:buAutoNum type="arabicPeriod"/>
            </a:pPr>
            <a:r>
              <a:rPr lang="en-US" sz="2400" dirty="0">
                <a:cs typeface="Times New Roman" panose="02020603050405020304" pitchFamily="18" charset="0"/>
              </a:rPr>
              <a:t>Measurement Error</a:t>
            </a:r>
          </a:p>
          <a:p>
            <a:pPr marL="731520" lvl="1" indent="-457200">
              <a:buFont typeface="+mj-lt"/>
              <a:buAutoNum type="arabicPeriod"/>
            </a:pPr>
            <a:r>
              <a:rPr lang="en-US" sz="2400" dirty="0">
                <a:cs typeface="Times New Roman" panose="02020603050405020304" pitchFamily="18" charset="0"/>
              </a:rPr>
              <a:t>Collinearity</a:t>
            </a:r>
          </a:p>
        </p:txBody>
      </p:sp>
    </p:spTree>
    <p:extLst>
      <p:ext uri="{BB962C8B-B14F-4D97-AF65-F5344CB8AC3E}">
        <p14:creationId xmlns:p14="http://schemas.microsoft.com/office/powerpoint/2010/main" val="3784870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Satisfying the Backdoor Criterion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Autofit/>
              </a:bodyPr>
              <a:lstStyle/>
              <a:p>
                <a:r>
                  <a:rPr lang="en-US" sz="2400" dirty="0">
                    <a:cs typeface="Times New Roman" panose="02020603050405020304" pitchFamily="18" charset="0"/>
                  </a:rPr>
                  <a:t>If we want the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we need to satisfy </a:t>
                </a:r>
                <a:r>
                  <a:rPr lang="en-US" sz="2400" b="1" dirty="0">
                    <a:solidFill>
                      <a:schemeClr val="accent2">
                        <a:lumMod val="75000"/>
                      </a:schemeClr>
                    </a:solidFill>
                    <a:cs typeface="Times New Roman" panose="02020603050405020304" pitchFamily="18" charset="0"/>
                  </a:rPr>
                  <a:t>the backdoor criterion</a:t>
                </a: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pPr marL="0" indent="0">
                  <a:buNone/>
                </a:pPr>
                <a:endParaRPr lang="en-US" sz="2400" b="1"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a:stretch>
              </a:blipFill>
            </p:spPr>
            <p:txBody>
              <a:bodyPr/>
              <a:lstStyle/>
              <a:p>
                <a:r>
                  <a:rPr lang="en-US">
                    <a:noFill/>
                  </a:rPr>
                  <a:t> </a:t>
                </a:r>
              </a:p>
            </p:txBody>
          </p:sp>
        </mc:Fallback>
      </mc:AlternateContent>
      <p:pic>
        <p:nvPicPr>
          <p:cNvPr id="10242" name="Picture 2">
            <a:extLst>
              <a:ext uri="{FF2B5EF4-FFF2-40B4-BE49-F238E27FC236}">
                <a16:creationId xmlns:a16="http://schemas.microsoft.com/office/drawing/2014/main" id="{A9721058-34E7-2CAC-064A-72A9E7CB99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524000"/>
            <a:ext cx="7315200" cy="3150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983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Satisfying the Backdoor Criterion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Autofit/>
              </a:bodyPr>
              <a:lstStyle/>
              <a:p>
                <a:r>
                  <a:rPr lang="en-US" sz="2400" dirty="0">
                    <a:cs typeface="Times New Roman" panose="02020603050405020304" pitchFamily="18" charset="0"/>
                  </a:rPr>
                  <a:t>If we want the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we need to satisfy </a:t>
                </a:r>
                <a:r>
                  <a:rPr lang="en-US" sz="2400" b="1" dirty="0">
                    <a:solidFill>
                      <a:schemeClr val="accent2">
                        <a:lumMod val="75000"/>
                      </a:schemeClr>
                    </a:solidFill>
                    <a:cs typeface="Times New Roman" panose="02020603050405020304" pitchFamily="18" charset="0"/>
                  </a:rPr>
                  <a:t>the backdoor criterion</a:t>
                </a: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pPr marL="0" indent="0">
                  <a:buNone/>
                </a:pPr>
                <a:endParaRPr lang="en-US" sz="2400" b="1" dirty="0">
                  <a:cs typeface="Times New Roman" panose="02020603050405020304" pitchFamily="18" charset="0"/>
                </a:endParaRPr>
              </a:p>
              <a:p>
                <a:r>
                  <a:rPr lang="en-US" sz="2400" dirty="0">
                    <a:cs typeface="Times New Roman" panose="02020603050405020304" pitchFamily="18" charset="0"/>
                  </a:rPr>
                  <a:t>Regression takes one approach: </a:t>
                </a:r>
                <a:r>
                  <a:rPr lang="en-US" sz="2400" b="1" dirty="0">
                    <a:cs typeface="Times New Roman" panose="02020603050405020304" pitchFamily="18" charset="0"/>
                  </a:rPr>
                  <a:t>controlling for confounders</a:t>
                </a:r>
              </a:p>
              <a:p>
                <a:r>
                  <a:rPr lang="en-US" sz="2400" dirty="0">
                    <a:cs typeface="Times New Roman" panose="02020603050405020304" pitchFamily="18" charset="0"/>
                  </a:rPr>
                  <a:t>There are others! </a:t>
                </a:r>
              </a:p>
              <a:p>
                <a:r>
                  <a:rPr lang="en-US" sz="2400" b="1" dirty="0">
                    <a:solidFill>
                      <a:schemeClr val="accent2">
                        <a:lumMod val="75000"/>
                      </a:schemeClr>
                    </a:solidFill>
                    <a:cs typeface="Times New Roman" panose="02020603050405020304" pitchFamily="18" charset="0"/>
                  </a:rPr>
                  <a:t>Key for today: </a:t>
                </a:r>
                <a:r>
                  <a:rPr lang="en-US" sz="2400" dirty="0">
                    <a:solidFill>
                      <a:schemeClr val="accent2">
                        <a:lumMod val="75000"/>
                      </a:schemeClr>
                    </a:solidFill>
                    <a:cs typeface="Times New Roman" panose="02020603050405020304" pitchFamily="18" charset="0"/>
                  </a:rPr>
                  <a:t>if there isn’t variation in </a:t>
                </a:r>
                <a14:m>
                  <m:oMath xmlns:m="http://schemas.openxmlformats.org/officeDocument/2006/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𝑊</m:t>
                    </m:r>
                  </m:oMath>
                </a14:m>
                <a:r>
                  <a:rPr lang="en-US" sz="2400" dirty="0">
                    <a:solidFill>
                      <a:schemeClr val="accent2">
                        <a:lumMod val="75000"/>
                      </a:schemeClr>
                    </a:solidFill>
                    <a:cs typeface="Times New Roman" panose="02020603050405020304" pitchFamily="18" charset="0"/>
                  </a:rPr>
                  <a:t>, then no backdoors through </a:t>
                </a:r>
                <a14:m>
                  <m:oMath xmlns:m="http://schemas.openxmlformats.org/officeDocument/2006/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𝑊</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b="-7711"/>
                </a:stretch>
              </a:blipFill>
            </p:spPr>
            <p:txBody>
              <a:bodyPr/>
              <a:lstStyle/>
              <a:p>
                <a:r>
                  <a:rPr lang="en-US">
                    <a:noFill/>
                  </a:rPr>
                  <a:t> </a:t>
                </a:r>
              </a:p>
            </p:txBody>
          </p:sp>
        </mc:Fallback>
      </mc:AlternateContent>
      <p:pic>
        <p:nvPicPr>
          <p:cNvPr id="10242" name="Picture 2">
            <a:extLst>
              <a:ext uri="{FF2B5EF4-FFF2-40B4-BE49-F238E27FC236}">
                <a16:creationId xmlns:a16="http://schemas.microsoft.com/office/drawing/2014/main" id="{A9721058-34E7-2CAC-064A-72A9E7CB99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524000"/>
            <a:ext cx="7315200" cy="3150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530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Satisfying the Backdoor Criterion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Autofit/>
              </a:bodyPr>
              <a:lstStyle/>
              <a:p>
                <a:r>
                  <a:rPr lang="en-US" sz="2400" dirty="0">
                    <a:cs typeface="Times New Roman" panose="02020603050405020304" pitchFamily="18" charset="0"/>
                  </a:rPr>
                  <a:t>If we want the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we need to satisfy </a:t>
                </a:r>
                <a:r>
                  <a:rPr lang="en-US" sz="2400" b="1" dirty="0">
                    <a:solidFill>
                      <a:schemeClr val="accent2">
                        <a:lumMod val="75000"/>
                      </a:schemeClr>
                    </a:solidFill>
                    <a:cs typeface="Times New Roman" panose="02020603050405020304" pitchFamily="18" charset="0"/>
                  </a:rPr>
                  <a:t>the backdoor criterion</a:t>
                </a: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pPr marL="0" indent="0">
                  <a:buNone/>
                </a:pPr>
                <a:endParaRPr lang="en-US" sz="2400" b="1" dirty="0">
                  <a:cs typeface="Times New Roman" panose="02020603050405020304" pitchFamily="18" charset="0"/>
                </a:endParaRPr>
              </a:p>
              <a:p>
                <a:r>
                  <a:rPr lang="en-US" sz="2400" b="1" dirty="0">
                    <a:solidFill>
                      <a:schemeClr val="accent2">
                        <a:lumMod val="75000"/>
                      </a:schemeClr>
                    </a:solidFill>
                    <a:cs typeface="Times New Roman" panose="02020603050405020304" pitchFamily="18" charset="0"/>
                  </a:rPr>
                  <a:t>Key for today: </a:t>
                </a:r>
                <a:r>
                  <a:rPr lang="en-US" sz="2400" dirty="0">
                    <a:solidFill>
                      <a:schemeClr val="accent2">
                        <a:lumMod val="75000"/>
                      </a:schemeClr>
                    </a:solidFill>
                    <a:cs typeface="Times New Roman" panose="02020603050405020304" pitchFamily="18" charset="0"/>
                  </a:rPr>
                  <a:t>if there isn’t variation in </a:t>
                </a:r>
                <a14:m>
                  <m:oMath xmlns:m="http://schemas.openxmlformats.org/officeDocument/2006/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𝑊</m:t>
                    </m:r>
                  </m:oMath>
                </a14:m>
                <a:r>
                  <a:rPr lang="en-US" sz="2400" dirty="0">
                    <a:solidFill>
                      <a:schemeClr val="accent2">
                        <a:lumMod val="75000"/>
                      </a:schemeClr>
                    </a:solidFill>
                    <a:cs typeface="Times New Roman" panose="02020603050405020304" pitchFamily="18" charset="0"/>
                  </a:rPr>
                  <a:t>, then no backdoors through </a:t>
                </a:r>
                <a14:m>
                  <m:oMath xmlns:m="http://schemas.openxmlformats.org/officeDocument/2006/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𝑊</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a:stretch>
              </a:blipFill>
            </p:spPr>
            <p:txBody>
              <a:bodyPr/>
              <a:lstStyle/>
              <a:p>
                <a:r>
                  <a:rPr lang="en-CA">
                    <a:noFill/>
                  </a:rPr>
                  <a:t> </a:t>
                </a:r>
              </a:p>
            </p:txBody>
          </p:sp>
        </mc:Fallback>
      </mc:AlternateContent>
      <p:pic>
        <p:nvPicPr>
          <p:cNvPr id="5" name="Picture 4">
            <a:extLst>
              <a:ext uri="{FF2B5EF4-FFF2-40B4-BE49-F238E27FC236}">
                <a16:creationId xmlns:a16="http://schemas.microsoft.com/office/drawing/2014/main" id="{AC97B542-F4FC-0526-2803-160792BE6C9F}"/>
              </a:ext>
            </a:extLst>
          </p:cNvPr>
          <p:cNvPicPr>
            <a:picLocks noChangeAspect="1"/>
          </p:cNvPicPr>
          <p:nvPr/>
        </p:nvPicPr>
        <p:blipFill>
          <a:blip r:embed="rId4"/>
          <a:stretch>
            <a:fillRect/>
          </a:stretch>
        </p:blipFill>
        <p:spPr>
          <a:xfrm>
            <a:off x="1143000" y="1066801"/>
            <a:ext cx="9772246" cy="3457368"/>
          </a:xfrm>
          <a:prstGeom prst="rect">
            <a:avLst/>
          </a:prstGeom>
        </p:spPr>
      </p:pic>
    </p:spTree>
    <p:extLst>
      <p:ext uri="{BB962C8B-B14F-4D97-AF65-F5344CB8AC3E}">
        <p14:creationId xmlns:p14="http://schemas.microsoft.com/office/powerpoint/2010/main" val="1218761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Satisfying the Backdoor Criterion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Autofit/>
              </a:bodyPr>
              <a:lstStyle/>
              <a:p>
                <a:r>
                  <a:rPr lang="en-US" sz="2400" dirty="0">
                    <a:cs typeface="Times New Roman" panose="02020603050405020304" pitchFamily="18" charset="0"/>
                  </a:rPr>
                  <a:t>If we want the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we need to satisfy </a:t>
                </a:r>
                <a:r>
                  <a:rPr lang="en-US" sz="2400" b="1" dirty="0">
                    <a:solidFill>
                      <a:schemeClr val="accent2">
                        <a:lumMod val="75000"/>
                      </a:schemeClr>
                    </a:solidFill>
                    <a:cs typeface="Times New Roman" panose="02020603050405020304" pitchFamily="18" charset="0"/>
                  </a:rPr>
                  <a:t>the backdoor criterion</a:t>
                </a: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pPr marL="0" indent="0">
                  <a:buNone/>
                </a:pPr>
                <a:endParaRPr lang="en-US" sz="2400" b="1" dirty="0">
                  <a:cs typeface="Times New Roman" panose="02020603050405020304" pitchFamily="18" charset="0"/>
                </a:endParaRPr>
              </a:p>
              <a:p>
                <a:r>
                  <a:rPr lang="en-US" sz="2400" dirty="0">
                    <a:cs typeface="Times New Roman" panose="02020603050405020304" pitchFamily="18" charset="0"/>
                  </a:rPr>
                  <a:t>Regression takes one approach: </a:t>
                </a:r>
                <a:r>
                  <a:rPr lang="en-US" sz="2400" b="1" dirty="0">
                    <a:cs typeface="Times New Roman" panose="02020603050405020304" pitchFamily="18" charset="0"/>
                  </a:rPr>
                  <a:t>controlling for confounders</a:t>
                </a:r>
              </a:p>
              <a:p>
                <a:r>
                  <a:rPr lang="en-US" sz="2400" b="1" dirty="0">
                    <a:solidFill>
                      <a:schemeClr val="accent2">
                        <a:lumMod val="75000"/>
                      </a:schemeClr>
                    </a:solidFill>
                    <a:cs typeface="Times New Roman" panose="02020603050405020304" pitchFamily="18" charset="0"/>
                  </a:rPr>
                  <a:t>Key for today: </a:t>
                </a:r>
                <a:r>
                  <a:rPr lang="en-US" sz="2400" dirty="0">
                    <a:solidFill>
                      <a:schemeClr val="accent2">
                        <a:lumMod val="75000"/>
                      </a:schemeClr>
                    </a:solidFill>
                    <a:cs typeface="Times New Roman" panose="02020603050405020304" pitchFamily="18" charset="0"/>
                  </a:rPr>
                  <a:t>if there isn’t variation in </a:t>
                </a:r>
                <a14:m>
                  <m:oMath xmlns:m="http://schemas.openxmlformats.org/officeDocument/2006/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𝑊</m:t>
                    </m:r>
                  </m:oMath>
                </a14:m>
                <a:r>
                  <a:rPr lang="en-US" sz="2400" dirty="0">
                    <a:solidFill>
                      <a:schemeClr val="accent2">
                        <a:lumMod val="75000"/>
                      </a:schemeClr>
                    </a:solidFill>
                    <a:cs typeface="Times New Roman" panose="02020603050405020304" pitchFamily="18" charset="0"/>
                  </a:rPr>
                  <a:t>, then no backdoors through </a:t>
                </a:r>
                <a14:m>
                  <m:oMath xmlns:m="http://schemas.openxmlformats.org/officeDocument/2006/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𝑊</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oMath>
                </a14:m>
                <a:endParaRPr lang="en-US" sz="2400" b="0" dirty="0">
                  <a:solidFill>
                    <a:schemeClr val="accent2">
                      <a:lumMod val="75000"/>
                    </a:schemeClr>
                  </a:solidFill>
                  <a:cs typeface="Times New Roman" panose="02020603050405020304" pitchFamily="18" charset="0"/>
                </a:endParaRPr>
              </a:p>
              <a:p>
                <a:r>
                  <a:rPr lang="en-US" sz="2400" b="1" dirty="0">
                    <a:solidFill>
                      <a:schemeClr val="accent3">
                        <a:lumMod val="75000"/>
                      </a:schemeClr>
                    </a:solidFill>
                    <a:cs typeface="Times New Roman" panose="02020603050405020304" pitchFamily="18" charset="0"/>
                  </a:rPr>
                  <a:t>Conditional Independence Assumption</a:t>
                </a:r>
                <a:r>
                  <a:rPr lang="en-US" sz="2400" dirty="0">
                    <a:solidFill>
                      <a:schemeClr val="accent3">
                        <a:lumMod val="75000"/>
                      </a:schemeClr>
                    </a:solidFill>
                    <a:cs typeface="Times New Roman" panose="02020603050405020304" pitchFamily="18" charset="0"/>
                  </a:rPr>
                  <a:t>: treatment is conditionally random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r="-248" b="-7711"/>
                </a:stretch>
              </a:blipFill>
            </p:spPr>
            <p:txBody>
              <a:bodyPr/>
              <a:lstStyle/>
              <a:p>
                <a:r>
                  <a:rPr lang="en-US">
                    <a:noFill/>
                  </a:rPr>
                  <a:t> </a:t>
                </a:r>
              </a:p>
            </p:txBody>
          </p:sp>
        </mc:Fallback>
      </mc:AlternateContent>
      <p:pic>
        <p:nvPicPr>
          <p:cNvPr id="10242" name="Picture 2">
            <a:extLst>
              <a:ext uri="{FF2B5EF4-FFF2-40B4-BE49-F238E27FC236}">
                <a16:creationId xmlns:a16="http://schemas.microsoft.com/office/drawing/2014/main" id="{A9721058-34E7-2CAC-064A-72A9E7CB99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524000"/>
            <a:ext cx="7315200" cy="3150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4335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10439400" cy="624840"/>
          </a:xfrm>
        </p:spPr>
        <p:txBody>
          <a:bodyPr>
            <a:noAutofit/>
          </a:bodyPr>
          <a:lstStyle/>
          <a:p>
            <a:r>
              <a:rPr lang="en-US" sz="3600" dirty="0">
                <a:cs typeface="Times New Roman" panose="02020603050405020304" pitchFamily="18" charset="0"/>
              </a:rPr>
              <a:t>Matching reduces model dependence</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72EC37A5-7217-D178-6839-8C40C6A093D6}"/>
              </a:ext>
            </a:extLst>
          </p:cNvPr>
          <p:cNvPicPr>
            <a:picLocks noGrp="1" noChangeAspect="1"/>
          </p:cNvPicPr>
          <p:nvPr>
            <p:ph idx="1"/>
          </p:nvPr>
        </p:nvPicPr>
        <p:blipFill>
          <a:blip r:embed="rId3"/>
          <a:stretch>
            <a:fillRect/>
          </a:stretch>
        </p:blipFill>
        <p:spPr>
          <a:xfrm>
            <a:off x="609600" y="1196946"/>
            <a:ext cx="10287000" cy="4822854"/>
          </a:xfrm>
        </p:spPr>
      </p:pic>
    </p:spTree>
    <p:extLst>
      <p:ext uri="{BB962C8B-B14F-4D97-AF65-F5344CB8AC3E}">
        <p14:creationId xmlns:p14="http://schemas.microsoft.com/office/powerpoint/2010/main" val="578261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10439400" cy="624840"/>
          </a:xfrm>
        </p:spPr>
        <p:txBody>
          <a:bodyPr>
            <a:noAutofit/>
          </a:bodyPr>
          <a:lstStyle/>
          <a:p>
            <a:r>
              <a:rPr lang="en-US" sz="3600" dirty="0">
                <a:cs typeface="Times New Roman" panose="02020603050405020304" pitchFamily="18" charset="0"/>
              </a:rPr>
              <a:t>Matching reduces model dependence</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BA315D4-C6FC-BDDA-4EEF-D07BF255963D}"/>
              </a:ext>
            </a:extLst>
          </p:cNvPr>
          <p:cNvSpPr>
            <a:spLocks noGrp="1"/>
          </p:cNvSpPr>
          <p:nvPr>
            <p:ph idx="1"/>
          </p:nvPr>
        </p:nvSpPr>
        <p:spPr/>
        <p:txBody>
          <a:bodyPr/>
          <a:lstStyle/>
          <a:p>
            <a:endParaRPr lang="en-CA"/>
          </a:p>
        </p:txBody>
      </p:sp>
      <p:pic>
        <p:nvPicPr>
          <p:cNvPr id="7" name="Picture 6">
            <a:extLst>
              <a:ext uri="{FF2B5EF4-FFF2-40B4-BE49-F238E27FC236}">
                <a16:creationId xmlns:a16="http://schemas.microsoft.com/office/drawing/2014/main" id="{20141B31-7B2A-EF92-6580-BD3F54EB1F8E}"/>
              </a:ext>
            </a:extLst>
          </p:cNvPr>
          <p:cNvPicPr>
            <a:picLocks noChangeAspect="1"/>
          </p:cNvPicPr>
          <p:nvPr/>
        </p:nvPicPr>
        <p:blipFill>
          <a:blip r:embed="rId3"/>
          <a:stretch>
            <a:fillRect/>
          </a:stretch>
        </p:blipFill>
        <p:spPr>
          <a:xfrm>
            <a:off x="609600" y="990600"/>
            <a:ext cx="10080000" cy="5406700"/>
          </a:xfrm>
          <a:prstGeom prst="rect">
            <a:avLst/>
          </a:prstGeom>
        </p:spPr>
      </p:pic>
    </p:spTree>
    <p:extLst>
      <p:ext uri="{BB962C8B-B14F-4D97-AF65-F5344CB8AC3E}">
        <p14:creationId xmlns:p14="http://schemas.microsoft.com/office/powerpoint/2010/main" val="471369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10439400" cy="624840"/>
          </a:xfrm>
        </p:spPr>
        <p:txBody>
          <a:bodyPr>
            <a:noAutofit/>
          </a:bodyPr>
          <a:lstStyle/>
          <a:p>
            <a:r>
              <a:rPr lang="en-US" sz="3600" dirty="0">
                <a:cs typeface="Times New Roman" panose="02020603050405020304" pitchFamily="18" charset="0"/>
              </a:rPr>
              <a:t>Matching reduces model dependence</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BA315D4-C6FC-BDDA-4EEF-D07BF255963D}"/>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AA06E923-43EC-43E2-2286-0E891AA1215E}"/>
              </a:ext>
            </a:extLst>
          </p:cNvPr>
          <p:cNvPicPr>
            <a:picLocks noChangeAspect="1"/>
          </p:cNvPicPr>
          <p:nvPr/>
        </p:nvPicPr>
        <p:blipFill>
          <a:blip r:embed="rId3"/>
          <a:stretch>
            <a:fillRect/>
          </a:stretch>
        </p:blipFill>
        <p:spPr>
          <a:xfrm>
            <a:off x="609600" y="901583"/>
            <a:ext cx="10080000" cy="5391235"/>
          </a:xfrm>
          <a:prstGeom prst="rect">
            <a:avLst/>
          </a:prstGeom>
        </p:spPr>
      </p:pic>
    </p:spTree>
    <p:extLst>
      <p:ext uri="{BB962C8B-B14F-4D97-AF65-F5344CB8AC3E}">
        <p14:creationId xmlns:p14="http://schemas.microsoft.com/office/powerpoint/2010/main" val="2955657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10439400" cy="624840"/>
          </a:xfrm>
        </p:spPr>
        <p:txBody>
          <a:bodyPr>
            <a:noAutofit/>
          </a:bodyPr>
          <a:lstStyle/>
          <a:p>
            <a:r>
              <a:rPr lang="en-US" sz="3600" dirty="0">
                <a:cs typeface="Times New Roman" panose="02020603050405020304" pitchFamily="18" charset="0"/>
              </a:rPr>
              <a:t>Matching reduces model dependence</a:t>
            </a:r>
            <a:endParaRPr lang="en-US" sz="36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FD5E5B93-AE8B-347C-93CC-8C7E5C4182FA}"/>
              </a:ext>
            </a:extLst>
          </p:cNvPr>
          <p:cNvPicPr>
            <a:picLocks noGrp="1" noChangeAspect="1"/>
          </p:cNvPicPr>
          <p:nvPr>
            <p:ph idx="1"/>
          </p:nvPr>
        </p:nvPicPr>
        <p:blipFill>
          <a:blip r:embed="rId3"/>
          <a:stretch>
            <a:fillRect/>
          </a:stretch>
        </p:blipFill>
        <p:spPr>
          <a:xfrm>
            <a:off x="637592" y="1047931"/>
            <a:ext cx="10080000" cy="4762137"/>
          </a:xfrm>
        </p:spPr>
      </p:pic>
    </p:spTree>
    <p:extLst>
      <p:ext uri="{BB962C8B-B14F-4D97-AF65-F5344CB8AC3E}">
        <p14:creationId xmlns:p14="http://schemas.microsoft.com/office/powerpoint/2010/main" val="4046768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10439400" cy="624840"/>
          </a:xfrm>
        </p:spPr>
        <p:txBody>
          <a:bodyPr>
            <a:noAutofit/>
          </a:bodyPr>
          <a:lstStyle/>
          <a:p>
            <a:r>
              <a:rPr lang="en-US" sz="3600" dirty="0">
                <a:cs typeface="Times New Roman" panose="02020603050405020304" pitchFamily="18" charset="0"/>
              </a:rPr>
              <a:t>Matching reduces model dependence</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1F58088-3082-02E0-9678-760B407A55A7}"/>
              </a:ext>
            </a:extLst>
          </p:cNvPr>
          <p:cNvSpPr>
            <a:spLocks noGrp="1"/>
          </p:cNvSpPr>
          <p:nvPr>
            <p:ph idx="1"/>
          </p:nvPr>
        </p:nvSpPr>
        <p:spPr/>
        <p:txBody>
          <a:bodyPr/>
          <a:lstStyle/>
          <a:p>
            <a:endParaRPr lang="en-CA"/>
          </a:p>
        </p:txBody>
      </p:sp>
      <p:pic>
        <p:nvPicPr>
          <p:cNvPr id="7" name="Picture 6">
            <a:extLst>
              <a:ext uri="{FF2B5EF4-FFF2-40B4-BE49-F238E27FC236}">
                <a16:creationId xmlns:a16="http://schemas.microsoft.com/office/drawing/2014/main" id="{F99BCA73-2F1B-B31B-D33F-95A5C607143B}"/>
              </a:ext>
            </a:extLst>
          </p:cNvPr>
          <p:cNvPicPr>
            <a:picLocks noChangeAspect="1"/>
          </p:cNvPicPr>
          <p:nvPr/>
        </p:nvPicPr>
        <p:blipFill>
          <a:blip r:embed="rId3"/>
          <a:stretch>
            <a:fillRect/>
          </a:stretch>
        </p:blipFill>
        <p:spPr>
          <a:xfrm>
            <a:off x="789300" y="924910"/>
            <a:ext cx="10080000" cy="5412676"/>
          </a:xfrm>
          <a:prstGeom prst="rect">
            <a:avLst/>
          </a:prstGeom>
        </p:spPr>
      </p:pic>
    </p:spTree>
    <p:extLst>
      <p:ext uri="{BB962C8B-B14F-4D97-AF65-F5344CB8AC3E}">
        <p14:creationId xmlns:p14="http://schemas.microsoft.com/office/powerpoint/2010/main" val="3536622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10439400" cy="624840"/>
          </a:xfrm>
        </p:spPr>
        <p:txBody>
          <a:bodyPr>
            <a:noAutofit/>
          </a:bodyPr>
          <a:lstStyle/>
          <a:p>
            <a:r>
              <a:rPr lang="en-US" sz="3600" dirty="0">
                <a:cs typeface="Times New Roman" panose="02020603050405020304" pitchFamily="18" charset="0"/>
              </a:rPr>
              <a:t>Matching reduces model dependence</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0D7FA69-FA7D-C350-0AC8-1CE143C3E091}"/>
              </a:ext>
            </a:extLst>
          </p:cNvPr>
          <p:cNvSpPr>
            <a:spLocks noGrp="1"/>
          </p:cNvSpPr>
          <p:nvPr>
            <p:ph idx="1"/>
          </p:nvPr>
        </p:nvSpPr>
        <p:spPr/>
        <p:txBody>
          <a:bodyPr/>
          <a:lstStyle/>
          <a:p>
            <a:endParaRPr lang="en-CA"/>
          </a:p>
        </p:txBody>
      </p:sp>
      <p:pic>
        <p:nvPicPr>
          <p:cNvPr id="7" name="Picture 6">
            <a:extLst>
              <a:ext uri="{FF2B5EF4-FFF2-40B4-BE49-F238E27FC236}">
                <a16:creationId xmlns:a16="http://schemas.microsoft.com/office/drawing/2014/main" id="{9BF6E1CD-7C96-FF7D-204C-3C384B4B3B51}"/>
              </a:ext>
            </a:extLst>
          </p:cNvPr>
          <p:cNvPicPr>
            <a:picLocks noChangeAspect="1"/>
          </p:cNvPicPr>
          <p:nvPr/>
        </p:nvPicPr>
        <p:blipFill>
          <a:blip r:embed="rId3"/>
          <a:stretch>
            <a:fillRect/>
          </a:stretch>
        </p:blipFill>
        <p:spPr>
          <a:xfrm>
            <a:off x="609600" y="896918"/>
            <a:ext cx="10080000" cy="5368603"/>
          </a:xfrm>
          <a:prstGeom prst="rect">
            <a:avLst/>
          </a:prstGeom>
        </p:spPr>
      </p:pic>
    </p:spTree>
    <p:extLst>
      <p:ext uri="{BB962C8B-B14F-4D97-AF65-F5344CB8AC3E}">
        <p14:creationId xmlns:p14="http://schemas.microsoft.com/office/powerpoint/2010/main" val="4188060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3" name="Rectangle 1032">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4100">
                <a:solidFill>
                  <a:srgbClr val="FFFFFF"/>
                </a:solidFill>
                <a:latin typeface="+mj-lt"/>
              </a:rPr>
              <a:t>Matching combines well with regression!</a:t>
            </a:r>
          </a:p>
        </p:txBody>
      </p:sp>
      <p:sp useBgFill="1">
        <p:nvSpPr>
          <p:cNvPr id="1037" name="Rectangle 1036">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
            <a:extLst>
              <a:ext uri="{FF2B5EF4-FFF2-40B4-BE49-F238E27FC236}">
                <a16:creationId xmlns:a16="http://schemas.microsoft.com/office/drawing/2014/main" id="{5EB6B1FD-850A-BD17-4828-0691CAE7876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991879" y="484632"/>
            <a:ext cx="6481815" cy="5882248"/>
          </a:xfrm>
          <a:prstGeom prst="rect">
            <a:avLst/>
          </a:prstGeom>
          <a:noFill/>
          <a:extLst>
            <a:ext uri="{909E8E84-426E-40DD-AFC4-6F175D3DCCD1}">
              <a14:hiddenFill xmlns:a14="http://schemas.microsoft.com/office/drawing/2010/main">
                <a:solidFill>
                  <a:srgbClr val="FFFFFF"/>
                </a:solidFill>
              </a14:hiddenFill>
            </a:ext>
          </a:extLst>
        </p:spPr>
      </p:pic>
      <p:sp>
        <p:nvSpPr>
          <p:cNvPr id="1039" name="Rectangle 1038">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0941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10439400" cy="624840"/>
          </a:xfrm>
        </p:spPr>
        <p:txBody>
          <a:bodyPr>
            <a:noAutofit/>
          </a:bodyPr>
          <a:lstStyle/>
          <a:p>
            <a:r>
              <a:rPr lang="en-US" sz="3600" dirty="0">
                <a:cs typeface="Times New Roman" panose="02020603050405020304" pitchFamily="18" charset="0"/>
              </a:rPr>
              <a:t>Today: Matching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10287000" cy="5141388"/>
          </a:xfrm>
        </p:spPr>
        <p:txBody>
          <a:bodyPr>
            <a:noAutofit/>
          </a:bodyPr>
          <a:lstStyle/>
          <a:p>
            <a:r>
              <a:rPr lang="en-US" sz="2400" b="1" dirty="0">
                <a:solidFill>
                  <a:schemeClr val="accent2">
                    <a:lumMod val="75000"/>
                  </a:schemeClr>
                </a:solidFill>
                <a:cs typeface="Times New Roman" panose="02020603050405020304" pitchFamily="18" charset="0"/>
              </a:rPr>
              <a:t>Matching methods </a:t>
            </a:r>
            <a:r>
              <a:rPr lang="en-US" sz="2400" dirty="0">
                <a:cs typeface="Times New Roman" panose="02020603050405020304" pitchFamily="18" charset="0"/>
              </a:rPr>
              <a:t>are used to balance groups </a:t>
            </a:r>
            <a:r>
              <a:rPr lang="en-US" sz="2400" u="sng" dirty="0">
                <a:cs typeface="Times New Roman" panose="02020603050405020304" pitchFamily="18" charset="0"/>
              </a:rPr>
              <a:t>along observable characteristics</a:t>
            </a:r>
            <a:endParaRPr lang="en-US" sz="2400" dirty="0">
              <a:cs typeface="Times New Roman" panose="02020603050405020304" pitchFamily="18" charset="0"/>
            </a:endParaRPr>
          </a:p>
          <a:p>
            <a:pPr marL="457200" indent="-457200">
              <a:buFont typeface="+mj-lt"/>
              <a:buAutoNum type="arabicPeriod"/>
            </a:pPr>
            <a:r>
              <a:rPr lang="en-US" sz="2400" dirty="0">
                <a:cs typeface="Times New Roman" panose="02020603050405020304" pitchFamily="18" charset="0"/>
              </a:rPr>
              <a:t>Matching in Concept</a:t>
            </a:r>
          </a:p>
          <a:p>
            <a:pPr marL="457200" indent="-457200">
              <a:buFont typeface="+mj-lt"/>
              <a:buAutoNum type="arabicPeriod"/>
            </a:pPr>
            <a:r>
              <a:rPr lang="en-US" sz="2400" dirty="0">
                <a:cs typeface="Times New Roman" panose="02020603050405020304" pitchFamily="18" charset="0"/>
              </a:rPr>
              <a:t>Single-Variable Matching Strategies: </a:t>
            </a:r>
          </a:p>
          <a:p>
            <a:pPr lvl="1"/>
            <a:r>
              <a:rPr lang="en-US" sz="2400" dirty="0">
                <a:cs typeface="Times New Roman" panose="02020603050405020304" pitchFamily="18" charset="0"/>
              </a:rPr>
              <a:t>Subclassification</a:t>
            </a:r>
          </a:p>
          <a:p>
            <a:pPr lvl="1"/>
            <a:r>
              <a:rPr lang="en-US" sz="2400" dirty="0">
                <a:cs typeface="Times New Roman" panose="02020603050405020304" pitchFamily="18" charset="0"/>
              </a:rPr>
              <a:t>Exact matching</a:t>
            </a:r>
          </a:p>
          <a:p>
            <a:pPr lvl="1"/>
            <a:r>
              <a:rPr lang="en-US" sz="2400" dirty="0">
                <a:cs typeface="Times New Roman" panose="02020603050405020304" pitchFamily="18" charset="0"/>
              </a:rPr>
              <a:t>Approximate matching</a:t>
            </a:r>
          </a:p>
          <a:p>
            <a:pPr marL="457200" indent="-457200">
              <a:buFont typeface="+mj-lt"/>
              <a:buAutoNum type="arabicPeriod"/>
            </a:pPr>
            <a:r>
              <a:rPr lang="en-US" sz="2400" dirty="0">
                <a:cs typeface="Times New Roman" panose="02020603050405020304" pitchFamily="18" charset="0"/>
              </a:rPr>
              <a:t>Multiple Matching Variables</a:t>
            </a:r>
          </a:p>
          <a:p>
            <a:pPr lvl="1"/>
            <a:r>
              <a:rPr lang="en-US" sz="2400" dirty="0">
                <a:cs typeface="Times New Roman" panose="02020603050405020304" pitchFamily="18" charset="0"/>
              </a:rPr>
              <a:t>Propensity score matching</a:t>
            </a:r>
          </a:p>
          <a:p>
            <a:pPr marL="457200" indent="-457200">
              <a:buFont typeface="+mj-lt"/>
              <a:buAutoNum type="arabicPeriod"/>
            </a:pPr>
            <a:r>
              <a:rPr lang="en-US" sz="2400" dirty="0">
                <a:cs typeface="Times New Roman" panose="02020603050405020304" pitchFamily="18" charset="0"/>
              </a:rPr>
              <a:t>Assumptions and Caveats</a:t>
            </a:r>
          </a:p>
        </p:txBody>
      </p:sp>
    </p:spTree>
    <p:extLst>
      <p:ext uri="{BB962C8B-B14F-4D97-AF65-F5344CB8AC3E}">
        <p14:creationId xmlns:p14="http://schemas.microsoft.com/office/powerpoint/2010/main" val="2049589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p:txBody>
          <a:bodyPr/>
          <a:lstStyle/>
          <a:p>
            <a:r>
              <a:rPr lang="en-US" dirty="0"/>
              <a:t>Example: The Effect of Unemployment Benefits on Health</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r>
              <a:rPr lang="en-US" dirty="0"/>
              <a:t>Shahidi et al., 2019 </a:t>
            </a:r>
            <a:r>
              <a:rPr lang="en-US" i="1" dirty="0"/>
              <a:t>Social Science and Medicine </a:t>
            </a:r>
            <a:endParaRPr lang="en-US" dirty="0"/>
          </a:p>
        </p:txBody>
      </p:sp>
    </p:spTree>
    <p:extLst>
      <p:ext uri="{BB962C8B-B14F-4D97-AF65-F5344CB8AC3E}">
        <p14:creationId xmlns:p14="http://schemas.microsoft.com/office/powerpoint/2010/main" val="2225067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4100">
                <a:solidFill>
                  <a:srgbClr val="FFFFFF"/>
                </a:solidFill>
                <a:latin typeface="+mj-lt"/>
              </a:rPr>
              <a:t>Matching combines well with regression!</a:t>
            </a:r>
          </a:p>
        </p:txBody>
      </p:sp>
      <p:sp>
        <p:nvSpPr>
          <p:cNvPr id="3" name="Content Placeholder 2">
            <a:extLst>
              <a:ext uri="{FF2B5EF4-FFF2-40B4-BE49-F238E27FC236}">
                <a16:creationId xmlns:a16="http://schemas.microsoft.com/office/drawing/2014/main" id="{A9078737-5018-52A4-8999-4194CFF6DFDB}"/>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CBB2C120-3C20-051F-B2D5-AC5C812791C7}"/>
              </a:ext>
            </a:extLst>
          </p:cNvPr>
          <p:cNvPicPr>
            <a:picLocks noChangeAspect="1"/>
          </p:cNvPicPr>
          <p:nvPr/>
        </p:nvPicPr>
        <p:blipFill>
          <a:blip r:embed="rId3"/>
          <a:stretch>
            <a:fillRect/>
          </a:stretch>
        </p:blipFill>
        <p:spPr>
          <a:xfrm>
            <a:off x="152400" y="228600"/>
            <a:ext cx="10914296" cy="5257800"/>
          </a:xfrm>
          <a:prstGeom prst="rect">
            <a:avLst/>
          </a:prstGeom>
        </p:spPr>
      </p:pic>
      <p:sp>
        <p:nvSpPr>
          <p:cNvPr id="6" name="TextBox 5">
            <a:extLst>
              <a:ext uri="{FF2B5EF4-FFF2-40B4-BE49-F238E27FC236}">
                <a16:creationId xmlns:a16="http://schemas.microsoft.com/office/drawing/2014/main" id="{59734D7A-13BB-1C47-62DE-5D1D4CCA134B}"/>
              </a:ext>
            </a:extLst>
          </p:cNvPr>
          <p:cNvSpPr txBox="1"/>
          <p:nvPr/>
        </p:nvSpPr>
        <p:spPr>
          <a:xfrm>
            <a:off x="15792" y="1396340"/>
            <a:ext cx="10914296" cy="737260"/>
          </a:xfrm>
          <a:prstGeom prst="rect">
            <a:avLst/>
          </a:prstGeom>
          <a:noFill/>
          <a:ln w="76200">
            <a:solidFill>
              <a:srgbClr val="00B050"/>
            </a:solidFill>
          </a:ln>
        </p:spPr>
        <p:txBody>
          <a:bodyPr wrap="square" rtlCol="0">
            <a:spAutoFit/>
          </a:bodyPr>
          <a:lstStyle/>
          <a:p>
            <a:endParaRPr lang="en-US" dirty="0"/>
          </a:p>
        </p:txBody>
      </p:sp>
    </p:spTree>
    <p:extLst>
      <p:ext uri="{BB962C8B-B14F-4D97-AF65-F5344CB8AC3E}">
        <p14:creationId xmlns:p14="http://schemas.microsoft.com/office/powerpoint/2010/main" val="3321924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4100">
                <a:solidFill>
                  <a:srgbClr val="FFFFFF"/>
                </a:solidFill>
                <a:latin typeface="+mj-lt"/>
              </a:rPr>
              <a:t>Matching combines well with regression!</a:t>
            </a:r>
          </a:p>
        </p:txBody>
      </p:sp>
      <p:sp>
        <p:nvSpPr>
          <p:cNvPr id="3" name="Content Placeholder 2">
            <a:extLst>
              <a:ext uri="{FF2B5EF4-FFF2-40B4-BE49-F238E27FC236}">
                <a16:creationId xmlns:a16="http://schemas.microsoft.com/office/drawing/2014/main" id="{A9078737-5018-52A4-8999-4194CFF6DFDB}"/>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CBB2C120-3C20-051F-B2D5-AC5C812791C7}"/>
              </a:ext>
            </a:extLst>
          </p:cNvPr>
          <p:cNvPicPr>
            <a:picLocks noChangeAspect="1"/>
          </p:cNvPicPr>
          <p:nvPr/>
        </p:nvPicPr>
        <p:blipFill>
          <a:blip r:embed="rId3"/>
          <a:stretch>
            <a:fillRect/>
          </a:stretch>
        </p:blipFill>
        <p:spPr>
          <a:xfrm>
            <a:off x="152400" y="228600"/>
            <a:ext cx="10914296" cy="5257800"/>
          </a:xfrm>
          <a:prstGeom prst="rect">
            <a:avLst/>
          </a:prstGeom>
        </p:spPr>
      </p:pic>
      <p:sp>
        <p:nvSpPr>
          <p:cNvPr id="6" name="TextBox 5">
            <a:extLst>
              <a:ext uri="{FF2B5EF4-FFF2-40B4-BE49-F238E27FC236}">
                <a16:creationId xmlns:a16="http://schemas.microsoft.com/office/drawing/2014/main" id="{59734D7A-13BB-1C47-62DE-5D1D4CCA134B}"/>
              </a:ext>
            </a:extLst>
          </p:cNvPr>
          <p:cNvSpPr txBox="1"/>
          <p:nvPr/>
        </p:nvSpPr>
        <p:spPr>
          <a:xfrm>
            <a:off x="1135601" y="2209800"/>
            <a:ext cx="9227599" cy="457200"/>
          </a:xfrm>
          <a:prstGeom prst="rect">
            <a:avLst/>
          </a:prstGeom>
          <a:noFill/>
          <a:ln w="76200">
            <a:solidFill>
              <a:srgbClr val="00B050"/>
            </a:solidFill>
          </a:ln>
        </p:spPr>
        <p:txBody>
          <a:bodyPr wrap="square" rtlCol="0">
            <a:spAutoFit/>
          </a:bodyPr>
          <a:lstStyle/>
          <a:p>
            <a:endParaRPr lang="en-US" dirty="0"/>
          </a:p>
        </p:txBody>
      </p:sp>
    </p:spTree>
    <p:extLst>
      <p:ext uri="{BB962C8B-B14F-4D97-AF65-F5344CB8AC3E}">
        <p14:creationId xmlns:p14="http://schemas.microsoft.com/office/powerpoint/2010/main" val="3354160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7392"/>
            <a:ext cx="10439400" cy="624840"/>
          </a:xfrm>
        </p:spPr>
        <p:txBody>
          <a:bodyPr>
            <a:noAutofit/>
          </a:bodyPr>
          <a:lstStyle/>
          <a:p>
            <a:r>
              <a:rPr lang="en-US" sz="3600" dirty="0">
                <a:cs typeface="Times New Roman" panose="02020603050405020304" pitchFamily="18" charset="0"/>
              </a:rPr>
              <a:t>Why do we need matching?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9862990" cy="5141388"/>
          </a:xfrm>
        </p:spPr>
        <p:txBody>
          <a:bodyPr>
            <a:normAutofit/>
          </a:bodyPr>
          <a:lstStyle/>
          <a:p>
            <a:pPr marL="0"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p:txBody>
      </p:sp>
      <p:pic>
        <p:nvPicPr>
          <p:cNvPr id="7" name="Picture 6">
            <a:extLst>
              <a:ext uri="{FF2B5EF4-FFF2-40B4-BE49-F238E27FC236}">
                <a16:creationId xmlns:a16="http://schemas.microsoft.com/office/drawing/2014/main" id="{48F6DBBC-38A0-95F5-9161-C2B48F7BC16D}"/>
              </a:ext>
            </a:extLst>
          </p:cNvPr>
          <p:cNvPicPr>
            <a:picLocks noChangeAspect="1"/>
          </p:cNvPicPr>
          <p:nvPr/>
        </p:nvPicPr>
        <p:blipFill>
          <a:blip r:embed="rId3"/>
          <a:stretch>
            <a:fillRect/>
          </a:stretch>
        </p:blipFill>
        <p:spPr>
          <a:xfrm>
            <a:off x="5141905" y="142416"/>
            <a:ext cx="5896798" cy="6573167"/>
          </a:xfrm>
          <a:prstGeom prst="rect">
            <a:avLst/>
          </a:prstGeom>
        </p:spPr>
      </p:pic>
    </p:spTree>
    <p:extLst>
      <p:ext uri="{BB962C8B-B14F-4D97-AF65-F5344CB8AC3E}">
        <p14:creationId xmlns:p14="http://schemas.microsoft.com/office/powerpoint/2010/main" val="2522695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7392"/>
            <a:ext cx="10439400" cy="624840"/>
          </a:xfrm>
        </p:spPr>
        <p:txBody>
          <a:bodyPr>
            <a:noAutofit/>
          </a:bodyPr>
          <a:lstStyle/>
          <a:p>
            <a:r>
              <a:rPr lang="en-US" sz="3600" dirty="0">
                <a:cs typeface="Times New Roman" panose="02020603050405020304" pitchFamily="18" charset="0"/>
              </a:rPr>
              <a:t>Why do we need matching?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9862990" cy="5141388"/>
          </a:xfrm>
        </p:spPr>
        <p:txBody>
          <a:bodyPr>
            <a:normAutofit/>
          </a:bodyPr>
          <a:lstStyle/>
          <a:p>
            <a:pPr marL="0"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CB07D5B5-5420-51AF-FB24-44FA083A4ACC}"/>
              </a:ext>
            </a:extLst>
          </p:cNvPr>
          <p:cNvPicPr>
            <a:picLocks noChangeAspect="1"/>
          </p:cNvPicPr>
          <p:nvPr/>
        </p:nvPicPr>
        <p:blipFill>
          <a:blip r:embed="rId3"/>
          <a:stretch>
            <a:fillRect/>
          </a:stretch>
        </p:blipFill>
        <p:spPr>
          <a:xfrm>
            <a:off x="5181600" y="457199"/>
            <a:ext cx="5951515" cy="6331875"/>
          </a:xfrm>
          <a:prstGeom prst="rect">
            <a:avLst/>
          </a:prstGeom>
        </p:spPr>
      </p:pic>
    </p:spTree>
    <p:extLst>
      <p:ext uri="{BB962C8B-B14F-4D97-AF65-F5344CB8AC3E}">
        <p14:creationId xmlns:p14="http://schemas.microsoft.com/office/powerpoint/2010/main" val="2576535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p:txBody>
          <a:bodyPr/>
          <a:lstStyle/>
          <a:p>
            <a:r>
              <a:rPr lang="en-US" dirty="0"/>
              <a:t>Matching in Concept</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53910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do we want to do with matching?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9862990" cy="5141388"/>
          </a:xfrm>
        </p:spPr>
        <p:txBody>
          <a:bodyPr>
            <a:normAutofit/>
          </a:bodyPr>
          <a:lstStyle/>
          <a:p>
            <a:r>
              <a:rPr lang="en-US" sz="2400" b="1" dirty="0">
                <a:solidFill>
                  <a:schemeClr val="accent2">
                    <a:lumMod val="75000"/>
                  </a:schemeClr>
                </a:solidFill>
                <a:cs typeface="Times New Roman" panose="02020603050405020304" pitchFamily="18" charset="0"/>
              </a:rPr>
              <a:t>Example</a:t>
            </a:r>
            <a:r>
              <a:rPr lang="en-US" sz="2400" dirty="0">
                <a:cs typeface="Times New Roman" panose="02020603050405020304" pitchFamily="18" charset="0"/>
              </a:rPr>
              <a:t>: what is the effect of unemployment benefits on health outcomes? </a:t>
            </a:r>
          </a:p>
          <a:p>
            <a:r>
              <a:rPr lang="en-US" sz="2400" dirty="0">
                <a:cs typeface="Times New Roman" panose="02020603050405020304" pitchFamily="18" charset="0"/>
              </a:rPr>
              <a:t>Let’s look at a simple regression</a:t>
            </a:r>
          </a:p>
          <a:p>
            <a:pPr marL="0" indent="0">
              <a:buNone/>
            </a:pPr>
            <a:r>
              <a:rPr lang="en-US" sz="2400" b="1" dirty="0">
                <a:solidFill>
                  <a:schemeClr val="accent2">
                    <a:lumMod val="75000"/>
                  </a:schemeClr>
                </a:solidFill>
                <a:cs typeface="Times New Roman" panose="02020603050405020304" pitchFamily="18" charset="0"/>
              </a:rPr>
              <a:t>What could contribute to differences in expenses?</a:t>
            </a:r>
          </a:p>
          <a:p>
            <a:pPr lvl="1"/>
            <a:r>
              <a:rPr lang="en-US" sz="2400" dirty="0">
                <a:cs typeface="Times New Roman" panose="02020603050405020304" pitchFamily="18" charset="0"/>
              </a:rPr>
              <a:t>Initial health state</a:t>
            </a:r>
          </a:p>
          <a:p>
            <a:pPr lvl="1"/>
            <a:r>
              <a:rPr lang="en-US" sz="2400" dirty="0">
                <a:cs typeface="Times New Roman" panose="02020603050405020304" pitchFamily="18" charset="0"/>
              </a:rPr>
              <a:t>Education</a:t>
            </a:r>
          </a:p>
          <a:p>
            <a:pPr lvl="1"/>
            <a:r>
              <a:rPr lang="en-US" sz="2400" dirty="0">
                <a:cs typeface="Times New Roman" panose="02020603050405020304" pitchFamily="18" charset="0"/>
              </a:rPr>
              <a:t>Income</a:t>
            </a:r>
          </a:p>
          <a:p>
            <a:pPr lvl="1"/>
            <a:r>
              <a:rPr lang="en-US" sz="2400" dirty="0">
                <a:cs typeface="Times New Roman" panose="02020603050405020304" pitchFamily="18" charset="0"/>
              </a:rPr>
              <a:t>Etc. </a:t>
            </a:r>
          </a:p>
          <a:p>
            <a:r>
              <a:rPr lang="en-US" sz="2400" dirty="0">
                <a:cs typeface="Times New Roman" panose="02020603050405020304" pitchFamily="18" charset="0"/>
              </a:rPr>
              <a:t>Matching helps to “balance out” these covariates</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F11B53F0-F328-3117-B4C9-E521A4A9C3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7629"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954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Step 1: Preprocessing (matching) data</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0"/>
            <a:ext cx="10015390" cy="5141388"/>
          </a:xfrm>
        </p:spPr>
        <p:txBody>
          <a:bodyPr>
            <a:normAutofit/>
          </a:bodyPr>
          <a:lstStyle/>
          <a:p>
            <a:pPr marL="0" indent="0">
              <a:buNone/>
            </a:pPr>
            <a:r>
              <a:rPr lang="en-US" sz="2800" b="1" dirty="0">
                <a:solidFill>
                  <a:schemeClr val="accent2">
                    <a:lumMod val="75000"/>
                  </a:schemeClr>
                </a:solidFill>
                <a:cs typeface="Times New Roman" panose="02020603050405020304" pitchFamily="18" charset="0"/>
              </a:rPr>
              <a:t>Main matching algorithm</a:t>
            </a:r>
          </a:p>
          <a:p>
            <a:pPr marL="0" indent="0">
              <a:buNone/>
            </a:pPr>
            <a:r>
              <a:rPr lang="en-US" sz="2400" dirty="0">
                <a:cs typeface="Times New Roman" panose="02020603050405020304" pitchFamily="18" charset="0"/>
              </a:rPr>
              <a:t>We want to match treated observations to </a:t>
            </a:r>
            <a:r>
              <a:rPr lang="en-US" sz="2400" i="1" dirty="0">
                <a:solidFill>
                  <a:schemeClr val="accent2">
                    <a:lumMod val="75000"/>
                  </a:schemeClr>
                </a:solidFill>
                <a:cs typeface="Times New Roman" panose="02020603050405020304" pitchFamily="18" charset="0"/>
              </a:rPr>
              <a:t>similar</a:t>
            </a:r>
            <a:r>
              <a:rPr lang="en-US" sz="2400" i="1" dirty="0">
                <a:cs typeface="Times New Roman" panose="02020603050405020304" pitchFamily="18" charset="0"/>
              </a:rPr>
              <a:t> </a:t>
            </a:r>
            <a:r>
              <a:rPr lang="en-US" sz="2400" dirty="0">
                <a:cs typeface="Times New Roman" panose="02020603050405020304" pitchFamily="18" charset="0"/>
              </a:rPr>
              <a:t>control observations</a:t>
            </a:r>
          </a:p>
          <a:p>
            <a:pPr marL="457200" indent="-457200">
              <a:buFont typeface="+mj-lt"/>
              <a:buAutoNum type="arabicPeriod"/>
            </a:pPr>
            <a:r>
              <a:rPr lang="en-US" sz="2400" dirty="0">
                <a:cs typeface="Times New Roman" panose="02020603050405020304" pitchFamily="18" charset="0"/>
              </a:rPr>
              <a:t>What will our matching criteria be? </a:t>
            </a:r>
            <a:r>
              <a:rPr lang="en-US" sz="2400" dirty="0">
                <a:solidFill>
                  <a:schemeClr val="accent2">
                    <a:lumMod val="75000"/>
                  </a:schemeClr>
                </a:solidFill>
                <a:cs typeface="Times New Roman" panose="02020603050405020304" pitchFamily="18" charset="0"/>
              </a:rPr>
              <a:t>(what is “similar”?)</a:t>
            </a:r>
          </a:p>
          <a:p>
            <a:pPr marL="457200" indent="-457200">
              <a:buFont typeface="+mj-lt"/>
              <a:buAutoNum type="arabicPeriod"/>
            </a:pPr>
            <a:r>
              <a:rPr lang="en-US" sz="2400" dirty="0">
                <a:cs typeface="Times New Roman" panose="02020603050405020304" pitchFamily="18" charset="0"/>
              </a:rPr>
              <a:t>Are we assigning</a:t>
            </a:r>
            <a:r>
              <a:rPr lang="en-US" sz="2400" i="1" dirty="0">
                <a:solidFill>
                  <a:schemeClr val="accent2">
                    <a:lumMod val="75000"/>
                  </a:schemeClr>
                </a:solidFill>
                <a:cs typeface="Times New Roman" panose="02020603050405020304" pitchFamily="18" charset="0"/>
              </a:rPr>
              <a:t> matches </a:t>
            </a:r>
            <a:r>
              <a:rPr lang="en-US" sz="2400" dirty="0">
                <a:cs typeface="Times New Roman" panose="02020603050405020304" pitchFamily="18" charset="0"/>
              </a:rPr>
              <a:t>or </a:t>
            </a:r>
            <a:r>
              <a:rPr lang="en-US" sz="2400" i="1" dirty="0">
                <a:solidFill>
                  <a:schemeClr val="accent2">
                    <a:lumMod val="75000"/>
                  </a:schemeClr>
                </a:solidFill>
                <a:cs typeface="Times New Roman" panose="02020603050405020304" pitchFamily="18" charset="0"/>
              </a:rPr>
              <a:t>weights</a:t>
            </a:r>
            <a:r>
              <a:rPr lang="en-US" sz="2400" i="1" dirty="0">
                <a:cs typeface="Times New Roman" panose="02020603050405020304" pitchFamily="18" charset="0"/>
              </a:rPr>
              <a:t>? </a:t>
            </a:r>
          </a:p>
          <a:p>
            <a:pPr marL="457200" indent="-457200">
              <a:buFont typeface="+mj-lt"/>
              <a:buAutoNum type="arabicPeriod"/>
            </a:pPr>
            <a:r>
              <a:rPr lang="en-US" sz="2400" dirty="0">
                <a:cs typeface="Times New Roman" panose="02020603050405020304" pitchFamily="18" charset="0"/>
              </a:rPr>
              <a:t>How many matches will we select? </a:t>
            </a:r>
          </a:p>
          <a:p>
            <a:pPr marL="457200" indent="-457200">
              <a:buFont typeface="+mj-lt"/>
              <a:buAutoNum type="arabicPeriod"/>
            </a:pPr>
            <a:r>
              <a:rPr lang="en-US" sz="2400" dirty="0">
                <a:cs typeface="Times New Roman" panose="02020603050405020304" pitchFamily="18" charset="0"/>
              </a:rPr>
              <a:t>How will weights decay with distance? </a:t>
            </a:r>
          </a:p>
          <a:p>
            <a:pPr marL="457200" indent="-457200">
              <a:buFont typeface="+mj-lt"/>
              <a:buAutoNum type="arabicPeriod"/>
            </a:pPr>
            <a:r>
              <a:rPr lang="en-US" sz="2400" dirty="0">
                <a:cs typeface="Times New Roman" panose="02020603050405020304" pitchFamily="18" charset="0"/>
              </a:rPr>
              <a:t>What is the worst acceptable match?</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spTree>
    <p:extLst>
      <p:ext uri="{BB962C8B-B14F-4D97-AF65-F5344CB8AC3E}">
        <p14:creationId xmlns:p14="http://schemas.microsoft.com/office/powerpoint/2010/main" val="2135161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Step 2: Estimation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The matched sample becomes our new analytical sample</a:t>
            </a:r>
          </a:p>
          <a:p>
            <a:r>
              <a:rPr lang="en-US" sz="2400" dirty="0">
                <a:cs typeface="Times New Roman" panose="02020603050405020304" pitchFamily="18" charset="0"/>
              </a:rPr>
              <a:t>Once we establish balance, we can mimic the analysis of an RCT!</a:t>
            </a:r>
          </a:p>
          <a:p>
            <a:pPr lvl="1"/>
            <a:r>
              <a:rPr lang="en-US" sz="2400" dirty="0">
                <a:cs typeface="Times New Roman" panose="02020603050405020304" pitchFamily="18" charset="0"/>
              </a:rPr>
              <a:t>Calculate difference in means</a:t>
            </a:r>
          </a:p>
          <a:p>
            <a:pPr lvl="1"/>
            <a:r>
              <a:rPr lang="en-US" sz="2400" dirty="0">
                <a:cs typeface="Times New Roman" panose="02020603050405020304" pitchFamily="18" charset="0"/>
              </a:rPr>
              <a:t>Can build out a more complicated model, but generally the matching is the hard part</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3631139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Step 2: Estimation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The matched sample becomes our new analytical sample</a:t>
            </a:r>
          </a:p>
          <a:p>
            <a:r>
              <a:rPr lang="en-US" sz="2400" dirty="0">
                <a:cs typeface="Times New Roman" panose="02020603050405020304" pitchFamily="18" charset="0"/>
              </a:rPr>
              <a:t>Once we establish balance, we can mimic the analysis of an RCT!</a:t>
            </a:r>
          </a:p>
          <a:p>
            <a:pPr lvl="1"/>
            <a:r>
              <a:rPr lang="en-US" sz="2400" dirty="0">
                <a:cs typeface="Times New Roman" panose="02020603050405020304" pitchFamily="18" charset="0"/>
              </a:rPr>
              <a:t>Calculate difference in means</a:t>
            </a:r>
          </a:p>
          <a:p>
            <a:pPr lvl="1"/>
            <a:r>
              <a:rPr lang="en-US" sz="2400" dirty="0">
                <a:cs typeface="Times New Roman" panose="02020603050405020304" pitchFamily="18" charset="0"/>
              </a:rPr>
              <a:t>Can build out a more complicated model, but generally the matching is the hard part</a:t>
            </a:r>
          </a:p>
          <a:p>
            <a:r>
              <a:rPr lang="en-US" sz="2400" dirty="0">
                <a:cs typeface="Times New Roman" panose="02020603050405020304" pitchFamily="18" charset="0"/>
              </a:rPr>
              <a:t>Then, the </a:t>
            </a:r>
            <a:r>
              <a:rPr lang="en-US" sz="2400" b="1" dirty="0">
                <a:solidFill>
                  <a:schemeClr val="accent3">
                    <a:lumMod val="75000"/>
                  </a:schemeClr>
                </a:solidFill>
                <a:cs typeface="Times New Roman" panose="02020603050405020304" pitchFamily="18" charset="0"/>
              </a:rPr>
              <a:t>pairwise matching estimator </a:t>
            </a:r>
            <a:r>
              <a:rPr lang="en-US" sz="2400" dirty="0">
                <a:cs typeface="Times New Roman" panose="02020603050405020304" pitchFamily="18" charset="0"/>
              </a:rPr>
              <a:t>is: </a:t>
            </a:r>
          </a:p>
          <a:p>
            <a:endParaRPr lang="en-US" sz="2400" dirty="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30291AC-F1AB-D180-EDF0-260AF5587953}"/>
                  </a:ext>
                </a:extLst>
              </p:cNvPr>
              <p:cNvSpPr txBox="1"/>
              <p:nvPr/>
            </p:nvSpPr>
            <p:spPr>
              <a:xfrm>
                <a:off x="2514600" y="4038600"/>
                <a:ext cx="6633519" cy="1137876"/>
              </a:xfrm>
              <a:prstGeom prst="rect">
                <a:avLst/>
              </a:prstGeom>
              <a:noFill/>
            </p:spPr>
            <p:txBody>
              <a:bodyPr wrap="square">
                <a:spAutoFit/>
              </a:bodyPr>
              <a:lstStyle/>
              <a:p>
                <a:pPr/>
                <a14:m>
                  <m:oMathPara xmlns:m="http://schemas.openxmlformats.org/officeDocument/2006/math">
                    <m:oMath>
                      <m:sSub>
                        <m:sSubPr>
                          <m:ctrlPr>
                            <a:rPr lang="en-US" sz="2800" b="0" i="1" smtClean="0">
                              <a:latin typeface="Cambria Math" panose="02040503050406030204" pitchFamily="18" charset="0"/>
                              <a:cs typeface="Times New Roman" panose="02020603050405020304" pitchFamily="18" charset="0"/>
                            </a:rPr>
                          </m:ctrlPr>
                        </m:sSubPr>
                        <m:e>
                          <m:acc>
                            <m:accPr>
                              <m:chr m:val="̂"/>
                              <m:ctrlPr>
                                <a:rPr lang="en-US" sz="2800" b="0" i="1" smtClean="0">
                                  <a:latin typeface="Cambria Math" panose="02040503050406030204" pitchFamily="18" charset="0"/>
                                  <a:cs typeface="Times New Roman" panose="02020603050405020304" pitchFamily="18" charset="0"/>
                                </a:rPr>
                              </m:ctrlPr>
                            </m:accPr>
                            <m:e>
                              <m:r>
                                <a:rPr lang="en-US" sz="2800" b="0" i="1" smtClean="0">
                                  <a:latin typeface="Cambria Math" panose="02040503050406030204" pitchFamily="18" charset="0"/>
                                  <a:cs typeface="Times New Roman" panose="02020603050405020304" pitchFamily="18" charset="0"/>
                                </a:rPr>
                                <m:t>𝛿</m:t>
                              </m:r>
                            </m:e>
                          </m:acc>
                        </m:e>
                        <m:sub>
                          <m:r>
                            <a:rPr lang="en-US" sz="2800" b="0" i="1" dirty="0" smtClean="0">
                              <a:latin typeface="Cambria Math" panose="02040503050406030204" pitchFamily="18" charset="0"/>
                              <a:cs typeface="Times New Roman" panose="02020603050405020304" pitchFamily="18" charset="0"/>
                            </a:rPr>
                            <m:t>𝐴𝑇𝐸</m:t>
                          </m:r>
                        </m:sub>
                      </m:sSub>
                      <m:r>
                        <a:rPr lang="en-US" sz="2800" b="0" i="1" dirty="0" smtClean="0">
                          <a:latin typeface="Cambria Math" panose="02040503050406030204" pitchFamily="18" charset="0"/>
                          <a:cs typeface="Times New Roman" panose="02020603050405020304" pitchFamily="18" charset="0"/>
                        </a:rPr>
                        <m:t>=</m:t>
                      </m:r>
                      <m:f>
                        <m:fPr>
                          <m:ctrlPr>
                            <a:rPr lang="en-US" sz="2800" b="0" i="1" dirty="0" smtClean="0">
                              <a:latin typeface="Cambria Math" panose="02040503050406030204" pitchFamily="18" charset="0"/>
                              <a:cs typeface="Times New Roman" panose="02020603050405020304" pitchFamily="18" charset="0"/>
                            </a:rPr>
                          </m:ctrlPr>
                        </m:fPr>
                        <m:num>
                          <m:r>
                            <a:rPr lang="en-US" sz="2800" b="0" i="1" dirty="0" smtClean="0">
                              <a:latin typeface="Cambria Math" panose="02040503050406030204" pitchFamily="18" charset="0"/>
                              <a:cs typeface="Times New Roman" panose="02020603050405020304" pitchFamily="18" charset="0"/>
                            </a:rPr>
                            <m:t>1</m:t>
                          </m:r>
                        </m:num>
                        <m:den>
                          <m:sSub>
                            <m:sSubPr>
                              <m:ctrlPr>
                                <a:rPr lang="en-US" sz="2800" b="0" i="1" dirty="0" smtClean="0">
                                  <a:latin typeface="Cambria Math" panose="02040503050406030204" pitchFamily="18" charset="0"/>
                                  <a:cs typeface="Times New Roman" panose="02020603050405020304" pitchFamily="18" charset="0"/>
                                </a:rPr>
                              </m:ctrlPr>
                            </m:sSubPr>
                            <m:e>
                              <m:r>
                                <a:rPr lang="en-US" sz="2800" b="0" i="1" dirty="0" smtClean="0">
                                  <a:latin typeface="Cambria Math" panose="02040503050406030204" pitchFamily="18" charset="0"/>
                                  <a:cs typeface="Times New Roman" panose="02020603050405020304" pitchFamily="18" charset="0"/>
                                </a:rPr>
                                <m:t>𝑁</m:t>
                              </m:r>
                            </m:e>
                            <m:sub>
                              <m:r>
                                <a:rPr lang="en-US" sz="2800" b="0" i="1" dirty="0" smtClean="0">
                                  <a:latin typeface="Cambria Math" panose="02040503050406030204" pitchFamily="18" charset="0"/>
                                  <a:cs typeface="Times New Roman" panose="02020603050405020304" pitchFamily="18" charset="0"/>
                                </a:rPr>
                                <m:t>𝑇</m:t>
                              </m:r>
                            </m:sub>
                          </m:sSub>
                        </m:den>
                      </m:f>
                      <m:nary>
                        <m:naryPr>
                          <m:chr m:val="∑"/>
                          <m:supHide m:val="on"/>
                          <m:ctrlPr>
                            <a:rPr lang="en-US" sz="2800" b="0" i="1" dirty="0" smtClean="0">
                              <a:latin typeface="Cambria Math" panose="02040503050406030204" pitchFamily="18" charset="0"/>
                              <a:cs typeface="Times New Roman" panose="02020603050405020304" pitchFamily="18" charset="0"/>
                            </a:rPr>
                          </m:ctrlPr>
                        </m:naryPr>
                        <m:sub>
                          <m:r>
                            <m:rPr>
                              <m:brk m:alnAt="7"/>
                            </m:rPr>
                            <a:rPr lang="en-US" sz="2800" b="0" i="1" dirty="0" smtClean="0">
                              <a:latin typeface="Cambria Math" panose="02040503050406030204" pitchFamily="18" charset="0"/>
                              <a:cs typeface="Times New Roman" panose="02020603050405020304" pitchFamily="18" charset="0"/>
                            </a:rPr>
                            <m:t>𝑖</m:t>
                          </m:r>
                        </m:sub>
                        <m:sup/>
                        <m:e>
                          <m:r>
                            <a:rPr lang="en-US" sz="2800" b="0" i="1" dirty="0" smtClean="0">
                              <a:solidFill>
                                <a:schemeClr val="accent2">
                                  <a:lumMod val="75000"/>
                                </a:schemeClr>
                              </a:solidFill>
                              <a:latin typeface="Cambria Math" panose="02040503050406030204" pitchFamily="18" charset="0"/>
                              <a:cs typeface="Times New Roman" panose="02020603050405020304" pitchFamily="18" charset="0"/>
                            </a:rPr>
                            <m:t>(2</m:t>
                          </m:r>
                          <m:sSub>
                            <m:sSubPr>
                              <m:ctrlPr>
                                <a:rPr lang="en-US" sz="2800" b="0" i="1" dirty="0"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800" b="0" i="1" dirty="0" smtClean="0">
                                  <a:solidFill>
                                    <a:schemeClr val="accent2">
                                      <a:lumMod val="75000"/>
                                    </a:schemeClr>
                                  </a:solidFill>
                                  <a:latin typeface="Cambria Math" panose="02040503050406030204" pitchFamily="18" charset="0"/>
                                  <a:cs typeface="Times New Roman" panose="02020603050405020304" pitchFamily="18" charset="0"/>
                                </a:rPr>
                                <m:t>𝐷</m:t>
                              </m:r>
                            </m:e>
                            <m:sub>
                              <m:r>
                                <a:rPr lang="en-US" sz="2800" b="0" i="1" dirty="0" smtClean="0">
                                  <a:solidFill>
                                    <a:schemeClr val="accent2">
                                      <a:lumMod val="75000"/>
                                    </a:schemeClr>
                                  </a:solidFill>
                                  <a:latin typeface="Cambria Math" panose="02040503050406030204" pitchFamily="18" charset="0"/>
                                  <a:cs typeface="Times New Roman" panose="02020603050405020304" pitchFamily="18" charset="0"/>
                                </a:rPr>
                                <m:t>𝑖</m:t>
                              </m:r>
                            </m:sub>
                          </m:sSub>
                          <m:r>
                            <a:rPr lang="en-US" sz="2800" b="0" i="1" dirty="0" smtClean="0">
                              <a:solidFill>
                                <a:schemeClr val="accent2">
                                  <a:lumMod val="75000"/>
                                </a:schemeClr>
                              </a:solidFill>
                              <a:latin typeface="Cambria Math" panose="02040503050406030204" pitchFamily="18" charset="0"/>
                              <a:cs typeface="Times New Roman" panose="02020603050405020304" pitchFamily="18" charset="0"/>
                            </a:rPr>
                            <m:t>−1)</m:t>
                          </m:r>
                          <m:sSub>
                            <m:sSubPr>
                              <m:ctrlPr>
                                <a:rPr lang="en-US" sz="2800" b="0" i="1" dirty="0" smtClean="0">
                                  <a:latin typeface="Cambria Math" panose="02040503050406030204" pitchFamily="18" charset="0"/>
                                  <a:cs typeface="Times New Roman" panose="02020603050405020304" pitchFamily="18" charset="0"/>
                                </a:rPr>
                              </m:ctrlPr>
                            </m:sSubPr>
                            <m:e>
                              <m:r>
                                <a:rPr lang="en-US" sz="2800" b="0" i="1" dirty="0" smtClean="0">
                                  <a:latin typeface="Cambria Math" panose="02040503050406030204" pitchFamily="18" charset="0"/>
                                  <a:cs typeface="Times New Roman" panose="02020603050405020304" pitchFamily="18" charset="0"/>
                                </a:rPr>
                                <m:t>(</m:t>
                              </m:r>
                              <m:r>
                                <a:rPr lang="en-US" sz="2800" b="0" i="1" dirty="0" smtClean="0">
                                  <a:latin typeface="Cambria Math" panose="02040503050406030204" pitchFamily="18" charset="0"/>
                                  <a:cs typeface="Times New Roman" panose="02020603050405020304" pitchFamily="18" charset="0"/>
                                </a:rPr>
                                <m:t>𝑌</m:t>
                              </m:r>
                            </m:e>
                            <m:sub>
                              <m:r>
                                <a:rPr lang="en-US" sz="2800" b="0" i="1" dirty="0" smtClean="0">
                                  <a:latin typeface="Cambria Math" panose="02040503050406030204" pitchFamily="18" charset="0"/>
                                  <a:cs typeface="Times New Roman" panose="02020603050405020304" pitchFamily="18" charset="0"/>
                                </a:rPr>
                                <m:t>𝑖</m:t>
                              </m:r>
                            </m:sub>
                          </m:sSub>
                          <m:r>
                            <a:rPr lang="en-US" sz="2800" b="0" i="1" dirty="0" smtClean="0">
                              <a:latin typeface="Cambria Math" panose="02040503050406030204" pitchFamily="18" charset="0"/>
                              <a:cs typeface="Times New Roman" panose="02020603050405020304" pitchFamily="18" charset="0"/>
                            </a:rPr>
                            <m:t>−</m:t>
                          </m:r>
                          <m:sSub>
                            <m:sSubPr>
                              <m:ctrlPr>
                                <a:rPr lang="en-US" sz="2800" b="0" i="1" dirty="0" smtClean="0">
                                  <a:latin typeface="Cambria Math" panose="02040503050406030204" pitchFamily="18" charset="0"/>
                                  <a:cs typeface="Times New Roman" panose="02020603050405020304" pitchFamily="18" charset="0"/>
                                </a:rPr>
                              </m:ctrlPr>
                            </m:sSubPr>
                            <m:e>
                              <m:r>
                                <a:rPr lang="en-US" sz="2800" b="0" i="1" dirty="0" smtClean="0">
                                  <a:latin typeface="Cambria Math" panose="02040503050406030204" pitchFamily="18" charset="0"/>
                                  <a:cs typeface="Times New Roman" panose="02020603050405020304" pitchFamily="18" charset="0"/>
                                </a:rPr>
                                <m:t>𝑌</m:t>
                              </m:r>
                            </m:e>
                            <m:sub>
                              <m:r>
                                <a:rPr lang="en-US" sz="2800" b="0" i="1" dirty="0" smtClean="0">
                                  <a:latin typeface="Cambria Math" panose="02040503050406030204" pitchFamily="18" charset="0"/>
                                  <a:cs typeface="Times New Roman" panose="02020603050405020304" pitchFamily="18" charset="0"/>
                                </a:rPr>
                                <m:t>𝑗</m:t>
                              </m:r>
                              <m:d>
                                <m:dPr>
                                  <m:ctrlPr>
                                    <a:rPr lang="en-US" sz="2800" b="0" i="1" dirty="0" smtClean="0">
                                      <a:latin typeface="Cambria Math" panose="02040503050406030204" pitchFamily="18" charset="0"/>
                                      <a:cs typeface="Times New Roman" panose="02020603050405020304" pitchFamily="18" charset="0"/>
                                    </a:rPr>
                                  </m:ctrlPr>
                                </m:dPr>
                                <m:e>
                                  <m:r>
                                    <a:rPr lang="en-US" sz="2800" b="0" i="1" dirty="0" smtClean="0">
                                      <a:latin typeface="Cambria Math" panose="02040503050406030204" pitchFamily="18" charset="0"/>
                                      <a:cs typeface="Times New Roman" panose="02020603050405020304" pitchFamily="18" charset="0"/>
                                    </a:rPr>
                                    <m:t>𝑖</m:t>
                                  </m:r>
                                </m:e>
                              </m:d>
                            </m:sub>
                          </m:sSub>
                          <m:r>
                            <a:rPr lang="en-US" sz="2800" b="0" i="1" dirty="0" smtClean="0">
                              <a:latin typeface="Cambria Math" panose="02040503050406030204" pitchFamily="18" charset="0"/>
                              <a:cs typeface="Times New Roman" panose="02020603050405020304" pitchFamily="18" charset="0"/>
                            </a:rPr>
                            <m:t>)</m:t>
                          </m:r>
                        </m:e>
                      </m:nary>
                    </m:oMath>
                  </m:oMathPara>
                </a14:m>
                <a:endParaRPr lang="en-US" sz="2800" dirty="0"/>
              </a:p>
            </p:txBody>
          </p:sp>
        </mc:Choice>
        <mc:Fallback xmlns="">
          <p:sp>
            <p:nvSpPr>
              <p:cNvPr id="5" name="TextBox 4">
                <a:extLst>
                  <a:ext uri="{FF2B5EF4-FFF2-40B4-BE49-F238E27FC236}">
                    <a16:creationId xmlns:a16="http://schemas.microsoft.com/office/drawing/2014/main" id="{530291AC-F1AB-D180-EDF0-260AF5587953}"/>
                  </a:ext>
                </a:extLst>
              </p:cNvPr>
              <p:cNvSpPr txBox="1">
                <a:spLocks noRot="1" noChangeAspect="1" noMove="1" noResize="1" noEditPoints="1" noAdjustHandles="1" noChangeArrowheads="1" noChangeShapeType="1" noTextEdit="1"/>
              </p:cNvSpPr>
              <p:nvPr/>
            </p:nvSpPr>
            <p:spPr>
              <a:xfrm>
                <a:off x="2514600" y="4038600"/>
                <a:ext cx="6633519" cy="113787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08325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10439400" cy="624840"/>
          </a:xfrm>
        </p:spPr>
        <p:txBody>
          <a:bodyPr>
            <a:noAutofit/>
          </a:bodyPr>
          <a:lstStyle/>
          <a:p>
            <a:r>
              <a:rPr lang="en-US" sz="3600" dirty="0">
                <a:cs typeface="Times New Roman" panose="02020603050405020304" pitchFamily="18" charset="0"/>
              </a:rPr>
              <a:t>Analyzing a (truly) random experiment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10287000" cy="5141388"/>
          </a:xfrm>
        </p:spPr>
        <p:txBody>
          <a:bodyPr>
            <a:noAutofit/>
          </a:bodyPr>
          <a:lstStyle/>
          <a:p>
            <a:r>
              <a:rPr lang="en-US" sz="2400" dirty="0">
                <a:cs typeface="Times New Roman" panose="02020603050405020304" pitchFamily="18" charset="0"/>
              </a:rPr>
              <a:t>If your treatment is truly randomized, analysis is easy!</a:t>
            </a:r>
            <a:endParaRPr lang="en-US" sz="2400" u="sng" dirty="0">
              <a:cs typeface="Times New Roman" panose="02020603050405020304" pitchFamily="18" charset="0"/>
            </a:endParaRPr>
          </a:p>
          <a:p>
            <a:pPr marL="0" indent="0">
              <a:buNone/>
            </a:pPr>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092CC85F-9BBA-783D-F99C-4ACE69FDA844}"/>
              </a:ext>
            </a:extLst>
          </p:cNvPr>
          <p:cNvPicPr>
            <a:picLocks noChangeAspect="1"/>
          </p:cNvPicPr>
          <p:nvPr/>
        </p:nvPicPr>
        <p:blipFill rotWithShape="1">
          <a:blip r:embed="rId3"/>
          <a:srcRect l="7724" t="41838" r="4622"/>
          <a:stretch/>
        </p:blipFill>
        <p:spPr>
          <a:xfrm>
            <a:off x="1524000" y="1828800"/>
            <a:ext cx="8610600" cy="3352800"/>
          </a:xfrm>
          <a:prstGeom prst="rect">
            <a:avLst/>
          </a:prstGeom>
        </p:spPr>
      </p:pic>
    </p:spTree>
    <p:extLst>
      <p:ext uri="{BB962C8B-B14F-4D97-AF65-F5344CB8AC3E}">
        <p14:creationId xmlns:p14="http://schemas.microsoft.com/office/powerpoint/2010/main" val="4184919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How is this different than controlling in OLS?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1" y="1066801"/>
                <a:ext cx="10363200" cy="5141388"/>
              </a:xfrm>
            </p:spPr>
            <p:txBody>
              <a:bodyPr>
                <a:noAutofit/>
              </a:bodyPr>
              <a:lstStyle/>
              <a:p>
                <a:pPr marL="274320" lvl="1" indent="0">
                  <a:buNone/>
                </a:pPr>
                <a:r>
                  <a:rPr lang="en-US" sz="2400" dirty="0">
                    <a:cs typeface="Times New Roman" panose="02020603050405020304" pitchFamily="18" charset="0"/>
                  </a:rPr>
                  <a:t>Intuitively, differences lie in </a:t>
                </a:r>
                <a:r>
                  <a:rPr lang="en-US" sz="2400" b="1" dirty="0">
                    <a:solidFill>
                      <a:schemeClr val="accent2">
                        <a:lumMod val="75000"/>
                      </a:schemeClr>
                    </a:solidFill>
                    <a:cs typeface="Times New Roman" panose="02020603050405020304" pitchFamily="18" charset="0"/>
                  </a:rPr>
                  <a:t>how we deal with backdoor paths</a:t>
                </a:r>
                <a:r>
                  <a:rPr lang="en-US" sz="2400" b="1" dirty="0">
                    <a:cs typeface="Times New Roman" panose="02020603050405020304" pitchFamily="18" charset="0"/>
                  </a:rPr>
                  <a:t>: </a:t>
                </a:r>
                <a:endParaRPr lang="en-US" sz="2400" dirty="0">
                  <a:cs typeface="Times New Roman" panose="02020603050405020304" pitchFamily="18" charset="0"/>
                </a:endParaRP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Regression</a:t>
                </a:r>
                <a:r>
                  <a:rPr lang="en-US" sz="2400" dirty="0">
                    <a:cs typeface="Times New Roman" panose="02020603050405020304" pitchFamily="18" charset="0"/>
                  </a:rPr>
                  <a:t> removes all variation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associated with variation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oMath>
                </a14:m>
                <a:endParaRPr lang="en-US" sz="2400" dirty="0">
                  <a:cs typeface="Times New Roman" panose="02020603050405020304" pitchFamily="18" charset="0"/>
                </a:endParaRP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Matching</a:t>
                </a:r>
                <a:r>
                  <a:rPr lang="en-US" sz="2400" dirty="0">
                    <a:cs typeface="Times New Roman" panose="02020603050405020304" pitchFamily="18" charset="0"/>
                  </a:rPr>
                  <a:t> chooses a sample in which there is no variation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oMath>
                </a14:m>
                <a:endParaRPr lang="en-US" sz="2400" dirty="0">
                  <a:cs typeface="Times New Roman" panose="02020603050405020304" pitchFamily="18" charset="0"/>
                </a:endParaRPr>
              </a:p>
              <a:p>
                <a:pPr marL="731520" lvl="1" indent="-457200">
                  <a:buFont typeface="+mj-lt"/>
                  <a:buAutoNum type="arabicPeriod"/>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1" y="1066801"/>
                <a:ext cx="10363200"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4075916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How is this different than controlling in OLS?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1" y="1066801"/>
                <a:ext cx="10363200" cy="5141388"/>
              </a:xfrm>
            </p:spPr>
            <p:txBody>
              <a:bodyPr>
                <a:noAutofit/>
              </a:bodyPr>
              <a:lstStyle/>
              <a:p>
                <a:pPr marL="274320" lvl="1" indent="0">
                  <a:buNone/>
                </a:pPr>
                <a:r>
                  <a:rPr lang="en-US" sz="2400" dirty="0">
                    <a:cs typeface="Times New Roman" panose="02020603050405020304" pitchFamily="18" charset="0"/>
                  </a:rPr>
                  <a:t>Intuitively, differences lie in </a:t>
                </a:r>
                <a:r>
                  <a:rPr lang="en-US" sz="2400" b="1" dirty="0">
                    <a:solidFill>
                      <a:schemeClr val="accent2">
                        <a:lumMod val="75000"/>
                      </a:schemeClr>
                    </a:solidFill>
                    <a:cs typeface="Times New Roman" panose="02020603050405020304" pitchFamily="18" charset="0"/>
                  </a:rPr>
                  <a:t>how we deal with backdoor paths</a:t>
                </a:r>
                <a:r>
                  <a:rPr lang="en-US" sz="2400" b="1" dirty="0">
                    <a:cs typeface="Times New Roman" panose="02020603050405020304" pitchFamily="18" charset="0"/>
                  </a:rPr>
                  <a:t>: </a:t>
                </a:r>
                <a:endParaRPr lang="en-US" sz="2400" dirty="0">
                  <a:cs typeface="Times New Roman" panose="02020603050405020304" pitchFamily="18" charset="0"/>
                </a:endParaRP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Regression</a:t>
                </a:r>
                <a:r>
                  <a:rPr lang="en-US" sz="2400" dirty="0">
                    <a:cs typeface="Times New Roman" panose="02020603050405020304" pitchFamily="18" charset="0"/>
                  </a:rPr>
                  <a:t> removes all variation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associated with variation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oMath>
                </a14:m>
                <a:endParaRPr lang="en-US" sz="2400" dirty="0">
                  <a:cs typeface="Times New Roman" panose="02020603050405020304" pitchFamily="18" charset="0"/>
                </a:endParaRP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Matching</a:t>
                </a:r>
                <a:r>
                  <a:rPr lang="en-US" sz="2400" dirty="0">
                    <a:cs typeface="Times New Roman" panose="02020603050405020304" pitchFamily="18" charset="0"/>
                  </a:rPr>
                  <a:t> chooses a sample in which there is no variation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oMath>
                </a14:m>
                <a:endParaRPr lang="en-US" sz="2400" dirty="0">
                  <a:cs typeface="Times New Roman" panose="02020603050405020304" pitchFamily="18" charset="0"/>
                </a:endParaRPr>
              </a:p>
              <a:p>
                <a:pPr marL="731520" lvl="1" indent="-457200">
                  <a:buFont typeface="+mj-lt"/>
                  <a:buAutoNum type="arabicPeriod"/>
                </a:pPr>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Pros and cons of matching (Black 2015)</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1" y="1066801"/>
                <a:ext cx="10363200" cy="5141388"/>
              </a:xfrm>
              <a:blipFill>
                <a:blip r:embed="rId3"/>
                <a:stretch>
                  <a:fillRect t="-166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289D120C-FA52-0F00-3157-5DCB96F0847F}"/>
              </a:ext>
            </a:extLst>
          </p:cNvPr>
          <p:cNvPicPr>
            <a:picLocks noChangeAspect="1"/>
          </p:cNvPicPr>
          <p:nvPr/>
        </p:nvPicPr>
        <p:blipFill>
          <a:blip r:embed="rId4"/>
          <a:stretch>
            <a:fillRect/>
          </a:stretch>
        </p:blipFill>
        <p:spPr>
          <a:xfrm>
            <a:off x="990600" y="3124200"/>
            <a:ext cx="9144000" cy="2938542"/>
          </a:xfrm>
          <a:prstGeom prst="rect">
            <a:avLst/>
          </a:prstGeom>
        </p:spPr>
      </p:pic>
    </p:spTree>
    <p:extLst>
      <p:ext uri="{BB962C8B-B14F-4D97-AF65-F5344CB8AC3E}">
        <p14:creationId xmlns:p14="http://schemas.microsoft.com/office/powerpoint/2010/main" val="42934360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ADC5A-2295-D9C7-3CFD-0618A3DF7B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9FCDE-EECC-8640-78A7-CD9396297879}"/>
              </a:ext>
            </a:extLst>
          </p:cNvPr>
          <p:cNvSpPr>
            <a:spLocks noGrp="1"/>
          </p:cNvSpPr>
          <p:nvPr>
            <p:ph type="title"/>
          </p:nvPr>
        </p:nvSpPr>
        <p:spPr>
          <a:xfrm>
            <a:off x="1237489" y="640080"/>
            <a:ext cx="2801111" cy="1325562"/>
          </a:xfrm>
        </p:spPr>
        <p:txBody>
          <a:bodyPr>
            <a:normAutofit/>
          </a:bodyPr>
          <a:lstStyle/>
          <a:p>
            <a:r>
              <a:rPr lang="en-US" sz="3200" b="1" dirty="0">
                <a:solidFill>
                  <a:schemeClr val="accent2">
                    <a:lumMod val="75000"/>
                  </a:schemeClr>
                </a:solidFill>
              </a:rPr>
              <a:t>Problems of </a:t>
            </a:r>
            <a:r>
              <a:rPr lang="en-US" sz="3200" b="1" dirty="0" err="1">
                <a:solidFill>
                  <a:schemeClr val="accent2">
                    <a:lumMod val="75000"/>
                  </a:schemeClr>
                </a:solidFill>
              </a:rPr>
              <a:t>Unobservables</a:t>
            </a:r>
            <a:endParaRPr lang="en-US" sz="3200" b="1" dirty="0">
              <a:solidFill>
                <a:schemeClr val="accent2">
                  <a:lumMod val="75000"/>
                </a:schemeClr>
              </a:solidFill>
            </a:endParaRPr>
          </a:p>
        </p:txBody>
      </p:sp>
      <p:sp>
        <p:nvSpPr>
          <p:cNvPr id="3" name="Content Placeholder 2">
            <a:extLst>
              <a:ext uri="{FF2B5EF4-FFF2-40B4-BE49-F238E27FC236}">
                <a16:creationId xmlns:a16="http://schemas.microsoft.com/office/drawing/2014/main" id="{677670A4-BC28-124E-5D56-B2B2287E6077}"/>
              </a:ext>
            </a:extLst>
          </p:cNvPr>
          <p:cNvSpPr>
            <a:spLocks noGrp="1"/>
          </p:cNvSpPr>
          <p:nvPr>
            <p:ph idx="1"/>
          </p:nvPr>
        </p:nvSpPr>
        <p:spPr>
          <a:xfrm>
            <a:off x="1237489" y="2301555"/>
            <a:ext cx="3075836" cy="3878582"/>
          </a:xfrm>
        </p:spPr>
        <p:txBody>
          <a:bodyPr>
            <a:normAutofit/>
          </a:bodyPr>
          <a:lstStyle/>
          <a:p>
            <a:endParaRPr lang="en-US" sz="1600"/>
          </a:p>
        </p:txBody>
      </p:sp>
      <p:pic>
        <p:nvPicPr>
          <p:cNvPr id="5" name="Picture 4">
            <a:extLst>
              <a:ext uri="{FF2B5EF4-FFF2-40B4-BE49-F238E27FC236}">
                <a16:creationId xmlns:a16="http://schemas.microsoft.com/office/drawing/2014/main" id="{4FEAD752-C35F-C935-61A6-62B5BE177F95}"/>
              </a:ext>
            </a:extLst>
          </p:cNvPr>
          <p:cNvPicPr>
            <a:picLocks noChangeAspect="1"/>
          </p:cNvPicPr>
          <p:nvPr/>
        </p:nvPicPr>
        <p:blipFill rotWithShape="1">
          <a:blip r:embed="rId3"/>
          <a:srcRect t="329" r="-2" b="49805"/>
          <a:stretch/>
        </p:blipFill>
        <p:spPr>
          <a:xfrm>
            <a:off x="5105399" y="-5536"/>
            <a:ext cx="7086601" cy="3739336"/>
          </a:xfrm>
          <a:prstGeom prst="rect">
            <a:avLst/>
          </a:prstGeom>
        </p:spPr>
      </p:pic>
      <p:sp>
        <p:nvSpPr>
          <p:cNvPr id="4" name="TextBox 3">
            <a:extLst>
              <a:ext uri="{FF2B5EF4-FFF2-40B4-BE49-F238E27FC236}">
                <a16:creationId xmlns:a16="http://schemas.microsoft.com/office/drawing/2014/main" id="{9BA56977-E7EF-ADF7-0D2D-EA8412832A21}"/>
              </a:ext>
            </a:extLst>
          </p:cNvPr>
          <p:cNvSpPr txBox="1"/>
          <p:nvPr/>
        </p:nvSpPr>
        <p:spPr>
          <a:xfrm>
            <a:off x="8001000" y="0"/>
            <a:ext cx="1143000" cy="369332"/>
          </a:xfrm>
          <a:prstGeom prst="rect">
            <a:avLst/>
          </a:prstGeom>
          <a:solidFill>
            <a:schemeClr val="accent2">
              <a:lumMod val="75000"/>
            </a:schemeClr>
          </a:solidFill>
          <a:ln>
            <a:solidFill>
              <a:schemeClr val="tx2">
                <a:lumMod val="50000"/>
              </a:schemeClr>
            </a:solidFill>
          </a:ln>
        </p:spPr>
        <p:txBody>
          <a:bodyPr wrap="square" rtlCol="0">
            <a:spAutoFit/>
          </a:bodyPr>
          <a:lstStyle/>
          <a:p>
            <a:r>
              <a:rPr lang="en-US" b="1" dirty="0">
                <a:solidFill>
                  <a:schemeClr val="bg1"/>
                </a:solidFill>
              </a:rPr>
              <a:t>King</a:t>
            </a:r>
          </a:p>
        </p:txBody>
      </p:sp>
    </p:spTree>
    <p:extLst>
      <p:ext uri="{BB962C8B-B14F-4D97-AF65-F5344CB8AC3E}">
        <p14:creationId xmlns:p14="http://schemas.microsoft.com/office/powerpoint/2010/main" val="1159720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1E15B-E07C-0ED2-93A7-40279CE8A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15D39-B52E-53B6-F56B-8E443D470054}"/>
              </a:ext>
            </a:extLst>
          </p:cNvPr>
          <p:cNvSpPr>
            <a:spLocks noGrp="1"/>
          </p:cNvSpPr>
          <p:nvPr>
            <p:ph type="title"/>
          </p:nvPr>
        </p:nvSpPr>
        <p:spPr>
          <a:xfrm>
            <a:off x="1237489" y="640080"/>
            <a:ext cx="2801111" cy="1325562"/>
          </a:xfrm>
        </p:spPr>
        <p:txBody>
          <a:bodyPr>
            <a:normAutofit/>
          </a:bodyPr>
          <a:lstStyle/>
          <a:p>
            <a:r>
              <a:rPr lang="en-US" sz="3200" b="1" dirty="0">
                <a:solidFill>
                  <a:schemeClr val="accent2">
                    <a:lumMod val="75000"/>
                  </a:schemeClr>
                </a:solidFill>
              </a:rPr>
              <a:t>Problems of </a:t>
            </a:r>
            <a:r>
              <a:rPr lang="en-US" sz="3200" b="1" dirty="0" err="1">
                <a:solidFill>
                  <a:schemeClr val="accent2">
                    <a:lumMod val="75000"/>
                  </a:schemeClr>
                </a:solidFill>
              </a:rPr>
              <a:t>Unobservables</a:t>
            </a:r>
            <a:endParaRPr lang="en-US" sz="3200" b="1" dirty="0">
              <a:solidFill>
                <a:schemeClr val="accent2">
                  <a:lumMod val="75000"/>
                </a:schemeClr>
              </a:solidFill>
            </a:endParaRPr>
          </a:p>
        </p:txBody>
      </p:sp>
      <p:sp>
        <p:nvSpPr>
          <p:cNvPr id="3" name="Content Placeholder 2">
            <a:extLst>
              <a:ext uri="{FF2B5EF4-FFF2-40B4-BE49-F238E27FC236}">
                <a16:creationId xmlns:a16="http://schemas.microsoft.com/office/drawing/2014/main" id="{BD07F450-93C0-2DC9-59A8-625D58882E4C}"/>
              </a:ext>
            </a:extLst>
          </p:cNvPr>
          <p:cNvSpPr>
            <a:spLocks noGrp="1"/>
          </p:cNvSpPr>
          <p:nvPr>
            <p:ph idx="1"/>
          </p:nvPr>
        </p:nvSpPr>
        <p:spPr>
          <a:xfrm>
            <a:off x="1237489" y="2301555"/>
            <a:ext cx="3075836" cy="3878582"/>
          </a:xfrm>
        </p:spPr>
        <p:txBody>
          <a:bodyPr>
            <a:normAutofit/>
          </a:bodyPr>
          <a:lstStyle/>
          <a:p>
            <a:endParaRPr lang="en-US" sz="1600"/>
          </a:p>
        </p:txBody>
      </p:sp>
      <p:pic>
        <p:nvPicPr>
          <p:cNvPr id="5" name="Picture 4">
            <a:extLst>
              <a:ext uri="{FF2B5EF4-FFF2-40B4-BE49-F238E27FC236}">
                <a16:creationId xmlns:a16="http://schemas.microsoft.com/office/drawing/2014/main" id="{8890F41B-F93F-E207-7735-5E6FFBF28DF8}"/>
              </a:ext>
            </a:extLst>
          </p:cNvPr>
          <p:cNvPicPr>
            <a:picLocks noChangeAspect="1"/>
          </p:cNvPicPr>
          <p:nvPr/>
        </p:nvPicPr>
        <p:blipFill rotWithShape="1">
          <a:blip r:embed="rId3"/>
          <a:srcRect t="330" r="-2" b="8141"/>
          <a:stretch/>
        </p:blipFill>
        <p:spPr>
          <a:xfrm>
            <a:off x="5105399" y="-5536"/>
            <a:ext cx="7086601" cy="6863536"/>
          </a:xfrm>
          <a:prstGeom prst="rect">
            <a:avLst/>
          </a:prstGeom>
        </p:spPr>
      </p:pic>
      <p:sp>
        <p:nvSpPr>
          <p:cNvPr id="4" name="TextBox 3">
            <a:extLst>
              <a:ext uri="{FF2B5EF4-FFF2-40B4-BE49-F238E27FC236}">
                <a16:creationId xmlns:a16="http://schemas.microsoft.com/office/drawing/2014/main" id="{8FA766A9-6C20-1C0C-C299-D56397C34A2F}"/>
              </a:ext>
            </a:extLst>
          </p:cNvPr>
          <p:cNvSpPr txBox="1"/>
          <p:nvPr/>
        </p:nvSpPr>
        <p:spPr>
          <a:xfrm>
            <a:off x="8001000" y="0"/>
            <a:ext cx="1143000" cy="369332"/>
          </a:xfrm>
          <a:prstGeom prst="rect">
            <a:avLst/>
          </a:prstGeom>
          <a:solidFill>
            <a:schemeClr val="accent2">
              <a:lumMod val="75000"/>
            </a:schemeClr>
          </a:solidFill>
          <a:ln>
            <a:solidFill>
              <a:schemeClr val="tx2">
                <a:lumMod val="50000"/>
              </a:schemeClr>
            </a:solidFill>
          </a:ln>
        </p:spPr>
        <p:txBody>
          <a:bodyPr wrap="square" rtlCol="0">
            <a:spAutoFit/>
          </a:bodyPr>
          <a:lstStyle/>
          <a:p>
            <a:r>
              <a:rPr lang="en-US" b="1" dirty="0">
                <a:solidFill>
                  <a:schemeClr val="bg1"/>
                </a:solidFill>
              </a:rPr>
              <a:t>King</a:t>
            </a:r>
          </a:p>
        </p:txBody>
      </p:sp>
    </p:spTree>
    <p:extLst>
      <p:ext uri="{BB962C8B-B14F-4D97-AF65-F5344CB8AC3E}">
        <p14:creationId xmlns:p14="http://schemas.microsoft.com/office/powerpoint/2010/main" val="977677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p:txBody>
          <a:bodyPr/>
          <a:lstStyle/>
          <a:p>
            <a:r>
              <a:rPr lang="en-US" dirty="0"/>
              <a:t>Matching Techniques: </a:t>
            </a:r>
            <a:br>
              <a:rPr lang="en-US" dirty="0"/>
            </a:br>
            <a:r>
              <a:rPr lang="en-US" dirty="0"/>
              <a:t>Single Variable</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435268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Subclassification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We are worried about differences in </a:t>
            </a:r>
            <a:r>
              <a:rPr lang="en-US" sz="2400" b="1" dirty="0">
                <a:cs typeface="Times New Roman" panose="02020603050405020304" pitchFamily="18" charset="0"/>
              </a:rPr>
              <a:t>health status </a:t>
            </a:r>
            <a:r>
              <a:rPr lang="en-US" sz="2400" dirty="0">
                <a:cs typeface="Times New Roman" panose="02020603050405020304" pitchFamily="18" charset="0"/>
              </a:rPr>
              <a:t>affecting our estimates </a:t>
            </a:r>
          </a:p>
          <a:p>
            <a:pPr lvl="1"/>
            <a:r>
              <a:rPr lang="en-US" sz="2400" dirty="0">
                <a:cs typeface="Times New Roman" panose="02020603050405020304" pitchFamily="18" charset="0"/>
              </a:rPr>
              <a:t>In practice, the treatment and control groups are</a:t>
            </a:r>
            <a:r>
              <a:rPr lang="en-US" sz="2400" b="1" dirty="0">
                <a:solidFill>
                  <a:schemeClr val="accent2">
                    <a:lumMod val="75000"/>
                  </a:schemeClr>
                </a:solidFill>
                <a:cs typeface="Times New Roman" panose="02020603050405020304" pitchFamily="18" charset="0"/>
              </a:rPr>
              <a:t> not balanced</a:t>
            </a:r>
            <a:r>
              <a:rPr lang="en-US" sz="2400" dirty="0">
                <a:cs typeface="Times New Roman" panose="02020603050405020304" pitchFamily="18" charset="0"/>
              </a:rPr>
              <a:t> </a:t>
            </a:r>
          </a:p>
          <a:p>
            <a:r>
              <a:rPr lang="en-US" sz="2400" b="1" dirty="0">
                <a:cs typeface="Times New Roman" panose="02020603050405020304" pitchFamily="18" charset="0"/>
              </a:rPr>
              <a:t>Subclassification </a:t>
            </a:r>
            <a:r>
              <a:rPr lang="en-US" sz="2400" dirty="0">
                <a:cs typeface="Times New Roman" panose="02020603050405020304" pitchFamily="18" charset="0"/>
              </a:rPr>
              <a:t>is a matching strategy to “smooth out” differences: </a:t>
            </a:r>
          </a:p>
        </p:txBody>
      </p:sp>
    </p:spTree>
    <p:extLst>
      <p:ext uri="{BB962C8B-B14F-4D97-AF65-F5344CB8AC3E}">
        <p14:creationId xmlns:p14="http://schemas.microsoft.com/office/powerpoint/2010/main" val="25970521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Subclassification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We are worried about differences in </a:t>
            </a:r>
            <a:r>
              <a:rPr lang="en-US" sz="2400" b="1" dirty="0">
                <a:cs typeface="Times New Roman" panose="02020603050405020304" pitchFamily="18" charset="0"/>
              </a:rPr>
              <a:t>health status </a:t>
            </a:r>
            <a:r>
              <a:rPr lang="en-US" sz="2400" dirty="0">
                <a:cs typeface="Times New Roman" panose="02020603050405020304" pitchFamily="18" charset="0"/>
              </a:rPr>
              <a:t>affecting our estimates </a:t>
            </a:r>
          </a:p>
          <a:p>
            <a:pPr lvl="1"/>
            <a:r>
              <a:rPr lang="en-US" sz="2400" dirty="0">
                <a:cs typeface="Times New Roman" panose="02020603050405020304" pitchFamily="18" charset="0"/>
              </a:rPr>
              <a:t>In practice, the treatment and control groups are</a:t>
            </a:r>
            <a:r>
              <a:rPr lang="en-US" sz="2400" b="1" dirty="0">
                <a:solidFill>
                  <a:schemeClr val="accent2">
                    <a:lumMod val="75000"/>
                  </a:schemeClr>
                </a:solidFill>
                <a:cs typeface="Times New Roman" panose="02020603050405020304" pitchFamily="18" charset="0"/>
              </a:rPr>
              <a:t> not balanced</a:t>
            </a:r>
            <a:r>
              <a:rPr lang="en-US" sz="2400" dirty="0">
                <a:cs typeface="Times New Roman" panose="02020603050405020304" pitchFamily="18" charset="0"/>
              </a:rPr>
              <a:t> </a:t>
            </a:r>
          </a:p>
          <a:p>
            <a:r>
              <a:rPr lang="en-US" sz="2400" b="1" dirty="0">
                <a:cs typeface="Times New Roman" panose="02020603050405020304" pitchFamily="18" charset="0"/>
              </a:rPr>
              <a:t>Subclassification </a:t>
            </a:r>
            <a:r>
              <a:rPr lang="en-US" sz="2400" dirty="0">
                <a:cs typeface="Times New Roman" panose="02020603050405020304" pitchFamily="18" charset="0"/>
              </a:rPr>
              <a:t>is a matching strategy to “smooth out” differences: </a:t>
            </a:r>
          </a:p>
          <a:p>
            <a:pPr marL="731520" lvl="1" indent="-457200">
              <a:buFont typeface="+mj-lt"/>
              <a:buAutoNum type="arabicPeriod"/>
            </a:pPr>
            <a:r>
              <a:rPr lang="en-US" sz="2400" dirty="0">
                <a:cs typeface="Times New Roman" panose="02020603050405020304" pitchFamily="18" charset="0"/>
              </a:rPr>
              <a:t>Create bins (for example, based on patient age)</a:t>
            </a:r>
          </a:p>
          <a:p>
            <a:pPr marL="731520" lvl="1" indent="-457200">
              <a:buFont typeface="+mj-lt"/>
              <a:buAutoNum type="arabicPeriod"/>
            </a:pPr>
            <a:r>
              <a:rPr lang="en-US" sz="2400" dirty="0">
                <a:cs typeface="Times New Roman" panose="02020603050405020304" pitchFamily="18" charset="0"/>
              </a:rPr>
              <a:t>In each bin, identify the “treatment effect” of unemployment benefits</a:t>
            </a:r>
          </a:p>
          <a:p>
            <a:pPr marL="731520" lvl="1" indent="-457200">
              <a:buFont typeface="+mj-lt"/>
              <a:buAutoNum type="arabicPeriod"/>
            </a:pPr>
            <a:r>
              <a:rPr lang="en-US" sz="2400" dirty="0">
                <a:cs typeface="Times New Roman" panose="02020603050405020304" pitchFamily="18" charset="0"/>
              </a:rPr>
              <a:t>Construct </a:t>
            </a:r>
            <a:r>
              <a:rPr lang="en-US" sz="2400" i="1" dirty="0">
                <a:cs typeface="Times New Roman" panose="02020603050405020304" pitchFamily="18" charset="0"/>
              </a:rPr>
              <a:t>strata-specific weights:</a:t>
            </a:r>
          </a:p>
          <a:p>
            <a:pPr lvl="2"/>
            <a:r>
              <a:rPr lang="en-US" sz="2400" dirty="0">
                <a:cs typeface="Times New Roman" panose="02020603050405020304" pitchFamily="18" charset="0"/>
              </a:rPr>
              <a:t>Likelihood of being in each bin across treatment/control groups</a:t>
            </a:r>
          </a:p>
          <a:p>
            <a:pPr marL="731520" lvl="1" indent="-457200">
              <a:buFont typeface="+mj-lt"/>
              <a:buAutoNum type="arabicPeriod"/>
            </a:pPr>
            <a:r>
              <a:rPr lang="en-US" sz="2400" dirty="0">
                <a:cs typeface="Times New Roman" panose="02020603050405020304" pitchFamily="18" charset="0"/>
              </a:rPr>
              <a:t>Calculate the weighted average effect of unemployment benefits </a:t>
            </a:r>
          </a:p>
          <a:p>
            <a:pPr marL="731520" lvl="1" indent="-457200">
              <a:buFont typeface="+mj-lt"/>
              <a:buAutoNum type="arabicPeriod"/>
            </a:pPr>
            <a:endParaRPr lang="en-US" sz="2400"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19345B0C-B728-28E3-25E6-579A4994AD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43227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Subclassification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We are worried about differences in </a:t>
            </a:r>
            <a:r>
              <a:rPr lang="en-US" sz="2400" b="1" dirty="0">
                <a:cs typeface="Times New Roman" panose="02020603050405020304" pitchFamily="18" charset="0"/>
              </a:rPr>
              <a:t>health status </a:t>
            </a:r>
            <a:r>
              <a:rPr lang="en-US" sz="2400" dirty="0">
                <a:cs typeface="Times New Roman" panose="02020603050405020304" pitchFamily="18" charset="0"/>
              </a:rPr>
              <a:t>affecting our estimates  </a:t>
            </a:r>
          </a:p>
          <a:p>
            <a:r>
              <a:rPr lang="en-US" sz="2400" b="1" dirty="0">
                <a:cs typeface="Times New Roman" panose="02020603050405020304" pitchFamily="18" charset="0"/>
              </a:rPr>
              <a:t>Subclassification </a:t>
            </a:r>
            <a:r>
              <a:rPr lang="en-US" sz="2400" dirty="0">
                <a:cs typeface="Times New Roman" panose="02020603050405020304" pitchFamily="18" charset="0"/>
              </a:rPr>
              <a:t>is a matching strategy to “smooth out” differences: </a:t>
            </a:r>
          </a:p>
          <a:p>
            <a:pPr marL="731520" lvl="1" indent="-457200">
              <a:buFont typeface="+mj-lt"/>
              <a:buAutoNum type="arabicPeriod"/>
            </a:pPr>
            <a:r>
              <a:rPr lang="en-US" sz="2400" dirty="0">
                <a:cs typeface="Times New Roman" panose="02020603050405020304" pitchFamily="18" charset="0"/>
              </a:rPr>
              <a:t>Create bins (for example, based on patient age)</a:t>
            </a:r>
          </a:p>
          <a:p>
            <a:pPr marL="731520" lvl="1" indent="-457200">
              <a:buFont typeface="+mj-lt"/>
              <a:buAutoNum type="arabicPeriod"/>
            </a:pPr>
            <a:r>
              <a:rPr lang="en-US" sz="2400" dirty="0">
                <a:cs typeface="Times New Roman" panose="02020603050405020304" pitchFamily="18" charset="0"/>
              </a:rPr>
              <a:t>In each bin, identify the “treatment effect” of unemployment benefits</a:t>
            </a:r>
          </a:p>
          <a:p>
            <a:pPr marL="731520" lvl="1" indent="-457200">
              <a:buFont typeface="+mj-lt"/>
              <a:buAutoNum type="arabicPeriod"/>
            </a:pPr>
            <a:r>
              <a:rPr lang="en-US" sz="2400" dirty="0">
                <a:cs typeface="Times New Roman" panose="02020603050405020304" pitchFamily="18" charset="0"/>
              </a:rPr>
              <a:t>Construct </a:t>
            </a:r>
            <a:r>
              <a:rPr lang="en-US" sz="2400" i="1" dirty="0">
                <a:cs typeface="Times New Roman" panose="02020603050405020304" pitchFamily="18" charset="0"/>
              </a:rPr>
              <a:t>strata-specific weights:</a:t>
            </a:r>
          </a:p>
          <a:p>
            <a:pPr lvl="2"/>
            <a:r>
              <a:rPr lang="en-US" sz="2400" dirty="0">
                <a:cs typeface="Times New Roman" panose="02020603050405020304" pitchFamily="18" charset="0"/>
              </a:rPr>
              <a:t>Likelihood of being in each bin across treatment/control groups</a:t>
            </a:r>
          </a:p>
          <a:p>
            <a:pPr marL="731520" lvl="1" indent="-457200">
              <a:buFont typeface="+mj-lt"/>
              <a:buAutoNum type="arabicPeriod"/>
            </a:pPr>
            <a:r>
              <a:rPr lang="en-US" sz="2400" dirty="0">
                <a:cs typeface="Times New Roman" panose="02020603050405020304" pitchFamily="18" charset="0"/>
              </a:rPr>
              <a:t>Calculate the weighted average effect of unemployment benefits </a:t>
            </a:r>
          </a:p>
          <a:p>
            <a:pPr marL="274320" lvl="1" indent="0">
              <a:buNone/>
            </a:pPr>
            <a:r>
              <a:rPr lang="en-US" sz="3200" u="sng" dirty="0">
                <a:cs typeface="Times New Roman" panose="02020603050405020304" pitchFamily="18" charset="0"/>
              </a:rPr>
              <a:t>A note on </a:t>
            </a:r>
            <a:r>
              <a:rPr lang="en-US" sz="3200" b="1" u="sng" dirty="0">
                <a:solidFill>
                  <a:schemeClr val="accent2">
                    <a:lumMod val="75000"/>
                  </a:schemeClr>
                </a:solidFill>
                <a:cs typeface="Times New Roman" panose="02020603050405020304" pitchFamily="18" charset="0"/>
              </a:rPr>
              <a:t>packages</a:t>
            </a:r>
            <a:r>
              <a:rPr lang="en-US" sz="3200" u="sng" dirty="0">
                <a:cs typeface="Times New Roman" panose="02020603050405020304" pitchFamily="18" charset="0"/>
              </a:rPr>
              <a:t> in R</a:t>
            </a:r>
          </a:p>
          <a:p>
            <a:pPr marL="731520" lvl="1" indent="-457200">
              <a:buFont typeface="+mj-lt"/>
              <a:buAutoNum type="arabicPeriod"/>
            </a:pPr>
            <a:endParaRPr lang="en-US" sz="2400"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19345B0C-B728-28E3-25E6-579A4994AD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57611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Curse of Dimensionality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r>
              <a:rPr lang="en-US" sz="2400" b="1" dirty="0">
                <a:cs typeface="Times New Roman" panose="02020603050405020304" pitchFamily="18" charset="0"/>
              </a:rPr>
              <a:t>Subclassification </a:t>
            </a:r>
            <a:r>
              <a:rPr lang="en-US" sz="2400" dirty="0">
                <a:cs typeface="Times New Roman" panose="02020603050405020304" pitchFamily="18" charset="0"/>
              </a:rPr>
              <a:t>works great when you are stratifying with few cells</a:t>
            </a:r>
          </a:p>
          <a:p>
            <a:pPr lvl="1"/>
            <a:r>
              <a:rPr lang="en-US" sz="2400" dirty="0">
                <a:cs typeface="Times New Roman" panose="02020603050405020304" pitchFamily="18" charset="0"/>
              </a:rPr>
              <a:t>Few variables, or binary variables</a:t>
            </a:r>
          </a:p>
          <a:p>
            <a:pPr lvl="1"/>
            <a:r>
              <a:rPr lang="en-US" sz="2400" dirty="0">
                <a:cs typeface="Times New Roman" panose="02020603050405020304" pitchFamily="18" charset="0"/>
              </a:rPr>
              <a:t>How do you pick what the cells should be?</a:t>
            </a:r>
          </a:p>
          <a:p>
            <a:r>
              <a:rPr lang="en-US" sz="2400" dirty="0">
                <a:cs typeface="Times New Roman" panose="02020603050405020304" pitchFamily="18" charset="0"/>
              </a:rPr>
              <a:t>What happens if you want to stratify with too many cells? </a:t>
            </a:r>
          </a:p>
          <a:p>
            <a:r>
              <a:rPr lang="en-US" sz="2400" b="1" dirty="0">
                <a:cs typeface="Times New Roman" panose="02020603050405020304" pitchFamily="18" charset="0"/>
              </a:rPr>
              <a:t>Sparsity problems</a:t>
            </a:r>
            <a:r>
              <a:rPr lang="en-US" sz="2400" dirty="0">
                <a:cs typeface="Times New Roman" panose="02020603050405020304" pitchFamily="18" charset="0"/>
              </a:rPr>
              <a:t>: observations may not match effectively</a:t>
            </a:r>
          </a:p>
          <a:p>
            <a:pPr lvl="1"/>
            <a:r>
              <a:rPr lang="en-US" sz="2400" dirty="0">
                <a:cs typeface="Times New Roman" panose="02020603050405020304" pitchFamily="18" charset="0"/>
              </a:rPr>
              <a:t>Many cells may contain either only treatment units or only control units</a:t>
            </a:r>
          </a:p>
          <a:p>
            <a:pPr marL="731520" lvl="1" indent="-457200">
              <a:buFont typeface="+mj-lt"/>
              <a:buAutoNum type="arabicPeriod"/>
            </a:pPr>
            <a:endParaRPr lang="en-US" sz="2400" dirty="0">
              <a:cs typeface="Times New Roman" panose="02020603050405020304" pitchFamily="18" charset="0"/>
            </a:endParaRPr>
          </a:p>
        </p:txBody>
      </p:sp>
    </p:spTree>
    <p:extLst>
      <p:ext uri="{BB962C8B-B14F-4D97-AF65-F5344CB8AC3E}">
        <p14:creationId xmlns:p14="http://schemas.microsoft.com/office/powerpoint/2010/main" val="1990483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Curse of Dimensionality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b="1" dirty="0">
                    <a:cs typeface="Times New Roman" panose="02020603050405020304" pitchFamily="18" charset="0"/>
                  </a:rPr>
                  <a:t>Subclassification </a:t>
                </a:r>
                <a:r>
                  <a:rPr lang="en-US" sz="2400" dirty="0">
                    <a:cs typeface="Times New Roman" panose="02020603050405020304" pitchFamily="18" charset="0"/>
                  </a:rPr>
                  <a:t>works great when you are stratifying with few cells</a:t>
                </a:r>
              </a:p>
              <a:p>
                <a:pPr lvl="1"/>
                <a:r>
                  <a:rPr lang="en-US" sz="2400" dirty="0">
                    <a:cs typeface="Times New Roman" panose="02020603050405020304" pitchFamily="18" charset="0"/>
                  </a:rPr>
                  <a:t>Few variables, or binary variables</a:t>
                </a:r>
              </a:p>
              <a:p>
                <a:pPr lvl="1"/>
                <a:r>
                  <a:rPr lang="en-US" sz="2400" dirty="0">
                    <a:cs typeface="Times New Roman" panose="02020603050405020304" pitchFamily="18" charset="0"/>
                  </a:rPr>
                  <a:t>How do you pick what the cells should be?</a:t>
                </a:r>
              </a:p>
              <a:p>
                <a:r>
                  <a:rPr lang="en-US" sz="2400" dirty="0">
                    <a:cs typeface="Times New Roman" panose="02020603050405020304" pitchFamily="18" charset="0"/>
                  </a:rPr>
                  <a:t>What happens if you want to stratify with too many cells? </a:t>
                </a:r>
              </a:p>
              <a:p>
                <a:r>
                  <a:rPr lang="en-US" sz="2400" b="1" dirty="0">
                    <a:cs typeface="Times New Roman" panose="02020603050405020304" pitchFamily="18" charset="0"/>
                  </a:rPr>
                  <a:t>Sparsity problems</a:t>
                </a:r>
                <a:r>
                  <a:rPr lang="en-US" sz="2400" dirty="0">
                    <a:cs typeface="Times New Roman" panose="02020603050405020304" pitchFamily="18" charset="0"/>
                  </a:rPr>
                  <a:t>: observations may not match effectively</a:t>
                </a:r>
              </a:p>
              <a:p>
                <a:pPr lvl="1"/>
                <a:r>
                  <a:rPr lang="en-US" sz="2400" dirty="0">
                    <a:cs typeface="Times New Roman" panose="02020603050405020304" pitchFamily="18" charset="0"/>
                  </a:rPr>
                  <a:t>Many cells may contain either only treatment units or only control units</a:t>
                </a:r>
              </a:p>
              <a:p>
                <a:pPr marL="274320" lvl="1" indent="0">
                  <a:buNone/>
                </a:pPr>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This can be formalized in the </a:t>
                </a:r>
                <a:r>
                  <a:rPr lang="en-US" sz="2400" b="1" dirty="0">
                    <a:solidFill>
                      <a:schemeClr val="accent2">
                        <a:lumMod val="75000"/>
                      </a:schemeClr>
                    </a:solidFill>
                    <a:cs typeface="Times New Roman" panose="02020603050405020304" pitchFamily="18" charset="0"/>
                  </a:rPr>
                  <a:t>common support assumption </a:t>
                </a:r>
                <a:r>
                  <a:rPr lang="en-US" sz="2400" dirty="0">
                    <a:cs typeface="Times New Roman" panose="02020603050405020304" pitchFamily="18" charset="0"/>
                  </a:rPr>
                  <a:t>of matching:</a:t>
                </a:r>
              </a:p>
              <a:p>
                <a:pPr lvl="1"/>
                <a:r>
                  <a:rPr lang="en-US" sz="2400" dirty="0">
                    <a:cs typeface="Times New Roman" panose="02020603050405020304" pitchFamily="18" charset="0"/>
                  </a:rPr>
                  <a:t>Any (useful) cell should include both treated and control units </a:t>
                </a:r>
              </a:p>
              <a:p>
                <a:pPr marL="274320" lvl="1"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0&lt;</m:t>
                      </m:r>
                      <m:func>
                        <m:funcPr>
                          <m:ctrlPr>
                            <a:rPr lang="en-US" sz="2400" b="0" i="0"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Pr</m:t>
                          </m:r>
                        </m:fName>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=1</m:t>
                              </m:r>
                            </m:e>
                            <m:e>
                              <m:r>
                                <a:rPr lang="en-US" sz="2400" b="0" i="1" smtClean="0">
                                  <a:latin typeface="Cambria Math" panose="02040503050406030204" pitchFamily="18" charset="0"/>
                                  <a:cs typeface="Times New Roman" panose="02020603050405020304" pitchFamily="18" charset="0"/>
                                </a:rPr>
                                <m:t>𝑋</m:t>
                              </m:r>
                            </m:e>
                          </m:d>
                        </m:e>
                      </m:func>
                      <m:r>
                        <a:rPr lang="en-US" sz="2400" b="0" i="1" smtClean="0">
                          <a:latin typeface="Cambria Math" panose="02040503050406030204" pitchFamily="18" charset="0"/>
                          <a:cs typeface="Times New Roman" panose="02020603050405020304" pitchFamily="18" charset="0"/>
                        </a:rPr>
                        <m:t>&lt;1</m:t>
                      </m:r>
                    </m:oMath>
                  </m:oMathPara>
                </a14:m>
                <a:endParaRPr lang="en-US" sz="2400" dirty="0">
                  <a:cs typeface="Times New Roman" panose="02020603050405020304" pitchFamily="18" charset="0"/>
                </a:endParaRPr>
              </a:p>
              <a:p>
                <a:pPr marL="731520" lvl="1" indent="-457200">
                  <a:buFont typeface="+mj-lt"/>
                  <a:buAutoNum type="arabicPeriod"/>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US">
                    <a:noFill/>
                  </a:rPr>
                  <a:t> </a:t>
                </a:r>
              </a:p>
            </p:txBody>
          </p:sp>
        </mc:Fallback>
      </mc:AlternateContent>
    </p:spTree>
    <p:extLst>
      <p:ext uri="{BB962C8B-B14F-4D97-AF65-F5344CB8AC3E}">
        <p14:creationId xmlns:p14="http://schemas.microsoft.com/office/powerpoint/2010/main" val="6095334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p:txBody>
          <a:bodyPr/>
          <a:lstStyle/>
          <a:p>
            <a:r>
              <a:rPr lang="en-US" dirty="0"/>
              <a:t>Matching Techniques: </a:t>
            </a:r>
            <a:br>
              <a:rPr lang="en-US" dirty="0"/>
            </a:br>
            <a:r>
              <a:rPr lang="en-US" dirty="0"/>
              <a:t>Multiple Variables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949748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Exact Matching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marL="274320" lvl="1" indent="0">
              <a:buNone/>
            </a:pPr>
            <a:r>
              <a:rPr lang="en-US" sz="2400" dirty="0">
                <a:cs typeface="Times New Roman" panose="02020603050405020304" pitchFamily="18" charset="0"/>
              </a:rPr>
              <a:t>Matching with multiple variables quickly runs into </a:t>
            </a:r>
            <a:r>
              <a:rPr lang="en-US" sz="2400" b="1" dirty="0">
                <a:cs typeface="Times New Roman" panose="02020603050405020304" pitchFamily="18" charset="0"/>
              </a:rPr>
              <a:t>curse of dimensionality</a:t>
            </a:r>
          </a:p>
          <a:p>
            <a:pPr lvl="1"/>
            <a:r>
              <a:rPr lang="en-US" sz="2400" dirty="0">
                <a:cs typeface="Times New Roman" panose="02020603050405020304" pitchFamily="18" charset="0"/>
              </a:rPr>
              <a:t>Can’t manually define cells with sufficient observations</a:t>
            </a:r>
          </a:p>
          <a:p>
            <a:pPr lvl="1"/>
            <a:r>
              <a:rPr lang="en-US" sz="2400" dirty="0">
                <a:cs typeface="Times New Roman" panose="02020603050405020304" pitchFamily="18" charset="0"/>
              </a:rPr>
              <a:t>But can we still form a one-to-one comparison across observations?</a:t>
            </a:r>
          </a:p>
          <a:p>
            <a:pPr marL="274320" lvl="1"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4951238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Exact Matching</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pPr marL="274320" lvl="1" indent="0">
                  <a:buNone/>
                </a:pPr>
                <a:r>
                  <a:rPr lang="en-US" sz="2400" dirty="0">
                    <a:cs typeface="Times New Roman" panose="02020603050405020304" pitchFamily="18" charset="0"/>
                  </a:rPr>
                  <a:t>Matching with multiple variables quickly runs into </a:t>
                </a:r>
                <a:r>
                  <a:rPr lang="en-US" sz="2400" b="1" dirty="0">
                    <a:cs typeface="Times New Roman" panose="02020603050405020304" pitchFamily="18" charset="0"/>
                  </a:rPr>
                  <a:t>curse of dimensionality</a:t>
                </a:r>
              </a:p>
              <a:p>
                <a:pPr lvl="1"/>
                <a:r>
                  <a:rPr lang="en-US" sz="2400" dirty="0">
                    <a:cs typeface="Times New Roman" panose="02020603050405020304" pitchFamily="18" charset="0"/>
                  </a:rPr>
                  <a:t>Can’t manually define cells with sufficient observations</a:t>
                </a:r>
              </a:p>
              <a:p>
                <a:pPr lvl="1"/>
                <a:r>
                  <a:rPr lang="en-US" sz="2400" dirty="0">
                    <a:cs typeface="Times New Roman" panose="02020603050405020304" pitchFamily="18" charset="0"/>
                  </a:rPr>
                  <a:t>But can we still form a one-to-one comparison across observations?</a:t>
                </a:r>
              </a:p>
              <a:p>
                <a:r>
                  <a:rPr lang="en-US" sz="2600" dirty="0">
                    <a:cs typeface="Times New Roman" panose="02020603050405020304" pitchFamily="18" charset="0"/>
                  </a:rPr>
                  <a:t>Our goal is to get a matching estimator of the form:</a:t>
                </a:r>
              </a:p>
              <a:p>
                <a:pPr marL="0" indent="0">
                  <a:buNone/>
                </a:pPr>
                <a14:m>
                  <m:oMathPara xmlns:m="http://schemas.openxmlformats.org/officeDocument/2006/math">
                    <m:oMath>
                      <m:sSub>
                        <m:sSubPr>
                          <m:ctrlPr>
                            <a:rPr lang="en-US" sz="2600" b="0" i="1" smtClean="0">
                              <a:latin typeface="Cambria Math" panose="02040503050406030204" pitchFamily="18" charset="0"/>
                              <a:cs typeface="Times New Roman" panose="02020603050405020304" pitchFamily="18" charset="0"/>
                            </a:rPr>
                          </m:ctrlPr>
                        </m:sSubPr>
                        <m:e>
                          <m:acc>
                            <m:accPr>
                              <m:chr m:val="̂"/>
                              <m:ctrlPr>
                                <a:rPr lang="en-US" sz="2600" b="0" i="1" smtClean="0">
                                  <a:latin typeface="Cambria Math" panose="02040503050406030204" pitchFamily="18" charset="0"/>
                                  <a:cs typeface="Times New Roman" panose="02020603050405020304" pitchFamily="18" charset="0"/>
                                </a:rPr>
                              </m:ctrlPr>
                            </m:accPr>
                            <m:e>
                              <m:r>
                                <a:rPr lang="en-US" sz="2600" b="0" i="1" smtClean="0">
                                  <a:latin typeface="Cambria Math" panose="02040503050406030204" pitchFamily="18" charset="0"/>
                                  <a:cs typeface="Times New Roman" panose="02020603050405020304" pitchFamily="18" charset="0"/>
                                </a:rPr>
                                <m:t>𝛿</m:t>
                              </m:r>
                            </m:e>
                          </m:acc>
                        </m:e>
                        <m:sub>
                          <m:r>
                            <a:rPr lang="en-US" sz="2400" b="0" i="1" dirty="0" smtClean="0">
                              <a:latin typeface="Cambria Math" panose="02040503050406030204" pitchFamily="18" charset="0"/>
                              <a:cs typeface="Times New Roman" panose="02020603050405020304" pitchFamily="18" charset="0"/>
                            </a:rPr>
                            <m:t>𝐴𝑇𝐸</m:t>
                          </m:r>
                        </m:sub>
                      </m:sSub>
                      <m:r>
                        <a:rPr lang="en-US" sz="2400" b="0" i="1" dirty="0" smtClean="0">
                          <a:latin typeface="Cambria Math" panose="02040503050406030204" pitchFamily="18" charset="0"/>
                          <a:cs typeface="Times New Roman" panose="02020603050405020304" pitchFamily="18" charset="0"/>
                        </a:rPr>
                        <m:t>=</m:t>
                      </m:r>
                      <m:f>
                        <m:fPr>
                          <m:ctrlPr>
                            <a:rPr lang="en-US" sz="2400" b="0" i="1" dirty="0" smtClean="0">
                              <a:latin typeface="Cambria Math" panose="02040503050406030204" pitchFamily="18" charset="0"/>
                              <a:cs typeface="Times New Roman" panose="02020603050405020304" pitchFamily="18" charset="0"/>
                            </a:rPr>
                          </m:ctrlPr>
                        </m:fPr>
                        <m:num>
                          <m:r>
                            <a:rPr lang="en-US" sz="2400" b="0" i="1" dirty="0" smtClean="0">
                              <a:latin typeface="Cambria Math" panose="02040503050406030204" pitchFamily="18" charset="0"/>
                              <a:cs typeface="Times New Roman" panose="02020603050405020304" pitchFamily="18" charset="0"/>
                            </a:rPr>
                            <m:t>1</m:t>
                          </m:r>
                        </m:num>
                        <m:den>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𝑁</m:t>
                              </m:r>
                            </m:e>
                            <m:sub>
                              <m:r>
                                <a:rPr lang="en-US" sz="2400" b="0" i="1" dirty="0" smtClean="0">
                                  <a:latin typeface="Cambria Math" panose="02040503050406030204" pitchFamily="18" charset="0"/>
                                  <a:cs typeface="Times New Roman" panose="02020603050405020304" pitchFamily="18" charset="0"/>
                                </a:rPr>
                                <m:t>𝑇</m:t>
                              </m:r>
                            </m:sub>
                          </m:sSub>
                        </m:den>
                      </m:f>
                      <m:nary>
                        <m:naryPr>
                          <m:chr m:val="∑"/>
                          <m:supHide m:val="on"/>
                          <m:ctrlPr>
                            <a:rPr lang="en-US" sz="2400" b="0" i="1" dirty="0" smtClean="0">
                              <a:latin typeface="Cambria Math" panose="02040503050406030204" pitchFamily="18" charset="0"/>
                              <a:cs typeface="Times New Roman" panose="02020603050405020304" pitchFamily="18" charset="0"/>
                            </a:rPr>
                          </m:ctrlPr>
                        </m:naryPr>
                        <m:sub>
                          <m:r>
                            <m:rPr>
                              <m:brk m:alnAt="7"/>
                            </m:rPr>
                            <a:rPr lang="en-US" sz="2400" b="0" i="1" dirty="0" smtClean="0">
                              <a:latin typeface="Cambria Math" panose="02040503050406030204" pitchFamily="18" charset="0"/>
                              <a:cs typeface="Times New Roman" panose="02020603050405020304" pitchFamily="18" charset="0"/>
                            </a:rPr>
                            <m:t>𝑖</m:t>
                          </m:r>
                        </m:sub>
                        <m:sup/>
                        <m:e>
                          <m:r>
                            <a:rPr lang="en-US" sz="2400" b="0" i="1" dirty="0" smtClean="0">
                              <a:solidFill>
                                <a:schemeClr val="accent2">
                                  <a:lumMod val="75000"/>
                                </a:schemeClr>
                              </a:solidFill>
                              <a:latin typeface="Cambria Math" panose="02040503050406030204" pitchFamily="18" charset="0"/>
                              <a:cs typeface="Times New Roman" panose="02020603050405020304" pitchFamily="18" charset="0"/>
                            </a:rPr>
                            <m:t>(2</m:t>
                          </m:r>
                          <m:sSub>
                            <m:sSubPr>
                              <m:ctrlPr>
                                <a:rPr lang="en-US" sz="2400" b="0" i="1" dirty="0"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dirty="0" smtClean="0">
                                  <a:solidFill>
                                    <a:schemeClr val="accent2">
                                      <a:lumMod val="75000"/>
                                    </a:schemeClr>
                                  </a:solidFill>
                                  <a:latin typeface="Cambria Math" panose="02040503050406030204" pitchFamily="18" charset="0"/>
                                  <a:cs typeface="Times New Roman" panose="02020603050405020304" pitchFamily="18" charset="0"/>
                                </a:rPr>
                                <m:t>𝐷</m:t>
                              </m:r>
                            </m:e>
                            <m:sub>
                              <m:r>
                                <a:rPr lang="en-US" sz="2400" b="0" i="1" dirty="0" smtClean="0">
                                  <a:solidFill>
                                    <a:schemeClr val="accent2">
                                      <a:lumMod val="75000"/>
                                    </a:schemeClr>
                                  </a:solidFill>
                                  <a:latin typeface="Cambria Math" panose="02040503050406030204" pitchFamily="18" charset="0"/>
                                  <a:cs typeface="Times New Roman" panose="02020603050405020304" pitchFamily="18" charset="0"/>
                                </a:rPr>
                                <m:t>𝑖</m:t>
                              </m:r>
                            </m:sub>
                          </m:sSub>
                          <m:r>
                            <a:rPr lang="en-US" sz="2400" b="0" i="1" dirty="0" smtClean="0">
                              <a:solidFill>
                                <a:schemeClr val="accent2">
                                  <a:lumMod val="75000"/>
                                </a:schemeClr>
                              </a:solidFill>
                              <a:latin typeface="Cambria Math" panose="02040503050406030204" pitchFamily="18" charset="0"/>
                              <a:cs typeface="Times New Roman" panose="02020603050405020304" pitchFamily="18" charset="0"/>
                            </a:rPr>
                            <m:t>−1)</m:t>
                          </m:r>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m:t>
                              </m:r>
                              <m:r>
                                <a:rPr lang="en-US" sz="2400" b="0" i="1" dirty="0" smtClean="0">
                                  <a:latin typeface="Cambria Math" panose="02040503050406030204" pitchFamily="18" charset="0"/>
                                  <a:cs typeface="Times New Roman" panose="02020603050405020304" pitchFamily="18" charset="0"/>
                                </a:rPr>
                                <m:t>𝑌</m:t>
                              </m:r>
                            </m:e>
                            <m:sub>
                              <m:r>
                                <a:rPr lang="en-US" sz="2400" b="0" i="1" dirty="0" smtClean="0">
                                  <a:latin typeface="Cambria Math" panose="02040503050406030204" pitchFamily="18" charset="0"/>
                                  <a:cs typeface="Times New Roman" panose="02020603050405020304" pitchFamily="18" charset="0"/>
                                </a:rPr>
                                <m:t>𝑖</m:t>
                              </m:r>
                            </m:sub>
                          </m:sSub>
                          <m:r>
                            <a:rPr lang="en-US" sz="2400" b="0" i="1" dirty="0" smtClean="0">
                              <a:latin typeface="Cambria Math" panose="02040503050406030204" pitchFamily="18" charset="0"/>
                              <a:cs typeface="Times New Roman" panose="02020603050405020304" pitchFamily="18" charset="0"/>
                            </a:rPr>
                            <m:t>−</m:t>
                          </m:r>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𝑌</m:t>
                              </m:r>
                            </m:e>
                            <m:sub>
                              <m:r>
                                <a:rPr lang="en-US" sz="2400" b="0" i="1" dirty="0" smtClean="0">
                                  <a:latin typeface="Cambria Math" panose="02040503050406030204" pitchFamily="18" charset="0"/>
                                  <a:cs typeface="Times New Roman" panose="02020603050405020304" pitchFamily="18" charset="0"/>
                                </a:rPr>
                                <m:t>𝑗</m:t>
                              </m:r>
                              <m:d>
                                <m:dPr>
                                  <m:ctrlPr>
                                    <a:rPr lang="en-US" sz="2400" b="0" i="1" dirty="0" smtClean="0">
                                      <a:latin typeface="Cambria Math" panose="02040503050406030204" pitchFamily="18" charset="0"/>
                                      <a:cs typeface="Times New Roman" panose="02020603050405020304" pitchFamily="18" charset="0"/>
                                    </a:rPr>
                                  </m:ctrlPr>
                                </m:dPr>
                                <m:e>
                                  <m:r>
                                    <a:rPr lang="en-US" sz="2400" b="0" i="1" dirty="0" smtClean="0">
                                      <a:latin typeface="Cambria Math" panose="02040503050406030204" pitchFamily="18" charset="0"/>
                                      <a:cs typeface="Times New Roman" panose="02020603050405020304" pitchFamily="18" charset="0"/>
                                    </a:rPr>
                                    <m:t>𝑖</m:t>
                                  </m:r>
                                </m:e>
                              </m:d>
                            </m:sub>
                          </m:sSub>
                          <m:r>
                            <a:rPr lang="en-US" sz="2400" b="0" i="1" dirty="0" smtClean="0">
                              <a:latin typeface="Cambria Math" panose="02040503050406030204" pitchFamily="18" charset="0"/>
                              <a:cs typeface="Times New Roman" panose="02020603050405020304" pitchFamily="18" charset="0"/>
                            </a:rPr>
                            <m:t>)</m:t>
                          </m:r>
                        </m:e>
                      </m:nary>
                    </m:oMath>
                  </m:oMathPara>
                </a14:m>
                <a:endParaRPr lang="en-US" sz="2600" dirty="0">
                  <a:cs typeface="Times New Roman" panose="02020603050405020304" pitchFamily="18" charset="0"/>
                </a:endParaRPr>
              </a:p>
              <a:p>
                <a:pPr lvl="1"/>
                <a:r>
                  <a:rPr lang="en-US" sz="2400" dirty="0">
                    <a:cs typeface="Times New Roman" panose="02020603050405020304" pitchFamily="18" charset="0"/>
                  </a:rPr>
                  <a:t>We just need to define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𝑗</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m:t>
                            </m:r>
                          </m:e>
                        </m:d>
                      </m:sub>
                    </m:sSub>
                  </m:oMath>
                </a14:m>
                <a:r>
                  <a:rPr lang="en-US" sz="2400" dirty="0">
                    <a:cs typeface="Times New Roman" panose="02020603050405020304" pitchFamily="18" charset="0"/>
                  </a:rPr>
                  <a:t> with some notion of the “closest” observation</a:t>
                </a:r>
              </a:p>
              <a:p>
                <a:pPr marL="274320" lvl="1"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525" t="-1661"/>
                </a:stretch>
              </a:blipFill>
            </p:spPr>
            <p:txBody>
              <a:bodyPr/>
              <a:lstStyle/>
              <a:p>
                <a:r>
                  <a:rPr lang="en-US">
                    <a:noFill/>
                  </a:rPr>
                  <a:t> </a:t>
                </a:r>
              </a:p>
            </p:txBody>
          </p:sp>
        </mc:Fallback>
      </mc:AlternateContent>
    </p:spTree>
    <p:extLst>
      <p:ext uri="{BB962C8B-B14F-4D97-AF65-F5344CB8AC3E}">
        <p14:creationId xmlns:p14="http://schemas.microsoft.com/office/powerpoint/2010/main" val="2038446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Exact Matching</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pPr marL="274320" lvl="1" indent="0">
                  <a:buNone/>
                </a:pPr>
                <a:r>
                  <a:rPr lang="en-US" sz="2400" dirty="0">
                    <a:cs typeface="Times New Roman" panose="02020603050405020304" pitchFamily="18" charset="0"/>
                  </a:rPr>
                  <a:t>Matching with multiple variables quickly runs into </a:t>
                </a:r>
                <a:r>
                  <a:rPr lang="en-US" sz="2400" b="1" dirty="0">
                    <a:cs typeface="Times New Roman" panose="02020603050405020304" pitchFamily="18" charset="0"/>
                  </a:rPr>
                  <a:t>curse of dimensionality</a:t>
                </a:r>
              </a:p>
              <a:p>
                <a:pPr lvl="1"/>
                <a:r>
                  <a:rPr lang="en-US" sz="2400" dirty="0">
                    <a:cs typeface="Times New Roman" panose="02020603050405020304" pitchFamily="18" charset="0"/>
                  </a:rPr>
                  <a:t>Can’t manually define cells with sufficient observations</a:t>
                </a:r>
              </a:p>
              <a:p>
                <a:pPr lvl="1"/>
                <a:r>
                  <a:rPr lang="en-US" sz="2400" dirty="0">
                    <a:cs typeface="Times New Roman" panose="02020603050405020304" pitchFamily="18" charset="0"/>
                  </a:rPr>
                  <a:t>But can we still form a one-to-one comparison across observations?</a:t>
                </a:r>
              </a:p>
              <a:p>
                <a:r>
                  <a:rPr lang="en-US" sz="2600" dirty="0">
                    <a:cs typeface="Times New Roman" panose="02020603050405020304" pitchFamily="18" charset="0"/>
                  </a:rPr>
                  <a:t>Our goal is to get a matching estimator of the form:</a:t>
                </a:r>
              </a:p>
              <a:p>
                <a:pPr marL="0" indent="0">
                  <a:buNone/>
                </a:pPr>
                <a14:m>
                  <m:oMathPara xmlns:m="http://schemas.openxmlformats.org/officeDocument/2006/math">
                    <m:oMath>
                      <m:sSub>
                        <m:sSubPr>
                          <m:ctrlPr>
                            <a:rPr lang="en-US" sz="2600" b="0" i="1" smtClean="0">
                              <a:latin typeface="Cambria Math" panose="02040503050406030204" pitchFamily="18" charset="0"/>
                              <a:cs typeface="Times New Roman" panose="02020603050405020304" pitchFamily="18" charset="0"/>
                            </a:rPr>
                          </m:ctrlPr>
                        </m:sSubPr>
                        <m:e>
                          <m:acc>
                            <m:accPr>
                              <m:chr m:val="̂"/>
                              <m:ctrlPr>
                                <a:rPr lang="en-US" sz="2600" b="0" i="1" smtClean="0">
                                  <a:latin typeface="Cambria Math" panose="02040503050406030204" pitchFamily="18" charset="0"/>
                                  <a:cs typeface="Times New Roman" panose="02020603050405020304" pitchFamily="18" charset="0"/>
                                </a:rPr>
                              </m:ctrlPr>
                            </m:accPr>
                            <m:e>
                              <m:r>
                                <a:rPr lang="en-US" sz="2600" b="0" i="1" smtClean="0">
                                  <a:latin typeface="Cambria Math" panose="02040503050406030204" pitchFamily="18" charset="0"/>
                                  <a:cs typeface="Times New Roman" panose="02020603050405020304" pitchFamily="18" charset="0"/>
                                </a:rPr>
                                <m:t>𝛿</m:t>
                              </m:r>
                            </m:e>
                          </m:acc>
                        </m:e>
                        <m:sub>
                          <m:r>
                            <a:rPr lang="en-US" sz="2400" b="0" i="1" dirty="0" smtClean="0">
                              <a:latin typeface="Cambria Math" panose="02040503050406030204" pitchFamily="18" charset="0"/>
                              <a:cs typeface="Times New Roman" panose="02020603050405020304" pitchFamily="18" charset="0"/>
                            </a:rPr>
                            <m:t>𝐴𝑇𝐸</m:t>
                          </m:r>
                        </m:sub>
                      </m:sSub>
                      <m:r>
                        <a:rPr lang="en-US" sz="2400" b="0" i="1" dirty="0" smtClean="0">
                          <a:latin typeface="Cambria Math" panose="02040503050406030204" pitchFamily="18" charset="0"/>
                          <a:cs typeface="Times New Roman" panose="02020603050405020304" pitchFamily="18" charset="0"/>
                        </a:rPr>
                        <m:t>=</m:t>
                      </m:r>
                      <m:f>
                        <m:fPr>
                          <m:ctrlPr>
                            <a:rPr lang="en-US" sz="2400" b="0" i="1" dirty="0" smtClean="0">
                              <a:latin typeface="Cambria Math" panose="02040503050406030204" pitchFamily="18" charset="0"/>
                              <a:cs typeface="Times New Roman" panose="02020603050405020304" pitchFamily="18" charset="0"/>
                            </a:rPr>
                          </m:ctrlPr>
                        </m:fPr>
                        <m:num>
                          <m:r>
                            <a:rPr lang="en-US" sz="2400" b="0" i="1" dirty="0" smtClean="0">
                              <a:latin typeface="Cambria Math" panose="02040503050406030204" pitchFamily="18" charset="0"/>
                              <a:cs typeface="Times New Roman" panose="02020603050405020304" pitchFamily="18" charset="0"/>
                            </a:rPr>
                            <m:t>1</m:t>
                          </m:r>
                        </m:num>
                        <m:den>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𝑁</m:t>
                              </m:r>
                            </m:e>
                            <m:sub>
                              <m:r>
                                <a:rPr lang="en-US" sz="2400" b="0" i="1" dirty="0" smtClean="0">
                                  <a:latin typeface="Cambria Math" panose="02040503050406030204" pitchFamily="18" charset="0"/>
                                  <a:cs typeface="Times New Roman" panose="02020603050405020304" pitchFamily="18" charset="0"/>
                                </a:rPr>
                                <m:t>𝑇</m:t>
                              </m:r>
                            </m:sub>
                          </m:sSub>
                        </m:den>
                      </m:f>
                      <m:nary>
                        <m:naryPr>
                          <m:chr m:val="∑"/>
                          <m:supHide m:val="on"/>
                          <m:ctrlPr>
                            <a:rPr lang="en-US" sz="2400" b="0" i="1" dirty="0" smtClean="0">
                              <a:latin typeface="Cambria Math" panose="02040503050406030204" pitchFamily="18" charset="0"/>
                              <a:cs typeface="Times New Roman" panose="02020603050405020304" pitchFamily="18" charset="0"/>
                            </a:rPr>
                          </m:ctrlPr>
                        </m:naryPr>
                        <m:sub>
                          <m:r>
                            <m:rPr>
                              <m:brk m:alnAt="7"/>
                            </m:rPr>
                            <a:rPr lang="en-US" sz="2400" b="0" i="1" dirty="0" smtClean="0">
                              <a:latin typeface="Cambria Math" panose="02040503050406030204" pitchFamily="18" charset="0"/>
                              <a:cs typeface="Times New Roman" panose="02020603050405020304" pitchFamily="18" charset="0"/>
                            </a:rPr>
                            <m:t>𝑖</m:t>
                          </m:r>
                        </m:sub>
                        <m:sup/>
                        <m:e>
                          <m:r>
                            <a:rPr lang="en-US" sz="2400" b="0" i="1" dirty="0" smtClean="0">
                              <a:solidFill>
                                <a:schemeClr val="accent2">
                                  <a:lumMod val="75000"/>
                                </a:schemeClr>
                              </a:solidFill>
                              <a:latin typeface="Cambria Math" panose="02040503050406030204" pitchFamily="18" charset="0"/>
                              <a:cs typeface="Times New Roman" panose="02020603050405020304" pitchFamily="18" charset="0"/>
                            </a:rPr>
                            <m:t>(2</m:t>
                          </m:r>
                          <m:sSub>
                            <m:sSubPr>
                              <m:ctrlPr>
                                <a:rPr lang="en-US" sz="2400" b="0" i="1" dirty="0"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dirty="0" smtClean="0">
                                  <a:solidFill>
                                    <a:schemeClr val="accent2">
                                      <a:lumMod val="75000"/>
                                    </a:schemeClr>
                                  </a:solidFill>
                                  <a:latin typeface="Cambria Math" panose="02040503050406030204" pitchFamily="18" charset="0"/>
                                  <a:cs typeface="Times New Roman" panose="02020603050405020304" pitchFamily="18" charset="0"/>
                                </a:rPr>
                                <m:t>𝐷</m:t>
                              </m:r>
                            </m:e>
                            <m:sub>
                              <m:r>
                                <a:rPr lang="en-US" sz="2400" b="0" i="1" dirty="0" smtClean="0">
                                  <a:solidFill>
                                    <a:schemeClr val="accent2">
                                      <a:lumMod val="75000"/>
                                    </a:schemeClr>
                                  </a:solidFill>
                                  <a:latin typeface="Cambria Math" panose="02040503050406030204" pitchFamily="18" charset="0"/>
                                  <a:cs typeface="Times New Roman" panose="02020603050405020304" pitchFamily="18" charset="0"/>
                                </a:rPr>
                                <m:t>𝑖</m:t>
                              </m:r>
                            </m:sub>
                          </m:sSub>
                          <m:r>
                            <a:rPr lang="en-US" sz="2400" b="0" i="1" dirty="0" smtClean="0">
                              <a:solidFill>
                                <a:schemeClr val="accent2">
                                  <a:lumMod val="75000"/>
                                </a:schemeClr>
                              </a:solidFill>
                              <a:latin typeface="Cambria Math" panose="02040503050406030204" pitchFamily="18" charset="0"/>
                              <a:cs typeface="Times New Roman" panose="02020603050405020304" pitchFamily="18" charset="0"/>
                            </a:rPr>
                            <m:t>−1)</m:t>
                          </m:r>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m:t>
                              </m:r>
                              <m:r>
                                <a:rPr lang="en-US" sz="2400" b="0" i="1" dirty="0" smtClean="0">
                                  <a:latin typeface="Cambria Math" panose="02040503050406030204" pitchFamily="18" charset="0"/>
                                  <a:cs typeface="Times New Roman" panose="02020603050405020304" pitchFamily="18" charset="0"/>
                                </a:rPr>
                                <m:t>𝑌</m:t>
                              </m:r>
                            </m:e>
                            <m:sub>
                              <m:r>
                                <a:rPr lang="en-US" sz="2400" b="0" i="1" dirty="0" smtClean="0">
                                  <a:latin typeface="Cambria Math" panose="02040503050406030204" pitchFamily="18" charset="0"/>
                                  <a:cs typeface="Times New Roman" panose="02020603050405020304" pitchFamily="18" charset="0"/>
                                </a:rPr>
                                <m:t>𝑖</m:t>
                              </m:r>
                            </m:sub>
                          </m:sSub>
                          <m:r>
                            <a:rPr lang="en-US" sz="2400" b="0" i="1" dirty="0" smtClean="0">
                              <a:latin typeface="Cambria Math" panose="02040503050406030204" pitchFamily="18" charset="0"/>
                              <a:cs typeface="Times New Roman" panose="02020603050405020304" pitchFamily="18" charset="0"/>
                            </a:rPr>
                            <m:t>−</m:t>
                          </m:r>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𝑌</m:t>
                              </m:r>
                            </m:e>
                            <m:sub>
                              <m:r>
                                <a:rPr lang="en-US" sz="2400" b="0" i="1" dirty="0" smtClean="0">
                                  <a:latin typeface="Cambria Math" panose="02040503050406030204" pitchFamily="18" charset="0"/>
                                  <a:cs typeface="Times New Roman" panose="02020603050405020304" pitchFamily="18" charset="0"/>
                                </a:rPr>
                                <m:t>𝑗</m:t>
                              </m:r>
                              <m:d>
                                <m:dPr>
                                  <m:ctrlPr>
                                    <a:rPr lang="en-US" sz="2400" b="0" i="1" dirty="0" smtClean="0">
                                      <a:latin typeface="Cambria Math" panose="02040503050406030204" pitchFamily="18" charset="0"/>
                                      <a:cs typeface="Times New Roman" panose="02020603050405020304" pitchFamily="18" charset="0"/>
                                    </a:rPr>
                                  </m:ctrlPr>
                                </m:dPr>
                                <m:e>
                                  <m:r>
                                    <a:rPr lang="en-US" sz="2400" b="0" i="1" dirty="0" smtClean="0">
                                      <a:latin typeface="Cambria Math" panose="02040503050406030204" pitchFamily="18" charset="0"/>
                                      <a:cs typeface="Times New Roman" panose="02020603050405020304" pitchFamily="18" charset="0"/>
                                    </a:rPr>
                                    <m:t>𝑖</m:t>
                                  </m:r>
                                </m:e>
                              </m:d>
                            </m:sub>
                          </m:sSub>
                          <m:r>
                            <a:rPr lang="en-US" sz="2400" b="0" i="1" dirty="0" smtClean="0">
                              <a:latin typeface="Cambria Math" panose="02040503050406030204" pitchFamily="18" charset="0"/>
                              <a:cs typeface="Times New Roman" panose="02020603050405020304" pitchFamily="18" charset="0"/>
                            </a:rPr>
                            <m:t>)</m:t>
                          </m:r>
                        </m:e>
                      </m:nary>
                    </m:oMath>
                  </m:oMathPara>
                </a14:m>
                <a:endParaRPr lang="en-US" sz="2600" dirty="0">
                  <a:cs typeface="Times New Roman" panose="02020603050405020304" pitchFamily="18" charset="0"/>
                </a:endParaRPr>
              </a:p>
              <a:p>
                <a:pPr lvl="1"/>
                <a:r>
                  <a:rPr lang="en-US" sz="2400" dirty="0">
                    <a:cs typeface="Times New Roman" panose="02020603050405020304" pitchFamily="18" charset="0"/>
                  </a:rPr>
                  <a:t>We just need to define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𝑗</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m:t>
                            </m:r>
                          </m:e>
                        </m:d>
                      </m:sub>
                    </m:sSub>
                  </m:oMath>
                </a14:m>
                <a:r>
                  <a:rPr lang="en-US" sz="2400" dirty="0">
                    <a:cs typeface="Times New Roman" panose="02020603050405020304" pitchFamily="18" charset="0"/>
                  </a:rPr>
                  <a:t> with some notion of the “closest” observation</a:t>
                </a:r>
              </a:p>
              <a:p>
                <a:r>
                  <a:rPr lang="en-US" sz="2600" dirty="0">
                    <a:cs typeface="Times New Roman" panose="02020603050405020304" pitchFamily="18" charset="0"/>
                  </a:rPr>
                  <a:t>Simplest option: </a:t>
                </a:r>
                <a:r>
                  <a:rPr lang="en-US" sz="2600" b="1" dirty="0">
                    <a:solidFill>
                      <a:schemeClr val="accent2">
                        <a:lumMod val="75000"/>
                      </a:schemeClr>
                    </a:solidFill>
                    <a:cs typeface="Times New Roman" panose="02020603050405020304" pitchFamily="18" charset="0"/>
                  </a:rPr>
                  <a:t>exact matching</a:t>
                </a:r>
                <a:r>
                  <a:rPr lang="en-US" sz="2600" dirty="0">
                    <a:cs typeface="Times New Roman" panose="02020603050405020304" pitchFamily="18" charset="0"/>
                  </a:rPr>
                  <a:t> </a:t>
                </a:r>
              </a:p>
              <a:p>
                <a:pPr lvl="1"/>
                <a:r>
                  <a:rPr lang="en-US" sz="2400" dirty="0">
                    <a:cs typeface="Times New Roman" panose="02020603050405020304" pitchFamily="18" charset="0"/>
                  </a:rPr>
                  <a:t>Keep only treated/control units </a:t>
                </a:r>
                <a:r>
                  <a:rPr lang="en-US" sz="2400" dirty="0">
                    <a:solidFill>
                      <a:schemeClr val="accent2">
                        <a:lumMod val="75000"/>
                      </a:schemeClr>
                    </a:solidFill>
                    <a:cs typeface="Times New Roman" panose="02020603050405020304" pitchFamily="18" charset="0"/>
                  </a:rPr>
                  <a:t>with </a:t>
                </a:r>
                <a:r>
                  <a:rPr lang="en-US" sz="2400" u="sng" dirty="0">
                    <a:solidFill>
                      <a:schemeClr val="accent2">
                        <a:lumMod val="75000"/>
                      </a:schemeClr>
                    </a:solidFill>
                    <a:cs typeface="Times New Roman" panose="02020603050405020304" pitchFamily="18" charset="0"/>
                  </a:rPr>
                  <a:t>exactly the same covariates</a:t>
                </a:r>
              </a:p>
              <a:p>
                <a:pPr lvl="1"/>
                <a:r>
                  <a:rPr lang="en-US" sz="2400" dirty="0">
                    <a:cs typeface="Times New Roman" panose="02020603050405020304" pitchFamily="18" charset="0"/>
                  </a:rPr>
                  <a:t>If there are multiple units, average the outcomes</a:t>
                </a:r>
              </a:p>
              <a:p>
                <a:pPr lvl="1"/>
                <a:r>
                  <a:rPr lang="en-US" sz="2400" dirty="0">
                    <a:cs typeface="Times New Roman" panose="02020603050405020304" pitchFamily="18" charset="0"/>
                  </a:rPr>
                  <a:t>Then compare differences (in weighted averages)</a:t>
                </a:r>
              </a:p>
              <a:p>
                <a:pPr marL="274320" lvl="1"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525" t="-1661"/>
                </a:stretch>
              </a:blipFill>
            </p:spPr>
            <p:txBody>
              <a:bodyPr/>
              <a:lstStyle/>
              <a:p>
                <a:r>
                  <a:rPr lang="en-US">
                    <a:noFill/>
                  </a:rPr>
                  <a:t> </a:t>
                </a:r>
              </a:p>
            </p:txBody>
          </p:sp>
        </mc:Fallback>
      </mc:AlternateContent>
    </p:spTree>
    <p:extLst>
      <p:ext uri="{BB962C8B-B14F-4D97-AF65-F5344CB8AC3E}">
        <p14:creationId xmlns:p14="http://schemas.microsoft.com/office/powerpoint/2010/main" val="17455702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Exact Matching: Problems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1" y="1066801"/>
            <a:ext cx="10363200" cy="5141388"/>
          </a:xfrm>
        </p:spPr>
        <p:txBody>
          <a:bodyPr>
            <a:noAutofit/>
          </a:bodyPr>
          <a:lstStyle/>
          <a:p>
            <a:pPr marL="274320" lvl="1" indent="0">
              <a:buNone/>
            </a:pPr>
            <a:r>
              <a:rPr lang="en-US" sz="2400" dirty="0">
                <a:cs typeface="Times New Roman" panose="02020603050405020304" pitchFamily="18" charset="0"/>
              </a:rPr>
              <a:t>Exact matching has its own problems: </a:t>
            </a:r>
          </a:p>
          <a:p>
            <a:pPr lvl="1"/>
            <a:r>
              <a:rPr lang="en-US" sz="2400" dirty="0">
                <a:cs typeface="Times New Roman" panose="02020603050405020304" pitchFamily="18" charset="0"/>
              </a:rPr>
              <a:t>Small sample sizes (few matches)</a:t>
            </a:r>
          </a:p>
          <a:p>
            <a:pPr lvl="1"/>
            <a:r>
              <a:rPr lang="en-US" sz="2400" dirty="0">
                <a:cs typeface="Times New Roman" panose="02020603050405020304" pitchFamily="18" charset="0"/>
              </a:rPr>
              <a:t>Continuous matching variables</a:t>
            </a:r>
          </a:p>
          <a:p>
            <a:pPr lvl="1"/>
            <a:r>
              <a:rPr lang="en-US" sz="2400" dirty="0">
                <a:cs typeface="Times New Roman" panose="02020603050405020304" pitchFamily="18" charset="0"/>
              </a:rPr>
              <a:t>Inconsistent averages over a few observations (within cells) </a:t>
            </a:r>
          </a:p>
          <a:p>
            <a:pPr lvl="1"/>
            <a:r>
              <a:rPr lang="en-US" sz="2400" dirty="0">
                <a:cs typeface="Times New Roman" panose="02020603050405020304" pitchFamily="18" charset="0"/>
              </a:rPr>
              <a:t>What if the people you are throwing out matter? </a:t>
            </a:r>
          </a:p>
          <a:p>
            <a:pPr marL="0" indent="0">
              <a:buNone/>
            </a:pPr>
            <a:r>
              <a:rPr lang="en-US" sz="2600" dirty="0">
                <a:cs typeface="Times New Roman" panose="02020603050405020304" pitchFamily="18" charset="0"/>
              </a:rPr>
              <a:t>Generalize again! This time to</a:t>
            </a:r>
            <a:r>
              <a:rPr lang="en-US" sz="2600" b="1" dirty="0">
                <a:cs typeface="Times New Roman" panose="02020603050405020304" pitchFamily="18" charset="0"/>
              </a:rPr>
              <a:t> </a:t>
            </a:r>
            <a:r>
              <a:rPr lang="en-US" sz="2600" b="1" dirty="0">
                <a:solidFill>
                  <a:schemeClr val="accent2">
                    <a:lumMod val="75000"/>
                  </a:schemeClr>
                </a:solidFill>
                <a:cs typeface="Times New Roman" panose="02020603050405020304" pitchFamily="18" charset="0"/>
              </a:rPr>
              <a:t>approximate matching: </a:t>
            </a:r>
          </a:p>
          <a:p>
            <a:pPr marL="514350" indent="-514350">
              <a:buFont typeface="+mj-lt"/>
              <a:buAutoNum type="arabicPeriod"/>
            </a:pPr>
            <a:r>
              <a:rPr lang="en-US" sz="2600" b="1" dirty="0">
                <a:solidFill>
                  <a:schemeClr val="accent2">
                    <a:lumMod val="75000"/>
                  </a:schemeClr>
                </a:solidFill>
                <a:cs typeface="Times New Roman" panose="02020603050405020304" pitchFamily="18" charset="0"/>
              </a:rPr>
              <a:t>Nearest Neighbor Methods (NN)</a:t>
            </a:r>
          </a:p>
          <a:p>
            <a:pPr marL="514350" indent="-514350">
              <a:buFont typeface="+mj-lt"/>
              <a:buAutoNum type="arabicPeriod"/>
            </a:pPr>
            <a:r>
              <a:rPr lang="en-US" sz="2600" b="1" dirty="0">
                <a:solidFill>
                  <a:schemeClr val="accent2">
                    <a:lumMod val="75000"/>
                  </a:schemeClr>
                </a:solidFill>
                <a:cs typeface="Times New Roman" panose="02020603050405020304" pitchFamily="18" charset="0"/>
              </a:rPr>
              <a:t>Propensity Score Matching (PSM)</a:t>
            </a:r>
          </a:p>
          <a:p>
            <a:pPr marL="514350" indent="-514350">
              <a:buFont typeface="+mj-lt"/>
              <a:buAutoNum type="arabicPeriod"/>
            </a:pPr>
            <a:r>
              <a:rPr lang="en-US" sz="2600" b="1" dirty="0">
                <a:solidFill>
                  <a:schemeClr val="accent2">
                    <a:lumMod val="75000"/>
                  </a:schemeClr>
                </a:solidFill>
                <a:cs typeface="Times New Roman" panose="02020603050405020304" pitchFamily="18" charset="0"/>
              </a:rPr>
              <a:t>Inverse Probability Weighting (IPW)</a:t>
            </a:r>
            <a:endParaRPr lang="en-US" sz="2600" dirty="0">
              <a:solidFill>
                <a:schemeClr val="accent2">
                  <a:lumMod val="75000"/>
                </a:schemeClr>
              </a:solidFill>
              <a:cs typeface="Times New Roman" panose="02020603050405020304" pitchFamily="18" charset="0"/>
            </a:endParaRPr>
          </a:p>
          <a:p>
            <a:pPr marL="274320" lvl="1"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19776581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Approximate Matching: Nearest Neighbor</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lvl="1"/>
            <a:r>
              <a:rPr lang="en-US" sz="2400" dirty="0">
                <a:cs typeface="Times New Roman" panose="02020603050405020304" pitchFamily="18" charset="0"/>
              </a:rPr>
              <a:t>When exact matches aren’t possible, rely on </a:t>
            </a:r>
            <a:r>
              <a:rPr lang="en-US" sz="2400" b="1" dirty="0">
                <a:solidFill>
                  <a:schemeClr val="accent2">
                    <a:lumMod val="75000"/>
                  </a:schemeClr>
                </a:solidFill>
                <a:cs typeface="Times New Roman" panose="02020603050405020304" pitchFamily="18" charset="0"/>
              </a:rPr>
              <a:t>collection of neighbors</a:t>
            </a:r>
          </a:p>
          <a:p>
            <a:pPr lvl="1"/>
            <a:r>
              <a:rPr lang="en-US" sz="2400" dirty="0">
                <a:solidFill>
                  <a:schemeClr val="tx1"/>
                </a:solidFill>
                <a:cs typeface="Times New Roman" panose="02020603050405020304" pitchFamily="18" charset="0"/>
              </a:rPr>
              <a:t>What does it mean to be a neighbor with multiple variables? </a:t>
            </a:r>
            <a:endParaRPr lang="en-US" sz="22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1962400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Approximate Matching: Nearest Neighbor</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1" y="1066800"/>
                <a:ext cx="10591800" cy="5141388"/>
              </a:xfrm>
            </p:spPr>
            <p:txBody>
              <a:bodyPr>
                <a:noAutofit/>
              </a:bodyPr>
              <a:lstStyle/>
              <a:p>
                <a:pPr lvl="1"/>
                <a:r>
                  <a:rPr lang="en-US" sz="2400" dirty="0">
                    <a:cs typeface="Times New Roman" panose="02020603050405020304" pitchFamily="18" charset="0"/>
                  </a:rPr>
                  <a:t>When exact matches aren’t possible, rely on </a:t>
                </a:r>
                <a:r>
                  <a:rPr lang="en-US" sz="2400" b="1" dirty="0">
                    <a:solidFill>
                      <a:schemeClr val="accent2">
                        <a:lumMod val="75000"/>
                      </a:schemeClr>
                    </a:solidFill>
                    <a:cs typeface="Times New Roman" panose="02020603050405020304" pitchFamily="18" charset="0"/>
                  </a:rPr>
                  <a:t>collection of neighbors</a:t>
                </a:r>
              </a:p>
              <a:p>
                <a:pPr lvl="1"/>
                <a:r>
                  <a:rPr lang="en-US" sz="2400" dirty="0">
                    <a:solidFill>
                      <a:schemeClr val="tx1"/>
                    </a:solidFill>
                    <a:cs typeface="Times New Roman" panose="02020603050405020304" pitchFamily="18" charset="0"/>
                  </a:rPr>
                  <a:t>What does it mean to be a neighbor with multiple variables? </a:t>
                </a:r>
              </a:p>
              <a:p>
                <a:pPr lvl="2"/>
                <a:r>
                  <a:rPr lang="en-US" sz="2400" dirty="0">
                    <a:solidFill>
                      <a:schemeClr val="tx1"/>
                    </a:solidFill>
                    <a:cs typeface="Times New Roman" panose="02020603050405020304" pitchFamily="18" charset="0"/>
                  </a:rPr>
                  <a:t>Need a measure of </a:t>
                </a:r>
                <a:r>
                  <a:rPr lang="en-US" sz="2400" b="1" dirty="0">
                    <a:solidFill>
                      <a:schemeClr val="accent2">
                        <a:lumMod val="75000"/>
                      </a:schemeClr>
                    </a:solidFill>
                    <a:cs typeface="Times New Roman" panose="02020603050405020304" pitchFamily="18" charset="0"/>
                  </a:rPr>
                  <a:t>distance</a:t>
                </a:r>
                <a:r>
                  <a:rPr lang="en-US" sz="2400" b="1" dirty="0">
                    <a:solidFill>
                      <a:schemeClr val="tx1"/>
                    </a:solidFill>
                    <a:cs typeface="Times New Roman" panose="02020603050405020304" pitchFamily="18" charset="0"/>
                  </a:rPr>
                  <a:t> </a:t>
                </a:r>
                <a:r>
                  <a:rPr lang="en-US" sz="2400" dirty="0">
                    <a:solidFill>
                      <a:schemeClr val="tx1"/>
                    </a:solidFill>
                    <a:cs typeface="Times New Roman" panose="02020603050405020304" pitchFamily="18" charset="0"/>
                  </a:rPr>
                  <a:t>across multiple variables: </a:t>
                </a:r>
                <a:endParaRPr lang="en-US" sz="2400" b="1" dirty="0">
                  <a:solidFill>
                    <a:schemeClr val="tx1"/>
                  </a:solidFill>
                  <a:cs typeface="Times New Roman" panose="02020603050405020304" pitchFamily="18" charset="0"/>
                </a:endParaRPr>
              </a:p>
              <a:p>
                <a:pPr marL="548640" lvl="2" indent="0">
                  <a:buNone/>
                </a:pPr>
                <a14:m>
                  <m:oMathPara xmlns:m="http://schemas.openxmlformats.org/officeDocument/2006/math">
                    <m:oMath>
                      <m:d>
                        <m:dPr>
                          <m:begChr m:val="|"/>
                          <m:endChr m:val="|"/>
                          <m:ctrlPr>
                            <a:rPr lang="en-US" sz="2400" b="0" i="1" smtClean="0">
                              <a:solidFill>
                                <a:schemeClr val="tx1"/>
                              </a:solidFill>
                              <a:latin typeface="Cambria Math" panose="02040503050406030204" pitchFamily="18" charset="0"/>
                              <a:cs typeface="Times New Roman" panose="02020603050405020304" pitchFamily="18" charset="0"/>
                            </a:rPr>
                          </m:ctrlPr>
                        </m:dPr>
                        <m:e>
                          <m:d>
                            <m:dPr>
                              <m:begChr m:val="|"/>
                              <m:endChr m:val="|"/>
                              <m:ctrlPr>
                                <a:rPr lang="en-US" sz="2400" b="0" i="1" smtClean="0">
                                  <a:solidFill>
                                    <a:schemeClr val="tx1"/>
                                  </a:solidFill>
                                  <a:latin typeface="Cambria Math" panose="02040503050406030204" pitchFamily="18" charset="0"/>
                                  <a:cs typeface="Times New Roman" panose="02020603050405020304" pitchFamily="18" charset="0"/>
                                </a:rPr>
                              </m:ctrlPr>
                            </m:dPr>
                            <m:e>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𝑋</m:t>
                                  </m:r>
                                </m:e>
                                <m:sub>
                                  <m:r>
                                    <a:rPr lang="en-US" sz="2400" b="0" i="1" smtClean="0">
                                      <a:solidFill>
                                        <a:schemeClr val="tx1"/>
                                      </a:solidFill>
                                      <a:latin typeface="Cambria Math" panose="02040503050406030204" pitchFamily="18" charset="0"/>
                                      <a:cs typeface="Times New Roman" panose="02020603050405020304" pitchFamily="18" charset="0"/>
                                    </a:rPr>
                                    <m:t>𝑖</m:t>
                                  </m:r>
                                </m:sub>
                              </m:sSub>
                              <m:r>
                                <a:rPr lang="en-US" sz="2400" b="0" i="1" smtClean="0">
                                  <a:solidFill>
                                    <a:schemeClr val="tx1"/>
                                  </a:solidFill>
                                  <a:latin typeface="Cambria Math" panose="02040503050406030204" pitchFamily="18" charset="0"/>
                                  <a:cs typeface="Times New Roman" panose="02020603050405020304" pitchFamily="18" charset="0"/>
                                </a:rPr>
                                <m:t>−</m:t>
                              </m:r>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𝑋</m:t>
                                  </m:r>
                                </m:e>
                                <m:sub>
                                  <m:r>
                                    <a:rPr lang="en-US" sz="2400" b="0" i="1" smtClean="0">
                                      <a:solidFill>
                                        <a:schemeClr val="tx1"/>
                                      </a:solidFill>
                                      <a:latin typeface="Cambria Math" panose="02040503050406030204" pitchFamily="18" charset="0"/>
                                      <a:cs typeface="Times New Roman" panose="02020603050405020304" pitchFamily="18" charset="0"/>
                                    </a:rPr>
                                    <m:t>𝑗</m:t>
                                  </m:r>
                                </m:sub>
                              </m:sSub>
                            </m:e>
                          </m:d>
                        </m:e>
                      </m:d>
                      <m:r>
                        <a:rPr lang="en-US" sz="2400" b="0" i="1" smtClean="0">
                          <a:solidFill>
                            <a:schemeClr val="tx1"/>
                          </a:solidFill>
                          <a:latin typeface="Cambria Math" panose="02040503050406030204" pitchFamily="18" charset="0"/>
                          <a:cs typeface="Times New Roman" panose="02020603050405020304" pitchFamily="18" charset="0"/>
                        </a:rPr>
                        <m:t>=</m:t>
                      </m:r>
                      <m:rad>
                        <m:radPr>
                          <m:degHide m:val="on"/>
                          <m:ctrlPr>
                            <a:rPr lang="en-US" sz="2400" b="0" i="1" smtClean="0">
                              <a:solidFill>
                                <a:schemeClr val="tx1"/>
                              </a:solidFill>
                              <a:latin typeface="Cambria Math" panose="02040503050406030204" pitchFamily="18" charset="0"/>
                              <a:cs typeface="Times New Roman" panose="02020603050405020304" pitchFamily="18" charset="0"/>
                            </a:rPr>
                          </m:ctrlPr>
                        </m:radPr>
                        <m:deg/>
                        <m:e>
                          <m:nary>
                            <m:naryPr>
                              <m:chr m:val="∑"/>
                              <m:ctrlPr>
                                <a:rPr lang="en-US" sz="2400" i="1">
                                  <a:solidFill>
                                    <a:schemeClr val="tx1"/>
                                  </a:solidFill>
                                  <a:latin typeface="Cambria Math" panose="02040503050406030204" pitchFamily="18" charset="0"/>
                                  <a:cs typeface="Times New Roman" panose="02020603050405020304" pitchFamily="18" charset="0"/>
                                </a:rPr>
                              </m:ctrlPr>
                            </m:naryPr>
                            <m:sub>
                              <m:r>
                                <a:rPr lang="en-US" sz="2400" i="1">
                                  <a:solidFill>
                                    <a:schemeClr val="tx1"/>
                                  </a:solidFill>
                                  <a:latin typeface="Cambria Math" panose="02040503050406030204" pitchFamily="18" charset="0"/>
                                  <a:cs typeface="Times New Roman" panose="02020603050405020304" pitchFamily="18" charset="0"/>
                                </a:rPr>
                                <m:t>𝑛</m:t>
                              </m:r>
                              <m:r>
                                <a:rPr lang="en-US" sz="2400" i="1">
                                  <a:solidFill>
                                    <a:schemeClr val="tx1"/>
                                  </a:solidFill>
                                  <a:latin typeface="Cambria Math" panose="02040503050406030204" pitchFamily="18" charset="0"/>
                                  <a:cs typeface="Times New Roman" panose="02020603050405020304" pitchFamily="18" charset="0"/>
                                </a:rPr>
                                <m:t>=1</m:t>
                              </m:r>
                            </m:sub>
                            <m:sup>
                              <m:r>
                                <a:rPr lang="en-US" sz="2400" i="1">
                                  <a:solidFill>
                                    <a:schemeClr val="tx1"/>
                                  </a:solidFill>
                                  <a:latin typeface="Cambria Math" panose="02040503050406030204" pitchFamily="18" charset="0"/>
                                  <a:cs typeface="Times New Roman" panose="02020603050405020304" pitchFamily="18" charset="0"/>
                                </a:rPr>
                                <m:t>𝑘</m:t>
                              </m:r>
                            </m:sup>
                            <m:e>
                              <m:f>
                                <m:fPr>
                                  <m:ctrlPr>
                                    <a:rPr lang="en-US" sz="2400" i="1">
                                      <a:solidFill>
                                        <a:schemeClr val="tx1"/>
                                      </a:solidFill>
                                      <a:latin typeface="Cambria Math" panose="02040503050406030204" pitchFamily="18" charset="0"/>
                                      <a:cs typeface="Times New Roman" panose="02020603050405020304" pitchFamily="18" charset="0"/>
                                    </a:rPr>
                                  </m:ctrlPr>
                                </m:fPr>
                                <m:num>
                                  <m:sSup>
                                    <m:sSupPr>
                                      <m:ctrlPr>
                                        <a:rPr lang="en-US" sz="2400" i="1">
                                          <a:solidFill>
                                            <a:schemeClr val="tx1"/>
                                          </a:solidFill>
                                          <a:latin typeface="Cambria Math" panose="02040503050406030204" pitchFamily="18" charset="0"/>
                                          <a:cs typeface="Times New Roman" panose="02020603050405020304" pitchFamily="18" charset="0"/>
                                        </a:rPr>
                                      </m:ctrlPr>
                                    </m:sSupPr>
                                    <m:e>
                                      <m:d>
                                        <m:dPr>
                                          <m:ctrlPr>
                                            <a:rPr lang="en-US" sz="2400" i="1">
                                              <a:solidFill>
                                                <a:schemeClr val="tx1"/>
                                              </a:solidFill>
                                              <a:latin typeface="Cambria Math" panose="02040503050406030204" pitchFamily="18" charset="0"/>
                                              <a:cs typeface="Times New Roman" panose="02020603050405020304" pitchFamily="18" charset="0"/>
                                            </a:rPr>
                                          </m:ctrlPr>
                                        </m:dPr>
                                        <m:e>
                                          <m:sSub>
                                            <m:sSubPr>
                                              <m:ctrlPr>
                                                <a:rPr lang="en-US" sz="2400" i="1">
                                                  <a:solidFill>
                                                    <a:schemeClr val="tx1"/>
                                                  </a:solidFill>
                                                  <a:latin typeface="Cambria Math" panose="02040503050406030204" pitchFamily="18" charset="0"/>
                                                  <a:cs typeface="Times New Roman" panose="02020603050405020304" pitchFamily="18" charset="0"/>
                                                </a:rPr>
                                              </m:ctrlPr>
                                            </m:sSubPr>
                                            <m:e>
                                              <m:r>
                                                <a:rPr lang="en-US" sz="2400" i="1">
                                                  <a:solidFill>
                                                    <a:schemeClr val="tx1"/>
                                                  </a:solidFill>
                                                  <a:latin typeface="Cambria Math" panose="02040503050406030204" pitchFamily="18" charset="0"/>
                                                  <a:cs typeface="Times New Roman" panose="02020603050405020304" pitchFamily="18" charset="0"/>
                                                </a:rPr>
                                                <m:t>𝑋</m:t>
                                              </m:r>
                                            </m:e>
                                            <m:sub>
                                              <m:r>
                                                <a:rPr lang="en-US" sz="2400" i="1">
                                                  <a:solidFill>
                                                    <a:schemeClr val="tx1"/>
                                                  </a:solidFill>
                                                  <a:latin typeface="Cambria Math" panose="02040503050406030204" pitchFamily="18" charset="0"/>
                                                  <a:cs typeface="Times New Roman" panose="02020603050405020304" pitchFamily="18" charset="0"/>
                                                </a:rPr>
                                                <m:t>𝑛𝑖</m:t>
                                              </m:r>
                                            </m:sub>
                                          </m:sSub>
                                          <m:r>
                                            <a:rPr lang="en-US" sz="2400" i="1">
                                              <a:solidFill>
                                                <a:schemeClr val="tx1"/>
                                              </a:solidFill>
                                              <a:latin typeface="Cambria Math" panose="02040503050406030204" pitchFamily="18" charset="0"/>
                                              <a:cs typeface="Times New Roman" panose="02020603050405020304" pitchFamily="18" charset="0"/>
                                            </a:rPr>
                                            <m:t>−</m:t>
                                          </m:r>
                                          <m:sSub>
                                            <m:sSubPr>
                                              <m:ctrlPr>
                                                <a:rPr lang="en-US" sz="2400" i="1">
                                                  <a:solidFill>
                                                    <a:schemeClr val="tx1"/>
                                                  </a:solidFill>
                                                  <a:latin typeface="Cambria Math" panose="02040503050406030204" pitchFamily="18" charset="0"/>
                                                  <a:cs typeface="Times New Roman" panose="02020603050405020304" pitchFamily="18" charset="0"/>
                                                </a:rPr>
                                              </m:ctrlPr>
                                            </m:sSubPr>
                                            <m:e>
                                              <m:r>
                                                <a:rPr lang="en-US" sz="2400" i="1">
                                                  <a:solidFill>
                                                    <a:schemeClr val="tx1"/>
                                                  </a:solidFill>
                                                  <a:latin typeface="Cambria Math" panose="02040503050406030204" pitchFamily="18" charset="0"/>
                                                  <a:cs typeface="Times New Roman" panose="02020603050405020304" pitchFamily="18" charset="0"/>
                                                </a:rPr>
                                                <m:t>𝑋</m:t>
                                              </m:r>
                                            </m:e>
                                            <m:sub>
                                              <m:r>
                                                <a:rPr lang="en-US" sz="2400" i="1">
                                                  <a:solidFill>
                                                    <a:schemeClr val="tx1"/>
                                                  </a:solidFill>
                                                  <a:latin typeface="Cambria Math" panose="02040503050406030204" pitchFamily="18" charset="0"/>
                                                  <a:cs typeface="Times New Roman" panose="02020603050405020304" pitchFamily="18" charset="0"/>
                                                </a:rPr>
                                                <m:t>𝑛𝑗</m:t>
                                              </m:r>
                                            </m:sub>
                                          </m:sSub>
                                        </m:e>
                                      </m:d>
                                    </m:e>
                                    <m:sup>
                                      <m:r>
                                        <a:rPr lang="en-US" sz="2400" i="1">
                                          <a:solidFill>
                                            <a:schemeClr val="tx1"/>
                                          </a:solidFill>
                                          <a:latin typeface="Cambria Math" panose="02040503050406030204" pitchFamily="18" charset="0"/>
                                          <a:cs typeface="Times New Roman" panose="02020603050405020304" pitchFamily="18" charset="0"/>
                                        </a:rPr>
                                        <m:t>2</m:t>
                                      </m:r>
                                    </m:sup>
                                  </m:sSup>
                                </m:num>
                                <m:den>
                                  <m:sSubSup>
                                    <m:sSubSupPr>
                                      <m:ctrlPr>
                                        <a:rPr lang="en-US" sz="2400" b="0" i="1" smtClean="0">
                                          <a:solidFill>
                                            <a:schemeClr val="tx1"/>
                                          </a:solidFill>
                                          <a:latin typeface="Cambria Math" panose="02040503050406030204" pitchFamily="18" charset="0"/>
                                          <a:cs typeface="Times New Roman" panose="02020603050405020304" pitchFamily="18" charset="0"/>
                                        </a:rPr>
                                      </m:ctrlPr>
                                    </m:sSubSupPr>
                                    <m:e>
                                      <m:r>
                                        <a:rPr lang="en-US" sz="2400" b="0" i="1" smtClean="0">
                                          <a:solidFill>
                                            <a:schemeClr val="tx1"/>
                                          </a:solidFill>
                                          <a:latin typeface="Cambria Math" panose="02040503050406030204" pitchFamily="18" charset="0"/>
                                          <a:cs typeface="Times New Roman" panose="02020603050405020304" pitchFamily="18" charset="0"/>
                                        </a:rPr>
                                        <m:t>𝜎</m:t>
                                      </m:r>
                                    </m:e>
                                    <m:sub>
                                      <m:r>
                                        <a:rPr lang="en-US" sz="2400" b="0" i="1" smtClean="0">
                                          <a:solidFill>
                                            <a:schemeClr val="tx1"/>
                                          </a:solidFill>
                                          <a:latin typeface="Cambria Math" panose="02040503050406030204" pitchFamily="18" charset="0"/>
                                          <a:cs typeface="Times New Roman" panose="02020603050405020304" pitchFamily="18" charset="0"/>
                                        </a:rPr>
                                        <m:t>𝑛</m:t>
                                      </m:r>
                                    </m:sub>
                                    <m:sup>
                                      <m:r>
                                        <a:rPr lang="en-US" sz="2400" b="0" i="1" smtClean="0">
                                          <a:solidFill>
                                            <a:schemeClr val="tx1"/>
                                          </a:solidFill>
                                          <a:latin typeface="Cambria Math" panose="02040503050406030204" pitchFamily="18" charset="0"/>
                                          <a:cs typeface="Times New Roman" panose="02020603050405020304" pitchFamily="18" charset="0"/>
                                        </a:rPr>
                                        <m:t>2</m:t>
                                      </m:r>
                                    </m:sup>
                                  </m:sSubSup>
                                </m:den>
                              </m:f>
                            </m:e>
                          </m:nary>
                        </m:e>
                      </m:rad>
                    </m:oMath>
                  </m:oMathPara>
                </a14:m>
                <a:endParaRPr lang="en-US" sz="2400" dirty="0">
                  <a:solidFill>
                    <a:schemeClr val="tx1"/>
                  </a:solidFill>
                  <a:cs typeface="Times New Roman" panose="02020603050405020304" pitchFamily="18" charset="0"/>
                </a:endParaRPr>
              </a:p>
              <a:p>
                <a:pPr lvl="2"/>
                <a:r>
                  <a:rPr lang="en-US" sz="2400" dirty="0">
                    <a:solidFill>
                      <a:schemeClr val="tx1"/>
                    </a:solidFill>
                    <a:cs typeface="Times New Roman" panose="02020603050405020304" pitchFamily="18" charset="0"/>
                  </a:rPr>
                  <a:t>Squared distance in variables</a:t>
                </a:r>
              </a:p>
              <a:p>
                <a:pPr lvl="2"/>
                <a:r>
                  <a:rPr lang="en-US" sz="2400" dirty="0">
                    <a:solidFill>
                      <a:schemeClr val="tx1"/>
                    </a:solidFill>
                    <a:cs typeface="Times New Roman" panose="02020603050405020304" pitchFamily="18" charset="0"/>
                  </a:rPr>
                  <a:t>Scaled by variance – units of measurement matter!</a:t>
                </a:r>
              </a:p>
              <a:p>
                <a:pPr lvl="2"/>
                <a:r>
                  <a:rPr lang="en-US" sz="2400" dirty="0">
                    <a:solidFill>
                      <a:schemeClr val="tx1"/>
                    </a:solidFill>
                    <a:cs typeface="Times New Roman" panose="02020603050405020304" pitchFamily="18" charset="0"/>
                  </a:rPr>
                  <a:t>Multiple other options for distance!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1" y="1066800"/>
                <a:ext cx="10591800"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11574547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Approximate Matching: Nearest Neighbor</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1048999" cy="5141388"/>
              </a:xfrm>
            </p:spPr>
            <p:txBody>
              <a:bodyPr>
                <a:noAutofit/>
              </a:bodyPr>
              <a:lstStyle/>
              <a:p>
                <a:pPr lvl="1"/>
                <a:r>
                  <a:rPr lang="en-US" sz="2400" dirty="0">
                    <a:cs typeface="Times New Roman" panose="02020603050405020304" pitchFamily="18" charset="0"/>
                  </a:rPr>
                  <a:t>When exact matches aren’t possible, rely on </a:t>
                </a:r>
                <a:r>
                  <a:rPr lang="en-US" sz="2400" b="1" dirty="0">
                    <a:solidFill>
                      <a:schemeClr val="accent2">
                        <a:lumMod val="75000"/>
                      </a:schemeClr>
                    </a:solidFill>
                    <a:cs typeface="Times New Roman" panose="02020603050405020304" pitchFamily="18" charset="0"/>
                  </a:rPr>
                  <a:t>collection of neighbors</a:t>
                </a:r>
              </a:p>
              <a:p>
                <a:pPr lvl="1"/>
                <a:r>
                  <a:rPr lang="en-US" sz="2400" dirty="0">
                    <a:solidFill>
                      <a:schemeClr val="tx1"/>
                    </a:solidFill>
                    <a:cs typeface="Times New Roman" panose="02020603050405020304" pitchFamily="18" charset="0"/>
                  </a:rPr>
                  <a:t>What does it mean to be a neighbor with multiple variables? </a:t>
                </a:r>
              </a:p>
              <a:p>
                <a:pPr lvl="2"/>
                <a:r>
                  <a:rPr lang="en-US" sz="2400" dirty="0">
                    <a:solidFill>
                      <a:schemeClr val="tx1"/>
                    </a:solidFill>
                    <a:cs typeface="Times New Roman" panose="02020603050405020304" pitchFamily="18" charset="0"/>
                  </a:rPr>
                  <a:t>Need a measure of </a:t>
                </a:r>
                <a:r>
                  <a:rPr lang="en-US" sz="2400" b="1" dirty="0">
                    <a:solidFill>
                      <a:schemeClr val="accent2">
                        <a:lumMod val="75000"/>
                      </a:schemeClr>
                    </a:solidFill>
                    <a:cs typeface="Times New Roman" panose="02020603050405020304" pitchFamily="18" charset="0"/>
                  </a:rPr>
                  <a:t>distance</a:t>
                </a:r>
                <a:r>
                  <a:rPr lang="en-US" sz="2400" b="1" dirty="0">
                    <a:solidFill>
                      <a:schemeClr val="tx1"/>
                    </a:solidFill>
                    <a:cs typeface="Times New Roman" panose="02020603050405020304" pitchFamily="18" charset="0"/>
                  </a:rPr>
                  <a:t> </a:t>
                </a:r>
                <a:r>
                  <a:rPr lang="en-US" sz="2400" dirty="0">
                    <a:solidFill>
                      <a:schemeClr val="tx1"/>
                    </a:solidFill>
                    <a:cs typeface="Times New Roman" panose="02020603050405020304" pitchFamily="18" charset="0"/>
                  </a:rPr>
                  <a:t>across multiple variables: </a:t>
                </a:r>
                <a:endParaRPr lang="en-US" sz="2400" b="1" dirty="0">
                  <a:solidFill>
                    <a:schemeClr val="tx1"/>
                  </a:solidFill>
                  <a:cs typeface="Times New Roman" panose="02020603050405020304" pitchFamily="18" charset="0"/>
                </a:endParaRPr>
              </a:p>
              <a:p>
                <a:pPr marL="548640" lvl="2" indent="0">
                  <a:buNone/>
                </a:pPr>
                <a14:m>
                  <m:oMathPara xmlns:m="http://schemas.openxmlformats.org/officeDocument/2006/math">
                    <m:oMath>
                      <m:d>
                        <m:dPr>
                          <m:begChr m:val="|"/>
                          <m:endChr m:val="|"/>
                          <m:ctrlPr>
                            <a:rPr lang="en-US" sz="2400" b="0" i="1" smtClean="0">
                              <a:solidFill>
                                <a:schemeClr val="tx1"/>
                              </a:solidFill>
                              <a:latin typeface="Cambria Math" panose="02040503050406030204" pitchFamily="18" charset="0"/>
                              <a:cs typeface="Times New Roman" panose="02020603050405020304" pitchFamily="18" charset="0"/>
                            </a:rPr>
                          </m:ctrlPr>
                        </m:dPr>
                        <m:e>
                          <m:d>
                            <m:dPr>
                              <m:begChr m:val="|"/>
                              <m:endChr m:val="|"/>
                              <m:ctrlPr>
                                <a:rPr lang="en-US" sz="2400" b="0" i="1" smtClean="0">
                                  <a:solidFill>
                                    <a:schemeClr val="tx1"/>
                                  </a:solidFill>
                                  <a:latin typeface="Cambria Math" panose="02040503050406030204" pitchFamily="18" charset="0"/>
                                  <a:cs typeface="Times New Roman" panose="02020603050405020304" pitchFamily="18" charset="0"/>
                                </a:rPr>
                              </m:ctrlPr>
                            </m:dPr>
                            <m:e>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𝑋</m:t>
                                  </m:r>
                                </m:e>
                                <m:sub>
                                  <m:r>
                                    <a:rPr lang="en-US" sz="2400" b="0" i="1" smtClean="0">
                                      <a:solidFill>
                                        <a:schemeClr val="tx1"/>
                                      </a:solidFill>
                                      <a:latin typeface="Cambria Math" panose="02040503050406030204" pitchFamily="18" charset="0"/>
                                      <a:cs typeface="Times New Roman" panose="02020603050405020304" pitchFamily="18" charset="0"/>
                                    </a:rPr>
                                    <m:t>𝑖</m:t>
                                  </m:r>
                                </m:sub>
                              </m:sSub>
                              <m:r>
                                <a:rPr lang="en-US" sz="2400" b="0" i="1" smtClean="0">
                                  <a:solidFill>
                                    <a:schemeClr val="tx1"/>
                                  </a:solidFill>
                                  <a:latin typeface="Cambria Math" panose="02040503050406030204" pitchFamily="18" charset="0"/>
                                  <a:cs typeface="Times New Roman" panose="02020603050405020304" pitchFamily="18" charset="0"/>
                                </a:rPr>
                                <m:t>−</m:t>
                              </m:r>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𝑋</m:t>
                                  </m:r>
                                </m:e>
                                <m:sub>
                                  <m:r>
                                    <a:rPr lang="en-US" sz="2400" b="0" i="1" smtClean="0">
                                      <a:solidFill>
                                        <a:schemeClr val="tx1"/>
                                      </a:solidFill>
                                      <a:latin typeface="Cambria Math" panose="02040503050406030204" pitchFamily="18" charset="0"/>
                                      <a:cs typeface="Times New Roman" panose="02020603050405020304" pitchFamily="18" charset="0"/>
                                    </a:rPr>
                                    <m:t>𝑗</m:t>
                                  </m:r>
                                </m:sub>
                              </m:sSub>
                            </m:e>
                          </m:d>
                        </m:e>
                      </m:d>
                      <m:r>
                        <a:rPr lang="en-US" sz="2400" b="0" i="1" smtClean="0">
                          <a:solidFill>
                            <a:schemeClr val="tx1"/>
                          </a:solidFill>
                          <a:latin typeface="Cambria Math" panose="02040503050406030204" pitchFamily="18" charset="0"/>
                          <a:cs typeface="Times New Roman" panose="02020603050405020304" pitchFamily="18" charset="0"/>
                        </a:rPr>
                        <m:t>=</m:t>
                      </m:r>
                      <m:rad>
                        <m:radPr>
                          <m:degHide m:val="on"/>
                          <m:ctrlPr>
                            <a:rPr lang="en-US" sz="2400" b="0" i="1" smtClean="0">
                              <a:solidFill>
                                <a:schemeClr val="tx1"/>
                              </a:solidFill>
                              <a:latin typeface="Cambria Math" panose="02040503050406030204" pitchFamily="18" charset="0"/>
                              <a:cs typeface="Times New Roman" panose="02020603050405020304" pitchFamily="18" charset="0"/>
                            </a:rPr>
                          </m:ctrlPr>
                        </m:radPr>
                        <m:deg/>
                        <m:e>
                          <m:nary>
                            <m:naryPr>
                              <m:chr m:val="∑"/>
                              <m:ctrlPr>
                                <a:rPr lang="en-US" sz="2400" i="1">
                                  <a:solidFill>
                                    <a:schemeClr val="tx1"/>
                                  </a:solidFill>
                                  <a:latin typeface="Cambria Math" panose="02040503050406030204" pitchFamily="18" charset="0"/>
                                  <a:cs typeface="Times New Roman" panose="02020603050405020304" pitchFamily="18" charset="0"/>
                                </a:rPr>
                              </m:ctrlPr>
                            </m:naryPr>
                            <m:sub>
                              <m:r>
                                <a:rPr lang="en-US" sz="2400" i="1">
                                  <a:solidFill>
                                    <a:schemeClr val="tx1"/>
                                  </a:solidFill>
                                  <a:latin typeface="Cambria Math" panose="02040503050406030204" pitchFamily="18" charset="0"/>
                                  <a:cs typeface="Times New Roman" panose="02020603050405020304" pitchFamily="18" charset="0"/>
                                </a:rPr>
                                <m:t>𝑛</m:t>
                              </m:r>
                              <m:r>
                                <a:rPr lang="en-US" sz="2400" i="1">
                                  <a:solidFill>
                                    <a:schemeClr val="tx1"/>
                                  </a:solidFill>
                                  <a:latin typeface="Cambria Math" panose="02040503050406030204" pitchFamily="18" charset="0"/>
                                  <a:cs typeface="Times New Roman" panose="02020603050405020304" pitchFamily="18" charset="0"/>
                                </a:rPr>
                                <m:t>=1</m:t>
                              </m:r>
                            </m:sub>
                            <m:sup>
                              <m:r>
                                <a:rPr lang="en-US" sz="2400" i="1">
                                  <a:solidFill>
                                    <a:schemeClr val="tx1"/>
                                  </a:solidFill>
                                  <a:latin typeface="Cambria Math" panose="02040503050406030204" pitchFamily="18" charset="0"/>
                                  <a:cs typeface="Times New Roman" panose="02020603050405020304" pitchFamily="18" charset="0"/>
                                </a:rPr>
                                <m:t>𝑘</m:t>
                              </m:r>
                            </m:sup>
                            <m:e>
                              <m:f>
                                <m:fPr>
                                  <m:ctrlPr>
                                    <a:rPr lang="en-US" sz="2400" i="1">
                                      <a:solidFill>
                                        <a:schemeClr val="tx1"/>
                                      </a:solidFill>
                                      <a:latin typeface="Cambria Math" panose="02040503050406030204" pitchFamily="18" charset="0"/>
                                      <a:cs typeface="Times New Roman" panose="02020603050405020304" pitchFamily="18" charset="0"/>
                                    </a:rPr>
                                  </m:ctrlPr>
                                </m:fPr>
                                <m:num>
                                  <m:sSup>
                                    <m:sSupPr>
                                      <m:ctrlPr>
                                        <a:rPr lang="en-US" sz="2400" i="1">
                                          <a:solidFill>
                                            <a:schemeClr val="tx1"/>
                                          </a:solidFill>
                                          <a:latin typeface="Cambria Math" panose="02040503050406030204" pitchFamily="18" charset="0"/>
                                          <a:cs typeface="Times New Roman" panose="02020603050405020304" pitchFamily="18" charset="0"/>
                                        </a:rPr>
                                      </m:ctrlPr>
                                    </m:sSupPr>
                                    <m:e>
                                      <m:d>
                                        <m:dPr>
                                          <m:ctrlPr>
                                            <a:rPr lang="en-US" sz="2400" i="1">
                                              <a:solidFill>
                                                <a:schemeClr val="tx1"/>
                                              </a:solidFill>
                                              <a:latin typeface="Cambria Math" panose="02040503050406030204" pitchFamily="18" charset="0"/>
                                              <a:cs typeface="Times New Roman" panose="02020603050405020304" pitchFamily="18" charset="0"/>
                                            </a:rPr>
                                          </m:ctrlPr>
                                        </m:dPr>
                                        <m:e>
                                          <m:sSub>
                                            <m:sSubPr>
                                              <m:ctrlPr>
                                                <a:rPr lang="en-US" sz="2400" i="1">
                                                  <a:solidFill>
                                                    <a:schemeClr val="tx1"/>
                                                  </a:solidFill>
                                                  <a:latin typeface="Cambria Math" panose="02040503050406030204" pitchFamily="18" charset="0"/>
                                                  <a:cs typeface="Times New Roman" panose="02020603050405020304" pitchFamily="18" charset="0"/>
                                                </a:rPr>
                                              </m:ctrlPr>
                                            </m:sSubPr>
                                            <m:e>
                                              <m:r>
                                                <a:rPr lang="en-US" sz="2400" i="1">
                                                  <a:solidFill>
                                                    <a:schemeClr val="tx1"/>
                                                  </a:solidFill>
                                                  <a:latin typeface="Cambria Math" panose="02040503050406030204" pitchFamily="18" charset="0"/>
                                                  <a:cs typeface="Times New Roman" panose="02020603050405020304" pitchFamily="18" charset="0"/>
                                                </a:rPr>
                                                <m:t>𝑋</m:t>
                                              </m:r>
                                            </m:e>
                                            <m:sub>
                                              <m:r>
                                                <a:rPr lang="en-US" sz="2400" i="1">
                                                  <a:solidFill>
                                                    <a:schemeClr val="tx1"/>
                                                  </a:solidFill>
                                                  <a:latin typeface="Cambria Math" panose="02040503050406030204" pitchFamily="18" charset="0"/>
                                                  <a:cs typeface="Times New Roman" panose="02020603050405020304" pitchFamily="18" charset="0"/>
                                                </a:rPr>
                                                <m:t>𝑛𝑖</m:t>
                                              </m:r>
                                            </m:sub>
                                          </m:sSub>
                                          <m:r>
                                            <a:rPr lang="en-US" sz="2400" i="1">
                                              <a:solidFill>
                                                <a:schemeClr val="tx1"/>
                                              </a:solidFill>
                                              <a:latin typeface="Cambria Math" panose="02040503050406030204" pitchFamily="18" charset="0"/>
                                              <a:cs typeface="Times New Roman" panose="02020603050405020304" pitchFamily="18" charset="0"/>
                                            </a:rPr>
                                            <m:t>−</m:t>
                                          </m:r>
                                          <m:sSub>
                                            <m:sSubPr>
                                              <m:ctrlPr>
                                                <a:rPr lang="en-US" sz="2400" i="1">
                                                  <a:solidFill>
                                                    <a:schemeClr val="tx1"/>
                                                  </a:solidFill>
                                                  <a:latin typeface="Cambria Math" panose="02040503050406030204" pitchFamily="18" charset="0"/>
                                                  <a:cs typeface="Times New Roman" panose="02020603050405020304" pitchFamily="18" charset="0"/>
                                                </a:rPr>
                                              </m:ctrlPr>
                                            </m:sSubPr>
                                            <m:e>
                                              <m:r>
                                                <a:rPr lang="en-US" sz="2400" i="1">
                                                  <a:solidFill>
                                                    <a:schemeClr val="tx1"/>
                                                  </a:solidFill>
                                                  <a:latin typeface="Cambria Math" panose="02040503050406030204" pitchFamily="18" charset="0"/>
                                                  <a:cs typeface="Times New Roman" panose="02020603050405020304" pitchFamily="18" charset="0"/>
                                                </a:rPr>
                                                <m:t>𝑋</m:t>
                                              </m:r>
                                            </m:e>
                                            <m:sub>
                                              <m:r>
                                                <a:rPr lang="en-US" sz="2400" i="1">
                                                  <a:solidFill>
                                                    <a:schemeClr val="tx1"/>
                                                  </a:solidFill>
                                                  <a:latin typeface="Cambria Math" panose="02040503050406030204" pitchFamily="18" charset="0"/>
                                                  <a:cs typeface="Times New Roman" panose="02020603050405020304" pitchFamily="18" charset="0"/>
                                                </a:rPr>
                                                <m:t>𝑛𝑗</m:t>
                                              </m:r>
                                            </m:sub>
                                          </m:sSub>
                                        </m:e>
                                      </m:d>
                                    </m:e>
                                    <m:sup>
                                      <m:r>
                                        <a:rPr lang="en-US" sz="2400" i="1">
                                          <a:solidFill>
                                            <a:schemeClr val="tx1"/>
                                          </a:solidFill>
                                          <a:latin typeface="Cambria Math" panose="02040503050406030204" pitchFamily="18" charset="0"/>
                                          <a:cs typeface="Times New Roman" panose="02020603050405020304" pitchFamily="18" charset="0"/>
                                        </a:rPr>
                                        <m:t>2</m:t>
                                      </m:r>
                                    </m:sup>
                                  </m:sSup>
                                </m:num>
                                <m:den>
                                  <m:sSubSup>
                                    <m:sSubSupPr>
                                      <m:ctrlPr>
                                        <a:rPr lang="en-US" sz="2400" b="0" i="1" smtClean="0">
                                          <a:solidFill>
                                            <a:schemeClr val="tx1"/>
                                          </a:solidFill>
                                          <a:latin typeface="Cambria Math" panose="02040503050406030204" pitchFamily="18" charset="0"/>
                                          <a:cs typeface="Times New Roman" panose="02020603050405020304" pitchFamily="18" charset="0"/>
                                        </a:rPr>
                                      </m:ctrlPr>
                                    </m:sSubSupPr>
                                    <m:e>
                                      <m:r>
                                        <a:rPr lang="en-US" sz="2400" b="0" i="1" smtClean="0">
                                          <a:solidFill>
                                            <a:schemeClr val="tx1"/>
                                          </a:solidFill>
                                          <a:latin typeface="Cambria Math" panose="02040503050406030204" pitchFamily="18" charset="0"/>
                                          <a:cs typeface="Times New Roman" panose="02020603050405020304" pitchFamily="18" charset="0"/>
                                        </a:rPr>
                                        <m:t>𝜎</m:t>
                                      </m:r>
                                    </m:e>
                                    <m:sub>
                                      <m:r>
                                        <a:rPr lang="en-US" sz="2400" b="0" i="1" smtClean="0">
                                          <a:solidFill>
                                            <a:schemeClr val="tx1"/>
                                          </a:solidFill>
                                          <a:latin typeface="Cambria Math" panose="02040503050406030204" pitchFamily="18" charset="0"/>
                                          <a:cs typeface="Times New Roman" panose="02020603050405020304" pitchFamily="18" charset="0"/>
                                        </a:rPr>
                                        <m:t>𝑛</m:t>
                                      </m:r>
                                    </m:sub>
                                    <m:sup>
                                      <m:r>
                                        <a:rPr lang="en-US" sz="2400" b="0" i="1" smtClean="0">
                                          <a:solidFill>
                                            <a:schemeClr val="tx1"/>
                                          </a:solidFill>
                                          <a:latin typeface="Cambria Math" panose="02040503050406030204" pitchFamily="18" charset="0"/>
                                          <a:cs typeface="Times New Roman" panose="02020603050405020304" pitchFamily="18" charset="0"/>
                                        </a:rPr>
                                        <m:t>2</m:t>
                                      </m:r>
                                    </m:sup>
                                  </m:sSubSup>
                                </m:den>
                              </m:f>
                            </m:e>
                          </m:nary>
                        </m:e>
                      </m:rad>
                    </m:oMath>
                  </m:oMathPara>
                </a14:m>
                <a:endParaRPr lang="en-US" sz="2400" dirty="0">
                  <a:solidFill>
                    <a:schemeClr val="tx1"/>
                  </a:solidFill>
                  <a:cs typeface="Times New Roman" panose="02020603050405020304" pitchFamily="18" charset="0"/>
                </a:endParaRPr>
              </a:p>
              <a:p>
                <a:pPr lvl="2"/>
                <a:r>
                  <a:rPr lang="en-US" sz="2400" dirty="0">
                    <a:solidFill>
                      <a:schemeClr val="tx1"/>
                    </a:solidFill>
                    <a:cs typeface="Times New Roman" panose="02020603050405020304" pitchFamily="18" charset="0"/>
                  </a:rPr>
                  <a:t>Squared distance in variables</a:t>
                </a:r>
              </a:p>
              <a:p>
                <a:pPr lvl="2"/>
                <a:r>
                  <a:rPr lang="en-US" sz="2400" dirty="0">
                    <a:solidFill>
                      <a:schemeClr val="tx1"/>
                    </a:solidFill>
                    <a:cs typeface="Times New Roman" panose="02020603050405020304" pitchFamily="18" charset="0"/>
                  </a:rPr>
                  <a:t>Scaled by variance – units of measurement matter!</a:t>
                </a:r>
              </a:p>
              <a:p>
                <a:pPr lvl="2"/>
                <a:r>
                  <a:rPr lang="en-US" sz="2400" dirty="0">
                    <a:solidFill>
                      <a:schemeClr val="tx1"/>
                    </a:solidFill>
                    <a:cs typeface="Times New Roman" panose="02020603050405020304" pitchFamily="18" charset="0"/>
                  </a:rPr>
                  <a:t>Multiple other options for distance!</a:t>
                </a:r>
              </a:p>
              <a:p>
                <a:pPr lvl="2"/>
                <a:endParaRPr lang="en-US" sz="2400" dirty="0">
                  <a:solidFill>
                    <a:schemeClr val="tx1"/>
                  </a:solidFill>
                  <a:cs typeface="Times New Roman" panose="02020603050405020304" pitchFamily="18" charset="0"/>
                </a:endParaRPr>
              </a:p>
              <a:p>
                <a:pPr lvl="1"/>
                <a:r>
                  <a:rPr lang="en-US" sz="2400" dirty="0">
                    <a:solidFill>
                      <a:schemeClr val="tx1"/>
                    </a:solidFill>
                    <a:cs typeface="Times New Roman" panose="02020603050405020304" pitchFamily="18" charset="0"/>
                  </a:rPr>
                  <a:t>Based on distance, 1 observation can be matched to </a:t>
                </a:r>
                <a:r>
                  <a:rPr lang="en-US" sz="2400" b="1" dirty="0">
                    <a:solidFill>
                      <a:schemeClr val="accent2">
                        <a:lumMod val="75000"/>
                      </a:schemeClr>
                    </a:solidFill>
                    <a:cs typeface="Times New Roman" panose="02020603050405020304" pitchFamily="18" charset="0"/>
                  </a:rPr>
                  <a:t>K best approximations</a:t>
                </a:r>
                <a:endParaRPr lang="en-US" sz="2400"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1048999"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20721584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Nearest Neighbor Matching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pPr marL="274320" lvl="1" indent="0">
              <a:buNone/>
            </a:pPr>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0CBEA8DA-3A88-6871-8F0A-A74B4B4F3A14}"/>
              </a:ext>
            </a:extLst>
          </p:cNvPr>
          <p:cNvPicPr>
            <a:picLocks noChangeAspect="1"/>
          </p:cNvPicPr>
          <p:nvPr/>
        </p:nvPicPr>
        <p:blipFill>
          <a:blip r:embed="rId2"/>
          <a:stretch>
            <a:fillRect/>
          </a:stretch>
        </p:blipFill>
        <p:spPr>
          <a:xfrm>
            <a:off x="1143000" y="1055915"/>
            <a:ext cx="8229600" cy="5183769"/>
          </a:xfrm>
          <a:prstGeom prst="rect">
            <a:avLst/>
          </a:prstGeom>
        </p:spPr>
      </p:pic>
    </p:spTree>
    <p:extLst>
      <p:ext uri="{BB962C8B-B14F-4D97-AF65-F5344CB8AC3E}">
        <p14:creationId xmlns:p14="http://schemas.microsoft.com/office/powerpoint/2010/main" val="2395655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Nearest Neighbor Matching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pPr marL="274320" lvl="1" indent="0">
              <a:buNone/>
            </a:pPr>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0CBEA8DA-3A88-6871-8F0A-A74B4B4F3A14}"/>
              </a:ext>
            </a:extLst>
          </p:cNvPr>
          <p:cNvPicPr>
            <a:picLocks noChangeAspect="1"/>
          </p:cNvPicPr>
          <p:nvPr/>
        </p:nvPicPr>
        <p:blipFill>
          <a:blip r:embed="rId3"/>
          <a:stretch>
            <a:fillRect/>
          </a:stretch>
        </p:blipFill>
        <p:spPr>
          <a:xfrm>
            <a:off x="1143000" y="1055915"/>
            <a:ext cx="8229600" cy="5183769"/>
          </a:xfrm>
          <a:prstGeom prst="rect">
            <a:avLst/>
          </a:prstGeom>
        </p:spPr>
      </p:pic>
      <p:sp>
        <p:nvSpPr>
          <p:cNvPr id="5" name="Oval 4">
            <a:extLst>
              <a:ext uri="{FF2B5EF4-FFF2-40B4-BE49-F238E27FC236}">
                <a16:creationId xmlns:a16="http://schemas.microsoft.com/office/drawing/2014/main" id="{E2872A60-B183-F7A5-42D7-4151FD8511B2}"/>
              </a:ext>
            </a:extLst>
          </p:cNvPr>
          <p:cNvSpPr/>
          <p:nvPr/>
        </p:nvSpPr>
        <p:spPr>
          <a:xfrm>
            <a:off x="5638800" y="3733800"/>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16253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Nearest Neighbor Matching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pPr marL="274320" lvl="1" indent="0">
              <a:buNone/>
            </a:pPr>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0CBEA8DA-3A88-6871-8F0A-A74B4B4F3A14}"/>
              </a:ext>
            </a:extLst>
          </p:cNvPr>
          <p:cNvPicPr>
            <a:picLocks noChangeAspect="1"/>
          </p:cNvPicPr>
          <p:nvPr/>
        </p:nvPicPr>
        <p:blipFill>
          <a:blip r:embed="rId3"/>
          <a:stretch>
            <a:fillRect/>
          </a:stretch>
        </p:blipFill>
        <p:spPr>
          <a:xfrm>
            <a:off x="1143000" y="1055915"/>
            <a:ext cx="8229600" cy="5183769"/>
          </a:xfrm>
          <a:prstGeom prst="rect">
            <a:avLst/>
          </a:prstGeom>
        </p:spPr>
      </p:pic>
      <p:sp>
        <p:nvSpPr>
          <p:cNvPr id="5" name="Oval 4">
            <a:extLst>
              <a:ext uri="{FF2B5EF4-FFF2-40B4-BE49-F238E27FC236}">
                <a16:creationId xmlns:a16="http://schemas.microsoft.com/office/drawing/2014/main" id="{E2872A60-B183-F7A5-42D7-4151FD8511B2}"/>
              </a:ext>
            </a:extLst>
          </p:cNvPr>
          <p:cNvSpPr/>
          <p:nvPr/>
        </p:nvSpPr>
        <p:spPr>
          <a:xfrm>
            <a:off x="5638800" y="3733800"/>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78F8B06-3A00-FF42-44E1-457EEC8210AB}"/>
              </a:ext>
            </a:extLst>
          </p:cNvPr>
          <p:cNvSpPr/>
          <p:nvPr/>
        </p:nvSpPr>
        <p:spPr>
          <a:xfrm>
            <a:off x="5402580" y="3493770"/>
            <a:ext cx="548640" cy="5486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67791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Nearest Neighbor Matching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pPr marL="274320" lvl="1" indent="0">
              <a:buNone/>
            </a:pPr>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0CBEA8DA-3A88-6871-8F0A-A74B4B4F3A14}"/>
              </a:ext>
            </a:extLst>
          </p:cNvPr>
          <p:cNvPicPr>
            <a:picLocks noChangeAspect="1"/>
          </p:cNvPicPr>
          <p:nvPr/>
        </p:nvPicPr>
        <p:blipFill>
          <a:blip r:embed="rId3"/>
          <a:stretch>
            <a:fillRect/>
          </a:stretch>
        </p:blipFill>
        <p:spPr>
          <a:xfrm>
            <a:off x="1143000" y="1055915"/>
            <a:ext cx="8229600" cy="5183769"/>
          </a:xfrm>
          <a:prstGeom prst="rect">
            <a:avLst/>
          </a:prstGeom>
        </p:spPr>
      </p:pic>
      <p:sp>
        <p:nvSpPr>
          <p:cNvPr id="5" name="Oval 4">
            <a:extLst>
              <a:ext uri="{FF2B5EF4-FFF2-40B4-BE49-F238E27FC236}">
                <a16:creationId xmlns:a16="http://schemas.microsoft.com/office/drawing/2014/main" id="{E2872A60-B183-F7A5-42D7-4151FD8511B2}"/>
              </a:ext>
            </a:extLst>
          </p:cNvPr>
          <p:cNvSpPr/>
          <p:nvPr/>
        </p:nvSpPr>
        <p:spPr>
          <a:xfrm>
            <a:off x="5638800" y="3733800"/>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78F8B06-3A00-FF42-44E1-457EEC8210AB}"/>
              </a:ext>
            </a:extLst>
          </p:cNvPr>
          <p:cNvSpPr/>
          <p:nvPr/>
        </p:nvSpPr>
        <p:spPr>
          <a:xfrm>
            <a:off x="4991100" y="3086100"/>
            <a:ext cx="1371600" cy="1371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79016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The Bias/Variance Tradeoff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pPr marL="274320" lvl="1" indent="0">
                  <a:buNone/>
                </a:pPr>
                <a:r>
                  <a:rPr lang="en-US" sz="2400" dirty="0">
                    <a:cs typeface="Times New Roman" panose="02020603050405020304" pitchFamily="18" charset="0"/>
                  </a:rPr>
                  <a:t>Does the choice of radius (bandwidth) matter? </a:t>
                </a:r>
              </a:p>
              <a:p>
                <a:pPr lvl="1"/>
                <a:r>
                  <a:rPr lang="en-US" sz="2400" dirty="0">
                    <a:cs typeface="Times New Roman" panose="02020603050405020304" pitchFamily="18" charset="0"/>
                  </a:rPr>
                  <a:t>More observations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more precise estimates (</a:t>
                </a:r>
                <a:r>
                  <a:rPr lang="en-US" sz="2400" b="1" dirty="0">
                    <a:solidFill>
                      <a:schemeClr val="accent2">
                        <a:lumMod val="75000"/>
                      </a:schemeClr>
                    </a:solidFill>
                    <a:cs typeface="Times New Roman" panose="02020603050405020304" pitchFamily="18" charset="0"/>
                  </a:rPr>
                  <a:t>variance</a:t>
                </a:r>
                <a:r>
                  <a:rPr lang="en-US" sz="2400" dirty="0">
                    <a:cs typeface="Times New Roman" panose="02020603050405020304" pitchFamily="18" charset="0"/>
                  </a:rPr>
                  <a:t>) </a:t>
                </a:r>
              </a:p>
              <a:p>
                <a:pPr lvl="1"/>
                <a:r>
                  <a:rPr lang="en-US" sz="2400" dirty="0">
                    <a:cs typeface="Times New Roman" panose="02020603050405020304" pitchFamily="18" charset="0"/>
                  </a:rPr>
                  <a:t>More observations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oMath>
                </a14:m>
                <a:r>
                  <a:rPr lang="en-US" sz="2400" b="1" dirty="0">
                    <a:solidFill>
                      <a:schemeClr val="accent2">
                        <a:lumMod val="75000"/>
                      </a:schemeClr>
                    </a:solidFill>
                    <a:cs typeface="Times New Roman" panose="02020603050405020304" pitchFamily="18" charset="0"/>
                  </a:rPr>
                  <a:t> </a:t>
                </a:r>
                <a:r>
                  <a:rPr lang="en-US" sz="2400" dirty="0">
                    <a:cs typeface="Times New Roman" panose="02020603050405020304" pitchFamily="18" charset="0"/>
                  </a:rPr>
                  <a:t>worse quality matches (</a:t>
                </a:r>
                <a:r>
                  <a:rPr lang="en-US" sz="2400" b="1" dirty="0">
                    <a:solidFill>
                      <a:schemeClr val="accent2">
                        <a:lumMod val="75000"/>
                      </a:schemeClr>
                    </a:solidFill>
                    <a:cs typeface="Times New Roman" panose="02020603050405020304" pitchFamily="18" charset="0"/>
                  </a:rPr>
                  <a:t>bias</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This is a classic problem that pops up in many identification strategies!</a:t>
                </a:r>
              </a:p>
              <a:p>
                <a:r>
                  <a:rPr lang="en-US" sz="2400" dirty="0">
                    <a:cs typeface="Times New Roman" panose="02020603050405020304" pitchFamily="18" charset="0"/>
                  </a:rPr>
                  <a:t>Essentially, we are using data to its limits – no free lunches</a:t>
                </a:r>
              </a:p>
              <a:p>
                <a:r>
                  <a:rPr lang="en-US" sz="2400" dirty="0">
                    <a:cs typeface="Times New Roman" panose="02020603050405020304" pitchFamily="18" charset="0"/>
                  </a:rPr>
                  <a:t>The problem isn’t limited to radius choice                                                         (e.g., sampling with/without replacement)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876" t="-1661"/>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8AF0107B-FC09-8152-8670-E095B17035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56805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Nearest Neighbor Matching in Practice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237AF9E-7447-969B-46EC-461FC8693B8E}"/>
                  </a:ext>
                </a:extLst>
              </p:cNvPr>
              <p:cNvSpPr>
                <a:spLocks noGrp="1"/>
              </p:cNvSpPr>
              <p:nvPr>
                <p:ph idx="1"/>
              </p:nvPr>
            </p:nvSpPr>
            <p:spPr>
              <a:xfrm>
                <a:off x="609600" y="853440"/>
                <a:ext cx="10439400" cy="5326697"/>
              </a:xfrm>
            </p:spPr>
            <p:txBody>
              <a:bodyPr>
                <a:normAutofit/>
              </a:bodyPr>
              <a:lstStyle/>
              <a:p>
                <a:r>
                  <a:rPr lang="en-US" sz="2400" dirty="0"/>
                  <a:t>Estimate propensity score for each individual: </a:t>
                </a:r>
              </a:p>
              <a:p>
                <a:pPr marL="0" indent="0">
                  <a:buNone/>
                </a:pPr>
                <a14:m>
                  <m:oMathPara xmlns:m="http://schemas.openxmlformats.org/officeDocument/2006/math">
                    <m:oMath>
                      <m:r>
                        <m:rPr>
                          <m:sty m:val="p"/>
                        </m:rPr>
                        <a:rPr lang="en-US" sz="2400" b="0" i="0" smtClean="0">
                          <a:latin typeface="Cambria Math" panose="02040503050406030204" pitchFamily="18" charset="0"/>
                        </a:rPr>
                        <m:t>Pr</m:t>
                      </m:r>
                      <m:r>
                        <a:rPr lang="en-US" sz="2400" b="0" i="1" smtClean="0">
                          <a:latin typeface="Cambria Math" panose="02040503050406030204" pitchFamily="18" charset="0"/>
                        </a:rPr>
                        <m:t>⁡(</m:t>
                      </m:r>
                      <m:r>
                        <a:rPr lang="en-US" sz="2400" b="0" i="1" smtClean="0">
                          <a:latin typeface="Cambria Math" panose="02040503050406030204" pitchFamily="18" charset="0"/>
                        </a:rPr>
                        <m:t>𝐵𝑒𝑛𝑒𝑓𝑖𝑡</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r>
                            <a:rPr lang="en-US" sz="2400" b="0" i="1" smtClean="0">
                              <a:latin typeface="Cambria Math" panose="02040503050406030204" pitchFamily="18" charset="0"/>
                            </a:rPr>
                            <m:t>)</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𝛽</m:t>
                          </m:r>
                        </m:e>
                      </m:acc>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𝜀</m:t>
                          </m:r>
                        </m:e>
                        <m:sub>
                          <m:r>
                            <a:rPr lang="en-US" sz="2400" b="0" i="1" smtClean="0">
                              <a:latin typeface="Cambria Math" panose="02040503050406030204" pitchFamily="18" charset="0"/>
                            </a:rPr>
                            <m:t>𝑖</m:t>
                          </m:r>
                        </m:sub>
                      </m:sSub>
                    </m:oMath>
                  </m:oMathPara>
                </a14:m>
                <a:endParaRPr lang="en-US" sz="2400" b="0" dirty="0"/>
              </a:p>
              <a:p>
                <a:pPr lvl="1"/>
                <a:r>
                  <a:rPr lang="en-US" sz="2200" dirty="0"/>
                  <a:t>What goes in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𝑋</m:t>
                        </m:r>
                      </m:e>
                      <m:sub>
                        <m:r>
                          <a:rPr lang="en-US" sz="2200" b="0" i="1" smtClean="0">
                            <a:latin typeface="Cambria Math" panose="02040503050406030204" pitchFamily="18" charset="0"/>
                          </a:rPr>
                          <m:t>𝑖</m:t>
                        </m:r>
                      </m:sub>
                    </m:sSub>
                  </m:oMath>
                </a14:m>
                <a:r>
                  <a:rPr lang="en-US" sz="2200" dirty="0"/>
                  <a:t>? Are they good controls? Bad controls?</a:t>
                </a:r>
              </a:p>
              <a:p>
                <a:pPr lvl="1"/>
                <a:r>
                  <a:rPr lang="en-US" sz="2200" dirty="0"/>
                  <a:t>Is there anything missing that should be included?  </a:t>
                </a:r>
              </a:p>
            </p:txBody>
          </p:sp>
        </mc:Choice>
        <mc:Fallback xmlns="">
          <p:sp>
            <p:nvSpPr>
              <p:cNvPr id="4" name="Content Placeholder 3">
                <a:extLst>
                  <a:ext uri="{FF2B5EF4-FFF2-40B4-BE49-F238E27FC236}">
                    <a16:creationId xmlns:a16="http://schemas.microsoft.com/office/drawing/2014/main" id="{2237AF9E-7447-969B-46EC-461FC8693B8E}"/>
                  </a:ext>
                </a:extLst>
              </p:cNvPr>
              <p:cNvSpPr>
                <a:spLocks noGrp="1" noRot="1" noChangeAspect="1" noMove="1" noResize="1" noEditPoints="1" noAdjustHandles="1" noChangeArrowheads="1" noChangeShapeType="1" noTextEdit="1"/>
              </p:cNvSpPr>
              <p:nvPr>
                <p:ph idx="1"/>
              </p:nvPr>
            </p:nvSpPr>
            <p:spPr>
              <a:xfrm>
                <a:off x="609600" y="853440"/>
                <a:ext cx="10439400" cy="5326697"/>
              </a:xfrm>
              <a:blipFill>
                <a:blip r:embed="rId3"/>
                <a:stretch>
                  <a:fillRect l="-409" t="-1259"/>
                </a:stretch>
              </a:blipFill>
            </p:spPr>
            <p:txBody>
              <a:bodyPr/>
              <a:lstStyle/>
              <a:p>
                <a:r>
                  <a:rPr lang="en-US">
                    <a:noFill/>
                  </a:rPr>
                  <a:t> </a:t>
                </a:r>
              </a:p>
            </p:txBody>
          </p:sp>
        </mc:Fallback>
      </mc:AlternateContent>
    </p:spTree>
    <p:extLst>
      <p:ext uri="{BB962C8B-B14F-4D97-AF65-F5344CB8AC3E}">
        <p14:creationId xmlns:p14="http://schemas.microsoft.com/office/powerpoint/2010/main" val="38927975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Nearest Neighbor Matching in Practice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237AF9E-7447-969B-46EC-461FC8693B8E}"/>
                  </a:ext>
                </a:extLst>
              </p:cNvPr>
              <p:cNvSpPr>
                <a:spLocks noGrp="1"/>
              </p:cNvSpPr>
              <p:nvPr>
                <p:ph idx="1"/>
              </p:nvPr>
            </p:nvSpPr>
            <p:spPr>
              <a:xfrm>
                <a:off x="609600" y="853440"/>
                <a:ext cx="10439400" cy="5326697"/>
              </a:xfrm>
            </p:spPr>
            <p:txBody>
              <a:bodyPr>
                <a:normAutofit/>
              </a:bodyPr>
              <a:lstStyle/>
              <a:p>
                <a:r>
                  <a:rPr lang="en-US" sz="2400" dirty="0"/>
                  <a:t>Estimate propensity score for each individual: </a:t>
                </a:r>
              </a:p>
              <a:p>
                <a:pPr marL="0" indent="0">
                  <a:buNone/>
                </a:pPr>
                <a14:m>
                  <m:oMathPara xmlns:m="http://schemas.openxmlformats.org/officeDocument/2006/math">
                    <m:oMath>
                      <m:r>
                        <m:rPr>
                          <m:sty m:val="p"/>
                        </m:rPr>
                        <a:rPr lang="en-US" sz="2400" b="0" i="0" smtClean="0">
                          <a:latin typeface="Cambria Math" panose="02040503050406030204" pitchFamily="18" charset="0"/>
                        </a:rPr>
                        <m:t>Pr</m:t>
                      </m:r>
                      <m:r>
                        <a:rPr lang="en-US" sz="2400" b="0" i="1" smtClean="0">
                          <a:latin typeface="Cambria Math" panose="02040503050406030204" pitchFamily="18" charset="0"/>
                        </a:rPr>
                        <m:t>⁡(</m:t>
                      </m:r>
                      <m:r>
                        <a:rPr lang="en-US" sz="2400" b="0" i="1" smtClean="0">
                          <a:latin typeface="Cambria Math" panose="02040503050406030204" pitchFamily="18" charset="0"/>
                        </a:rPr>
                        <m:t>𝐵𝑒𝑛𝑒𝑓𝑖𝑡</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r>
                            <a:rPr lang="en-US" sz="2400" b="0" i="1" smtClean="0">
                              <a:latin typeface="Cambria Math" panose="02040503050406030204" pitchFamily="18" charset="0"/>
                            </a:rPr>
                            <m:t>)</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𝛽</m:t>
                          </m:r>
                        </m:e>
                      </m:acc>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𝜀</m:t>
                          </m:r>
                        </m:e>
                        <m:sub>
                          <m:r>
                            <a:rPr lang="en-US" sz="2400" b="0" i="1" smtClean="0">
                              <a:latin typeface="Cambria Math" panose="02040503050406030204" pitchFamily="18" charset="0"/>
                            </a:rPr>
                            <m:t>𝑖</m:t>
                          </m:r>
                        </m:sub>
                      </m:sSub>
                    </m:oMath>
                  </m:oMathPara>
                </a14:m>
                <a:endParaRPr lang="en-US" sz="2400" b="0" dirty="0"/>
              </a:p>
              <a:p>
                <a:pPr lvl="1"/>
                <a:r>
                  <a:rPr lang="en-US" sz="2200" dirty="0"/>
                  <a:t>What goes in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𝑋</m:t>
                        </m:r>
                      </m:e>
                      <m:sub>
                        <m:r>
                          <a:rPr lang="en-US" sz="2200" b="0" i="1" smtClean="0">
                            <a:latin typeface="Cambria Math" panose="02040503050406030204" pitchFamily="18" charset="0"/>
                          </a:rPr>
                          <m:t>𝑖</m:t>
                        </m:r>
                      </m:sub>
                    </m:sSub>
                  </m:oMath>
                </a14:m>
                <a:r>
                  <a:rPr lang="en-US" sz="2200" dirty="0"/>
                  <a:t>? Are they good controls? Bad controls?</a:t>
                </a:r>
              </a:p>
              <a:p>
                <a:pPr lvl="1"/>
                <a:r>
                  <a:rPr lang="en-US" sz="2200" dirty="0"/>
                  <a:t>Is there anything missing that should be included? </a:t>
                </a:r>
              </a:p>
            </p:txBody>
          </p:sp>
        </mc:Choice>
        <mc:Fallback xmlns="">
          <p:sp>
            <p:nvSpPr>
              <p:cNvPr id="4" name="Content Placeholder 3">
                <a:extLst>
                  <a:ext uri="{FF2B5EF4-FFF2-40B4-BE49-F238E27FC236}">
                    <a16:creationId xmlns:a16="http://schemas.microsoft.com/office/drawing/2014/main" id="{2237AF9E-7447-969B-46EC-461FC8693B8E}"/>
                  </a:ext>
                </a:extLst>
              </p:cNvPr>
              <p:cNvSpPr>
                <a:spLocks noGrp="1" noRot="1" noChangeAspect="1" noMove="1" noResize="1" noEditPoints="1" noAdjustHandles="1" noChangeArrowheads="1" noChangeShapeType="1" noTextEdit="1"/>
              </p:cNvSpPr>
              <p:nvPr>
                <p:ph idx="1"/>
              </p:nvPr>
            </p:nvSpPr>
            <p:spPr>
              <a:xfrm>
                <a:off x="609600" y="853440"/>
                <a:ext cx="10439400" cy="5326697"/>
              </a:xfrm>
              <a:blipFill>
                <a:blip r:embed="rId3"/>
                <a:stretch>
                  <a:fillRect l="-409" t="-1259"/>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1550962B-C4BE-A5E0-C5EB-B9030B8984CF}"/>
              </a:ext>
            </a:extLst>
          </p:cNvPr>
          <p:cNvPicPr>
            <a:picLocks noChangeAspect="1"/>
          </p:cNvPicPr>
          <p:nvPr/>
        </p:nvPicPr>
        <p:blipFill>
          <a:blip r:embed="rId4"/>
          <a:stretch>
            <a:fillRect/>
          </a:stretch>
        </p:blipFill>
        <p:spPr>
          <a:xfrm>
            <a:off x="533400" y="2776372"/>
            <a:ext cx="8167187" cy="3243428"/>
          </a:xfrm>
          <a:prstGeom prst="rect">
            <a:avLst/>
          </a:prstGeom>
        </p:spPr>
      </p:pic>
    </p:spTree>
    <p:extLst>
      <p:ext uri="{BB962C8B-B14F-4D97-AF65-F5344CB8AC3E}">
        <p14:creationId xmlns:p14="http://schemas.microsoft.com/office/powerpoint/2010/main" val="38575637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Nearest Neighbor Matching in Practice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237AF9E-7447-969B-46EC-461FC8693B8E}"/>
                  </a:ext>
                </a:extLst>
              </p:cNvPr>
              <p:cNvSpPr>
                <a:spLocks noGrp="1"/>
              </p:cNvSpPr>
              <p:nvPr>
                <p:ph idx="1"/>
              </p:nvPr>
            </p:nvSpPr>
            <p:spPr>
              <a:xfrm>
                <a:off x="609600" y="853440"/>
                <a:ext cx="10439400" cy="5326697"/>
              </a:xfrm>
            </p:spPr>
            <p:txBody>
              <a:bodyPr>
                <a:normAutofit/>
              </a:bodyPr>
              <a:lstStyle/>
              <a:p>
                <a:r>
                  <a:rPr lang="en-US" sz="2400" dirty="0"/>
                  <a:t>Estimate propensity score for each individual: </a:t>
                </a:r>
              </a:p>
              <a:p>
                <a:pPr marL="0" indent="0">
                  <a:buNone/>
                </a:pPr>
                <a14:m>
                  <m:oMathPara xmlns:m="http://schemas.openxmlformats.org/officeDocument/2006/math">
                    <m:oMath>
                      <m:r>
                        <m:rPr>
                          <m:sty m:val="p"/>
                        </m:rPr>
                        <a:rPr lang="en-US" sz="2400" b="0" i="0" smtClean="0">
                          <a:latin typeface="Cambria Math" panose="02040503050406030204" pitchFamily="18" charset="0"/>
                        </a:rPr>
                        <m:t>Pr</m:t>
                      </m:r>
                      <m:r>
                        <a:rPr lang="en-US" sz="2400" b="0" i="1" smtClean="0">
                          <a:latin typeface="Cambria Math" panose="02040503050406030204" pitchFamily="18" charset="0"/>
                        </a:rPr>
                        <m:t>⁡(</m:t>
                      </m:r>
                      <m:r>
                        <a:rPr lang="en-US" sz="2400" b="0" i="1" smtClean="0">
                          <a:latin typeface="Cambria Math" panose="02040503050406030204" pitchFamily="18" charset="0"/>
                        </a:rPr>
                        <m:t>𝐵𝑒𝑛𝑒𝑓𝑖𝑡</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r>
                            <a:rPr lang="en-US" sz="2400" b="0" i="1" smtClean="0">
                              <a:latin typeface="Cambria Math" panose="02040503050406030204" pitchFamily="18" charset="0"/>
                            </a:rPr>
                            <m:t>)</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𝛽</m:t>
                          </m:r>
                        </m:e>
                      </m:acc>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𝜀</m:t>
                          </m:r>
                        </m:e>
                        <m:sub>
                          <m:r>
                            <a:rPr lang="en-US" sz="2400" b="0" i="1" smtClean="0">
                              <a:latin typeface="Cambria Math" panose="02040503050406030204" pitchFamily="18" charset="0"/>
                            </a:rPr>
                            <m:t>𝑖</m:t>
                          </m:r>
                        </m:sub>
                      </m:sSub>
                    </m:oMath>
                  </m:oMathPara>
                </a14:m>
                <a:endParaRPr lang="en-US" sz="2400" b="0" dirty="0"/>
              </a:p>
              <a:p>
                <a:pPr lvl="1"/>
                <a:r>
                  <a:rPr lang="en-US" sz="2200" dirty="0"/>
                  <a:t>What goes in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𝑋</m:t>
                        </m:r>
                      </m:e>
                      <m:sub>
                        <m:r>
                          <a:rPr lang="en-US" sz="2200" b="0" i="1" smtClean="0">
                            <a:latin typeface="Cambria Math" panose="02040503050406030204" pitchFamily="18" charset="0"/>
                          </a:rPr>
                          <m:t>𝑖</m:t>
                        </m:r>
                      </m:sub>
                    </m:sSub>
                  </m:oMath>
                </a14:m>
                <a:r>
                  <a:rPr lang="en-US" sz="2200" dirty="0"/>
                  <a:t>? Are they good controls? Bad controls?</a:t>
                </a:r>
              </a:p>
              <a:p>
                <a:pPr lvl="1"/>
                <a:r>
                  <a:rPr lang="en-US" sz="2200" dirty="0"/>
                  <a:t>Is there anything missing that should be included? </a:t>
                </a:r>
              </a:p>
            </p:txBody>
          </p:sp>
        </mc:Choice>
        <mc:Fallback xmlns="">
          <p:sp>
            <p:nvSpPr>
              <p:cNvPr id="4" name="Content Placeholder 3">
                <a:extLst>
                  <a:ext uri="{FF2B5EF4-FFF2-40B4-BE49-F238E27FC236}">
                    <a16:creationId xmlns:a16="http://schemas.microsoft.com/office/drawing/2014/main" id="{2237AF9E-7447-969B-46EC-461FC8693B8E}"/>
                  </a:ext>
                </a:extLst>
              </p:cNvPr>
              <p:cNvSpPr>
                <a:spLocks noGrp="1" noRot="1" noChangeAspect="1" noMove="1" noResize="1" noEditPoints="1" noAdjustHandles="1" noChangeArrowheads="1" noChangeShapeType="1" noTextEdit="1"/>
              </p:cNvSpPr>
              <p:nvPr>
                <p:ph idx="1"/>
              </p:nvPr>
            </p:nvSpPr>
            <p:spPr>
              <a:xfrm>
                <a:off x="609600" y="853440"/>
                <a:ext cx="10439400" cy="5326697"/>
              </a:xfrm>
              <a:blipFill>
                <a:blip r:embed="rId3"/>
                <a:stretch>
                  <a:fillRect l="-409" t="-1259"/>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1550962B-C4BE-A5E0-C5EB-B9030B8984CF}"/>
              </a:ext>
            </a:extLst>
          </p:cNvPr>
          <p:cNvPicPr>
            <a:picLocks noChangeAspect="1"/>
          </p:cNvPicPr>
          <p:nvPr/>
        </p:nvPicPr>
        <p:blipFill>
          <a:blip r:embed="rId4"/>
          <a:stretch>
            <a:fillRect/>
          </a:stretch>
        </p:blipFill>
        <p:spPr>
          <a:xfrm>
            <a:off x="533400" y="2776372"/>
            <a:ext cx="8167187" cy="3243428"/>
          </a:xfrm>
          <a:prstGeom prst="rect">
            <a:avLst/>
          </a:prstGeom>
        </p:spPr>
      </p:pic>
      <p:sp>
        <p:nvSpPr>
          <p:cNvPr id="3" name="TextBox 2">
            <a:extLst>
              <a:ext uri="{FF2B5EF4-FFF2-40B4-BE49-F238E27FC236}">
                <a16:creationId xmlns:a16="http://schemas.microsoft.com/office/drawing/2014/main" id="{F8CB2F5E-3C41-73E8-A8BB-21DE9415AC8F}"/>
              </a:ext>
            </a:extLst>
          </p:cNvPr>
          <p:cNvSpPr txBox="1"/>
          <p:nvPr/>
        </p:nvSpPr>
        <p:spPr>
          <a:xfrm>
            <a:off x="6605087" y="2031684"/>
            <a:ext cx="4343400" cy="3139321"/>
          </a:xfrm>
          <a:prstGeom prst="rect">
            <a:avLst/>
          </a:prstGeom>
          <a:solidFill>
            <a:schemeClr val="accent2"/>
          </a:solidFill>
          <a:ln>
            <a:solidFill>
              <a:schemeClr val="accent1"/>
            </a:solidFill>
          </a:ln>
        </p:spPr>
        <p:txBody>
          <a:bodyPr wrap="square" rtlCol="0">
            <a:spAutoFit/>
          </a:bodyPr>
          <a:lstStyle/>
          <a:p>
            <a:pPr marL="457200" indent="-457200">
              <a:buAutoNum type="arabicPeriod"/>
            </a:pPr>
            <a:r>
              <a:rPr lang="en-US" sz="2200" dirty="0">
                <a:latin typeface="Aptos" panose="020B0004020202020204" pitchFamily="34" charset="0"/>
                <a:cs typeface="Aparajita" panose="02020603050405020304" pitchFamily="18" charset="0"/>
              </a:rPr>
              <a:t>Match size of </a:t>
            </a:r>
            <a:r>
              <a:rPr lang="en-US" sz="2200" i="1" dirty="0">
                <a:latin typeface="Aptos" panose="020B0004020202020204" pitchFamily="34" charset="0"/>
                <a:cs typeface="Aparajita" panose="02020603050405020304" pitchFamily="18" charset="0"/>
              </a:rPr>
              <a:t>k </a:t>
            </a:r>
            <a:r>
              <a:rPr lang="en-US" sz="2200" dirty="0">
                <a:latin typeface="Aptos" panose="020B0004020202020204" pitchFamily="34" charset="0"/>
                <a:cs typeface="Aparajita" panose="02020603050405020304" pitchFamily="18" charset="0"/>
              </a:rPr>
              <a:t>neighbors</a:t>
            </a:r>
          </a:p>
          <a:p>
            <a:pPr marL="457200" indent="-457200">
              <a:buAutoNum type="arabicPeriod"/>
            </a:pPr>
            <a:r>
              <a:rPr lang="en-US" sz="2200" dirty="0">
                <a:latin typeface="Aptos" panose="020B0004020202020204" pitchFamily="34" charset="0"/>
                <a:cs typeface="Aparajita" panose="02020603050405020304" pitchFamily="18" charset="0"/>
              </a:rPr>
              <a:t>How were neighbors defined? </a:t>
            </a:r>
            <a:r>
              <a:rPr lang="en-US" sz="2200" b="1" u="sng" dirty="0">
                <a:latin typeface="Aptos" panose="020B0004020202020204" pitchFamily="34" charset="0"/>
                <a:cs typeface="Aparajita" panose="02020603050405020304" pitchFamily="18" charset="0"/>
              </a:rPr>
              <a:t>Predicted</a:t>
            </a:r>
            <a:r>
              <a:rPr lang="en-US" sz="2200" dirty="0">
                <a:latin typeface="Aptos" panose="020B0004020202020204" pitchFamily="34" charset="0"/>
                <a:cs typeface="Aparajita" panose="02020603050405020304" pitchFamily="18" charset="0"/>
              </a:rPr>
              <a:t> Propensity score</a:t>
            </a:r>
          </a:p>
          <a:p>
            <a:pPr marL="457200" indent="-457200">
              <a:buFont typeface="+mj-lt"/>
              <a:buAutoNum type="arabicPeriod"/>
            </a:pPr>
            <a:r>
              <a:rPr lang="en-US" sz="2200" dirty="0">
                <a:latin typeface="Aptos" panose="020B0004020202020204" pitchFamily="34" charset="0"/>
                <a:cs typeface="Aparajita" panose="02020603050405020304" pitchFamily="18" charset="0"/>
              </a:rPr>
              <a:t>How are the propensity scores used? </a:t>
            </a:r>
          </a:p>
          <a:p>
            <a:pPr marL="914400" lvl="1" indent="-457200">
              <a:buFont typeface="Arial" panose="020B0604020202020204" pitchFamily="34" charset="0"/>
              <a:buChar char="•"/>
            </a:pPr>
            <a:r>
              <a:rPr lang="en-US" sz="2200" dirty="0">
                <a:latin typeface="Aptos" panose="020B0004020202020204" pitchFamily="34" charset="0"/>
                <a:cs typeface="Aparajita" panose="02020603050405020304" pitchFamily="18" charset="0"/>
              </a:rPr>
              <a:t>Closest propensity scores within the “caliper” </a:t>
            </a:r>
          </a:p>
          <a:p>
            <a:pPr marL="914400" lvl="1" indent="-457200">
              <a:buFont typeface="Arial" panose="020B0604020202020204" pitchFamily="34" charset="0"/>
              <a:buChar char="•"/>
            </a:pPr>
            <a:r>
              <a:rPr lang="en-US" sz="2200" dirty="0">
                <a:latin typeface="Aptos" panose="020B0004020202020204" pitchFamily="34" charset="0"/>
                <a:cs typeface="Aparajita" panose="02020603050405020304" pitchFamily="18" charset="0"/>
              </a:rPr>
              <a:t>Matching without replacement</a:t>
            </a:r>
          </a:p>
        </p:txBody>
      </p:sp>
    </p:spTree>
    <p:extLst>
      <p:ext uri="{BB962C8B-B14F-4D97-AF65-F5344CB8AC3E}">
        <p14:creationId xmlns:p14="http://schemas.microsoft.com/office/powerpoint/2010/main" val="31258786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Propensity Score Matching</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066801"/>
                <a:ext cx="10515601" cy="5141388"/>
              </a:xfrm>
            </p:spPr>
            <p:txBody>
              <a:bodyPr>
                <a:noAutofit/>
              </a:bodyPr>
              <a:lstStyle/>
              <a:p>
                <a:pPr lvl="1"/>
                <a:r>
                  <a:rPr lang="en-US" sz="2400" dirty="0">
                    <a:cs typeface="Times New Roman" panose="02020603050405020304" pitchFamily="18" charset="0"/>
                  </a:rPr>
                  <a:t>Goal: predict treatment status of each observation based on covariates</a:t>
                </a:r>
              </a:p>
              <a:p>
                <a:pPr lvl="2"/>
                <a:r>
                  <a:rPr lang="en-US" sz="2400" dirty="0">
                    <a:cs typeface="Times New Roman" panose="02020603050405020304" pitchFamily="18" charset="0"/>
                  </a:rPr>
                  <a:t>Use a nonlinear method (logit, </a:t>
                </a:r>
                <a:r>
                  <a:rPr lang="en-US" sz="2400" dirty="0" err="1">
                    <a:cs typeface="Times New Roman" panose="02020603050405020304" pitchFamily="18" charset="0"/>
                  </a:rPr>
                  <a:t>probit</a:t>
                </a:r>
                <a:r>
                  <a:rPr lang="en-US" sz="2400" dirty="0">
                    <a:cs typeface="Times New Roman" panose="02020603050405020304" pitchFamily="18" charset="0"/>
                  </a:rPr>
                  <a:t>, etc.)</a:t>
                </a:r>
              </a:p>
              <a:p>
                <a:pPr lvl="2"/>
                <a:r>
                  <a:rPr lang="en-US" sz="2400" dirty="0">
                    <a:cs typeface="Times New Roman" panose="02020603050405020304" pitchFamily="18" charset="0"/>
                  </a:rPr>
                  <a:t>This “first stage” regression predicts </a:t>
                </a:r>
                <a14:m>
                  <m:oMath xmlns:m="http://schemas.openxmlformats.org/officeDocument/2006/math">
                    <m:acc>
                      <m:accPr>
                        <m:chr m:val="̂"/>
                        <m:ctrlPr>
                          <a:rPr lang="en-CA" sz="2400" b="0" i="1" smtClean="0">
                            <a:latin typeface="Cambria Math" panose="02040503050406030204" pitchFamily="18" charset="0"/>
                            <a:cs typeface="Times New Roman" panose="02020603050405020304" pitchFamily="18" charset="0"/>
                          </a:rPr>
                        </m:ctrlPr>
                      </m:accPr>
                      <m:e>
                        <m:r>
                          <a:rPr lang="en-CA" sz="2400" b="0" i="1" smtClean="0">
                            <a:latin typeface="Cambria Math" panose="02040503050406030204" pitchFamily="18" charset="0"/>
                            <a:cs typeface="Times New Roman" panose="02020603050405020304" pitchFamily="18" charset="0"/>
                          </a:rPr>
                          <m:t>𝑦</m:t>
                        </m:r>
                      </m:e>
                    </m:acc>
                    <m:r>
                      <a:rPr lang="en-CA" sz="2400" b="0" i="0" dirty="0" smtClean="0">
                        <a:latin typeface="Cambria Math" panose="02040503050406030204" pitchFamily="18" charset="0"/>
                        <a:cs typeface="Times New Roman" panose="02020603050405020304" pitchFamily="18" charset="0"/>
                      </a:rPr>
                      <m:t> (</m:t>
                    </m:r>
                    <m:r>
                      <m:rPr>
                        <m:sty m:val="p"/>
                      </m:rPr>
                      <a:rPr lang="en-CA" sz="2400" b="0" i="0" dirty="0" smtClean="0">
                        <a:latin typeface="Cambria Math" panose="02040503050406030204" pitchFamily="18" charset="0"/>
                        <a:cs typeface="Times New Roman" panose="02020603050405020304" pitchFamily="18" charset="0"/>
                      </a:rPr>
                      <m:t>or</m:t>
                    </m:r>
                    <m:r>
                      <a:rPr lang="en-CA" sz="2400" b="0" i="0" dirty="0" smtClean="0">
                        <a:latin typeface="Cambria Math" panose="02040503050406030204" pitchFamily="18" charset="0"/>
                        <a:cs typeface="Times New Roman" panose="02020603050405020304" pitchFamily="18" charset="0"/>
                      </a:rPr>
                      <m:t> </m:t>
                    </m:r>
                    <m:acc>
                      <m:accPr>
                        <m:chr m:val="̂"/>
                        <m:ctrlPr>
                          <a:rPr lang="en-CA" sz="2400" b="0" i="0" dirty="0" smtClean="0">
                            <a:latin typeface="Cambria Math" panose="02040503050406030204" pitchFamily="18" charset="0"/>
                            <a:cs typeface="Times New Roman" panose="02020603050405020304" pitchFamily="18" charset="0"/>
                          </a:rPr>
                        </m:ctrlPr>
                      </m:accPr>
                      <m:e>
                        <m:r>
                          <m:rPr>
                            <m:sty m:val="p"/>
                          </m:rPr>
                          <a:rPr lang="en-CA" sz="2400" b="0" i="0" dirty="0" smtClean="0">
                            <a:latin typeface="Cambria Math" panose="02040503050406030204" pitchFamily="18" charset="0"/>
                            <a:cs typeface="Times New Roman" panose="02020603050405020304" pitchFamily="18" charset="0"/>
                          </a:rPr>
                          <m:t>D</m:t>
                        </m:r>
                      </m:e>
                    </m:acc>
                    <m:r>
                      <a:rPr lang="en-CA" sz="2400" b="0" i="0" dirty="0"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not </a:t>
                </a:r>
                <a14:m>
                  <m:oMath xmlns:m="http://schemas.openxmlformats.org/officeDocument/2006/math">
                    <m:acc>
                      <m:accPr>
                        <m:chr m:val="̂"/>
                        <m:ctrlPr>
                          <a:rPr lang="en-CA" sz="2400" b="0" i="1" smtClean="0">
                            <a:latin typeface="Cambria Math" panose="02040503050406030204" pitchFamily="18" charset="0"/>
                            <a:cs typeface="Times New Roman" panose="02020603050405020304" pitchFamily="18" charset="0"/>
                          </a:rPr>
                        </m:ctrlPr>
                      </m:accPr>
                      <m:e>
                        <m:r>
                          <a:rPr lang="en-CA" sz="2400" b="0" i="1" smtClean="0">
                            <a:latin typeface="Cambria Math" panose="02040503050406030204" pitchFamily="18" charset="0"/>
                            <a:cs typeface="Times New Roman" panose="02020603050405020304" pitchFamily="18" charset="0"/>
                          </a:rPr>
                          <m:t>𝛽</m:t>
                        </m:r>
                      </m:e>
                    </m:acc>
                  </m:oMath>
                </a14:m>
                <a:endParaRPr lang="en-US" sz="2400" dirty="0">
                  <a:cs typeface="Times New Roman" panose="02020603050405020304" pitchFamily="18" charset="0"/>
                </a:endParaRPr>
              </a:p>
              <a:p>
                <a:pPr lvl="2"/>
                <a:r>
                  <a:rPr lang="en-US" sz="2400" dirty="0">
                    <a:cs typeface="Times New Roman" panose="02020603050405020304" pitchFamily="18" charset="0"/>
                  </a:rPr>
                  <a:t>This is the propensity score: </a:t>
                </a:r>
                <a14:m>
                  <m:oMath xmlns:m="http://schemas.openxmlformats.org/officeDocument/2006/math">
                    <m:r>
                      <m:rPr>
                        <m:sty m:val="p"/>
                      </m:rPr>
                      <a:rPr lang="en-CA" sz="2400" b="0" i="0" smtClean="0">
                        <a:latin typeface="Cambria Math" panose="02040503050406030204" pitchFamily="18" charset="0"/>
                        <a:cs typeface="Times New Roman" panose="02020603050405020304" pitchFamily="18" charset="0"/>
                      </a:rPr>
                      <m:t>Pr</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𝐷</m:t>
                    </m:r>
                    <m:r>
                      <a:rPr lang="en-CA" sz="2400" b="0" i="1" smtClean="0">
                        <a:latin typeface="Cambria Math" panose="02040503050406030204" pitchFamily="18" charset="0"/>
                        <a:cs typeface="Times New Roman" panose="02020603050405020304" pitchFamily="18" charset="0"/>
                      </a:rPr>
                      <m:t>=1|</m:t>
                    </m:r>
                    <m:r>
                      <a:rPr lang="en-CA" sz="2400" b="0" i="1" smtClean="0">
                        <a:latin typeface="Cambria Math" panose="02040503050406030204" pitchFamily="18" charset="0"/>
                        <a:cs typeface="Times New Roman" panose="02020603050405020304" pitchFamily="18" charset="0"/>
                      </a:rPr>
                      <m:t>𝑋</m:t>
                    </m:r>
                    <m:r>
                      <a:rPr lang="en-CA"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lvl="2"/>
                <a:endParaRPr lang="en-US" sz="2400" dirty="0">
                  <a:cs typeface="Times New Roman" panose="02020603050405020304" pitchFamily="18" charset="0"/>
                </a:endParaRPr>
              </a:p>
              <a:p>
                <a:pPr marL="2271400" lvl="8" indent="0">
                  <a:buNone/>
                </a:pPr>
                <a:endParaRPr lang="en-US" sz="2400" dirty="0">
                  <a:cs typeface="Times New Roman" panose="02020603050405020304" pitchFamily="18" charset="0"/>
                </a:endParaRPr>
              </a:p>
              <a:p>
                <a:pPr lvl="1"/>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066801"/>
                <a:ext cx="10515601" cy="5141388"/>
              </a:xfrm>
              <a:blipFill>
                <a:blip r:embed="rId3"/>
                <a:stretch>
                  <a:fillRect t="-1661"/>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A4A4E5D3-0D8F-A499-3802-C8C23E2DCA14}"/>
              </a:ext>
            </a:extLst>
          </p:cNvPr>
          <p:cNvPicPr>
            <a:picLocks noChangeAspect="1"/>
          </p:cNvPicPr>
          <p:nvPr/>
        </p:nvPicPr>
        <p:blipFill>
          <a:blip r:embed="rId4"/>
          <a:stretch>
            <a:fillRect/>
          </a:stretch>
        </p:blipFill>
        <p:spPr>
          <a:xfrm>
            <a:off x="704119" y="2771258"/>
            <a:ext cx="5239481" cy="3705742"/>
          </a:xfrm>
          <a:prstGeom prst="rect">
            <a:avLst/>
          </a:prstGeom>
        </p:spPr>
      </p:pic>
      <p:sp>
        <p:nvSpPr>
          <p:cNvPr id="9" name="TextBox 8">
            <a:extLst>
              <a:ext uri="{FF2B5EF4-FFF2-40B4-BE49-F238E27FC236}">
                <a16:creationId xmlns:a16="http://schemas.microsoft.com/office/drawing/2014/main" id="{08321E47-6775-21F8-271C-3E4A3F1FBD54}"/>
              </a:ext>
            </a:extLst>
          </p:cNvPr>
          <p:cNvSpPr txBox="1"/>
          <p:nvPr/>
        </p:nvSpPr>
        <p:spPr>
          <a:xfrm>
            <a:off x="5872408" y="2590800"/>
            <a:ext cx="4719392" cy="1477328"/>
          </a:xfrm>
          <a:prstGeom prst="rect">
            <a:avLst/>
          </a:prstGeom>
          <a:noFill/>
        </p:spPr>
        <p:txBody>
          <a:bodyPr wrap="square" rtlCol="0">
            <a:spAutoFit/>
          </a:bodyPr>
          <a:lstStyle/>
          <a:p>
            <a:pPr marL="285750" indent="-285750">
              <a:buFont typeface="Arial" panose="020B0604020202020204" pitchFamily="34" charset="0"/>
              <a:buChar char="•"/>
            </a:pPr>
            <a:endParaRPr lang="en-CA" dirty="0"/>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Predicted treatment status gives you a </a:t>
            </a:r>
            <a:r>
              <a:rPr lang="en-CA" b="1" dirty="0"/>
              <a:t>single dimension </a:t>
            </a:r>
            <a:r>
              <a:rPr lang="en-CA" dirty="0"/>
              <a:t>on which to match</a:t>
            </a:r>
          </a:p>
        </p:txBody>
      </p:sp>
    </p:spTree>
    <p:extLst>
      <p:ext uri="{BB962C8B-B14F-4D97-AF65-F5344CB8AC3E}">
        <p14:creationId xmlns:p14="http://schemas.microsoft.com/office/powerpoint/2010/main" val="6986400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Approximate Matching: Propensity Score Matching</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pPr marL="274320" lvl="1" indent="0">
                  <a:buNone/>
                </a:pPr>
                <a:r>
                  <a:rPr lang="en-US" sz="2400" dirty="0">
                    <a:cs typeface="Times New Roman" panose="02020603050405020304" pitchFamily="18" charset="0"/>
                  </a:rPr>
                  <a:t>In the past, researchers have used </a:t>
                </a:r>
                <a:r>
                  <a:rPr lang="en-US" sz="2400" b="1" dirty="0">
                    <a:cs typeface="Times New Roman" panose="02020603050405020304" pitchFamily="18" charset="0"/>
                  </a:rPr>
                  <a:t>propensity scores </a:t>
                </a:r>
                <a:r>
                  <a:rPr lang="en-US" sz="2400" dirty="0">
                    <a:cs typeface="Times New Roman" panose="02020603050405020304" pitchFamily="18" charset="0"/>
                  </a:rPr>
                  <a:t>for matching: </a:t>
                </a: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=1</m:t>
                        </m:r>
                      </m:e>
                      <m:e>
                        <m:r>
                          <a:rPr lang="en-US" sz="2400" b="0" i="1" smtClean="0">
                            <a:latin typeface="Cambria Math" panose="02040503050406030204" pitchFamily="18" charset="0"/>
                            <a:cs typeface="Times New Roman" panose="02020603050405020304" pitchFamily="18" charset="0"/>
                          </a:rPr>
                          <m:t>𝑋</m:t>
                        </m:r>
                      </m:e>
                    </m:d>
                  </m:oMath>
                </a14:m>
                <a:r>
                  <a:rPr lang="en-US" sz="2400" dirty="0">
                    <a:cs typeface="Times New Roman" panose="02020603050405020304" pitchFamily="18" charset="0"/>
                  </a:rPr>
                  <a:t> (Rosenbaum and Rubin, 1983).</a:t>
                </a:r>
              </a:p>
              <a:p>
                <a:pPr lvl="1"/>
                <a:r>
                  <a:rPr lang="en-US" sz="2400" dirty="0">
                    <a:cs typeface="Times New Roman" panose="02020603050405020304" pitchFamily="18" charset="0"/>
                  </a:rPr>
                  <a:t>If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𝑌</m:t>
                        </m:r>
                      </m:e>
                      <m:sup>
                        <m:r>
                          <a:rPr lang="en-US" sz="2400" b="0" i="1" smtClean="0">
                            <a:latin typeface="Cambria Math" panose="02040503050406030204" pitchFamily="18" charset="0"/>
                            <a:cs typeface="Times New Roman" panose="02020603050405020304" pitchFamily="18" charset="0"/>
                          </a:rPr>
                          <m:t>1</m:t>
                        </m:r>
                      </m:sup>
                    </m:sSup>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𝑌</m:t>
                        </m:r>
                      </m:e>
                      <m:sup>
                        <m:r>
                          <a:rPr lang="en-US" sz="2400" b="0" i="1" smtClean="0">
                            <a:latin typeface="Cambria Math" panose="02040503050406030204" pitchFamily="18" charset="0"/>
                            <a:cs typeface="Times New Roman" panose="02020603050405020304" pitchFamily="18" charset="0"/>
                          </a:rPr>
                          <m:t>0</m:t>
                        </m:r>
                      </m:sup>
                    </m:sSup>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then you only have to condition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𝑝</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oMath>
                </a14:m>
                <a:r>
                  <a:rPr lang="en-US" sz="2400" dirty="0">
                    <a:cs typeface="Times New Roman" panose="02020603050405020304" pitchFamily="18" charset="0"/>
                  </a:rPr>
                  <a:t>, not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endParaRPr lang="en-US" sz="2400" dirty="0">
                  <a:cs typeface="Times New Roman" panose="02020603050405020304" pitchFamily="18" charset="0"/>
                </a:endParaRPr>
              </a:p>
              <a:p>
                <a:pPr marL="274320" lvl="1" indent="0">
                  <a:buNone/>
                </a:pPr>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The propensity score is a powerful tool!</a:t>
                </a:r>
              </a:p>
              <a:p>
                <a:pPr lvl="1"/>
                <a:r>
                  <a:rPr lang="en-US" sz="2400" dirty="0">
                    <a:cs typeface="Times New Roman" panose="02020603050405020304" pitchFamily="18" charset="0"/>
                  </a:rPr>
                  <a:t>In fact, it can be used to match!</a:t>
                </a:r>
              </a:p>
              <a:p>
                <a:pPr lvl="1"/>
                <a:r>
                  <a:rPr lang="en-US" sz="2400" u="sng" dirty="0">
                    <a:solidFill>
                      <a:schemeClr val="accent2">
                        <a:lumMod val="50000"/>
                      </a:schemeClr>
                    </a:solidFill>
                    <a:cs typeface="Times New Roman" panose="02020603050405020304" pitchFamily="18" charset="0"/>
                  </a:rPr>
                  <a:t>Observations are similar if they were equally likely to be treated</a:t>
                </a:r>
              </a:p>
              <a:p>
                <a:pPr lvl="1"/>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Steps for using a </a:t>
                </a:r>
                <a:r>
                  <a:rPr lang="en-US" sz="2400" b="1" dirty="0">
                    <a:solidFill>
                      <a:schemeClr val="accent2">
                        <a:lumMod val="75000"/>
                      </a:schemeClr>
                    </a:solidFill>
                    <a:cs typeface="Times New Roman" panose="02020603050405020304" pitchFamily="18" charset="0"/>
                  </a:rPr>
                  <a:t>propensity score </a:t>
                </a:r>
                <a:r>
                  <a:rPr lang="en-US" sz="2400" dirty="0">
                    <a:cs typeface="Times New Roman" panose="02020603050405020304" pitchFamily="18" charset="0"/>
                  </a:rPr>
                  <a:t>in matching</a:t>
                </a:r>
              </a:p>
              <a:p>
                <a:pPr marL="731520" lvl="1" indent="-457200">
                  <a:buFont typeface="+mj-lt"/>
                  <a:buAutoNum type="arabicPeriod"/>
                </a:pPr>
                <a:r>
                  <a:rPr lang="en-US" sz="2400" dirty="0">
                    <a:cs typeface="Times New Roman" panose="02020603050405020304" pitchFamily="18" charset="0"/>
                  </a:rPr>
                  <a:t>Select a model predicting treatment status (selection on observables)</a:t>
                </a:r>
              </a:p>
              <a:p>
                <a:pPr marL="731520" lvl="1" indent="-457200">
                  <a:buFont typeface="+mj-lt"/>
                  <a:buAutoNum type="arabicPeriod"/>
                </a:pPr>
                <a:r>
                  <a:rPr lang="en-US" sz="2400" dirty="0">
                    <a:cs typeface="Times New Roman" panose="02020603050405020304" pitchFamily="18" charset="0"/>
                  </a:rPr>
                  <a:t>Estimate a model for conditional probability of treatment</a:t>
                </a:r>
              </a:p>
              <a:p>
                <a:pPr marL="731520" lvl="1" indent="-457200">
                  <a:buFont typeface="+mj-lt"/>
                  <a:buAutoNum type="arabicPeriod"/>
                </a:pPr>
                <a:r>
                  <a:rPr lang="en-US" sz="2400" dirty="0">
                    <a:cs typeface="Times New Roman" panose="02020603050405020304" pitchFamily="18" charset="0"/>
                  </a:rPr>
                  <a:t>Use predicted values to construct </a:t>
                </a:r>
                <a:r>
                  <a:rPr lang="en-US" sz="2400" b="1" dirty="0">
                    <a:cs typeface="Times New Roman" panose="02020603050405020304" pitchFamily="18" charset="0"/>
                  </a:rPr>
                  <a:t>propensity score</a:t>
                </a:r>
                <a:r>
                  <a:rPr lang="en-US" sz="2400" dirty="0">
                    <a:cs typeface="Times New Roman" panose="02020603050405020304" pitchFamily="18" charset="0"/>
                  </a:rPr>
                  <a:t> </a:t>
                </a:r>
              </a:p>
              <a:p>
                <a:pPr marL="731520" lvl="1" indent="-457200">
                  <a:buFont typeface="+mj-lt"/>
                  <a:buAutoNum type="arabicPeriod"/>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t="-1661"/>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A91517A6-3828-A7B0-154D-FB08BD38A8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6262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Alternative: Weighting Matched Observations</a:t>
            </a:r>
            <a:endParaRPr lang="en-US"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95963F9-9E4B-B806-034E-56EE98F553BE}"/>
              </a:ext>
            </a:extLst>
          </p:cNvPr>
          <p:cNvSpPr>
            <a:spLocks noGrp="1"/>
          </p:cNvSpPr>
          <p:nvPr>
            <p:ph idx="1"/>
          </p:nvPr>
        </p:nvSpPr>
        <p:spPr/>
        <p:txBody>
          <a:bodyPr/>
          <a:lstStyle/>
          <a:p>
            <a:endParaRPr lang="en-US" dirty="0"/>
          </a:p>
        </p:txBody>
      </p:sp>
      <p:pic>
        <p:nvPicPr>
          <p:cNvPr id="9" name="Picture 8">
            <a:extLst>
              <a:ext uri="{FF2B5EF4-FFF2-40B4-BE49-F238E27FC236}">
                <a16:creationId xmlns:a16="http://schemas.microsoft.com/office/drawing/2014/main" id="{9694AFB0-6EA1-6E0E-683F-B0D927BF0155}"/>
              </a:ext>
            </a:extLst>
          </p:cNvPr>
          <p:cNvPicPr>
            <a:picLocks noChangeAspect="1"/>
          </p:cNvPicPr>
          <p:nvPr/>
        </p:nvPicPr>
        <p:blipFill>
          <a:blip r:embed="rId3"/>
          <a:stretch>
            <a:fillRect/>
          </a:stretch>
        </p:blipFill>
        <p:spPr>
          <a:xfrm>
            <a:off x="942920" y="979264"/>
            <a:ext cx="9840087" cy="5421536"/>
          </a:xfrm>
          <a:prstGeom prst="rect">
            <a:avLst/>
          </a:prstGeom>
        </p:spPr>
      </p:pic>
    </p:spTree>
    <p:extLst>
      <p:ext uri="{BB962C8B-B14F-4D97-AF65-F5344CB8AC3E}">
        <p14:creationId xmlns:p14="http://schemas.microsoft.com/office/powerpoint/2010/main" val="15378340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happens after we match?</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9862990" cy="5141388"/>
          </a:xfrm>
        </p:spPr>
        <p:txBody>
          <a:bodyPr>
            <a:normAutofit/>
          </a:bodyPr>
          <a:lstStyle/>
          <a:p>
            <a:pPr marL="0"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F11B53F0-F328-3117-B4C9-E521A4A9C3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7629"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666EE81-81C0-F085-3F76-2F95BB7FCD94}"/>
              </a:ext>
            </a:extLst>
          </p:cNvPr>
          <p:cNvPicPr>
            <a:picLocks noChangeAspect="1"/>
          </p:cNvPicPr>
          <p:nvPr/>
        </p:nvPicPr>
        <p:blipFill>
          <a:blip r:embed="rId4"/>
          <a:stretch>
            <a:fillRect/>
          </a:stretch>
        </p:blipFill>
        <p:spPr>
          <a:xfrm>
            <a:off x="609600" y="951935"/>
            <a:ext cx="10326541" cy="1190791"/>
          </a:xfrm>
          <a:prstGeom prst="rect">
            <a:avLst/>
          </a:prstGeom>
        </p:spPr>
      </p:pic>
      <p:pic>
        <p:nvPicPr>
          <p:cNvPr id="9" name="Picture 8">
            <a:extLst>
              <a:ext uri="{FF2B5EF4-FFF2-40B4-BE49-F238E27FC236}">
                <a16:creationId xmlns:a16="http://schemas.microsoft.com/office/drawing/2014/main" id="{56089147-E15F-7173-A332-21F636353B31}"/>
              </a:ext>
            </a:extLst>
          </p:cNvPr>
          <p:cNvPicPr>
            <a:picLocks noChangeAspect="1"/>
          </p:cNvPicPr>
          <p:nvPr/>
        </p:nvPicPr>
        <p:blipFill>
          <a:blip r:embed="rId5"/>
          <a:stretch>
            <a:fillRect/>
          </a:stretch>
        </p:blipFill>
        <p:spPr>
          <a:xfrm>
            <a:off x="668941" y="2142726"/>
            <a:ext cx="9993120" cy="3496163"/>
          </a:xfrm>
          <a:prstGeom prst="rect">
            <a:avLst/>
          </a:prstGeom>
        </p:spPr>
      </p:pic>
    </p:spTree>
    <p:extLst>
      <p:ext uri="{BB962C8B-B14F-4D97-AF65-F5344CB8AC3E}">
        <p14:creationId xmlns:p14="http://schemas.microsoft.com/office/powerpoint/2010/main" val="27364945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6539-CB5C-955D-01BC-12D1F025A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A4360-8165-DC5E-67EA-BAAFBB0D9945}"/>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“good enough” for balance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A429A8-610D-4CBD-AFF9-5AEC7F349234}"/>
              </a:ext>
            </a:extLst>
          </p:cNvPr>
          <p:cNvSpPr>
            <a:spLocks noGrp="1"/>
          </p:cNvSpPr>
          <p:nvPr>
            <p:ph idx="1"/>
          </p:nvPr>
        </p:nvSpPr>
        <p:spPr>
          <a:xfrm>
            <a:off x="762001" y="1066801"/>
            <a:ext cx="9862990" cy="5141388"/>
          </a:xfrm>
        </p:spPr>
        <p:txBody>
          <a:bodyPr>
            <a:normAutofit/>
          </a:bodyPr>
          <a:lstStyle/>
          <a:p>
            <a:pPr marL="0"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573C6F44-2234-C3F9-E6A0-9FAB91FDC69A}"/>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274320" lvl="1" indent="0">
                  <a:buFont typeface="Wingdings 2" pitchFamily="18" charset="2"/>
                  <a:buNone/>
                </a:pPr>
                <a:r>
                  <a:rPr lang="en-US" sz="2400" dirty="0">
                    <a:cs typeface="Times New Roman" panose="02020603050405020304" pitchFamily="18" charset="0"/>
                  </a:rPr>
                  <a:t>Ideally, nothing statistically significant across groups (except for occasional tests that can be significant due to chance)</a:t>
                </a:r>
              </a:p>
              <a:p>
                <a:pPr lvl="1">
                  <a:buFontTx/>
                  <a:buChar char="-"/>
                </a:pPr>
                <a:r>
                  <a:rPr lang="en-US" sz="2400" dirty="0">
                    <a:cs typeface="Times New Roman" panose="02020603050405020304" pitchFamily="18" charset="0"/>
                  </a:rPr>
                  <a:t>If you have a few variables, </a:t>
                </a:r>
                <a:r>
                  <a:rPr lang="en-US" sz="2400" i="1" dirty="0">
                    <a:cs typeface="Times New Roman" panose="02020603050405020304" pitchFamily="18" charset="0"/>
                  </a:rPr>
                  <a:t>t</a:t>
                </a:r>
                <a:r>
                  <a:rPr lang="en-US" sz="2400" dirty="0">
                    <a:cs typeface="Times New Roman" panose="02020603050405020304" pitchFamily="18" charset="0"/>
                  </a:rPr>
                  <a:t>-tests might be enough (or if all your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𝑝</m:t>
                    </m:r>
                    <m:r>
                      <a:rPr lang="en-US" sz="2400" b="0" i="1" smtClean="0">
                        <a:latin typeface="Cambria Math" panose="02040503050406030204" pitchFamily="18" charset="0"/>
                        <a:cs typeface="Times New Roman" panose="02020603050405020304" pitchFamily="18" charset="0"/>
                      </a:rPr>
                      <m:t>&gt;0.05)</m:t>
                    </m:r>
                  </m:oMath>
                </a14:m>
                <a:endParaRPr lang="en-US" sz="2400" dirty="0">
                  <a:cs typeface="Times New Roman" panose="02020603050405020304" pitchFamily="18" charset="0"/>
                </a:endParaRPr>
              </a:p>
              <a:p>
                <a:pPr lvl="1">
                  <a:buFontTx/>
                  <a:buChar char="-"/>
                </a:pPr>
                <a:r>
                  <a:rPr lang="en-US" sz="2400" dirty="0">
                    <a:cs typeface="Times New Roman" panose="02020603050405020304" pitchFamily="18" charset="0"/>
                  </a:rPr>
                  <a:t>If you have many variables, you will likely have some significant differences just by chance. To argue (better) balance, some use </a:t>
                </a:r>
                <a:r>
                  <a:rPr lang="en-US" sz="2400" b="1" dirty="0">
                    <a:cs typeface="Times New Roman" panose="02020603050405020304" pitchFamily="18" charset="0"/>
                  </a:rPr>
                  <a:t>standardized mean differences: </a:t>
                </a:r>
              </a:p>
              <a:p>
                <a:pPr marL="274320" lvl="1"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𝑆𝑀</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𝑖𝑗</m:t>
                          </m:r>
                        </m:sub>
                      </m:sSub>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sSub>
                            <m:sSubPr>
                              <m:ctrlPr>
                                <a:rPr lang="en-US" sz="2400" b="0" i="1" smtClean="0">
                                  <a:latin typeface="Cambria Math" panose="02040503050406030204" pitchFamily="18" charset="0"/>
                                  <a:cs typeface="Times New Roman" panose="02020603050405020304" pitchFamily="18" charset="0"/>
                                </a:rPr>
                              </m:ctrlPr>
                            </m:sSubPr>
                            <m:e>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𝑥</m:t>
                                  </m:r>
                                </m:e>
                              </m:acc>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𝑥</m:t>
                                  </m:r>
                                </m:e>
                              </m:acc>
                            </m:e>
                            <m:sub>
                              <m:r>
                                <a:rPr lang="en-US" sz="2400" b="0" i="1" smtClean="0">
                                  <a:latin typeface="Cambria Math" panose="02040503050406030204" pitchFamily="18" charset="0"/>
                                  <a:cs typeface="Times New Roman" panose="02020603050405020304" pitchFamily="18" charset="0"/>
                                </a:rPr>
                                <m:t>𝑗</m:t>
                              </m:r>
                            </m:sub>
                          </m:sSub>
                        </m:num>
                        <m:den>
                          <m:r>
                            <a:rPr lang="en-US" sz="2400" b="0" i="1" smtClean="0">
                              <a:latin typeface="Cambria Math" panose="02040503050406030204" pitchFamily="18" charset="0"/>
                              <a:cs typeface="Times New Roman" panose="02020603050405020304" pitchFamily="18" charset="0"/>
                            </a:rPr>
                            <m:t>𝑆</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𝑝𝑜𝑜𝑙𝑒𝑑</m:t>
                              </m:r>
                            </m:sub>
                          </m:sSub>
                        </m:den>
                      </m:f>
                    </m:oMath>
                  </m:oMathPara>
                </a14:m>
                <a:endParaRPr lang="en-US" sz="2400" dirty="0">
                  <a:cs typeface="Times New Roman" panose="02020603050405020304" pitchFamily="18" charset="0"/>
                </a:endParaRPr>
              </a:p>
              <a:p>
                <a:pPr marL="731520" lvl="1" indent="-457200">
                  <a:buFont typeface="+mj-lt"/>
                  <a:buAutoNum type="arabicPeriod"/>
                </a:pPr>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The “gold standard” here is a value of 0.1. (</a:t>
                </a:r>
                <a:r>
                  <a:rPr lang="en-US" sz="2400" dirty="0">
                    <a:cs typeface="Times New Roman" panose="02020603050405020304" pitchFamily="18" charset="0"/>
                    <a:hlinkClick r:id="rId3"/>
                  </a:rPr>
                  <a:t>source</a:t>
                </a:r>
                <a:r>
                  <a:rPr lang="en-US" sz="2400" dirty="0">
                    <a:cs typeface="Times New Roman" panose="02020603050405020304" pitchFamily="18" charset="0"/>
                  </a:rPr>
                  <a:t>)</a:t>
                </a:r>
              </a:p>
            </p:txBody>
          </p:sp>
        </mc:Choice>
        <mc:Fallback xmlns="">
          <p:sp>
            <p:nvSpPr>
              <p:cNvPr id="5" name="Content Placeholder 2">
                <a:extLst>
                  <a:ext uri="{FF2B5EF4-FFF2-40B4-BE49-F238E27FC236}">
                    <a16:creationId xmlns:a16="http://schemas.microsoft.com/office/drawing/2014/main" id="{573C6F44-2234-C3F9-E6A0-9FAB91FDC69A}"/>
                  </a:ext>
                </a:extLst>
              </p:cNvPr>
              <p:cNvSpPr txBox="1">
                <a:spLocks noRot="1" noChangeAspect="1" noMove="1" noResize="1" noEditPoints="1" noAdjustHandles="1" noChangeArrowheads="1" noChangeShapeType="1" noTextEdit="1"/>
              </p:cNvSpPr>
              <p:nvPr/>
            </p:nvSpPr>
            <p:spPr>
              <a:xfrm>
                <a:off x="609601" y="1066801"/>
                <a:ext cx="10439400" cy="5141388"/>
              </a:xfrm>
              <a:prstGeom prst="rect">
                <a:avLst/>
              </a:prstGeom>
              <a:blipFill>
                <a:blip r:embed="rId4"/>
                <a:stretch>
                  <a:fillRect t="-1661" r="-525"/>
                </a:stretch>
              </a:blipFill>
            </p:spPr>
            <p:txBody>
              <a:bodyPr/>
              <a:lstStyle/>
              <a:p>
                <a:r>
                  <a:rPr lang="en-US">
                    <a:noFill/>
                  </a:rPr>
                  <a:t> </a:t>
                </a:r>
              </a:p>
            </p:txBody>
          </p:sp>
        </mc:Fallback>
      </mc:AlternateContent>
    </p:spTree>
    <p:extLst>
      <p:ext uri="{BB962C8B-B14F-4D97-AF65-F5344CB8AC3E}">
        <p14:creationId xmlns:p14="http://schemas.microsoft.com/office/powerpoint/2010/main" val="29480201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p:txBody>
          <a:bodyPr/>
          <a:lstStyle/>
          <a:p>
            <a:r>
              <a:rPr lang="en-US" dirty="0"/>
              <a:t>Getting your Effect</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391375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10439400" cy="624840"/>
          </a:xfrm>
        </p:spPr>
        <p:txBody>
          <a:bodyPr>
            <a:noAutofit/>
          </a:bodyPr>
          <a:lstStyle/>
          <a:p>
            <a:r>
              <a:rPr lang="en-US" sz="3600" dirty="0">
                <a:cs typeface="Times New Roman" panose="02020603050405020304" pitchFamily="18" charset="0"/>
              </a:rPr>
              <a:t>Analyzing a (truly) random experiment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10287000" cy="5141388"/>
          </a:xfrm>
        </p:spPr>
        <p:txBody>
          <a:bodyPr>
            <a:noAutofit/>
          </a:bodyPr>
          <a:lstStyle/>
          <a:p>
            <a:r>
              <a:rPr lang="en-US" sz="2400" dirty="0">
                <a:cs typeface="Times New Roman" panose="02020603050405020304" pitchFamily="18" charset="0"/>
              </a:rPr>
              <a:t>If your treatment is truly randomized, analysis is easy!</a:t>
            </a:r>
            <a:endParaRPr lang="en-US" sz="2400" u="sng" dirty="0">
              <a:cs typeface="Times New Roman" panose="02020603050405020304" pitchFamily="18" charset="0"/>
            </a:endParaRPr>
          </a:p>
          <a:p>
            <a:pPr marL="0" indent="0">
              <a:buNone/>
            </a:pPr>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092CC85F-9BBA-783D-F99C-4ACE69FDA844}"/>
              </a:ext>
            </a:extLst>
          </p:cNvPr>
          <p:cNvPicPr>
            <a:picLocks noChangeAspect="1"/>
          </p:cNvPicPr>
          <p:nvPr/>
        </p:nvPicPr>
        <p:blipFill rotWithShape="1">
          <a:blip r:embed="rId3"/>
          <a:srcRect l="7724" t="41838" r="4622"/>
          <a:stretch/>
        </p:blipFill>
        <p:spPr>
          <a:xfrm>
            <a:off x="1524000" y="1828800"/>
            <a:ext cx="8610600" cy="3352800"/>
          </a:xfrm>
          <a:prstGeom prst="rect">
            <a:avLst/>
          </a:prstGeom>
        </p:spPr>
      </p:pic>
    </p:spTree>
    <p:extLst>
      <p:ext uri="{BB962C8B-B14F-4D97-AF65-F5344CB8AC3E}">
        <p14:creationId xmlns:p14="http://schemas.microsoft.com/office/powerpoint/2010/main" val="15373254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Step 2: Estimation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The matched sample becomes our new analytical sample</a:t>
            </a:r>
          </a:p>
          <a:p>
            <a:r>
              <a:rPr lang="en-US" sz="2400" dirty="0">
                <a:cs typeface="Times New Roman" panose="02020603050405020304" pitchFamily="18" charset="0"/>
              </a:rPr>
              <a:t>Once we establish balance, we can mimic the analysis of an RCT!</a:t>
            </a:r>
          </a:p>
          <a:p>
            <a:pPr lvl="1"/>
            <a:r>
              <a:rPr lang="en-US" sz="2400" dirty="0">
                <a:cs typeface="Times New Roman" panose="02020603050405020304" pitchFamily="18" charset="0"/>
              </a:rPr>
              <a:t>Calculate difference in means, potentially with regression adjustment</a:t>
            </a:r>
          </a:p>
          <a:p>
            <a:r>
              <a:rPr lang="en-US" sz="2600" dirty="0">
                <a:cs typeface="Times New Roman" panose="02020603050405020304" pitchFamily="18" charset="0"/>
              </a:rPr>
              <a:t>Note: Depending on your matching approach, you may/may not want to include covariates. </a:t>
            </a:r>
          </a:p>
          <a:p>
            <a:pPr lvl="1"/>
            <a:r>
              <a:rPr lang="en-US" sz="2400" dirty="0">
                <a:cs typeface="Times New Roman" panose="02020603050405020304" pitchFamily="18" charset="0"/>
              </a:rPr>
              <a:t>For example, if you use PSM, you are not matching on the full correlation between covariates, just the predicted probability of treatment</a:t>
            </a:r>
          </a:p>
          <a:p>
            <a:pPr lvl="1"/>
            <a:r>
              <a:rPr lang="en-US" sz="2400" dirty="0">
                <a:cs typeface="Times New Roman" panose="02020603050405020304" pitchFamily="18" charset="0"/>
              </a:rPr>
              <a:t>Hence, you still need controls!</a:t>
            </a:r>
          </a:p>
          <a:p>
            <a:pPr lvl="1"/>
            <a:r>
              <a:rPr lang="en-US" sz="2400" dirty="0">
                <a:cs typeface="Times New Roman" panose="02020603050405020304" pitchFamily="18" charset="0"/>
              </a:rPr>
              <a:t>If nothing else, adding covariates may help with precision (neutral controls)</a:t>
            </a:r>
          </a:p>
        </p:txBody>
      </p:sp>
    </p:spTree>
    <p:extLst>
      <p:ext uri="{BB962C8B-B14F-4D97-AF65-F5344CB8AC3E}">
        <p14:creationId xmlns:p14="http://schemas.microsoft.com/office/powerpoint/2010/main" val="36132903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What do you do after you’ve matched?</a:t>
            </a:r>
            <a:endParaRPr lang="en-US" sz="36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CA8DEAB-376C-2305-2426-44F210C0B422}"/>
              </a:ext>
            </a:extLst>
          </p:cNvPr>
          <p:cNvPicPr>
            <a:picLocks noChangeAspect="1"/>
          </p:cNvPicPr>
          <p:nvPr/>
        </p:nvPicPr>
        <p:blipFill>
          <a:blip r:embed="rId3"/>
          <a:stretch>
            <a:fillRect/>
          </a:stretch>
        </p:blipFill>
        <p:spPr>
          <a:xfrm>
            <a:off x="259788" y="990600"/>
            <a:ext cx="10793331" cy="4401164"/>
          </a:xfrm>
          <a:prstGeom prst="rect">
            <a:avLst/>
          </a:prstGeom>
        </p:spPr>
      </p:pic>
    </p:spTree>
    <p:extLst>
      <p:ext uri="{BB962C8B-B14F-4D97-AF65-F5344CB8AC3E}">
        <p14:creationId xmlns:p14="http://schemas.microsoft.com/office/powerpoint/2010/main" val="5459710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Outcome Measurement Concerns</a:t>
            </a:r>
          </a:p>
        </p:txBody>
      </p:sp>
      <p:pic>
        <p:nvPicPr>
          <p:cNvPr id="7" name="Content Placeholder 6">
            <a:extLst>
              <a:ext uri="{FF2B5EF4-FFF2-40B4-BE49-F238E27FC236}">
                <a16:creationId xmlns:a16="http://schemas.microsoft.com/office/drawing/2014/main" id="{CB9AD0DF-3A50-BFBA-5F68-D923630870C0}"/>
              </a:ext>
            </a:extLst>
          </p:cNvPr>
          <p:cNvPicPr>
            <a:picLocks noGrp="1" noChangeAspect="1"/>
          </p:cNvPicPr>
          <p:nvPr>
            <p:ph idx="1"/>
          </p:nvPr>
        </p:nvPicPr>
        <p:blipFill>
          <a:blip r:embed="rId3"/>
          <a:stretch>
            <a:fillRect/>
          </a:stretch>
        </p:blipFill>
        <p:spPr>
          <a:xfrm>
            <a:off x="762000" y="853439"/>
            <a:ext cx="7696200" cy="4301539"/>
          </a:xfrm>
        </p:spPr>
      </p:pic>
      <p:sp>
        <p:nvSpPr>
          <p:cNvPr id="5" name="TextBox 4">
            <a:extLst>
              <a:ext uri="{FF2B5EF4-FFF2-40B4-BE49-F238E27FC236}">
                <a16:creationId xmlns:a16="http://schemas.microsoft.com/office/drawing/2014/main" id="{281F5245-C1C6-DCB7-0125-947B6698E4A9}"/>
              </a:ext>
            </a:extLst>
          </p:cNvPr>
          <p:cNvSpPr txBox="1"/>
          <p:nvPr/>
        </p:nvSpPr>
        <p:spPr>
          <a:xfrm>
            <a:off x="4915990" y="5181600"/>
            <a:ext cx="6106884" cy="1292662"/>
          </a:xfrm>
          <a:prstGeom prst="rect">
            <a:avLst/>
          </a:prstGeom>
          <a:solidFill>
            <a:schemeClr val="accent2"/>
          </a:solidFill>
          <a:ln>
            <a:solidFill>
              <a:schemeClr val="accent1"/>
            </a:solidFill>
          </a:ln>
        </p:spPr>
        <p:txBody>
          <a:bodyPr wrap="square">
            <a:spAutoFit/>
          </a:bodyPr>
          <a:lstStyle/>
          <a:p>
            <a:pPr marL="0" indent="0">
              <a:buNone/>
            </a:pPr>
            <a:r>
              <a:rPr lang="en-US" sz="2600" dirty="0"/>
              <a:t>How do these affect the reported results? How do they affect what you think of the paper? </a:t>
            </a:r>
          </a:p>
        </p:txBody>
      </p:sp>
    </p:spTree>
    <p:extLst>
      <p:ext uri="{BB962C8B-B14F-4D97-AF65-F5344CB8AC3E}">
        <p14:creationId xmlns:p14="http://schemas.microsoft.com/office/powerpoint/2010/main" val="14101809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200" dirty="0">
                <a:latin typeface="Times New Roman" panose="02020603050405020304" pitchFamily="18" charset="0"/>
                <a:cs typeface="Times New Roman" panose="02020603050405020304" pitchFamily="18" charset="0"/>
              </a:rPr>
              <a:t>Identification Concerns and Interpretation/Policy Implications</a:t>
            </a:r>
          </a:p>
        </p:txBody>
      </p:sp>
      <p:sp>
        <p:nvSpPr>
          <p:cNvPr id="4" name="Content Placeholder 3">
            <a:extLst>
              <a:ext uri="{FF2B5EF4-FFF2-40B4-BE49-F238E27FC236}">
                <a16:creationId xmlns:a16="http://schemas.microsoft.com/office/drawing/2014/main" id="{2237AF9E-7447-969B-46EC-461FC8693B8E}"/>
              </a:ext>
            </a:extLst>
          </p:cNvPr>
          <p:cNvSpPr>
            <a:spLocks noGrp="1"/>
          </p:cNvSpPr>
          <p:nvPr>
            <p:ph idx="1"/>
          </p:nvPr>
        </p:nvSpPr>
        <p:spPr>
          <a:xfrm>
            <a:off x="609600" y="853440"/>
            <a:ext cx="10439400" cy="5326697"/>
          </a:xfrm>
        </p:spPr>
        <p:txBody>
          <a:bodyPr>
            <a:normAutofit/>
          </a:bodyPr>
          <a:lstStyle/>
          <a:p>
            <a:pPr marL="457200" indent="-457200">
              <a:buFont typeface="+mj-lt"/>
              <a:buAutoNum type="arabicPeriod"/>
            </a:pPr>
            <a:r>
              <a:rPr lang="en-US" sz="2600" dirty="0"/>
              <a:t>What did they do about income? </a:t>
            </a:r>
          </a:p>
          <a:p>
            <a:pPr marL="457200" indent="-457200">
              <a:buFont typeface="+mj-lt"/>
              <a:buAutoNum type="arabicPeriod"/>
            </a:pPr>
            <a:r>
              <a:rPr lang="en-US" sz="2600" dirty="0"/>
              <a:t>What did they do about </a:t>
            </a:r>
            <a:r>
              <a:rPr lang="en-US" sz="2600" dirty="0" err="1"/>
              <a:t>labour</a:t>
            </a:r>
            <a:r>
              <a:rPr lang="en-US" sz="2600" dirty="0"/>
              <a:t> force participation? </a:t>
            </a:r>
          </a:p>
          <a:p>
            <a:pPr marL="457200" indent="-457200">
              <a:buFont typeface="+mj-lt"/>
              <a:buAutoNum type="arabicPeriod"/>
            </a:pPr>
            <a:r>
              <a:rPr lang="en-US" sz="2600" dirty="0"/>
              <a:t>What about stratification? Where are the effects strongest?</a:t>
            </a:r>
          </a:p>
          <a:p>
            <a:pPr marL="457200" indent="-457200">
              <a:buFont typeface="+mj-lt"/>
              <a:buAutoNum type="arabicPeriod"/>
            </a:pPr>
            <a:endParaRPr lang="en-US" sz="2600" dirty="0"/>
          </a:p>
          <a:p>
            <a:pPr marL="0" indent="0">
              <a:buNone/>
            </a:pPr>
            <a:r>
              <a:rPr lang="en-US" sz="2600" dirty="0"/>
              <a:t>How do these affect the reported results? How do they affect what you think of the paper? </a:t>
            </a:r>
          </a:p>
          <a:p>
            <a:pPr marL="457200" indent="-457200">
              <a:buFont typeface="+mj-lt"/>
              <a:buAutoNum type="arabicPeriod"/>
            </a:pPr>
            <a:endParaRPr lang="en-US" sz="2600" dirty="0"/>
          </a:p>
        </p:txBody>
      </p:sp>
    </p:spTree>
    <p:extLst>
      <p:ext uri="{BB962C8B-B14F-4D97-AF65-F5344CB8AC3E}">
        <p14:creationId xmlns:p14="http://schemas.microsoft.com/office/powerpoint/2010/main" val="23450753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Interpretation and Limitations of Analysis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lvl="1"/>
            <a:r>
              <a:rPr lang="en-US" sz="2400" dirty="0">
                <a:cs typeface="Times New Roman" panose="02020603050405020304" pitchFamily="18" charset="0"/>
              </a:rPr>
              <a:t>What worked well in this analysis? </a:t>
            </a:r>
          </a:p>
          <a:p>
            <a:pPr lvl="1"/>
            <a:r>
              <a:rPr lang="en-US" sz="2400" dirty="0">
                <a:cs typeface="Times New Roman" panose="02020603050405020304" pitchFamily="18" charset="0"/>
              </a:rPr>
              <a:t>What was lacking? </a:t>
            </a:r>
          </a:p>
          <a:p>
            <a:pPr lvl="1"/>
            <a:r>
              <a:rPr lang="en-US" sz="2400" dirty="0">
                <a:cs typeface="Times New Roman" panose="02020603050405020304" pitchFamily="18" charset="0"/>
              </a:rPr>
              <a:t>What are the takeaways for you? </a:t>
            </a:r>
          </a:p>
          <a:p>
            <a:pPr lvl="1"/>
            <a:r>
              <a:rPr lang="en-US" sz="2400" dirty="0">
                <a:cs typeface="Times New Roman" panose="02020603050405020304" pitchFamily="18" charset="0"/>
              </a:rPr>
              <a:t>What might limit the takeaways? What hinders your approach to thinking of this as causal? </a:t>
            </a:r>
          </a:p>
          <a:p>
            <a:pPr lvl="1"/>
            <a:r>
              <a:rPr lang="en-US" sz="2400" dirty="0">
                <a:cs typeface="Times New Roman" panose="02020603050405020304" pitchFamily="18" charset="0"/>
              </a:rPr>
              <a:t>Any other thoughts? </a:t>
            </a:r>
          </a:p>
        </p:txBody>
      </p:sp>
    </p:spTree>
    <p:extLst>
      <p:ext uri="{BB962C8B-B14F-4D97-AF65-F5344CB8AC3E}">
        <p14:creationId xmlns:p14="http://schemas.microsoft.com/office/powerpoint/2010/main" val="620326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p:txBody>
          <a:bodyPr/>
          <a:lstStyle/>
          <a:p>
            <a:r>
              <a:rPr lang="en-US" dirty="0"/>
              <a:t>Matching Best Practices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165443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Some Matching Best Practices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pPr marL="731520" lvl="1" indent="-457200">
              <a:buFont typeface="+mj-lt"/>
              <a:buAutoNum type="arabicPeriod"/>
            </a:pPr>
            <a:r>
              <a:rPr lang="en-US" sz="2400" dirty="0">
                <a:cs typeface="Times New Roman" panose="02020603050405020304" pitchFamily="18" charset="0"/>
              </a:rPr>
              <a:t>Show balance after matching (</a:t>
            </a:r>
            <a:r>
              <a:rPr lang="en-US" sz="2400" b="1" dirty="0">
                <a:solidFill>
                  <a:schemeClr val="accent2">
                    <a:lumMod val="75000"/>
                  </a:schemeClr>
                </a:solidFill>
                <a:cs typeface="Times New Roman" panose="02020603050405020304" pitchFamily="18" charset="0"/>
              </a:rPr>
              <a:t>balance table</a:t>
            </a:r>
            <a:r>
              <a:rPr lang="en-US" sz="2400" dirty="0">
                <a:cs typeface="Times New Roman" panose="02020603050405020304" pitchFamily="18" charset="0"/>
              </a:rPr>
              <a:t>)</a:t>
            </a:r>
          </a:p>
          <a:p>
            <a:pPr marL="274320" lvl="1" indent="0">
              <a:buNone/>
            </a:pPr>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88FC1D2E-335A-D736-C267-6F146BA4DFC8}"/>
              </a:ext>
            </a:extLst>
          </p:cNvPr>
          <p:cNvPicPr>
            <a:picLocks noChangeAspect="1"/>
          </p:cNvPicPr>
          <p:nvPr/>
        </p:nvPicPr>
        <p:blipFill>
          <a:blip r:embed="rId2"/>
          <a:stretch>
            <a:fillRect/>
          </a:stretch>
        </p:blipFill>
        <p:spPr>
          <a:xfrm>
            <a:off x="800100" y="1463910"/>
            <a:ext cx="10058400" cy="4349060"/>
          </a:xfrm>
          <a:prstGeom prst="rect">
            <a:avLst/>
          </a:prstGeom>
        </p:spPr>
      </p:pic>
      <p:sp>
        <p:nvSpPr>
          <p:cNvPr id="7" name="TextBox 6">
            <a:extLst>
              <a:ext uri="{FF2B5EF4-FFF2-40B4-BE49-F238E27FC236}">
                <a16:creationId xmlns:a16="http://schemas.microsoft.com/office/drawing/2014/main" id="{176BE9BD-E462-B71B-BA22-B129B716240B}"/>
              </a:ext>
            </a:extLst>
          </p:cNvPr>
          <p:cNvSpPr txBox="1"/>
          <p:nvPr/>
        </p:nvSpPr>
        <p:spPr>
          <a:xfrm>
            <a:off x="914400" y="5812970"/>
            <a:ext cx="3044103" cy="369332"/>
          </a:xfrm>
          <a:prstGeom prst="rect">
            <a:avLst/>
          </a:prstGeom>
          <a:noFill/>
        </p:spPr>
        <p:txBody>
          <a:bodyPr wrap="none" rtlCol="0">
            <a:spAutoFit/>
          </a:bodyPr>
          <a:lstStyle/>
          <a:p>
            <a:r>
              <a:rPr lang="en-US" dirty="0"/>
              <a:t>Source: </a:t>
            </a:r>
            <a:r>
              <a:rPr lang="en-US" dirty="0" err="1">
                <a:hlinkClick r:id="rId3"/>
              </a:rPr>
              <a:t>Vozoris</a:t>
            </a:r>
            <a:r>
              <a:rPr lang="en-US" dirty="0">
                <a:hlinkClick r:id="rId3"/>
              </a:rPr>
              <a:t> et al., 2022</a:t>
            </a:r>
            <a:endParaRPr lang="en-US" dirty="0"/>
          </a:p>
        </p:txBody>
      </p:sp>
    </p:spTree>
    <p:extLst>
      <p:ext uri="{BB962C8B-B14F-4D97-AF65-F5344CB8AC3E}">
        <p14:creationId xmlns:p14="http://schemas.microsoft.com/office/powerpoint/2010/main" val="13907842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Some Matching Best Practices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pPr marL="731520" lvl="1" indent="-457200">
              <a:buFont typeface="+mj-lt"/>
              <a:buAutoNum type="arabicPeriod"/>
            </a:pPr>
            <a:r>
              <a:rPr lang="en-US" sz="2400" dirty="0">
                <a:cs typeface="Times New Roman" panose="02020603050405020304" pitchFamily="18" charset="0"/>
              </a:rPr>
              <a:t>Show balance after matching (</a:t>
            </a:r>
            <a:r>
              <a:rPr lang="en-US" sz="2400" b="1" dirty="0">
                <a:solidFill>
                  <a:schemeClr val="accent2">
                    <a:lumMod val="75000"/>
                  </a:schemeClr>
                </a:solidFill>
                <a:cs typeface="Times New Roman" panose="02020603050405020304" pitchFamily="18" charset="0"/>
              </a:rPr>
              <a:t>balance table</a:t>
            </a:r>
            <a:r>
              <a:rPr lang="en-US" sz="2400" dirty="0">
                <a:cs typeface="Times New Roman" panose="02020603050405020304" pitchFamily="18" charset="0"/>
              </a:rPr>
              <a:t>)</a:t>
            </a:r>
          </a:p>
          <a:p>
            <a:pPr marL="731520" lvl="1" indent="-457200">
              <a:buFont typeface="+mj-lt"/>
              <a:buAutoNum type="arabicPeriod"/>
            </a:pPr>
            <a:r>
              <a:rPr lang="en-US" sz="2400" dirty="0">
                <a:cs typeface="Times New Roman" panose="02020603050405020304" pitchFamily="18" charset="0"/>
              </a:rPr>
              <a:t>Check if observations with similar propensity scores are balanced (</a:t>
            </a:r>
            <a:r>
              <a:rPr lang="en-US" sz="2400" b="1" dirty="0">
                <a:solidFill>
                  <a:schemeClr val="accent2">
                    <a:lumMod val="75000"/>
                  </a:schemeClr>
                </a:solidFill>
                <a:cs typeface="Times New Roman" panose="02020603050405020304" pitchFamily="18" charset="0"/>
              </a:rPr>
              <a:t>stratification tests</a:t>
            </a:r>
            <a:r>
              <a:rPr lang="en-US" sz="2400" dirty="0">
                <a:cs typeface="Times New Roman" panose="02020603050405020304" pitchFamily="18" charset="0"/>
              </a:rPr>
              <a:t>)</a:t>
            </a:r>
          </a:p>
          <a:p>
            <a:pPr marL="731520" lvl="1" indent="-457200">
              <a:buFont typeface="+mj-lt"/>
              <a:buAutoNum type="arabicPeriod"/>
            </a:pPr>
            <a:r>
              <a:rPr lang="en-US" sz="2400" dirty="0">
                <a:cs typeface="Times New Roman" panose="02020603050405020304" pitchFamily="18" charset="0"/>
              </a:rPr>
              <a:t>Show </a:t>
            </a:r>
            <a:r>
              <a:rPr lang="en-US" sz="2400" b="1" dirty="0">
                <a:solidFill>
                  <a:schemeClr val="accent2">
                    <a:lumMod val="75000"/>
                  </a:schemeClr>
                </a:solidFill>
                <a:cs typeface="Times New Roman" panose="02020603050405020304" pitchFamily="18" charset="0"/>
              </a:rPr>
              <a:t>common support </a:t>
            </a:r>
            <a:r>
              <a:rPr lang="en-US" sz="2400" dirty="0">
                <a:cs typeface="Times New Roman" panose="02020603050405020304" pitchFamily="18" charset="0"/>
              </a:rPr>
              <a:t>is valid in your setting </a:t>
            </a:r>
          </a:p>
          <a:p>
            <a:pPr marL="274320" lvl="1"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227180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Some Matching Best Practices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marL="731520" lvl="1" indent="-457200">
              <a:buFont typeface="+mj-lt"/>
              <a:buAutoNum type="arabicPeriod"/>
            </a:pPr>
            <a:r>
              <a:rPr lang="en-US" sz="2400" dirty="0">
                <a:cs typeface="Times New Roman" panose="02020603050405020304" pitchFamily="18" charset="0"/>
              </a:rPr>
              <a:t>Show balance after matching (</a:t>
            </a:r>
            <a:r>
              <a:rPr lang="en-US" sz="2400" b="1" dirty="0">
                <a:solidFill>
                  <a:schemeClr val="accent2">
                    <a:lumMod val="75000"/>
                  </a:schemeClr>
                </a:solidFill>
                <a:cs typeface="Times New Roman" panose="02020603050405020304" pitchFamily="18" charset="0"/>
              </a:rPr>
              <a:t>balance table</a:t>
            </a:r>
            <a:r>
              <a:rPr lang="en-US" sz="2400" dirty="0">
                <a:cs typeface="Times New Roman" panose="02020603050405020304" pitchFamily="18" charset="0"/>
              </a:rPr>
              <a:t>)</a:t>
            </a:r>
          </a:p>
          <a:p>
            <a:pPr marL="731520" lvl="1" indent="-457200">
              <a:buFont typeface="+mj-lt"/>
              <a:buAutoNum type="arabicPeriod"/>
            </a:pPr>
            <a:r>
              <a:rPr lang="en-US" sz="2400" dirty="0">
                <a:cs typeface="Times New Roman" panose="02020603050405020304" pitchFamily="18" charset="0"/>
              </a:rPr>
              <a:t>Check if observations with similar propensity scores are balanced (</a:t>
            </a:r>
            <a:r>
              <a:rPr lang="en-US" sz="2400" b="1" dirty="0">
                <a:solidFill>
                  <a:schemeClr val="accent2">
                    <a:lumMod val="75000"/>
                  </a:schemeClr>
                </a:solidFill>
                <a:cs typeface="Times New Roman" panose="02020603050405020304" pitchFamily="18" charset="0"/>
              </a:rPr>
              <a:t>stratification tests</a:t>
            </a:r>
            <a:r>
              <a:rPr lang="en-US" sz="2400" dirty="0">
                <a:cs typeface="Times New Roman" panose="02020603050405020304" pitchFamily="18" charset="0"/>
              </a:rPr>
              <a:t>)</a:t>
            </a:r>
          </a:p>
          <a:p>
            <a:pPr marL="731520" lvl="1" indent="-457200">
              <a:buFont typeface="+mj-lt"/>
              <a:buAutoNum type="arabicPeriod"/>
            </a:pPr>
            <a:r>
              <a:rPr lang="en-US" sz="2400" dirty="0">
                <a:cs typeface="Times New Roman" panose="02020603050405020304" pitchFamily="18" charset="0"/>
              </a:rPr>
              <a:t>Show </a:t>
            </a:r>
            <a:r>
              <a:rPr lang="en-US" sz="2400" b="1" dirty="0">
                <a:solidFill>
                  <a:schemeClr val="accent2">
                    <a:lumMod val="75000"/>
                  </a:schemeClr>
                </a:solidFill>
                <a:cs typeface="Times New Roman" panose="02020603050405020304" pitchFamily="18" charset="0"/>
              </a:rPr>
              <a:t>common support </a:t>
            </a:r>
            <a:r>
              <a:rPr lang="en-US" sz="2400" dirty="0">
                <a:cs typeface="Times New Roman" panose="02020603050405020304" pitchFamily="18" charset="0"/>
              </a:rPr>
              <a:t>is valid in your setting </a:t>
            </a:r>
          </a:p>
          <a:p>
            <a:pPr marL="731520" lvl="1" indent="-457200">
              <a:buFont typeface="+mj-lt"/>
              <a:buAutoNum type="arabicPeriod"/>
            </a:pPr>
            <a:r>
              <a:rPr lang="en-US" sz="2400" dirty="0">
                <a:cs typeface="Times New Roman" panose="02020603050405020304" pitchFamily="18" charset="0"/>
              </a:rPr>
              <a:t>Propensity scores close to 0 or 1 give large weights – </a:t>
            </a:r>
            <a:r>
              <a:rPr lang="en-US" sz="2400" b="1" dirty="0">
                <a:solidFill>
                  <a:schemeClr val="accent2">
                    <a:lumMod val="75000"/>
                  </a:schemeClr>
                </a:solidFill>
                <a:cs typeface="Times New Roman" panose="02020603050405020304" pitchFamily="18" charset="0"/>
              </a:rPr>
              <a:t>trim data set</a:t>
            </a:r>
          </a:p>
          <a:p>
            <a:pPr marL="731520" lvl="1" indent="-457200">
              <a:buFont typeface="+mj-lt"/>
              <a:buAutoNum type="arabicPeriod"/>
            </a:pPr>
            <a:r>
              <a:rPr lang="en-US" sz="2400" dirty="0">
                <a:cs typeface="Times New Roman" panose="02020603050405020304" pitchFamily="18" charset="0"/>
              </a:rPr>
              <a:t>Try (and report) multiple bandwidths/approaches/replacement</a:t>
            </a:r>
          </a:p>
          <a:p>
            <a:pPr marL="0" indent="0">
              <a:buNone/>
            </a:pPr>
            <a:r>
              <a:rPr lang="en-US" sz="2600" dirty="0">
                <a:cs typeface="Times New Roman" panose="02020603050405020304" pitchFamily="18" charset="0"/>
              </a:rPr>
              <a:t>You will need to </a:t>
            </a:r>
            <a:r>
              <a:rPr lang="en-US" sz="2600" b="1" dirty="0">
                <a:solidFill>
                  <a:schemeClr val="accent2">
                    <a:lumMod val="75000"/>
                  </a:schemeClr>
                </a:solidFill>
                <a:cs typeface="Times New Roman" panose="02020603050405020304" pitchFamily="18" charset="0"/>
              </a:rPr>
              <a:t>argue CIA holds </a:t>
            </a:r>
            <a:r>
              <a:rPr lang="en-US" sz="2600" dirty="0">
                <a:cs typeface="Times New Roman" panose="02020603050405020304" pitchFamily="18" charset="0"/>
              </a:rPr>
              <a:t>convincingly</a:t>
            </a:r>
          </a:p>
          <a:p>
            <a:pPr marL="0" indent="0">
              <a:buNone/>
            </a:pPr>
            <a:r>
              <a:rPr lang="en-US" sz="2600" dirty="0">
                <a:cs typeface="Times New Roman" panose="02020603050405020304" pitchFamily="18" charset="0"/>
              </a:rPr>
              <a:t>Some more tips: </a:t>
            </a:r>
            <a:r>
              <a:rPr lang="en-US" sz="2600" dirty="0" err="1">
                <a:cs typeface="Times New Roman" panose="02020603050405020304" pitchFamily="18" charset="0"/>
                <a:hlinkClick r:id="rId2"/>
              </a:rPr>
              <a:t>blogs.worldbank</a:t>
            </a:r>
            <a:r>
              <a:rPr lang="en-US" sz="2600" dirty="0">
                <a:cs typeface="Times New Roman" panose="02020603050405020304" pitchFamily="18" charset="0"/>
                <a:hlinkClick r:id="rId2"/>
              </a:rPr>
              <a:t>/what-do-you-need-do-make-matching-estimator-convincing</a:t>
            </a:r>
            <a:endParaRPr lang="en-US" sz="2600" dirty="0">
              <a:cs typeface="Times New Roman" panose="02020603050405020304" pitchFamily="18" charset="0"/>
            </a:endParaRPr>
          </a:p>
          <a:p>
            <a:pPr marL="274320" lvl="1" indent="0">
              <a:buNone/>
            </a:pPr>
            <a:endParaRPr lang="en-US" sz="2400"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603C14DF-E6D5-DE43-9B68-B5315E230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7629" y="52578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2909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Other Caveats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lvl="1"/>
            <a:r>
              <a:rPr lang="en-US" sz="2400" dirty="0">
                <a:cs typeface="Times New Roman" panose="02020603050405020304" pitchFamily="18" charset="0"/>
              </a:rPr>
              <a:t>Some fields (economists) tend to be </a:t>
            </a:r>
            <a:r>
              <a:rPr lang="en-US" sz="2400" b="1" u="sng" dirty="0">
                <a:solidFill>
                  <a:schemeClr val="accent3">
                    <a:lumMod val="75000"/>
                  </a:schemeClr>
                </a:solidFill>
                <a:cs typeface="Times New Roman" panose="02020603050405020304" pitchFamily="18" charset="0"/>
              </a:rPr>
              <a:t>more</a:t>
            </a:r>
            <a:r>
              <a:rPr lang="en-US" sz="2400" dirty="0">
                <a:cs typeface="Times New Roman" panose="02020603050405020304" pitchFamily="18" charset="0"/>
              </a:rPr>
              <a:t> (not totally!) skeptical of matching methods</a:t>
            </a:r>
          </a:p>
          <a:p>
            <a:pPr lvl="2"/>
            <a:r>
              <a:rPr lang="en-US" sz="2400" dirty="0">
                <a:cs typeface="Times New Roman" panose="02020603050405020304" pitchFamily="18" charset="0"/>
              </a:rPr>
              <a:t>Highly sensitive to both variables included and analysis sample used      </a:t>
            </a:r>
            <a:r>
              <a:rPr lang="en-US" sz="2400" b="0" i="0" dirty="0">
                <a:solidFill>
                  <a:srgbClr val="373A3C"/>
                </a:solidFill>
                <a:effectLst/>
                <a:cs typeface="Times New Roman" panose="02020603050405020304" pitchFamily="18" charset="0"/>
              </a:rPr>
              <a:t>(</a:t>
            </a:r>
            <a:r>
              <a:rPr lang="en-US" sz="2400" b="0" i="0" u="none" strike="noStrike" dirty="0">
                <a:solidFill>
                  <a:srgbClr val="00B7FF"/>
                </a:solidFill>
                <a:effectLst/>
                <a:cs typeface="Times New Roman" panose="02020603050405020304" pitchFamily="18" charset="0"/>
                <a:hlinkClick r:id="rId3"/>
              </a:rPr>
              <a:t>Smith and Todd 2001</a:t>
            </a:r>
            <a:r>
              <a:rPr lang="en-US" sz="2400" b="0" i="0" dirty="0">
                <a:solidFill>
                  <a:srgbClr val="373A3C"/>
                </a:solidFill>
                <a:effectLst/>
                <a:cs typeface="Times New Roman" panose="02020603050405020304" pitchFamily="18" charset="0"/>
              </a:rPr>
              <a:t>, </a:t>
            </a:r>
            <a:r>
              <a:rPr lang="en-US" sz="2400" b="0" i="0" u="none" strike="noStrike" dirty="0">
                <a:solidFill>
                  <a:srgbClr val="00B7FF"/>
                </a:solidFill>
                <a:effectLst/>
                <a:cs typeface="Times New Roman" panose="02020603050405020304" pitchFamily="18" charset="0"/>
                <a:hlinkClick r:id="rId4"/>
              </a:rPr>
              <a:t>2005</a:t>
            </a:r>
            <a:r>
              <a:rPr lang="en-US" sz="2400" b="0" i="0" u="none" strike="noStrike" dirty="0">
                <a:solidFill>
                  <a:schemeClr val="tx1"/>
                </a:solidFill>
                <a:effectLst/>
                <a:cs typeface="Times New Roman" panose="02020603050405020304" pitchFamily="18" charset="0"/>
              </a:rPr>
              <a:t>)</a:t>
            </a:r>
          </a:p>
          <a:p>
            <a:pPr lvl="2"/>
            <a:r>
              <a:rPr lang="en-US" sz="2400" dirty="0">
                <a:solidFill>
                  <a:schemeClr val="tx1"/>
                </a:solidFill>
                <a:cs typeface="Times New Roman" panose="02020603050405020304" pitchFamily="18" charset="0"/>
              </a:rPr>
              <a:t>Matching methods are also </a:t>
            </a:r>
            <a:r>
              <a:rPr lang="en-US" sz="2400" b="1" dirty="0">
                <a:solidFill>
                  <a:srgbClr val="FF0000"/>
                </a:solidFill>
                <a:cs typeface="Times New Roman" panose="02020603050405020304" pitchFamily="18" charset="0"/>
              </a:rPr>
              <a:t>highly sensitive to omitted variable bias</a:t>
            </a:r>
            <a:endParaRPr lang="en-US" sz="2400" dirty="0">
              <a:solidFill>
                <a:srgbClr val="FF0000"/>
              </a:solidFill>
              <a:cs typeface="Times New Roman" panose="02020603050405020304" pitchFamily="18" charset="0"/>
            </a:endParaRPr>
          </a:p>
          <a:p>
            <a:pPr lvl="2"/>
            <a:r>
              <a:rPr lang="en-US" sz="2400" i="0" dirty="0">
                <a:solidFill>
                  <a:schemeClr val="tx1"/>
                </a:solidFill>
                <a:effectLst/>
                <a:cs typeface="Times New Roman" panose="02020603050405020304" pitchFamily="18" charset="0"/>
              </a:rPr>
              <a:t>We’re still shook</a:t>
            </a:r>
            <a:r>
              <a:rPr lang="en-US" sz="2400" dirty="0">
                <a:solidFill>
                  <a:schemeClr val="tx1"/>
                </a:solidFill>
                <a:cs typeface="Times New Roman" panose="02020603050405020304" pitchFamily="18" charset="0"/>
              </a:rPr>
              <a:t> from the PSM </a:t>
            </a:r>
            <a:r>
              <a:rPr lang="en-US" sz="2400" dirty="0" err="1">
                <a:solidFill>
                  <a:schemeClr val="tx1"/>
                </a:solidFill>
                <a:cs typeface="Times New Roman" panose="02020603050405020304" pitchFamily="18" charset="0"/>
              </a:rPr>
              <a:t>debacle</a:t>
            </a:r>
            <a:endParaRPr lang="en-US" sz="2400" dirty="0">
              <a:solidFill>
                <a:schemeClr val="tx1"/>
              </a:solidFill>
              <a:cs typeface="Times New Roman" panose="02020603050405020304" pitchFamily="18" charset="0"/>
            </a:endParaRPr>
          </a:p>
          <a:p>
            <a:pPr lvl="2"/>
            <a:r>
              <a:rPr lang="en-US" sz="2400" i="0" dirty="0">
                <a:solidFill>
                  <a:schemeClr val="tx1"/>
                </a:solidFill>
                <a:effectLst/>
                <a:cs typeface="Times New Roman" panose="02020603050405020304" pitchFamily="18" charset="0"/>
              </a:rPr>
              <a:t>You may be throwing away data </a:t>
            </a:r>
            <a:r>
              <a:rPr lang="en-US" sz="2400" i="1" dirty="0">
                <a:solidFill>
                  <a:schemeClr val="tx1"/>
                </a:solidFill>
                <a:effectLst/>
                <a:cs typeface="Times New Roman" panose="02020603050405020304" pitchFamily="18" charset="0"/>
              </a:rPr>
              <a:t>and stil</a:t>
            </a:r>
            <a:r>
              <a:rPr lang="en-US" sz="2400" i="1" dirty="0">
                <a:solidFill>
                  <a:schemeClr val="tx1"/>
                </a:solidFill>
                <a:cs typeface="Times New Roman" panose="02020603050405020304" pitchFamily="18" charset="0"/>
              </a:rPr>
              <a:t>l </a:t>
            </a:r>
            <a:r>
              <a:rPr lang="en-US" sz="2400" dirty="0">
                <a:solidFill>
                  <a:schemeClr val="tx1"/>
                </a:solidFill>
                <a:cs typeface="Times New Roman" panose="02020603050405020304" pitchFamily="18" charset="0"/>
              </a:rPr>
              <a:t>left with biased estimates if imbalance remains</a:t>
            </a:r>
            <a:endParaRPr lang="en-US" sz="2400" i="0" dirty="0">
              <a:solidFill>
                <a:schemeClr val="tx1"/>
              </a:solidFill>
              <a:effectLst/>
              <a:cs typeface="Times New Roman" panose="02020603050405020304" pitchFamily="18" charset="0"/>
            </a:endParaRPr>
          </a:p>
          <a:p>
            <a:pPr lvl="1"/>
            <a:endParaRPr lang="en-US" sz="2400" dirty="0">
              <a:solidFill>
                <a:srgbClr val="373A3C"/>
              </a:solidFill>
              <a:cs typeface="Times New Roman" panose="02020603050405020304" pitchFamily="18" charset="0"/>
            </a:endParaRPr>
          </a:p>
          <a:p>
            <a:pPr marL="0" indent="0">
              <a:buNone/>
            </a:pPr>
            <a:r>
              <a:rPr lang="en-US" sz="2400" dirty="0">
                <a:solidFill>
                  <a:srgbClr val="373A3C"/>
                </a:solidFill>
                <a:cs typeface="Times New Roman" panose="02020603050405020304" pitchFamily="18" charset="0"/>
              </a:rPr>
              <a:t>This is substantive of a </a:t>
            </a:r>
            <a:r>
              <a:rPr lang="en-US" sz="2400" b="1" dirty="0">
                <a:solidFill>
                  <a:schemeClr val="accent2">
                    <a:lumMod val="75000"/>
                  </a:schemeClr>
                </a:solidFill>
                <a:cs typeface="Times New Roman" panose="02020603050405020304" pitchFamily="18" charset="0"/>
              </a:rPr>
              <a:t>larger critique</a:t>
            </a:r>
            <a:r>
              <a:rPr lang="en-US" sz="2400" dirty="0">
                <a:solidFill>
                  <a:srgbClr val="373A3C"/>
                </a:solidFill>
                <a:cs typeface="Times New Roman" panose="02020603050405020304" pitchFamily="18" charset="0"/>
              </a:rPr>
              <a:t>: can we </a:t>
            </a:r>
            <a:r>
              <a:rPr lang="en-US" sz="2400" b="1" i="1" dirty="0">
                <a:solidFill>
                  <a:schemeClr val="accent2">
                    <a:lumMod val="75000"/>
                  </a:schemeClr>
                </a:solidFill>
                <a:cs typeface="Times New Roman" panose="02020603050405020304" pitchFamily="18" charset="0"/>
              </a:rPr>
              <a:t>ever</a:t>
            </a:r>
            <a:r>
              <a:rPr lang="en-US" sz="2400" i="1" dirty="0">
                <a:solidFill>
                  <a:srgbClr val="373A3C"/>
                </a:solidFill>
                <a:cs typeface="Times New Roman" panose="02020603050405020304" pitchFamily="18" charset="0"/>
              </a:rPr>
              <a:t> </a:t>
            </a:r>
            <a:r>
              <a:rPr lang="en-US" sz="2400" dirty="0">
                <a:solidFill>
                  <a:srgbClr val="373A3C"/>
                </a:solidFill>
                <a:cs typeface="Times New Roman" panose="02020603050405020304" pitchFamily="18" charset="0"/>
              </a:rPr>
              <a:t>achieve the CIA with observational data? </a:t>
            </a:r>
          </a:p>
          <a:p>
            <a:r>
              <a:rPr lang="en-US" sz="2400" dirty="0">
                <a:solidFill>
                  <a:srgbClr val="373A3C"/>
                </a:solidFill>
                <a:cs typeface="Times New Roman" panose="02020603050405020304" pitchFamily="18" charset="0"/>
              </a:rPr>
              <a:t>Are we more worried about selection on observables? Or </a:t>
            </a:r>
            <a:r>
              <a:rPr lang="en-US" sz="2400" dirty="0" err="1">
                <a:solidFill>
                  <a:srgbClr val="373A3C"/>
                </a:solidFill>
                <a:cs typeface="Times New Roman" panose="02020603050405020304" pitchFamily="18" charset="0"/>
              </a:rPr>
              <a:t>unobservables</a:t>
            </a:r>
            <a:r>
              <a:rPr lang="en-US" sz="2400" dirty="0">
                <a:solidFill>
                  <a:srgbClr val="373A3C"/>
                </a:solidFill>
                <a:cs typeface="Times New Roman" panose="02020603050405020304" pitchFamily="18" charset="0"/>
              </a:rPr>
              <a:t>?</a:t>
            </a:r>
            <a:endParaRPr lang="en-US" sz="2400" dirty="0">
              <a:cs typeface="Times New Roman" panose="02020603050405020304" pitchFamily="18" charset="0"/>
            </a:endParaRPr>
          </a:p>
          <a:p>
            <a:pPr marL="274320" lvl="1"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13681219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B22A0-E94A-E437-893B-B1CACC019A21}"/>
              </a:ext>
            </a:extLst>
          </p:cNvPr>
          <p:cNvSpPr>
            <a:spLocks noGrp="1"/>
          </p:cNvSpPr>
          <p:nvPr>
            <p:ph type="title"/>
          </p:nvPr>
        </p:nvSpPr>
        <p:spPr>
          <a:xfrm>
            <a:off x="1237489" y="640080"/>
            <a:ext cx="2801111" cy="1325562"/>
          </a:xfrm>
        </p:spPr>
        <p:txBody>
          <a:bodyPr>
            <a:normAutofit/>
          </a:bodyPr>
          <a:lstStyle/>
          <a:p>
            <a:r>
              <a:rPr lang="en-US" sz="3200" b="1" dirty="0">
                <a:solidFill>
                  <a:schemeClr val="accent2">
                    <a:lumMod val="75000"/>
                  </a:schemeClr>
                </a:solidFill>
              </a:rPr>
              <a:t>Problems of </a:t>
            </a:r>
            <a:r>
              <a:rPr lang="en-US" sz="3200" b="1" dirty="0" err="1">
                <a:solidFill>
                  <a:schemeClr val="accent2">
                    <a:lumMod val="75000"/>
                  </a:schemeClr>
                </a:solidFill>
              </a:rPr>
              <a:t>Unobservables</a:t>
            </a:r>
            <a:endParaRPr lang="en-US" sz="3200" b="1" dirty="0">
              <a:solidFill>
                <a:schemeClr val="accent2">
                  <a:lumMod val="75000"/>
                </a:schemeClr>
              </a:solidFill>
            </a:endParaRPr>
          </a:p>
        </p:txBody>
      </p:sp>
      <p:sp>
        <p:nvSpPr>
          <p:cNvPr id="3" name="Content Placeholder 2">
            <a:extLst>
              <a:ext uri="{FF2B5EF4-FFF2-40B4-BE49-F238E27FC236}">
                <a16:creationId xmlns:a16="http://schemas.microsoft.com/office/drawing/2014/main" id="{6D5493FA-2DCA-05FA-B64D-9266E284351A}"/>
              </a:ext>
            </a:extLst>
          </p:cNvPr>
          <p:cNvSpPr>
            <a:spLocks noGrp="1"/>
          </p:cNvSpPr>
          <p:nvPr>
            <p:ph idx="1"/>
          </p:nvPr>
        </p:nvSpPr>
        <p:spPr>
          <a:xfrm>
            <a:off x="1237489" y="2301555"/>
            <a:ext cx="3075836" cy="3878582"/>
          </a:xfrm>
        </p:spPr>
        <p:txBody>
          <a:bodyPr>
            <a:normAutofit/>
          </a:bodyPr>
          <a:lstStyle/>
          <a:p>
            <a:endParaRPr lang="en-US" sz="1600"/>
          </a:p>
        </p:txBody>
      </p:sp>
      <p:pic>
        <p:nvPicPr>
          <p:cNvPr id="5" name="Picture 4">
            <a:extLst>
              <a:ext uri="{FF2B5EF4-FFF2-40B4-BE49-F238E27FC236}">
                <a16:creationId xmlns:a16="http://schemas.microsoft.com/office/drawing/2014/main" id="{57BA9F98-D64B-9189-E099-A0FE08A6967D}"/>
              </a:ext>
            </a:extLst>
          </p:cNvPr>
          <p:cNvPicPr>
            <a:picLocks noChangeAspect="1"/>
          </p:cNvPicPr>
          <p:nvPr/>
        </p:nvPicPr>
        <p:blipFill rotWithShape="1">
          <a:blip r:embed="rId3"/>
          <a:srcRect t="329" r="-2" b="49805"/>
          <a:stretch/>
        </p:blipFill>
        <p:spPr>
          <a:xfrm>
            <a:off x="5105399" y="-5536"/>
            <a:ext cx="7086601" cy="3739336"/>
          </a:xfrm>
          <a:prstGeom prst="rect">
            <a:avLst/>
          </a:prstGeom>
        </p:spPr>
      </p:pic>
      <p:sp>
        <p:nvSpPr>
          <p:cNvPr id="4" name="TextBox 3">
            <a:extLst>
              <a:ext uri="{FF2B5EF4-FFF2-40B4-BE49-F238E27FC236}">
                <a16:creationId xmlns:a16="http://schemas.microsoft.com/office/drawing/2014/main" id="{6B4F9015-D20D-CF18-8DA0-B43F8E608D6D}"/>
              </a:ext>
            </a:extLst>
          </p:cNvPr>
          <p:cNvSpPr txBox="1"/>
          <p:nvPr/>
        </p:nvSpPr>
        <p:spPr>
          <a:xfrm>
            <a:off x="8001000" y="0"/>
            <a:ext cx="1143000" cy="369332"/>
          </a:xfrm>
          <a:prstGeom prst="rect">
            <a:avLst/>
          </a:prstGeom>
          <a:solidFill>
            <a:schemeClr val="accent2">
              <a:lumMod val="75000"/>
            </a:schemeClr>
          </a:solidFill>
          <a:ln>
            <a:solidFill>
              <a:schemeClr val="tx2">
                <a:lumMod val="50000"/>
              </a:schemeClr>
            </a:solidFill>
          </a:ln>
        </p:spPr>
        <p:txBody>
          <a:bodyPr wrap="square" rtlCol="0">
            <a:spAutoFit/>
          </a:bodyPr>
          <a:lstStyle/>
          <a:p>
            <a:r>
              <a:rPr lang="en-US" b="1" dirty="0">
                <a:solidFill>
                  <a:schemeClr val="bg1"/>
                </a:solidFill>
              </a:rPr>
              <a:t>King</a:t>
            </a:r>
          </a:p>
        </p:txBody>
      </p:sp>
    </p:spTree>
    <p:extLst>
      <p:ext uri="{BB962C8B-B14F-4D97-AF65-F5344CB8AC3E}">
        <p14:creationId xmlns:p14="http://schemas.microsoft.com/office/powerpoint/2010/main" val="16721928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B22A0-E94A-E437-893B-B1CACC019A21}"/>
              </a:ext>
            </a:extLst>
          </p:cNvPr>
          <p:cNvSpPr>
            <a:spLocks noGrp="1"/>
          </p:cNvSpPr>
          <p:nvPr>
            <p:ph type="title"/>
          </p:nvPr>
        </p:nvSpPr>
        <p:spPr>
          <a:xfrm>
            <a:off x="1237489" y="640080"/>
            <a:ext cx="2801111" cy="1325562"/>
          </a:xfrm>
        </p:spPr>
        <p:txBody>
          <a:bodyPr>
            <a:normAutofit/>
          </a:bodyPr>
          <a:lstStyle/>
          <a:p>
            <a:r>
              <a:rPr lang="en-US" sz="3200" b="1" dirty="0">
                <a:solidFill>
                  <a:schemeClr val="accent2">
                    <a:lumMod val="75000"/>
                  </a:schemeClr>
                </a:solidFill>
              </a:rPr>
              <a:t>Problems of </a:t>
            </a:r>
            <a:r>
              <a:rPr lang="en-US" sz="3200" b="1" dirty="0" err="1">
                <a:solidFill>
                  <a:schemeClr val="accent2">
                    <a:lumMod val="75000"/>
                  </a:schemeClr>
                </a:solidFill>
              </a:rPr>
              <a:t>Unobservables</a:t>
            </a:r>
            <a:endParaRPr lang="en-US" sz="3200" b="1" dirty="0">
              <a:solidFill>
                <a:schemeClr val="accent2">
                  <a:lumMod val="75000"/>
                </a:schemeClr>
              </a:solidFill>
            </a:endParaRPr>
          </a:p>
        </p:txBody>
      </p:sp>
      <p:sp>
        <p:nvSpPr>
          <p:cNvPr id="3" name="Content Placeholder 2">
            <a:extLst>
              <a:ext uri="{FF2B5EF4-FFF2-40B4-BE49-F238E27FC236}">
                <a16:creationId xmlns:a16="http://schemas.microsoft.com/office/drawing/2014/main" id="{6D5493FA-2DCA-05FA-B64D-9266E284351A}"/>
              </a:ext>
            </a:extLst>
          </p:cNvPr>
          <p:cNvSpPr>
            <a:spLocks noGrp="1"/>
          </p:cNvSpPr>
          <p:nvPr>
            <p:ph idx="1"/>
          </p:nvPr>
        </p:nvSpPr>
        <p:spPr>
          <a:xfrm>
            <a:off x="1237489" y="2301555"/>
            <a:ext cx="3075836" cy="3878582"/>
          </a:xfrm>
        </p:spPr>
        <p:txBody>
          <a:bodyPr>
            <a:normAutofit/>
          </a:bodyPr>
          <a:lstStyle/>
          <a:p>
            <a:endParaRPr lang="en-US" sz="1600"/>
          </a:p>
        </p:txBody>
      </p:sp>
      <p:pic>
        <p:nvPicPr>
          <p:cNvPr id="5" name="Picture 4">
            <a:extLst>
              <a:ext uri="{FF2B5EF4-FFF2-40B4-BE49-F238E27FC236}">
                <a16:creationId xmlns:a16="http://schemas.microsoft.com/office/drawing/2014/main" id="{57BA9F98-D64B-9189-E099-A0FE08A6967D}"/>
              </a:ext>
            </a:extLst>
          </p:cNvPr>
          <p:cNvPicPr>
            <a:picLocks noChangeAspect="1"/>
          </p:cNvPicPr>
          <p:nvPr/>
        </p:nvPicPr>
        <p:blipFill rotWithShape="1">
          <a:blip r:embed="rId3"/>
          <a:srcRect t="330" r="-2" b="8141"/>
          <a:stretch/>
        </p:blipFill>
        <p:spPr>
          <a:xfrm>
            <a:off x="5105399" y="-5536"/>
            <a:ext cx="7086601" cy="6863536"/>
          </a:xfrm>
          <a:prstGeom prst="rect">
            <a:avLst/>
          </a:prstGeom>
        </p:spPr>
      </p:pic>
      <p:sp>
        <p:nvSpPr>
          <p:cNvPr id="4" name="TextBox 3">
            <a:extLst>
              <a:ext uri="{FF2B5EF4-FFF2-40B4-BE49-F238E27FC236}">
                <a16:creationId xmlns:a16="http://schemas.microsoft.com/office/drawing/2014/main" id="{6898FB81-3D09-212D-61BC-4A1122B8BEF4}"/>
              </a:ext>
            </a:extLst>
          </p:cNvPr>
          <p:cNvSpPr txBox="1"/>
          <p:nvPr/>
        </p:nvSpPr>
        <p:spPr>
          <a:xfrm>
            <a:off x="8001000" y="0"/>
            <a:ext cx="1143000" cy="369332"/>
          </a:xfrm>
          <a:prstGeom prst="rect">
            <a:avLst/>
          </a:prstGeom>
          <a:solidFill>
            <a:schemeClr val="accent2">
              <a:lumMod val="75000"/>
            </a:schemeClr>
          </a:solidFill>
          <a:ln>
            <a:solidFill>
              <a:schemeClr val="tx2">
                <a:lumMod val="50000"/>
              </a:schemeClr>
            </a:solidFill>
          </a:ln>
        </p:spPr>
        <p:txBody>
          <a:bodyPr wrap="square" rtlCol="0">
            <a:spAutoFit/>
          </a:bodyPr>
          <a:lstStyle/>
          <a:p>
            <a:r>
              <a:rPr lang="en-US" b="1" dirty="0">
                <a:solidFill>
                  <a:schemeClr val="bg1"/>
                </a:solidFill>
              </a:rPr>
              <a:t>King</a:t>
            </a:r>
          </a:p>
        </p:txBody>
      </p:sp>
    </p:spTree>
    <p:extLst>
      <p:ext uri="{BB962C8B-B14F-4D97-AF65-F5344CB8AC3E}">
        <p14:creationId xmlns:p14="http://schemas.microsoft.com/office/powerpoint/2010/main" val="15052860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Matching Estimators with Omitted Covariates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r>
              <a:rPr lang="en-US" sz="2400" dirty="0">
                <a:cs typeface="Times New Roman" panose="02020603050405020304" pitchFamily="18" charset="0"/>
              </a:rPr>
              <a:t>An illustration: </a:t>
            </a:r>
            <a:r>
              <a:rPr lang="en-US" sz="2400" dirty="0">
                <a:cs typeface="Times New Roman" panose="02020603050405020304" pitchFamily="18" charset="0"/>
                <a:hlinkClick r:id="rId3"/>
              </a:rPr>
              <a:t>https://tinyurl.com/2dpkpad9</a:t>
            </a:r>
            <a:r>
              <a:rPr lang="en-US" sz="2400" dirty="0">
                <a:cs typeface="Times New Roman" panose="02020603050405020304" pitchFamily="18" charset="0"/>
              </a:rPr>
              <a:t> </a:t>
            </a:r>
          </a:p>
        </p:txBody>
      </p:sp>
      <p:pic>
        <p:nvPicPr>
          <p:cNvPr id="6" name="Picture 5">
            <a:extLst>
              <a:ext uri="{FF2B5EF4-FFF2-40B4-BE49-F238E27FC236}">
                <a16:creationId xmlns:a16="http://schemas.microsoft.com/office/drawing/2014/main" id="{9CB235FE-B2D0-2B77-B644-519D6AFEBF8A}"/>
              </a:ext>
            </a:extLst>
          </p:cNvPr>
          <p:cNvPicPr>
            <a:picLocks noChangeAspect="1"/>
          </p:cNvPicPr>
          <p:nvPr/>
        </p:nvPicPr>
        <p:blipFill>
          <a:blip r:embed="rId4"/>
          <a:stretch>
            <a:fillRect/>
          </a:stretch>
        </p:blipFill>
        <p:spPr>
          <a:xfrm>
            <a:off x="1219199" y="1600200"/>
            <a:ext cx="8087854" cy="5134692"/>
          </a:xfrm>
          <a:prstGeom prst="rect">
            <a:avLst/>
          </a:prstGeom>
        </p:spPr>
      </p:pic>
    </p:spTree>
    <p:extLst>
      <p:ext uri="{BB962C8B-B14F-4D97-AF65-F5344CB8AC3E}">
        <p14:creationId xmlns:p14="http://schemas.microsoft.com/office/powerpoint/2010/main" val="33502277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Matching Estimators with Omitted Covariates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r>
              <a:rPr lang="en-US" sz="2400" dirty="0">
                <a:cs typeface="Times New Roman" panose="02020603050405020304" pitchFamily="18" charset="0"/>
              </a:rPr>
              <a:t>An illustration: </a:t>
            </a:r>
            <a:r>
              <a:rPr lang="en-US" sz="2400" dirty="0">
                <a:cs typeface="Times New Roman" panose="02020603050405020304" pitchFamily="18" charset="0"/>
                <a:hlinkClick r:id="rId3"/>
              </a:rPr>
              <a:t>https://tinyurl.com/2dpkpad9</a:t>
            </a:r>
            <a:r>
              <a:rPr lang="en-US" sz="2400" dirty="0">
                <a:cs typeface="Times New Roman" panose="02020603050405020304" pitchFamily="18" charset="0"/>
              </a:rPr>
              <a:t> </a:t>
            </a:r>
          </a:p>
        </p:txBody>
      </p:sp>
      <p:pic>
        <p:nvPicPr>
          <p:cNvPr id="5" name="Picture 4">
            <a:extLst>
              <a:ext uri="{FF2B5EF4-FFF2-40B4-BE49-F238E27FC236}">
                <a16:creationId xmlns:a16="http://schemas.microsoft.com/office/drawing/2014/main" id="{722C0919-17DB-68CA-580A-7C78DCCF112B}"/>
              </a:ext>
            </a:extLst>
          </p:cNvPr>
          <p:cNvPicPr>
            <a:picLocks noChangeAspect="1"/>
          </p:cNvPicPr>
          <p:nvPr/>
        </p:nvPicPr>
        <p:blipFill>
          <a:blip r:embed="rId4"/>
          <a:stretch>
            <a:fillRect/>
          </a:stretch>
        </p:blipFill>
        <p:spPr>
          <a:xfrm>
            <a:off x="1189652" y="1600200"/>
            <a:ext cx="8116433" cy="5106113"/>
          </a:xfrm>
          <a:prstGeom prst="rect">
            <a:avLst/>
          </a:prstGeom>
        </p:spPr>
      </p:pic>
    </p:spTree>
    <p:extLst>
      <p:ext uri="{BB962C8B-B14F-4D97-AF65-F5344CB8AC3E}">
        <p14:creationId xmlns:p14="http://schemas.microsoft.com/office/powerpoint/2010/main" val="22454602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Propensity Score Matching: Identification Problems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10287000" cy="5141388"/>
          </a:xfrm>
        </p:spPr>
        <p:txBody>
          <a:bodyPr>
            <a:noAutofit/>
          </a:bodyPr>
          <a:lstStyle/>
          <a:p>
            <a:pPr lvl="1"/>
            <a:endParaRPr lang="en-US" sz="2200" dirty="0">
              <a:cs typeface="Times New Roman" panose="02020603050405020304" pitchFamily="18" charset="0"/>
            </a:endParaRPr>
          </a:p>
          <a:p>
            <a:pPr lvl="2"/>
            <a:endParaRPr lang="en-US" sz="2200" dirty="0">
              <a:cs typeface="Times New Roman" panose="02020603050405020304" pitchFamily="18" charset="0"/>
            </a:endParaRPr>
          </a:p>
          <a:p>
            <a:pPr marL="2271400" lvl="8" indent="0">
              <a:buNone/>
            </a:pPr>
            <a:endParaRPr lang="en-US" sz="2200" dirty="0">
              <a:cs typeface="Times New Roman" panose="02020603050405020304" pitchFamily="18" charset="0"/>
            </a:endParaRPr>
          </a:p>
          <a:p>
            <a:pPr lvl="1"/>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8BC6F0E5-131B-C05D-0207-FE4BA47BB20B}"/>
              </a:ext>
            </a:extLst>
          </p:cNvPr>
          <p:cNvPicPr>
            <a:picLocks noChangeAspect="1"/>
          </p:cNvPicPr>
          <p:nvPr/>
        </p:nvPicPr>
        <p:blipFill>
          <a:blip r:embed="rId3"/>
          <a:stretch>
            <a:fillRect/>
          </a:stretch>
        </p:blipFill>
        <p:spPr>
          <a:xfrm>
            <a:off x="1329300" y="872101"/>
            <a:ext cx="9000000" cy="5827722"/>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DA19D91-F520-F08D-0CDD-CF1ADE206041}"/>
                  </a:ext>
                </a:extLst>
              </p14:cNvPr>
              <p14:cNvContentPartPr/>
              <p14:nvPr/>
            </p14:nvContentPartPr>
            <p14:xfrm>
              <a:off x="5085331" y="4674078"/>
              <a:ext cx="5019840" cy="75600"/>
            </p14:xfrm>
          </p:contentPart>
        </mc:Choice>
        <mc:Fallback xmlns="">
          <p:pic>
            <p:nvPicPr>
              <p:cNvPr id="6" name="Ink 5">
                <a:extLst>
                  <a:ext uri="{FF2B5EF4-FFF2-40B4-BE49-F238E27FC236}">
                    <a16:creationId xmlns:a16="http://schemas.microsoft.com/office/drawing/2014/main" id="{EDA19D91-F520-F08D-0CDD-CF1ADE206041}"/>
                  </a:ext>
                </a:extLst>
              </p:cNvPr>
              <p:cNvPicPr/>
              <p:nvPr/>
            </p:nvPicPr>
            <p:blipFill>
              <a:blip r:embed="rId5"/>
              <a:stretch>
                <a:fillRect/>
              </a:stretch>
            </p:blipFill>
            <p:spPr>
              <a:xfrm>
                <a:off x="5031331" y="4566438"/>
                <a:ext cx="512748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FCA6ADA2-DCAD-B2AD-B0E8-5FE60DD116EB}"/>
                  </a:ext>
                </a:extLst>
              </p14:cNvPr>
              <p14:cNvContentPartPr/>
              <p14:nvPr/>
            </p14:nvContentPartPr>
            <p14:xfrm>
              <a:off x="2798971" y="4784958"/>
              <a:ext cx="5337000" cy="198720"/>
            </p14:xfrm>
          </p:contentPart>
        </mc:Choice>
        <mc:Fallback xmlns="">
          <p:pic>
            <p:nvPicPr>
              <p:cNvPr id="7" name="Ink 6">
                <a:extLst>
                  <a:ext uri="{FF2B5EF4-FFF2-40B4-BE49-F238E27FC236}">
                    <a16:creationId xmlns:a16="http://schemas.microsoft.com/office/drawing/2014/main" id="{FCA6ADA2-DCAD-B2AD-B0E8-5FE60DD116EB}"/>
                  </a:ext>
                </a:extLst>
              </p:cNvPr>
              <p:cNvPicPr/>
              <p:nvPr/>
            </p:nvPicPr>
            <p:blipFill>
              <a:blip r:embed="rId7"/>
              <a:stretch>
                <a:fillRect/>
              </a:stretch>
            </p:blipFill>
            <p:spPr>
              <a:xfrm>
                <a:off x="2744971" y="4677318"/>
                <a:ext cx="5444640" cy="414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F7EB9CC6-C2F9-6971-1E07-EE783D6A9282}"/>
                  </a:ext>
                </a:extLst>
              </p14:cNvPr>
              <p14:cNvContentPartPr/>
              <p14:nvPr/>
            </p14:nvContentPartPr>
            <p14:xfrm>
              <a:off x="5709931" y="4253958"/>
              <a:ext cx="4235760" cy="39240"/>
            </p14:xfrm>
          </p:contentPart>
        </mc:Choice>
        <mc:Fallback xmlns="">
          <p:pic>
            <p:nvPicPr>
              <p:cNvPr id="10" name="Ink 9">
                <a:extLst>
                  <a:ext uri="{FF2B5EF4-FFF2-40B4-BE49-F238E27FC236}">
                    <a16:creationId xmlns:a16="http://schemas.microsoft.com/office/drawing/2014/main" id="{F7EB9CC6-C2F9-6971-1E07-EE783D6A9282}"/>
                  </a:ext>
                </a:extLst>
              </p:cNvPr>
              <p:cNvPicPr/>
              <p:nvPr/>
            </p:nvPicPr>
            <p:blipFill>
              <a:blip r:embed="rId9"/>
              <a:stretch>
                <a:fillRect/>
              </a:stretch>
            </p:blipFill>
            <p:spPr>
              <a:xfrm>
                <a:off x="5656291" y="4145958"/>
                <a:ext cx="434340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9E5CEDC3-D90B-EB1A-DCBF-4A4EF3B7693E}"/>
                  </a:ext>
                </a:extLst>
              </p14:cNvPr>
              <p14:cNvContentPartPr/>
              <p14:nvPr/>
            </p14:nvContentPartPr>
            <p14:xfrm>
              <a:off x="2790691" y="4469238"/>
              <a:ext cx="7221600" cy="104400"/>
            </p14:xfrm>
          </p:contentPart>
        </mc:Choice>
        <mc:Fallback xmlns="">
          <p:pic>
            <p:nvPicPr>
              <p:cNvPr id="11" name="Ink 10">
                <a:extLst>
                  <a:ext uri="{FF2B5EF4-FFF2-40B4-BE49-F238E27FC236}">
                    <a16:creationId xmlns:a16="http://schemas.microsoft.com/office/drawing/2014/main" id="{9E5CEDC3-D90B-EB1A-DCBF-4A4EF3B7693E}"/>
                  </a:ext>
                </a:extLst>
              </p:cNvPr>
              <p:cNvPicPr/>
              <p:nvPr/>
            </p:nvPicPr>
            <p:blipFill>
              <a:blip r:embed="rId11"/>
              <a:stretch>
                <a:fillRect/>
              </a:stretch>
            </p:blipFill>
            <p:spPr>
              <a:xfrm>
                <a:off x="2736691" y="4361598"/>
                <a:ext cx="732924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FAAA8E6C-F988-2A04-27BB-797CE5C64C89}"/>
                  </a:ext>
                </a:extLst>
              </p14:cNvPr>
              <p14:cNvContentPartPr/>
              <p14:nvPr/>
            </p14:nvContentPartPr>
            <p14:xfrm>
              <a:off x="2762971" y="4636638"/>
              <a:ext cx="2369160" cy="94320"/>
            </p14:xfrm>
          </p:contentPart>
        </mc:Choice>
        <mc:Fallback xmlns="">
          <p:pic>
            <p:nvPicPr>
              <p:cNvPr id="12" name="Ink 11">
                <a:extLst>
                  <a:ext uri="{FF2B5EF4-FFF2-40B4-BE49-F238E27FC236}">
                    <a16:creationId xmlns:a16="http://schemas.microsoft.com/office/drawing/2014/main" id="{FAAA8E6C-F988-2A04-27BB-797CE5C64C89}"/>
                  </a:ext>
                </a:extLst>
              </p:cNvPr>
              <p:cNvPicPr/>
              <p:nvPr/>
            </p:nvPicPr>
            <p:blipFill>
              <a:blip r:embed="rId13"/>
              <a:stretch>
                <a:fillRect/>
              </a:stretch>
            </p:blipFill>
            <p:spPr>
              <a:xfrm>
                <a:off x="2708971" y="4528998"/>
                <a:ext cx="247680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D2751C64-2414-9BB4-B55F-DCB5ECA5AFC7}"/>
                  </a:ext>
                </a:extLst>
              </p14:cNvPr>
              <p14:cNvContentPartPr/>
              <p14:nvPr/>
            </p14:nvContentPartPr>
            <p14:xfrm>
              <a:off x="2765491" y="4768038"/>
              <a:ext cx="2264040" cy="75600"/>
            </p14:xfrm>
          </p:contentPart>
        </mc:Choice>
        <mc:Fallback xmlns="">
          <p:pic>
            <p:nvPicPr>
              <p:cNvPr id="13" name="Ink 12">
                <a:extLst>
                  <a:ext uri="{FF2B5EF4-FFF2-40B4-BE49-F238E27FC236}">
                    <a16:creationId xmlns:a16="http://schemas.microsoft.com/office/drawing/2014/main" id="{D2751C64-2414-9BB4-B55F-DCB5ECA5AFC7}"/>
                  </a:ext>
                </a:extLst>
              </p:cNvPr>
              <p:cNvPicPr/>
              <p:nvPr/>
            </p:nvPicPr>
            <p:blipFill>
              <a:blip r:embed="rId15"/>
              <a:stretch>
                <a:fillRect/>
              </a:stretch>
            </p:blipFill>
            <p:spPr>
              <a:xfrm>
                <a:off x="2711491" y="4660038"/>
                <a:ext cx="237168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6DAB60CC-9350-4B2C-35FC-CD8D8AAB85BF}"/>
                  </a:ext>
                </a:extLst>
              </p14:cNvPr>
              <p14:cNvContentPartPr/>
              <p14:nvPr/>
            </p14:nvContentPartPr>
            <p14:xfrm>
              <a:off x="5664211" y="4169718"/>
              <a:ext cx="4452120" cy="436320"/>
            </p14:xfrm>
          </p:contentPart>
        </mc:Choice>
        <mc:Fallback xmlns="">
          <p:pic>
            <p:nvPicPr>
              <p:cNvPr id="14" name="Ink 13">
                <a:extLst>
                  <a:ext uri="{FF2B5EF4-FFF2-40B4-BE49-F238E27FC236}">
                    <a16:creationId xmlns:a16="http://schemas.microsoft.com/office/drawing/2014/main" id="{6DAB60CC-9350-4B2C-35FC-CD8D8AAB85BF}"/>
                  </a:ext>
                </a:extLst>
              </p:cNvPr>
              <p:cNvPicPr/>
              <p:nvPr/>
            </p:nvPicPr>
            <p:blipFill>
              <a:blip r:embed="rId17"/>
              <a:stretch>
                <a:fillRect/>
              </a:stretch>
            </p:blipFill>
            <p:spPr>
              <a:xfrm>
                <a:off x="5610211" y="4061718"/>
                <a:ext cx="4559760" cy="651960"/>
              </a:xfrm>
              <a:prstGeom prst="rect">
                <a:avLst/>
              </a:prstGeom>
            </p:spPr>
          </p:pic>
        </mc:Fallback>
      </mc:AlternateContent>
    </p:spTree>
    <p:extLst>
      <p:ext uri="{BB962C8B-B14F-4D97-AF65-F5344CB8AC3E}">
        <p14:creationId xmlns:p14="http://schemas.microsoft.com/office/powerpoint/2010/main" val="33928715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Propensity Score Matching: Punching Back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10287000" cy="5141388"/>
          </a:xfrm>
        </p:spPr>
        <p:txBody>
          <a:bodyPr>
            <a:noAutofit/>
          </a:bodyPr>
          <a:lstStyle/>
          <a:p>
            <a:pPr lvl="1"/>
            <a:endParaRPr lang="en-US" sz="2200" dirty="0">
              <a:cs typeface="Times New Roman" panose="02020603050405020304" pitchFamily="18" charset="0"/>
            </a:endParaRPr>
          </a:p>
          <a:p>
            <a:pPr lvl="2"/>
            <a:endParaRPr lang="en-US" sz="2200" dirty="0">
              <a:cs typeface="Times New Roman" panose="02020603050405020304" pitchFamily="18" charset="0"/>
            </a:endParaRPr>
          </a:p>
          <a:p>
            <a:pPr marL="2271400" lvl="8" indent="0">
              <a:buNone/>
            </a:pPr>
            <a:endParaRPr lang="en-US" sz="2200" dirty="0">
              <a:cs typeface="Times New Roman" panose="02020603050405020304" pitchFamily="18" charset="0"/>
            </a:endParaRPr>
          </a:p>
          <a:p>
            <a:pPr lvl="1"/>
            <a:endParaRPr lang="en-US" sz="2400" dirty="0">
              <a:cs typeface="Times New Roman" panose="02020603050405020304" pitchFamily="18" charset="0"/>
            </a:endParaRPr>
          </a:p>
        </p:txBody>
      </p:sp>
      <p:sp>
        <p:nvSpPr>
          <p:cNvPr id="4" name="TextBox 3">
            <a:extLst>
              <a:ext uri="{FF2B5EF4-FFF2-40B4-BE49-F238E27FC236}">
                <a16:creationId xmlns:a16="http://schemas.microsoft.com/office/drawing/2014/main" id="{CFDE9185-B989-9026-327E-7C18FE99CF16}"/>
              </a:ext>
            </a:extLst>
          </p:cNvPr>
          <p:cNvSpPr txBox="1"/>
          <p:nvPr/>
        </p:nvSpPr>
        <p:spPr>
          <a:xfrm>
            <a:off x="762001" y="1219200"/>
            <a:ext cx="10338086" cy="1815882"/>
          </a:xfrm>
          <a:prstGeom prst="rect">
            <a:avLst/>
          </a:prstGeom>
          <a:solidFill>
            <a:schemeClr val="accent3">
              <a:lumMod val="75000"/>
            </a:schemeClr>
          </a:solidFill>
          <a:ln>
            <a:solidFill>
              <a:schemeClr val="accent3">
                <a:lumMod val="50000"/>
              </a:schemeClr>
            </a:solidFill>
          </a:ln>
        </p:spPr>
        <p:txBody>
          <a:bodyPr wrap="none" rtlCol="0">
            <a:spAutoFit/>
          </a:bodyPr>
          <a:lstStyle/>
          <a:p>
            <a:r>
              <a:rPr lang="en-US" sz="2800" dirty="0">
                <a:solidFill>
                  <a:schemeClr val="bg1"/>
                </a:solidFill>
              </a:rPr>
              <a:t>"The statistician who adjusts for observed covariates in an </a:t>
            </a:r>
          </a:p>
          <a:p>
            <a:r>
              <a:rPr lang="en-US" sz="2800" dirty="0">
                <a:solidFill>
                  <a:schemeClr val="bg1"/>
                </a:solidFill>
              </a:rPr>
              <a:t>ornate and obscure way does no service, particularly if </a:t>
            </a:r>
          </a:p>
          <a:p>
            <a:r>
              <a:rPr lang="en-US" sz="2800" dirty="0">
                <a:solidFill>
                  <a:schemeClr val="bg1"/>
                </a:solidFill>
              </a:rPr>
              <a:t>ornate obscurity erects barriers to success in the step </a:t>
            </a:r>
          </a:p>
          <a:p>
            <a:r>
              <a:rPr lang="en-US" sz="2800" dirty="0">
                <a:solidFill>
                  <a:schemeClr val="bg1"/>
                </a:solidFill>
              </a:rPr>
              <a:t>from association to causation.“ – Rubin and Rosenbaum 2022</a:t>
            </a:r>
          </a:p>
        </p:txBody>
      </p:sp>
    </p:spTree>
    <p:extLst>
      <p:ext uri="{BB962C8B-B14F-4D97-AF65-F5344CB8AC3E}">
        <p14:creationId xmlns:p14="http://schemas.microsoft.com/office/powerpoint/2010/main" val="7318189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Propensity Score Matching: Punching Back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10287000" cy="5141388"/>
          </a:xfrm>
        </p:spPr>
        <p:txBody>
          <a:bodyPr>
            <a:noAutofit/>
          </a:bodyPr>
          <a:lstStyle/>
          <a:p>
            <a:pPr lvl="1"/>
            <a:endParaRPr lang="en-US" sz="2200" dirty="0">
              <a:cs typeface="Times New Roman" panose="02020603050405020304" pitchFamily="18" charset="0"/>
            </a:endParaRPr>
          </a:p>
          <a:p>
            <a:pPr lvl="2"/>
            <a:endParaRPr lang="en-US" sz="2200" dirty="0">
              <a:cs typeface="Times New Roman" panose="02020603050405020304" pitchFamily="18" charset="0"/>
            </a:endParaRPr>
          </a:p>
          <a:p>
            <a:pPr marL="2271400" lvl="8" indent="0">
              <a:buNone/>
            </a:pPr>
            <a:endParaRPr lang="en-US" sz="2200" dirty="0">
              <a:cs typeface="Times New Roman" panose="02020603050405020304" pitchFamily="18" charset="0"/>
            </a:endParaRPr>
          </a:p>
          <a:p>
            <a:pPr lvl="1"/>
            <a:endParaRPr lang="en-US" sz="2400" dirty="0">
              <a:cs typeface="Times New Roman" panose="02020603050405020304" pitchFamily="18" charset="0"/>
            </a:endParaRPr>
          </a:p>
        </p:txBody>
      </p:sp>
      <p:sp>
        <p:nvSpPr>
          <p:cNvPr id="4" name="TextBox 3">
            <a:extLst>
              <a:ext uri="{FF2B5EF4-FFF2-40B4-BE49-F238E27FC236}">
                <a16:creationId xmlns:a16="http://schemas.microsoft.com/office/drawing/2014/main" id="{CFDE9185-B989-9026-327E-7C18FE99CF16}"/>
              </a:ext>
            </a:extLst>
          </p:cNvPr>
          <p:cNvSpPr txBox="1"/>
          <p:nvPr/>
        </p:nvSpPr>
        <p:spPr>
          <a:xfrm>
            <a:off x="762001" y="1219200"/>
            <a:ext cx="10338086" cy="1815882"/>
          </a:xfrm>
          <a:prstGeom prst="rect">
            <a:avLst/>
          </a:prstGeom>
          <a:solidFill>
            <a:schemeClr val="accent3">
              <a:lumMod val="75000"/>
            </a:schemeClr>
          </a:solidFill>
          <a:ln>
            <a:solidFill>
              <a:schemeClr val="accent3">
                <a:lumMod val="50000"/>
              </a:schemeClr>
            </a:solidFill>
          </a:ln>
        </p:spPr>
        <p:txBody>
          <a:bodyPr wrap="none" rtlCol="0">
            <a:spAutoFit/>
          </a:bodyPr>
          <a:lstStyle/>
          <a:p>
            <a:r>
              <a:rPr lang="en-US" sz="2800" dirty="0">
                <a:solidFill>
                  <a:schemeClr val="bg1"/>
                </a:solidFill>
              </a:rPr>
              <a:t>"The statistician who adjusts for observed covariates in an </a:t>
            </a:r>
          </a:p>
          <a:p>
            <a:r>
              <a:rPr lang="en-US" sz="2800" dirty="0">
                <a:solidFill>
                  <a:schemeClr val="bg1"/>
                </a:solidFill>
              </a:rPr>
              <a:t>ornate and obscure way does no service, particularly if </a:t>
            </a:r>
          </a:p>
          <a:p>
            <a:r>
              <a:rPr lang="en-US" sz="2800" dirty="0">
                <a:solidFill>
                  <a:schemeClr val="bg1"/>
                </a:solidFill>
              </a:rPr>
              <a:t>ornate obscurity erects barriers to success in the step </a:t>
            </a:r>
          </a:p>
          <a:p>
            <a:r>
              <a:rPr lang="en-US" sz="2800" dirty="0">
                <a:solidFill>
                  <a:schemeClr val="bg1"/>
                </a:solidFill>
              </a:rPr>
              <a:t>from association to causation.“ – Rubin and Rosenbaum 2022</a:t>
            </a:r>
          </a:p>
        </p:txBody>
      </p:sp>
      <p:sp>
        <p:nvSpPr>
          <p:cNvPr id="8" name="TextBox 7">
            <a:extLst>
              <a:ext uri="{FF2B5EF4-FFF2-40B4-BE49-F238E27FC236}">
                <a16:creationId xmlns:a16="http://schemas.microsoft.com/office/drawing/2014/main" id="{B524CF69-1D90-EA99-A2C4-EB7963E0BD76}"/>
              </a:ext>
            </a:extLst>
          </p:cNvPr>
          <p:cNvSpPr txBox="1"/>
          <p:nvPr/>
        </p:nvSpPr>
        <p:spPr>
          <a:xfrm>
            <a:off x="838200" y="3352799"/>
            <a:ext cx="9906000"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Plus, propensity scores really are everywhere in econometrics – we just don’t always look at them head on</a:t>
            </a:r>
          </a:p>
        </p:txBody>
      </p:sp>
      <p:pic>
        <p:nvPicPr>
          <p:cNvPr id="15" name="Picture 14">
            <a:extLst>
              <a:ext uri="{FF2B5EF4-FFF2-40B4-BE49-F238E27FC236}">
                <a16:creationId xmlns:a16="http://schemas.microsoft.com/office/drawing/2014/main" id="{466FE5CF-9C0C-197A-12DA-FF4F6631935F}"/>
              </a:ext>
            </a:extLst>
          </p:cNvPr>
          <p:cNvPicPr>
            <a:picLocks noChangeAspect="1"/>
          </p:cNvPicPr>
          <p:nvPr/>
        </p:nvPicPr>
        <p:blipFill>
          <a:blip r:embed="rId3"/>
          <a:stretch>
            <a:fillRect/>
          </a:stretch>
        </p:blipFill>
        <p:spPr>
          <a:xfrm>
            <a:off x="3352800" y="4193961"/>
            <a:ext cx="4559534" cy="2476627"/>
          </a:xfrm>
          <a:prstGeom prst="rect">
            <a:avLst/>
          </a:prstGeom>
        </p:spPr>
      </p:pic>
    </p:spTree>
    <p:extLst>
      <p:ext uri="{BB962C8B-B14F-4D97-AF65-F5344CB8AC3E}">
        <p14:creationId xmlns:p14="http://schemas.microsoft.com/office/powerpoint/2010/main" val="16166376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Propensity Score Matching: Punching Back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10287000" cy="5141388"/>
          </a:xfrm>
        </p:spPr>
        <p:txBody>
          <a:bodyPr>
            <a:noAutofit/>
          </a:bodyPr>
          <a:lstStyle/>
          <a:p>
            <a:pPr lvl="1"/>
            <a:endParaRPr lang="en-US" sz="2200" dirty="0">
              <a:cs typeface="Times New Roman" panose="02020603050405020304" pitchFamily="18" charset="0"/>
            </a:endParaRPr>
          </a:p>
          <a:p>
            <a:pPr lvl="2"/>
            <a:endParaRPr lang="en-US" sz="2200" dirty="0">
              <a:cs typeface="Times New Roman" panose="02020603050405020304" pitchFamily="18" charset="0"/>
            </a:endParaRPr>
          </a:p>
          <a:p>
            <a:pPr marL="2271400" lvl="8" indent="0">
              <a:buNone/>
            </a:pPr>
            <a:endParaRPr lang="en-US" sz="2200" dirty="0">
              <a:cs typeface="Times New Roman" panose="02020603050405020304" pitchFamily="18" charset="0"/>
            </a:endParaRPr>
          </a:p>
          <a:p>
            <a:pPr lvl="1"/>
            <a:endParaRPr lang="en-US" sz="2400" dirty="0">
              <a:cs typeface="Times New Roman" panose="02020603050405020304" pitchFamily="18" charset="0"/>
            </a:endParaRPr>
          </a:p>
        </p:txBody>
      </p:sp>
      <p:sp>
        <p:nvSpPr>
          <p:cNvPr id="4" name="TextBox 3">
            <a:extLst>
              <a:ext uri="{FF2B5EF4-FFF2-40B4-BE49-F238E27FC236}">
                <a16:creationId xmlns:a16="http://schemas.microsoft.com/office/drawing/2014/main" id="{CFDE9185-B989-9026-327E-7C18FE99CF16}"/>
              </a:ext>
            </a:extLst>
          </p:cNvPr>
          <p:cNvSpPr txBox="1"/>
          <p:nvPr/>
        </p:nvSpPr>
        <p:spPr>
          <a:xfrm>
            <a:off x="762001" y="1219200"/>
            <a:ext cx="10338086" cy="1815882"/>
          </a:xfrm>
          <a:prstGeom prst="rect">
            <a:avLst/>
          </a:prstGeom>
          <a:solidFill>
            <a:schemeClr val="accent3">
              <a:lumMod val="75000"/>
            </a:schemeClr>
          </a:solidFill>
          <a:ln>
            <a:solidFill>
              <a:schemeClr val="accent3">
                <a:lumMod val="50000"/>
              </a:schemeClr>
            </a:solidFill>
          </a:ln>
        </p:spPr>
        <p:txBody>
          <a:bodyPr wrap="none" rtlCol="0">
            <a:spAutoFit/>
          </a:bodyPr>
          <a:lstStyle/>
          <a:p>
            <a:r>
              <a:rPr lang="en-US" sz="2800" dirty="0">
                <a:solidFill>
                  <a:schemeClr val="bg1"/>
                </a:solidFill>
              </a:rPr>
              <a:t>"The statistician who adjusts for observed covariates in an </a:t>
            </a:r>
          </a:p>
          <a:p>
            <a:r>
              <a:rPr lang="en-US" sz="2800" dirty="0">
                <a:solidFill>
                  <a:schemeClr val="bg1"/>
                </a:solidFill>
              </a:rPr>
              <a:t>ornate and obscure way does no service, particularly if </a:t>
            </a:r>
          </a:p>
          <a:p>
            <a:r>
              <a:rPr lang="en-US" sz="2800" dirty="0">
                <a:solidFill>
                  <a:schemeClr val="bg1"/>
                </a:solidFill>
              </a:rPr>
              <a:t>ornate obscurity erects barriers to success in the step </a:t>
            </a:r>
          </a:p>
          <a:p>
            <a:r>
              <a:rPr lang="en-US" sz="2800" dirty="0">
                <a:solidFill>
                  <a:schemeClr val="bg1"/>
                </a:solidFill>
              </a:rPr>
              <a:t>from association to causation.“ – Rubin and Rosenbaum 2022</a:t>
            </a:r>
          </a:p>
        </p:txBody>
      </p:sp>
      <p:sp>
        <p:nvSpPr>
          <p:cNvPr id="8" name="TextBox 7">
            <a:extLst>
              <a:ext uri="{FF2B5EF4-FFF2-40B4-BE49-F238E27FC236}">
                <a16:creationId xmlns:a16="http://schemas.microsoft.com/office/drawing/2014/main" id="{B524CF69-1D90-EA99-A2C4-EB7963E0BD76}"/>
              </a:ext>
            </a:extLst>
          </p:cNvPr>
          <p:cNvSpPr txBox="1"/>
          <p:nvPr/>
        </p:nvSpPr>
        <p:spPr>
          <a:xfrm>
            <a:off x="838200" y="3352799"/>
            <a:ext cx="9906000"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Plus, propensity scores really are everywhere in econometrics – we just don’t always look at them head on: </a:t>
            </a:r>
            <a:r>
              <a:rPr lang="en-US" sz="2400" dirty="0">
                <a:latin typeface="Times New Roman" panose="02020603050405020304" pitchFamily="18" charset="0"/>
                <a:cs typeface="Times New Roman" panose="02020603050405020304" pitchFamily="18" charset="0"/>
                <a:hlinkClick r:id="rId3"/>
              </a:rPr>
              <a:t>https://tinyurl.com/h7sdwjh6</a:t>
            </a:r>
            <a:r>
              <a:rPr lang="en-US" sz="24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2721CC98-D88C-FA03-E5E0-D35235FA1C0A}"/>
              </a:ext>
            </a:extLst>
          </p:cNvPr>
          <p:cNvPicPr>
            <a:picLocks noChangeAspect="1"/>
          </p:cNvPicPr>
          <p:nvPr/>
        </p:nvPicPr>
        <p:blipFill>
          <a:blip r:embed="rId4"/>
          <a:stretch>
            <a:fillRect/>
          </a:stretch>
        </p:blipFill>
        <p:spPr>
          <a:xfrm>
            <a:off x="2209800" y="4241719"/>
            <a:ext cx="7074971" cy="2387681"/>
          </a:xfrm>
          <a:prstGeom prst="rect">
            <a:avLst/>
          </a:prstGeom>
        </p:spPr>
      </p:pic>
    </p:spTree>
    <p:extLst>
      <p:ext uri="{BB962C8B-B14F-4D97-AF65-F5344CB8AC3E}">
        <p14:creationId xmlns:p14="http://schemas.microsoft.com/office/powerpoint/2010/main" val="22340182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Alternative: Weighting Matched Observations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Autofit/>
              </a:bodyPr>
              <a:lstStyle/>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Kernel-based weighting</a:t>
                </a:r>
              </a:p>
              <a:p>
                <a:pPr marL="731520" lvl="1" indent="-457200">
                  <a:buFont typeface="+mj-lt"/>
                  <a:buAutoNum type="arabicPeriod"/>
                </a:pPr>
                <a:r>
                  <a:rPr lang="en-US" sz="2400" dirty="0">
                    <a:cs typeface="Times New Roman" panose="02020603050405020304" pitchFamily="18" charset="0"/>
                  </a:rPr>
                  <a:t>Inverse probability weighting</a:t>
                </a:r>
              </a:p>
              <a:p>
                <a:pPr marL="731520" lvl="1" indent="-457200">
                  <a:buFont typeface="+mj-lt"/>
                  <a:buAutoNum type="arabicPeriod"/>
                </a:pPr>
                <a:endParaRPr lang="en-US" sz="2400" dirty="0">
                  <a:cs typeface="Times New Roman" panose="02020603050405020304" pitchFamily="18" charset="0"/>
                </a:endParaRPr>
              </a:p>
              <a:p>
                <a:pPr lvl="1"/>
                <a:r>
                  <a:rPr lang="en-US" sz="2400" dirty="0">
                    <a:cs typeface="Times New Roman" panose="02020603050405020304" pitchFamily="18" charset="0"/>
                  </a:rPr>
                  <a:t>Weight observations based on some function (kernel) of distance </a:t>
                </a:r>
              </a:p>
              <a:p>
                <a:pPr lvl="1"/>
                <a:r>
                  <a:rPr lang="en-US" sz="2400" dirty="0">
                    <a:cs typeface="Times New Roman" panose="02020603050405020304" pitchFamily="18" charset="0"/>
                  </a:rPr>
                  <a:t>Examples: triangular weights, </a:t>
                </a:r>
                <a:r>
                  <a:rPr lang="en-US" sz="2400" dirty="0" err="1">
                    <a:cs typeface="Times New Roman" panose="02020603050405020304" pitchFamily="18" charset="0"/>
                  </a:rPr>
                  <a:t>Epanechnikov</a:t>
                </a:r>
                <a:endParaRPr lang="en-US" sz="2400" dirty="0">
                  <a:cs typeface="Times New Roman" panose="02020603050405020304" pitchFamily="18" charset="0"/>
                </a:endParaRPr>
              </a:p>
              <a:p>
                <a:pPr marL="274320" lvl="1"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𝐾</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3</m:t>
                          </m:r>
                        </m:num>
                        <m:den>
                          <m:r>
                            <a:rPr lang="en-US" sz="2400" b="0" i="1" smtClean="0">
                              <a:latin typeface="Cambria Math" panose="02040503050406030204" pitchFamily="18" charset="0"/>
                              <a:cs typeface="Times New Roman" panose="02020603050405020304" pitchFamily="18" charset="0"/>
                            </a:rPr>
                            <m:t>4</m:t>
                          </m:r>
                        </m:den>
                      </m:f>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1−</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𝑥</m:t>
                              </m:r>
                            </m:e>
                            <m:sup>
                              <m:r>
                                <a:rPr lang="en-US" sz="2400" b="0" i="1" smtClean="0">
                                  <a:latin typeface="Cambria Math" panose="02040503050406030204" pitchFamily="18" charset="0"/>
                                  <a:cs typeface="Times New Roman" panose="02020603050405020304" pitchFamily="18" charset="0"/>
                                </a:rPr>
                                <m:t>2</m:t>
                              </m:r>
                            </m:sup>
                          </m:sSup>
                        </m:e>
                      </m:d>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t="-166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76F0D57C-6CFF-48C1-0BCF-E13769E80C9E}"/>
              </a:ext>
            </a:extLst>
          </p:cNvPr>
          <p:cNvPicPr>
            <a:picLocks noChangeAspect="1"/>
          </p:cNvPicPr>
          <p:nvPr/>
        </p:nvPicPr>
        <p:blipFill>
          <a:blip r:embed="rId4"/>
          <a:stretch>
            <a:fillRect/>
          </a:stretch>
        </p:blipFill>
        <p:spPr>
          <a:xfrm>
            <a:off x="3276600" y="4019404"/>
            <a:ext cx="5346975" cy="2838596"/>
          </a:xfrm>
          <a:prstGeom prst="rect">
            <a:avLst/>
          </a:prstGeom>
        </p:spPr>
      </p:pic>
      <p:pic>
        <p:nvPicPr>
          <p:cNvPr id="7" name="Picture 2" descr="RStudio - RStudio">
            <a:extLst>
              <a:ext uri="{FF2B5EF4-FFF2-40B4-BE49-F238E27FC236}">
                <a16:creationId xmlns:a16="http://schemas.microsoft.com/office/drawing/2014/main" id="{49FDB941-18F8-2A3D-860A-3A51413787B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1467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A Note on Weighting Matched Observations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Autofit/>
              </a:bodyPr>
              <a:lstStyle/>
              <a:p>
                <a:pPr marL="731520" lvl="1" indent="-457200">
                  <a:buFont typeface="+mj-lt"/>
                  <a:buAutoNum type="arabicPeriod"/>
                </a:pPr>
                <a:r>
                  <a:rPr lang="en-US" sz="2400" dirty="0">
                    <a:cs typeface="Times New Roman" panose="02020603050405020304" pitchFamily="18" charset="0"/>
                  </a:rPr>
                  <a:t>Kernel-based weighting</a:t>
                </a: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Inverse probability weighting</a:t>
                </a:r>
              </a:p>
              <a:p>
                <a:pPr marL="731520" lvl="1" indent="-457200">
                  <a:buFont typeface="+mj-lt"/>
                  <a:buAutoNum type="arabicPeriod"/>
                </a:pPr>
                <a:endParaRPr lang="en-US" sz="2400" dirty="0">
                  <a:cs typeface="Times New Roman" panose="02020603050405020304" pitchFamily="18" charset="0"/>
                </a:endParaRPr>
              </a:p>
              <a:p>
                <a:pPr lvl="1"/>
                <a:r>
                  <a:rPr lang="en-US" sz="2400" dirty="0">
                    <a:cs typeface="Times New Roman" panose="02020603050405020304" pitchFamily="18" charset="0"/>
                  </a:rPr>
                  <a:t>Use that propensity score, but as a weight! </a:t>
                </a:r>
              </a:p>
              <a:p>
                <a:pPr marL="274320" lvl="1" indent="0">
                  <a:buNone/>
                </a:pPr>
                <a14:m>
                  <m:oMathPara xmlns:m="http://schemas.openxmlformats.org/officeDocument/2006/math">
                    <m:oMath>
                      <m:r>
                        <a:rPr lang="en-CA" sz="2400" b="0" i="1" smtClean="0">
                          <a:latin typeface="Cambria Math" panose="02040503050406030204" pitchFamily="18" charset="0"/>
                          <a:cs typeface="Times New Roman" panose="02020603050405020304" pitchFamily="18" charset="0"/>
                        </a:rPr>
                        <m:t>𝑤</m:t>
                      </m:r>
                      <m:r>
                        <a:rPr lang="en-CA" sz="2400" b="0" i="1" smtClean="0">
                          <a:latin typeface="Cambria Math" panose="02040503050406030204" pitchFamily="18" charset="0"/>
                          <a:cs typeface="Times New Roman" panose="02020603050405020304" pitchFamily="18" charset="0"/>
                        </a:rPr>
                        <m:t>=</m:t>
                      </m:r>
                      <m:f>
                        <m:fPr>
                          <m:ctrlPr>
                            <a:rPr lang="en-CA" sz="2400" b="0" i="1" smtClean="0">
                              <a:latin typeface="Cambria Math" panose="02040503050406030204" pitchFamily="18" charset="0"/>
                              <a:cs typeface="Times New Roman" panose="02020603050405020304" pitchFamily="18" charset="0"/>
                            </a:rPr>
                          </m:ctrlPr>
                        </m:fPr>
                        <m:num>
                          <m:r>
                            <a:rPr lang="en-CA" sz="2400" b="0" i="1" smtClean="0">
                              <a:latin typeface="Cambria Math" panose="02040503050406030204" pitchFamily="18" charset="0"/>
                              <a:cs typeface="Times New Roman" panose="02020603050405020304" pitchFamily="18" charset="0"/>
                            </a:rPr>
                            <m:t>𝑇𝑟𝑒𝑎𝑡𝑚𝑒𝑛𝑡</m:t>
                          </m:r>
                        </m:num>
                        <m:den>
                          <m:r>
                            <a:rPr lang="en-CA" sz="2400" b="0" i="1" smtClean="0">
                              <a:latin typeface="Cambria Math" panose="02040503050406030204" pitchFamily="18" charset="0"/>
                              <a:cs typeface="Times New Roman" panose="02020603050405020304" pitchFamily="18" charset="0"/>
                            </a:rPr>
                            <m:t>𝑃𝑟𝑜𝑝𝑒𝑛𝑠𝑖𝑡𝑦</m:t>
                          </m:r>
                        </m:den>
                      </m:f>
                      <m:r>
                        <a:rPr lang="en-CA" sz="2400" b="0" i="1" smtClean="0">
                          <a:latin typeface="Cambria Math" panose="02040503050406030204" pitchFamily="18" charset="0"/>
                          <a:cs typeface="Times New Roman" panose="02020603050405020304" pitchFamily="18" charset="0"/>
                        </a:rPr>
                        <m:t>+</m:t>
                      </m:r>
                      <m:f>
                        <m:fPr>
                          <m:ctrlPr>
                            <a:rPr lang="en-CA" sz="2400" b="0" i="1" smtClean="0">
                              <a:latin typeface="Cambria Math" panose="02040503050406030204" pitchFamily="18" charset="0"/>
                              <a:cs typeface="Times New Roman" panose="02020603050405020304" pitchFamily="18" charset="0"/>
                            </a:rPr>
                          </m:ctrlPr>
                        </m:fPr>
                        <m:num>
                          <m:r>
                            <a:rPr lang="en-CA" sz="2400" b="0" i="1" smtClean="0">
                              <a:latin typeface="Cambria Math" panose="02040503050406030204" pitchFamily="18" charset="0"/>
                              <a:cs typeface="Times New Roman" panose="02020603050405020304" pitchFamily="18" charset="0"/>
                            </a:rPr>
                            <m:t>1−</m:t>
                          </m:r>
                          <m:r>
                            <a:rPr lang="en-CA" sz="2400" b="0" i="1" smtClean="0">
                              <a:latin typeface="Cambria Math" panose="02040503050406030204" pitchFamily="18" charset="0"/>
                              <a:cs typeface="Times New Roman" panose="02020603050405020304" pitchFamily="18" charset="0"/>
                            </a:rPr>
                            <m:t>𝑇𝑟𝑒𝑎𝑡𝑚𝑒𝑛𝑡</m:t>
                          </m:r>
                        </m:num>
                        <m:den>
                          <m:r>
                            <a:rPr lang="en-CA" sz="2400" b="0" i="1" smtClean="0">
                              <a:latin typeface="Cambria Math" panose="02040503050406030204" pitchFamily="18" charset="0"/>
                              <a:cs typeface="Times New Roman" panose="02020603050405020304" pitchFamily="18" charset="0"/>
                            </a:rPr>
                            <m:t>1−</m:t>
                          </m:r>
                          <m:r>
                            <a:rPr lang="en-CA" sz="2400" b="0" i="1" smtClean="0">
                              <a:latin typeface="Cambria Math" panose="02040503050406030204" pitchFamily="18" charset="0"/>
                              <a:cs typeface="Times New Roman" panose="02020603050405020304" pitchFamily="18" charset="0"/>
                            </a:rPr>
                            <m:t>𝑃𝑟𝑜𝑝𝑒𝑛𝑠𝑖𝑡𝑦</m:t>
                          </m:r>
                        </m:den>
                      </m:f>
                    </m:oMath>
                  </m:oMathPara>
                </a14:m>
                <a:endParaRPr lang="en-CA" sz="2400" dirty="0">
                  <a:cs typeface="Times New Roman" panose="02020603050405020304" pitchFamily="18" charset="0"/>
                </a:endParaRPr>
              </a:p>
              <a:p>
                <a:pPr marL="274320" lvl="1" indent="0">
                  <a:buNone/>
                </a:pPr>
                <a:endParaRPr lang="en-US" sz="2400" dirty="0">
                  <a:cs typeface="Times New Roman" panose="02020603050405020304" pitchFamily="18" charset="0"/>
                </a:endParaRPr>
              </a:p>
              <a:p>
                <a:pPr lvl="1"/>
                <a:r>
                  <a:rPr lang="en-US" sz="2400" dirty="0">
                    <a:cs typeface="Times New Roman" panose="02020603050405020304" pitchFamily="18" charset="0"/>
                  </a:rPr>
                  <a:t>Each weight is the (inverse) probability that treatment status is “correct”</a:t>
                </a:r>
              </a:p>
              <a:p>
                <a:pPr marL="274320" lvl="1" indent="0">
                  <a:buNone/>
                </a:pPr>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t="-1661"/>
                </a:stretch>
              </a:blipFill>
            </p:spPr>
            <p:txBody>
              <a:bodyPr/>
              <a:lstStyle/>
              <a:p>
                <a:r>
                  <a:rPr lang="en-CA">
                    <a:noFill/>
                  </a:rPr>
                  <a:t> </a:t>
                </a:r>
              </a:p>
            </p:txBody>
          </p:sp>
        </mc:Fallback>
      </mc:AlternateContent>
      <p:pic>
        <p:nvPicPr>
          <p:cNvPr id="5" name="Picture 4">
            <a:extLst>
              <a:ext uri="{FF2B5EF4-FFF2-40B4-BE49-F238E27FC236}">
                <a16:creationId xmlns:a16="http://schemas.microsoft.com/office/drawing/2014/main" id="{689F73EB-963E-CE6D-1207-7094B1C6F675}"/>
              </a:ext>
            </a:extLst>
          </p:cNvPr>
          <p:cNvPicPr>
            <a:picLocks noChangeAspect="1"/>
          </p:cNvPicPr>
          <p:nvPr/>
        </p:nvPicPr>
        <p:blipFill rotWithShape="1">
          <a:blip r:embed="rId4"/>
          <a:srcRect t="8354" b="22726"/>
          <a:stretch/>
        </p:blipFill>
        <p:spPr>
          <a:xfrm>
            <a:off x="1295400" y="4191000"/>
            <a:ext cx="5144218" cy="2514600"/>
          </a:xfrm>
          <a:prstGeom prst="rect">
            <a:avLst/>
          </a:prstGeom>
        </p:spPr>
      </p:pic>
    </p:spTree>
    <p:extLst>
      <p:ext uri="{BB962C8B-B14F-4D97-AF65-F5344CB8AC3E}">
        <p14:creationId xmlns:p14="http://schemas.microsoft.com/office/powerpoint/2010/main" val="29317626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Conclusion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lvl="1"/>
            <a:r>
              <a:rPr lang="en-US" sz="2400" dirty="0">
                <a:cs typeface="Times New Roman" panose="02020603050405020304" pitchFamily="18" charset="0"/>
              </a:rPr>
              <a:t>Matching methods help to deal with </a:t>
            </a:r>
            <a:r>
              <a:rPr lang="en-US" sz="2400" b="1" dirty="0">
                <a:solidFill>
                  <a:schemeClr val="accent2">
                    <a:lumMod val="75000"/>
                  </a:schemeClr>
                </a:solidFill>
                <a:cs typeface="Times New Roman" panose="02020603050405020304" pitchFamily="18" charset="0"/>
              </a:rPr>
              <a:t>imbalanced data </a:t>
            </a:r>
          </a:p>
          <a:p>
            <a:pPr lvl="1"/>
            <a:r>
              <a:rPr lang="en-US" sz="2400" dirty="0">
                <a:cs typeface="Times New Roman" panose="02020603050405020304" pitchFamily="18" charset="0"/>
              </a:rPr>
              <a:t>Helps you argue that your comparisons really are apples-to-apples</a:t>
            </a:r>
          </a:p>
          <a:p>
            <a:pPr lvl="1"/>
            <a:r>
              <a:rPr lang="en-US" sz="2400" dirty="0">
                <a:cs typeface="Times New Roman" panose="02020603050405020304" pitchFamily="18" charset="0"/>
              </a:rPr>
              <a:t>Matching relies on selection on </a:t>
            </a:r>
            <a:r>
              <a:rPr lang="en-US" sz="2400" b="1" dirty="0">
                <a:solidFill>
                  <a:schemeClr val="accent2">
                    <a:lumMod val="75000"/>
                  </a:schemeClr>
                </a:solidFill>
                <a:cs typeface="Times New Roman" panose="02020603050405020304" pitchFamily="18" charset="0"/>
              </a:rPr>
              <a:t>observables</a:t>
            </a:r>
            <a:r>
              <a:rPr lang="en-US" sz="2400" dirty="0">
                <a:cs typeface="Times New Roman" panose="02020603050405020304" pitchFamily="18" charset="0"/>
              </a:rPr>
              <a:t> – </a:t>
            </a:r>
          </a:p>
          <a:p>
            <a:pPr lvl="2"/>
            <a:r>
              <a:rPr lang="en-US" sz="2400" dirty="0">
                <a:cs typeface="Times New Roman" panose="02020603050405020304" pitchFamily="18" charset="0"/>
              </a:rPr>
              <a:t>Doesn’t help you if you don’t observe what’s driving the differences!</a:t>
            </a:r>
          </a:p>
          <a:p>
            <a:pPr lvl="1"/>
            <a:r>
              <a:rPr lang="en-US" sz="2400" dirty="0">
                <a:cs typeface="Times New Roman" panose="02020603050405020304" pitchFamily="18" charset="0"/>
              </a:rPr>
              <a:t>Propensity scores have deep roots</a:t>
            </a:r>
          </a:p>
          <a:p>
            <a:pPr lvl="1"/>
            <a:endParaRPr lang="en-US" sz="2400" dirty="0">
              <a:cs typeface="Times New Roman" panose="02020603050405020304" pitchFamily="18" charset="0"/>
            </a:endParaRPr>
          </a:p>
          <a:p>
            <a:pPr lvl="1"/>
            <a:endParaRPr lang="en-US" sz="2400" dirty="0">
              <a:cs typeface="Times New Roman" panose="02020603050405020304" pitchFamily="18" charset="0"/>
            </a:endParaRPr>
          </a:p>
        </p:txBody>
      </p:sp>
      <p:sp>
        <p:nvSpPr>
          <p:cNvPr id="4" name="Title 1">
            <a:extLst>
              <a:ext uri="{FF2B5EF4-FFF2-40B4-BE49-F238E27FC236}">
                <a16:creationId xmlns:a16="http://schemas.microsoft.com/office/drawing/2014/main" id="{45533FFF-8234-8CE4-18E8-F1EB850F59AA}"/>
              </a:ext>
            </a:extLst>
          </p:cNvPr>
          <p:cNvSpPr txBox="1">
            <a:spLocks/>
          </p:cNvSpPr>
          <p:nvPr/>
        </p:nvSpPr>
        <p:spPr>
          <a:xfrm>
            <a:off x="609600" y="3200400"/>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endParaRPr lang="en-US" sz="3600" dirty="0">
              <a:cs typeface="Times New Roman" panose="02020603050405020304" pitchFamily="18" charset="0"/>
            </a:endParaRPr>
          </a:p>
        </p:txBody>
      </p:sp>
    </p:spTree>
    <p:extLst>
      <p:ext uri="{BB962C8B-B14F-4D97-AF65-F5344CB8AC3E}">
        <p14:creationId xmlns:p14="http://schemas.microsoft.com/office/powerpoint/2010/main" val="39195773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439400" cy="624840"/>
          </a:xfrm>
        </p:spPr>
        <p:txBody>
          <a:bodyPr>
            <a:noAutofit/>
          </a:bodyPr>
          <a:lstStyle/>
          <a:p>
            <a:r>
              <a:rPr lang="en-US" sz="3600" dirty="0">
                <a:cs typeface="Times New Roman" panose="02020603050405020304" pitchFamily="18" charset="0"/>
              </a:rPr>
              <a:t>Conclusion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pPr lvl="1"/>
                <a:r>
                  <a:rPr lang="en-US" sz="2400" dirty="0">
                    <a:cs typeface="Times New Roman" panose="02020603050405020304" pitchFamily="18" charset="0"/>
                  </a:rPr>
                  <a:t>Matching methods help to deal with </a:t>
                </a:r>
                <a:r>
                  <a:rPr lang="en-US" sz="2400" b="1" dirty="0">
                    <a:solidFill>
                      <a:schemeClr val="accent2">
                        <a:lumMod val="75000"/>
                      </a:schemeClr>
                    </a:solidFill>
                    <a:cs typeface="Times New Roman" panose="02020603050405020304" pitchFamily="18" charset="0"/>
                  </a:rPr>
                  <a:t>imbalanced data </a:t>
                </a:r>
              </a:p>
              <a:p>
                <a:pPr lvl="1"/>
                <a:r>
                  <a:rPr lang="en-US" sz="2400" dirty="0">
                    <a:cs typeface="Times New Roman" panose="02020603050405020304" pitchFamily="18" charset="0"/>
                  </a:rPr>
                  <a:t>Helps you argue that your comparisons really are apples-to-apples</a:t>
                </a:r>
              </a:p>
              <a:p>
                <a:pPr lvl="1"/>
                <a:r>
                  <a:rPr lang="en-US" sz="2400" dirty="0">
                    <a:cs typeface="Times New Roman" panose="02020603050405020304" pitchFamily="18" charset="0"/>
                  </a:rPr>
                  <a:t>Matching relies on selection on </a:t>
                </a:r>
                <a:r>
                  <a:rPr lang="en-US" sz="2400" b="1" dirty="0">
                    <a:solidFill>
                      <a:schemeClr val="accent2">
                        <a:lumMod val="75000"/>
                      </a:schemeClr>
                    </a:solidFill>
                    <a:cs typeface="Times New Roman" panose="02020603050405020304" pitchFamily="18" charset="0"/>
                  </a:rPr>
                  <a:t>observables</a:t>
                </a:r>
                <a:r>
                  <a:rPr lang="en-US" sz="2400" dirty="0">
                    <a:cs typeface="Times New Roman" panose="02020603050405020304" pitchFamily="18" charset="0"/>
                  </a:rPr>
                  <a:t> – </a:t>
                </a:r>
              </a:p>
              <a:p>
                <a:pPr lvl="2"/>
                <a:r>
                  <a:rPr lang="en-US" sz="2400" dirty="0">
                    <a:cs typeface="Times New Roman" panose="02020603050405020304" pitchFamily="18" charset="0"/>
                  </a:rPr>
                  <a:t>Doesn’t help you if you don’t observe what’s driving the differences!</a:t>
                </a:r>
              </a:p>
              <a:p>
                <a:pPr lvl="1"/>
                <a:r>
                  <a:rPr lang="en-US" sz="2400" dirty="0">
                    <a:cs typeface="Times New Roman" panose="02020603050405020304" pitchFamily="18" charset="0"/>
                  </a:rPr>
                  <a:t>Propensity scores have deep roots</a:t>
                </a:r>
              </a:p>
              <a:p>
                <a:pPr lvl="1"/>
                <a:endParaRPr lang="en-US" sz="2400" dirty="0">
                  <a:cs typeface="Times New Roman" panose="02020603050405020304" pitchFamily="18" charset="0"/>
                </a:endParaRPr>
              </a:p>
              <a:p>
                <a:pPr lvl="1"/>
                <a:endParaRPr lang="en-US" sz="2400" dirty="0">
                  <a:cs typeface="Times New Roman" panose="02020603050405020304" pitchFamily="18" charset="0"/>
                </a:endParaRPr>
              </a:p>
              <a:p>
                <a:pPr lvl="1"/>
                <a:r>
                  <a:rPr lang="en-US" sz="2400" dirty="0">
                    <a:cs typeface="Times New Roman" panose="02020603050405020304" pitchFamily="18" charset="0"/>
                  </a:rPr>
                  <a:t>Backdoor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Front door approaches to causality</a:t>
                </a:r>
              </a:p>
              <a:p>
                <a:pPr lvl="1"/>
                <a:r>
                  <a:rPr lang="en-US" sz="2400" dirty="0">
                    <a:cs typeface="Times New Roman" panose="02020603050405020304" pitchFamily="18" charset="0"/>
                  </a:rPr>
                  <a:t>The power of</a:t>
                </a:r>
                <a:r>
                  <a:rPr lang="en-US" sz="2400" dirty="0">
                    <a:solidFill>
                      <a:schemeClr val="accent2">
                        <a:lumMod val="75000"/>
                      </a:schemeClr>
                    </a:solidFill>
                    <a:cs typeface="Times New Roman" panose="02020603050405020304" pitchFamily="18" charset="0"/>
                  </a:rPr>
                  <a:t> </a:t>
                </a:r>
                <a:r>
                  <a:rPr lang="en-US" sz="2400" b="1" dirty="0">
                    <a:solidFill>
                      <a:schemeClr val="accent2">
                        <a:lumMod val="75000"/>
                      </a:schemeClr>
                    </a:solidFill>
                    <a:cs typeface="Times New Roman" panose="02020603050405020304" pitchFamily="18" charset="0"/>
                  </a:rPr>
                  <a:t>exogenous variation</a:t>
                </a:r>
                <a:endParaRPr lang="en-US" sz="2400" dirty="0">
                  <a:solidFill>
                    <a:schemeClr val="accent2">
                      <a:lumMod val="75000"/>
                    </a:schemeClr>
                  </a:solidFill>
                  <a:cs typeface="Times New Roman" panose="02020603050405020304" pitchFamily="18" charset="0"/>
                </a:endParaRPr>
              </a:p>
              <a:p>
                <a:pPr lvl="1"/>
                <a:r>
                  <a:rPr lang="en-US" sz="2400" b="1" dirty="0">
                    <a:solidFill>
                      <a:schemeClr val="accent2">
                        <a:lumMod val="75000"/>
                      </a:schemeClr>
                    </a:solidFill>
                    <a:cs typeface="Times New Roman" panose="02020603050405020304" pitchFamily="18" charset="0"/>
                  </a:rPr>
                  <a:t>Instrumental Variables </a:t>
                </a:r>
                <a:r>
                  <a:rPr lang="en-US" sz="2400" dirty="0">
                    <a:cs typeface="Times New Roman" panose="02020603050405020304" pitchFamily="18" charset="0"/>
                  </a:rPr>
                  <a:t>regression approaches  </a:t>
                </a:r>
              </a:p>
              <a:p>
                <a:pPr lvl="1"/>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2"/>
                <a:stretch>
                  <a:fillRect t="-1661"/>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45533FFF-8234-8CE4-18E8-F1EB850F59AA}"/>
              </a:ext>
            </a:extLst>
          </p:cNvPr>
          <p:cNvSpPr txBox="1">
            <a:spLocks/>
          </p:cNvSpPr>
          <p:nvPr/>
        </p:nvSpPr>
        <p:spPr>
          <a:xfrm>
            <a:off x="609600" y="3200400"/>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Next Time</a:t>
            </a:r>
          </a:p>
        </p:txBody>
      </p:sp>
    </p:spTree>
    <p:extLst>
      <p:ext uri="{BB962C8B-B14F-4D97-AF65-F5344CB8AC3E}">
        <p14:creationId xmlns:p14="http://schemas.microsoft.com/office/powerpoint/2010/main" val="2434014214"/>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5401</TotalTime>
  <Words>5345</Words>
  <Application>Microsoft Office PowerPoint</Application>
  <PresentationFormat>Widescreen</PresentationFormat>
  <Paragraphs>562</Paragraphs>
  <Slides>83</Slides>
  <Notes>71</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83</vt:i4>
      </vt:variant>
    </vt:vector>
  </HeadingPairs>
  <TitlesOfParts>
    <vt:vector size="93" baseType="lpstr">
      <vt:lpstr>Aptos</vt:lpstr>
      <vt:lpstr>Arial</vt:lpstr>
      <vt:lpstr>Calibri</vt:lpstr>
      <vt:lpstr>Cambria Math</vt:lpstr>
      <vt:lpstr>Century Schoolbook</vt:lpstr>
      <vt:lpstr>Symbol</vt:lpstr>
      <vt:lpstr>Times New Roman</vt:lpstr>
      <vt:lpstr>Wingdings</vt:lpstr>
      <vt:lpstr>Wingdings 2</vt:lpstr>
      <vt:lpstr>View</vt:lpstr>
      <vt:lpstr>Quant Methods in HSR I </vt:lpstr>
      <vt:lpstr>Assignment 1 Notes </vt:lpstr>
      <vt:lpstr>Assignment 1 Notes</vt:lpstr>
      <vt:lpstr>PowerPoint Presentation</vt:lpstr>
      <vt:lpstr>Where were we? Multivariate OLS</vt:lpstr>
      <vt:lpstr>Causal Inference: Satisfying the Backdoor Criterion</vt:lpstr>
      <vt:lpstr>Causal Inference: Satisfying the Backdoor Criterion</vt:lpstr>
      <vt:lpstr>Causal Inference: Satisfying the Backdoor Criterion</vt:lpstr>
      <vt:lpstr>Causal Inference: Satisfying the Backdoor Criterion</vt:lpstr>
      <vt:lpstr>Matching reduces model dependence</vt:lpstr>
      <vt:lpstr>Matching reduces model dependence</vt:lpstr>
      <vt:lpstr>Matching reduces model dependence</vt:lpstr>
      <vt:lpstr>Matching reduces model dependence</vt:lpstr>
      <vt:lpstr>Matching reduces model dependence</vt:lpstr>
      <vt:lpstr>Matching reduces model dependence</vt:lpstr>
      <vt:lpstr>Matching combines well with regression!</vt:lpstr>
      <vt:lpstr>Today: Matching</vt:lpstr>
      <vt:lpstr>Example: The Effect of Unemployment Benefits on Health</vt:lpstr>
      <vt:lpstr>Matching combines well with regression!</vt:lpstr>
      <vt:lpstr>Matching combines well with regression!</vt:lpstr>
      <vt:lpstr>Why do we need matching?</vt:lpstr>
      <vt:lpstr>Why do we need matching?</vt:lpstr>
      <vt:lpstr>Matching in Concept</vt:lpstr>
      <vt:lpstr>What do we want to do with matching?</vt:lpstr>
      <vt:lpstr>Step 1: Preprocessing (matching) data</vt:lpstr>
      <vt:lpstr>Step 2: Estimation</vt:lpstr>
      <vt:lpstr>Step 2: Estimation</vt:lpstr>
      <vt:lpstr>Analyzing a (truly) random experiment</vt:lpstr>
      <vt:lpstr>How is this different than controlling in OLS?</vt:lpstr>
      <vt:lpstr>How is this different than controlling in OLS?</vt:lpstr>
      <vt:lpstr>Problems of Unobservables</vt:lpstr>
      <vt:lpstr>Problems of Unobservables</vt:lpstr>
      <vt:lpstr>Matching Techniques:  Single Variable</vt:lpstr>
      <vt:lpstr>Subclassification</vt:lpstr>
      <vt:lpstr>Subclassification</vt:lpstr>
      <vt:lpstr>Subclassification</vt:lpstr>
      <vt:lpstr>Curse of Dimensionality</vt:lpstr>
      <vt:lpstr>Curse of Dimensionality</vt:lpstr>
      <vt:lpstr>Matching Techniques:  Multiple Variables</vt:lpstr>
      <vt:lpstr>Exact Matching</vt:lpstr>
      <vt:lpstr>Exact Matching</vt:lpstr>
      <vt:lpstr>Exact Matching</vt:lpstr>
      <vt:lpstr>Exact Matching: Problems</vt:lpstr>
      <vt:lpstr>Approximate Matching: Nearest Neighbor</vt:lpstr>
      <vt:lpstr>Approximate Matching: Nearest Neighbor</vt:lpstr>
      <vt:lpstr>Approximate Matching: Nearest Neighbor</vt:lpstr>
      <vt:lpstr>Nearest Neighbor Matching</vt:lpstr>
      <vt:lpstr>Nearest Neighbor Matching</vt:lpstr>
      <vt:lpstr>Nearest Neighbor Matching</vt:lpstr>
      <vt:lpstr>Nearest Neighbor Matching</vt:lpstr>
      <vt:lpstr>The Bias/Variance Tradeoff </vt:lpstr>
      <vt:lpstr>Nearest Neighbor Matching in Practice </vt:lpstr>
      <vt:lpstr>Nearest Neighbor Matching in Practice </vt:lpstr>
      <vt:lpstr>Nearest Neighbor Matching in Practice </vt:lpstr>
      <vt:lpstr>Propensity Score Matching</vt:lpstr>
      <vt:lpstr>Approximate Matching: Propensity Score Matching</vt:lpstr>
      <vt:lpstr>Alternative: Weighting Matched Observations</vt:lpstr>
      <vt:lpstr>What happens after we match?</vt:lpstr>
      <vt:lpstr>What is “good enough” for balance</vt:lpstr>
      <vt:lpstr>Getting your Effect</vt:lpstr>
      <vt:lpstr>Analyzing a (truly) random experiment</vt:lpstr>
      <vt:lpstr>Step 2: Estimation</vt:lpstr>
      <vt:lpstr>What do you do after you’ve matched?</vt:lpstr>
      <vt:lpstr>Outcome Measurement Concerns</vt:lpstr>
      <vt:lpstr>Identification Concerns and Interpretation/Policy Implications</vt:lpstr>
      <vt:lpstr>Interpretation and Limitations of Analysis </vt:lpstr>
      <vt:lpstr>Matching Best Practices</vt:lpstr>
      <vt:lpstr>Some Matching Best Practices</vt:lpstr>
      <vt:lpstr>Some Matching Best Practices</vt:lpstr>
      <vt:lpstr>Some Matching Best Practices</vt:lpstr>
      <vt:lpstr>Other Caveats</vt:lpstr>
      <vt:lpstr>Problems of Unobservables</vt:lpstr>
      <vt:lpstr>Problems of Unobservables</vt:lpstr>
      <vt:lpstr>Matching Estimators with Omitted Covariates</vt:lpstr>
      <vt:lpstr>Matching Estimators with Omitted Covariates</vt:lpstr>
      <vt:lpstr>Propensity Score Matching: Identification Problems</vt:lpstr>
      <vt:lpstr>Propensity Score Matching: Punching Back </vt:lpstr>
      <vt:lpstr>Propensity Score Matching: Punching Back </vt:lpstr>
      <vt:lpstr>Propensity Score Matching: Punching Back </vt:lpstr>
      <vt:lpstr>Alternative: Weighting Matched Observations</vt:lpstr>
      <vt:lpstr>A Note on Weighting Matched Observations</vt:lpstr>
      <vt:lpstr>Conclusion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188</cp:revision>
  <dcterms:created xsi:type="dcterms:W3CDTF">2011-01-10T00:42:42Z</dcterms:created>
  <dcterms:modified xsi:type="dcterms:W3CDTF">2026-10-26T13:58:50Z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