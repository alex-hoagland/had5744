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58"/>
  </p:notesMasterIdLst>
  <p:sldIdLst>
    <p:sldId id="256" r:id="rId2"/>
    <p:sldId id="397" r:id="rId3"/>
    <p:sldId id="562" r:id="rId4"/>
    <p:sldId id="572" r:id="rId5"/>
    <p:sldId id="573" r:id="rId6"/>
    <p:sldId id="466" r:id="rId7"/>
    <p:sldId id="533" r:id="rId8"/>
    <p:sldId id="537" r:id="rId9"/>
    <p:sldId id="470" r:id="rId10"/>
    <p:sldId id="564" r:id="rId11"/>
    <p:sldId id="563" r:id="rId12"/>
    <p:sldId id="547" r:id="rId13"/>
    <p:sldId id="538" r:id="rId14"/>
    <p:sldId id="471" r:id="rId15"/>
    <p:sldId id="474" r:id="rId16"/>
    <p:sldId id="516" r:id="rId17"/>
    <p:sldId id="515" r:id="rId18"/>
    <p:sldId id="475" r:id="rId19"/>
    <p:sldId id="565" r:id="rId20"/>
    <p:sldId id="476" r:id="rId21"/>
    <p:sldId id="477" r:id="rId22"/>
    <p:sldId id="566" r:id="rId23"/>
    <p:sldId id="514" r:id="rId24"/>
    <p:sldId id="468" r:id="rId25"/>
    <p:sldId id="467" r:id="rId26"/>
    <p:sldId id="469" r:id="rId27"/>
    <p:sldId id="419" r:id="rId28"/>
    <p:sldId id="478" r:id="rId29"/>
    <p:sldId id="517" r:id="rId30"/>
    <p:sldId id="318" r:id="rId31"/>
    <p:sldId id="319" r:id="rId32"/>
    <p:sldId id="479" r:id="rId33"/>
    <p:sldId id="526" r:id="rId34"/>
    <p:sldId id="527" r:id="rId35"/>
    <p:sldId id="528" r:id="rId36"/>
    <p:sldId id="520" r:id="rId37"/>
    <p:sldId id="481" r:id="rId38"/>
    <p:sldId id="482" r:id="rId39"/>
    <p:sldId id="569" r:id="rId40"/>
    <p:sldId id="521" r:id="rId41"/>
    <p:sldId id="522" r:id="rId42"/>
    <p:sldId id="524" r:id="rId43"/>
    <p:sldId id="490" r:id="rId44"/>
    <p:sldId id="491" r:id="rId45"/>
    <p:sldId id="492" r:id="rId46"/>
    <p:sldId id="493" r:id="rId47"/>
    <p:sldId id="494" r:id="rId48"/>
    <p:sldId id="495" r:id="rId49"/>
    <p:sldId id="575" r:id="rId50"/>
    <p:sldId id="539" r:id="rId51"/>
    <p:sldId id="480" r:id="rId52"/>
    <p:sldId id="507" r:id="rId53"/>
    <p:sldId id="510" r:id="rId54"/>
    <p:sldId id="511" r:id="rId55"/>
    <p:sldId id="560" r:id="rId56"/>
    <p:sldId id="579" r:id="rId57"/>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FB6033-A775-454D-A761-62B23E02AF10}" v="152" dt="2022-07-15T12:27:21.373"/>
    <p1510:client id="{CC628153-EE7E-4BCD-AEC7-99145EF0CFC8}" v="2464" dt="2022-07-14T17:53:39.1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8775" autoAdjust="0"/>
  </p:normalViewPr>
  <p:slideViewPr>
    <p:cSldViewPr>
      <p:cViewPr varScale="1">
        <p:scale>
          <a:sx n="87" d="100"/>
          <a:sy n="87" d="100"/>
        </p:scale>
        <p:origin x="1476" y="8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10/26/2026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Notes: </a:t>
            </a:r>
          </a:p>
          <a:p>
            <a:pPr marL="171450" indent="-171450">
              <a:buFont typeface="Arial" panose="020B0604020202020204" pitchFamily="34" charset="0"/>
              <a:buChar char="•"/>
            </a:pPr>
            <a:r>
              <a:rPr lang="en-US" dirty="0"/>
              <a:t>we have 2 case studies here, but there’s also a lot of new ideas here so we will go through multiple examples</a:t>
            </a:r>
          </a:p>
          <a:p>
            <a:pPr marL="171450" indent="-171450">
              <a:buFont typeface="Arial" panose="020B0604020202020204" pitchFamily="34" charset="0"/>
              <a:buChar char="•"/>
            </a:pPr>
            <a:r>
              <a:rPr lang="en-US" dirty="0"/>
              <a:t>Also, there won’t be that much coding (it’s easy to implement in the code we already have!) the important things we’ll cover are (a) how to come up with an instrument and defend it and (b) the role of robustness checks/ancillary evidence/descriptive results as support for this approach. </a:t>
            </a:r>
          </a:p>
          <a:p>
            <a:pPr marL="171450" indent="-171450">
              <a:buFont typeface="Arial" panose="020B0604020202020204" pitchFamily="34" charset="0"/>
              <a:buChar char="•"/>
            </a:pPr>
            <a:r>
              <a:rPr lang="en-US" dirty="0"/>
              <a:t>I added another referee paper to the list</a:t>
            </a: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wanted to share this interesting paper – since we are talking so much about bias. Note all the different regressions, just like what happened in Assignment 2. </a:t>
            </a:r>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4163358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many reasons why we have to be very careful about interrogating methods!</a:t>
            </a:r>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4221736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3BA94-DC28-1352-3C07-AEAE27138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6554B-8D29-BEFF-7D37-D4EFC60DCD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78A20-29F4-D458-04D9-69EC6779FFF2}"/>
              </a:ext>
            </a:extLst>
          </p:cNvPr>
          <p:cNvSpPr>
            <a:spLocks noGrp="1"/>
          </p:cNvSpPr>
          <p:nvPr>
            <p:ph type="body" idx="1"/>
          </p:nvPr>
        </p:nvSpPr>
        <p:spPr/>
        <p:txBody>
          <a:bodyPr/>
          <a:lstStyle/>
          <a:p>
            <a:r>
              <a:rPr lang="en-US" dirty="0"/>
              <a:t>So far, we’ve focused on the backdoor criterion – can we close paths that stand in our way? Matching and controlling for covariates are two primary approaches. </a:t>
            </a:r>
          </a:p>
        </p:txBody>
      </p:sp>
      <p:sp>
        <p:nvSpPr>
          <p:cNvPr id="4" name="Slide Number Placeholder 3">
            <a:extLst>
              <a:ext uri="{FF2B5EF4-FFF2-40B4-BE49-F238E27FC236}">
                <a16:creationId xmlns:a16="http://schemas.microsoft.com/office/drawing/2014/main" id="{6648DE81-CEB6-02E2-BDB5-BCDB69040F96}"/>
              </a:ext>
            </a:extLst>
          </p:cNvPr>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3099295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1EA08-45DA-A6A0-47C1-83D078797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F46B3-A54A-1568-AE78-38D3BCF19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27CAA-6874-C1B4-419B-A1E82769E822}"/>
              </a:ext>
            </a:extLst>
          </p:cNvPr>
          <p:cNvSpPr>
            <a:spLocks noGrp="1"/>
          </p:cNvSpPr>
          <p:nvPr>
            <p:ph type="body" idx="1"/>
          </p:nvPr>
        </p:nvSpPr>
        <p:spPr/>
        <p:txBody>
          <a:bodyPr/>
          <a:lstStyle/>
          <a:p>
            <a:r>
              <a:rPr lang="en-US" dirty="0"/>
              <a:t>“Model-based” vs. “design-based”</a:t>
            </a:r>
          </a:p>
        </p:txBody>
      </p:sp>
      <p:sp>
        <p:nvSpPr>
          <p:cNvPr id="4" name="Slide Number Placeholder 3">
            <a:extLst>
              <a:ext uri="{FF2B5EF4-FFF2-40B4-BE49-F238E27FC236}">
                <a16:creationId xmlns:a16="http://schemas.microsoft.com/office/drawing/2014/main" id="{85EB56E2-8E2C-9388-78F6-8D9E41CB30E1}"/>
              </a:ext>
            </a:extLst>
          </p:cNvPr>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4078635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t>
            </a:r>
            <a:r>
              <a:rPr lang="en-US" dirty="0" err="1"/>
              <a:t>dag</a:t>
            </a:r>
            <a:r>
              <a:rPr lang="en-US" dirty="0"/>
              <a:t> cannot be addressed fully with a back-door approach (how do we ever measure ability)? The front door finds an instrument M such that there is no back door between education and M, and education blocks the only open back-door between M and wage (ability). This is an open door! Example of M: quarter of birth (Angrist and Kreuger, 1991). M goes behind education and connects to it. </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3822811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Lots of frozen in our house these days, so I want this playing in all of our heads. </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3031818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2574600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Recommend looking at the related invited commentary as well to get a sense of this better. https://jamanetwork.com/journals/jamainternalmedicine/article-abstract/1108791</a:t>
            </a:r>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3230424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E5C3A-8AC3-FB12-69FD-6165599F9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FCDE5-7EE6-E1A1-73F6-9AAA7286F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D204B-3DBB-221A-0377-4D1B4FD037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Recommend looking at the related invited commentary as well to get a sense of this better. https://jamanetwork.com/journals/jamainternalmedicine/article-abstract/1108791</a:t>
            </a:r>
          </a:p>
        </p:txBody>
      </p:sp>
      <p:sp>
        <p:nvSpPr>
          <p:cNvPr id="4" name="Slide Number Placeholder 3">
            <a:extLst>
              <a:ext uri="{FF2B5EF4-FFF2-40B4-BE49-F238E27FC236}">
                <a16:creationId xmlns:a16="http://schemas.microsoft.com/office/drawing/2014/main" id="{72E2FF48-8346-EB57-7125-E346D30DA567}"/>
              </a:ext>
            </a:extLst>
          </p:cNvPr>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1977127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E8907-F9D5-DEF5-BB72-F8E64F6D0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DC728-4717-218E-C23D-0A292A233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71E61-8BAE-9A96-0D43-601D3618D5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if you want the correct way to talk about this, you need to read an economics paper. Like the dialysis one. Very careful with language even though everyone else hates us for it. </a:t>
            </a:r>
          </a:p>
        </p:txBody>
      </p:sp>
      <p:sp>
        <p:nvSpPr>
          <p:cNvPr id="4" name="Slide Number Placeholder 3">
            <a:extLst>
              <a:ext uri="{FF2B5EF4-FFF2-40B4-BE49-F238E27FC236}">
                <a16:creationId xmlns:a16="http://schemas.microsoft.com/office/drawing/2014/main" id="{AA7420C5-105C-A464-BC94-5AF2732DFAF0}"/>
              </a:ext>
            </a:extLst>
          </p:cNvPr>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2465575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right way to discuss IV: what things directly lead to the outcome on their own (exogenous), and what things are jointly determined in a more complex system (endogenous)?</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3849794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just part of the story: the effect of shortening waiting times for transplants on positive outcomes. We can’t randomize this (why?)</a:t>
            </a:r>
          </a:p>
          <a:p>
            <a:r>
              <a:rPr lang="en-US" dirty="0"/>
              <a:t>But we also can’t just use observational data in a simple regression (why? – selection! patients who are more likely to have poor outcomes may also have different waiting times)</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3856246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selection – note that not all of these confounders are things we can deal with. </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96065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Exogenous variables: age, demographics. What about education? Whether or not you need a transplant in the first place? This starts to become a gray area quickly. </a:t>
            </a:r>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925015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Things that are almost surely endogenous: health outcomes, decision to seek care, etc. (any y of interest also). Really, endogenous things are DAG-determined and *they can’t be controlled for*</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3584559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version of endogeneity is OVB with an unmeasurable variable --- others include jointly determined variables, or strategic selection. </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15055592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health knowledge out of the error term could make decision to seek care an exogenous variable – but how do we measure that? But not all back doors can be closed! Without perfect data or randomization, we can’t make everything exogenous by shutting down a backdoor. </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26142384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A0B89-2070-6163-A3C1-61E0E8DF2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C4C8B-B559-3CDA-29D8-FD024B163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C550C8-5358-B056-E1A5-BDA84D61E4BB}"/>
              </a:ext>
            </a:extLst>
          </p:cNvPr>
          <p:cNvSpPr>
            <a:spLocks noGrp="1"/>
          </p:cNvSpPr>
          <p:nvPr>
            <p:ph type="body" idx="1"/>
          </p:nvPr>
        </p:nvSpPr>
        <p:spPr/>
        <p:txBody>
          <a:bodyPr/>
          <a:lstStyle/>
          <a:p>
            <a:r>
              <a:rPr lang="en-US" dirty="0"/>
              <a:t>Moving health knowledge out of the error term could make decision to seek care an exogenous variable – but how do we measure that? But not all back doors can be closed! Without perfect data or randomization, we can’t make everything exogenous by shutting down a backdoor. </a:t>
            </a:r>
          </a:p>
        </p:txBody>
      </p:sp>
      <p:sp>
        <p:nvSpPr>
          <p:cNvPr id="4" name="Slide Number Placeholder 3">
            <a:extLst>
              <a:ext uri="{FF2B5EF4-FFF2-40B4-BE49-F238E27FC236}">
                <a16:creationId xmlns:a16="http://schemas.microsoft.com/office/drawing/2014/main" id="{6FB7A81D-54A4-B1B8-953E-C21988DFFFCB}"/>
              </a:ext>
            </a:extLst>
          </p:cNvPr>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5466992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do when endogeneity threatens our main treatment of interest? Our approach today is what we resort to when we can’t close all backdoors – we take a front door approach and simulate randomization</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4213713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9709B-DEBC-51F2-E671-848B61B20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FB31E-2B4D-7D4C-2D37-24C25B899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1AF14-336F-5A69-601D-D9707F27A06C}"/>
              </a:ext>
            </a:extLst>
          </p:cNvPr>
          <p:cNvSpPr>
            <a:spLocks noGrp="1"/>
          </p:cNvSpPr>
          <p:nvPr>
            <p:ph type="body" idx="1"/>
          </p:nvPr>
        </p:nvSpPr>
        <p:spPr/>
        <p:txBody>
          <a:bodyPr/>
          <a:lstStyle/>
          <a:p>
            <a:r>
              <a:rPr lang="en-US" dirty="0"/>
              <a:t>Walk through this one more time for both case studies (a good and bad IV). Why are vaccines and PCIs endogenous? </a:t>
            </a:r>
          </a:p>
          <a:p>
            <a:pPr marL="228600" indent="-228600">
              <a:buAutoNum type="arabicPeriod"/>
            </a:pPr>
            <a:r>
              <a:rPr lang="en-US" dirty="0"/>
              <a:t>For vaccines, it was vaccination rates of those around you</a:t>
            </a:r>
          </a:p>
          <a:p>
            <a:pPr marL="228600" indent="-228600">
              <a:buAutoNum type="arabicPeriod"/>
            </a:pPr>
            <a:r>
              <a:rPr lang="en-US" dirty="0"/>
              <a:t>For PCIs, exogenous variation came from </a:t>
            </a:r>
            <a:r>
              <a:rPr lang="en-US" i="1" dirty="0"/>
              <a:t>differential distance: </a:t>
            </a:r>
            <a:r>
              <a:rPr lang="en-US" i="0" dirty="0"/>
              <a:t>how much farther is it from you to a PCI hospital than it is from you to your closest hospital. </a:t>
            </a:r>
            <a:r>
              <a:rPr lang="en-US" dirty="0"/>
              <a:t> </a:t>
            </a:r>
          </a:p>
        </p:txBody>
      </p:sp>
      <p:sp>
        <p:nvSpPr>
          <p:cNvPr id="4" name="Slide Number Placeholder 3">
            <a:extLst>
              <a:ext uri="{FF2B5EF4-FFF2-40B4-BE49-F238E27FC236}">
                <a16:creationId xmlns:a16="http://schemas.microsoft.com/office/drawing/2014/main" id="{9A4FE64F-DFED-F3A6-8169-66AB4A9E79EA}"/>
              </a:ext>
            </a:extLst>
          </p:cNvPr>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39301430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quasi-random variation, you are pretty much up a creek for this kind of endogeneity. </a:t>
            </a:r>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2660768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In an experiment, we generate variation (random assignment) and then just isolate the part of the treatment driven by that random variation (we compare across treatment and control groups). IV does the same, except isolating the part of the treatment driven by quasi-random, natural circumstances – the instrument. </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2665876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So we: (1) use the instrument to explain the treatment, (2) focus only on the part of the treatment explained by the instrument, and (3) use that to look at the instrument-explained part of the outcome. Basically, we’re splitting the effect of treatment into its endogenous and exogenous parts, and isolating just the exogenous part. </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35908419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19367876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First condition is called relevance; second and third are validity – essentially that there are no open back doors of Z</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7280580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Another way to think about it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20650561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first about just a random number generator. If that generator is used to assign treatment, then assumption 1 holds. If that random number isn’t used for anything else, then Z only affects Y through X (it doesn’t determine your pickiness or your age). </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25237252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So we want a variable like a random number generator. this is kind of the </a:t>
            </a:r>
            <a:r>
              <a:rPr lang="en-US" i="1" dirty="0">
                <a:cs typeface="Calibri"/>
              </a:rPr>
              <a:t>opposite </a:t>
            </a:r>
            <a:r>
              <a:rPr lang="en-US" dirty="0">
                <a:cs typeface="Calibri"/>
              </a:rPr>
              <a:t>of controlling for a variable: when we control for W, we use W to explain X and Y and remove those parts (to close a back door). But here, we are going to use Z as an instrument and remove the </a:t>
            </a:r>
            <a:r>
              <a:rPr lang="en-US" u="sng" dirty="0">
                <a:cs typeface="Calibri"/>
              </a:rPr>
              <a:t>unexplained </a:t>
            </a:r>
            <a:r>
              <a:rPr lang="en-US" dirty="0">
                <a:cs typeface="Calibri"/>
              </a:rPr>
              <a:t>parts. </a:t>
            </a:r>
            <a:endParaRPr lang="en-US" u="sng" dirty="0">
              <a:cs typeface="Calibri"/>
            </a:endParaRP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3999963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our blood type example: Why is each assumption satisfied? Do we think this works? Can you think of any threats?</a:t>
            </a:r>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16390526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Note: these come from really useful paper by Felton and Stewart. Now just for pedagogy, let’s do a completely different example and walk through it again. What is the effect of going back home (vs. moving) on recidivism. What is the open door? What are potential instruments? (ask this q even though it’s hard so that people can see the challenges of finding an IV)</a:t>
            </a:r>
          </a:p>
          <a:p>
            <a:r>
              <a:rPr lang="en-US" dirty="0">
                <a:cs typeface="Calibri"/>
              </a:rPr>
              <a:t>Example of relevance: effect of going back home after prison on recidivism – use Hurricane Katrina in LA (does that change your decision to go home or not?)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14071779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Example of exclusion: hurricane </a:t>
            </a:r>
            <a:r>
              <a:rPr lang="en-US" dirty="0" err="1">
                <a:cs typeface="Calibri"/>
              </a:rPr>
              <a:t>katrina</a:t>
            </a:r>
            <a:r>
              <a:rPr lang="en-US" dirty="0">
                <a:cs typeface="Calibri"/>
              </a:rPr>
              <a:t> can’t have affected recidivism in any other way except through residence change (can you think of violations to this?)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42527064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Also called </a:t>
            </a:r>
            <a:r>
              <a:rPr lang="en-US" dirty="0" err="1">
                <a:cs typeface="Calibri"/>
              </a:rPr>
              <a:t>unconfoundedness</a:t>
            </a:r>
            <a:r>
              <a:rPr lang="en-US" dirty="0">
                <a:cs typeface="Calibri"/>
              </a:rPr>
              <a:t>. Note – treatment is confounded (that’s why we need IV in the first place) but hopefully IV isn’t. So if residence and recidivism are correlated (why would they be? Past history? Networks?), then Hurricane Katrina shouldn’t care about any of that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3835311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32124331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Here, you can see why we need </a:t>
            </a:r>
            <a:r>
              <a:rPr lang="en-US" b="1" dirty="0">
                <a:cs typeface="Calibri"/>
              </a:rPr>
              <a:t>relevance </a:t>
            </a:r>
            <a:r>
              <a:rPr lang="en-US" dirty="0">
                <a:cs typeface="Calibri"/>
              </a:rPr>
              <a:t>condition; if </a:t>
            </a:r>
            <a:r>
              <a:rPr lang="en-US" dirty="0" err="1">
                <a:cs typeface="Calibri"/>
              </a:rPr>
              <a:t>Cov</a:t>
            </a:r>
            <a:r>
              <a:rPr lang="en-US" dirty="0">
                <a:cs typeface="Calibri"/>
              </a:rPr>
              <a:t>(</a:t>
            </a:r>
            <a:r>
              <a:rPr lang="en-US" dirty="0" err="1">
                <a:cs typeface="Calibri"/>
              </a:rPr>
              <a:t>z,x</a:t>
            </a:r>
            <a:r>
              <a:rPr lang="en-US" dirty="0">
                <a:cs typeface="Calibri"/>
              </a:rPr>
              <a:t>) = 0, then the 2sls doesn't return anything useful. </a:t>
            </a:r>
            <a:r>
              <a:rPr lang="en-US" b="1" dirty="0">
                <a:cs typeface="Calibri"/>
              </a:rPr>
              <a:t>Even if </a:t>
            </a:r>
            <a:r>
              <a:rPr lang="en-US" b="1" dirty="0" err="1">
                <a:cs typeface="Calibri"/>
              </a:rPr>
              <a:t>cov</a:t>
            </a:r>
            <a:r>
              <a:rPr lang="en-US" b="1" dirty="0">
                <a:cs typeface="Calibri"/>
              </a:rPr>
              <a:t> is small, we have problems (we'll return to this). </a:t>
            </a:r>
            <a:endParaRPr lang="en-US" b="1" dirty="0"/>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36505797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6D350-79CF-AC52-143E-913F3ECAD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0D14F3-D8AD-819F-0FD9-BBF6A9E96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0DC11-DAC8-67A6-6D0D-D791AEF8F382}"/>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B6AA7F42-3F59-C571-C126-88086F498992}"/>
              </a:ext>
            </a:extLst>
          </p:cNvPr>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11802170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Why is this endogenous? (We don’t have ability)</a:t>
            </a:r>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14801289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Yes, this is enough! We just can’t do this in the real world</a:t>
            </a:r>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12692230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this case, the IV is your father’s education (a common but slightly dubious instrument – can talk about why if time). Note that the coefficient is the same sign but smaller (adjusting for positive selection into treatment). There are also cases where the coefficient may be </a:t>
            </a:r>
            <a:r>
              <a:rPr lang="en-US" b="1" dirty="0"/>
              <a:t>opposite signed</a:t>
            </a:r>
            <a:r>
              <a:rPr lang="en-US" b="0" dirty="0"/>
              <a:t>, especially if there is negative selection into a treatment with a positive treatment effect (as in the case study).</a:t>
            </a:r>
          </a:p>
        </p:txBody>
      </p:sp>
      <p:sp>
        <p:nvSpPr>
          <p:cNvPr id="4" name="Slide Number Placeholder 3"/>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25493785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do these kind of quickly</a:t>
            </a:r>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360344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18071615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38230147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32182216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22153487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15279512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this up with a discussion of the vaccine paper. </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24412299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likely imperfect – what do you think? Can you use storytelling here (for or against)?</a:t>
            </a:r>
          </a:p>
          <a:p>
            <a:endParaRPr lang="en-US" dirty="0"/>
          </a:p>
          <a:p>
            <a:r>
              <a:rPr lang="en-US" dirty="0"/>
              <a:t>- Go through text in detail here. Talk through assumptions, etc. Model on board. Critique. </a:t>
            </a:r>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1486960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DAG of an IV setup – can we pick one and walk me through it?</a:t>
            </a:r>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38966781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Example from 1: </a:t>
            </a:r>
            <a:r>
              <a:rPr lang="en-US" dirty="0"/>
              <a:t>in the 2000s, Oregon chose to expand its Medicaid program for poor adults by making it more generous. They used a lottery – this randomization can be an IV to back out LATE from ITT. </a:t>
            </a:r>
          </a:p>
        </p:txBody>
      </p:sp>
      <p:sp>
        <p:nvSpPr>
          <p:cNvPr id="4" name="Slide Number Placeholder 3"/>
          <p:cNvSpPr>
            <a:spLocks noGrp="1"/>
          </p:cNvSpPr>
          <p:nvPr>
            <p:ph type="sldNum" sz="quarter" idx="5"/>
          </p:nvPr>
        </p:nvSpPr>
        <p:spPr/>
        <p:txBody>
          <a:bodyPr/>
          <a:lstStyle/>
          <a:p>
            <a:fld id="{3298C5B2-5D6B-2949-9D6C-64FEDA8AB56A}" type="slidenum">
              <a:rPr lang="en-US" smtClean="0"/>
              <a:t>52</a:t>
            </a:fld>
            <a:endParaRPr lang="en-US"/>
          </a:p>
        </p:txBody>
      </p:sp>
    </p:spTree>
    <p:extLst>
      <p:ext uri="{BB962C8B-B14F-4D97-AF65-F5344CB8AC3E}">
        <p14:creationId xmlns:p14="http://schemas.microsoft.com/office/powerpoint/2010/main" val="36962183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This</a:t>
            </a:r>
            <a:r>
              <a:rPr lang="en-US" dirty="0"/>
              <a:t> is just really popular with judges, doesn't have to be criminal. Possible examples: FDA approval, physician decision-making. Some concerns: is assignment truly random? Is the pipeline really narrow? Can the discretion be chosen by the patient/entity? Paper uses differences in nursing home eligibility assessors to find that access to nursing homes lowers use of other kinds of care, but does not affect health spending or mortality meaningfully. Plenty of opportunities to implement this design more meaningfully.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3298C5B2-5D6B-2949-9D6C-64FEDA8AB56A}" type="slidenum">
              <a:rPr lang="en-US" smtClean="0"/>
              <a:t>53</a:t>
            </a:fld>
            <a:endParaRPr lang="en-US"/>
          </a:p>
        </p:txBody>
      </p:sp>
    </p:spTree>
    <p:extLst>
      <p:ext uri="{BB962C8B-B14F-4D97-AF65-F5344CB8AC3E}">
        <p14:creationId xmlns:p14="http://schemas.microsoft.com/office/powerpoint/2010/main" val="3952442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This is most useful when looking at regional market differences in health questions. </a:t>
            </a:r>
          </a:p>
        </p:txBody>
      </p:sp>
      <p:sp>
        <p:nvSpPr>
          <p:cNvPr id="4" name="Slide Number Placeholder 3"/>
          <p:cNvSpPr>
            <a:spLocks noGrp="1"/>
          </p:cNvSpPr>
          <p:nvPr>
            <p:ph type="sldNum" sz="quarter" idx="5"/>
          </p:nvPr>
        </p:nvSpPr>
        <p:spPr/>
        <p:txBody>
          <a:bodyPr/>
          <a:lstStyle/>
          <a:p>
            <a:fld id="{3298C5B2-5D6B-2949-9D6C-64FEDA8AB56A}" type="slidenum">
              <a:rPr lang="en-US" smtClean="0"/>
              <a:t>54</a:t>
            </a:fld>
            <a:endParaRPr lang="en-US"/>
          </a:p>
        </p:txBody>
      </p:sp>
    </p:spTree>
    <p:extLst>
      <p:ext uri="{BB962C8B-B14F-4D97-AF65-F5344CB8AC3E}">
        <p14:creationId xmlns:p14="http://schemas.microsoft.com/office/powerpoint/2010/main" val="42310780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8FCA5-A029-B593-6996-5BB5C6128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1A111-5D97-B839-D08B-321D57E58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F9B8C-0A57-6E30-297E-B9D8A33BE482}"/>
              </a:ext>
            </a:extLst>
          </p:cNvPr>
          <p:cNvSpPr>
            <a:spLocks noGrp="1"/>
          </p:cNvSpPr>
          <p:nvPr>
            <p:ph type="body" idx="1"/>
          </p:nvPr>
        </p:nvSpPr>
        <p:spPr/>
        <p:txBody>
          <a:bodyPr/>
          <a:lstStyle/>
          <a:p>
            <a:r>
              <a:rPr lang="en-US" dirty="0">
                <a:ea typeface="Calibri"/>
                <a:cs typeface="Calibri"/>
              </a:rPr>
              <a:t>https://www.sciencedirect.com/science/article/pii/S0167629625000864?via%3Dihub</a:t>
            </a:r>
          </a:p>
        </p:txBody>
      </p:sp>
      <p:sp>
        <p:nvSpPr>
          <p:cNvPr id="4" name="Slide Number Placeholder 3">
            <a:extLst>
              <a:ext uri="{FF2B5EF4-FFF2-40B4-BE49-F238E27FC236}">
                <a16:creationId xmlns:a16="http://schemas.microsoft.com/office/drawing/2014/main" id="{63754104-D844-3732-72D5-425D2AF017A3}"/>
              </a:ext>
            </a:extLst>
          </p:cNvPr>
          <p:cNvSpPr>
            <a:spLocks noGrp="1"/>
          </p:cNvSpPr>
          <p:nvPr>
            <p:ph type="sldNum" sz="quarter" idx="5"/>
          </p:nvPr>
        </p:nvSpPr>
        <p:spPr/>
        <p:txBody>
          <a:bodyPr/>
          <a:lstStyle/>
          <a:p>
            <a:fld id="{3298C5B2-5D6B-2949-9D6C-64FEDA8AB56A}" type="slidenum">
              <a:rPr lang="en-US" smtClean="0"/>
              <a:t>55</a:t>
            </a:fld>
            <a:endParaRPr lang="en-US"/>
          </a:p>
        </p:txBody>
      </p:sp>
    </p:spTree>
    <p:extLst>
      <p:ext uri="{BB962C8B-B14F-4D97-AF65-F5344CB8AC3E}">
        <p14:creationId xmlns:p14="http://schemas.microsoft.com/office/powerpoint/2010/main" val="160434513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3BA94-DC28-1352-3C07-AEAE27138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6554B-8D29-BEFF-7D37-D4EFC60DCD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78A20-29F4-D458-04D9-69EC6779FF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48DE81-CEB6-02E2-BDB5-BCDB69040F96}"/>
              </a:ext>
            </a:extLst>
          </p:cNvPr>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3099295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10/26/2026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10/26/2026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jamanetwork.com/journals/jamainternalmedicine/article-abstract/1108791#ref-iic110016-2"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onlinelibrary.wiley.com/doi/pdfdirect/10.1111/1475-6773.13256?casa_token=D0l4JQU0JxMAAAAA:ynZ0FAEfpi-bC0DOdy8drZ4vBJB8Ka6Rgcw6Dc-KhvJwFWtewcsP7km-dVxHx4EhMTZ3W1EcC7lJ7oVM"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hyperlink" Target="https://www.nejm.org/doi/full/10.1056/NEJMsa1212321" TargetMode="External"/><Relationship Id="rId4" Type="http://schemas.openxmlformats.org/officeDocument/2006/relationships/hyperlink" Target="https://academic.oup.com/qje/article/127/3/1057/1923446"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onlinelibrary.wiley.com/doi/pdfdirect/10.1111/1475-6773.13256?casa_token=D0l4JQU0JxMAAAAA:ynZ0FAEfpi-bC0DOdy8drZ4vBJB8Ka6Rgcw6Dc-KhvJwFWtewcsP7km-dVxHx4EhMTZ3W1EcC7lJ7oVM"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hyperlink" Target="https://www.sciencedirect.com/science/article/pii/S0167629619307635"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onlinelibrary.wiley.com/doi/pdfdirect/10.1111/1475-6773.13256?casa_token=D0l4JQU0JxMAAAAA:ynZ0FAEfpi-bC0DOdy8drZ4vBJB8Ka6Rgcw6Dc-KhvJwFWtewcsP7km-dVxHx4EhMTZ3W1EcC7lJ7oVM"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hyperlink" Target="https://www.nber.org/system/files/working_papers/w24440/w24440.pdf"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2020" y="2209800"/>
            <a:ext cx="10774180" cy="1894362"/>
          </a:xfrm>
        </p:spPr>
        <p:txBody>
          <a:bodyPr>
            <a:normAutofit/>
          </a:bodyPr>
          <a:lstStyle/>
          <a:p>
            <a:r>
              <a:rPr lang="en-US" dirty="0"/>
              <a:t>Quantitative </a:t>
            </a:r>
            <a:r>
              <a:rPr lang="en-US"/>
              <a:t>HSR I</a:t>
            </a:r>
            <a:endParaRPr lang="en-US" dirty="0"/>
          </a:p>
        </p:txBody>
      </p:sp>
      <p:sp>
        <p:nvSpPr>
          <p:cNvPr id="3" name="Subtitle 2"/>
          <p:cNvSpPr>
            <a:spLocks noGrp="1"/>
          </p:cNvSpPr>
          <p:nvPr>
            <p:ph type="subTitle" idx="1"/>
          </p:nvPr>
        </p:nvSpPr>
        <p:spPr>
          <a:xfrm>
            <a:off x="838200" y="4191000"/>
            <a:ext cx="10515600" cy="1981200"/>
          </a:xfrm>
        </p:spPr>
        <p:txBody>
          <a:bodyPr>
            <a:noAutofit/>
          </a:bodyPr>
          <a:lstStyle/>
          <a:p>
            <a:r>
              <a:rPr lang="en-US" sz="2400" dirty="0"/>
              <a:t>Lecture 7 (Day 1 of 2): Endogeneity &amp; Instrumental Variables</a:t>
            </a:r>
          </a:p>
          <a:p>
            <a:r>
              <a:rPr lang="en-US" sz="2400" dirty="0"/>
              <a:t>November 2,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Quick note – new paper</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8148C50D-1062-C2DF-BDED-8F0DB79B3E97}"/>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03146AB7-9F64-9239-2504-EFC202C735E8}"/>
              </a:ext>
            </a:extLst>
          </p:cNvPr>
          <p:cNvPicPr>
            <a:picLocks noChangeAspect="1"/>
          </p:cNvPicPr>
          <p:nvPr/>
        </p:nvPicPr>
        <p:blipFill>
          <a:blip r:embed="rId3"/>
          <a:stretch>
            <a:fillRect/>
          </a:stretch>
        </p:blipFill>
        <p:spPr>
          <a:xfrm>
            <a:off x="381000" y="1066800"/>
            <a:ext cx="10087723" cy="4900519"/>
          </a:xfrm>
          <a:prstGeom prst="rect">
            <a:avLst/>
          </a:prstGeom>
        </p:spPr>
      </p:pic>
    </p:spTree>
    <p:extLst>
      <p:ext uri="{BB962C8B-B14F-4D97-AF65-F5344CB8AC3E}">
        <p14:creationId xmlns:p14="http://schemas.microsoft.com/office/powerpoint/2010/main" val="824285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8B3EF-48AF-F2E6-08B6-6729F3BEC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E0777-900E-C80E-E20C-EE078D2B8E3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Quick note – new paper</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CF09F06-9BCA-A61A-FA2C-F78DDC1B5EFC}"/>
              </a:ext>
            </a:extLst>
          </p:cNvPr>
          <p:cNvSpPr>
            <a:spLocks noGrp="1"/>
          </p:cNvSpPr>
          <p:nvPr>
            <p:ph idx="1"/>
          </p:nvPr>
        </p:nvSpPr>
        <p:spPr>
          <a:xfrm>
            <a:off x="8077200" y="1219200"/>
            <a:ext cx="3124200" cy="4960937"/>
          </a:xfrm>
        </p:spPr>
        <p:txBody>
          <a:bodyPr/>
          <a:lstStyle/>
          <a:p>
            <a:r>
              <a:rPr lang="en-US" dirty="0"/>
              <a:t>A) and B) distribution of findings</a:t>
            </a:r>
          </a:p>
          <a:p>
            <a:r>
              <a:rPr lang="en-US" dirty="0"/>
              <a:t>C) Relationship between researchers’ positions and findings</a:t>
            </a:r>
          </a:p>
          <a:p>
            <a:r>
              <a:rPr lang="en-US" dirty="0"/>
              <a:t>D) Relationship persists even after weighting and </a:t>
            </a:r>
            <a:r>
              <a:rPr lang="en-US"/>
              <a:t>adding covariates </a:t>
            </a:r>
            <a:endParaRPr lang="en-US" dirty="0"/>
          </a:p>
        </p:txBody>
      </p:sp>
      <p:pic>
        <p:nvPicPr>
          <p:cNvPr id="4" name="Picture 3">
            <a:extLst>
              <a:ext uri="{FF2B5EF4-FFF2-40B4-BE49-F238E27FC236}">
                <a16:creationId xmlns:a16="http://schemas.microsoft.com/office/drawing/2014/main" id="{FC1D8BBD-23A0-45B2-C03D-B574093B9C0B}"/>
              </a:ext>
            </a:extLst>
          </p:cNvPr>
          <p:cNvPicPr>
            <a:picLocks noChangeAspect="1"/>
          </p:cNvPicPr>
          <p:nvPr/>
        </p:nvPicPr>
        <p:blipFill>
          <a:blip r:embed="rId3"/>
          <a:stretch>
            <a:fillRect/>
          </a:stretch>
        </p:blipFill>
        <p:spPr>
          <a:xfrm>
            <a:off x="-27709" y="957783"/>
            <a:ext cx="8352796" cy="5562825"/>
          </a:xfrm>
          <a:prstGeom prst="rect">
            <a:avLst/>
          </a:prstGeom>
        </p:spPr>
      </p:pic>
    </p:spTree>
    <p:extLst>
      <p:ext uri="{BB962C8B-B14F-4D97-AF65-F5344CB8AC3E}">
        <p14:creationId xmlns:p14="http://schemas.microsoft.com/office/powerpoint/2010/main" val="1200952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746D7-5C8E-14DB-11D1-91C659A20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FF649-E0AB-8B06-1CC3-15E85994E61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Last Time: Matching Approaches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DAAFC1-D66C-5212-70A4-A0F1533BB4D2}"/>
              </a:ext>
            </a:extLst>
          </p:cNvPr>
          <p:cNvSpPr>
            <a:spLocks noGrp="1"/>
          </p:cNvSpPr>
          <p:nvPr>
            <p:ph idx="1"/>
          </p:nvPr>
        </p:nvSpPr>
        <p:spPr>
          <a:xfrm>
            <a:off x="609601" y="1066801"/>
            <a:ext cx="10015390" cy="5141388"/>
          </a:xfrm>
        </p:spPr>
        <p:txBody>
          <a:bodyPr>
            <a:noAutofit/>
          </a:bodyPr>
          <a:lstStyle/>
          <a:p>
            <a:pPr lvl="1"/>
            <a:r>
              <a:rPr lang="en-US" sz="2400" dirty="0">
                <a:cs typeface="Times New Roman" panose="02020603050405020304" pitchFamily="18" charset="0"/>
              </a:rPr>
              <a:t>Matching methods help to deal with </a:t>
            </a:r>
            <a:r>
              <a:rPr lang="en-US" sz="2400" b="1" dirty="0">
                <a:solidFill>
                  <a:schemeClr val="accent2">
                    <a:lumMod val="75000"/>
                  </a:schemeClr>
                </a:solidFill>
                <a:cs typeface="Times New Roman" panose="02020603050405020304" pitchFamily="18" charset="0"/>
              </a:rPr>
              <a:t>imbalanced data </a:t>
            </a:r>
          </a:p>
          <a:p>
            <a:pPr lvl="1"/>
            <a:r>
              <a:rPr lang="en-US" sz="2400" dirty="0">
                <a:cs typeface="Times New Roman" panose="02020603050405020304" pitchFamily="18" charset="0"/>
              </a:rPr>
              <a:t>Helps you argue that your comparisons really are apples-to-apples</a:t>
            </a:r>
          </a:p>
          <a:p>
            <a:pPr lvl="1"/>
            <a:r>
              <a:rPr lang="en-US" sz="2400" dirty="0">
                <a:cs typeface="Times New Roman" panose="02020603050405020304" pitchFamily="18" charset="0"/>
              </a:rPr>
              <a:t>Matching relies on selection on </a:t>
            </a:r>
            <a:r>
              <a:rPr lang="en-US" sz="2400" b="1" dirty="0">
                <a:solidFill>
                  <a:schemeClr val="accent2">
                    <a:lumMod val="75000"/>
                  </a:schemeClr>
                </a:solidFill>
                <a:cs typeface="Times New Roman" panose="02020603050405020304" pitchFamily="18" charset="0"/>
              </a:rPr>
              <a:t>observables</a:t>
            </a:r>
            <a:r>
              <a:rPr lang="en-US" sz="2400" dirty="0">
                <a:cs typeface="Times New Roman" panose="02020603050405020304" pitchFamily="18" charset="0"/>
              </a:rPr>
              <a:t> </a:t>
            </a:r>
          </a:p>
          <a:p>
            <a:pPr lvl="1"/>
            <a:r>
              <a:rPr lang="en-US" sz="2400" dirty="0">
                <a:cs typeface="Times New Roman" panose="02020603050405020304" pitchFamily="18" charset="0"/>
              </a:rPr>
              <a:t>Propensity score, nearest neighbor techniques</a:t>
            </a:r>
          </a:p>
        </p:txBody>
      </p:sp>
      <p:pic>
        <p:nvPicPr>
          <p:cNvPr id="4" name="Picture 2">
            <a:extLst>
              <a:ext uri="{FF2B5EF4-FFF2-40B4-BE49-F238E27FC236}">
                <a16:creationId xmlns:a16="http://schemas.microsoft.com/office/drawing/2014/main" id="{8C5008E8-8C44-AA93-5F1F-699A15F3D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1700" y="2895600"/>
            <a:ext cx="7315200" cy="3150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6095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0744A-9ECB-7BB8-E123-6C4203B92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C96ED-BB5C-3F53-AF08-93D9772E7BC3}"/>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Last Time: Matching Approaches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A5DF2C-03A1-5AA7-1475-97A9BF3448D4}"/>
              </a:ext>
            </a:extLst>
          </p:cNvPr>
          <p:cNvSpPr>
            <a:spLocks noGrp="1"/>
          </p:cNvSpPr>
          <p:nvPr>
            <p:ph idx="1"/>
          </p:nvPr>
        </p:nvSpPr>
        <p:spPr>
          <a:xfrm>
            <a:off x="609601" y="1066801"/>
            <a:ext cx="10015390" cy="5141388"/>
          </a:xfrm>
        </p:spPr>
        <p:txBody>
          <a:bodyPr>
            <a:noAutofit/>
          </a:bodyPr>
          <a:lstStyle/>
          <a:p>
            <a:pPr lvl="1"/>
            <a:r>
              <a:rPr lang="en-US" sz="2400" dirty="0">
                <a:cs typeface="Times New Roman" panose="02020603050405020304" pitchFamily="18" charset="0"/>
              </a:rPr>
              <a:t>Matching methods help to deal with </a:t>
            </a:r>
            <a:r>
              <a:rPr lang="en-US" sz="2400" b="1" dirty="0">
                <a:solidFill>
                  <a:schemeClr val="accent2">
                    <a:lumMod val="75000"/>
                  </a:schemeClr>
                </a:solidFill>
                <a:cs typeface="Times New Roman" panose="02020603050405020304" pitchFamily="18" charset="0"/>
              </a:rPr>
              <a:t>imbalanced data </a:t>
            </a:r>
          </a:p>
          <a:p>
            <a:pPr lvl="1"/>
            <a:r>
              <a:rPr lang="en-US" sz="2400" dirty="0">
                <a:cs typeface="Times New Roman" panose="02020603050405020304" pitchFamily="18" charset="0"/>
              </a:rPr>
              <a:t>Helps you argue that your comparisons really are apples-to-apples</a:t>
            </a:r>
          </a:p>
          <a:p>
            <a:pPr lvl="1"/>
            <a:r>
              <a:rPr lang="en-US" sz="2400" dirty="0">
                <a:cs typeface="Times New Roman" panose="02020603050405020304" pitchFamily="18" charset="0"/>
              </a:rPr>
              <a:t>Matching relies on selection on </a:t>
            </a:r>
            <a:r>
              <a:rPr lang="en-US" sz="2400" b="1" dirty="0">
                <a:solidFill>
                  <a:schemeClr val="accent2">
                    <a:lumMod val="75000"/>
                  </a:schemeClr>
                </a:solidFill>
                <a:cs typeface="Times New Roman" panose="02020603050405020304" pitchFamily="18" charset="0"/>
              </a:rPr>
              <a:t>observables</a:t>
            </a:r>
            <a:r>
              <a:rPr lang="en-US" sz="2400" dirty="0">
                <a:cs typeface="Times New Roman" panose="02020603050405020304" pitchFamily="18" charset="0"/>
              </a:rPr>
              <a:t> </a:t>
            </a:r>
          </a:p>
          <a:p>
            <a:pPr lvl="1"/>
            <a:r>
              <a:rPr lang="en-US" sz="2400" dirty="0">
                <a:cs typeface="Times New Roman" panose="02020603050405020304" pitchFamily="18" charset="0"/>
              </a:rPr>
              <a:t>Propensity score, nearest neighbor techniques</a:t>
            </a:r>
          </a:p>
        </p:txBody>
      </p:sp>
      <p:pic>
        <p:nvPicPr>
          <p:cNvPr id="4" name="Picture 2">
            <a:extLst>
              <a:ext uri="{FF2B5EF4-FFF2-40B4-BE49-F238E27FC236}">
                <a16:creationId xmlns:a16="http://schemas.microsoft.com/office/drawing/2014/main" id="{D34F7EDA-691B-1204-D38C-03489AEE8C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1700" y="2895600"/>
            <a:ext cx="7315200" cy="31508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9126CAC-965D-4813-30C4-FCD64B2C19E1}"/>
              </a:ext>
            </a:extLst>
          </p:cNvPr>
          <p:cNvSpPr txBox="1"/>
          <p:nvPr/>
        </p:nvSpPr>
        <p:spPr>
          <a:xfrm>
            <a:off x="647700" y="5156170"/>
            <a:ext cx="3733800" cy="954107"/>
          </a:xfrm>
          <a:prstGeom prst="rect">
            <a:avLst/>
          </a:prstGeom>
          <a:solidFill>
            <a:schemeClr val="accent3">
              <a:lumMod val="75000"/>
            </a:schemeClr>
          </a:solidFill>
        </p:spPr>
        <p:txBody>
          <a:bodyPr wrap="square" rtlCol="0">
            <a:spAutoFit/>
          </a:bodyPr>
          <a:lstStyle/>
          <a:p>
            <a:pPr algn="ctr"/>
            <a:r>
              <a:rPr lang="en-US" sz="2800" dirty="0">
                <a:solidFill>
                  <a:schemeClr val="bg1"/>
                </a:solidFill>
                <a:latin typeface="Aptos" panose="020B0004020202020204" pitchFamily="34" charset="0"/>
              </a:rPr>
              <a:t>So can we ever really get at causality?</a:t>
            </a:r>
          </a:p>
        </p:txBody>
      </p:sp>
    </p:spTree>
    <p:extLst>
      <p:ext uri="{BB962C8B-B14F-4D97-AF65-F5344CB8AC3E}">
        <p14:creationId xmlns:p14="http://schemas.microsoft.com/office/powerpoint/2010/main" val="2484274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From Back Doors to Front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We can also</a:t>
                </a:r>
                <a:r>
                  <a:rPr lang="en-US" sz="2400" dirty="0">
                    <a:solidFill>
                      <a:schemeClr val="accent2">
                        <a:lumMod val="75000"/>
                      </a:schemeClr>
                    </a:solidFill>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isolate variation </a:t>
                </a:r>
                <a:r>
                  <a:rPr lang="en-US" sz="2400" dirty="0">
                    <a:cs typeface="Times New Roman" panose="02020603050405020304" pitchFamily="18" charset="0"/>
                  </a:rPr>
                  <a:t>coming only through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endParaRPr lang="en-US" sz="2400" dirty="0">
                  <a:cs typeface="Times New Roman" panose="02020603050405020304" pitchFamily="18" charset="0"/>
                </a:endParaRPr>
              </a:p>
              <a:p>
                <a:r>
                  <a:rPr lang="en-US" sz="2400" dirty="0">
                    <a:cs typeface="Times New Roman" panose="02020603050405020304" pitchFamily="18" charset="0"/>
                  </a:rPr>
                  <a:t>This is called a</a:t>
                </a:r>
                <a:r>
                  <a:rPr lang="en-US" sz="2400" dirty="0">
                    <a:solidFill>
                      <a:schemeClr val="accent2">
                        <a:lumMod val="75000"/>
                      </a:schemeClr>
                    </a:solidFill>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front door approach</a:t>
                </a:r>
                <a:r>
                  <a:rPr lang="en-US" sz="2400" dirty="0">
                    <a:cs typeface="Times New Roman" panose="02020603050405020304" pitchFamily="18" charset="0"/>
                  </a:rPr>
                  <a:t> – mimics an experiment</a:t>
                </a: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US">
                    <a:noFill/>
                  </a:rPr>
                  <a:t> </a:t>
                </a:r>
              </a:p>
            </p:txBody>
          </p:sp>
        </mc:Fallback>
      </mc:AlternateContent>
    </p:spTree>
    <p:extLst>
      <p:ext uri="{BB962C8B-B14F-4D97-AF65-F5344CB8AC3E}">
        <p14:creationId xmlns:p14="http://schemas.microsoft.com/office/powerpoint/2010/main" val="2219273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Open up the (Right) Gates!</a:t>
            </a:r>
            <a:endParaRPr lang="en-US" sz="360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F08185DA-48EE-9634-6C1F-C3A8EA600A84}"/>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7664" b="10294"/>
          <a:stretch>
            <a:fillRect/>
          </a:stretch>
        </p:blipFill>
        <p:spPr bwMode="auto">
          <a:xfrm>
            <a:off x="2857500" y="1007690"/>
            <a:ext cx="6515100" cy="5697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239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Case Stud(</a:t>
            </a:r>
            <a:r>
              <a:rPr lang="en-US" dirty="0" err="1"/>
              <a:t>ies</a:t>
            </a:r>
            <a:r>
              <a:rPr lang="en-US" dirty="0"/>
              <a:t>)</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47390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causal effect of </a:t>
            </a:r>
            <a:r>
              <a:rPr lang="en-US" sz="3600" b="1" dirty="0">
                <a:latin typeface="Times New Roman" panose="02020603050405020304" pitchFamily="18" charset="0"/>
                <a:cs typeface="Times New Roman" panose="02020603050405020304" pitchFamily="18" charset="0"/>
              </a:rPr>
              <a:t>vaccines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Why would estimating the effect of a vaccine be hard in observational data? </a:t>
            </a:r>
          </a:p>
          <a:p>
            <a:r>
              <a:rPr lang="en-US" sz="2400" dirty="0">
                <a:cs typeface="Times New Roman" panose="02020603050405020304" pitchFamily="18" charset="0"/>
              </a:rPr>
              <a:t>If you looked at a “naïve” estimate of vaccine effectiveness, what direction would you expect it to be biased? Why?</a:t>
            </a:r>
          </a:p>
        </p:txBody>
      </p:sp>
      <p:pic>
        <p:nvPicPr>
          <p:cNvPr id="6" name="Picture 5">
            <a:extLst>
              <a:ext uri="{FF2B5EF4-FFF2-40B4-BE49-F238E27FC236}">
                <a16:creationId xmlns:a16="http://schemas.microsoft.com/office/drawing/2014/main" id="{21455168-AF2F-7DE7-8003-87ADD89189E6}"/>
              </a:ext>
            </a:extLst>
          </p:cNvPr>
          <p:cNvPicPr>
            <a:picLocks noChangeAspect="1"/>
          </p:cNvPicPr>
          <p:nvPr/>
        </p:nvPicPr>
        <p:blipFill>
          <a:blip r:embed="rId3"/>
          <a:stretch>
            <a:fillRect/>
          </a:stretch>
        </p:blipFill>
        <p:spPr>
          <a:xfrm>
            <a:off x="304800" y="4246994"/>
            <a:ext cx="10088383" cy="2248214"/>
          </a:xfrm>
          <a:prstGeom prst="rect">
            <a:avLst/>
          </a:prstGeom>
        </p:spPr>
      </p:pic>
    </p:spTree>
    <p:extLst>
      <p:ext uri="{BB962C8B-B14F-4D97-AF65-F5344CB8AC3E}">
        <p14:creationId xmlns:p14="http://schemas.microsoft.com/office/powerpoint/2010/main" val="437169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34052-3A99-C47F-C81D-4933FA52D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93B20-184E-07CC-CB9B-A0355C2A2978}"/>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causal effect of </a:t>
            </a:r>
            <a:r>
              <a:rPr lang="en-US" sz="3600" b="1" dirty="0">
                <a:latin typeface="Times New Roman" panose="02020603050405020304" pitchFamily="18" charset="0"/>
                <a:cs typeface="Times New Roman" panose="02020603050405020304" pitchFamily="18" charset="0"/>
              </a:rPr>
              <a:t>vaccines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658A05-C001-C142-C97D-3B20B07BBD64}"/>
              </a:ext>
            </a:extLst>
          </p:cNvPr>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Why would estimating the effect of a vaccine be hard in observational data? </a:t>
            </a:r>
          </a:p>
          <a:p>
            <a:r>
              <a:rPr lang="en-US" sz="2400" dirty="0">
                <a:cs typeface="Times New Roman" panose="02020603050405020304" pitchFamily="18" charset="0"/>
              </a:rPr>
              <a:t>If you looked at a “naïve” estimate of vaccine effectiveness, what direction would you expect it to be biased? Why?</a:t>
            </a:r>
          </a:p>
        </p:txBody>
      </p:sp>
      <p:pic>
        <p:nvPicPr>
          <p:cNvPr id="6" name="Picture 5">
            <a:extLst>
              <a:ext uri="{FF2B5EF4-FFF2-40B4-BE49-F238E27FC236}">
                <a16:creationId xmlns:a16="http://schemas.microsoft.com/office/drawing/2014/main" id="{8824082D-C2F7-8F38-525A-ADD4607E0D35}"/>
              </a:ext>
            </a:extLst>
          </p:cNvPr>
          <p:cNvPicPr>
            <a:picLocks noChangeAspect="1"/>
          </p:cNvPicPr>
          <p:nvPr/>
        </p:nvPicPr>
        <p:blipFill>
          <a:blip r:embed="rId3"/>
          <a:stretch>
            <a:fillRect/>
          </a:stretch>
        </p:blipFill>
        <p:spPr>
          <a:xfrm>
            <a:off x="304800" y="4246994"/>
            <a:ext cx="10088383" cy="2248214"/>
          </a:xfrm>
          <a:prstGeom prst="rect">
            <a:avLst/>
          </a:prstGeom>
        </p:spPr>
      </p:pic>
      <p:sp>
        <p:nvSpPr>
          <p:cNvPr id="4" name="TextBox 3">
            <a:extLst>
              <a:ext uri="{FF2B5EF4-FFF2-40B4-BE49-F238E27FC236}">
                <a16:creationId xmlns:a16="http://schemas.microsoft.com/office/drawing/2014/main" id="{0D7C7ECD-AE1D-1F70-F56E-CE94719E25E8}"/>
              </a:ext>
            </a:extLst>
          </p:cNvPr>
          <p:cNvSpPr txBox="1"/>
          <p:nvPr/>
        </p:nvSpPr>
        <p:spPr>
          <a:xfrm>
            <a:off x="2362200" y="2438400"/>
            <a:ext cx="8030983" cy="1754326"/>
          </a:xfrm>
          <a:prstGeom prst="rect">
            <a:avLst/>
          </a:prstGeom>
          <a:solidFill>
            <a:schemeClr val="accent2">
              <a:lumMod val="75000"/>
            </a:schemeClr>
          </a:solidFill>
        </p:spPr>
        <p:txBody>
          <a:bodyPr wrap="square" rtlCol="0">
            <a:spAutoFit/>
          </a:bodyPr>
          <a:lstStyle/>
          <a:p>
            <a:r>
              <a:rPr lang="en-US" dirty="0">
                <a:solidFill>
                  <a:schemeClr val="bg1"/>
                </a:solidFill>
              </a:rPr>
              <a:t>“Even after statistical control for various demographic variables and other medical conditions, elderly patients who receive the vaccine appear to be much healthier than apparently comparable unvaccinated patients. Strong evidence of this bias comes from an important epidemiologic study by Jackson et al</a:t>
            </a:r>
            <a:r>
              <a:rPr lang="en-US" baseline="30000" dirty="0">
                <a:solidFill>
                  <a:schemeClr val="bg1"/>
                </a:solidFill>
                <a:hlinkClick r:id="rId4">
                  <a:extLst>
                    <a:ext uri="{A12FA001-AC4F-418D-AE19-62706E023703}">
                      <ahyp:hlinkClr xmlns:ahyp="http://schemas.microsoft.com/office/drawing/2018/hyperlinkcolor" val="tx"/>
                    </a:ext>
                  </a:extLst>
                </a:hlinkClick>
              </a:rPr>
              <a:t>2</a:t>
            </a:r>
            <a:r>
              <a:rPr lang="en-US" dirty="0">
                <a:solidFill>
                  <a:schemeClr val="bg1"/>
                </a:solidFill>
              </a:rPr>
              <a:t> in which the authors reported that a large beneficial effect of the vaccine is apparent before the influenza season begins.”</a:t>
            </a:r>
          </a:p>
        </p:txBody>
      </p:sp>
    </p:spTree>
    <p:extLst>
      <p:ext uri="{BB962C8B-B14F-4D97-AF65-F5344CB8AC3E}">
        <p14:creationId xmlns:p14="http://schemas.microsoft.com/office/powerpoint/2010/main" val="2572452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0FC21-4268-458A-B53E-C2D4E8FB9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AFCF04-93D1-F563-B5EE-B6E5B0ECEE07}"/>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causal effect of </a:t>
            </a:r>
            <a:r>
              <a:rPr lang="en-US" sz="3600" b="1" dirty="0">
                <a:latin typeface="Times New Roman" panose="02020603050405020304" pitchFamily="18" charset="0"/>
                <a:cs typeface="Times New Roman" panose="02020603050405020304" pitchFamily="18" charset="0"/>
              </a:rPr>
              <a:t>vaccines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2426E1-1760-3E0B-50CF-49AA1780C886}"/>
              </a:ext>
            </a:extLst>
          </p:cNvPr>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Why would estimating the effect of a vaccine be hard in observational data? </a:t>
            </a:r>
          </a:p>
          <a:p>
            <a:r>
              <a:rPr lang="en-US" sz="2400" dirty="0">
                <a:cs typeface="Times New Roman" panose="02020603050405020304" pitchFamily="18" charset="0"/>
              </a:rPr>
              <a:t>If you looked at a “naïve” estimate of vaccine effectiveness, what direction would you expect it to be biased? Why?</a:t>
            </a:r>
          </a:p>
          <a:p>
            <a:endParaRPr lang="en-US" sz="2400" dirty="0">
              <a:cs typeface="Times New Roman" panose="02020603050405020304" pitchFamily="18" charset="0"/>
            </a:endParaRPr>
          </a:p>
          <a:p>
            <a:r>
              <a:rPr lang="en-US" sz="2400" dirty="0">
                <a:cs typeface="Times New Roman" panose="02020603050405020304" pitchFamily="18" charset="0"/>
              </a:rPr>
              <a:t>What does this study look at (outcomes, population)? </a:t>
            </a:r>
          </a:p>
          <a:p>
            <a:r>
              <a:rPr lang="en-US" sz="2400" b="1" dirty="0">
                <a:cs typeface="Times New Roman" panose="02020603050405020304" pitchFamily="18" charset="0"/>
              </a:rPr>
              <a:t>What is the selection problem that they are addressing? Why is this endogeneity? </a:t>
            </a:r>
          </a:p>
          <a:p>
            <a:r>
              <a:rPr lang="en-US" sz="2400" dirty="0">
                <a:cs typeface="Times New Roman" panose="02020603050405020304" pitchFamily="18" charset="0"/>
              </a:rPr>
              <a:t>Note: abstract says “uses logistic regression IV to remove the effect of selection bias” is </a:t>
            </a:r>
            <a:r>
              <a:rPr lang="en-US" sz="2400" b="1" dirty="0">
                <a:cs typeface="Times New Roman" panose="02020603050405020304" pitchFamily="18" charset="0"/>
              </a:rPr>
              <a:t>not correct</a:t>
            </a:r>
            <a:r>
              <a:rPr lang="en-US" sz="2400" dirty="0">
                <a:cs typeface="Times New Roman" panose="02020603050405020304" pitchFamily="18" charset="0"/>
              </a:rPr>
              <a:t>. Also says “IV methods control for overt and hidden biases in observational studies.” This is also </a:t>
            </a:r>
            <a:r>
              <a:rPr lang="en-US" sz="2400" b="1" dirty="0">
                <a:cs typeface="Times New Roman" panose="02020603050405020304" pitchFamily="18" charset="0"/>
              </a:rPr>
              <a:t>not correct </a:t>
            </a:r>
          </a:p>
          <a:p>
            <a:r>
              <a:rPr lang="en-US" sz="2400" dirty="0">
                <a:cs typeface="Times New Roman" panose="02020603050405020304" pitchFamily="18" charset="0"/>
              </a:rPr>
              <a:t>What we are doing is approximating a quasi-experiment and identifying a causal effect </a:t>
            </a:r>
            <a:r>
              <a:rPr lang="en-US" sz="2400" u="sng" dirty="0">
                <a:cs typeface="Times New Roman" panose="02020603050405020304" pitchFamily="18" charset="0"/>
              </a:rPr>
              <a:t>if that approximation is done correctly</a:t>
            </a: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FEC8B3C4-0EE5-83AB-2AB4-828063B60913}"/>
              </a:ext>
            </a:extLst>
          </p:cNvPr>
          <p:cNvPicPr>
            <a:picLocks noChangeAspect="1"/>
          </p:cNvPicPr>
          <p:nvPr/>
        </p:nvPicPr>
        <p:blipFill>
          <a:blip r:embed="rId3"/>
          <a:stretch>
            <a:fillRect/>
          </a:stretch>
        </p:blipFill>
        <p:spPr>
          <a:xfrm>
            <a:off x="584200" y="337392"/>
            <a:ext cx="10088383" cy="2248214"/>
          </a:xfrm>
          <a:prstGeom prst="rect">
            <a:avLst/>
          </a:prstGeom>
        </p:spPr>
      </p:pic>
    </p:spTree>
    <p:extLst>
      <p:ext uri="{BB962C8B-B14F-4D97-AF65-F5344CB8AC3E}">
        <p14:creationId xmlns:p14="http://schemas.microsoft.com/office/powerpoint/2010/main" val="445485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Endogeneity</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98873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Waiting Times and Transplantation Outcomes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endParaRPr lang="en-US" sz="2400" dirty="0">
              <a:cs typeface="Times New Roman" panose="02020603050405020304" pitchFamily="18" charset="0"/>
            </a:endParaRPr>
          </a:p>
        </p:txBody>
      </p:sp>
      <p:pic>
        <p:nvPicPr>
          <p:cNvPr id="6" name="Content Placeholder 13">
            <a:extLst>
              <a:ext uri="{FF2B5EF4-FFF2-40B4-BE49-F238E27FC236}">
                <a16:creationId xmlns:a16="http://schemas.microsoft.com/office/drawing/2014/main" id="{AC5B06F1-E350-876C-788C-56FF12253C51}"/>
              </a:ext>
            </a:extLst>
          </p:cNvPr>
          <p:cNvPicPr>
            <a:picLocks noChangeAspect="1"/>
          </p:cNvPicPr>
          <p:nvPr/>
        </p:nvPicPr>
        <p:blipFill>
          <a:blip r:embed="rId3"/>
          <a:stretch>
            <a:fillRect/>
          </a:stretch>
        </p:blipFill>
        <p:spPr>
          <a:xfrm>
            <a:off x="1618886" y="1143000"/>
            <a:ext cx="8954227" cy="2019464"/>
          </a:xfrm>
          <a:prstGeom prst="rect">
            <a:avLst/>
          </a:prstGeom>
        </p:spPr>
      </p:pic>
    </p:spTree>
    <p:extLst>
      <p:ext uri="{BB962C8B-B14F-4D97-AF65-F5344CB8AC3E}">
        <p14:creationId xmlns:p14="http://schemas.microsoft.com/office/powerpoint/2010/main" val="2785220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Waiting Times and Transplantation Outcomes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pPr marL="0" indent="0">
              <a:buNone/>
            </a:pPr>
            <a:endParaRPr lang="en-US" sz="2400" dirty="0">
              <a:cs typeface="Times New Roman" panose="02020603050405020304" pitchFamily="18" charset="0"/>
            </a:endParaRPr>
          </a:p>
        </p:txBody>
      </p:sp>
      <p:pic>
        <p:nvPicPr>
          <p:cNvPr id="5" name="Content Placeholder 4">
            <a:extLst>
              <a:ext uri="{FF2B5EF4-FFF2-40B4-BE49-F238E27FC236}">
                <a16:creationId xmlns:a16="http://schemas.microsoft.com/office/drawing/2014/main" id="{DFEADC53-BB88-BBCE-B7A3-A4C3B36ADCF3}"/>
              </a:ext>
            </a:extLst>
          </p:cNvPr>
          <p:cNvPicPr>
            <a:picLocks noChangeAspect="1"/>
          </p:cNvPicPr>
          <p:nvPr/>
        </p:nvPicPr>
        <p:blipFill rotWithShape="1">
          <a:blip r:embed="rId3"/>
          <a:srcRect l="6036" t="6484" r="9837" b="5811"/>
          <a:stretch/>
        </p:blipFill>
        <p:spPr>
          <a:xfrm>
            <a:off x="2400300" y="1066801"/>
            <a:ext cx="6858000" cy="5641259"/>
          </a:xfrm>
          <a:prstGeom prst="rect">
            <a:avLst/>
          </a:prstGeom>
        </p:spPr>
      </p:pic>
    </p:spTree>
    <p:extLst>
      <p:ext uri="{BB962C8B-B14F-4D97-AF65-F5344CB8AC3E}">
        <p14:creationId xmlns:p14="http://schemas.microsoft.com/office/powerpoint/2010/main" val="821649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Exogeneity + Endogeneity</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A7C637A-5D72-0693-047F-470BAC4F1900}"/>
              </a:ext>
            </a:extLst>
          </p:cNvPr>
          <p:cNvPicPr>
            <a:picLocks noGrp="1" noChangeAspect="1"/>
          </p:cNvPicPr>
          <p:nvPr>
            <p:ph idx="1"/>
          </p:nvPr>
        </p:nvPicPr>
        <p:blipFill>
          <a:blip r:embed="rId3"/>
          <a:stretch>
            <a:fillRect/>
          </a:stretch>
        </p:blipFill>
        <p:spPr>
          <a:xfrm>
            <a:off x="457200" y="1447800"/>
            <a:ext cx="5486400" cy="3454400"/>
          </a:xfrm>
        </p:spPr>
      </p:pic>
    </p:spTree>
    <p:extLst>
      <p:ext uri="{BB962C8B-B14F-4D97-AF65-F5344CB8AC3E}">
        <p14:creationId xmlns:p14="http://schemas.microsoft.com/office/powerpoint/2010/main" val="1668012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Exogeneity + Endogeneity</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A7C637A-5D72-0693-047F-470BAC4F1900}"/>
              </a:ext>
            </a:extLst>
          </p:cNvPr>
          <p:cNvPicPr>
            <a:picLocks noGrp="1" noChangeAspect="1"/>
          </p:cNvPicPr>
          <p:nvPr>
            <p:ph idx="1"/>
          </p:nvPr>
        </p:nvPicPr>
        <p:blipFill>
          <a:blip r:embed="rId3"/>
          <a:stretch>
            <a:fillRect/>
          </a:stretch>
        </p:blipFill>
        <p:spPr>
          <a:xfrm>
            <a:off x="457200" y="1447800"/>
            <a:ext cx="5486400" cy="3454400"/>
          </a:xfrm>
        </p:spPr>
      </p:pic>
      <p:pic>
        <p:nvPicPr>
          <p:cNvPr id="4" name="Picture 3">
            <a:extLst>
              <a:ext uri="{FF2B5EF4-FFF2-40B4-BE49-F238E27FC236}">
                <a16:creationId xmlns:a16="http://schemas.microsoft.com/office/drawing/2014/main" id="{91027A54-E71C-E411-61EC-3B873720523F}"/>
              </a:ext>
            </a:extLst>
          </p:cNvPr>
          <p:cNvPicPr>
            <a:picLocks noChangeAspect="1"/>
          </p:cNvPicPr>
          <p:nvPr/>
        </p:nvPicPr>
        <p:blipFill>
          <a:blip r:embed="rId4"/>
          <a:stretch>
            <a:fillRect/>
          </a:stretch>
        </p:blipFill>
        <p:spPr>
          <a:xfrm>
            <a:off x="5791200" y="1447800"/>
            <a:ext cx="5486400" cy="3556861"/>
          </a:xfrm>
          <a:prstGeom prst="rect">
            <a:avLst/>
          </a:prstGeom>
        </p:spPr>
      </p:pic>
    </p:spTree>
    <p:extLst>
      <p:ext uri="{BB962C8B-B14F-4D97-AF65-F5344CB8AC3E}">
        <p14:creationId xmlns:p14="http://schemas.microsoft.com/office/powerpoint/2010/main" val="609092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Endogeneity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1" y="1066801"/>
                <a:ext cx="10363200" cy="5141388"/>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What is the consequence of ignoring backdoors? </a:t>
                </a:r>
              </a:p>
              <a:p>
                <a:r>
                  <a:rPr lang="en-US" sz="2400" dirty="0">
                    <a:cs typeface="Times New Roman" panose="02020603050405020304" pitchFamily="18" charset="0"/>
                  </a:rPr>
                  <a:t>C</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onsider</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regression</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𝑘</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𝑘</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b="0" dirty="0">
                  <a:cs typeface="Times New Roman" panose="02020603050405020304" pitchFamily="18" charset="0"/>
                </a:endParaRPr>
              </a:p>
              <a:p>
                <a:r>
                  <a:rPr lang="en-US" sz="2400" dirty="0">
                    <a:cs typeface="Times New Roman" panose="02020603050405020304" pitchFamily="18" charset="0"/>
                  </a:rPr>
                  <a:t>If an endogenous regressor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𝑤</m:t>
                    </m:r>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is ignored,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for some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oMath>
                </a14:m>
                <a:endParaRPr lang="en-US" sz="2400" b="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1" y="1066801"/>
                <a:ext cx="10363200" cy="5141388"/>
              </a:xfrm>
              <a:blipFill>
                <a:blip r:embed="rId3"/>
                <a:stretch>
                  <a:fillRect l="-941" t="-1305"/>
                </a:stretch>
              </a:blipFill>
            </p:spPr>
            <p:txBody>
              <a:bodyPr/>
              <a:lstStyle/>
              <a:p>
                <a:r>
                  <a:rPr lang="en-US">
                    <a:noFill/>
                  </a:rPr>
                  <a:t> </a:t>
                </a:r>
              </a:p>
            </p:txBody>
          </p:sp>
        </mc:Fallback>
      </mc:AlternateContent>
    </p:spTree>
    <p:extLst>
      <p:ext uri="{BB962C8B-B14F-4D97-AF65-F5344CB8AC3E}">
        <p14:creationId xmlns:p14="http://schemas.microsoft.com/office/powerpoint/2010/main" val="3686341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Endogeneity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What is the consequence of ignoring backdoors? </a:t>
                </a:r>
              </a:p>
              <a:p>
                <a:r>
                  <a:rPr lang="en-US" sz="2400" dirty="0">
                    <a:cs typeface="Times New Roman" panose="02020603050405020304" pitchFamily="18" charset="0"/>
                  </a:rPr>
                  <a:t>C</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onsider</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regression</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𝑘</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𝑘</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b="0" dirty="0">
                  <a:cs typeface="Times New Roman" panose="02020603050405020304" pitchFamily="18" charset="0"/>
                </a:endParaRPr>
              </a:p>
              <a:p>
                <a:r>
                  <a:rPr lang="en-US" sz="2400" dirty="0">
                    <a:cs typeface="Times New Roman" panose="02020603050405020304" pitchFamily="18" charset="0"/>
                  </a:rPr>
                  <a:t>If an endogenous regressor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𝑤</m:t>
                    </m:r>
                  </m:oMath>
                </a14:m>
                <a:r>
                  <a:rPr lang="en-US" sz="2400" dirty="0">
                    <a:cs typeface="Times New Roman" panose="02020603050405020304" pitchFamily="18" charset="0"/>
                  </a:rPr>
                  <a:t> is ignored,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for some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oMath>
                </a14:m>
                <a:endParaRPr lang="en-US" sz="2400" b="0" dirty="0">
                  <a:cs typeface="Times New Roman" panose="02020603050405020304" pitchFamily="18" charset="0"/>
                </a:endParaRP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𝜀</m:t>
                        </m:r>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e>
                    </m:d>
                    <m:r>
                      <a:rPr lang="en-US" sz="2400" b="0" i="1" smtClean="0">
                        <a:latin typeface="Cambria Math" panose="02040503050406030204" pitchFamily="18" charset="0"/>
                        <a:cs typeface="Times New Roman" panose="02020603050405020304" pitchFamily="18" charset="0"/>
                      </a:rPr>
                      <m:t>≠0</m:t>
                    </m:r>
                  </m:oMath>
                </a14:m>
                <a:endParaRPr lang="en-US" sz="2400" b="0" dirty="0">
                  <a:cs typeface="Times New Roman" panose="02020603050405020304" pitchFamily="18" charset="0"/>
                </a:endParaRPr>
              </a:p>
              <a:p>
                <a:pPr lvl="1"/>
                <a:r>
                  <a:rPr lang="en-US" sz="2400" dirty="0">
                    <a:cs typeface="Times New Roman" panose="02020603050405020304" pitchFamily="18" charset="0"/>
                  </a:rPr>
                  <a:t>OLS estimators are inconsistent</a:t>
                </a:r>
              </a:p>
              <a:p>
                <a:pPr lvl="1"/>
                <a:r>
                  <a:rPr lang="en-US" sz="2400" dirty="0">
                    <a:cs typeface="Times New Roman" panose="02020603050405020304" pitchFamily="18" charset="0"/>
                  </a:rPr>
                  <a:t>Hypothesis testing and 95% CIs are invalid</a:t>
                </a:r>
              </a:p>
              <a:p>
                <a:r>
                  <a:rPr lang="en-US" sz="2400" dirty="0">
                    <a:cs typeface="Times New Roman" panose="02020603050405020304" pitchFamily="18" charset="0"/>
                  </a:rPr>
                  <a:t>But can we adjust for everything making a regressor endogenous? </a:t>
                </a:r>
              </a:p>
              <a:p>
                <a:pPr lvl="1"/>
                <a:r>
                  <a:rPr lang="en-US" sz="2400" dirty="0">
                    <a:cs typeface="Times New Roman" panose="02020603050405020304" pitchFamily="18" charset="0"/>
                  </a:rPr>
                  <a:t>Ability</a:t>
                </a:r>
              </a:p>
              <a:p>
                <a:pPr lvl="1"/>
                <a:r>
                  <a:rPr lang="en-US" sz="2400" dirty="0">
                    <a:cs typeface="Times New Roman" panose="02020603050405020304" pitchFamily="18" charset="0"/>
                  </a:rPr>
                  <a:t>Knowledge of health system </a:t>
                </a:r>
              </a:p>
              <a:p>
                <a:pPr lvl="1"/>
                <a:r>
                  <a:rPr lang="en-US" sz="2400" b="1" dirty="0">
                    <a:cs typeface="Times New Roman" panose="02020603050405020304" pitchFamily="18" charset="0"/>
                  </a:rPr>
                  <a:t>People making decisions (sometimes jointly).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876" t="-1305"/>
                </a:stretch>
              </a:blipFill>
            </p:spPr>
            <p:txBody>
              <a:bodyPr/>
              <a:lstStyle/>
              <a:p>
                <a:r>
                  <a:rPr lang="en-US">
                    <a:noFill/>
                  </a:rPr>
                  <a:t> </a:t>
                </a:r>
              </a:p>
            </p:txBody>
          </p:sp>
        </mc:Fallback>
      </mc:AlternateContent>
    </p:spTree>
    <p:extLst>
      <p:ext uri="{BB962C8B-B14F-4D97-AF65-F5344CB8AC3E}">
        <p14:creationId xmlns:p14="http://schemas.microsoft.com/office/powerpoint/2010/main" val="2163369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A5A90-78CC-C8BD-AAC5-3BD6539F5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043D8-27E2-6B1A-89DF-EEFD25F9BDE9}"/>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Endogeneity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A4EEF8-C0AB-D367-C23C-67A9918D60EE}"/>
                  </a:ext>
                </a:extLst>
              </p:cNvPr>
              <p:cNvSpPr>
                <a:spLocks noGrp="1"/>
              </p:cNvSpPr>
              <p:nvPr>
                <p:ph idx="1"/>
              </p:nvPr>
            </p:nvSpPr>
            <p:spPr>
              <a:xfrm>
                <a:off x="609601" y="1066801"/>
                <a:ext cx="10439400" cy="5141388"/>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What is the consequence of ignoring backdoors? </a:t>
                </a:r>
              </a:p>
              <a:p>
                <a:r>
                  <a:rPr lang="en-US" sz="2400" dirty="0">
                    <a:cs typeface="Times New Roman" panose="02020603050405020304" pitchFamily="18" charset="0"/>
                  </a:rPr>
                  <a:t>C</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onsider</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regression</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𝑘</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𝑘</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b="0" dirty="0">
                  <a:cs typeface="Times New Roman" panose="02020603050405020304" pitchFamily="18" charset="0"/>
                </a:endParaRPr>
              </a:p>
              <a:p>
                <a:r>
                  <a:rPr lang="en-US" sz="2400" dirty="0">
                    <a:cs typeface="Times New Roman" panose="02020603050405020304" pitchFamily="18" charset="0"/>
                  </a:rPr>
                  <a:t>If an endogenous regressor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𝑤</m:t>
                    </m:r>
                  </m:oMath>
                </a14:m>
                <a:r>
                  <a:rPr lang="en-US" sz="2400" dirty="0">
                    <a:cs typeface="Times New Roman" panose="02020603050405020304" pitchFamily="18" charset="0"/>
                  </a:rPr>
                  <a:t> is ignored,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for some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oMath>
                </a14:m>
                <a:endParaRPr lang="en-US" sz="2400" b="0" dirty="0">
                  <a:cs typeface="Times New Roman" panose="02020603050405020304" pitchFamily="18" charset="0"/>
                </a:endParaRP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𝜀</m:t>
                        </m:r>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e>
                    </m:d>
                    <m:r>
                      <a:rPr lang="en-US" sz="2400" b="0" i="1" smtClean="0">
                        <a:latin typeface="Cambria Math" panose="02040503050406030204" pitchFamily="18" charset="0"/>
                        <a:cs typeface="Times New Roman" panose="02020603050405020304" pitchFamily="18" charset="0"/>
                      </a:rPr>
                      <m:t>≠0</m:t>
                    </m:r>
                  </m:oMath>
                </a14:m>
                <a:endParaRPr lang="en-US" sz="2400" b="0" dirty="0">
                  <a:cs typeface="Times New Roman" panose="02020603050405020304" pitchFamily="18" charset="0"/>
                </a:endParaRPr>
              </a:p>
              <a:p>
                <a:pPr lvl="1"/>
                <a:r>
                  <a:rPr lang="en-US" sz="2400" dirty="0">
                    <a:cs typeface="Times New Roman" panose="02020603050405020304" pitchFamily="18" charset="0"/>
                  </a:rPr>
                  <a:t>OLS estimators are inconsistent</a:t>
                </a:r>
              </a:p>
              <a:p>
                <a:pPr lvl="1"/>
                <a:r>
                  <a:rPr lang="en-US" sz="2400" dirty="0">
                    <a:cs typeface="Times New Roman" panose="02020603050405020304" pitchFamily="18" charset="0"/>
                  </a:rPr>
                  <a:t>Hypothesis testing and 95% CIs are invalid</a:t>
                </a:r>
              </a:p>
              <a:p>
                <a:r>
                  <a:rPr lang="en-US" sz="2400" dirty="0">
                    <a:cs typeface="Times New Roman" panose="02020603050405020304" pitchFamily="18" charset="0"/>
                  </a:rPr>
                  <a:t>But can we adjust for everything making a regressor endogenous? </a:t>
                </a:r>
              </a:p>
              <a:p>
                <a:pPr lvl="1"/>
                <a:r>
                  <a:rPr lang="en-US" sz="2400" dirty="0">
                    <a:cs typeface="Times New Roman" panose="02020603050405020304" pitchFamily="18" charset="0"/>
                  </a:rPr>
                  <a:t>Ability</a:t>
                </a:r>
              </a:p>
              <a:p>
                <a:pPr lvl="1"/>
                <a:r>
                  <a:rPr lang="en-US" sz="2400" dirty="0">
                    <a:cs typeface="Times New Roman" panose="02020603050405020304" pitchFamily="18" charset="0"/>
                  </a:rPr>
                  <a:t>Knowledge of health system </a:t>
                </a:r>
              </a:p>
              <a:p>
                <a:pPr lvl="1"/>
                <a:r>
                  <a:rPr lang="en-US" sz="2400" b="1" dirty="0">
                    <a:cs typeface="Times New Roman" panose="02020603050405020304" pitchFamily="18" charset="0"/>
                  </a:rPr>
                  <a:t>People making decisions (sometimes jointly). </a:t>
                </a:r>
              </a:p>
            </p:txBody>
          </p:sp>
        </mc:Choice>
        <mc:Fallback xmlns="">
          <p:sp>
            <p:nvSpPr>
              <p:cNvPr id="3" name="Content Placeholder 2">
                <a:extLst>
                  <a:ext uri="{FF2B5EF4-FFF2-40B4-BE49-F238E27FC236}">
                    <a16:creationId xmlns:a16="http://schemas.microsoft.com/office/drawing/2014/main" id="{CAA4EEF8-C0AB-D367-C23C-67A9918D60EE}"/>
                  </a:ext>
                </a:extLst>
              </p:cNvPr>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876" t="-130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81BAD14-2AC7-B671-A1AB-C76B6B477894}"/>
              </a:ext>
            </a:extLst>
          </p:cNvPr>
          <p:cNvSpPr txBox="1"/>
          <p:nvPr/>
        </p:nvSpPr>
        <p:spPr>
          <a:xfrm>
            <a:off x="7315200" y="5105400"/>
            <a:ext cx="3657600" cy="1323439"/>
          </a:xfrm>
          <a:prstGeom prst="rect">
            <a:avLst/>
          </a:prstGeom>
          <a:solidFill>
            <a:schemeClr val="accent5">
              <a:lumMod val="75000"/>
            </a:schemeClr>
          </a:solidFill>
        </p:spPr>
        <p:txBody>
          <a:bodyPr wrap="square" rtlCol="0">
            <a:spAutoFit/>
          </a:bodyPr>
          <a:lstStyle/>
          <a:p>
            <a:r>
              <a:rPr lang="en-US" sz="2000" dirty="0">
                <a:solidFill>
                  <a:schemeClr val="bg1"/>
                </a:solidFill>
                <a:latin typeface="Aptos" panose="020B0004020202020204" pitchFamily="34" charset="0"/>
              </a:rPr>
              <a:t>This isn’t just a problem of not having the right variables in your data set, you can’t control for this stuff! </a:t>
            </a:r>
          </a:p>
        </p:txBody>
      </p:sp>
      <p:cxnSp>
        <p:nvCxnSpPr>
          <p:cNvPr id="6" name="Straight Arrow Connector 5">
            <a:extLst>
              <a:ext uri="{FF2B5EF4-FFF2-40B4-BE49-F238E27FC236}">
                <a16:creationId xmlns:a16="http://schemas.microsoft.com/office/drawing/2014/main" id="{5E83F2B3-A7EE-EAC1-20B5-680F0858FE57}"/>
              </a:ext>
            </a:extLst>
          </p:cNvPr>
          <p:cNvCxnSpPr>
            <a:stCxn id="4" idx="1"/>
          </p:cNvCxnSpPr>
          <p:nvPr/>
        </p:nvCxnSpPr>
        <p:spPr>
          <a:xfrm flipH="1" flipV="1">
            <a:off x="7010400" y="5562600"/>
            <a:ext cx="304800" cy="20452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570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Exogeneity Example: Age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Age is correlated with both waiting time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r>
                      <a:rPr lang="en-US" sz="2400" b="0" i="1" smtClean="0">
                        <a:latin typeface="Cambria Math" panose="02040503050406030204" pitchFamily="18" charset="0"/>
                        <a:cs typeface="Times New Roman" panose="02020603050405020304" pitchFamily="18" charset="0"/>
                      </a:rPr>
                      <m:t>)</m:t>
                    </m:r>
                  </m:oMath>
                </a14:m>
                <a:r>
                  <a:rPr lang="en-US" sz="2400" i="1" dirty="0">
                    <a:cs typeface="Times New Roman" panose="02020603050405020304" pitchFamily="18" charset="0"/>
                  </a:rPr>
                  <a:t> and </a:t>
                </a:r>
                <a:r>
                  <a:rPr lang="en-US" sz="2400" dirty="0">
                    <a:cs typeface="Times New Roman" panose="02020603050405020304" pitchFamily="18" charset="0"/>
                  </a:rPr>
                  <a:t>outcome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is impacted by both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r>
                  <a:rPr lang="en-US" sz="2400" dirty="0">
                    <a:cs typeface="Times New Roman" panose="02020603050405020304" pitchFamily="18" charset="0"/>
                  </a:rPr>
                  <a:t> and Age</a:t>
                </a:r>
              </a:p>
              <a:p>
                <a:pPr lvl="1"/>
                <a:r>
                  <a:rPr lang="en-US" sz="2400" dirty="0">
                    <a:cs typeface="Times New Roman" panose="02020603050405020304" pitchFamily="18" charset="0"/>
                  </a:rPr>
                  <a:t>Without closing back door,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𝑊</m:t>
                            </m:r>
                          </m:sub>
                        </m:sSub>
                      </m:e>
                    </m:acc>
                    <m:r>
                      <a:rPr lang="en-US" sz="2400" b="0" i="1" dirty="0" smtClean="0">
                        <a:latin typeface="Cambria Math" panose="02040503050406030204" pitchFamily="18" charset="0"/>
                        <a:cs typeface="Times New Roman" panose="02020603050405020304" pitchFamily="18" charset="0"/>
                      </a:rPr>
                      <m:t>≠</m:t>
                    </m:r>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𝛽</m:t>
                        </m:r>
                      </m:e>
                      <m:sub>
                        <m:r>
                          <a:rPr lang="en-US" sz="2400" b="0" i="1" dirty="0" smtClean="0">
                            <a:latin typeface="Cambria Math" panose="02040503050406030204" pitchFamily="18" charset="0"/>
                            <a:cs typeface="Times New Roman" panose="02020603050405020304" pitchFamily="18" charset="0"/>
                          </a:rPr>
                          <m:t>𝑊</m:t>
                        </m:r>
                      </m:sub>
                    </m:sSub>
                  </m:oMath>
                </a14:m>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2"/>
                <a:stretch>
                  <a:fillRect l="-409" t="-1305"/>
                </a:stretch>
              </a:blipFill>
            </p:spPr>
            <p:txBody>
              <a:bodyPr/>
              <a:lstStyle/>
              <a:p>
                <a:r>
                  <a:rPr lang="en-US">
                    <a:noFill/>
                  </a:rPr>
                  <a:t> </a:t>
                </a:r>
              </a:p>
            </p:txBody>
          </p:sp>
        </mc:Fallback>
      </mc:AlternateContent>
      <p:pic>
        <p:nvPicPr>
          <p:cNvPr id="4" name="Content Placeholder 7">
            <a:extLst>
              <a:ext uri="{FF2B5EF4-FFF2-40B4-BE49-F238E27FC236}">
                <a16:creationId xmlns:a16="http://schemas.microsoft.com/office/drawing/2014/main" id="{3563F26E-8A65-9588-F892-2562D4617D04}"/>
              </a:ext>
            </a:extLst>
          </p:cNvPr>
          <p:cNvPicPr>
            <a:picLocks noChangeAspect="1"/>
          </p:cNvPicPr>
          <p:nvPr/>
        </p:nvPicPr>
        <p:blipFill>
          <a:blip r:embed="rId3"/>
          <a:stretch>
            <a:fillRect/>
          </a:stretch>
        </p:blipFill>
        <p:spPr>
          <a:xfrm>
            <a:off x="4343400" y="2514600"/>
            <a:ext cx="6366833" cy="3915009"/>
          </a:xfrm>
          <a:prstGeom prst="rect">
            <a:avLst/>
          </a:prstGeom>
        </p:spPr>
      </p:pic>
    </p:spTree>
    <p:extLst>
      <p:ext uri="{BB962C8B-B14F-4D97-AF65-F5344CB8AC3E}">
        <p14:creationId xmlns:p14="http://schemas.microsoft.com/office/powerpoint/2010/main" val="3618111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Endogeneity Example: “Pickiness”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Other variables are harder to control for</a:t>
                </a:r>
              </a:p>
              <a:p>
                <a:r>
                  <a:rPr lang="en-US" sz="2400" dirty="0">
                    <a:cs typeface="Times New Roman" panose="02020603050405020304" pitchFamily="18" charset="0"/>
                  </a:rPr>
                  <a:t>How “picky” a patient is may increase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a:t>
                </a: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US">
                    <a:noFill/>
                  </a:rPr>
                  <a:t> </a:t>
                </a:r>
              </a:p>
            </p:txBody>
          </p:sp>
        </mc:Fallback>
      </mc:AlternateContent>
      <p:pic>
        <p:nvPicPr>
          <p:cNvPr id="5" name="Content Placeholder 5">
            <a:extLst>
              <a:ext uri="{FF2B5EF4-FFF2-40B4-BE49-F238E27FC236}">
                <a16:creationId xmlns:a16="http://schemas.microsoft.com/office/drawing/2014/main" id="{51A15469-8F98-535B-A338-87AE47674895}"/>
              </a:ext>
            </a:extLst>
          </p:cNvPr>
          <p:cNvPicPr>
            <a:picLocks noChangeAspect="1"/>
          </p:cNvPicPr>
          <p:nvPr/>
        </p:nvPicPr>
        <p:blipFill>
          <a:blip r:embed="rId4"/>
          <a:stretch>
            <a:fillRect/>
          </a:stretch>
        </p:blipFill>
        <p:spPr>
          <a:xfrm>
            <a:off x="4343400" y="2331075"/>
            <a:ext cx="6189592" cy="3888000"/>
          </a:xfrm>
          <a:prstGeom prst="rect">
            <a:avLst/>
          </a:prstGeom>
        </p:spPr>
      </p:pic>
    </p:spTree>
    <p:extLst>
      <p:ext uri="{BB962C8B-B14F-4D97-AF65-F5344CB8AC3E}">
        <p14:creationId xmlns:p14="http://schemas.microsoft.com/office/powerpoint/2010/main" val="2553573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76160-92FD-B9C7-B673-FFF71B4E8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EFD45-584B-672F-C8F1-866132A928B7}"/>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Endogeneity Example: “Pickiness”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852D39-ED96-BDDF-D29F-F3B29B890385}"/>
                  </a:ext>
                </a:extLst>
              </p:cNvPr>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Other variables are harder to control for</a:t>
                </a:r>
              </a:p>
              <a:p>
                <a:r>
                  <a:rPr lang="en-US" sz="2400" dirty="0">
                    <a:cs typeface="Times New Roman" panose="02020603050405020304" pitchFamily="18" charset="0"/>
                  </a:rPr>
                  <a:t>How “picky” a patient is may increase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a:t>
                </a: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US">
                    <a:noFill/>
                  </a:rPr>
                  <a:t> </a:t>
                </a:r>
              </a:p>
            </p:txBody>
          </p:sp>
        </mc:Fallback>
      </mc:AlternateContent>
      <p:pic>
        <p:nvPicPr>
          <p:cNvPr id="5" name="Content Placeholder 5">
            <a:extLst>
              <a:ext uri="{FF2B5EF4-FFF2-40B4-BE49-F238E27FC236}">
                <a16:creationId xmlns:a16="http://schemas.microsoft.com/office/drawing/2014/main" id="{8F362438-0C3C-215D-F8AC-39CB21E4DFF0}"/>
              </a:ext>
            </a:extLst>
          </p:cNvPr>
          <p:cNvPicPr>
            <a:picLocks noChangeAspect="1"/>
          </p:cNvPicPr>
          <p:nvPr/>
        </p:nvPicPr>
        <p:blipFill>
          <a:blip r:embed="rId4"/>
          <a:stretch>
            <a:fillRect/>
          </a:stretch>
        </p:blipFill>
        <p:spPr>
          <a:xfrm>
            <a:off x="4343400" y="2331075"/>
            <a:ext cx="6189592" cy="3888000"/>
          </a:xfrm>
          <a:prstGeom prst="rect">
            <a:avLst/>
          </a:prstGeom>
        </p:spPr>
      </p:pic>
      <p:sp>
        <p:nvSpPr>
          <p:cNvPr id="4" name="TextBox 3">
            <a:extLst>
              <a:ext uri="{FF2B5EF4-FFF2-40B4-BE49-F238E27FC236}">
                <a16:creationId xmlns:a16="http://schemas.microsoft.com/office/drawing/2014/main" id="{9C49A1B2-F4E1-DBAD-E068-5CE67EBF5B2D}"/>
              </a:ext>
            </a:extLst>
          </p:cNvPr>
          <p:cNvSpPr txBox="1"/>
          <p:nvPr/>
        </p:nvSpPr>
        <p:spPr>
          <a:xfrm>
            <a:off x="406400" y="4326907"/>
            <a:ext cx="4800600" cy="892552"/>
          </a:xfrm>
          <a:prstGeom prst="rect">
            <a:avLst/>
          </a:prstGeom>
          <a:solidFill>
            <a:schemeClr val="accent3">
              <a:lumMod val="75000"/>
            </a:schemeClr>
          </a:solidFill>
        </p:spPr>
        <p:txBody>
          <a:bodyPr wrap="square" rtlCol="0">
            <a:spAutoFit/>
          </a:bodyPr>
          <a:lstStyle/>
          <a:p>
            <a:r>
              <a:rPr lang="en-US" sz="2600" dirty="0">
                <a:solidFill>
                  <a:schemeClr val="bg1"/>
                </a:solidFill>
                <a:latin typeface="Aptos" panose="020B0004020202020204" pitchFamily="34" charset="0"/>
              </a:rPr>
              <a:t>What’s the endogeneity in our case study? </a:t>
            </a:r>
          </a:p>
        </p:txBody>
      </p:sp>
    </p:spTree>
    <p:extLst>
      <p:ext uri="{BB962C8B-B14F-4D97-AF65-F5344CB8AC3E}">
        <p14:creationId xmlns:p14="http://schemas.microsoft.com/office/powerpoint/2010/main" val="802277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Exploiting </a:t>
            </a:r>
            <a:br>
              <a:rPr lang="en-US" dirty="0"/>
            </a:br>
            <a:r>
              <a:rPr lang="en-US" dirty="0"/>
              <a:t>Quasi-Random Variation</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37136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From Back Doors to Front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439401" cy="5141388"/>
          </a:xfrm>
        </p:spPr>
        <p:txBody>
          <a:bodyPr>
            <a:noAutofit/>
          </a:bodyPr>
          <a:lstStyle/>
          <a:p>
            <a:r>
              <a:rPr lang="en-US" sz="2400" dirty="0">
                <a:cs typeface="Times New Roman" panose="02020603050405020304" pitchFamily="18" charset="0"/>
              </a:rPr>
              <a:t>Back door variation stands in the way of causal inference</a:t>
            </a:r>
            <a:endParaRPr lang="en-US" sz="2400" b="1" dirty="0">
              <a:solidFill>
                <a:schemeClr val="accent2">
                  <a:lumMod val="75000"/>
                </a:schemeClr>
              </a:solidFill>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a:p>
            <a:r>
              <a:rPr lang="en-US" sz="2400" dirty="0">
                <a:cs typeface="Times New Roman" panose="02020603050405020304" pitchFamily="18" charset="0"/>
              </a:rPr>
              <a:t>But we can avoid that through careful randomization</a:t>
            </a:r>
          </a:p>
        </p:txBody>
      </p:sp>
      <p:pic>
        <p:nvPicPr>
          <p:cNvPr id="5" name="Picture 4">
            <a:extLst>
              <a:ext uri="{FF2B5EF4-FFF2-40B4-BE49-F238E27FC236}">
                <a16:creationId xmlns:a16="http://schemas.microsoft.com/office/drawing/2014/main" id="{A97A827C-92C8-F8DF-0C3A-CE882E8B5CD9}"/>
              </a:ext>
            </a:extLst>
          </p:cNvPr>
          <p:cNvPicPr>
            <a:picLocks noChangeAspect="1"/>
          </p:cNvPicPr>
          <p:nvPr/>
        </p:nvPicPr>
        <p:blipFill>
          <a:blip r:embed="rId3"/>
          <a:stretch>
            <a:fillRect/>
          </a:stretch>
        </p:blipFill>
        <p:spPr>
          <a:xfrm>
            <a:off x="1524000" y="1905000"/>
            <a:ext cx="9144000" cy="2269395"/>
          </a:xfrm>
          <a:prstGeom prst="rect">
            <a:avLst/>
          </a:prstGeom>
        </p:spPr>
      </p:pic>
      <p:sp>
        <p:nvSpPr>
          <p:cNvPr id="4" name="Rectangle 3">
            <a:extLst>
              <a:ext uri="{FF2B5EF4-FFF2-40B4-BE49-F238E27FC236}">
                <a16:creationId xmlns:a16="http://schemas.microsoft.com/office/drawing/2014/main" id="{C20E0ADD-2662-E3D4-E1E7-03E4162577EC}"/>
              </a:ext>
            </a:extLst>
          </p:cNvPr>
          <p:cNvSpPr/>
          <p:nvPr/>
        </p:nvSpPr>
        <p:spPr>
          <a:xfrm>
            <a:off x="1676400" y="2133600"/>
            <a:ext cx="3276600" cy="129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6709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From Back Doors to Front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439401" cy="5141388"/>
          </a:xfrm>
        </p:spPr>
        <p:txBody>
          <a:bodyPr>
            <a:noAutofit/>
          </a:bodyPr>
          <a:lstStyle/>
          <a:p>
            <a:r>
              <a:rPr lang="en-US" sz="2400" dirty="0">
                <a:cs typeface="Times New Roman" panose="02020603050405020304" pitchFamily="18" charset="0"/>
              </a:rPr>
              <a:t>Back door variation stands in the way of causal inference</a:t>
            </a:r>
            <a:endParaRPr lang="en-US" sz="2400" b="1" dirty="0">
              <a:solidFill>
                <a:schemeClr val="accent2">
                  <a:lumMod val="75000"/>
                </a:schemeClr>
              </a:solidFill>
              <a:cs typeface="Times New Roman" panose="02020603050405020304" pitchFamily="18" charset="0"/>
            </a:endParaRPr>
          </a:p>
          <a:p>
            <a:pPr marL="0" indent="0">
              <a:buNone/>
            </a:pPr>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a:p>
            <a:r>
              <a:rPr lang="en-US" sz="2400" dirty="0">
                <a:cs typeface="Times New Roman" panose="02020603050405020304" pitchFamily="18" charset="0"/>
              </a:rPr>
              <a:t>What if we didn’t assign randomization? Can we </a:t>
            </a:r>
            <a:r>
              <a:rPr lang="en-US" sz="2400" b="1" dirty="0">
                <a:solidFill>
                  <a:schemeClr val="accent2">
                    <a:lumMod val="75000"/>
                  </a:schemeClr>
                </a:solidFill>
                <a:cs typeface="Times New Roman" panose="02020603050405020304" pitchFamily="18" charset="0"/>
              </a:rPr>
              <a:t>simulate it </a:t>
            </a:r>
            <a:r>
              <a:rPr lang="en-US" sz="2400" dirty="0">
                <a:cs typeface="Times New Roman" panose="02020603050405020304" pitchFamily="18" charset="0"/>
              </a:rPr>
              <a:t>somehow?</a:t>
            </a:r>
          </a:p>
          <a:p>
            <a:r>
              <a:rPr lang="en-US" sz="2400" b="1" dirty="0">
                <a:solidFill>
                  <a:schemeClr val="accent2">
                    <a:lumMod val="75000"/>
                  </a:schemeClr>
                </a:solidFill>
                <a:cs typeface="Times New Roman" panose="02020603050405020304" pitchFamily="18" charset="0"/>
              </a:rPr>
              <a:t>Instrumental Variables </a:t>
            </a:r>
            <a:r>
              <a:rPr lang="en-US" sz="2400" dirty="0">
                <a:cs typeface="Times New Roman" panose="02020603050405020304" pitchFamily="18" charset="0"/>
              </a:rPr>
              <a:t>looks for real-world (quasi)-randomization</a:t>
            </a:r>
            <a:endParaRPr lang="en-US" sz="2400" b="1" dirty="0">
              <a:cs typeface="Times New Roman" panose="02020603050405020304" pitchFamily="18" charset="0"/>
            </a:endParaRPr>
          </a:p>
        </p:txBody>
      </p:sp>
      <p:pic>
        <p:nvPicPr>
          <p:cNvPr id="5" name="Picture 4">
            <a:extLst>
              <a:ext uri="{FF2B5EF4-FFF2-40B4-BE49-F238E27FC236}">
                <a16:creationId xmlns:a16="http://schemas.microsoft.com/office/drawing/2014/main" id="{A97A827C-92C8-F8DF-0C3A-CE882E8B5CD9}"/>
              </a:ext>
            </a:extLst>
          </p:cNvPr>
          <p:cNvPicPr>
            <a:picLocks noChangeAspect="1"/>
          </p:cNvPicPr>
          <p:nvPr/>
        </p:nvPicPr>
        <p:blipFill>
          <a:blip r:embed="rId2"/>
          <a:stretch>
            <a:fillRect/>
          </a:stretch>
        </p:blipFill>
        <p:spPr>
          <a:xfrm>
            <a:off x="1524000" y="1905000"/>
            <a:ext cx="9144000" cy="2269395"/>
          </a:xfrm>
          <a:prstGeom prst="rect">
            <a:avLst/>
          </a:prstGeom>
        </p:spPr>
      </p:pic>
    </p:spTree>
    <p:extLst>
      <p:ext uri="{BB962C8B-B14F-4D97-AF65-F5344CB8AC3E}">
        <p14:creationId xmlns:p14="http://schemas.microsoft.com/office/powerpoint/2010/main" val="3850206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From Back Doors to Front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1" y="1066801"/>
                <a:ext cx="10210800" cy="5141388"/>
              </a:xfrm>
            </p:spPr>
            <p:txBody>
              <a:bodyPr>
                <a:noAutofit/>
              </a:bodyPr>
              <a:lstStyle/>
              <a:p>
                <a:r>
                  <a:rPr lang="en-US" sz="2400" dirty="0">
                    <a:cs typeface="Times New Roman" panose="02020603050405020304" pitchFamily="18" charset="0"/>
                  </a:rPr>
                  <a:t>Note: (even perfect) randomization doesn’t absolve us of closing back doors!</a:t>
                </a:r>
              </a:p>
              <a:p>
                <a:r>
                  <a:rPr lang="en-US" sz="2400" dirty="0">
                    <a:cs typeface="Times New Roman" panose="02020603050405020304" pitchFamily="18" charset="0"/>
                  </a:rPr>
                  <a:t>But it does move the criterion from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𝑇𝑟𝑒𝑎𝑡𝑚𝑒𝑛𝑡</m:t>
                    </m:r>
                  </m:oMath>
                </a14:m>
                <a:r>
                  <a:rPr lang="en-US" sz="2400" dirty="0">
                    <a:cs typeface="Times New Roman" panose="02020603050405020304" pitchFamily="18" charset="0"/>
                  </a:rPr>
                  <a: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𝑅𝑎𝑛𝑑𝑜𝑚𝑖𝑧𝑎𝑡𝑖𝑜𝑛</m:t>
                    </m:r>
                  </m:oMath>
                </a14:m>
                <a:r>
                  <a:rPr lang="en-US" sz="2400" dirty="0">
                    <a:cs typeface="Times New Roman" panose="02020603050405020304" pitchFamily="18" charset="0"/>
                  </a:rPr>
                  <a:t> </a:t>
                </a:r>
              </a:p>
              <a:p>
                <a:pPr lvl="1"/>
                <a:r>
                  <a:rPr lang="en-US" sz="2400" dirty="0">
                    <a:cs typeface="Times New Roman" panose="02020603050405020304" pitchFamily="18" charset="0"/>
                  </a:rPr>
                  <a:t>This is usually easier to satisfy in practice</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1" y="1066801"/>
                <a:ext cx="10210800" cy="5141388"/>
              </a:xfrm>
              <a:blipFill>
                <a:blip r:embed="rId3"/>
                <a:stretch>
                  <a:fillRect l="-478" t="-13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97A827C-92C8-F8DF-0C3A-CE882E8B5CD9}"/>
              </a:ext>
            </a:extLst>
          </p:cNvPr>
          <p:cNvPicPr>
            <a:picLocks noChangeAspect="1"/>
          </p:cNvPicPr>
          <p:nvPr/>
        </p:nvPicPr>
        <p:blipFill>
          <a:blip r:embed="rId4"/>
          <a:stretch>
            <a:fillRect/>
          </a:stretch>
        </p:blipFill>
        <p:spPr>
          <a:xfrm>
            <a:off x="1524000" y="3902805"/>
            <a:ext cx="9144000" cy="2269395"/>
          </a:xfrm>
          <a:prstGeom prst="rect">
            <a:avLst/>
          </a:prstGeom>
        </p:spPr>
      </p:pic>
    </p:spTree>
    <p:extLst>
      <p:ext uri="{BB962C8B-B14F-4D97-AF65-F5344CB8AC3E}">
        <p14:creationId xmlns:p14="http://schemas.microsoft.com/office/powerpoint/2010/main" val="4194438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Instrumenting for an Endogenous Variable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are particularly concerned when our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𝑇𝑟𝑒𝑎𝑡𝑚𝑒𝑛𝑡</m:t>
                    </m:r>
                  </m:oMath>
                </a14:m>
                <a:r>
                  <a:rPr lang="en-US" sz="2400" dirty="0">
                    <a:cs typeface="Times New Roman" panose="02020603050405020304" pitchFamily="18" charset="0"/>
                  </a:rPr>
                  <a:t> variable is endogenous</a:t>
                </a:r>
              </a:p>
              <a:p>
                <a:r>
                  <a:rPr lang="en-US" sz="2400" dirty="0">
                    <a:cs typeface="Times New Roman" panose="02020603050405020304" pitchFamily="18" charset="0"/>
                  </a:rPr>
                  <a:t>How can we randomize? </a:t>
                </a:r>
              </a:p>
              <a:p>
                <a:pPr lvl="1"/>
                <a:r>
                  <a:rPr lang="en-US" sz="2400" dirty="0">
                    <a:cs typeface="Times New Roman" panose="02020603050405020304" pitchFamily="18" charset="0"/>
                  </a:rPr>
                  <a:t>Pick a suitable variable which is an </a:t>
                </a:r>
                <a:r>
                  <a:rPr lang="en-US" sz="2400" i="1" dirty="0">
                    <a:solidFill>
                      <a:schemeClr val="accent2">
                        <a:lumMod val="75000"/>
                      </a:schemeClr>
                    </a:solidFill>
                    <a:cs typeface="Times New Roman" panose="02020603050405020304" pitchFamily="18" charset="0"/>
                  </a:rPr>
                  <a:t>instrument</a:t>
                </a:r>
                <a:r>
                  <a:rPr lang="en-US" sz="2400" i="1" dirty="0">
                    <a:cs typeface="Times New Roman" panose="02020603050405020304" pitchFamily="18" charset="0"/>
                  </a:rPr>
                  <a:t> </a:t>
                </a:r>
                <a:r>
                  <a:rPr lang="en-US" sz="2400" dirty="0">
                    <a:cs typeface="Times New Roman" panose="02020603050405020304" pitchFamily="18" charset="0"/>
                  </a:rPr>
                  <a:t>for randomization</a:t>
                </a:r>
              </a:p>
              <a:p>
                <a:pPr lvl="1"/>
                <a:r>
                  <a:rPr lang="en-US" sz="2400" dirty="0">
                    <a:cs typeface="Times New Roman" panose="02020603050405020304" pitchFamily="18" charset="0"/>
                  </a:rPr>
                  <a:t>Mimics an RCT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46545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Instrumenting for an Endogenous Variable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are particularly concerned when our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𝑇𝑟𝑒𝑎𝑡𝑚𝑒𝑛𝑡</m:t>
                    </m:r>
                  </m:oMath>
                </a14:m>
                <a:r>
                  <a:rPr lang="en-US" sz="2400" dirty="0">
                    <a:cs typeface="Times New Roman" panose="02020603050405020304" pitchFamily="18" charset="0"/>
                  </a:rPr>
                  <a:t> variable is endogenous</a:t>
                </a:r>
              </a:p>
              <a:p>
                <a:r>
                  <a:rPr lang="en-US" sz="2400" dirty="0">
                    <a:cs typeface="Times New Roman" panose="02020603050405020304" pitchFamily="18" charset="0"/>
                  </a:rPr>
                  <a:t>How can we randomize? </a:t>
                </a:r>
              </a:p>
              <a:p>
                <a:pPr lvl="1"/>
                <a:r>
                  <a:rPr lang="en-US" sz="2400" dirty="0">
                    <a:cs typeface="Times New Roman" panose="02020603050405020304" pitchFamily="18" charset="0"/>
                  </a:rPr>
                  <a:t>Pick a suitable variable which is an </a:t>
                </a:r>
                <a:r>
                  <a:rPr lang="en-US" sz="2400" i="1" dirty="0">
                    <a:solidFill>
                      <a:schemeClr val="accent2">
                        <a:lumMod val="75000"/>
                      </a:schemeClr>
                    </a:solidFill>
                    <a:cs typeface="Times New Roman" panose="02020603050405020304" pitchFamily="18" charset="0"/>
                  </a:rPr>
                  <a:t>instrument</a:t>
                </a:r>
                <a:r>
                  <a:rPr lang="en-US" sz="2400" i="1" dirty="0">
                    <a:cs typeface="Times New Roman" panose="02020603050405020304" pitchFamily="18" charset="0"/>
                  </a:rPr>
                  <a:t> </a:t>
                </a:r>
                <a:r>
                  <a:rPr lang="en-US" sz="2400" dirty="0">
                    <a:cs typeface="Times New Roman" panose="02020603050405020304" pitchFamily="18" charset="0"/>
                  </a:rPr>
                  <a:t>for randomization</a:t>
                </a:r>
              </a:p>
              <a:p>
                <a:pPr lvl="1"/>
                <a:r>
                  <a:rPr lang="en-US" sz="2400" dirty="0">
                    <a:cs typeface="Times New Roman" panose="02020603050405020304" pitchFamily="18" charset="0"/>
                  </a:rPr>
                  <a:t>Mimics an RCT (as if </a:t>
                </a:r>
                <a:r>
                  <a:rPr lang="en-US" sz="2400" b="1" dirty="0">
                    <a:solidFill>
                      <a:schemeClr val="accent2">
                        <a:lumMod val="75000"/>
                      </a:schemeClr>
                    </a:solidFill>
                    <a:cs typeface="Times New Roman" panose="02020603050405020304" pitchFamily="18" charset="0"/>
                  </a:rPr>
                  <a:t>randomization is based on the instrument</a:t>
                </a:r>
                <a:r>
                  <a:rPr lang="en-US" sz="2400" dirty="0">
                    <a:cs typeface="Times New Roman" panose="02020603050405020304" pitchFamily="18" charset="0"/>
                  </a:rPr>
                  <a:t>)</a:t>
                </a:r>
              </a:p>
              <a:p>
                <a:pPr lvl="1"/>
                <a:endParaRPr lang="en-US" sz="2400" dirty="0">
                  <a:cs typeface="Times New Roman" panose="02020603050405020304" pitchFamily="18" charset="0"/>
                </a:endParaRPr>
              </a:p>
              <a:p>
                <a:pPr marL="731520" lvl="1" indent="-457200">
                  <a:buFont typeface="+mj-lt"/>
                  <a:buAutoNum type="arabicPeriod"/>
                </a:pPr>
                <a:r>
                  <a:rPr lang="en-US" sz="2400" dirty="0">
                    <a:cs typeface="Times New Roman" panose="02020603050405020304" pitchFamily="18" charset="0"/>
                  </a:rPr>
                  <a:t>Instrumental variable (IV) is </a:t>
                </a:r>
                <a:r>
                  <a:rPr lang="en-US" sz="2400" b="1" dirty="0">
                    <a:solidFill>
                      <a:schemeClr val="accent2">
                        <a:lumMod val="75000"/>
                      </a:schemeClr>
                    </a:solidFill>
                    <a:cs typeface="Times New Roman" panose="02020603050405020304" pitchFamily="18" charset="0"/>
                  </a:rPr>
                  <a:t>strongly correlated </a:t>
                </a:r>
                <a:r>
                  <a:rPr lang="en-US" sz="2400" dirty="0">
                    <a:cs typeface="Times New Roman" panose="02020603050405020304" pitchFamily="18" charset="0"/>
                  </a:rPr>
                  <a:t>with treatment</a:t>
                </a:r>
              </a:p>
              <a:p>
                <a:pPr marL="731520" lvl="1" indent="-457200">
                  <a:buFont typeface="+mj-lt"/>
                  <a:buAutoNum type="arabicPeriod"/>
                </a:pPr>
                <a:r>
                  <a:rPr lang="en-US" sz="2400" dirty="0">
                    <a:cs typeface="Times New Roman" panose="02020603050405020304" pitchFamily="18" charset="0"/>
                  </a:rPr>
                  <a:t>IV is </a:t>
                </a:r>
                <a:r>
                  <a:rPr lang="en-US" sz="2400" b="1" dirty="0">
                    <a:solidFill>
                      <a:schemeClr val="accent2">
                        <a:lumMod val="75000"/>
                      </a:schemeClr>
                    </a:solidFill>
                    <a:cs typeface="Times New Roman" panose="02020603050405020304" pitchFamily="18" charset="0"/>
                  </a:rPr>
                  <a:t>uncorrelated</a:t>
                </a:r>
                <a:r>
                  <a:rPr lang="en-US" sz="2400" b="1" dirty="0">
                    <a:cs typeface="Times New Roman" panose="02020603050405020304" pitchFamily="18" charset="0"/>
                  </a:rPr>
                  <a:t> </a:t>
                </a:r>
                <a:r>
                  <a:rPr lang="en-US" sz="2400" dirty="0">
                    <a:cs typeface="Times New Roman" panose="02020603050405020304" pitchFamily="18" charset="0"/>
                  </a:rPr>
                  <a:t>with the ultimate outcome (except through treatment)</a:t>
                </a:r>
              </a:p>
              <a:p>
                <a:pPr marL="731520" lvl="1" indent="-457200">
                  <a:buFont typeface="+mj-lt"/>
                  <a:buAutoNum type="arabicPeriod"/>
                </a:pPr>
                <a:r>
                  <a:rPr lang="en-US" sz="2400" dirty="0">
                    <a:cs typeface="Times New Roman" panose="02020603050405020304" pitchFamily="18" charset="0"/>
                  </a:rPr>
                  <a:t>IV is </a:t>
                </a:r>
                <a:r>
                  <a:rPr lang="en-US" sz="2400" b="1" dirty="0">
                    <a:solidFill>
                      <a:schemeClr val="accent2">
                        <a:lumMod val="75000"/>
                      </a:schemeClr>
                    </a:solidFill>
                    <a:cs typeface="Times New Roman" panose="02020603050405020304" pitchFamily="18" charset="0"/>
                  </a:rPr>
                  <a:t>uncorrelated</a:t>
                </a:r>
                <a:r>
                  <a:rPr lang="en-US" sz="2400" b="1" dirty="0">
                    <a:cs typeface="Times New Roman" panose="02020603050405020304" pitchFamily="18" charset="0"/>
                  </a:rPr>
                  <a:t> </a:t>
                </a:r>
                <a:r>
                  <a:rPr lang="en-US" sz="2400" dirty="0">
                    <a:cs typeface="Times New Roman" panose="02020603050405020304" pitchFamily="18" charset="0"/>
                  </a:rPr>
                  <a:t>with other confounders</a:t>
                </a:r>
              </a:p>
              <a:p>
                <a:pPr marL="731520" lvl="1" indent="-457200">
                  <a:buFont typeface="+mj-lt"/>
                  <a:buAutoNum type="arabicPeriod"/>
                </a:pPr>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You can think about an IV like a </a:t>
                </a:r>
                <a:r>
                  <a:rPr lang="en-US" sz="2400" b="1" u="sng" dirty="0">
                    <a:cs typeface="Times New Roman" panose="02020603050405020304" pitchFamily="18" charset="0"/>
                  </a:rPr>
                  <a:t>random number generator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468720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Instrumental Variables</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6831997B-4CB6-0FFD-4022-9893EFE5F812}"/>
              </a:ext>
            </a:extLst>
          </p:cNvPr>
          <p:cNvPicPr>
            <a:picLocks noGrp="1" noChangeAspect="1"/>
          </p:cNvPicPr>
          <p:nvPr>
            <p:ph idx="1"/>
          </p:nvPr>
        </p:nvPicPr>
        <p:blipFill>
          <a:blip r:embed="rId3"/>
          <a:stretch>
            <a:fillRect/>
          </a:stretch>
        </p:blipFill>
        <p:spPr>
          <a:xfrm>
            <a:off x="800100" y="1295400"/>
            <a:ext cx="10058400" cy="4488938"/>
          </a:xfrm>
        </p:spPr>
      </p:pic>
    </p:spTree>
    <p:extLst>
      <p:ext uri="{BB962C8B-B14F-4D97-AF65-F5344CB8AC3E}">
        <p14:creationId xmlns:p14="http://schemas.microsoft.com/office/powerpoint/2010/main" val="154228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F8EC42F-425B-CC4D-93AE-8D71AEB61B5C}"/>
              </a:ext>
            </a:extLst>
          </p:cNvPr>
          <p:cNvPicPr>
            <a:picLocks noGrp="1" noChangeAspect="1"/>
          </p:cNvPicPr>
          <p:nvPr>
            <p:ph idx="1"/>
          </p:nvPr>
        </p:nvPicPr>
        <p:blipFill rotWithShape="1">
          <a:blip r:embed="rId3"/>
          <a:srcRect l="1687" t="3955" r="2183"/>
          <a:stretch/>
        </p:blipFill>
        <p:spPr>
          <a:xfrm>
            <a:off x="197224" y="251011"/>
            <a:ext cx="11737700" cy="6364941"/>
          </a:xfrm>
        </p:spPr>
      </p:pic>
    </p:spTree>
    <p:extLst>
      <p:ext uri="{BB962C8B-B14F-4D97-AF65-F5344CB8AC3E}">
        <p14:creationId xmlns:p14="http://schemas.microsoft.com/office/powerpoint/2010/main" val="2458301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F769557-D30B-5A45-9CBF-CE7DAF1230E4}"/>
              </a:ext>
            </a:extLst>
          </p:cNvPr>
          <p:cNvPicPr>
            <a:picLocks noGrp="1" noChangeAspect="1"/>
          </p:cNvPicPr>
          <p:nvPr>
            <p:ph idx="1"/>
          </p:nvPr>
        </p:nvPicPr>
        <p:blipFill>
          <a:blip r:embed="rId3"/>
          <a:stretch>
            <a:fillRect/>
          </a:stretch>
        </p:blipFill>
        <p:spPr>
          <a:xfrm>
            <a:off x="0" y="0"/>
            <a:ext cx="11814289" cy="6418416"/>
          </a:xfrm>
        </p:spPr>
      </p:pic>
    </p:spTree>
    <p:extLst>
      <p:ext uri="{BB962C8B-B14F-4D97-AF65-F5344CB8AC3E}">
        <p14:creationId xmlns:p14="http://schemas.microsoft.com/office/powerpoint/2010/main" val="1999292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Transfusions and Waiting Time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Consider</a:t>
            </a:r>
            <a:r>
              <a:rPr lang="en-US" sz="2400" b="1" dirty="0">
                <a:cs typeface="Times New Roman" panose="02020603050405020304" pitchFamily="18" charset="0"/>
              </a:rPr>
              <a:t> </a:t>
            </a:r>
            <a:r>
              <a:rPr lang="en-US" sz="2400" b="1" u="sng" dirty="0">
                <a:solidFill>
                  <a:schemeClr val="accent2">
                    <a:lumMod val="75000"/>
                  </a:schemeClr>
                </a:solidFill>
                <a:cs typeface="Times New Roman" panose="02020603050405020304" pitchFamily="18" charset="0"/>
              </a:rPr>
              <a:t>blood type</a:t>
            </a:r>
            <a:r>
              <a:rPr lang="en-US" sz="2400" b="1" dirty="0">
                <a:cs typeface="Times New Roman" panose="02020603050405020304" pitchFamily="18" charset="0"/>
              </a:rPr>
              <a:t> </a:t>
            </a:r>
            <a:r>
              <a:rPr lang="en-US" sz="2400" dirty="0">
                <a:cs typeface="Times New Roman" panose="02020603050405020304" pitchFamily="18" charset="0"/>
              </a:rPr>
              <a:t>as a potential IV for waiting time</a:t>
            </a:r>
            <a:endParaRPr lang="en-US" sz="2400" b="1" u="sng" dirty="0">
              <a:cs typeface="Times New Roman" panose="02020603050405020304" pitchFamily="18" charset="0"/>
            </a:endParaRPr>
          </a:p>
        </p:txBody>
      </p:sp>
      <p:pic>
        <p:nvPicPr>
          <p:cNvPr id="5" name="Picture 4">
            <a:extLst>
              <a:ext uri="{FF2B5EF4-FFF2-40B4-BE49-F238E27FC236}">
                <a16:creationId xmlns:a16="http://schemas.microsoft.com/office/drawing/2014/main" id="{67BA3DE8-D5B6-C8E3-3D9E-EF2F345104DF}"/>
              </a:ext>
            </a:extLst>
          </p:cNvPr>
          <p:cNvPicPr>
            <a:picLocks noChangeAspect="1"/>
          </p:cNvPicPr>
          <p:nvPr/>
        </p:nvPicPr>
        <p:blipFill>
          <a:blip r:embed="rId3"/>
          <a:stretch>
            <a:fillRect/>
          </a:stretch>
        </p:blipFill>
        <p:spPr>
          <a:xfrm>
            <a:off x="1334814" y="1489521"/>
            <a:ext cx="9144000" cy="5031087"/>
          </a:xfrm>
          <a:prstGeom prst="rect">
            <a:avLst/>
          </a:prstGeom>
        </p:spPr>
      </p:pic>
    </p:spTree>
    <p:extLst>
      <p:ext uri="{BB962C8B-B14F-4D97-AF65-F5344CB8AC3E}">
        <p14:creationId xmlns:p14="http://schemas.microsoft.com/office/powerpoint/2010/main" val="1603033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4600">
                <a:solidFill>
                  <a:srgbClr val="FFFFFF"/>
                </a:solidFill>
                <a:latin typeface="+mj-lt"/>
              </a:rPr>
              <a:t>Instrumental Variables: Relevance</a:t>
            </a:r>
          </a:p>
        </p:txBody>
      </p:sp>
      <p:sp>
        <p:nvSpPr>
          <p:cNvPr id="18" name="Rectangle 17">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Text&#10;&#10;Description automatically generated">
            <a:extLst>
              <a:ext uri="{FF2B5EF4-FFF2-40B4-BE49-F238E27FC236}">
                <a16:creationId xmlns:a16="http://schemas.microsoft.com/office/drawing/2014/main" id="{ECA2B565-D278-76A8-1438-4DE03E411B42}"/>
              </a:ext>
            </a:extLst>
          </p:cNvPr>
          <p:cNvPicPr>
            <a:picLocks noGrp="1" noChangeAspect="1"/>
          </p:cNvPicPr>
          <p:nvPr>
            <p:ph idx="1"/>
          </p:nvPr>
        </p:nvPicPr>
        <p:blipFill>
          <a:blip r:embed="rId3"/>
          <a:stretch>
            <a:fillRect/>
          </a:stretch>
        </p:blipFill>
        <p:spPr>
          <a:xfrm>
            <a:off x="1097280" y="873624"/>
            <a:ext cx="9594723" cy="3358153"/>
          </a:xfrm>
          <a:prstGeom prst="rect">
            <a:avLst/>
          </a:prstGeom>
        </p:spPr>
      </p:pic>
      <p:sp>
        <p:nvSpPr>
          <p:cNvPr id="20" name="Rectangle 19">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2261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4600" dirty="0">
                <a:solidFill>
                  <a:srgbClr val="FFFFFF"/>
                </a:solidFill>
                <a:latin typeface="+mj-lt"/>
              </a:rPr>
              <a:t>Instrumental Variables: Exclusion</a:t>
            </a:r>
          </a:p>
        </p:txBody>
      </p:sp>
      <p:sp>
        <p:nvSpPr>
          <p:cNvPr id="17" name="Rectangle 16">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8BF81D22-6C80-DF98-9ADF-C02D7D5CB072}"/>
              </a:ext>
            </a:extLst>
          </p:cNvPr>
          <p:cNvPicPr>
            <a:picLocks noGrp="1" noChangeAspect="1"/>
          </p:cNvPicPr>
          <p:nvPr>
            <p:ph idx="1"/>
          </p:nvPr>
        </p:nvPicPr>
        <p:blipFill>
          <a:blip r:embed="rId3"/>
          <a:stretch>
            <a:fillRect/>
          </a:stretch>
        </p:blipFill>
        <p:spPr>
          <a:xfrm>
            <a:off x="533399" y="685800"/>
            <a:ext cx="10592343" cy="3733800"/>
          </a:xfrm>
          <a:prstGeom prst="rect">
            <a:avLst/>
          </a:prstGeom>
        </p:spPr>
      </p:pic>
      <p:sp>
        <p:nvSpPr>
          <p:cNvPr id="19" name="Rectangle 18">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45859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4600" dirty="0">
                <a:solidFill>
                  <a:srgbClr val="FFFFFF"/>
                </a:solidFill>
                <a:latin typeface="+mj-lt"/>
              </a:rPr>
              <a:t>Instrumental Variables: Exogeneity</a:t>
            </a:r>
          </a:p>
        </p:txBody>
      </p:sp>
      <p:sp>
        <p:nvSpPr>
          <p:cNvPr id="17" name="Rectangle 16">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216AF9C5-29CB-1811-BC0D-8F552C9CD031}"/>
              </a:ext>
            </a:extLst>
          </p:cNvPr>
          <p:cNvPicPr>
            <a:picLocks noGrp="1" noChangeAspect="1"/>
          </p:cNvPicPr>
          <p:nvPr>
            <p:ph idx="1"/>
          </p:nvPr>
        </p:nvPicPr>
        <p:blipFill>
          <a:blip r:embed="rId3"/>
          <a:stretch>
            <a:fillRect/>
          </a:stretch>
        </p:blipFill>
        <p:spPr>
          <a:xfrm>
            <a:off x="1097280" y="921599"/>
            <a:ext cx="9594723" cy="3262203"/>
          </a:xfrm>
          <a:prstGeom prst="rect">
            <a:avLst/>
          </a:prstGeom>
        </p:spPr>
      </p:pic>
      <p:sp>
        <p:nvSpPr>
          <p:cNvPr id="19" name="Rectangle 18">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5674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Using IVs in Regression</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5525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IVs to back out treatment effects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With an IV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𝑧</m:t>
                    </m:r>
                  </m:oMath>
                </a14:m>
                <a:r>
                  <a:rPr lang="en-US" sz="2400" dirty="0">
                    <a:cs typeface="Times New Roman" panose="02020603050405020304" pitchFamily="18" charset="0"/>
                  </a:rPr>
                  <a:t>, we can calculate: </a:t>
                </a:r>
              </a:p>
              <a:p>
                <a:pPr lvl="1"/>
                <a:r>
                  <a:rPr lang="en-US" sz="2400" dirty="0">
                    <a:cs typeface="Times New Roman" panose="02020603050405020304" pitchFamily="18" charset="0"/>
                  </a:rPr>
                  <a:t>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𝑧</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effect of </a:t>
                </a:r>
                <a:r>
                  <a:rPr lang="en-US" sz="2400" i="1" dirty="0">
                    <a:cs typeface="Times New Roman" panose="02020603050405020304" pitchFamily="18" charset="0"/>
                  </a:rPr>
                  <a:t>z</a:t>
                </a:r>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 (effect of </a:t>
                </a:r>
                <a:r>
                  <a:rPr lang="en-US" sz="2400" i="1" dirty="0">
                    <a:cs typeface="Times New Roman" panose="02020603050405020304" pitchFamily="18" charset="0"/>
                  </a:rPr>
                  <a:t>x </a:t>
                </a:r>
                <a:r>
                  <a:rPr lang="en-US" sz="2400" dirty="0">
                    <a:cs typeface="Times New Roman" panose="02020603050405020304" pitchFamily="18" charset="0"/>
                  </a:rPr>
                  <a:t>on</a:t>
                </a:r>
                <a:r>
                  <a:rPr lang="en-US" sz="2400" i="1"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endParaRPr lang="en-US" sz="2400" b="0" i="1" dirty="0">
                  <a:cs typeface="Times New Roman" panose="02020603050405020304" pitchFamily="18" charset="0"/>
                </a:endParaRPr>
              </a:p>
              <a:p>
                <a:pPr lvl="1"/>
                <a:r>
                  <a:rPr lang="en-US" sz="2400" dirty="0">
                    <a:cs typeface="Times New Roman" panose="02020603050405020304" pitchFamily="18" charset="0"/>
                  </a:rPr>
                  <a:t>Hence: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effect of </a:t>
                </a:r>
                <a:r>
                  <a:rPr lang="en-US" sz="2400" i="1" dirty="0">
                    <a:cs typeface="Times New Roman" panose="02020603050405020304" pitchFamily="18" charset="0"/>
                  </a:rPr>
                  <a:t>z</a:t>
                </a:r>
                <a:r>
                  <a:rPr lang="en-US" sz="2400" dirty="0">
                    <a:cs typeface="Times New Roman" panose="02020603050405020304" pitchFamily="18" charset="0"/>
                  </a:rPr>
                  <a:t> on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y</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 (effect of </a:t>
                </a:r>
                <a:r>
                  <a:rPr lang="en-US" sz="2400" i="1" dirty="0">
                    <a:cs typeface="Times New Roman" panose="02020603050405020304" pitchFamily="18" charset="0"/>
                  </a:rPr>
                  <a:t>z </a:t>
                </a:r>
                <a:r>
                  <a:rPr lang="en-US" sz="2400" dirty="0">
                    <a:cs typeface="Times New Roman" panose="02020603050405020304" pitchFamily="18" charset="0"/>
                  </a:rPr>
                  <a:t>on</a:t>
                </a:r>
                <a:r>
                  <a:rPr lang="en-US" sz="2400" i="1" dirty="0">
                    <a:cs typeface="Times New Roman" panose="02020603050405020304" pitchFamily="18" charset="0"/>
                  </a:rPr>
                  <a:t> x</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29781001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IVs to back out treatment effects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With an IV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𝑧</m:t>
                    </m:r>
                  </m:oMath>
                </a14:m>
                <a:r>
                  <a:rPr lang="en-US" sz="2400" dirty="0">
                    <a:cs typeface="Times New Roman" panose="02020603050405020304" pitchFamily="18" charset="0"/>
                  </a:rPr>
                  <a:t>, we can calculate: </a:t>
                </a:r>
              </a:p>
              <a:p>
                <a:pPr lvl="1"/>
                <a:r>
                  <a:rPr lang="en-US" sz="2400" dirty="0">
                    <a:cs typeface="Times New Roman" panose="02020603050405020304" pitchFamily="18" charset="0"/>
                  </a:rPr>
                  <a:t>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𝑧</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effect of </a:t>
                </a:r>
                <a:r>
                  <a:rPr lang="en-US" sz="2400" i="1" dirty="0">
                    <a:cs typeface="Times New Roman" panose="02020603050405020304" pitchFamily="18" charset="0"/>
                  </a:rPr>
                  <a:t>z</a:t>
                </a:r>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 (effect of </a:t>
                </a:r>
                <a:r>
                  <a:rPr lang="en-US" sz="2400" i="1" dirty="0">
                    <a:cs typeface="Times New Roman" panose="02020603050405020304" pitchFamily="18" charset="0"/>
                  </a:rPr>
                  <a:t>x </a:t>
                </a:r>
                <a:r>
                  <a:rPr lang="en-US" sz="2400" dirty="0">
                    <a:cs typeface="Times New Roman" panose="02020603050405020304" pitchFamily="18" charset="0"/>
                  </a:rPr>
                  <a:t>on</a:t>
                </a:r>
                <a:r>
                  <a:rPr lang="en-US" sz="2400" i="1"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endParaRPr lang="en-US" sz="2400" b="0" i="1" dirty="0">
                  <a:cs typeface="Times New Roman" panose="02020603050405020304" pitchFamily="18" charset="0"/>
                </a:endParaRPr>
              </a:p>
              <a:p>
                <a:pPr lvl="1"/>
                <a:r>
                  <a:rPr lang="en-US" sz="2400" dirty="0">
                    <a:cs typeface="Times New Roman" panose="02020603050405020304" pitchFamily="18" charset="0"/>
                  </a:rPr>
                  <a:t>Hence: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effect of </a:t>
                </a:r>
                <a:r>
                  <a:rPr lang="en-US" sz="2400" i="1" dirty="0">
                    <a:cs typeface="Times New Roman" panose="02020603050405020304" pitchFamily="18" charset="0"/>
                  </a:rPr>
                  <a:t>z</a:t>
                </a:r>
                <a:r>
                  <a:rPr lang="en-US" sz="2400" dirty="0">
                    <a:cs typeface="Times New Roman" panose="02020603050405020304" pitchFamily="18" charset="0"/>
                  </a:rPr>
                  <a:t> on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y</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 (effect of </a:t>
                </a:r>
                <a:r>
                  <a:rPr lang="en-US" sz="2400" i="1" dirty="0">
                    <a:cs typeface="Times New Roman" panose="02020603050405020304" pitchFamily="18" charset="0"/>
                  </a:rPr>
                  <a:t>z </a:t>
                </a:r>
                <a:r>
                  <a:rPr lang="en-US" sz="2400" dirty="0">
                    <a:cs typeface="Times New Roman" panose="02020603050405020304" pitchFamily="18" charset="0"/>
                  </a:rPr>
                  <a:t>on</a:t>
                </a:r>
                <a:r>
                  <a:rPr lang="en-US" sz="2400" i="1" dirty="0">
                    <a:cs typeface="Times New Roman" panose="02020603050405020304" pitchFamily="18" charset="0"/>
                  </a:rPr>
                  <a:t> x</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endParaRPr lang="en-US" sz="2400" b="0" i="1" dirty="0">
                  <a:cs typeface="Times New Roman" panose="02020603050405020304" pitchFamily="18" charset="0"/>
                </a:endParaRPr>
              </a:p>
              <a:p>
                <a:pPr lvl="1"/>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Since we care about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we generally estimate a regression in </a:t>
                </a:r>
                <a:r>
                  <a:rPr lang="en-US" sz="2400" b="1" dirty="0">
                    <a:cs typeface="Times New Roman" panose="02020603050405020304" pitchFamily="18" charset="0"/>
                  </a:rPr>
                  <a:t>two steps:</a:t>
                </a:r>
                <a:endParaRPr lang="en-US" sz="2400" dirty="0">
                  <a:cs typeface="Times New Roman" panose="02020603050405020304" pitchFamily="18" charset="0"/>
                </a:endParaRP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First stage: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𝑧</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𝛾</m:t>
                    </m:r>
                  </m:oMath>
                </a14:m>
                <a:endParaRPr lang="en-US" sz="2400" dirty="0">
                  <a:cs typeface="Times New Roman" panose="02020603050405020304" pitchFamily="18" charset="0"/>
                </a:endParaRP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Second stage:</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m:t>
                        </m:r>
                      </m:sub>
                    </m:sSub>
                    <m:acc>
                      <m:accPr>
                        <m:chr m:val="̂"/>
                        <m:ctrlPr>
                          <a:rPr lang="en-US" sz="2400" b="0" i="1" smtClean="0">
                            <a:latin typeface="Cambria Math" panose="02040503050406030204" pitchFamily="18" charset="0"/>
                            <a:cs typeface="Times New Roman" panose="02020603050405020304" pitchFamily="18" charset="0"/>
                          </a:rPr>
                        </m:ctrlPr>
                      </m:acc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acc>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𝜀</m:t>
                    </m:r>
                  </m:oMath>
                </a14:m>
                <a:endParaRPr lang="en-US" sz="2400" dirty="0">
                  <a:cs typeface="Times New Roman" panose="02020603050405020304" pitchFamily="18" charset="0"/>
                </a:endParaRPr>
              </a:p>
              <a:p>
                <a:pPr marL="731520" lvl="1" indent="-457200">
                  <a:buFont typeface="+mj-lt"/>
                  <a:buAutoNum type="arabicPeriod"/>
                </a:pPr>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This yields a </a:t>
                </a:r>
                <a:r>
                  <a:rPr lang="en-US" sz="2400" b="1" u="sng" dirty="0">
                    <a:solidFill>
                      <a:schemeClr val="accent2">
                        <a:lumMod val="75000"/>
                      </a:schemeClr>
                    </a:solidFill>
                    <a:cs typeface="Times New Roman" panose="02020603050405020304" pitchFamily="18" charset="0"/>
                  </a:rPr>
                  <a:t>two-stage least squares</a:t>
                </a:r>
                <a:r>
                  <a:rPr lang="en-US" sz="2400" dirty="0">
                    <a:cs typeface="Times New Roman" panose="02020603050405020304" pitchFamily="18" charset="0"/>
                  </a:rPr>
                  <a:t> estimator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𝑧</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m:t>
                            </m:r>
                          </m:e>
                        </m:d>
                      </m:num>
                      <m:den>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𝑧</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e>
                        </m:d>
                      </m:den>
                    </m:f>
                  </m:oMath>
                </a14:m>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5" name="Picture 2" descr="RStudio - RStudio">
            <a:extLst>
              <a:ext uri="{FF2B5EF4-FFF2-40B4-BE49-F238E27FC236}">
                <a16:creationId xmlns:a16="http://schemas.microsoft.com/office/drawing/2014/main" id="{9E5411D3-8926-2BC1-0308-E5E8D5F148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763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AFC4C-94A3-2518-2910-0A80F4A37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724EF-4E8D-FA7A-E7D2-E539F6E5D97F}"/>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IVs to back out treatment effects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EB0B10-5AB0-5247-1F11-84FB87FED1B9}"/>
              </a:ext>
            </a:extLst>
          </p:cNvPr>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3368F39A-E643-2840-5CD7-3F83ACE50E35}"/>
              </a:ext>
            </a:extLst>
          </p:cNvPr>
          <p:cNvPicPr>
            <a:picLocks noChangeAspect="1"/>
          </p:cNvPicPr>
          <p:nvPr/>
        </p:nvPicPr>
        <p:blipFill>
          <a:blip r:embed="rId3"/>
          <a:stretch>
            <a:fillRect/>
          </a:stretch>
        </p:blipFill>
        <p:spPr>
          <a:xfrm>
            <a:off x="304800" y="927692"/>
            <a:ext cx="7687258" cy="5419605"/>
          </a:xfrm>
          <a:prstGeom prst="rect">
            <a:avLst/>
          </a:prstGeom>
        </p:spPr>
      </p:pic>
    </p:spTree>
    <p:extLst>
      <p:ext uri="{BB962C8B-B14F-4D97-AF65-F5344CB8AC3E}">
        <p14:creationId xmlns:p14="http://schemas.microsoft.com/office/powerpoint/2010/main" val="2786247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IV Regression: Illustration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066801"/>
                <a:ext cx="5257801" cy="5141388"/>
              </a:xfrm>
            </p:spPr>
            <p:txBody>
              <a:bodyPr>
                <a:normAutofit/>
              </a:bodyPr>
              <a:lstStyle/>
              <a:p>
                <a:r>
                  <a:rPr lang="en-US" sz="2400" dirty="0">
                    <a:cs typeface="Times New Roman" panose="02020603050405020304" pitchFamily="18" charset="0"/>
                  </a:rPr>
                  <a:t>Suppose we are after: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𝐸𝑎𝑟𝑛𝑖𝑛𝑔</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𝑠</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𝐸𝑑𝑢𝑐𝑎𝑡𝑖𝑜</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oMath>
                  </m:oMathPara>
                </a14:m>
                <a:endParaRPr lang="en-US" sz="2400" b="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Why is this endogenous? </a:t>
                </a: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066801"/>
                <a:ext cx="5257801" cy="5141388"/>
              </a:xfrm>
              <a:blipFill>
                <a:blip r:embed="rId3"/>
                <a:stretch>
                  <a:fillRect l="-1738" t="-130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27CA4C2-23D8-50E8-84E5-856B6C1D82A2}"/>
              </a:ext>
            </a:extLst>
          </p:cNvPr>
          <p:cNvPicPr>
            <a:picLocks noChangeAspect="1"/>
          </p:cNvPicPr>
          <p:nvPr/>
        </p:nvPicPr>
        <p:blipFill rotWithShape="1">
          <a:blip r:embed="rId4"/>
          <a:srcRect r="45833"/>
          <a:stretch/>
        </p:blipFill>
        <p:spPr>
          <a:xfrm>
            <a:off x="5562600" y="304800"/>
            <a:ext cx="2971800" cy="6301946"/>
          </a:xfrm>
          <a:prstGeom prst="rect">
            <a:avLst/>
          </a:prstGeom>
        </p:spPr>
      </p:pic>
    </p:spTree>
    <p:extLst>
      <p:ext uri="{BB962C8B-B14F-4D97-AF65-F5344CB8AC3E}">
        <p14:creationId xmlns:p14="http://schemas.microsoft.com/office/powerpoint/2010/main" val="38345800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IV Regression: Illustration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066801"/>
                <a:ext cx="5257801" cy="5141388"/>
              </a:xfrm>
            </p:spPr>
            <p:txBody>
              <a:bodyPr>
                <a:normAutofit/>
              </a:bodyPr>
              <a:lstStyle/>
              <a:p>
                <a:r>
                  <a:rPr lang="en-US" sz="2400" dirty="0">
                    <a:cs typeface="Times New Roman" panose="02020603050405020304" pitchFamily="18" charset="0"/>
                  </a:rPr>
                  <a:t>Suppose we are after: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𝐸𝑎𝑟𝑛𝑖𝑛𝑔</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𝑠</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𝐸𝑑𝑢𝑐𝑎𝑡𝑖𝑜</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oMath>
                  </m:oMathPara>
                </a14:m>
                <a:endParaRPr lang="en-US" sz="2400" b="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Why is this endogenous? </a:t>
                </a:r>
              </a:p>
              <a:p>
                <a:r>
                  <a:rPr lang="en-US" sz="2400" dirty="0">
                    <a:cs typeface="Times New Roman" panose="02020603050405020304" pitchFamily="18" charset="0"/>
                  </a:rPr>
                  <a:t>Suppose we had good data on ability</a:t>
                </a:r>
              </a:p>
              <a:p>
                <a:r>
                  <a:rPr lang="en-US" sz="2400" dirty="0">
                    <a:cs typeface="Times New Roman" panose="02020603050405020304" pitchFamily="18" charset="0"/>
                  </a:rPr>
                  <a:t>Is this enough?</a:t>
                </a: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066801"/>
                <a:ext cx="5257801" cy="5141388"/>
              </a:xfrm>
              <a:blipFill>
                <a:blip r:embed="rId3"/>
                <a:stretch>
                  <a:fillRect l="-1738" t="-130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6A55D7D-8ADC-E35E-5B02-C5C7E5B7C431}"/>
              </a:ext>
            </a:extLst>
          </p:cNvPr>
          <p:cNvPicPr>
            <a:picLocks noChangeAspect="1"/>
          </p:cNvPicPr>
          <p:nvPr/>
        </p:nvPicPr>
        <p:blipFill rotWithShape="1">
          <a:blip r:embed="rId4"/>
          <a:srcRect r="20832"/>
          <a:stretch/>
        </p:blipFill>
        <p:spPr>
          <a:xfrm>
            <a:off x="5562600" y="304800"/>
            <a:ext cx="4343400" cy="6301946"/>
          </a:xfrm>
          <a:prstGeom prst="rect">
            <a:avLst/>
          </a:prstGeom>
        </p:spPr>
      </p:pic>
    </p:spTree>
    <p:extLst>
      <p:ext uri="{BB962C8B-B14F-4D97-AF65-F5344CB8AC3E}">
        <p14:creationId xmlns:p14="http://schemas.microsoft.com/office/powerpoint/2010/main" val="836296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IV Regression: Illustration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066801"/>
                <a:ext cx="5257801" cy="5141388"/>
              </a:xfrm>
            </p:spPr>
            <p:txBody>
              <a:bodyPr>
                <a:normAutofit/>
              </a:bodyPr>
              <a:lstStyle/>
              <a:p>
                <a:r>
                  <a:rPr lang="en-US" sz="2400" dirty="0">
                    <a:cs typeface="Times New Roman" panose="02020603050405020304" pitchFamily="18" charset="0"/>
                  </a:rPr>
                  <a:t>Suppose we are after: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𝐸𝑎𝑟𝑛𝑖𝑛𝑔</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𝑠</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𝐸𝑑𝑢𝑐𝑎𝑡𝑖𝑜</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oMath>
                  </m:oMathPara>
                </a14:m>
                <a:endParaRPr lang="en-US" sz="2400" b="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Why is this endogenous? </a:t>
                </a:r>
              </a:p>
              <a:p>
                <a:r>
                  <a:rPr lang="en-US" sz="2400" dirty="0">
                    <a:cs typeface="Times New Roman" panose="02020603050405020304" pitchFamily="18" charset="0"/>
                  </a:rPr>
                  <a:t>Suppose we had good data on ability</a:t>
                </a:r>
              </a:p>
              <a:p>
                <a:r>
                  <a:rPr lang="en-US" sz="2400" dirty="0">
                    <a:cs typeface="Times New Roman" panose="02020603050405020304" pitchFamily="18" charset="0"/>
                  </a:rPr>
                  <a:t>Is this enough?</a:t>
                </a:r>
              </a:p>
              <a:p>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The IV approach mimics this adjustment using only exogenous variation!</a:t>
                </a: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066801"/>
                <a:ext cx="5257801" cy="5141388"/>
              </a:xfrm>
              <a:blipFill>
                <a:blip r:embed="rId3"/>
                <a:stretch>
                  <a:fillRect l="-1738" t="-1305" r="-185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27CA4C2-23D8-50E8-84E5-856B6C1D82A2}"/>
              </a:ext>
            </a:extLst>
          </p:cNvPr>
          <p:cNvPicPr>
            <a:picLocks noChangeAspect="1"/>
          </p:cNvPicPr>
          <p:nvPr/>
        </p:nvPicPr>
        <p:blipFill rotWithShape="1">
          <a:blip r:embed="rId4"/>
          <a:srcRect l="1" r="-2"/>
          <a:stretch/>
        </p:blipFill>
        <p:spPr>
          <a:xfrm>
            <a:off x="5562600" y="304800"/>
            <a:ext cx="5486400" cy="6301946"/>
          </a:xfrm>
          <a:prstGeom prst="rect">
            <a:avLst/>
          </a:prstGeom>
        </p:spPr>
      </p:pic>
    </p:spTree>
    <p:extLst>
      <p:ext uri="{BB962C8B-B14F-4D97-AF65-F5344CB8AC3E}">
        <p14:creationId xmlns:p14="http://schemas.microsoft.com/office/powerpoint/2010/main" val="3847605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9" name="Picture 9" descr="Chart, scatter chart&#10;&#10;Description automatically generated">
            <a:extLst>
              <a:ext uri="{FF2B5EF4-FFF2-40B4-BE49-F238E27FC236}">
                <a16:creationId xmlns:a16="http://schemas.microsoft.com/office/drawing/2014/main" id="{19907D2C-EA58-3373-6117-3CE88EB8B1C8}"/>
              </a:ext>
            </a:extLst>
          </p:cNvPr>
          <p:cNvPicPr>
            <a:picLocks noGrp="1" noChangeAspect="1"/>
          </p:cNvPicPr>
          <p:nvPr>
            <p:ph idx="1"/>
          </p:nvPr>
        </p:nvPicPr>
        <p:blipFill>
          <a:blip r:embed="rId3"/>
          <a:stretch>
            <a:fillRect/>
          </a:stretch>
        </p:blipFill>
        <p:spPr>
          <a:xfrm>
            <a:off x="1655292" y="930729"/>
            <a:ext cx="7010235" cy="5820908"/>
          </a:xfrm>
        </p:spPr>
      </p:pic>
    </p:spTree>
    <p:extLst>
      <p:ext uri="{BB962C8B-B14F-4D97-AF65-F5344CB8AC3E}">
        <p14:creationId xmlns:p14="http://schemas.microsoft.com/office/powerpoint/2010/main" val="29471920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9" name="Picture 9" descr="Chart, scatter chart&#10;&#10;Description automatically generated">
            <a:extLst>
              <a:ext uri="{FF2B5EF4-FFF2-40B4-BE49-F238E27FC236}">
                <a16:creationId xmlns:a16="http://schemas.microsoft.com/office/drawing/2014/main" id="{19907D2C-EA58-3373-6117-3CE88EB8B1C8}"/>
              </a:ext>
            </a:extLst>
          </p:cNvPr>
          <p:cNvPicPr>
            <a:picLocks noGrp="1" noChangeAspect="1"/>
          </p:cNvPicPr>
          <p:nvPr>
            <p:ph idx="1"/>
          </p:nvPr>
        </p:nvPicPr>
        <p:blipFill>
          <a:blip r:embed="rId3"/>
          <a:stretch>
            <a:fillRect/>
          </a:stretch>
        </p:blipFill>
        <p:spPr>
          <a:xfrm>
            <a:off x="1655292" y="930729"/>
            <a:ext cx="7010235" cy="5820908"/>
          </a:xfrm>
        </p:spPr>
      </p:pic>
      <p:pic>
        <p:nvPicPr>
          <p:cNvPr id="3" name="Picture 3" descr="Diagram&#10;&#10;Description automatically generated">
            <a:extLst>
              <a:ext uri="{FF2B5EF4-FFF2-40B4-BE49-F238E27FC236}">
                <a16:creationId xmlns:a16="http://schemas.microsoft.com/office/drawing/2014/main" id="{23C4B6DB-8621-E71D-BD03-DD5FF60DE646}"/>
              </a:ext>
            </a:extLst>
          </p:cNvPr>
          <p:cNvPicPr>
            <a:picLocks noChangeAspect="1"/>
          </p:cNvPicPr>
          <p:nvPr/>
        </p:nvPicPr>
        <p:blipFill>
          <a:blip r:embed="rId4"/>
          <a:stretch>
            <a:fillRect/>
          </a:stretch>
        </p:blipFill>
        <p:spPr>
          <a:xfrm>
            <a:off x="2356758" y="932936"/>
            <a:ext cx="6516913" cy="5881128"/>
          </a:xfrm>
          <a:prstGeom prst="rect">
            <a:avLst/>
          </a:prstGeom>
        </p:spPr>
      </p:pic>
    </p:spTree>
    <p:extLst>
      <p:ext uri="{BB962C8B-B14F-4D97-AF65-F5344CB8AC3E}">
        <p14:creationId xmlns:p14="http://schemas.microsoft.com/office/powerpoint/2010/main" val="29940636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6" name="Picture 6" descr="Diagram&#10;&#10;Description automatically generated">
            <a:extLst>
              <a:ext uri="{FF2B5EF4-FFF2-40B4-BE49-F238E27FC236}">
                <a16:creationId xmlns:a16="http://schemas.microsoft.com/office/drawing/2014/main" id="{C4F7DE7F-0E32-5375-ADA7-9CB49BD9463E}"/>
              </a:ext>
            </a:extLst>
          </p:cNvPr>
          <p:cNvPicPr>
            <a:picLocks noGrp="1" noChangeAspect="1"/>
          </p:cNvPicPr>
          <p:nvPr>
            <p:ph idx="1"/>
          </p:nvPr>
        </p:nvPicPr>
        <p:blipFill>
          <a:blip r:embed="rId3"/>
          <a:stretch>
            <a:fillRect/>
          </a:stretch>
        </p:blipFill>
        <p:spPr>
          <a:xfrm>
            <a:off x="1885043" y="1132756"/>
            <a:ext cx="6743699" cy="5544987"/>
          </a:xfrm>
        </p:spPr>
      </p:pic>
    </p:spTree>
    <p:extLst>
      <p:ext uri="{BB962C8B-B14F-4D97-AF65-F5344CB8AC3E}">
        <p14:creationId xmlns:p14="http://schemas.microsoft.com/office/powerpoint/2010/main" val="1394731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5" name="Picture 6">
            <a:extLst>
              <a:ext uri="{FF2B5EF4-FFF2-40B4-BE49-F238E27FC236}">
                <a16:creationId xmlns:a16="http://schemas.microsoft.com/office/drawing/2014/main" id="{51872296-12AC-0921-0ADE-451E37E4826A}"/>
              </a:ext>
            </a:extLst>
          </p:cNvPr>
          <p:cNvPicPr>
            <a:picLocks noGrp="1" noChangeAspect="1"/>
          </p:cNvPicPr>
          <p:nvPr>
            <p:ph idx="1"/>
          </p:nvPr>
        </p:nvPicPr>
        <p:blipFill>
          <a:blip r:embed="rId3"/>
          <a:stretch>
            <a:fillRect/>
          </a:stretch>
        </p:blipFill>
        <p:spPr>
          <a:xfrm>
            <a:off x="2041995" y="912586"/>
            <a:ext cx="7080471" cy="5721122"/>
          </a:xfrm>
        </p:spPr>
      </p:pic>
    </p:spTree>
    <p:extLst>
      <p:ext uri="{BB962C8B-B14F-4D97-AF65-F5344CB8AC3E}">
        <p14:creationId xmlns:p14="http://schemas.microsoft.com/office/powerpoint/2010/main" val="8016966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6" name="Picture 6" descr="Diagram&#10;&#10;Description automatically generated">
            <a:extLst>
              <a:ext uri="{FF2B5EF4-FFF2-40B4-BE49-F238E27FC236}">
                <a16:creationId xmlns:a16="http://schemas.microsoft.com/office/drawing/2014/main" id="{BEEB075E-AEE4-C314-A73C-8F1290D98014}"/>
              </a:ext>
            </a:extLst>
          </p:cNvPr>
          <p:cNvPicPr>
            <a:picLocks noGrp="1" noChangeAspect="1"/>
          </p:cNvPicPr>
          <p:nvPr>
            <p:ph idx="1"/>
          </p:nvPr>
        </p:nvPicPr>
        <p:blipFill>
          <a:blip r:embed="rId3"/>
          <a:stretch>
            <a:fillRect/>
          </a:stretch>
        </p:blipFill>
        <p:spPr>
          <a:xfrm>
            <a:off x="2176861" y="967014"/>
            <a:ext cx="6556739" cy="5902551"/>
          </a:xfrm>
        </p:spPr>
      </p:pic>
    </p:spTree>
    <p:extLst>
      <p:ext uri="{BB962C8B-B14F-4D97-AF65-F5344CB8AC3E}">
        <p14:creationId xmlns:p14="http://schemas.microsoft.com/office/powerpoint/2010/main" val="831136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5" name="Picture 6">
            <a:extLst>
              <a:ext uri="{FF2B5EF4-FFF2-40B4-BE49-F238E27FC236}">
                <a16:creationId xmlns:a16="http://schemas.microsoft.com/office/drawing/2014/main" id="{F294CA7B-F6BA-3B06-03B9-34BD40286271}"/>
              </a:ext>
            </a:extLst>
          </p:cNvPr>
          <p:cNvPicPr>
            <a:picLocks noGrp="1" noChangeAspect="1"/>
          </p:cNvPicPr>
          <p:nvPr>
            <p:ph idx="1"/>
          </p:nvPr>
        </p:nvPicPr>
        <p:blipFill>
          <a:blip r:embed="rId3"/>
          <a:stretch>
            <a:fillRect/>
          </a:stretch>
        </p:blipFill>
        <p:spPr>
          <a:xfrm>
            <a:off x="1883283" y="912586"/>
            <a:ext cx="6862681" cy="5766479"/>
          </a:xfrm>
        </p:spPr>
      </p:pic>
    </p:spTree>
    <p:extLst>
      <p:ext uri="{BB962C8B-B14F-4D97-AF65-F5344CB8AC3E}">
        <p14:creationId xmlns:p14="http://schemas.microsoft.com/office/powerpoint/2010/main" val="3259412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EE4FC-04C5-1655-89D6-0DF59D1D6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5426D0-F851-3D84-B38E-926E7D42A83A}"/>
              </a:ext>
            </a:extLst>
          </p:cNvPr>
          <p:cNvSpPr>
            <a:spLocks noGrp="1"/>
          </p:cNvSpPr>
          <p:nvPr>
            <p:ph type="ctrTitle"/>
          </p:nvPr>
        </p:nvSpPr>
        <p:spPr>
          <a:xfrm>
            <a:off x="1261872" y="758952"/>
            <a:ext cx="10549128" cy="4041648"/>
          </a:xfrm>
        </p:spPr>
        <p:txBody>
          <a:bodyPr/>
          <a:lstStyle/>
          <a:p>
            <a:r>
              <a:rPr lang="en-US" dirty="0"/>
              <a:t>Case study (again)</a:t>
            </a:r>
          </a:p>
        </p:txBody>
      </p:sp>
      <p:sp>
        <p:nvSpPr>
          <p:cNvPr id="3" name="Subtitle 2">
            <a:extLst>
              <a:ext uri="{FF2B5EF4-FFF2-40B4-BE49-F238E27FC236}">
                <a16:creationId xmlns:a16="http://schemas.microsoft.com/office/drawing/2014/main" id="{15F5FD2E-E21C-0142-2169-03DE5199B85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004806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Instrumental Variable in our Example(s)</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4BD2813-8370-AAC8-BAEE-4049DD9B2D28}"/>
              </a:ext>
            </a:extLst>
          </p:cNvPr>
          <p:cNvSpPr>
            <a:spLocks noGrp="1"/>
          </p:cNvSpPr>
          <p:nvPr>
            <p:ph idx="1"/>
          </p:nvPr>
        </p:nvSpPr>
        <p:spPr>
          <a:xfrm>
            <a:off x="609600" y="962232"/>
            <a:ext cx="4648200" cy="5217905"/>
          </a:xfrm>
        </p:spPr>
        <p:txBody>
          <a:bodyPr>
            <a:normAutofit/>
          </a:bodyPr>
          <a:lstStyle/>
          <a:p>
            <a:r>
              <a:rPr lang="en-US" sz="2200" dirty="0"/>
              <a:t>What did the authors of our case study use as their IV? </a:t>
            </a:r>
          </a:p>
          <a:p>
            <a:r>
              <a:rPr lang="en-US" sz="2200" dirty="0"/>
              <a:t>What’s the intuition? What variation is this picking up? </a:t>
            </a:r>
          </a:p>
          <a:p>
            <a:r>
              <a:rPr lang="en-US" sz="2200" dirty="0"/>
              <a:t>How does it “stack up” for you against the assumptions? </a:t>
            </a:r>
          </a:p>
          <a:p>
            <a:r>
              <a:rPr lang="en-US" sz="2200" dirty="0"/>
              <a:t>How would you evaluate this paper? </a:t>
            </a:r>
          </a:p>
        </p:txBody>
      </p:sp>
      <p:pic>
        <p:nvPicPr>
          <p:cNvPr id="5" name="Picture 4">
            <a:extLst>
              <a:ext uri="{FF2B5EF4-FFF2-40B4-BE49-F238E27FC236}">
                <a16:creationId xmlns:a16="http://schemas.microsoft.com/office/drawing/2014/main" id="{964ED10E-D090-AD7D-ED23-886796490A17}"/>
              </a:ext>
            </a:extLst>
          </p:cNvPr>
          <p:cNvPicPr>
            <a:picLocks noChangeAspect="1"/>
          </p:cNvPicPr>
          <p:nvPr/>
        </p:nvPicPr>
        <p:blipFill>
          <a:blip r:embed="rId3"/>
          <a:stretch>
            <a:fillRect/>
          </a:stretch>
        </p:blipFill>
        <p:spPr>
          <a:xfrm>
            <a:off x="5828056" y="962232"/>
            <a:ext cx="5220944" cy="5717747"/>
          </a:xfrm>
          <a:prstGeom prst="rect">
            <a:avLst/>
          </a:prstGeom>
        </p:spPr>
      </p:pic>
    </p:spTree>
    <p:extLst>
      <p:ext uri="{BB962C8B-B14F-4D97-AF65-F5344CB8AC3E}">
        <p14:creationId xmlns:p14="http://schemas.microsoft.com/office/powerpoint/2010/main" val="16201927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Other Popular IVs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289629" cy="5141388"/>
          </a:xfrm>
        </p:spPr>
        <p:txBody>
          <a:bodyPr>
            <a:normAutofit/>
          </a:bodyPr>
          <a:lstStyle/>
          <a:p>
            <a:r>
              <a:rPr lang="en-US" sz="2200" dirty="0">
                <a:cs typeface="Times New Roman" panose="02020603050405020304" pitchFamily="18" charset="0"/>
              </a:rPr>
              <a:t>Other popular IVs in the health literature (not exhaustive):</a:t>
            </a:r>
          </a:p>
          <a:p>
            <a:pPr lvl="1"/>
            <a:r>
              <a:rPr lang="en-US" sz="2200" b="1" dirty="0">
                <a:cs typeface="Times New Roman" panose="02020603050405020304" pitchFamily="18" charset="0"/>
              </a:rPr>
              <a:t>Distance</a:t>
            </a:r>
            <a:r>
              <a:rPr lang="en-US" sz="2200" dirty="0">
                <a:cs typeface="Times New Roman" panose="02020603050405020304" pitchFamily="18" charset="0"/>
              </a:rPr>
              <a:t> (or differential distance) to hospital to account for patient-physician matching (Lee &amp; Basu, 2025) – </a:t>
            </a:r>
            <a:r>
              <a:rPr lang="en-US" sz="2200" i="1" dirty="0">
                <a:cs typeface="Times New Roman" panose="02020603050405020304" pitchFamily="18" charset="0"/>
              </a:rPr>
              <a:t>we’ll cover this next time!</a:t>
            </a:r>
          </a:p>
          <a:p>
            <a:pPr lvl="1"/>
            <a:r>
              <a:rPr lang="en-US" sz="2200" dirty="0">
                <a:cs typeface="Times New Roman" panose="02020603050405020304" pitchFamily="18" charset="0"/>
              </a:rPr>
              <a:t>Quasi-random assignment to some providers (</a:t>
            </a:r>
            <a:r>
              <a:rPr lang="en-US" sz="2200" b="1" dirty="0">
                <a:cs typeface="Times New Roman" panose="02020603050405020304" pitchFamily="18" charset="0"/>
              </a:rPr>
              <a:t>ambulances</a:t>
            </a:r>
            <a:r>
              <a:rPr lang="en-US" sz="2200" dirty="0">
                <a:cs typeface="Times New Roman" panose="02020603050405020304" pitchFamily="18" charset="0"/>
              </a:rPr>
              <a:t>, ED docs, etc.; Doyle et al., 2015)</a:t>
            </a:r>
          </a:p>
          <a:p>
            <a:pPr lvl="1"/>
            <a:r>
              <a:rPr lang="en-US" sz="2200" dirty="0">
                <a:cs typeface="Times New Roman" panose="02020603050405020304" pitchFamily="18" charset="0"/>
              </a:rPr>
              <a:t>Differences in provider/physician preferences in treatment choices (sometimes called a “judge fixed effects” or </a:t>
            </a:r>
            <a:r>
              <a:rPr lang="en-US" sz="2200" b="1" dirty="0">
                <a:cs typeface="Times New Roman" panose="02020603050405020304" pitchFamily="18" charset="0"/>
              </a:rPr>
              <a:t>leniency</a:t>
            </a:r>
            <a:r>
              <a:rPr lang="en-US" sz="2200" dirty="0">
                <a:cs typeface="Times New Roman" panose="02020603050405020304" pitchFamily="18" charset="0"/>
              </a:rPr>
              <a:t> design)</a:t>
            </a:r>
          </a:p>
          <a:p>
            <a:pPr lvl="1"/>
            <a:r>
              <a:rPr lang="en-US" sz="2200" b="1" dirty="0">
                <a:cs typeface="Times New Roman" panose="02020603050405020304" pitchFamily="18" charset="0"/>
              </a:rPr>
              <a:t>Other policy changes </a:t>
            </a:r>
            <a:r>
              <a:rPr lang="en-US" sz="2200" dirty="0">
                <a:cs typeface="Times New Roman" panose="02020603050405020304" pitchFamily="18" charset="0"/>
              </a:rPr>
              <a:t>(e.g., to OOP cost-sharing and negotiated insurer-provider prices; Dunn 2015; pharma SOP expansion as an IV for physician visits)</a:t>
            </a:r>
          </a:p>
          <a:p>
            <a:pPr lvl="1"/>
            <a:r>
              <a:rPr lang="en-US" sz="2200" dirty="0">
                <a:cs typeface="Times New Roman" panose="02020603050405020304" pitchFamily="18" charset="0"/>
              </a:rPr>
              <a:t>Genetic variants/Mendelian Randomization (Dixon et al, 2020; covered in </a:t>
            </a:r>
            <a:r>
              <a:rPr lang="en-US" sz="2200" b="1" dirty="0">
                <a:cs typeface="Times New Roman" panose="02020603050405020304" pitchFamily="18" charset="0"/>
              </a:rPr>
              <a:t>biostats</a:t>
            </a:r>
            <a:r>
              <a:rPr lang="en-US" sz="2200" dirty="0">
                <a:cs typeface="Times New Roman" panose="02020603050405020304" pitchFamily="18" charset="0"/>
              </a:rPr>
              <a:t>!)</a:t>
            </a: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4DD4ED74-2D2F-C7FB-8E6F-059A75669776}"/>
              </a:ext>
            </a:extLst>
          </p:cNvPr>
          <p:cNvPicPr>
            <a:picLocks noChangeAspect="1"/>
          </p:cNvPicPr>
          <p:nvPr/>
        </p:nvPicPr>
        <p:blipFill>
          <a:blip r:embed="rId3"/>
          <a:stretch>
            <a:fillRect/>
          </a:stretch>
        </p:blipFill>
        <p:spPr>
          <a:xfrm>
            <a:off x="7446269" y="4953000"/>
            <a:ext cx="3610076" cy="1905000"/>
          </a:xfrm>
          <a:prstGeom prst="rect">
            <a:avLst/>
          </a:prstGeom>
        </p:spPr>
      </p:pic>
    </p:spTree>
    <p:extLst>
      <p:ext uri="{BB962C8B-B14F-4D97-AF65-F5344CB8AC3E}">
        <p14:creationId xmlns:p14="http://schemas.microsoft.com/office/powerpoint/2010/main" val="4614285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914400" y="1119952"/>
            <a:ext cx="9984829" cy="5357048"/>
          </a:xfrm>
        </p:spPr>
        <p:txBody>
          <a:bodyPr vert="horz" lIns="91440" tIns="45720" rIns="91440" bIns="45720" rtlCol="0" anchor="t">
            <a:normAutofit/>
          </a:bodyPr>
          <a:lstStyle/>
          <a:p>
            <a:r>
              <a:rPr lang="en-US" sz="2400" dirty="0">
                <a:latin typeface="Times New Roman"/>
                <a:cs typeface="Times New Roman"/>
                <a:hlinkClick r:id="rId3"/>
              </a:rPr>
              <a:t>The Effect of Evictions on Opioid Mortality</a:t>
            </a:r>
            <a:r>
              <a:rPr lang="en-US" sz="2400" dirty="0">
                <a:latin typeface="Times New Roman"/>
                <a:cs typeface="Times New Roman"/>
              </a:rPr>
              <a:t> (Bradford and Bradford, </a:t>
            </a:r>
            <a:r>
              <a:rPr lang="en-US" sz="2400" i="1" dirty="0">
                <a:latin typeface="Times New Roman"/>
                <a:cs typeface="Times New Roman"/>
              </a:rPr>
              <a:t>Health Services Research </a:t>
            </a:r>
            <a:r>
              <a:rPr lang="en-US" sz="2400" dirty="0">
                <a:latin typeface="Times New Roman"/>
                <a:cs typeface="Times New Roman"/>
              </a:rPr>
              <a:t>2020)</a:t>
            </a:r>
          </a:p>
          <a:p>
            <a:pPr marL="0" indent="0">
              <a:buNone/>
            </a:pPr>
            <a:r>
              <a:rPr lang="en-US" sz="2400" dirty="0">
                <a:latin typeface="Times New Roman"/>
                <a:cs typeface="Times New Roman"/>
              </a:rPr>
              <a:t>Other popular (and more generalizable) IV approaches: </a:t>
            </a:r>
          </a:p>
          <a:p>
            <a:pPr marL="457200" indent="-457200">
              <a:buAutoNum type="arabicPeriod"/>
            </a:pPr>
            <a:r>
              <a:rPr lang="en-US" sz="2400" b="1" dirty="0">
                <a:solidFill>
                  <a:schemeClr val="accent2">
                    <a:lumMod val="75000"/>
                  </a:schemeClr>
                </a:solidFill>
                <a:latin typeface="Times New Roman"/>
                <a:cs typeface="Times New Roman"/>
              </a:rPr>
              <a:t>Lotteries</a:t>
            </a:r>
            <a:r>
              <a:rPr lang="en-US" sz="2400" dirty="0">
                <a:latin typeface="Times New Roman"/>
                <a:cs typeface="Times New Roman"/>
              </a:rPr>
              <a:t>: experiment with </a:t>
            </a:r>
            <a:r>
              <a:rPr lang="en-US" sz="2400" b="1" dirty="0">
                <a:solidFill>
                  <a:schemeClr val="accent2">
                    <a:lumMod val="75000"/>
                  </a:schemeClr>
                </a:solidFill>
                <a:latin typeface="Times New Roman"/>
                <a:cs typeface="Times New Roman"/>
              </a:rPr>
              <a:t>voluntary participation</a:t>
            </a:r>
            <a:endParaRPr lang="en-US" sz="2400" dirty="0">
              <a:solidFill>
                <a:schemeClr val="accent2">
                  <a:lumMod val="75000"/>
                </a:schemeClr>
              </a:solidFill>
              <a:cs typeface="Times New Roman"/>
            </a:endParaRPr>
          </a:p>
          <a:p>
            <a:pPr lvl="1"/>
            <a:r>
              <a:rPr lang="en-US" sz="2400" b="1" dirty="0">
                <a:solidFill>
                  <a:schemeClr val="tx1"/>
                </a:solidFill>
                <a:latin typeface="Times New Roman"/>
                <a:cs typeface="Times New Roman"/>
              </a:rPr>
              <a:t>Oregon Medicaid Experiment: </a:t>
            </a:r>
            <a:r>
              <a:rPr lang="en-US" sz="2400" dirty="0">
                <a:latin typeface="Times New Roman"/>
                <a:cs typeface="Times New Roman"/>
              </a:rPr>
              <a:t>Finkelstein, Amy, Sarah Taubman, Bill Wright, Mira Bernstein, Jonathan Gruber, Joseph P. Newhouse, Heidi Allen, and Katherine Baicker. 2012. “</a:t>
            </a:r>
            <a:r>
              <a:rPr lang="en-US" sz="2400" dirty="0">
                <a:latin typeface="Times New Roman"/>
                <a:cs typeface="Times New Roman"/>
                <a:hlinkClick r:id="rId4"/>
              </a:rPr>
              <a:t>The Oregon Health Insurance Experiment: Evidence from the First Year.</a:t>
            </a:r>
            <a:r>
              <a:rPr lang="en-US" sz="2400" dirty="0">
                <a:latin typeface="Times New Roman"/>
                <a:cs typeface="Times New Roman"/>
              </a:rPr>
              <a:t>” </a:t>
            </a:r>
            <a:r>
              <a:rPr lang="en-US" sz="2400" i="1" dirty="0">
                <a:latin typeface="Times New Roman"/>
                <a:cs typeface="Times New Roman"/>
              </a:rPr>
              <a:t>Quarterly Journal of Economics</a:t>
            </a:r>
            <a:r>
              <a:rPr lang="en-US" sz="2400" dirty="0">
                <a:latin typeface="Times New Roman"/>
                <a:cs typeface="Times New Roman"/>
              </a:rPr>
              <a:t> 127 (3): 1057–1106.</a:t>
            </a:r>
            <a:endParaRPr lang="en-US" sz="2400" dirty="0">
              <a:solidFill>
                <a:schemeClr val="tx1"/>
              </a:solidFill>
              <a:cs typeface="Times New Roman"/>
            </a:endParaRPr>
          </a:p>
          <a:p>
            <a:pPr lvl="1"/>
            <a:r>
              <a:rPr lang="en-US" sz="2400" dirty="0">
                <a:latin typeface="Times New Roman"/>
                <a:cs typeface="Times New Roman"/>
              </a:rPr>
              <a:t>Baicker, Katherine, Sarah L. Taubman, Heidi L. Allen, Mira Bernstein, Jonathan Gruber, Joseph Newhouse, Eric Schneider, Bill Wright, </a:t>
            </a:r>
            <a:r>
              <a:rPr lang="en-US" sz="2400" dirty="0" err="1">
                <a:latin typeface="Times New Roman"/>
                <a:cs typeface="Times New Roman"/>
              </a:rPr>
              <a:t>Alam</a:t>
            </a:r>
            <a:r>
              <a:rPr lang="en-US" sz="2400" dirty="0">
                <a:latin typeface="Times New Roman"/>
                <a:cs typeface="Times New Roman"/>
              </a:rPr>
              <a:t> Zaslavsky, and Amy Finkelstein. 2013. “</a:t>
            </a:r>
            <a:r>
              <a:rPr lang="en-US" sz="2400" dirty="0">
                <a:latin typeface="Times New Roman"/>
                <a:cs typeface="Times New Roman"/>
                <a:hlinkClick r:id="rId5"/>
              </a:rPr>
              <a:t>The Oregon Experiment – Effects of Medicaid on Clinical Outcomes</a:t>
            </a:r>
            <a:r>
              <a:rPr lang="en-US" sz="2400" dirty="0">
                <a:latin typeface="Times New Roman"/>
                <a:cs typeface="Times New Roman"/>
              </a:rPr>
              <a:t>.” </a:t>
            </a:r>
            <a:r>
              <a:rPr lang="en-US" sz="2400" i="1" dirty="0">
                <a:latin typeface="Times New Roman"/>
                <a:cs typeface="Times New Roman"/>
              </a:rPr>
              <a:t>New England Journal of Medicine</a:t>
            </a:r>
            <a:r>
              <a:rPr lang="en-US" sz="2400" dirty="0">
                <a:latin typeface="Times New Roman"/>
                <a:cs typeface="Times New Roman"/>
              </a:rPr>
              <a:t> 368 (May): 1713–22.</a:t>
            </a:r>
            <a:endParaRPr lang="en-US" sz="2400" dirty="0">
              <a:solidFill>
                <a:srgbClr val="262626"/>
              </a:solidFill>
              <a:latin typeface="Times New Roman"/>
              <a:cs typeface="Times New Roman"/>
            </a:endParaRPr>
          </a:p>
        </p:txBody>
      </p:sp>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Other Example Papers and Instruments</a:t>
            </a:r>
          </a:p>
        </p:txBody>
      </p:sp>
    </p:spTree>
    <p:extLst>
      <p:ext uri="{BB962C8B-B14F-4D97-AF65-F5344CB8AC3E}">
        <p14:creationId xmlns:p14="http://schemas.microsoft.com/office/powerpoint/2010/main" val="18312130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914400" y="1119952"/>
            <a:ext cx="9984829" cy="5357048"/>
          </a:xfrm>
        </p:spPr>
        <p:txBody>
          <a:bodyPr vert="horz" lIns="91440" tIns="45720" rIns="91440" bIns="45720" rtlCol="0" anchor="t">
            <a:normAutofit/>
          </a:bodyPr>
          <a:lstStyle/>
          <a:p>
            <a:r>
              <a:rPr lang="en-US" sz="2400" dirty="0">
                <a:latin typeface="Times New Roman"/>
                <a:cs typeface="Times New Roman"/>
                <a:hlinkClick r:id="rId3"/>
              </a:rPr>
              <a:t>The Effect of Evictions on Opioid Mortality</a:t>
            </a:r>
            <a:r>
              <a:rPr lang="en-US" sz="2400" dirty="0">
                <a:latin typeface="Times New Roman"/>
                <a:cs typeface="Times New Roman"/>
              </a:rPr>
              <a:t> (Bradford and Bradford, </a:t>
            </a:r>
            <a:r>
              <a:rPr lang="en-US" sz="2400" i="1" dirty="0">
                <a:latin typeface="Times New Roman"/>
                <a:cs typeface="Times New Roman"/>
              </a:rPr>
              <a:t>Health Services Research </a:t>
            </a:r>
            <a:r>
              <a:rPr lang="en-US" sz="2400" dirty="0">
                <a:latin typeface="Times New Roman"/>
                <a:cs typeface="Times New Roman"/>
              </a:rPr>
              <a:t>2020)</a:t>
            </a:r>
          </a:p>
          <a:p>
            <a:pPr marL="0" indent="0">
              <a:buNone/>
            </a:pPr>
            <a:r>
              <a:rPr lang="en-US" sz="2400" dirty="0">
                <a:latin typeface="Times New Roman"/>
                <a:cs typeface="Times New Roman"/>
              </a:rPr>
              <a:t>Other popular (and more generalizable) IV approaches: </a:t>
            </a:r>
            <a:endParaRPr lang="en-US" sz="2400" dirty="0">
              <a:solidFill>
                <a:srgbClr val="000000"/>
              </a:solidFill>
              <a:latin typeface="Times New Roman"/>
              <a:cs typeface="Times New Roman"/>
            </a:endParaRPr>
          </a:p>
          <a:p>
            <a:pPr marL="0" indent="0">
              <a:buNone/>
            </a:pPr>
            <a:r>
              <a:rPr lang="en-US" sz="2400" b="1" dirty="0">
                <a:solidFill>
                  <a:schemeClr val="accent2">
                    <a:lumMod val="75000"/>
                  </a:schemeClr>
                </a:solidFill>
                <a:latin typeface="Times New Roman"/>
                <a:cs typeface="Times New Roman"/>
              </a:rPr>
              <a:t>2. Judge Fixed Effects </a:t>
            </a:r>
            <a:r>
              <a:rPr lang="en-US" sz="2400" dirty="0">
                <a:latin typeface="Times New Roman"/>
                <a:cs typeface="Times New Roman"/>
              </a:rPr>
              <a:t>(also called leniency designs)</a:t>
            </a:r>
            <a:endParaRPr lang="en-US" sz="2400" dirty="0"/>
          </a:p>
          <a:p>
            <a:pPr lvl="1">
              <a:buFont typeface="Wingdings 2"/>
              <a:buChar char=""/>
            </a:pPr>
            <a:r>
              <a:rPr lang="en-US" sz="2400" dirty="0">
                <a:latin typeface="Times New Roman"/>
                <a:cs typeface="Times New Roman"/>
              </a:rPr>
              <a:t>Narrow pipeline through which all individuals must pass</a:t>
            </a:r>
          </a:p>
          <a:p>
            <a:pPr lvl="1">
              <a:buFont typeface="Wingdings 2"/>
              <a:buChar char=""/>
            </a:pPr>
            <a:r>
              <a:rPr lang="en-US" sz="2400" dirty="0">
                <a:latin typeface="Times New Roman"/>
                <a:cs typeface="Times New Roman"/>
              </a:rPr>
              <a:t>Individuals are randomly assigned a decision-maker </a:t>
            </a:r>
          </a:p>
          <a:p>
            <a:pPr lvl="1">
              <a:buFont typeface="Wingdings 2"/>
              <a:buChar char=""/>
            </a:pPr>
            <a:r>
              <a:rPr lang="en-US" sz="2400" dirty="0">
                <a:latin typeface="Times New Roman"/>
                <a:cs typeface="Times New Roman"/>
              </a:rPr>
              <a:t>Decision-maker has discretion over final outcome</a:t>
            </a:r>
            <a:endParaRPr lang="en-US" sz="2400" dirty="0"/>
          </a:p>
          <a:p>
            <a:pPr indent="0">
              <a:buFont typeface="Arial"/>
              <a:buChar char="•"/>
            </a:pPr>
            <a:r>
              <a:rPr lang="en-US" sz="2400" spc="0" dirty="0">
                <a:solidFill>
                  <a:srgbClr val="262626"/>
                </a:solidFill>
                <a:latin typeface="Times New Roman"/>
                <a:cs typeface="Times New Roman"/>
              </a:rPr>
              <a:t>Then, random "judge" assignment can be used to instrument for outcomes </a:t>
            </a:r>
            <a:endParaRPr lang="en-US" sz="2400" spc="0" dirty="0">
              <a:solidFill>
                <a:srgbClr val="262626"/>
              </a:solidFill>
              <a:cs typeface="Times New Roman"/>
            </a:endParaRPr>
          </a:p>
          <a:p>
            <a:pPr indent="0">
              <a:buFont typeface="Arial"/>
              <a:buChar char="•"/>
            </a:pPr>
            <a:r>
              <a:rPr lang="en-US" sz="2400" spc="0" dirty="0">
                <a:solidFill>
                  <a:srgbClr val="262626"/>
                </a:solidFill>
                <a:latin typeface="Times New Roman"/>
                <a:cs typeface="Times New Roman"/>
              </a:rPr>
              <a:t>What are some health policy examples of this? Are they valid? </a:t>
            </a:r>
            <a:endParaRPr lang="en-US" sz="2400" spc="0" dirty="0">
              <a:cs typeface="Times New Roman"/>
            </a:endParaRPr>
          </a:p>
          <a:p>
            <a:pPr indent="0">
              <a:buFont typeface="Arial"/>
              <a:buChar char="•"/>
            </a:pPr>
            <a:r>
              <a:rPr lang="en-US" sz="2400" spc="0" dirty="0" err="1">
                <a:solidFill>
                  <a:srgbClr val="262626"/>
                </a:solidFill>
                <a:latin typeface="Times New Roman"/>
                <a:cs typeface="Times New Roman"/>
              </a:rPr>
              <a:t>Bakx</a:t>
            </a:r>
            <a:r>
              <a:rPr lang="en-US" sz="2400" spc="0" dirty="0">
                <a:solidFill>
                  <a:srgbClr val="262626"/>
                </a:solidFill>
                <a:latin typeface="Times New Roman"/>
                <a:cs typeface="Times New Roman"/>
              </a:rPr>
              <a:t>, </a:t>
            </a:r>
            <a:r>
              <a:rPr lang="en-US" sz="2400" spc="0" dirty="0" err="1">
                <a:solidFill>
                  <a:srgbClr val="262626"/>
                </a:solidFill>
                <a:latin typeface="Times New Roman"/>
                <a:cs typeface="Times New Roman"/>
              </a:rPr>
              <a:t>Wouterse</a:t>
            </a:r>
            <a:r>
              <a:rPr lang="en-US" sz="2400" spc="0" dirty="0">
                <a:solidFill>
                  <a:srgbClr val="262626"/>
                </a:solidFill>
                <a:latin typeface="Times New Roman"/>
                <a:cs typeface="Times New Roman"/>
              </a:rPr>
              <a:t>, van Doorslaer, and Wong (2020, </a:t>
            </a:r>
            <a:r>
              <a:rPr lang="en-US" sz="2400" i="1" spc="0" dirty="0">
                <a:solidFill>
                  <a:srgbClr val="262626"/>
                </a:solidFill>
                <a:latin typeface="Times New Roman"/>
                <a:cs typeface="Times New Roman"/>
              </a:rPr>
              <a:t>JHE</a:t>
            </a:r>
            <a:r>
              <a:rPr lang="en-US" sz="2400" spc="0" dirty="0">
                <a:solidFill>
                  <a:srgbClr val="262626"/>
                </a:solidFill>
                <a:latin typeface="Times New Roman"/>
                <a:cs typeface="Times New Roman"/>
              </a:rPr>
              <a:t>): "</a:t>
            </a:r>
            <a:r>
              <a:rPr lang="en-US" sz="2400" spc="0" dirty="0">
                <a:latin typeface="Times New Roman"/>
                <a:cs typeface="Times New Roman"/>
                <a:hlinkClick r:id="rId4"/>
              </a:rPr>
              <a:t>Better off at home? Effects of nursing home eligibility on costs, hospitalizations and survival</a:t>
            </a:r>
            <a:r>
              <a:rPr lang="en-US" sz="2400" spc="0" dirty="0">
                <a:latin typeface="Times New Roman"/>
                <a:cs typeface="Times New Roman"/>
              </a:rPr>
              <a:t>"</a:t>
            </a:r>
            <a:endParaRPr lang="en-US" sz="2400" spc="0" dirty="0">
              <a:solidFill>
                <a:srgbClr val="262626"/>
              </a:solidFill>
              <a:cs typeface="Times New Roman"/>
            </a:endParaRPr>
          </a:p>
          <a:p>
            <a:pPr lvl="1">
              <a:buFont typeface="Wingdings 2"/>
              <a:buChar char=""/>
            </a:pPr>
            <a:endParaRPr lang="en-US" sz="2400" dirty="0">
              <a:cs typeface="Times New Roman"/>
            </a:endParaRPr>
          </a:p>
          <a:p>
            <a:pPr lvl="1">
              <a:buFont typeface="Wingdings 2"/>
              <a:buChar char=""/>
            </a:pPr>
            <a:endParaRPr lang="en-US" sz="2400" dirty="0">
              <a:cs typeface="Times New Roman"/>
            </a:endParaRPr>
          </a:p>
        </p:txBody>
      </p:sp>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Other Example Papers and Instruments</a:t>
            </a:r>
          </a:p>
        </p:txBody>
      </p:sp>
    </p:spTree>
    <p:extLst>
      <p:ext uri="{BB962C8B-B14F-4D97-AF65-F5344CB8AC3E}">
        <p14:creationId xmlns:p14="http://schemas.microsoft.com/office/powerpoint/2010/main" val="16620697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914400" y="1119952"/>
            <a:ext cx="9984829" cy="5357048"/>
          </a:xfrm>
        </p:spPr>
        <p:txBody>
          <a:bodyPr vert="horz" lIns="91440" tIns="45720" rIns="91440" bIns="45720" rtlCol="0" anchor="t">
            <a:normAutofit/>
          </a:bodyPr>
          <a:lstStyle/>
          <a:p>
            <a:r>
              <a:rPr lang="en-US" sz="2400" dirty="0">
                <a:latin typeface="Times New Roman"/>
                <a:cs typeface="Times New Roman"/>
                <a:hlinkClick r:id="rId3"/>
              </a:rPr>
              <a:t>The Effect of Evictions on Opioid Mortality</a:t>
            </a:r>
            <a:r>
              <a:rPr lang="en-US" sz="2400" dirty="0">
                <a:latin typeface="Times New Roman"/>
                <a:cs typeface="Times New Roman"/>
              </a:rPr>
              <a:t> (Bradford and Bradford, </a:t>
            </a:r>
            <a:r>
              <a:rPr lang="en-US" sz="2400" i="1" dirty="0">
                <a:latin typeface="Times New Roman"/>
                <a:cs typeface="Times New Roman"/>
              </a:rPr>
              <a:t>Health Services Research </a:t>
            </a:r>
            <a:r>
              <a:rPr lang="en-US" sz="2400" dirty="0">
                <a:latin typeface="Times New Roman"/>
                <a:cs typeface="Times New Roman"/>
              </a:rPr>
              <a:t>2020)</a:t>
            </a:r>
          </a:p>
          <a:p>
            <a:pPr marL="0" indent="0">
              <a:buNone/>
            </a:pPr>
            <a:r>
              <a:rPr lang="en-US" sz="2400" dirty="0">
                <a:latin typeface="Times New Roman"/>
                <a:cs typeface="Times New Roman"/>
              </a:rPr>
              <a:t>Other popular (and more generalizable) IV approaches: </a:t>
            </a:r>
            <a:endParaRPr lang="en-US" sz="2400" dirty="0">
              <a:solidFill>
                <a:srgbClr val="000000"/>
              </a:solidFill>
              <a:latin typeface="Times New Roman"/>
              <a:cs typeface="Times New Roman"/>
            </a:endParaRPr>
          </a:p>
          <a:p>
            <a:pPr marL="0" indent="0">
              <a:buNone/>
            </a:pPr>
            <a:r>
              <a:rPr lang="en-US" sz="2400" b="1" dirty="0">
                <a:solidFill>
                  <a:schemeClr val="accent2">
                    <a:lumMod val="75000"/>
                  </a:schemeClr>
                </a:solidFill>
                <a:latin typeface="Times New Roman"/>
                <a:cs typeface="Times New Roman"/>
              </a:rPr>
              <a:t>3. Bartik/Shift-Share Instruments</a:t>
            </a:r>
            <a:endParaRPr lang="en-US" sz="2400" dirty="0">
              <a:solidFill>
                <a:schemeClr val="accent2">
                  <a:lumMod val="75000"/>
                </a:schemeClr>
              </a:solidFill>
              <a:cs typeface="Times New Roman" panose="02020603050405020304" pitchFamily="18" charset="0"/>
            </a:endParaRPr>
          </a:p>
          <a:p>
            <a:pPr marL="342900" indent="-342900"/>
            <a:r>
              <a:rPr lang="en-US" sz="2400" spc="0" dirty="0">
                <a:solidFill>
                  <a:srgbClr val="262626"/>
                </a:solidFill>
                <a:latin typeface="Times New Roman"/>
                <a:cs typeface="Times New Roman"/>
              </a:rPr>
              <a:t>A type of instrument which </a:t>
            </a:r>
            <a:r>
              <a:rPr lang="en-US" sz="2400" spc="0" dirty="0">
                <a:latin typeface="Times New Roman"/>
                <a:cs typeface="Times New Roman"/>
              </a:rPr>
              <a:t>measures change in a region’s labor demand due to changes in the national demand for different industries’ products</a:t>
            </a:r>
            <a:r>
              <a:rPr lang="en-US" sz="2400" spc="0" dirty="0">
                <a:solidFill>
                  <a:srgbClr val="262626"/>
                </a:solidFill>
                <a:latin typeface="Times New Roman"/>
                <a:cs typeface="Times New Roman"/>
              </a:rPr>
              <a:t> </a:t>
            </a:r>
            <a:endParaRPr lang="en-US" sz="2400" spc="0" dirty="0">
              <a:cs typeface="Times New Roman"/>
            </a:endParaRPr>
          </a:p>
          <a:p>
            <a:pPr marL="342900" indent="-342900"/>
            <a:r>
              <a:rPr lang="en-US" sz="2400" spc="0" dirty="0">
                <a:latin typeface="Times New Roman"/>
                <a:cs typeface="Times New Roman"/>
              </a:rPr>
              <a:t>Created by interacting initial “shares” of geographic regions with national growth rates (in immigration, manufacturing employment, etc.)</a:t>
            </a:r>
          </a:p>
          <a:p>
            <a:pPr marL="342900" indent="-342900"/>
            <a:r>
              <a:rPr lang="en-US" sz="2400" spc="0" dirty="0">
                <a:solidFill>
                  <a:srgbClr val="000000"/>
                </a:solidFill>
                <a:latin typeface="Times New Roman"/>
                <a:cs typeface="Times New Roman"/>
              </a:rPr>
              <a:t>Example: Currie, </a:t>
            </a:r>
            <a:r>
              <a:rPr lang="en-US" sz="2400" spc="0" dirty="0" err="1">
                <a:solidFill>
                  <a:srgbClr val="000000"/>
                </a:solidFill>
                <a:latin typeface="Times New Roman"/>
                <a:cs typeface="Times New Roman"/>
              </a:rPr>
              <a:t>Jin</a:t>
            </a:r>
            <a:r>
              <a:rPr lang="en-US" sz="2400" spc="0" dirty="0">
                <a:solidFill>
                  <a:srgbClr val="000000"/>
                </a:solidFill>
                <a:latin typeface="Times New Roman"/>
                <a:cs typeface="Times New Roman"/>
              </a:rPr>
              <a:t>, and Schnell (2019): "</a:t>
            </a:r>
            <a:r>
              <a:rPr lang="en-US" sz="2400" spc="0" dirty="0">
                <a:solidFill>
                  <a:srgbClr val="000000"/>
                </a:solidFill>
                <a:latin typeface="Times New Roman"/>
                <a:cs typeface="Times New Roman"/>
                <a:hlinkClick r:id="rId4"/>
              </a:rPr>
              <a:t>U.S. Employment and Opioids: Is there a Connection?</a:t>
            </a:r>
            <a:r>
              <a:rPr lang="en-US" sz="2400" spc="0" dirty="0">
                <a:solidFill>
                  <a:srgbClr val="000000"/>
                </a:solidFill>
                <a:latin typeface="Times New Roman"/>
                <a:cs typeface="Times New Roman"/>
              </a:rPr>
              <a:t>," Working paper.  </a:t>
            </a:r>
            <a:endParaRPr lang="en-US" sz="2400" spc="0" dirty="0">
              <a:solidFill>
                <a:srgbClr val="000000"/>
              </a:solidFill>
              <a:cs typeface="Times New Roman"/>
            </a:endParaRPr>
          </a:p>
          <a:p>
            <a:pPr lvl="1">
              <a:buFont typeface="Wingdings 2"/>
              <a:buChar char=""/>
            </a:pPr>
            <a:endParaRPr lang="en-US" sz="2400" dirty="0">
              <a:cs typeface="Times New Roman"/>
            </a:endParaRPr>
          </a:p>
          <a:p>
            <a:pPr lvl="1">
              <a:buFont typeface="Wingdings 2"/>
              <a:buChar char=""/>
            </a:pPr>
            <a:endParaRPr lang="en-US" sz="2400" dirty="0">
              <a:cs typeface="Times New Roman"/>
            </a:endParaRPr>
          </a:p>
        </p:txBody>
      </p:sp>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Other Example Papers and Instruments</a:t>
            </a:r>
          </a:p>
        </p:txBody>
      </p:sp>
    </p:spTree>
    <p:extLst>
      <p:ext uri="{BB962C8B-B14F-4D97-AF65-F5344CB8AC3E}">
        <p14:creationId xmlns:p14="http://schemas.microsoft.com/office/powerpoint/2010/main" val="10757956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D4EB6-D600-68A4-E2E9-FB8FD5DA94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4CA89A-0E70-B4A5-787B-64CF7C87F76C}"/>
              </a:ext>
            </a:extLst>
          </p:cNvPr>
          <p:cNvSpPr>
            <a:spLocks noGrp="1"/>
          </p:cNvSpPr>
          <p:nvPr>
            <p:ph idx="1"/>
          </p:nvPr>
        </p:nvSpPr>
        <p:spPr>
          <a:xfrm>
            <a:off x="914400" y="1119952"/>
            <a:ext cx="9984829" cy="5357048"/>
          </a:xfrm>
        </p:spPr>
        <p:txBody>
          <a:bodyPr vert="horz" lIns="91440" tIns="45720" rIns="91440" bIns="45720" rtlCol="0" anchor="t">
            <a:normAutofit/>
          </a:bodyPr>
          <a:lstStyle/>
          <a:p>
            <a:pPr marL="0" indent="0">
              <a:buNone/>
            </a:pPr>
            <a:r>
              <a:rPr lang="en-US" sz="2400" b="1" dirty="0">
                <a:solidFill>
                  <a:schemeClr val="accent2">
                    <a:lumMod val="75000"/>
                  </a:schemeClr>
                </a:solidFill>
                <a:latin typeface="Times New Roman"/>
                <a:cs typeface="Times New Roman"/>
              </a:rPr>
              <a:t>4. Policies can be an IV (under certain conditions!) </a:t>
            </a:r>
            <a:endParaRPr lang="en-US" sz="2400" dirty="0">
              <a:solidFill>
                <a:schemeClr val="accent2">
                  <a:lumMod val="75000"/>
                </a:schemeClr>
              </a:solidFill>
              <a:cs typeface="Times New Roman" panose="02020603050405020304" pitchFamily="18" charset="0"/>
            </a:endParaRPr>
          </a:p>
          <a:p>
            <a:pPr marL="342900" indent="-342900"/>
            <a:r>
              <a:rPr lang="en-US" sz="2400" spc="0" dirty="0">
                <a:solidFill>
                  <a:srgbClr val="262626"/>
                </a:solidFill>
                <a:latin typeface="Times New Roman"/>
                <a:cs typeface="Times New Roman"/>
              </a:rPr>
              <a:t>Example: policy expanding pharmacist scope of practice as an IV for foot traffic to outpatient/emergency care </a:t>
            </a:r>
            <a:endParaRPr lang="en-US" sz="2400" spc="0" dirty="0">
              <a:solidFill>
                <a:srgbClr val="000000"/>
              </a:solidFill>
              <a:cs typeface="Times New Roman"/>
            </a:endParaRPr>
          </a:p>
          <a:p>
            <a:pPr lvl="1">
              <a:buFont typeface="Wingdings 2"/>
              <a:buChar char=""/>
            </a:pPr>
            <a:endParaRPr lang="en-US" sz="2400" dirty="0">
              <a:cs typeface="Times New Roman"/>
            </a:endParaRPr>
          </a:p>
          <a:p>
            <a:pPr lvl="1">
              <a:buFont typeface="Wingdings 2"/>
              <a:buChar char=""/>
            </a:pPr>
            <a:endParaRPr lang="en-US" sz="2400" dirty="0">
              <a:cs typeface="Times New Roman"/>
            </a:endParaRPr>
          </a:p>
        </p:txBody>
      </p:sp>
      <p:sp>
        <p:nvSpPr>
          <p:cNvPr id="5" name="Title 1">
            <a:extLst>
              <a:ext uri="{FF2B5EF4-FFF2-40B4-BE49-F238E27FC236}">
                <a16:creationId xmlns:a16="http://schemas.microsoft.com/office/drawing/2014/main" id="{A0BD5F4D-3190-0E52-3A5E-B2DD4FD7C6D6}"/>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Other Example Papers and Instruments</a:t>
            </a:r>
          </a:p>
        </p:txBody>
      </p:sp>
      <p:pic>
        <p:nvPicPr>
          <p:cNvPr id="4" name="Picture 3">
            <a:extLst>
              <a:ext uri="{FF2B5EF4-FFF2-40B4-BE49-F238E27FC236}">
                <a16:creationId xmlns:a16="http://schemas.microsoft.com/office/drawing/2014/main" id="{A4F19AB2-6098-505B-C469-F8AF514B8814}"/>
              </a:ext>
            </a:extLst>
          </p:cNvPr>
          <p:cNvPicPr>
            <a:picLocks noChangeAspect="1"/>
          </p:cNvPicPr>
          <p:nvPr/>
        </p:nvPicPr>
        <p:blipFill>
          <a:blip r:embed="rId3"/>
          <a:stretch>
            <a:fillRect/>
          </a:stretch>
        </p:blipFill>
        <p:spPr>
          <a:xfrm>
            <a:off x="164761" y="3373360"/>
            <a:ext cx="5677239" cy="3147248"/>
          </a:xfrm>
          <a:prstGeom prst="rect">
            <a:avLst/>
          </a:prstGeom>
        </p:spPr>
      </p:pic>
      <p:sp>
        <p:nvSpPr>
          <p:cNvPr id="6" name="TextBox 5">
            <a:extLst>
              <a:ext uri="{FF2B5EF4-FFF2-40B4-BE49-F238E27FC236}">
                <a16:creationId xmlns:a16="http://schemas.microsoft.com/office/drawing/2014/main" id="{82FAAB4E-5F4A-24C9-2156-E00D4DA2ACEC}"/>
              </a:ext>
            </a:extLst>
          </p:cNvPr>
          <p:cNvSpPr txBox="1"/>
          <p:nvPr/>
        </p:nvSpPr>
        <p:spPr>
          <a:xfrm>
            <a:off x="8166537" y="2782163"/>
            <a:ext cx="2266967" cy="461665"/>
          </a:xfrm>
          <a:prstGeom prst="rect">
            <a:avLst/>
          </a:prstGeom>
          <a:solidFill>
            <a:schemeClr val="accent3"/>
          </a:solidFill>
        </p:spPr>
        <p:txBody>
          <a:bodyPr wrap="none" rtlCol="0">
            <a:spAutoFit/>
          </a:bodyPr>
          <a:lstStyle/>
          <a:p>
            <a:r>
              <a:rPr lang="en-US" sz="2400" b="1" u="sng" dirty="0">
                <a:solidFill>
                  <a:schemeClr val="bg1"/>
                </a:solidFill>
              </a:rPr>
              <a:t>Second stage</a:t>
            </a:r>
          </a:p>
        </p:txBody>
      </p:sp>
      <p:pic>
        <p:nvPicPr>
          <p:cNvPr id="8" name="Picture 7">
            <a:extLst>
              <a:ext uri="{FF2B5EF4-FFF2-40B4-BE49-F238E27FC236}">
                <a16:creationId xmlns:a16="http://schemas.microsoft.com/office/drawing/2014/main" id="{344409A0-915E-D0EE-85F0-6677CC1555C2}"/>
              </a:ext>
            </a:extLst>
          </p:cNvPr>
          <p:cNvPicPr>
            <a:picLocks noChangeAspect="1"/>
          </p:cNvPicPr>
          <p:nvPr/>
        </p:nvPicPr>
        <p:blipFill>
          <a:blip r:embed="rId4"/>
          <a:stretch>
            <a:fillRect/>
          </a:stretch>
        </p:blipFill>
        <p:spPr>
          <a:xfrm>
            <a:off x="5932214" y="3429000"/>
            <a:ext cx="5963782" cy="2740660"/>
          </a:xfrm>
          <a:prstGeom prst="rect">
            <a:avLst/>
          </a:prstGeom>
        </p:spPr>
      </p:pic>
      <p:sp>
        <p:nvSpPr>
          <p:cNvPr id="9" name="TextBox 8">
            <a:extLst>
              <a:ext uri="{FF2B5EF4-FFF2-40B4-BE49-F238E27FC236}">
                <a16:creationId xmlns:a16="http://schemas.microsoft.com/office/drawing/2014/main" id="{3AFEE8A3-93E6-417D-5062-C727057C2F23}"/>
              </a:ext>
            </a:extLst>
          </p:cNvPr>
          <p:cNvSpPr txBox="1"/>
          <p:nvPr/>
        </p:nvSpPr>
        <p:spPr>
          <a:xfrm>
            <a:off x="2133598" y="2782163"/>
            <a:ext cx="1891865" cy="461665"/>
          </a:xfrm>
          <a:prstGeom prst="rect">
            <a:avLst/>
          </a:prstGeom>
          <a:solidFill>
            <a:schemeClr val="accent2"/>
          </a:solidFill>
        </p:spPr>
        <p:txBody>
          <a:bodyPr wrap="none" rtlCol="0">
            <a:spAutoFit/>
          </a:bodyPr>
          <a:lstStyle/>
          <a:p>
            <a:r>
              <a:rPr lang="en-US" sz="2400" b="1" u="sng" dirty="0">
                <a:solidFill>
                  <a:schemeClr val="bg1"/>
                </a:solidFill>
              </a:rPr>
              <a:t>First stage</a:t>
            </a:r>
          </a:p>
        </p:txBody>
      </p:sp>
    </p:spTree>
    <p:extLst>
      <p:ext uri="{BB962C8B-B14F-4D97-AF65-F5344CB8AC3E}">
        <p14:creationId xmlns:p14="http://schemas.microsoft.com/office/powerpoint/2010/main" val="32509422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7746D7-5C8E-14DB-11D1-91C659A20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FF649-E0AB-8B06-1CC3-15E85994E61C}"/>
              </a:ext>
            </a:extLst>
          </p:cNvPr>
          <p:cNvSpPr>
            <a:spLocks noGrp="1"/>
          </p:cNvSpPr>
          <p:nvPr>
            <p:ph type="title"/>
          </p:nvPr>
        </p:nvSpPr>
        <p:spPr>
          <a:xfrm>
            <a:off x="1229032" y="365760"/>
            <a:ext cx="5997678" cy="1325562"/>
          </a:xfrm>
        </p:spPr>
        <p:txBody>
          <a:bodyPr>
            <a:normAutofit/>
          </a:bodyPr>
          <a:lstStyle/>
          <a:p>
            <a:r>
              <a:rPr lang="en-US">
                <a:cs typeface="Times New Roman" panose="02020603050405020304" pitchFamily="18" charset="0"/>
              </a:rPr>
              <a:t>This Time: Introducing IV</a:t>
            </a:r>
            <a:endParaRPr lang="en-US">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60C2BF78-EE5B-49C7-ADD9-58CDBD13E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4DAAFC1-D66C-5212-70A4-A0F1533BB4D2}"/>
              </a:ext>
            </a:extLst>
          </p:cNvPr>
          <p:cNvSpPr>
            <a:spLocks noGrp="1"/>
          </p:cNvSpPr>
          <p:nvPr>
            <p:ph idx="1"/>
          </p:nvPr>
        </p:nvSpPr>
        <p:spPr>
          <a:xfrm>
            <a:off x="1211139" y="2005739"/>
            <a:ext cx="6180261" cy="4174398"/>
          </a:xfrm>
        </p:spPr>
        <p:txBody>
          <a:bodyPr>
            <a:normAutofit/>
          </a:bodyPr>
          <a:lstStyle/>
          <a:p>
            <a:pPr lvl="1"/>
            <a:r>
              <a:rPr lang="en-US" sz="2200" dirty="0">
                <a:cs typeface="Times New Roman" panose="02020603050405020304" pitchFamily="18" charset="0"/>
              </a:rPr>
              <a:t>Endogeneity/exogeneity</a:t>
            </a:r>
          </a:p>
          <a:p>
            <a:pPr lvl="1"/>
            <a:r>
              <a:rPr lang="en-US" sz="2200" dirty="0">
                <a:cs typeface="Times New Roman" panose="02020603050405020304" pitchFamily="18" charset="0"/>
              </a:rPr>
              <a:t>Key assumptions for an IV</a:t>
            </a:r>
          </a:p>
          <a:p>
            <a:pPr lvl="1"/>
            <a:r>
              <a:rPr lang="en-US" sz="2200" dirty="0">
                <a:cs typeface="Times New Roman" panose="02020603050405020304" pitchFamily="18" charset="0"/>
              </a:rPr>
              <a:t>Estimation of 2SLS Regressions</a:t>
            </a:r>
          </a:p>
          <a:p>
            <a:pPr lvl="1"/>
            <a:endParaRPr lang="en-US" sz="2200" dirty="0">
              <a:cs typeface="Times New Roman" panose="02020603050405020304" pitchFamily="18" charset="0"/>
            </a:endParaRPr>
          </a:p>
          <a:p>
            <a:pPr marL="274320" lvl="1" indent="0">
              <a:buNone/>
            </a:pPr>
            <a:r>
              <a:rPr lang="en-US" sz="2200" b="1" dirty="0">
                <a:cs typeface="Times New Roman" panose="02020603050405020304" pitchFamily="18" charset="0"/>
              </a:rPr>
              <a:t>Next time: </a:t>
            </a:r>
          </a:p>
          <a:p>
            <a:pPr lvl="1"/>
            <a:r>
              <a:rPr lang="en-US" sz="2200" dirty="0">
                <a:cs typeface="Times New Roman" panose="02020603050405020304" pitchFamily="18" charset="0"/>
              </a:rPr>
              <a:t>Interpreting 2SLS results </a:t>
            </a:r>
          </a:p>
          <a:p>
            <a:pPr lvl="1"/>
            <a:r>
              <a:rPr lang="en-US" sz="2200" dirty="0">
                <a:cs typeface="Times New Roman" panose="02020603050405020304" pitchFamily="18" charset="0"/>
              </a:rPr>
              <a:t>How do you come up with and defend an IV in practice? </a:t>
            </a:r>
          </a:p>
          <a:p>
            <a:pPr lvl="1"/>
            <a:r>
              <a:rPr lang="en-US" sz="2200" dirty="0">
                <a:cs typeface="Times New Roman" panose="02020603050405020304" pitchFamily="18" charset="0"/>
              </a:rPr>
              <a:t>Additional examples</a:t>
            </a:r>
          </a:p>
          <a:p>
            <a:pPr lvl="1"/>
            <a:endParaRPr lang="en-US" dirty="0">
              <a:cs typeface="Times New Roman" panose="02020603050405020304" pitchFamily="18" charset="0"/>
            </a:endParaRPr>
          </a:p>
        </p:txBody>
      </p:sp>
      <p:pic>
        <p:nvPicPr>
          <p:cNvPr id="5" name="Picture 4">
            <a:extLst>
              <a:ext uri="{FF2B5EF4-FFF2-40B4-BE49-F238E27FC236}">
                <a16:creationId xmlns:a16="http://schemas.microsoft.com/office/drawing/2014/main" id="{050A8BB9-5D12-4E9D-638D-FA665F96771B}"/>
              </a:ext>
            </a:extLst>
          </p:cNvPr>
          <p:cNvPicPr>
            <a:picLocks noChangeAspect="1"/>
          </p:cNvPicPr>
          <p:nvPr/>
        </p:nvPicPr>
        <p:blipFill rotWithShape="1">
          <a:blip r:embed="rId3"/>
          <a:srcRect r="5102"/>
          <a:stretch>
            <a:fillRect/>
          </a:stretch>
        </p:blipFill>
        <p:spPr>
          <a:xfrm>
            <a:off x="7538689" y="10"/>
            <a:ext cx="4653311" cy="6857990"/>
          </a:xfrm>
          <a:prstGeom prst="rect">
            <a:avLst/>
          </a:prstGeom>
        </p:spPr>
      </p:pic>
    </p:spTree>
    <p:extLst>
      <p:ext uri="{BB962C8B-B14F-4D97-AF65-F5344CB8AC3E}">
        <p14:creationId xmlns:p14="http://schemas.microsoft.com/office/powerpoint/2010/main" val="104106597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5205</TotalTime>
  <Words>3739</Words>
  <Application>Microsoft Office PowerPoint</Application>
  <PresentationFormat>Widescreen</PresentationFormat>
  <Paragraphs>343</Paragraphs>
  <Slides>56</Slides>
  <Notes>53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Aptos</vt:lpstr>
      <vt:lpstr>Arial</vt:lpstr>
      <vt:lpstr>Calibri</vt:lpstr>
      <vt:lpstr>Cambria Math</vt:lpstr>
      <vt:lpstr>Century Schoolbook</vt:lpstr>
      <vt:lpstr>Symbol</vt:lpstr>
      <vt:lpstr>Times New Roman</vt:lpstr>
      <vt:lpstr>Wingdings 2</vt:lpstr>
      <vt:lpstr>View</vt:lpstr>
      <vt:lpstr>Quantitative HSR I</vt:lpstr>
      <vt:lpstr>Quick note – new paper</vt:lpstr>
      <vt:lpstr>Quick note – new paper</vt:lpstr>
      <vt:lpstr>Last Time: Matching Approaches</vt:lpstr>
      <vt:lpstr>Last Time: Matching Approaches</vt:lpstr>
      <vt:lpstr>Causal Inference: From Back Doors to Front</vt:lpstr>
      <vt:lpstr>Open up the (Right) Gates!</vt:lpstr>
      <vt:lpstr>Case Stud(ies)</vt:lpstr>
      <vt:lpstr>Example: causal effect of vaccines</vt:lpstr>
      <vt:lpstr>Example: causal effect of vaccines</vt:lpstr>
      <vt:lpstr>Example: causal effect of vaccines</vt:lpstr>
      <vt:lpstr>Endogeneity</vt:lpstr>
      <vt:lpstr>Example: Waiting Times and Transplantation Outcomes</vt:lpstr>
      <vt:lpstr>Example: Waiting Times and Transplantation Outcomes</vt:lpstr>
      <vt:lpstr>Exogeneity + Endogeneity</vt:lpstr>
      <vt:lpstr>Exogeneity + Endogeneity</vt:lpstr>
      <vt:lpstr>Endogeneity</vt:lpstr>
      <vt:lpstr>Endogeneity</vt:lpstr>
      <vt:lpstr>Endogeneity</vt:lpstr>
      <vt:lpstr>Exogeneity Example: Age</vt:lpstr>
      <vt:lpstr>Endogeneity Example: “Pickiness”</vt:lpstr>
      <vt:lpstr>Endogeneity Example: “Pickiness”</vt:lpstr>
      <vt:lpstr>Exploiting  Quasi-Random Variation</vt:lpstr>
      <vt:lpstr>Causal Inference: From Back Doors to Front</vt:lpstr>
      <vt:lpstr>Causal Inference: From Back Doors to Front</vt:lpstr>
      <vt:lpstr>Causal Inference: From Back Doors to Front</vt:lpstr>
      <vt:lpstr>Instrumenting for an Endogenous Variable</vt:lpstr>
      <vt:lpstr>Instrumenting for an Endogenous Variable</vt:lpstr>
      <vt:lpstr>Instrumental Variables</vt:lpstr>
      <vt:lpstr>PowerPoint Presentation</vt:lpstr>
      <vt:lpstr>PowerPoint Presentation</vt:lpstr>
      <vt:lpstr>Example: Transfusions and Waiting Time</vt:lpstr>
      <vt:lpstr>Instrumental Variables: Relevance</vt:lpstr>
      <vt:lpstr>Instrumental Variables: Exclusion</vt:lpstr>
      <vt:lpstr>Instrumental Variables: Exogeneity</vt:lpstr>
      <vt:lpstr>Using IVs in Regression</vt:lpstr>
      <vt:lpstr>Using IVs to back out treatment effects</vt:lpstr>
      <vt:lpstr>Using IVs to back out treatment effects</vt:lpstr>
      <vt:lpstr>Using IVs to back out treatment effects</vt:lpstr>
      <vt:lpstr>IV Regression: Illustration</vt:lpstr>
      <vt:lpstr>IV Regression: Illustration</vt:lpstr>
      <vt:lpstr>IV Regression: Illustration</vt:lpstr>
      <vt:lpstr>Graphical Illustration of IVs</vt:lpstr>
      <vt:lpstr>Graphical Illustration of IVs</vt:lpstr>
      <vt:lpstr>Graphical Illustration of IVs</vt:lpstr>
      <vt:lpstr>Graphical Illustration of IVs</vt:lpstr>
      <vt:lpstr>Graphical Illustration of IVs</vt:lpstr>
      <vt:lpstr>Graphical Illustration of IVs</vt:lpstr>
      <vt:lpstr>Case study (again)</vt:lpstr>
      <vt:lpstr>Instrumental Variable in our Example(s)</vt:lpstr>
      <vt:lpstr>Other Popular IVs</vt:lpstr>
      <vt:lpstr>PowerPoint Presentation</vt:lpstr>
      <vt:lpstr>PowerPoint Presentation</vt:lpstr>
      <vt:lpstr>PowerPoint Presentation</vt:lpstr>
      <vt:lpstr>PowerPoint Presentation</vt:lpstr>
      <vt:lpstr>This Time: Introducing IV</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566</cp:revision>
  <dcterms:created xsi:type="dcterms:W3CDTF">2011-01-10T00:42:42Z</dcterms:created>
  <dcterms:modified xsi:type="dcterms:W3CDTF">2026-10-26T13:53:51Z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