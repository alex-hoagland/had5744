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50"/>
  </p:notesMasterIdLst>
  <p:sldIdLst>
    <p:sldId id="572" r:id="rId2"/>
    <p:sldId id="579" r:id="rId3"/>
    <p:sldId id="537" r:id="rId4"/>
    <p:sldId id="568" r:id="rId5"/>
    <p:sldId id="567" r:id="rId6"/>
    <p:sldId id="562" r:id="rId7"/>
    <p:sldId id="546" r:id="rId8"/>
    <p:sldId id="548" r:id="rId9"/>
    <p:sldId id="549" r:id="rId10"/>
    <p:sldId id="550" r:id="rId11"/>
    <p:sldId id="561" r:id="rId12"/>
    <p:sldId id="505" r:id="rId13"/>
    <p:sldId id="484" r:id="rId14"/>
    <p:sldId id="518" r:id="rId15"/>
    <p:sldId id="540" r:id="rId16"/>
    <p:sldId id="541" r:id="rId17"/>
    <p:sldId id="486" r:id="rId18"/>
    <p:sldId id="543" r:id="rId19"/>
    <p:sldId id="487" r:id="rId20"/>
    <p:sldId id="544" r:id="rId21"/>
    <p:sldId id="545" r:id="rId22"/>
    <p:sldId id="575" r:id="rId23"/>
    <p:sldId id="576" r:id="rId24"/>
    <p:sldId id="577" r:id="rId25"/>
    <p:sldId id="578" r:id="rId26"/>
    <p:sldId id="581" r:id="rId27"/>
    <p:sldId id="500" r:id="rId28"/>
    <p:sldId id="582" r:id="rId29"/>
    <p:sldId id="501" r:id="rId30"/>
    <p:sldId id="525" r:id="rId31"/>
    <p:sldId id="502" r:id="rId32"/>
    <p:sldId id="570" r:id="rId33"/>
    <p:sldId id="571" r:id="rId34"/>
    <p:sldId id="552" r:id="rId35"/>
    <p:sldId id="553" r:id="rId36"/>
    <p:sldId id="551" r:id="rId37"/>
    <p:sldId id="485" r:id="rId38"/>
    <p:sldId id="519" r:id="rId39"/>
    <p:sldId id="497" r:id="rId40"/>
    <p:sldId id="503" r:id="rId41"/>
    <p:sldId id="504" r:id="rId42"/>
    <p:sldId id="559" r:id="rId43"/>
    <p:sldId id="529" r:id="rId44"/>
    <p:sldId id="530" r:id="rId45"/>
    <p:sldId id="536" r:id="rId46"/>
    <p:sldId id="483" r:id="rId47"/>
    <p:sldId id="531" r:id="rId48"/>
    <p:sldId id="512" r:id="rId49"/>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B6033-A775-454D-A761-62B23E02AF10}" v="152" dt="2022-07-15T12:27:21.373"/>
    <p1510:client id="{CC628153-EE7E-4BCD-AEC7-99145EF0CFC8}" v="2464" dt="2022-07-14T17:53:39.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8775" autoAdjust="0"/>
  </p:normalViewPr>
  <p:slideViewPr>
    <p:cSldViewPr>
      <p:cViewPr varScale="1">
        <p:scale>
          <a:sx n="50" d="100"/>
          <a:sy n="50" d="100"/>
        </p:scale>
        <p:origin x="1260" y="2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5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7/22/2026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BA94-DC28-1352-3C07-AEAE27138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6554B-8D29-BEFF-7D37-D4EFC60DC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78A20-29F4-D458-04D9-69EC6779FF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48DE81-CEB6-02E2-BDB5-BCDB69040F96}"/>
              </a:ext>
            </a:extLst>
          </p:cNvPr>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3099295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we have 2 to help round this out </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2574600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75112-2E10-0334-CD34-F9008EED9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61B6E-4DC3-AAC9-9D78-3EF356051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099C9-34C6-DFE2-681C-4C7B49572B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9A0C677-2055-39E0-C2CF-0BF5098A537C}"/>
              </a:ext>
            </a:extLst>
          </p:cNvPr>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8625942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72477-30D0-8089-E8C3-19E6E8358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5DCC3-281A-6D5C-C804-173E8A369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4A1FF-A356-27FF-5555-75501AC2CF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Short version of the story here: we’re worried that FFS payments are making physicians overuse anemia drugs as a part of dialysis. In fact, OLS estimates of the effectiveness of these medicines suggest that anemia drugs make patients worse off! But there could be endogeneity in the physician use of dialysis. The IV the authors suggest is </a:t>
            </a:r>
            <a:r>
              <a:rPr lang="en-US" b="1" dirty="0">
                <a:cs typeface="Calibri"/>
              </a:rPr>
              <a:t>altitude</a:t>
            </a:r>
            <a:r>
              <a:rPr lang="en-US" b="0" dirty="0">
                <a:cs typeface="Calibri"/>
              </a:rPr>
              <a:t>, which is correlated with needing these drugs but not correlated with underlying physician decisions. They combine this with a DD to get at effects of a payment reform here. (We’ll talk about this in more detail through the semester). </a:t>
            </a: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Let’s walk through the assumptions here.</a:t>
            </a:r>
            <a:r>
              <a:rPr lang="en-US" dirty="0"/>
              <a:t> Start with outcome variable (2), then exposure (bundled payment/use of drugs), then IV (altitude + post-bundle indicator). What endogeneity are they dealing with (strategic decision-making on the part of the doctors). Are the assumptions satisfied? (1. abstract says yes, altitude affects drug use; 2. altitude shouldn’t affect mortality or transfusion rates; 3. altitude shouldn’t affect strategy). Note that they use two IVs to get around this.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This also shows that IVs can be (but don’t have to be!) scary **</a:t>
            </a:r>
          </a:p>
          <a:p>
            <a:endParaRPr lang="en-US" dirty="0"/>
          </a:p>
        </p:txBody>
      </p:sp>
      <p:sp>
        <p:nvSpPr>
          <p:cNvPr id="4" name="Slide Number Placeholder 3">
            <a:extLst>
              <a:ext uri="{FF2B5EF4-FFF2-40B4-BE49-F238E27FC236}">
                <a16:creationId xmlns:a16="http://schemas.microsoft.com/office/drawing/2014/main" id="{B2D1153B-88D6-59BE-3AE4-BF9975B2DD5A}"/>
              </a:ext>
            </a:extLst>
          </p:cNvPr>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3317305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1BAED-CEBF-B6D7-67F6-9647E7E36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E680A-112F-1CB5-6859-3821BEAD4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BFAEA-861C-8895-ED0A-D8E8C95BD1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look how long it took this paper to publish! Okay, so what’s the open back door? What’s the DAG here? What is the “natural experiment” they are exploiting? We’ll talk about why this works (maybe). Start with outcome variable (2), then exposure (bundled payment/use of drugs), then IV (altitude + post-bundle indicator). What endogeneity are they dealing with (strategic decision-making on the part of the doctors). </a:t>
            </a:r>
          </a:p>
        </p:txBody>
      </p:sp>
      <p:sp>
        <p:nvSpPr>
          <p:cNvPr id="4" name="Slide Number Placeholder 3">
            <a:extLst>
              <a:ext uri="{FF2B5EF4-FFF2-40B4-BE49-F238E27FC236}">
                <a16:creationId xmlns:a16="http://schemas.microsoft.com/office/drawing/2014/main" id="{7F996C7C-1695-A749-79FC-5AD64AC1BA9E}"/>
              </a:ext>
            </a:extLst>
          </p:cNvPr>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1793070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Yay for descriptive evidence! </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9352822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Yay for descriptive evidence! There are other panels to Figure 1 not pictured. For example, dialysis doesn’t change. What is the hypothesis? Figure EPOs lead to more transfusions, since EPO doses and transfusions are used to treat anemia </a:t>
            </a:r>
          </a:p>
        </p:txBody>
      </p:sp>
      <p:sp>
        <p:nvSpPr>
          <p:cNvPr id="4" name="Slide Number Placeholder 3"/>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229757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Declines are largest for those with the highest hemoglobin patients (least anemic). Does this make sense? What’s the story? “Allocative efficiency may have improved following the bundle as providers concentrated the decrease in EPO among patients who were previously receiving doses that put their HGB levels above the recommended range” (what does this mean in non-econ speak?)</a:t>
            </a:r>
          </a:p>
        </p:txBody>
      </p:sp>
      <p:sp>
        <p:nvSpPr>
          <p:cNvPr id="4" name="Slide Number Placeholder 3"/>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1789127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does the OLS say? Why are we worried about endogeneity here? Larger EPO doses should raise hemoglobin, that’s the point!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11213933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38E24-BF61-CB76-B02F-F425BEE14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64AC9-DFC1-FCF2-E3C4-D3B1F6706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455D9-4625-2895-C124-9BF721FF01A0}"/>
              </a:ext>
            </a:extLst>
          </p:cNvPr>
          <p:cNvSpPr>
            <a:spLocks noGrp="1"/>
          </p:cNvSpPr>
          <p:nvPr>
            <p:ph type="body" idx="1"/>
          </p:nvPr>
        </p:nvSpPr>
        <p:spPr/>
        <p:txBody>
          <a:bodyPr/>
          <a:lstStyle/>
          <a:p>
            <a:r>
              <a:rPr lang="en-US" dirty="0"/>
              <a:t>Here’s the story of their two </a:t>
            </a:r>
            <a:r>
              <a:rPr lang="en-US" dirty="0" err="1"/>
              <a:t>Ivs</a:t>
            </a:r>
            <a:r>
              <a:rPr lang="en-US" dirty="0"/>
              <a:t> (why do they have a second one?)</a:t>
            </a:r>
          </a:p>
        </p:txBody>
      </p:sp>
      <p:sp>
        <p:nvSpPr>
          <p:cNvPr id="4" name="Slide Number Placeholder 3">
            <a:extLst>
              <a:ext uri="{FF2B5EF4-FFF2-40B4-BE49-F238E27FC236}">
                <a16:creationId xmlns:a16="http://schemas.microsoft.com/office/drawing/2014/main" id="{8ABE8F8C-28B4-46C2-425A-69C1DA20DE8C}"/>
              </a:ext>
            </a:extLst>
          </p:cNvPr>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955275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our case study gives you a light overview, but there is more here (which is why we will likely go through the dialysis paper in more depth)</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4173746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what are the assumptions? We will go through these in both case studies. </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6410006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have to talk about what an F stat is and how it relates to a t stat. See Felton and Stewart for what a weak IV can do, but basically exacerbates three problems: identification bias (parameter isn’t centered around truth), estimation bias (2SLS is “contaminated” by the confounding inherent in OLS, so 2SLS estimator gets “pulled” towards OLS estimator and away from truth), and Type M-error (publication bias – you have to have a super strong effect to have it show up significant with a weak IV; then, since insignificant estimates don’t get published, looking only at published work convinces you that the effect is *much* stronger than it really is)</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32733774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9512302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comes from Lee et al, just published in AER this month. Here’s a log scale of the F-stats for IV papers in top econ journals (note scale is log). Most (75%) are bigger than 10, but not a lot get up to the new standard (here it’s slightly different). Thankfully, there is research linking the t stat with the </a:t>
            </a:r>
            <a:r>
              <a:rPr lang="en-US"/>
              <a:t>F stat.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2710624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Differential distance must not correlate with the unobserved factors influencing mortality and follow-up costs. Our dataset provides important information on patient characteristics, but we cannot observe the actual severity and type of heart attack. These circumstances also determine the treatment and chance of survival. However, </a:t>
            </a:r>
            <a:r>
              <a:rPr lang="en-US" b="1" dirty="0"/>
              <a:t>it seems a plausible assumption that the severity and type of heart attack are conditionally unrelated to patients’ residence</a:t>
            </a:r>
            <a:r>
              <a:rPr lang="en-US" dirty="0"/>
              <a:t> and differential distance is therefore a valid instrument. (talk about the strategy here: focus on one (big) threat)</a:t>
            </a:r>
          </a:p>
          <a:p>
            <a:pPr marL="171450" indent="-171450">
              <a:buFontTx/>
              <a:buChar char="-"/>
            </a:pPr>
            <a:r>
              <a:rPr lang="en-US" dirty="0"/>
              <a:t>The exclusion restriction also reveals why we refrain from using specific medical treatments as endogenous variables. A cardiac </a:t>
            </a:r>
            <a:r>
              <a:rPr lang="en-US" dirty="0" err="1"/>
              <a:t>cath</a:t>
            </a:r>
            <a:r>
              <a:rPr lang="en-US" dirty="0"/>
              <a:t> lab offers the possibility of several invasive treatments being frequently applied sequentially to the same patient. Moreover, there are unobserved factors, such as the availability of specialized staff, which might affect mortality independently from the actual treatment. These individual components of health care are jointly affected by the instrument and cannot be properly disentangled in the IV framework. We therefore </a:t>
            </a:r>
            <a:r>
              <a:rPr lang="en-US" b="1" dirty="0"/>
              <a:t>focus on the initial admission </a:t>
            </a:r>
            <a:r>
              <a:rPr lang="en-US" dirty="0"/>
              <a:t>to a PCI hospital as our explanatory variable of interest. (note: limits of differential distance </a:t>
            </a:r>
            <a:r>
              <a:rPr lang="en-US" dirty="0" err="1"/>
              <a:t>Ivs</a:t>
            </a:r>
            <a:r>
              <a:rPr lang="en-US" dirty="0"/>
              <a:t> discussed here: https://jamanetwork.com/journals/jamanetworkopen/fullarticle/2837216) </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230065053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show? No real change in EPO doses (constant gap across elevation over time in panel (a)). Panel (b) shows larger effects for lower elevation for the payment reform. </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9398272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they did in robustness checks (to test for this – note that this is really common):</a:t>
            </a:r>
          </a:p>
          <a:p>
            <a:pPr marL="171450" indent="-171450">
              <a:buFontTx/>
              <a:buChar char="-"/>
            </a:pPr>
            <a:r>
              <a:rPr lang="en-US" dirty="0"/>
              <a:t>What if high risk patients choose to live close to hospitals? Can look at this by (a) limiting sample to non-movers or (b) looking at first heart shocks. Results are qualitatively similar. </a:t>
            </a:r>
          </a:p>
          <a:p>
            <a:pPr marL="171450" indent="-171450">
              <a:buFontTx/>
              <a:buChar char="-"/>
            </a:pPr>
            <a:r>
              <a:rPr lang="en-US" dirty="0"/>
              <a:t> Other confounders that might be related with distance: urban/rural, SES, comorbidities. No real change (and have one nice clean robustness table!)</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6415883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these address your concerns? “Shows that predicted mortality doesn’t change across elevations, so that a changing mix of patients across elevations is unlikely to confound our estimates.” What else might there be? </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1076910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these address your concerns? What else might there be?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39147047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negative controls as falsification tests: we look for effects where there should be none.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174466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students: what would a non-null here tell us about the exclusion restriction?</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3275008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mirrors the covariate-balance table you would show for an RCT.</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4494469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Tie the falsification logic back to the vaccine instrument from Day 1.</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80195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E650-719D-B5DD-67FD-213BC2FAB2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D40B7-E1D6-E501-8AC2-B04B958B9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A85AFB-C16B-87CC-9D8C-FBB561C13626}"/>
              </a:ext>
            </a:extLst>
          </p:cNvPr>
          <p:cNvSpPr>
            <a:spLocks noGrp="1"/>
          </p:cNvSpPr>
          <p:nvPr>
            <p:ph type="body" idx="1"/>
          </p:nvPr>
        </p:nvSpPr>
        <p:spPr/>
        <p:txBody>
          <a:bodyPr/>
          <a:lstStyle/>
          <a:p>
            <a:r>
              <a:rPr lang="en-US" dirty="0"/>
              <a:t>Today we have 2 to help round this out </a:t>
            </a:r>
          </a:p>
        </p:txBody>
      </p:sp>
      <p:sp>
        <p:nvSpPr>
          <p:cNvPr id="4" name="Slide Number Placeholder 3">
            <a:extLst>
              <a:ext uri="{FF2B5EF4-FFF2-40B4-BE49-F238E27FC236}">
                <a16:creationId xmlns:a16="http://schemas.microsoft.com/office/drawing/2014/main" id="{F5E69D09-6166-BEA8-654F-04BDF1C98260}"/>
              </a:ext>
            </a:extLst>
          </p:cNvPr>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22372127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a LATE for a specific type of IV regression (fuzzy RDD, will do next semester). LATEs are just weighted ATEs that tell you something about a specific subset of the population (not the full pop)</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25861318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4D23F-ACCE-187C-1C25-099B724A5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B1A5C0-0B5D-D585-2E35-6CC0251445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067F27-8A27-76E3-F161-1AF09DBC6491}"/>
              </a:ext>
            </a:extLst>
          </p:cNvPr>
          <p:cNvSpPr>
            <a:spLocks noGrp="1"/>
          </p:cNvSpPr>
          <p:nvPr>
            <p:ph type="body" idx="1"/>
          </p:nvPr>
        </p:nvSpPr>
        <p:spPr/>
        <p:txBody>
          <a:bodyPr/>
          <a:lstStyle/>
          <a:p>
            <a:r>
              <a:rPr lang="en-US" dirty="0"/>
              <a:t>Here’s a visualization of a LATE for a specific type of IV regression (fuzzy RDD, will do next semester). LATEs are just weighted ATEs that tell you something about a specific subset of the population (not the full pop)</a:t>
            </a:r>
          </a:p>
        </p:txBody>
      </p:sp>
      <p:sp>
        <p:nvSpPr>
          <p:cNvPr id="4" name="Slide Number Placeholder 3">
            <a:extLst>
              <a:ext uri="{FF2B5EF4-FFF2-40B4-BE49-F238E27FC236}">
                <a16:creationId xmlns:a16="http://schemas.microsoft.com/office/drawing/2014/main" id="{E7E58367-024C-59FB-9ACE-9B32A97040EF}"/>
              </a:ext>
            </a:extLst>
          </p:cNvPr>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25992462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36665127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LATE in our case study? Do we like it? Is it policy relevant? </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12627285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Monotonicity just means that the instrument moved people towards/away from treatment </a:t>
            </a:r>
            <a:r>
              <a:rPr lang="en-US" i="1" dirty="0">
                <a:ea typeface="Calibri"/>
                <a:cs typeface="Calibri"/>
              </a:rPr>
              <a:t>in the same way</a:t>
            </a:r>
            <a:r>
              <a:rPr lang="en-US" dirty="0">
                <a:ea typeface="Calibri"/>
                <a:cs typeface="Calibri"/>
              </a:rPr>
              <a:t> (an IV can't both incentivize treatment for one person and discourage it for another). Example of third child – is monotonicity satisfied here? Wrapped up in heterogeneous treatment effects.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25113503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46A7F-56F4-51C0-3F65-3681B95A2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72F1D-2791-A174-D5C2-0AB4DE1BA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EFACF-6B50-51B4-301F-ECF9560399FC}"/>
              </a:ext>
            </a:extLst>
          </p:cNvPr>
          <p:cNvSpPr>
            <a:spLocks noGrp="1"/>
          </p:cNvSpPr>
          <p:nvPr>
            <p:ph type="body" idx="1"/>
          </p:nvPr>
        </p:nvSpPr>
        <p:spPr/>
        <p:txBody>
          <a:bodyPr/>
          <a:lstStyle/>
          <a:p>
            <a:r>
              <a:rPr lang="en-US" dirty="0"/>
              <a:t>Would have been nice to see (and typically best practice) this compared to OLS. Why?</a:t>
            </a:r>
          </a:p>
          <a:p>
            <a:pPr marL="171450" indent="-171450">
              <a:buFontTx/>
              <a:buChar char="-"/>
            </a:pPr>
            <a:r>
              <a:rPr lang="en-US" dirty="0"/>
              <a:t>They look at heterogeneity by age (what do they find?)</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E551A969-21D7-216F-59F8-C6A6F5FB3AB0}"/>
              </a:ext>
            </a:extLst>
          </p:cNvPr>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12998021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2D0F7-2EE9-7B47-1EB6-C45280C56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A3E27-5371-D75F-6113-BC9649212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3088A-C058-2E92-16DF-3F62C597A533}"/>
              </a:ext>
            </a:extLst>
          </p:cNvPr>
          <p:cNvSpPr>
            <a:spLocks noGrp="1"/>
          </p:cNvSpPr>
          <p:nvPr>
            <p:ph type="body" idx="1"/>
          </p:nvPr>
        </p:nvSpPr>
        <p:spPr/>
        <p:txBody>
          <a:bodyPr/>
          <a:lstStyle/>
          <a:p>
            <a:r>
              <a:rPr lang="en-US" dirty="0"/>
              <a:t>This table is really nice – what would have helped is a descriptive figure or table that told the story more?</a:t>
            </a:r>
          </a:p>
        </p:txBody>
      </p:sp>
      <p:sp>
        <p:nvSpPr>
          <p:cNvPr id="4" name="Slide Number Placeholder 3">
            <a:extLst>
              <a:ext uri="{FF2B5EF4-FFF2-40B4-BE49-F238E27FC236}">
                <a16:creationId xmlns:a16="http://schemas.microsoft.com/office/drawing/2014/main" id="{465EE0E8-BD48-E5CF-4183-4A0D5D71B06D}"/>
              </a:ext>
            </a:extLst>
          </p:cNvPr>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144332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Larger EPO doses should raise hemoglobin, that’s the point! So that’s a good check here. (Note the dependent variable mean to help put these into context). Now also more EPO doses have a declining effect on transfusions, which is in line with medical advice.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1479049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see here? Very limited effects on anything (some increases in mortality). the compliers — those patients whose EPO doses changed as a result of the instrument — had a 4.8% higher death rate during the pre-bundle period from excessive EPO doses. Note that power is low because of the potentially weak IV + few compliers in the sample. The number of observations here is generally a little misleading for 2SLS. </a:t>
            </a:r>
          </a:p>
          <a:p>
            <a:r>
              <a:rPr lang="en-US" dirty="0"/>
              <a:t>- Note that this is related to EPO doses, not the policy effect. </a:t>
            </a: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19846293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Instruments have to be weird!</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28577256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Example for Mendelian randomization: the sex of first two children determines whether parents are more likely to have a third child.</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1875599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Large F stat is just for correcting t-tests for relationship between X and Y and X and Z – your CIs will be a tiny bit wrong. Generally, a large F will work (although closer to 10 still gives you problems). Remember that this is a scale, since we're concerned about weak instruments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54739806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code if time?</a:t>
            </a:r>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135761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Difficulty with defending validity just means that we need to be choosy, not give up on IV altogether. It's just like trying to convince a room your DAG is right! And bulk of evidence helps, here (many studies with different approaches)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29655416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A5E96-0BB3-A934-E357-B9B07659D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F0FB7-67BC-7527-3C16-911B5B8556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2CAC1-5A13-8420-201B-B86A27C421BC}"/>
              </a:ext>
            </a:extLst>
          </p:cNvPr>
          <p:cNvSpPr>
            <a:spLocks noGrp="1"/>
          </p:cNvSpPr>
          <p:nvPr>
            <p:ph type="body" idx="1"/>
          </p:nvPr>
        </p:nvSpPr>
        <p:spPr/>
        <p:txBody>
          <a:bodyPr/>
          <a:lstStyle/>
          <a:p>
            <a:r>
              <a:rPr lang="en-US" dirty="0"/>
              <a:t>This is cutting-edge research here – if you need to include controls, there is a “right” way to do that that is “fully saturated” with the controls included nonparametrically in both the first and second stage (which has its own tradeoff: many instrument bias). This isn’t done commonly in practice! May help to know about this and show robustness to both options. </a:t>
            </a:r>
          </a:p>
        </p:txBody>
      </p:sp>
      <p:sp>
        <p:nvSpPr>
          <p:cNvPr id="4" name="Slide Number Placeholder 3">
            <a:extLst>
              <a:ext uri="{FF2B5EF4-FFF2-40B4-BE49-F238E27FC236}">
                <a16:creationId xmlns:a16="http://schemas.microsoft.com/office/drawing/2014/main" id="{662528F3-2174-4B21-60E2-327E47924EED}"/>
              </a:ext>
            </a:extLst>
          </p:cNvPr>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19414576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Come from Felton and Stewart (they call IV “fragile” – I don’t like that, it’s just kind of a “you get what you put into it” kind of thing – we’re doing QE variation with observational data, so there are limitations. Just need to be aware of them and report them honestly)</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36998384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Examples: can’t control for changes in employment post Hurricane Katrina (downstream outcome; we’ll talk about this one a lot in the course). Coarsened treatments are another example – if you have an IV that changes how people behave in Toronto but not North York, but then you only observe data for the whole GTA, this won’t work</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23490411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Cover this if you have time. Results from a Monte Carlo survey (sorry for gross blue background). Suppose we have 20 IVS but only one is useful. If true coefficient is 1, these are bias of different approaches (note you’re better off just using the one true coefficient!)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414175409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Cover this if you have time. From Felton and Stewart (2022). One not on here: always use packages to get standard errors right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262896898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Skipping over 3 because I don’t believe it (it says to assume the most conservative SE and report multiple </a:t>
            </a:r>
            <a:r>
              <a:rPr lang="en-US" dirty="0" err="1">
                <a:ea typeface="Calibri"/>
                <a:cs typeface="Calibri"/>
              </a:rPr>
              <a:t>Ses</a:t>
            </a:r>
            <a:r>
              <a:rPr lang="en-US" dirty="0">
                <a:ea typeface="Calibri"/>
                <a:cs typeface="Calibri"/>
              </a:rPr>
              <a:t> – I think you should pick your choice theoretically and use that one)</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0412665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 is most useful when looking at regional market differences in health questions. </a:t>
            </a:r>
          </a:p>
        </p:txBody>
      </p:sp>
      <p:sp>
        <p:nvSpPr>
          <p:cNvPr id="4" name="Slide Number Placeholder 3"/>
          <p:cNvSpPr>
            <a:spLocks noGrp="1"/>
          </p:cNvSpPr>
          <p:nvPr>
            <p:ph type="sldNum" sz="quarter" idx="5"/>
          </p:nvPr>
        </p:nvSpPr>
        <p:spPr/>
        <p:txBody>
          <a:bodyPr/>
          <a:lstStyle/>
          <a:p>
            <a:fld id="{3298C5B2-5D6B-2949-9D6C-64FEDA8AB56A}" type="slidenum">
              <a:rPr lang="en-US" smtClean="0"/>
              <a:t>48</a:t>
            </a:fld>
            <a:endParaRPr lang="en-US"/>
          </a:p>
        </p:txBody>
      </p:sp>
    </p:spTree>
    <p:extLst>
      <p:ext uri="{BB962C8B-B14F-4D97-AF65-F5344CB8AC3E}">
        <p14:creationId xmlns:p14="http://schemas.microsoft.com/office/powerpoint/2010/main" val="2032646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7/22/2026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0.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 Id="rId4" Type="http://schemas.openxmlformats.org/officeDocument/2006/relationships/image" Target="../media/image46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s://t.co/CKjn3Zq9bS"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hyperlink" Target="https://t.co/CKjn3Zq9bS" TargetMode="External"/><Relationship Id="rId4" Type="http://schemas.openxmlformats.org/officeDocument/2006/relationships/hyperlink" Target="https://www.nber.org/system/files/working_papers/t0284/t0284.pdf" TargetMode="External"/><Relationship Id="rId5"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hyperlink" Target="https://t.co/CKjn3Zq9bS" TargetMode="External"/><Relationship Id="rId4" Type="http://schemas.openxmlformats.org/officeDocument/2006/relationships/hyperlink" Target="https://www.nber.org/system/files/working_papers/t0284/t0284.pdf" TargetMode="External"/><Relationship Id="rId5" Type="http://schemas.openxmlformats.org/officeDocument/2006/relationships/hyperlink" Target="https://r.search.yahoo.com/_ylt=AwrEeBwgMNBi6wQAYw0XFwx.;_ylu=Y29sbwNiZjEEcG9zAzMEdnRpZAMEc2VjA3Ny/RV=2/RE=1657839776/RO=10/RU=https%3a%2f%2fwww.livescience.com%2fblood-type-coronavirus-respiratory-antigens.html/RK=2/RS=QPtOWF_jp31XZCSxEvmq6aXONLE-" TargetMode="External"/><Relationship Id="rId6" Type="http://schemas.openxmlformats.org/officeDocument/2006/relationships/image" Target="../media/image38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5.png"/><Relationship Id="rId4"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Quantitative HSR I</a:t>
            </a:r>
          </a:p>
        </p:txBody>
      </p:sp>
      <p:sp>
        <p:nvSpPr>
          <p:cNvPr id="3" name="Subtitle 2"/>
          <p:cNvSpPr>
            <a:spLocks noGrp="1"/>
          </p:cNvSpPr>
          <p:nvPr>
            <p:ph type="subTitle" idx="1"/>
          </p:nvPr>
        </p:nvSpPr>
        <p:spPr/>
        <p:txBody>
          <a:bodyPr>
            <a:normAutofit fontScale="92500" lnSpcReduction="20000"/>
          </a:bodyPr>
          <a:lstStyle/>
          <a:p>
            <a:r>
              <a:rPr>
                <a:latin typeface="Century Schoolbook"/>
              </a:rPr>
              <a:t>Lecture 8 (Day 2 of 2): Endogeneity &amp; Instrumental Variables</a:t>
            </a:r>
          </a:p>
          <a:p>
            <a:r>
              <a:rPr>
                <a:latin typeface="Century Schoolbook"/>
              </a:rPr>
              <a:t>November 9, 2026</a:t>
            </a:r>
          </a:p>
          <a:p>
            <a:endParaRPr>
              <a:latin typeface="Century Schoolbook"/>
            </a:endParaRPr>
          </a:p>
          <a:p>
            <a:r>
              <a:rPr>
                <a:latin typeface="Century Schoolbook"/>
              </a:rPr>
              <a:t>HAD5744 · 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46D7-5C8E-14DB-11D1-91C659A20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FF649-E0AB-8B06-1CC3-15E85994E61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Last Time: Introducing IV</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DAAFC1-D66C-5212-70A4-A0F1533BB4D2}"/>
              </a:ext>
            </a:extLst>
          </p:cNvPr>
          <p:cNvSpPr>
            <a:spLocks noGrp="1"/>
          </p:cNvSpPr>
          <p:nvPr>
            <p:ph idx="1"/>
          </p:nvPr>
        </p:nvSpPr>
        <p:spPr>
          <a:xfrm>
            <a:off x="609601" y="1066801"/>
            <a:ext cx="10015390" cy="5141388"/>
          </a:xfrm>
        </p:spPr>
        <p:txBody>
          <a:bodyPr>
            <a:noAutofit/>
          </a:bodyPr>
          <a:lstStyle/>
          <a:p>
            <a:pPr lvl="1"/>
            <a:r>
              <a:rPr lang="en-US" sz="2400" dirty="0">
                <a:cs typeface="Times New Roman" panose="02020603050405020304" pitchFamily="18" charset="0"/>
              </a:rPr>
              <a:t>Endogeneity/exogeneity</a:t>
            </a:r>
          </a:p>
          <a:p>
            <a:pPr lvl="1"/>
            <a:r>
              <a:rPr lang="en-US" sz="2400" dirty="0">
                <a:cs typeface="Times New Roman" panose="02020603050405020304" pitchFamily="18" charset="0"/>
              </a:rPr>
              <a:t>Key assumptions for an IV</a:t>
            </a:r>
          </a:p>
          <a:p>
            <a:pPr lvl="1"/>
            <a:r>
              <a:rPr lang="en-US" sz="2400" dirty="0">
                <a:cs typeface="Times New Roman" panose="02020603050405020304" pitchFamily="18" charset="0"/>
              </a:rPr>
              <a:t>Estimation of 2SLS Regressions</a:t>
            </a:r>
          </a:p>
          <a:p>
            <a:pPr lvl="1"/>
            <a:endParaRPr lang="en-US" sz="2400" dirty="0">
              <a:cs typeface="Times New Roman" panose="02020603050405020304" pitchFamily="18" charset="0"/>
            </a:endParaRPr>
          </a:p>
          <a:p>
            <a:pPr marL="274320" lvl="1" indent="0">
              <a:buNone/>
            </a:pPr>
            <a:r>
              <a:rPr lang="en-US" sz="2400" b="1" dirty="0">
                <a:cs typeface="Times New Roman" panose="02020603050405020304" pitchFamily="18" charset="0"/>
              </a:rPr>
              <a:t>This time: </a:t>
            </a:r>
          </a:p>
          <a:p>
            <a:pPr lvl="1"/>
            <a:r>
              <a:rPr lang="en-US" sz="2400" dirty="0">
                <a:cs typeface="Times New Roman" panose="02020603050405020304" pitchFamily="18" charset="0"/>
              </a:rPr>
              <a:t>Interpreting 2SLS results </a:t>
            </a:r>
          </a:p>
          <a:p>
            <a:pPr lvl="1"/>
            <a:r>
              <a:rPr lang="en-US" sz="2400" dirty="0">
                <a:cs typeface="Times New Roman" panose="02020603050405020304" pitchFamily="18" charset="0"/>
              </a:rPr>
              <a:t>How do you come up with and defend an IV in practice? </a:t>
            </a:r>
          </a:p>
          <a:p>
            <a:pPr lvl="1"/>
            <a:r>
              <a:rPr lang="en-US" sz="2400" dirty="0">
                <a:cs typeface="Times New Roman" panose="02020603050405020304" pitchFamily="18" charset="0"/>
              </a:rPr>
              <a:t>Additional examples</a:t>
            </a:r>
          </a:p>
          <a:p>
            <a:pPr lvl="1"/>
            <a:endParaRPr lang="en-US" sz="2400" dirty="0">
              <a:cs typeface="Times New Roman" panose="02020603050405020304" pitchFamily="18" charset="0"/>
            </a:endParaRPr>
          </a:p>
        </p:txBody>
      </p:sp>
    </p:spTree>
    <p:extLst>
      <p:ext uri="{BB962C8B-B14F-4D97-AF65-F5344CB8AC3E}">
        <p14:creationId xmlns:p14="http://schemas.microsoft.com/office/powerpoint/2010/main" val="3636095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Case Stud(</a:t>
            </a:r>
            <a:r>
              <a:rPr lang="en-US" dirty="0" err="1"/>
              <a:t>ies</a:t>
            </a:r>
            <a:r>
              <a:rPr lang="en-US" dirty="0"/>
              <a:t>)</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47390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369E5-D439-57B1-D2BB-0D796E82C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FC516-F76B-1BB8-08F2-72E66655776D}"/>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Another example: causal effect of </a:t>
            </a:r>
            <a:r>
              <a:rPr lang="en-US" sz="3600" b="1" dirty="0">
                <a:latin typeface="Times New Roman" panose="02020603050405020304" pitchFamily="18" charset="0"/>
                <a:cs typeface="Times New Roman" panose="02020603050405020304" pitchFamily="18" charset="0"/>
              </a:rPr>
              <a:t>surgical interventions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9D635C-8E26-E37A-75F0-2A7102E0D139}"/>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Same questions (and biases) likely apply to this setting as last time (what were they?)</a:t>
            </a:r>
          </a:p>
          <a:p>
            <a:r>
              <a:rPr lang="en-US" sz="2400" dirty="0">
                <a:cs typeface="Times New Roman" panose="02020603050405020304" pitchFamily="18" charset="0"/>
              </a:rPr>
              <a:t>But why is this an important question? What is the experiment and the naïve comparison, and why might it be wrong? </a:t>
            </a:r>
          </a:p>
        </p:txBody>
      </p:sp>
      <p:pic>
        <p:nvPicPr>
          <p:cNvPr id="5" name="Picture 4">
            <a:extLst>
              <a:ext uri="{FF2B5EF4-FFF2-40B4-BE49-F238E27FC236}">
                <a16:creationId xmlns:a16="http://schemas.microsoft.com/office/drawing/2014/main" id="{24049654-D1FD-0F64-52A2-7EB9275EF757}"/>
              </a:ext>
            </a:extLst>
          </p:cNvPr>
          <p:cNvPicPr>
            <a:picLocks noChangeAspect="1"/>
          </p:cNvPicPr>
          <p:nvPr/>
        </p:nvPicPr>
        <p:blipFill>
          <a:blip r:embed="rId3"/>
          <a:stretch>
            <a:fillRect/>
          </a:stretch>
        </p:blipFill>
        <p:spPr>
          <a:xfrm>
            <a:off x="3810000" y="2715600"/>
            <a:ext cx="8229600" cy="4066200"/>
          </a:xfrm>
          <a:prstGeom prst="rect">
            <a:avLst/>
          </a:prstGeom>
        </p:spPr>
      </p:pic>
    </p:spTree>
    <p:extLst>
      <p:ext uri="{BB962C8B-B14F-4D97-AF65-F5344CB8AC3E}">
        <p14:creationId xmlns:p14="http://schemas.microsoft.com/office/powerpoint/2010/main" val="360900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AB12D-E818-2670-62A1-F839D83C3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B99BB-17AF-E582-70C7-560D03A055A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Instrumental Variable in our Example(s)</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2362C22-11AB-BBAF-50EE-693CF5B1F385}"/>
              </a:ext>
            </a:extLst>
          </p:cNvPr>
          <p:cNvSpPr>
            <a:spLocks noGrp="1"/>
          </p:cNvSpPr>
          <p:nvPr>
            <p:ph idx="1"/>
          </p:nvPr>
        </p:nvSpPr>
        <p:spPr>
          <a:xfrm>
            <a:off x="685800" y="1143000"/>
            <a:ext cx="10363200" cy="5037137"/>
          </a:xfrm>
        </p:spPr>
        <p:txBody>
          <a:bodyPr>
            <a:normAutofit/>
          </a:bodyPr>
          <a:lstStyle/>
          <a:p>
            <a:pPr marL="0" indent="0">
              <a:buNone/>
            </a:pPr>
            <a:r>
              <a:rPr lang="en-US" sz="2400" dirty="0"/>
              <a:t>What makes an IV compelling? </a:t>
            </a:r>
          </a:p>
          <a:p>
            <a:pPr marL="228600" indent="-228600">
              <a:buAutoNum type="arabicPeriod"/>
            </a:pPr>
            <a:r>
              <a:rPr lang="en-US" sz="2400" dirty="0"/>
              <a:t>For vaccines, it was vaccination rates of those around you</a:t>
            </a:r>
          </a:p>
          <a:p>
            <a:pPr marL="228600" indent="-228600">
              <a:buAutoNum type="arabicPeriod"/>
            </a:pPr>
            <a:r>
              <a:rPr lang="en-US" sz="2400" dirty="0"/>
              <a:t>For PCIs, exogenous variation came from </a:t>
            </a:r>
            <a:r>
              <a:rPr lang="en-US" sz="2400" i="1" dirty="0"/>
              <a:t>differential distance: </a:t>
            </a:r>
            <a:r>
              <a:rPr lang="en-US" sz="2400" dirty="0"/>
              <a:t>how much farther is it from you to a PCI hospital than it is from you to your closest hospital.  </a:t>
            </a:r>
          </a:p>
          <a:p>
            <a:pPr marL="228600" indent="-228600">
              <a:buAutoNum type="arabicPeriod"/>
            </a:pPr>
            <a:r>
              <a:rPr lang="en-US" sz="2400" dirty="0"/>
              <a:t>What is it for the dialysis paper? </a:t>
            </a:r>
          </a:p>
          <a:p>
            <a:endParaRPr lang="en-US" sz="2200" dirty="0"/>
          </a:p>
        </p:txBody>
      </p:sp>
      <p:pic>
        <p:nvPicPr>
          <p:cNvPr id="7" name="Picture 6">
            <a:extLst>
              <a:ext uri="{FF2B5EF4-FFF2-40B4-BE49-F238E27FC236}">
                <a16:creationId xmlns:a16="http://schemas.microsoft.com/office/drawing/2014/main" id="{AB2A68A0-8616-DA5B-613A-12E5C3A4C6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9800" y="3378200"/>
            <a:ext cx="5219700" cy="3479800"/>
          </a:xfrm>
          <a:prstGeom prst="rect">
            <a:avLst/>
          </a:prstGeom>
        </p:spPr>
      </p:pic>
    </p:spTree>
    <p:extLst>
      <p:ext uri="{BB962C8B-B14F-4D97-AF65-F5344CB8AC3E}">
        <p14:creationId xmlns:p14="http://schemas.microsoft.com/office/powerpoint/2010/main" val="1096438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2372B-C086-EFCB-0940-CB2FE8EC6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466C7-A7DE-7C03-84A2-C2FD7164669B}"/>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Waiting Times and Transplantation Outcomes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449032-3057-D472-6632-473BBA70B1BA}"/>
              </a:ext>
            </a:extLst>
          </p:cNvPr>
          <p:cNvSpPr>
            <a:spLocks noGrp="1"/>
          </p:cNvSpPr>
          <p:nvPr>
            <p:ph idx="1"/>
          </p:nvPr>
        </p:nvSpPr>
        <p:spPr>
          <a:xfrm>
            <a:off x="1219199" y="1066801"/>
            <a:ext cx="982980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A83A92F7-41DF-7E60-DCA0-CC3ADE93EC76}"/>
              </a:ext>
            </a:extLst>
          </p:cNvPr>
          <p:cNvPicPr>
            <a:picLocks noChangeAspect="1"/>
          </p:cNvPicPr>
          <p:nvPr/>
        </p:nvPicPr>
        <p:blipFill>
          <a:blip r:embed="rId3"/>
          <a:stretch>
            <a:fillRect/>
          </a:stretch>
        </p:blipFill>
        <p:spPr>
          <a:xfrm>
            <a:off x="254035" y="1069526"/>
            <a:ext cx="10759276" cy="5483877"/>
          </a:xfrm>
          <a:prstGeom prst="rect">
            <a:avLst/>
          </a:prstGeom>
        </p:spPr>
      </p:pic>
    </p:spTree>
    <p:extLst>
      <p:ext uri="{BB962C8B-B14F-4D97-AF65-F5344CB8AC3E}">
        <p14:creationId xmlns:p14="http://schemas.microsoft.com/office/powerpoint/2010/main" val="1881556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6019799" cy="5141388"/>
          </a:xfrm>
        </p:spPr>
        <p:txBody>
          <a:bodyPr>
            <a:noAutofit/>
          </a:bodyPr>
          <a:lstStyle/>
          <a:p>
            <a:r>
              <a:rPr lang="en-US" sz="2400" dirty="0">
                <a:cs typeface="Times New Roman" panose="02020603050405020304" pitchFamily="18" charset="0"/>
              </a:rPr>
              <a:t>Data and summary statistics	</a:t>
            </a:r>
          </a:p>
          <a:p>
            <a:pPr lvl="1"/>
            <a:r>
              <a:rPr lang="en-US" sz="2200" dirty="0">
                <a:cs typeface="Times New Roman" panose="02020603050405020304" pitchFamily="18" charset="0"/>
              </a:rPr>
              <a:t>U.S. Renal Data System: Medicare claims, treatment histories, patient attributes, and annual facility surveys</a:t>
            </a:r>
          </a:p>
        </p:txBody>
      </p:sp>
      <p:pic>
        <p:nvPicPr>
          <p:cNvPr id="6" name="Picture 5">
            <a:extLst>
              <a:ext uri="{FF2B5EF4-FFF2-40B4-BE49-F238E27FC236}">
                <a16:creationId xmlns:a16="http://schemas.microsoft.com/office/drawing/2014/main" id="{6259392A-FA18-AD29-4DF5-5B39A1C2CFF1}"/>
              </a:ext>
            </a:extLst>
          </p:cNvPr>
          <p:cNvPicPr>
            <a:picLocks noChangeAspect="1"/>
          </p:cNvPicPr>
          <p:nvPr/>
        </p:nvPicPr>
        <p:blipFill>
          <a:blip r:embed="rId3"/>
          <a:stretch>
            <a:fillRect/>
          </a:stretch>
        </p:blipFill>
        <p:spPr>
          <a:xfrm>
            <a:off x="6885994" y="132890"/>
            <a:ext cx="4163006" cy="6592220"/>
          </a:xfrm>
          <a:prstGeom prst="rect">
            <a:avLst/>
          </a:prstGeom>
        </p:spPr>
      </p:pic>
    </p:spTree>
    <p:extLst>
      <p:ext uri="{BB962C8B-B14F-4D97-AF65-F5344CB8AC3E}">
        <p14:creationId xmlns:p14="http://schemas.microsoft.com/office/powerpoint/2010/main" val="39787922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363199" cy="5141388"/>
          </a:xfrm>
        </p:spPr>
        <p:txBody>
          <a:bodyPr>
            <a:noAutofit/>
          </a:bodyPr>
          <a:lstStyle/>
          <a:p>
            <a:r>
              <a:rPr lang="en-US" sz="2400" dirty="0">
                <a:cs typeface="Times New Roman" panose="02020603050405020304" pitchFamily="18" charset="0"/>
              </a:rPr>
              <a:t>Data and summary statistics	</a:t>
            </a:r>
          </a:p>
          <a:p>
            <a:pPr lvl="1"/>
            <a:r>
              <a:rPr lang="en-US" sz="2200" dirty="0">
                <a:cs typeface="Times New Roman" panose="02020603050405020304" pitchFamily="18" charset="0"/>
              </a:rPr>
              <a:t>U.S. Renal Data System: Medicare claims, treatment histories, patient attributes, and annual facility surveys</a:t>
            </a:r>
          </a:p>
          <a:p>
            <a:r>
              <a:rPr lang="en-US" sz="2400" dirty="0">
                <a:cs typeface="Times New Roman" panose="02020603050405020304" pitchFamily="18" charset="0"/>
              </a:rPr>
              <a:t>Reform bundled Medicare payments for dialysis sessions and injectable drugs</a:t>
            </a:r>
          </a:p>
        </p:txBody>
      </p:sp>
      <p:pic>
        <p:nvPicPr>
          <p:cNvPr id="5" name="Picture 4">
            <a:extLst>
              <a:ext uri="{FF2B5EF4-FFF2-40B4-BE49-F238E27FC236}">
                <a16:creationId xmlns:a16="http://schemas.microsoft.com/office/drawing/2014/main" id="{7F0A4B0A-882E-160D-7BA7-CE02416B116A}"/>
              </a:ext>
            </a:extLst>
          </p:cNvPr>
          <p:cNvPicPr>
            <a:picLocks noChangeAspect="1"/>
          </p:cNvPicPr>
          <p:nvPr/>
        </p:nvPicPr>
        <p:blipFill>
          <a:blip r:embed="rId3"/>
          <a:stretch>
            <a:fillRect/>
          </a:stretch>
        </p:blipFill>
        <p:spPr>
          <a:xfrm>
            <a:off x="2590800" y="2887876"/>
            <a:ext cx="8478667" cy="3945046"/>
          </a:xfrm>
          <a:prstGeom prst="rect">
            <a:avLst/>
          </a:prstGeom>
        </p:spPr>
      </p:pic>
    </p:spTree>
    <p:extLst>
      <p:ext uri="{BB962C8B-B14F-4D97-AF65-F5344CB8AC3E}">
        <p14:creationId xmlns:p14="http://schemas.microsoft.com/office/powerpoint/2010/main" val="19929811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363199"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DA09A8D3-BF3A-DB1C-DA46-CC2A0C0D7C0F}"/>
              </a:ext>
            </a:extLst>
          </p:cNvPr>
          <p:cNvPicPr>
            <a:picLocks noChangeAspect="1"/>
          </p:cNvPicPr>
          <p:nvPr/>
        </p:nvPicPr>
        <p:blipFill>
          <a:blip r:embed="rId3"/>
          <a:stretch>
            <a:fillRect/>
          </a:stretch>
        </p:blipFill>
        <p:spPr>
          <a:xfrm>
            <a:off x="1600200" y="838200"/>
            <a:ext cx="8087854" cy="5906324"/>
          </a:xfrm>
          <a:prstGeom prst="rect">
            <a:avLst/>
          </a:prstGeom>
        </p:spPr>
      </p:pic>
    </p:spTree>
    <p:extLst>
      <p:ext uri="{BB962C8B-B14F-4D97-AF65-F5344CB8AC3E}">
        <p14:creationId xmlns:p14="http://schemas.microsoft.com/office/powerpoint/2010/main" val="1283697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281E947F-0495-B10C-549A-29BB35FA290D}"/>
              </a:ext>
            </a:extLst>
          </p:cNvPr>
          <p:cNvPicPr>
            <a:picLocks noGrp="1" noChangeAspect="1"/>
          </p:cNvPicPr>
          <p:nvPr>
            <p:ph idx="1"/>
          </p:nvPr>
        </p:nvPicPr>
        <p:blipFill>
          <a:blip r:embed="rId3"/>
          <a:stretch>
            <a:fillRect/>
          </a:stretch>
        </p:blipFill>
        <p:spPr>
          <a:xfrm>
            <a:off x="381000" y="962232"/>
            <a:ext cx="10668000" cy="4025007"/>
          </a:xfrm>
        </p:spPr>
      </p:pic>
      <p:sp>
        <p:nvSpPr>
          <p:cNvPr id="7" name="TextBox 6">
            <a:extLst>
              <a:ext uri="{FF2B5EF4-FFF2-40B4-BE49-F238E27FC236}">
                <a16:creationId xmlns:a16="http://schemas.microsoft.com/office/drawing/2014/main" id="{B3146A89-D76F-D8D7-ADF0-C09E6A21778E}"/>
              </a:ext>
            </a:extLst>
          </p:cNvPr>
          <p:cNvSpPr txBox="1"/>
          <p:nvPr/>
        </p:nvSpPr>
        <p:spPr>
          <a:xfrm>
            <a:off x="381000" y="5257800"/>
            <a:ext cx="10330007" cy="492443"/>
          </a:xfrm>
          <a:prstGeom prst="rect">
            <a:avLst/>
          </a:prstGeom>
          <a:solidFill>
            <a:schemeClr val="accent2"/>
          </a:solidFill>
        </p:spPr>
        <p:txBody>
          <a:bodyPr wrap="none" rtlCol="0">
            <a:spAutoFit/>
          </a:bodyPr>
          <a:lstStyle/>
          <a:p>
            <a:r>
              <a:rPr lang="en-US" sz="2600" dirty="0">
                <a:latin typeface="Aptos" panose="020B0004020202020204" pitchFamily="34" charset="0"/>
              </a:rPr>
              <a:t>But what if EPO doses are </a:t>
            </a:r>
            <a:r>
              <a:rPr lang="en-US" sz="2600" b="1" dirty="0">
                <a:latin typeface="Aptos" panose="020B0004020202020204" pitchFamily="34" charset="0"/>
              </a:rPr>
              <a:t>endogenously</a:t>
            </a:r>
            <a:r>
              <a:rPr lang="en-US" sz="2600" dirty="0">
                <a:latin typeface="Aptos" panose="020B0004020202020204" pitchFamily="34" charset="0"/>
              </a:rPr>
              <a:t> chosen by facilities/patients?</a:t>
            </a:r>
          </a:p>
        </p:txBody>
      </p:sp>
    </p:spTree>
    <p:extLst>
      <p:ext uri="{BB962C8B-B14F-4D97-AF65-F5344CB8AC3E}">
        <p14:creationId xmlns:p14="http://schemas.microsoft.com/office/powerpoint/2010/main" val="396324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000991-8135-1285-0599-0E123CC95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7C895-F154-56C8-6AEA-732E95095161}"/>
              </a:ext>
            </a:extLst>
          </p:cNvPr>
          <p:cNvSpPr>
            <a:spLocks noGrp="1"/>
          </p:cNvSpPr>
          <p:nvPr>
            <p:ph type="title"/>
          </p:nvPr>
        </p:nvSpPr>
        <p:spPr>
          <a:xfrm>
            <a:off x="609600" y="337392"/>
            <a:ext cx="10439400" cy="624840"/>
          </a:xfrm>
        </p:spPr>
        <p:txBody>
          <a:bodyPr>
            <a:noAutofit/>
          </a:bodyPr>
          <a:lstStyle/>
          <a:p>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0DC5A1-2049-1D68-8541-B9F0FE145B4E}"/>
              </a:ext>
            </a:extLst>
          </p:cNvPr>
          <p:cNvSpPr>
            <a:spLocks noGrp="1"/>
          </p:cNvSpPr>
          <p:nvPr>
            <p:ph idx="1"/>
          </p:nvPr>
        </p:nvSpPr>
        <p:spPr>
          <a:xfrm>
            <a:off x="609600" y="962232"/>
            <a:ext cx="10744200" cy="6200568"/>
          </a:xfrm>
        </p:spPr>
        <p:txBody>
          <a:bodyPr>
            <a:noAutofit/>
          </a:bodyPr>
          <a:lstStyle/>
          <a:p>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54151736-C752-79F8-B1AE-408EB7AEA1A9}"/>
              </a:ext>
            </a:extLst>
          </p:cNvPr>
          <p:cNvPicPr>
            <a:picLocks noChangeAspect="1"/>
          </p:cNvPicPr>
          <p:nvPr/>
        </p:nvPicPr>
        <p:blipFill>
          <a:blip r:embed="rId3"/>
          <a:stretch>
            <a:fillRect/>
          </a:stretch>
        </p:blipFill>
        <p:spPr>
          <a:xfrm>
            <a:off x="304800" y="152400"/>
            <a:ext cx="11248645" cy="5867400"/>
          </a:xfrm>
          <a:prstGeom prst="rect">
            <a:avLst/>
          </a:prstGeom>
        </p:spPr>
      </p:pic>
    </p:spTree>
    <p:extLst>
      <p:ext uri="{BB962C8B-B14F-4D97-AF65-F5344CB8AC3E}">
        <p14:creationId xmlns:p14="http://schemas.microsoft.com/office/powerpoint/2010/main" val="27979941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latin typeface="Times New Roman"/>
                <a:cs typeface="Times New Roman"/>
              </a:rPr>
              <a:t>Interpreting and Implementing IV</a:t>
            </a:r>
            <a:endParaRPr lang="en-US" dirty="0"/>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424349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A454F61F-F920-805D-F115-EE4C67D43FC4}"/>
              </a:ext>
            </a:extLst>
          </p:cNvPr>
          <p:cNvPicPr>
            <a:picLocks noChangeAspect="1"/>
          </p:cNvPicPr>
          <p:nvPr/>
        </p:nvPicPr>
        <p:blipFill>
          <a:blip r:embed="rId3"/>
          <a:stretch>
            <a:fillRect/>
          </a:stretch>
        </p:blipFill>
        <p:spPr>
          <a:xfrm>
            <a:off x="800100" y="1472274"/>
            <a:ext cx="10058400" cy="3913451"/>
          </a:xfrm>
          <a:prstGeom prst="rect">
            <a:avLst/>
          </a:prstGeom>
        </p:spPr>
      </p:pic>
    </p:spTree>
    <p:extLst>
      <p:ext uri="{BB962C8B-B14F-4D97-AF65-F5344CB8AC3E}">
        <p14:creationId xmlns:p14="http://schemas.microsoft.com/office/powerpoint/2010/main" val="192143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r>
                  <a:rPr lang="en-US" sz="2400" dirty="0">
                    <a:cs typeface="Times New Roman" panose="02020603050405020304" pitchFamily="18" charset="0"/>
                  </a:rPr>
                  <a:t>The first assumption is </a:t>
                </a:r>
                <a:r>
                  <a:rPr lang="en-US" sz="2400" b="1" dirty="0">
                    <a:solidFill>
                      <a:schemeClr val="accent2">
                        <a:lumMod val="75000"/>
                      </a:schemeClr>
                    </a:solidFill>
                    <a:cs typeface="Times New Roman" panose="02020603050405020304" pitchFamily="18" charset="0"/>
                  </a:rPr>
                  <a:t>testable: </a:t>
                </a:r>
                <a:r>
                  <a:rPr lang="en-US" sz="2400" dirty="0">
                    <a:cs typeface="Times New Roman" panose="02020603050405020304" pitchFamily="18" charset="0"/>
                  </a:rPr>
                  <a:t>what is the correlation </a:t>
                </a:r>
                <a:r>
                  <a:rPr lang="en-US" sz="2400" dirty="0">
                    <a:solidFill>
                      <a:schemeClr val="tx1"/>
                    </a:solidFill>
                    <a:cs typeface="Times New Roman" panose="02020603050405020304" pitchFamily="18" charset="0"/>
                  </a:rPr>
                  <a:t>between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𝑧</m:t>
                    </m:r>
                  </m:oMath>
                </a14:m>
                <a:r>
                  <a:rPr lang="en-US" sz="2400" dirty="0">
                    <a:solidFill>
                      <a:schemeClr val="tx1"/>
                    </a:solidFill>
                    <a:cs typeface="Times New Roman" panose="02020603050405020304" pitchFamily="18" charset="0"/>
                  </a:rPr>
                  <a:t> and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𝑥</m:t>
                    </m:r>
                  </m:oMath>
                </a14:m>
                <a:r>
                  <a:rPr lang="en-US" sz="2400" dirty="0">
                    <a:solidFill>
                      <a:schemeClr val="tx1"/>
                    </a:solidFill>
                    <a:cs typeface="Times New Roman" panose="02020603050405020304" pitchFamily="18" charset="0"/>
                  </a:rPr>
                  <a:t>?</a:t>
                </a:r>
              </a:p>
              <a:p>
                <a:r>
                  <a:rPr lang="en-US" sz="2400" dirty="0">
                    <a:cs typeface="Times New Roman" panose="02020603050405020304" pitchFamily="18" charset="0"/>
                  </a:rPr>
                  <a:t>Instrument needs to be sufficiently</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strong</a:t>
                </a:r>
              </a:p>
              <a:p>
                <a:pPr lvl="1"/>
                <a:r>
                  <a:rPr lang="en-US" sz="2400" dirty="0">
                    <a:cs typeface="Times New Roman" panose="02020603050405020304" pitchFamily="18" charset="0"/>
                  </a:rPr>
                  <a:t>Weak instrument problem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lots of variation in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𝛽</m:t>
                        </m:r>
                      </m:e>
                    </m:acc>
                  </m:oMath>
                </a14:m>
                <a:endParaRPr lang="en-US" sz="2400" dirty="0">
                  <a:cs typeface="Times New Roman" panose="02020603050405020304" pitchFamily="18" charset="0"/>
                </a:endParaRPr>
              </a:p>
              <a:p>
                <a:r>
                  <a:rPr lang="en-US" sz="2400" b="1" i="1" dirty="0">
                    <a:solidFill>
                      <a:schemeClr val="accent2">
                        <a:lumMod val="75000"/>
                      </a:schemeClr>
                    </a:solidFill>
                    <a:cs typeface="Times New Roman" panose="02020603050405020304" pitchFamily="18" charset="0"/>
                  </a:rPr>
                  <a:t>F-</a:t>
                </a:r>
                <a:r>
                  <a:rPr lang="en-US" sz="2400" b="1" dirty="0">
                    <a:solidFill>
                      <a:schemeClr val="accent2">
                        <a:lumMod val="75000"/>
                      </a:schemeClr>
                    </a:solidFill>
                    <a:cs typeface="Times New Roman" panose="02020603050405020304" pitchFamily="18" charset="0"/>
                  </a:rPr>
                  <a:t>statistic rule: </a:t>
                </a:r>
                <a:r>
                  <a:rPr lang="en-US" sz="2400" dirty="0">
                    <a:solidFill>
                      <a:schemeClr val="tx1"/>
                    </a:solidFill>
                    <a:cs typeface="Times New Roman" panose="02020603050405020304" pitchFamily="18" charset="0"/>
                  </a:rPr>
                  <a:t>If you regress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𝑥</m:t>
                    </m:r>
                  </m:oMath>
                </a14:m>
                <a:r>
                  <a:rPr lang="en-US" sz="2400" b="1" i="1" dirty="0">
                    <a:solidFill>
                      <a:schemeClr val="tx1"/>
                    </a:solidFill>
                    <a:cs typeface="Times New Roman" panose="02020603050405020304" pitchFamily="18" charset="0"/>
                  </a:rPr>
                  <a:t> </a:t>
                </a:r>
                <a:r>
                  <a:rPr lang="en-US" sz="2400" dirty="0">
                    <a:solidFill>
                      <a:schemeClr val="tx1"/>
                    </a:solidFill>
                    <a:cs typeface="Times New Roman" panose="02020603050405020304" pitchFamily="18" charset="0"/>
                  </a:rPr>
                  <a:t>on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𝑧</m:t>
                    </m:r>
                  </m:oMath>
                </a14:m>
                <a:r>
                  <a:rPr lang="en-US" sz="2400" dirty="0">
                    <a:solidFill>
                      <a:schemeClr val="tx1"/>
                    </a:solidFill>
                    <a:cs typeface="Times New Roman" panose="02020603050405020304" pitchFamily="18" charset="0"/>
                  </a:rPr>
                  <a:t>, </a:t>
                </a:r>
                <a:r>
                  <a:rPr lang="en-US" sz="2400" dirty="0">
                    <a:solidFill>
                      <a:schemeClr val="accent2">
                        <a:lumMod val="75000"/>
                      </a:schemeClr>
                    </a:solidFill>
                    <a:cs typeface="Times New Roman" panose="02020603050405020304" pitchFamily="18" charset="0"/>
                  </a:rPr>
                  <a:t>should get an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𝑭</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&gt;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𝟏𝟎𝟒</m:t>
                    </m:r>
                  </m:oMath>
                </a14:m>
                <a:endParaRPr lang="en-US" sz="2400" b="1" i="1" dirty="0">
                  <a:solidFill>
                    <a:schemeClr val="accent2">
                      <a:lumMod val="75000"/>
                    </a:schemeClr>
                  </a:solidFill>
                  <a:cs typeface="Times New Roman" panose="02020603050405020304" pitchFamily="18" charset="0"/>
                </a:endParaRPr>
              </a:p>
              <a:p>
                <a:pPr lvl="1"/>
                <a:r>
                  <a:rPr lang="en-US" sz="2400" dirty="0">
                    <a:solidFill>
                      <a:schemeClr val="tx1"/>
                    </a:solidFill>
                    <a:cs typeface="Times New Roman" panose="02020603050405020304" pitchFamily="18" charset="0"/>
                  </a:rPr>
                  <a:t>This seems to be a moving target these days (link to paper)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82B2D66-6ACE-9717-85C9-72CE284041E8}"/>
              </a:ext>
            </a:extLst>
          </p:cNvPr>
          <p:cNvPicPr>
            <a:picLocks noChangeAspect="1"/>
          </p:cNvPicPr>
          <p:nvPr/>
        </p:nvPicPr>
        <p:blipFill>
          <a:blip r:embed="rId4"/>
          <a:stretch>
            <a:fillRect/>
          </a:stretch>
        </p:blipFill>
        <p:spPr>
          <a:xfrm>
            <a:off x="1449673" y="1066801"/>
            <a:ext cx="8914281" cy="1709056"/>
          </a:xfrm>
          <a:prstGeom prst="rect">
            <a:avLst/>
          </a:prstGeom>
        </p:spPr>
      </p:pic>
    </p:spTree>
    <p:extLst>
      <p:ext uri="{BB962C8B-B14F-4D97-AF65-F5344CB8AC3E}">
        <p14:creationId xmlns:p14="http://schemas.microsoft.com/office/powerpoint/2010/main" val="3994488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831" y="640080"/>
            <a:ext cx="3690425" cy="1363344"/>
          </a:xfrm>
        </p:spPr>
        <p:txBody>
          <a:bodyPr>
            <a:normAutofit/>
          </a:bodyPr>
          <a:lstStyle/>
          <a:p>
            <a:r>
              <a:rPr lang="en-US" sz="3200">
                <a:cs typeface="Times New Roman" panose="02020603050405020304" pitchFamily="18" charset="0"/>
              </a:rPr>
              <a:t>Example of a First Stage Test</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3831" y="2325157"/>
            <a:ext cx="3690425" cy="3854979"/>
          </a:xfrm>
        </p:spPr>
        <p:txBody>
          <a:bodyPr>
            <a:normAutofit/>
          </a:bodyPr>
          <a:lstStyle/>
          <a:p>
            <a:r>
              <a:rPr lang="en-US" sz="2800" dirty="0">
                <a:cs typeface="Times New Roman" panose="02020603050405020304" pitchFamily="18" charset="0"/>
              </a:rPr>
              <a:t>Why these two models? Why the controls? </a:t>
            </a:r>
          </a:p>
          <a:p>
            <a:r>
              <a:rPr lang="en-US" sz="2800" dirty="0">
                <a:cs typeface="Times New Roman" panose="02020603050405020304" pitchFamily="18" charset="0"/>
              </a:rPr>
              <a:t>What’s happening in this regression? What do we need to see? </a:t>
            </a:r>
          </a:p>
        </p:txBody>
      </p:sp>
      <p:pic>
        <p:nvPicPr>
          <p:cNvPr id="7" name="Picture 6">
            <a:extLst>
              <a:ext uri="{FF2B5EF4-FFF2-40B4-BE49-F238E27FC236}">
                <a16:creationId xmlns:a16="http://schemas.microsoft.com/office/drawing/2014/main" id="{325F89AB-EB5C-5995-508B-E37890010916}"/>
              </a:ext>
            </a:extLst>
          </p:cNvPr>
          <p:cNvPicPr>
            <a:picLocks noChangeAspect="1"/>
          </p:cNvPicPr>
          <p:nvPr/>
        </p:nvPicPr>
        <p:blipFill>
          <a:blip r:embed="rId3"/>
          <a:stretch>
            <a:fillRect/>
          </a:stretch>
        </p:blipFill>
        <p:spPr>
          <a:xfrm>
            <a:off x="4654296" y="648660"/>
            <a:ext cx="6155736" cy="5570940"/>
          </a:xfrm>
          <a:prstGeom prst="rect">
            <a:avLst/>
          </a:prstGeom>
        </p:spPr>
      </p:pic>
    </p:spTree>
    <p:extLst>
      <p:ext uri="{BB962C8B-B14F-4D97-AF65-F5344CB8AC3E}">
        <p14:creationId xmlns:p14="http://schemas.microsoft.com/office/powerpoint/2010/main" val="26921867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Current Research Alert: First-Stage Tests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6F103200-64F4-83B7-6893-E2538DB17B94}"/>
              </a:ext>
            </a:extLst>
          </p:cNvPr>
          <p:cNvPicPr>
            <a:picLocks noChangeAspect="1"/>
          </p:cNvPicPr>
          <p:nvPr/>
        </p:nvPicPr>
        <p:blipFill>
          <a:blip r:embed="rId3"/>
          <a:stretch>
            <a:fillRect/>
          </a:stretch>
        </p:blipFill>
        <p:spPr>
          <a:xfrm>
            <a:off x="914400" y="962232"/>
            <a:ext cx="7315200" cy="5648015"/>
          </a:xfrm>
          <a:prstGeom prst="rect">
            <a:avLst/>
          </a:prstGeom>
        </p:spPr>
      </p:pic>
    </p:spTree>
    <p:extLst>
      <p:ext uri="{BB962C8B-B14F-4D97-AF65-F5344CB8AC3E}">
        <p14:creationId xmlns:p14="http://schemas.microsoft.com/office/powerpoint/2010/main" val="23862203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C3428F-61F3-E934-B8BE-701496EBCA51}"/>
              </a:ext>
            </a:extLst>
          </p:cNvPr>
          <p:cNvPicPr>
            <a:picLocks noChangeAspect="1"/>
          </p:cNvPicPr>
          <p:nvPr/>
        </p:nvPicPr>
        <p:blipFill>
          <a:blip r:embed="rId3"/>
          <a:stretch>
            <a:fillRect/>
          </a:stretch>
        </p:blipFill>
        <p:spPr>
          <a:xfrm>
            <a:off x="1042714" y="685800"/>
            <a:ext cx="9728200" cy="2451100"/>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3136900"/>
                <a:ext cx="10439400" cy="4025900"/>
              </a:xfrm>
            </p:spPr>
            <p:txBody>
              <a:bodyPr>
                <a:noAutofit/>
              </a:bodyPr>
              <a:lstStyle/>
              <a:p>
                <a:r>
                  <a:rPr lang="en-US" sz="2400" dirty="0">
                    <a:cs typeface="Times New Roman" panose="02020603050405020304" pitchFamily="18" charset="0"/>
                  </a:rPr>
                  <a:t>The second assumption is </a:t>
                </a:r>
                <a:r>
                  <a:rPr lang="en-US" sz="2400" b="1" i="1" dirty="0">
                    <a:solidFill>
                      <a:schemeClr val="accent2">
                        <a:lumMod val="75000"/>
                      </a:schemeClr>
                    </a:solidFill>
                    <a:cs typeface="Times New Roman" panose="02020603050405020304" pitchFamily="18" charset="0"/>
                  </a:rPr>
                  <a:t>not </a:t>
                </a:r>
                <a:r>
                  <a:rPr lang="en-US" sz="2400" b="1" dirty="0">
                    <a:solidFill>
                      <a:schemeClr val="accent2">
                        <a:lumMod val="75000"/>
                      </a:schemeClr>
                    </a:solidFill>
                    <a:cs typeface="Times New Roman" panose="02020603050405020304" pitchFamily="18" charset="0"/>
                  </a:rPr>
                  <a:t>testable: </a:t>
                </a:r>
              </a:p>
              <a:p>
                <a:pPr lvl="1"/>
                <a:r>
                  <a:rPr lang="en-US" sz="2400" dirty="0">
                    <a:cs typeface="Times New Roman" panose="02020603050405020304" pitchFamily="18" charset="0"/>
                  </a:rPr>
                  <a:t>Why can’t we just regress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(even if we condition on </a:t>
                </a:r>
                <a:r>
                  <a:rPr lang="en-US" sz="2400" i="1" dirty="0">
                    <a:cs typeface="Times New Roman" panose="02020603050405020304" pitchFamily="18" charset="0"/>
                  </a:rPr>
                  <a:t>x</a:t>
                </a:r>
                <a:r>
                  <a:rPr lang="en-US" sz="2400" dirty="0">
                    <a:cs typeface="Times New Roman" panose="02020603050405020304" pitchFamily="18" charset="0"/>
                  </a:rPr>
                  <a:t>)? </a:t>
                </a:r>
              </a:p>
              <a:p>
                <a:r>
                  <a:rPr lang="en-US" sz="2400" dirty="0">
                    <a:cs typeface="Times New Roman" panose="02020603050405020304" pitchFamily="18" charset="0"/>
                  </a:rPr>
                  <a:t>Instead, need to argue something about randomness</a:t>
                </a:r>
              </a:p>
              <a:p>
                <a:r>
                  <a:rPr lang="en-US" sz="2400" dirty="0">
                    <a:solidFill>
                      <a:schemeClr val="tx1"/>
                    </a:solidFill>
                    <a:cs typeface="Times New Roman" panose="02020603050405020304" pitchFamily="18" charset="0"/>
                  </a:rPr>
                  <a:t>What is the exclusion restriction in our case study? </a:t>
                </a:r>
              </a:p>
              <a:p>
                <a:endParaRPr lang="en-US" sz="24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3136900"/>
                <a:ext cx="10439400" cy="4025900"/>
              </a:xfrm>
              <a:blipFill>
                <a:blip r:embed="rId4"/>
                <a:stretch>
                  <a:fillRect l="-409" t="-1667"/>
                </a:stretch>
              </a:blipFill>
            </p:spPr>
            <p:txBody>
              <a:bodyPr/>
              <a:lstStyle/>
              <a:p>
                <a:r>
                  <a:rPr lang="en-US">
                    <a:noFill/>
                  </a:rPr>
                  <a:t> </a:t>
                </a:r>
              </a:p>
            </p:txBody>
          </p:sp>
        </mc:Fallback>
      </mc:AlternateContent>
    </p:spTree>
    <p:extLst>
      <p:ext uri="{BB962C8B-B14F-4D97-AF65-F5344CB8AC3E}">
        <p14:creationId xmlns:p14="http://schemas.microsoft.com/office/powerpoint/2010/main" val="19658684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Descriptive/Suggestive Evidence for Exclusion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62232"/>
            <a:ext cx="10744200" cy="6200568"/>
          </a:xfrm>
        </p:spPr>
        <p:txBody>
          <a:bodyPr>
            <a:noAutofit/>
          </a:bodyPr>
          <a:lstStyle/>
          <a:p>
            <a:r>
              <a:rPr lang="en-US" sz="2400" dirty="0">
                <a:cs typeface="Times New Roman" panose="02020603050405020304" pitchFamily="18" charset="0"/>
              </a:rPr>
              <a:t>What evidence do the authors give in favor of the exclusion restriction? </a:t>
            </a:r>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A464B4C1-8179-4446-8B62-938E586BC289}"/>
              </a:ext>
            </a:extLst>
          </p:cNvPr>
          <p:cNvPicPr>
            <a:picLocks noChangeAspect="1"/>
          </p:cNvPicPr>
          <p:nvPr/>
        </p:nvPicPr>
        <p:blipFill>
          <a:blip r:embed="rId3"/>
          <a:stretch>
            <a:fillRect/>
          </a:stretch>
        </p:blipFill>
        <p:spPr>
          <a:xfrm>
            <a:off x="533400" y="1371600"/>
            <a:ext cx="9495609" cy="4953000"/>
          </a:xfrm>
          <a:prstGeom prst="rect">
            <a:avLst/>
          </a:prstGeom>
        </p:spPr>
      </p:pic>
    </p:spTree>
    <p:extLst>
      <p:ext uri="{BB962C8B-B14F-4D97-AF65-F5344CB8AC3E}">
        <p14:creationId xmlns:p14="http://schemas.microsoft.com/office/powerpoint/2010/main" val="9877747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2895600"/>
            <a:ext cx="9984829" cy="33125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r>
              <a:rPr lang="en-US" sz="2400" dirty="0">
                <a:cs typeface="Times New Roman" panose="02020603050405020304" pitchFamily="18" charset="0"/>
              </a:rPr>
              <a:t>The third assumption is </a:t>
            </a:r>
            <a:r>
              <a:rPr lang="en-US" sz="2400" b="1" i="1" dirty="0">
                <a:solidFill>
                  <a:schemeClr val="accent2">
                    <a:lumMod val="75000"/>
                  </a:schemeClr>
                </a:solidFill>
                <a:cs typeface="Times New Roman" panose="02020603050405020304" pitchFamily="18" charset="0"/>
              </a:rPr>
              <a:t>not </a:t>
            </a:r>
            <a:r>
              <a:rPr lang="en-US" sz="2400" b="1" dirty="0">
                <a:solidFill>
                  <a:schemeClr val="accent2">
                    <a:lumMod val="75000"/>
                  </a:schemeClr>
                </a:solidFill>
                <a:cs typeface="Times New Roman" panose="02020603050405020304" pitchFamily="18" charset="0"/>
              </a:rPr>
              <a:t>testable: </a:t>
            </a:r>
          </a:p>
          <a:p>
            <a:pPr lvl="1"/>
            <a:r>
              <a:rPr lang="en-US" sz="2400" dirty="0">
                <a:cs typeface="Times New Roman" panose="02020603050405020304" pitchFamily="18" charset="0"/>
              </a:rPr>
              <a:t>No data on confounders in the first place!</a:t>
            </a:r>
          </a:p>
          <a:p>
            <a:r>
              <a:rPr lang="en-US" sz="2400" dirty="0">
                <a:cs typeface="Times New Roman" panose="02020603050405020304" pitchFamily="18" charset="0"/>
              </a:rPr>
              <a:t>Again, based on argument about why this assumption is satisfied</a:t>
            </a:r>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F8970FCD-7DDB-F4D6-60D3-BACD0CBF0D20}"/>
              </a:ext>
            </a:extLst>
          </p:cNvPr>
          <p:cNvPicPr>
            <a:picLocks noChangeAspect="1"/>
          </p:cNvPicPr>
          <p:nvPr/>
        </p:nvPicPr>
        <p:blipFill>
          <a:blip r:embed="rId3"/>
          <a:stretch>
            <a:fillRect/>
          </a:stretch>
        </p:blipFill>
        <p:spPr>
          <a:xfrm>
            <a:off x="1292771" y="962232"/>
            <a:ext cx="9613900" cy="3505200"/>
          </a:xfrm>
          <a:prstGeom prst="rect">
            <a:avLst/>
          </a:prstGeom>
        </p:spPr>
      </p:pic>
    </p:spTree>
    <p:extLst>
      <p:ext uri="{BB962C8B-B14F-4D97-AF65-F5344CB8AC3E}">
        <p14:creationId xmlns:p14="http://schemas.microsoft.com/office/powerpoint/2010/main" val="1409745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009891-468C-5061-2B54-44FD675472DB}"/>
              </a:ext>
            </a:extLst>
          </p:cNvPr>
          <p:cNvPicPr>
            <a:picLocks noChangeAspect="1"/>
          </p:cNvPicPr>
          <p:nvPr/>
        </p:nvPicPr>
        <p:blipFill>
          <a:blip r:embed="rId3"/>
          <a:stretch>
            <a:fillRect/>
          </a:stretch>
        </p:blipFill>
        <p:spPr>
          <a:xfrm>
            <a:off x="5257800" y="2394932"/>
            <a:ext cx="5906387" cy="4456316"/>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Descriptive/Suggestive Evidence for Exogeneity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62232"/>
            <a:ext cx="10744200" cy="6200568"/>
          </a:xfrm>
        </p:spPr>
        <p:txBody>
          <a:bodyPr>
            <a:noAutofit/>
          </a:bodyPr>
          <a:lstStyle/>
          <a:p>
            <a:r>
              <a:rPr lang="en-US" sz="2400" dirty="0">
                <a:cs typeface="Times New Roman" panose="02020603050405020304" pitchFamily="18" charset="0"/>
              </a:rPr>
              <a:t>What evidence do the authors give in favor of the exogeneity restriction?</a:t>
            </a:r>
          </a:p>
          <a:p>
            <a:pPr lvl="1"/>
            <a:r>
              <a:rPr lang="en-US" sz="2200" dirty="0">
                <a:cs typeface="Times New Roman" panose="02020603050405020304" pitchFamily="18" charset="0"/>
              </a:rPr>
              <a:t>Difference-in-differences results for EPO doses and transfusions</a:t>
            </a:r>
          </a:p>
          <a:p>
            <a:pPr lvl="1"/>
            <a:r>
              <a:rPr lang="en-US" sz="2200" dirty="0">
                <a:solidFill>
                  <a:schemeClr val="tx1"/>
                </a:solidFill>
                <a:cs typeface="Times New Roman" panose="02020603050405020304" pitchFamily="18" charset="0"/>
              </a:rPr>
              <a:t>Do omitted variables change disproportionately over time? (Look at OLS regression for “predicted mortality” variation across elevation before/after payment reform). </a:t>
            </a:r>
          </a:p>
        </p:txBody>
      </p:sp>
    </p:spTree>
    <p:extLst>
      <p:ext uri="{BB962C8B-B14F-4D97-AF65-F5344CB8AC3E}">
        <p14:creationId xmlns:p14="http://schemas.microsoft.com/office/powerpoint/2010/main" val="2333756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Descriptive/Suggestive Evidence for Exogeneity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62232"/>
            <a:ext cx="10744200" cy="6200568"/>
          </a:xfrm>
        </p:spPr>
        <p:txBody>
          <a:bodyPr>
            <a:noAutofit/>
          </a:bodyPr>
          <a:lstStyle/>
          <a:p>
            <a:r>
              <a:rPr lang="en-US" sz="2400" dirty="0">
                <a:cs typeface="Times New Roman" panose="02020603050405020304" pitchFamily="18" charset="0"/>
              </a:rPr>
              <a:t>What evidence do the authors give in favor of the exogeneity restriction?</a:t>
            </a:r>
          </a:p>
          <a:p>
            <a:pPr lvl="1"/>
            <a:r>
              <a:rPr lang="en-US" sz="2200" dirty="0">
                <a:cs typeface="Times New Roman" panose="02020603050405020304" pitchFamily="18" charset="0"/>
              </a:rPr>
              <a:t>Difference-in-differences results for EPO doses and transfusions</a:t>
            </a:r>
          </a:p>
          <a:p>
            <a:pPr lvl="1"/>
            <a:r>
              <a:rPr lang="en-US" sz="2200" dirty="0">
                <a:solidFill>
                  <a:schemeClr val="tx1"/>
                </a:solidFill>
                <a:cs typeface="Times New Roman" panose="02020603050405020304" pitchFamily="18" charset="0"/>
              </a:rPr>
              <a:t>Do omitted variables change disproportionately over time? (Look at OLS regression for “predicted mortality” variation across elevation before/after payment reform). </a:t>
            </a:r>
          </a:p>
          <a:p>
            <a:pPr lvl="1"/>
            <a:r>
              <a:rPr lang="en-US" sz="2200" dirty="0">
                <a:solidFill>
                  <a:schemeClr val="tx1"/>
                </a:solidFill>
                <a:cs typeface="Times New Roman" panose="02020603050405020304" pitchFamily="18" charset="0"/>
              </a:rPr>
              <a:t>What if facilities reinvest additional profits from administering less EPO post-reform into quality-improving outcomes? </a:t>
            </a:r>
          </a:p>
        </p:txBody>
      </p:sp>
      <p:pic>
        <p:nvPicPr>
          <p:cNvPr id="6" name="Picture 5">
            <a:extLst>
              <a:ext uri="{FF2B5EF4-FFF2-40B4-BE49-F238E27FC236}">
                <a16:creationId xmlns:a16="http://schemas.microsoft.com/office/drawing/2014/main" id="{2FFCBB83-E6BF-3B31-85A1-16C7C4DF9056}"/>
              </a:ext>
            </a:extLst>
          </p:cNvPr>
          <p:cNvPicPr>
            <a:picLocks noChangeAspect="1"/>
          </p:cNvPicPr>
          <p:nvPr/>
        </p:nvPicPr>
        <p:blipFill>
          <a:blip r:embed="rId3"/>
          <a:stretch>
            <a:fillRect/>
          </a:stretch>
        </p:blipFill>
        <p:spPr>
          <a:xfrm>
            <a:off x="400656" y="3124200"/>
            <a:ext cx="7939669" cy="3657600"/>
          </a:xfrm>
          <a:prstGeom prst="rect">
            <a:avLst/>
          </a:prstGeom>
        </p:spPr>
      </p:pic>
    </p:spTree>
    <p:extLst>
      <p:ext uri="{BB962C8B-B14F-4D97-AF65-F5344CB8AC3E}">
        <p14:creationId xmlns:p14="http://schemas.microsoft.com/office/powerpoint/2010/main" val="896733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621" y="365760"/>
            <a:ext cx="10771891" cy="777240"/>
          </a:xfrm>
        </p:spPr>
        <p:txBody>
          <a:bodyPr/>
          <a:lstStyle/>
          <a:p>
            <a:r>
              <a:rPr dirty="0"/>
              <a:t>Negative Control Tests: Falsifying Your IV</a:t>
            </a:r>
          </a:p>
        </p:txBody>
      </p:sp>
      <p:sp>
        <p:nvSpPr>
          <p:cNvPr id="3" name="Content Placeholder 2"/>
          <p:cNvSpPr>
            <a:spLocks noGrp="1"/>
          </p:cNvSpPr>
          <p:nvPr>
            <p:ph idx="1"/>
          </p:nvPr>
        </p:nvSpPr>
        <p:spPr>
          <a:xfrm>
            <a:off x="304800" y="1143000"/>
            <a:ext cx="10439400" cy="5037137"/>
          </a:xfrm>
        </p:spPr>
        <p:txBody>
          <a:bodyPr wrap="square">
            <a:normAutofit/>
          </a:bodyPr>
          <a:lstStyle/>
          <a:p>
            <a:r>
              <a:rPr sz="2200" dirty="0">
                <a:cs typeface="Times New Roman" panose="02020603050405020304" pitchFamily="18" charset="0"/>
              </a:rPr>
              <a:t>A negative control is a check where you already know the honest answer should be “no effect.”</a:t>
            </a:r>
            <a:r>
              <a:rPr lang="en-US" sz="2200" dirty="0">
                <a:cs typeface="Times New Roman" panose="02020603050405020304" pitchFamily="18" charset="0"/>
              </a:rPr>
              <a:t> [akin to a placebo test]</a:t>
            </a:r>
            <a:endParaRPr sz="2200" dirty="0">
              <a:cs typeface="Times New Roman" panose="02020603050405020304" pitchFamily="18" charset="0"/>
            </a:endParaRPr>
          </a:p>
          <a:p>
            <a:r>
              <a:rPr sz="2200" dirty="0">
                <a:cs typeface="Times New Roman" panose="02020603050405020304" pitchFamily="18" charset="0"/>
              </a:rPr>
              <a:t>Logic: if the instrument appears to “work” somewhere it causally cannot, your exclusion or exogeneity assumption is in doubt.</a:t>
            </a:r>
          </a:p>
          <a:p>
            <a:r>
              <a:rPr sz="2200" dirty="0">
                <a:cs typeface="Times New Roman" panose="02020603050405020304" pitchFamily="18" charset="0"/>
              </a:rPr>
              <a:t>Two common forms:</a:t>
            </a:r>
          </a:p>
          <a:p>
            <a:pPr lvl="1"/>
            <a:r>
              <a:rPr sz="2200" dirty="0">
                <a:cs typeface="Times New Roman" panose="02020603050405020304" pitchFamily="18" charset="0"/>
              </a:rPr>
              <a:t>Negative-control outcome: the instrument should not move an outcome it cannot reach through the treatment.</a:t>
            </a:r>
          </a:p>
          <a:p>
            <a:pPr lvl="1"/>
            <a:r>
              <a:rPr sz="2200" dirty="0">
                <a:cs typeface="Times New Roman" panose="02020603050405020304" pitchFamily="18" charset="0"/>
              </a:rPr>
              <a:t>Negative-control population/period: the instrument should not predict pre-determined characteristics.</a:t>
            </a:r>
          </a:p>
          <a:p>
            <a:r>
              <a:rPr sz="2200" b="1" u="sng" dirty="0">
                <a:cs typeface="Times New Roman" panose="02020603050405020304" pitchFamily="18" charset="0"/>
              </a:rPr>
              <a:t>Passing does not prove validity — but it makes the design more credible.</a:t>
            </a:r>
          </a:p>
        </p:txBody>
      </p:sp>
    </p:spTree>
    <p:extLst>
      <p:ext uri="{BB962C8B-B14F-4D97-AF65-F5344CB8AC3E}">
        <p14:creationId xmlns:p14="http://schemas.microsoft.com/office/powerpoint/2010/main" val="2753537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476" y="365760"/>
            <a:ext cx="10600036" cy="1325562"/>
          </a:xfrm>
        </p:spPr>
        <p:txBody>
          <a:bodyPr/>
          <a:lstStyle/>
          <a:p>
            <a:r>
              <a:rPr dirty="0"/>
              <a:t>Negative-Control Outcome (distance example)</a:t>
            </a:r>
          </a:p>
        </p:txBody>
      </p:sp>
      <p:sp>
        <p:nvSpPr>
          <p:cNvPr id="3" name="Content Placeholder 2"/>
          <p:cNvSpPr>
            <a:spLocks noGrp="1"/>
          </p:cNvSpPr>
          <p:nvPr>
            <p:ph idx="1"/>
          </p:nvPr>
        </p:nvSpPr>
        <p:spPr>
          <a:xfrm>
            <a:off x="457200" y="1828800"/>
            <a:ext cx="10287000" cy="4351337"/>
          </a:xfrm>
        </p:spPr>
        <p:txBody>
          <a:bodyPr wrap="square">
            <a:normAutofit/>
          </a:bodyPr>
          <a:lstStyle/>
          <a:p>
            <a:r>
              <a:rPr sz="2200" dirty="0">
                <a:cs typeface="Times New Roman" panose="02020603050405020304" pitchFamily="18" charset="0"/>
              </a:rPr>
              <a:t>Setup: instrument = differential distance to a PCI-capable hospital; treatment = receiving a PCI; outcome = cardiac mortality.</a:t>
            </a:r>
            <a:endParaRPr lang="en-US" sz="2200" dirty="0">
              <a:cs typeface="Times New Roman" panose="02020603050405020304" pitchFamily="18" charset="0"/>
            </a:endParaRPr>
          </a:p>
          <a:p>
            <a:r>
              <a:rPr lang="en-US" sz="2200" dirty="0">
                <a:cs typeface="Times New Roman" panose="02020603050405020304" pitchFamily="18" charset="0"/>
              </a:rPr>
              <a:t>Distance to a hospital should </a:t>
            </a:r>
            <a:r>
              <a:rPr lang="en-US" sz="2200" b="1" dirty="0">
                <a:cs typeface="Times New Roman" panose="02020603050405020304" pitchFamily="18" charset="0"/>
              </a:rPr>
              <a:t>not </a:t>
            </a:r>
            <a:r>
              <a:rPr lang="en-US" sz="2200" dirty="0">
                <a:cs typeface="Times New Roman" panose="02020603050405020304" pitchFamily="18" charset="0"/>
              </a:rPr>
              <a:t>affect an outcome through PCI if PCI cannot change that outcome (e</a:t>
            </a:r>
            <a:r>
              <a:rPr sz="2200" dirty="0">
                <a:cs typeface="Times New Roman" panose="02020603050405020304" pitchFamily="18" charset="0"/>
              </a:rPr>
              <a:t>.g., death from an unrelated cause (cancer, accidental injury) in the same window.</a:t>
            </a:r>
            <a:r>
              <a:rPr lang="en-US" sz="2200" dirty="0">
                <a:cs typeface="Times New Roman" panose="02020603050405020304" pitchFamily="18" charset="0"/>
              </a:rPr>
              <a:t>)</a:t>
            </a:r>
            <a:endParaRPr sz="2200" dirty="0">
              <a:cs typeface="Times New Roman" panose="02020603050405020304" pitchFamily="18" charset="0"/>
            </a:endParaRPr>
          </a:p>
          <a:p>
            <a:r>
              <a:rPr sz="2200" dirty="0">
                <a:cs typeface="Times New Roman" panose="02020603050405020304" pitchFamily="18" charset="0"/>
              </a:rPr>
              <a:t>Run the reduced form: regress the placebo outcome on distance (+ controls). Expect a precise null.</a:t>
            </a:r>
          </a:p>
          <a:p>
            <a:r>
              <a:rPr sz="2200" dirty="0">
                <a:cs typeface="Times New Roman" panose="02020603050405020304" pitchFamily="18" charset="0"/>
              </a:rPr>
              <a:t>A significant “effect” on the placebo suggests distance is proxying for something else (rurality, SES, access) — an exclusion violation.</a:t>
            </a:r>
          </a:p>
        </p:txBody>
      </p:sp>
    </p:spTree>
    <p:extLst>
      <p:ext uri="{BB962C8B-B14F-4D97-AF65-F5344CB8AC3E}">
        <p14:creationId xmlns:p14="http://schemas.microsoft.com/office/powerpoint/2010/main" val="27941994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65760"/>
            <a:ext cx="10725912" cy="1325562"/>
          </a:xfrm>
        </p:spPr>
        <p:txBody>
          <a:bodyPr/>
          <a:lstStyle/>
          <a:p>
            <a:r>
              <a:rPr dirty="0"/>
              <a:t>Negative-Control Population / Balance (distance example)</a:t>
            </a:r>
          </a:p>
        </p:txBody>
      </p:sp>
      <p:sp>
        <p:nvSpPr>
          <p:cNvPr id="3" name="Content Placeholder 2"/>
          <p:cNvSpPr>
            <a:spLocks noGrp="1"/>
          </p:cNvSpPr>
          <p:nvPr>
            <p:ph idx="1"/>
          </p:nvPr>
        </p:nvSpPr>
        <p:spPr>
          <a:xfrm>
            <a:off x="345574" y="1828800"/>
            <a:ext cx="10474826" cy="4351337"/>
          </a:xfrm>
        </p:spPr>
        <p:txBody>
          <a:bodyPr wrap="square">
            <a:normAutofit/>
          </a:bodyPr>
          <a:lstStyle/>
          <a:p>
            <a:r>
              <a:rPr sz="2200" dirty="0">
                <a:cs typeface="Times New Roman" panose="02020603050405020304" pitchFamily="18" charset="0"/>
              </a:rPr>
              <a:t>A credible instrument is as-good-as-random with respect to pre-determined patient characteristics.</a:t>
            </a:r>
          </a:p>
          <a:p>
            <a:r>
              <a:rPr sz="2200" dirty="0">
                <a:cs typeface="Times New Roman" panose="02020603050405020304" pitchFamily="18" charset="0"/>
              </a:rPr>
              <a:t>Balance test: regress baseline covariates (age, prior comorbidities, pre-period spending) on distance. Expect no systematic gradient.</a:t>
            </a:r>
          </a:p>
          <a:p>
            <a:r>
              <a:rPr sz="2200" dirty="0">
                <a:cs typeface="Times New Roman" panose="02020603050405020304" pitchFamily="18" charset="0"/>
              </a:rPr>
              <a:t>Alternative: apply the IV to patients who would never get a PCI regardless (never-takers) — distance should not predict their outcomes.</a:t>
            </a:r>
          </a:p>
          <a:p>
            <a:r>
              <a:rPr sz="2200" dirty="0">
                <a:cs typeface="Times New Roman" panose="02020603050405020304" pitchFamily="18" charset="0"/>
              </a:rPr>
              <a:t>Imbalance flags that distance tracks confounders — an exogeneity concern; may require conditioning on geography or SES.</a:t>
            </a:r>
          </a:p>
        </p:txBody>
      </p:sp>
    </p:spTree>
    <p:extLst>
      <p:ext uri="{BB962C8B-B14F-4D97-AF65-F5344CB8AC3E}">
        <p14:creationId xmlns:p14="http://schemas.microsoft.com/office/powerpoint/2010/main" val="1186949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621" y="365760"/>
            <a:ext cx="10771891" cy="1325562"/>
          </a:xfrm>
        </p:spPr>
        <p:txBody>
          <a:bodyPr/>
          <a:lstStyle/>
          <a:p>
            <a:r>
              <a:rPr dirty="0"/>
              <a:t>What Negative Controls Buy You (and their limits)</a:t>
            </a:r>
          </a:p>
        </p:txBody>
      </p:sp>
      <p:sp>
        <p:nvSpPr>
          <p:cNvPr id="3" name="Content Placeholder 2"/>
          <p:cNvSpPr>
            <a:spLocks noGrp="1"/>
          </p:cNvSpPr>
          <p:nvPr>
            <p:ph idx="1"/>
          </p:nvPr>
        </p:nvSpPr>
        <p:spPr>
          <a:xfrm>
            <a:off x="304800" y="1828800"/>
            <a:ext cx="9552432" cy="4351337"/>
          </a:xfrm>
        </p:spPr>
        <p:txBody>
          <a:bodyPr wrap="square">
            <a:normAutofit/>
          </a:bodyPr>
          <a:lstStyle/>
          <a:p>
            <a:r>
              <a:rPr sz="2200" dirty="0">
                <a:cs typeface="Times New Roman" panose="02020603050405020304" pitchFamily="18" charset="0"/>
              </a:rPr>
              <a:t>Passing bolsters the claim that the instrument affects the outcome only through the treatment.</a:t>
            </a:r>
          </a:p>
          <a:p>
            <a:r>
              <a:rPr sz="2200" dirty="0">
                <a:cs typeface="Times New Roman" panose="02020603050405020304" pitchFamily="18" charset="0"/>
              </a:rPr>
              <a:t>Failing </a:t>
            </a:r>
            <a:r>
              <a:rPr lang="en-US" sz="2200" dirty="0">
                <a:cs typeface="Times New Roman" panose="02020603050405020304" pitchFamily="18" charset="0"/>
              </a:rPr>
              <a:t>can help locate </a:t>
            </a:r>
            <a:r>
              <a:rPr sz="2200" dirty="0">
                <a:cs typeface="Times New Roman" panose="02020603050405020304" pitchFamily="18" charset="0"/>
              </a:rPr>
              <a:t>the problem </a:t>
            </a:r>
            <a:r>
              <a:rPr lang="en-US" sz="2200" dirty="0">
                <a:cs typeface="Times New Roman" panose="02020603050405020304" pitchFamily="18" charset="0"/>
              </a:rPr>
              <a:t>(</a:t>
            </a:r>
            <a:r>
              <a:rPr sz="2200" dirty="0">
                <a:cs typeface="Times New Roman" panose="02020603050405020304" pitchFamily="18" charset="0"/>
              </a:rPr>
              <a:t>which assumption</a:t>
            </a:r>
            <a:r>
              <a:rPr lang="en-US" sz="2200" dirty="0">
                <a:cs typeface="Times New Roman" panose="02020603050405020304" pitchFamily="18" charset="0"/>
              </a:rPr>
              <a:t>?</a:t>
            </a:r>
            <a:r>
              <a:rPr sz="2200" dirty="0">
                <a:cs typeface="Times New Roman" panose="02020603050405020304" pitchFamily="18" charset="0"/>
              </a:rPr>
              <a:t> which confounder</a:t>
            </a:r>
            <a:r>
              <a:rPr lang="en-US" sz="2200" dirty="0">
                <a:cs typeface="Times New Roman" panose="02020603050405020304" pitchFamily="18" charset="0"/>
              </a:rPr>
              <a:t>?)</a:t>
            </a:r>
            <a:r>
              <a:rPr sz="2200" dirty="0">
                <a:cs typeface="Times New Roman" panose="02020603050405020304" pitchFamily="18" charset="0"/>
              </a:rPr>
              <a:t> and suggest fixes (add controls, redefine the instrument, restrict the sample).</a:t>
            </a:r>
            <a:endParaRPr lang="en-US" sz="2200" dirty="0">
              <a:cs typeface="Times New Roman" panose="02020603050405020304" pitchFamily="18" charset="0"/>
            </a:endParaRPr>
          </a:p>
          <a:p>
            <a:r>
              <a:rPr lang="en-US" sz="2200" dirty="0">
                <a:cs typeface="Times New Roman" panose="02020603050405020304" pitchFamily="18" charset="0"/>
              </a:rPr>
              <a:t>Can we come up with an example for this for the dialysis paper? The vaccine paper? </a:t>
            </a:r>
          </a:p>
          <a:p>
            <a:pPr marL="0" indent="0">
              <a:buNone/>
            </a:pPr>
            <a:endParaRPr lang="en-US" sz="2200" dirty="0">
              <a:cs typeface="Times New Roman" panose="02020603050405020304" pitchFamily="18" charset="0"/>
            </a:endParaRPr>
          </a:p>
          <a:p>
            <a:pPr marL="0" indent="0">
              <a:buNone/>
            </a:pPr>
            <a:r>
              <a:rPr sz="2200" dirty="0">
                <a:cs typeface="Times New Roman" panose="02020603050405020304" pitchFamily="18" charset="0"/>
              </a:rPr>
              <a:t>Caveat: a passed negative control is </a:t>
            </a:r>
            <a:r>
              <a:rPr sz="2200" b="1" u="sng" dirty="0">
                <a:cs typeface="Times New Roman" panose="02020603050405020304" pitchFamily="18" charset="0"/>
              </a:rPr>
              <a:t>necessary, not sufficient </a:t>
            </a:r>
            <a:r>
              <a:rPr sz="2200" dirty="0">
                <a:cs typeface="Times New Roman" panose="02020603050405020304" pitchFamily="18" charset="0"/>
              </a:rPr>
              <a:t>— it cannot rule out every violation.</a:t>
            </a:r>
          </a:p>
        </p:txBody>
      </p:sp>
    </p:spTree>
    <p:extLst>
      <p:ext uri="{BB962C8B-B14F-4D97-AF65-F5344CB8AC3E}">
        <p14:creationId xmlns:p14="http://schemas.microsoft.com/office/powerpoint/2010/main" val="443944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E6110-078A-1269-BEA3-901435071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5A1822-D3B2-BDC0-3B90-A43093BACDE5}"/>
              </a:ext>
            </a:extLst>
          </p:cNvPr>
          <p:cNvSpPr>
            <a:spLocks noGrp="1"/>
          </p:cNvSpPr>
          <p:nvPr>
            <p:ph type="ctrTitle"/>
          </p:nvPr>
        </p:nvSpPr>
        <p:spPr>
          <a:xfrm>
            <a:off x="1261872" y="758952"/>
            <a:ext cx="10549128" cy="4041648"/>
          </a:xfrm>
        </p:spPr>
        <p:txBody>
          <a:bodyPr/>
          <a:lstStyle/>
          <a:p>
            <a:r>
              <a:rPr lang="en-US" dirty="0"/>
              <a:t>Interpreting IV Results</a:t>
            </a:r>
          </a:p>
        </p:txBody>
      </p:sp>
      <p:sp>
        <p:nvSpPr>
          <p:cNvPr id="3" name="Subtitle 2">
            <a:extLst>
              <a:ext uri="{FF2B5EF4-FFF2-40B4-BE49-F238E27FC236}">
                <a16:creationId xmlns:a16="http://schemas.microsoft.com/office/drawing/2014/main" id="{3B094931-06B5-C606-9BCD-841BC1AA0E5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5003081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Recall that we use an IV as our </a:t>
            </a:r>
            <a:r>
              <a:rPr lang="en-US" sz="2400" b="1" dirty="0">
                <a:latin typeface="Times New Roman"/>
                <a:cs typeface="Times New Roman"/>
              </a:rPr>
              <a:t>identification strategy</a:t>
            </a:r>
            <a:r>
              <a:rPr lang="en-US" sz="2400" dirty="0">
                <a:latin typeface="Times New Roman"/>
                <a:cs typeface="Times New Roman"/>
              </a:rPr>
              <a:t> and 2SLS as our </a:t>
            </a:r>
            <a:r>
              <a:rPr lang="en-US" sz="2400" b="1" dirty="0">
                <a:latin typeface="Times New Roman"/>
                <a:cs typeface="Times New Roman"/>
              </a:rPr>
              <a:t>estimation approach – what’s the difference? </a:t>
            </a:r>
          </a:p>
          <a:p>
            <a:r>
              <a:rPr lang="en-US" sz="2400" dirty="0">
                <a:latin typeface="Times New Roman"/>
                <a:cs typeface="Times New Roman"/>
              </a:rPr>
              <a:t>What is an IV intending to approximate? That is, where does our </a:t>
            </a:r>
            <a:r>
              <a:rPr lang="en-US" sz="2400" b="1" dirty="0">
                <a:latin typeface="Times New Roman"/>
                <a:cs typeface="Times New Roman"/>
              </a:rPr>
              <a:t>identifying variation </a:t>
            </a:r>
            <a:r>
              <a:rPr lang="en-US" sz="2400" dirty="0">
                <a:latin typeface="Times New Roman"/>
                <a:cs typeface="Times New Roman"/>
              </a:rPr>
              <a:t>come from? </a:t>
            </a:r>
          </a:p>
          <a:p>
            <a:r>
              <a:rPr lang="en-US" sz="2400" dirty="0">
                <a:latin typeface="Times New Roman"/>
                <a:cs typeface="Times New Roman"/>
              </a:rPr>
              <a:t>This affects how we interpret the regression coefficients! </a:t>
            </a:r>
          </a:p>
          <a:p>
            <a:r>
              <a:rPr lang="en-US" sz="2400" dirty="0">
                <a:latin typeface="Times New Roman"/>
                <a:cs typeface="Times New Roman"/>
              </a:rPr>
              <a:t>IV's capture </a:t>
            </a:r>
            <a:r>
              <a:rPr lang="en-US" sz="2400" b="1" dirty="0">
                <a:solidFill>
                  <a:schemeClr val="accent2">
                    <a:lumMod val="75000"/>
                  </a:schemeClr>
                </a:solidFill>
                <a:latin typeface="Times New Roman"/>
                <a:cs typeface="Times New Roman"/>
              </a:rPr>
              <a:t>local average treatment effects (LATEs) </a:t>
            </a:r>
            <a:endParaRPr lang="en-US" sz="2400" dirty="0">
              <a:solidFill>
                <a:schemeClr val="accent2">
                  <a:lumMod val="75000"/>
                </a:schemeClr>
              </a:solidFill>
              <a:cs typeface="Times New Roman" panose="02020603050405020304" pitchFamily="18" charset="0"/>
            </a:endParaRPr>
          </a:p>
          <a:p>
            <a:pPr>
              <a:buFont typeface="Arial" pitchFamily="34" charset="0"/>
              <a:buChar char="•"/>
            </a:pPr>
            <a:endParaRPr lang="en-US" sz="2400" dirty="0">
              <a:cs typeface="Times New Roman" panose="02020603050405020304" pitchFamily="18" charset="0"/>
            </a:endParaRPr>
          </a:p>
        </p:txBody>
      </p:sp>
    </p:spTree>
    <p:extLst>
      <p:ext uri="{BB962C8B-B14F-4D97-AF65-F5344CB8AC3E}">
        <p14:creationId xmlns:p14="http://schemas.microsoft.com/office/powerpoint/2010/main" val="22071406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A1F9E-E35E-E649-4A1A-EF67BFF1D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E12DE6-B2A9-619A-C6F7-101D20519A55}"/>
              </a:ext>
            </a:extLst>
          </p:cNvPr>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a:extLst>
              <a:ext uri="{FF2B5EF4-FFF2-40B4-BE49-F238E27FC236}">
                <a16:creationId xmlns:a16="http://schemas.microsoft.com/office/drawing/2014/main" id="{68434E50-FD41-3792-C8E6-377F0CC1E583}"/>
              </a:ext>
            </a:extLst>
          </p:cNvPr>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 </a:t>
            </a:r>
            <a:r>
              <a:rPr lang="en-US" sz="2400" b="1" dirty="0">
                <a:solidFill>
                  <a:schemeClr val="accent2">
                    <a:lumMod val="75000"/>
                  </a:schemeClr>
                </a:solidFill>
                <a:latin typeface="Times New Roman"/>
                <a:cs typeface="Times New Roman"/>
              </a:rPr>
              <a:t>local average treatment effects (LATEs) </a:t>
            </a:r>
            <a:endParaRPr lang="en-US" sz="2400" dirty="0">
              <a:solidFill>
                <a:schemeClr val="accent2">
                  <a:lumMod val="75000"/>
                </a:schemeClr>
              </a:solidFill>
              <a:cs typeface="Times New Roman" panose="02020603050405020304" pitchFamily="18" charset="0"/>
            </a:endParaRPr>
          </a:p>
          <a:p>
            <a:pPr>
              <a:buFont typeface="Arial" pitchFamily="34" charset="0"/>
              <a:buChar char="•"/>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610FF419-9662-28B3-B730-97E3ABC19747}"/>
              </a:ext>
            </a:extLst>
          </p:cNvPr>
          <p:cNvPicPr>
            <a:picLocks noChangeAspect="1"/>
          </p:cNvPicPr>
          <p:nvPr/>
        </p:nvPicPr>
        <p:blipFill>
          <a:blip r:embed="rId3"/>
          <a:stretch>
            <a:fillRect/>
          </a:stretch>
        </p:blipFill>
        <p:spPr>
          <a:xfrm>
            <a:off x="609600" y="1447800"/>
            <a:ext cx="10058400" cy="5289640"/>
          </a:xfrm>
          <a:prstGeom prst="rect">
            <a:avLst/>
          </a:prstGeom>
        </p:spPr>
      </p:pic>
    </p:spTree>
    <p:extLst>
      <p:ext uri="{BB962C8B-B14F-4D97-AF65-F5344CB8AC3E}">
        <p14:creationId xmlns:p14="http://schemas.microsoft.com/office/powerpoint/2010/main" val="327283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 </a:t>
            </a:r>
            <a:r>
              <a:rPr lang="en-US" sz="2400" b="1" dirty="0">
                <a:solidFill>
                  <a:schemeClr val="accent2">
                    <a:lumMod val="75000"/>
                  </a:schemeClr>
                </a:solidFill>
                <a:latin typeface="Times New Roman"/>
                <a:cs typeface="Times New Roman"/>
              </a:rPr>
              <a:t>local average treatment effects (LATEs) </a:t>
            </a:r>
            <a:endParaRPr lang="en-US" dirty="0">
              <a:solidFill>
                <a:schemeClr val="accent2">
                  <a:lumMod val="75000"/>
                </a:schemeClr>
              </a:solidFill>
              <a:cs typeface="Times New Roman" panose="02020603050405020304" pitchFamily="18" charset="0"/>
            </a:endParaRPr>
          </a:p>
          <a:p>
            <a:pPr>
              <a:buFont typeface="Arial" pitchFamily="18" charset="2"/>
              <a:buChar char="•"/>
            </a:pPr>
            <a:r>
              <a:rPr lang="en-US" sz="2400" spc="0" dirty="0">
                <a:solidFill>
                  <a:srgbClr val="262626"/>
                </a:solidFill>
                <a:latin typeface="Times New Roman"/>
                <a:cs typeface="Times New Roman"/>
              </a:rPr>
              <a:t>Easiest to understand in the case of a binary instrument</a:t>
            </a:r>
            <a:endParaRPr lang="en-US" sz="2400" spc="0" dirty="0">
              <a:solidFill>
                <a:srgbClr val="262626"/>
              </a:solidFill>
              <a:cs typeface="Times New Roman" panose="02020603050405020304" pitchFamily="18" charset="0"/>
            </a:endParaRPr>
          </a:p>
          <a:p>
            <a:endParaRPr lang="en-US" sz="2400" dirty="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7D98E76E-7B03-09FB-5D35-5AA95853D76F}"/>
              </a:ext>
            </a:extLst>
          </p:cNvPr>
          <p:cNvGraphicFramePr>
            <a:graphicFrameLocks noGrp="1"/>
          </p:cNvGraphicFramePr>
          <p:nvPr/>
        </p:nvGraphicFramePr>
        <p:xfrm>
          <a:off x="1066800" y="2102840"/>
          <a:ext cx="9245244" cy="4297960"/>
        </p:xfrm>
        <a:graphic>
          <a:graphicData uri="http://schemas.openxmlformats.org/drawingml/2006/table">
            <a:tbl>
              <a:tblPr firstRow="1" bandRow="1">
                <a:tableStyleId>{5C22544A-7EE6-4342-B048-85BDC9FD1C3A}</a:tableStyleId>
              </a:tblPr>
              <a:tblGrid>
                <a:gridCol w="2311311">
                  <a:extLst>
                    <a:ext uri="{9D8B030D-6E8A-4147-A177-3AD203B41FA5}">
                      <a16:colId xmlns:a16="http://schemas.microsoft.com/office/drawing/2014/main" val="3585779432"/>
                    </a:ext>
                  </a:extLst>
                </a:gridCol>
                <a:gridCol w="2311311">
                  <a:extLst>
                    <a:ext uri="{9D8B030D-6E8A-4147-A177-3AD203B41FA5}">
                      <a16:colId xmlns:a16="http://schemas.microsoft.com/office/drawing/2014/main" val="90799623"/>
                    </a:ext>
                  </a:extLst>
                </a:gridCol>
                <a:gridCol w="2311311">
                  <a:extLst>
                    <a:ext uri="{9D8B030D-6E8A-4147-A177-3AD203B41FA5}">
                      <a16:colId xmlns:a16="http://schemas.microsoft.com/office/drawing/2014/main" val="1731919055"/>
                    </a:ext>
                  </a:extLst>
                </a:gridCol>
                <a:gridCol w="2311311">
                  <a:extLst>
                    <a:ext uri="{9D8B030D-6E8A-4147-A177-3AD203B41FA5}">
                      <a16:colId xmlns:a16="http://schemas.microsoft.com/office/drawing/2014/main" val="802572931"/>
                    </a:ext>
                  </a:extLst>
                </a:gridCol>
              </a:tblGrid>
              <a:tr h="1074490">
                <a:tc>
                  <a:txBody>
                    <a:bodyPr/>
                    <a:lstStyle/>
                    <a:p>
                      <a:pPr lvl="0">
                        <a:buNone/>
                      </a:pPr>
                      <a:endParaRPr lang="en-US" sz="2400" dirty="0"/>
                    </a:p>
                  </a:txBody>
                  <a:tcPr/>
                </a:tc>
                <a:tc>
                  <a:txBody>
                    <a:bodyPr/>
                    <a:lstStyle/>
                    <a:p>
                      <a:pPr lvl="0">
                        <a:buNone/>
                      </a:pPr>
                      <a:endParaRPr lang="en-US" sz="2400" dirty="0"/>
                    </a:p>
                  </a:txBody>
                  <a:tcPr/>
                </a:tc>
                <a:tc gridSpan="2">
                  <a:txBody>
                    <a:bodyPr/>
                    <a:lstStyle/>
                    <a:p>
                      <a:pPr lvl="0">
                        <a:buNone/>
                      </a:pPr>
                      <a:r>
                        <a:rPr lang="en-US" sz="2400" dirty="0"/>
                        <a:t>Treated?</a:t>
                      </a:r>
                    </a:p>
                  </a:txBody>
                  <a:tcPr/>
                </a:tc>
                <a:tc hMerge="1">
                  <a:txBody>
                    <a:bodyPr/>
                    <a:lstStyle/>
                    <a:p>
                      <a:endParaRPr lang="en-US"/>
                    </a:p>
                  </a:txBody>
                  <a:tcPr/>
                </a:tc>
                <a:extLst>
                  <a:ext uri="{0D108BD9-81ED-4DB2-BD59-A6C34878D82A}">
                    <a16:rowId xmlns:a16="http://schemas.microsoft.com/office/drawing/2014/main" val="700923366"/>
                  </a:ext>
                </a:extLst>
              </a:tr>
              <a:tr h="1074490">
                <a:tc>
                  <a:txBody>
                    <a:bodyPr/>
                    <a:lstStyle/>
                    <a:p>
                      <a:pPr lvl="0">
                        <a:buNone/>
                      </a:pPr>
                      <a:endParaRPr lang="en-US" sz="2400" dirty="0"/>
                    </a:p>
                  </a:txBody>
                  <a:tcPr/>
                </a:tc>
                <a:tc>
                  <a:txBody>
                    <a:bodyPr/>
                    <a:lstStyle/>
                    <a:p>
                      <a:endParaRPr lang="en-US" sz="2400"/>
                    </a:p>
                  </a:txBody>
                  <a:tcPr/>
                </a:tc>
                <a:tc>
                  <a:txBody>
                    <a:bodyPr/>
                    <a:lstStyle/>
                    <a:p>
                      <a:r>
                        <a:rPr lang="en-US" sz="2400" dirty="0"/>
                        <a:t>No</a:t>
                      </a:r>
                    </a:p>
                  </a:txBody>
                  <a:tcPr/>
                </a:tc>
                <a:tc>
                  <a:txBody>
                    <a:bodyPr/>
                    <a:lstStyle/>
                    <a:p>
                      <a:r>
                        <a:rPr lang="en-US" sz="2400" dirty="0"/>
                        <a:t>Yes</a:t>
                      </a:r>
                    </a:p>
                  </a:txBody>
                  <a:tcPr/>
                </a:tc>
                <a:extLst>
                  <a:ext uri="{0D108BD9-81ED-4DB2-BD59-A6C34878D82A}">
                    <a16:rowId xmlns:a16="http://schemas.microsoft.com/office/drawing/2014/main" val="2009428937"/>
                  </a:ext>
                </a:extLst>
              </a:tr>
              <a:tr h="1074490">
                <a:tc rowSpan="2">
                  <a:txBody>
                    <a:bodyPr/>
                    <a:lstStyle/>
                    <a:p>
                      <a:pPr lvl="0">
                        <a:buNone/>
                      </a:pPr>
                      <a:r>
                        <a:rPr lang="en-US" sz="2400" dirty="0"/>
                        <a:t>Instrumented?</a:t>
                      </a:r>
                    </a:p>
                  </a:txBody>
                  <a:tcPr/>
                </a:tc>
                <a:tc>
                  <a:txBody>
                    <a:bodyPr/>
                    <a:lstStyle/>
                    <a:p>
                      <a:r>
                        <a:rPr lang="en-US" sz="2400" dirty="0"/>
                        <a:t>No</a:t>
                      </a:r>
                    </a:p>
                  </a:txBody>
                  <a:tcPr/>
                </a:tc>
                <a:tc>
                  <a:txBody>
                    <a:bodyPr/>
                    <a:lstStyle/>
                    <a:p>
                      <a:r>
                        <a:rPr lang="en-US" sz="2400" dirty="0"/>
                        <a:t>Never-takers + Compliers</a:t>
                      </a:r>
                    </a:p>
                  </a:txBody>
                  <a:tcPr/>
                </a:tc>
                <a:tc>
                  <a:txBody>
                    <a:bodyPr/>
                    <a:lstStyle/>
                    <a:p>
                      <a:r>
                        <a:rPr lang="en-US" sz="2400" dirty="0"/>
                        <a:t>Always-takers + Defiers</a:t>
                      </a:r>
                    </a:p>
                  </a:txBody>
                  <a:tcPr/>
                </a:tc>
                <a:extLst>
                  <a:ext uri="{0D108BD9-81ED-4DB2-BD59-A6C34878D82A}">
                    <a16:rowId xmlns:a16="http://schemas.microsoft.com/office/drawing/2014/main" val="2699649770"/>
                  </a:ext>
                </a:extLst>
              </a:tr>
              <a:tr h="1074490">
                <a:tc vMerge="1">
                  <a:txBody>
                    <a:bodyPr/>
                    <a:lstStyle/>
                    <a:p>
                      <a:endParaRPr lang="en-US"/>
                    </a:p>
                  </a:txBody>
                  <a:tcPr/>
                </a:tc>
                <a:tc>
                  <a:txBody>
                    <a:bodyPr/>
                    <a:lstStyle/>
                    <a:p>
                      <a:r>
                        <a:rPr lang="en-US" sz="2400" dirty="0"/>
                        <a:t>Yes</a:t>
                      </a:r>
                    </a:p>
                  </a:txBody>
                  <a:tcPr/>
                </a:tc>
                <a:tc>
                  <a:txBody>
                    <a:bodyPr/>
                    <a:lstStyle/>
                    <a:p>
                      <a:r>
                        <a:rPr lang="en-US" sz="2400" dirty="0"/>
                        <a:t>Never-takers + Defiers</a:t>
                      </a:r>
                    </a:p>
                  </a:txBody>
                  <a:tcPr/>
                </a:tc>
                <a:tc>
                  <a:txBody>
                    <a:bodyPr/>
                    <a:lstStyle/>
                    <a:p>
                      <a:r>
                        <a:rPr lang="en-US" sz="2400" dirty="0"/>
                        <a:t>Always-takers + Compliers</a:t>
                      </a:r>
                    </a:p>
                  </a:txBody>
                  <a:tcPr/>
                </a:tc>
                <a:extLst>
                  <a:ext uri="{0D108BD9-81ED-4DB2-BD59-A6C34878D82A}">
                    <a16:rowId xmlns:a16="http://schemas.microsoft.com/office/drawing/2014/main" val="3227851156"/>
                  </a:ext>
                </a:extLst>
              </a:tr>
            </a:tbl>
          </a:graphicData>
        </a:graphic>
      </p:graphicFrame>
    </p:spTree>
    <p:extLst>
      <p:ext uri="{BB962C8B-B14F-4D97-AF65-F5344CB8AC3E}">
        <p14:creationId xmlns:p14="http://schemas.microsoft.com/office/powerpoint/2010/main" val="18153213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 </a:t>
            </a:r>
            <a:r>
              <a:rPr lang="en-US" sz="2400" b="1" dirty="0">
                <a:solidFill>
                  <a:schemeClr val="accent2">
                    <a:lumMod val="75000"/>
                  </a:schemeClr>
                </a:solidFill>
                <a:latin typeface="Times New Roman"/>
                <a:cs typeface="Times New Roman"/>
              </a:rPr>
              <a:t>local average treatment effects (LATEs) </a:t>
            </a:r>
            <a:endParaRPr lang="en-US" sz="2400" dirty="0">
              <a:solidFill>
                <a:schemeClr val="accent2">
                  <a:lumMod val="75000"/>
                </a:schemeClr>
              </a:solidFill>
              <a:cs typeface="Times New Roman" panose="02020603050405020304" pitchFamily="18" charset="0"/>
            </a:endParaRPr>
          </a:p>
          <a:p>
            <a:pPr lvl="1"/>
            <a:r>
              <a:rPr lang="en-US" sz="2400" dirty="0">
                <a:solidFill>
                  <a:srgbClr val="262626"/>
                </a:solidFill>
                <a:latin typeface="Times New Roman"/>
                <a:cs typeface="Times New Roman"/>
              </a:rPr>
              <a:t>The LATE from an IV is for </a:t>
            </a:r>
            <a:r>
              <a:rPr lang="en-US" sz="2400" b="1" dirty="0">
                <a:solidFill>
                  <a:schemeClr val="accent2">
                    <a:lumMod val="75000"/>
                  </a:schemeClr>
                </a:solidFill>
                <a:latin typeface="Times New Roman"/>
                <a:cs typeface="Times New Roman"/>
              </a:rPr>
              <a:t>compliers</a:t>
            </a:r>
          </a:p>
          <a:p>
            <a:pPr lvl="1"/>
            <a:r>
              <a:rPr lang="en-US" sz="2400" dirty="0">
                <a:latin typeface="Times New Roman"/>
                <a:cs typeface="Times New Roman"/>
              </a:rPr>
              <a:t>Specifically, those influenced </a:t>
            </a:r>
            <a:r>
              <a:rPr lang="en-US" sz="2400" b="1" dirty="0">
                <a:solidFill>
                  <a:schemeClr val="accent2">
                    <a:lumMod val="75000"/>
                  </a:schemeClr>
                </a:solidFill>
                <a:latin typeface="Times New Roman"/>
                <a:cs typeface="Times New Roman"/>
              </a:rPr>
              <a:t>by the instruments </a:t>
            </a:r>
            <a:r>
              <a:rPr lang="en-US" sz="2400" dirty="0">
                <a:latin typeface="Times New Roman"/>
                <a:cs typeface="Times New Roman"/>
              </a:rPr>
              <a:t>you selected</a:t>
            </a:r>
          </a:p>
          <a:p>
            <a:pPr lvl="1"/>
            <a:r>
              <a:rPr lang="en-US" sz="2400" dirty="0">
                <a:latin typeface="Times New Roman"/>
                <a:cs typeface="Times New Roman"/>
              </a:rPr>
              <a:t>Hence, LATE is instrument-specific</a:t>
            </a:r>
            <a:endParaRPr lang="en-US" sz="2400" dirty="0">
              <a:solidFill>
                <a:schemeClr val="accent2">
                  <a:lumMod val="75000"/>
                </a:schemeClr>
              </a:solidFill>
              <a:latin typeface="Times New Roman"/>
              <a:cs typeface="Times New Roman"/>
            </a:endParaRPr>
          </a:p>
          <a:p>
            <a:pPr>
              <a:buFont typeface="Arial" pitchFamily="34" charset="0"/>
              <a:buChar char="•"/>
            </a:pPr>
            <a:endParaRPr lang="en-US" sz="2400" dirty="0">
              <a:cs typeface="Times New Roman" panose="02020603050405020304" pitchFamily="18" charset="0"/>
            </a:endParaRPr>
          </a:p>
        </p:txBody>
      </p:sp>
    </p:spTree>
    <p:extLst>
      <p:ext uri="{BB962C8B-B14F-4D97-AF65-F5344CB8AC3E}">
        <p14:creationId xmlns:p14="http://schemas.microsoft.com/office/powerpoint/2010/main" val="764042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a:t>
            </a:r>
            <a:r>
              <a:rPr lang="en-US" sz="2400" dirty="0">
                <a:solidFill>
                  <a:schemeClr val="accent2">
                    <a:lumMod val="75000"/>
                  </a:schemeClr>
                </a:solidFill>
                <a:latin typeface="Times New Roman"/>
                <a:cs typeface="Times New Roman"/>
              </a:rPr>
              <a:t> </a:t>
            </a:r>
            <a:r>
              <a:rPr lang="en-US" sz="2400" b="1" dirty="0">
                <a:solidFill>
                  <a:schemeClr val="accent2">
                    <a:lumMod val="75000"/>
                  </a:schemeClr>
                </a:solidFill>
                <a:latin typeface="Times New Roman"/>
                <a:cs typeface="Times New Roman"/>
              </a:rPr>
              <a:t>local average treatment effects (LATEs) </a:t>
            </a:r>
            <a:endParaRPr lang="en-US" sz="2400" dirty="0">
              <a:solidFill>
                <a:schemeClr val="accent2">
                  <a:lumMod val="75000"/>
                </a:schemeClr>
              </a:solidFill>
              <a:cs typeface="Times New Roman" panose="02020603050405020304" pitchFamily="18" charset="0"/>
            </a:endParaRPr>
          </a:p>
          <a:p>
            <a:pPr>
              <a:buFont typeface="Arial" pitchFamily="18" charset="2"/>
              <a:buChar char="•"/>
            </a:pPr>
            <a:r>
              <a:rPr lang="en-US" sz="2400" spc="0" dirty="0">
                <a:solidFill>
                  <a:srgbClr val="262626"/>
                </a:solidFill>
                <a:latin typeface="Times New Roman"/>
                <a:cs typeface="Times New Roman"/>
              </a:rPr>
              <a:t>Easiest to understand in the case of a binary instrument:</a:t>
            </a:r>
            <a:endParaRPr lang="en-US" sz="2400" spc="0" dirty="0">
              <a:solidFill>
                <a:srgbClr val="262626"/>
              </a:solidFill>
              <a:cs typeface="Times New Roman" panose="02020603050405020304" pitchFamily="18" charset="0"/>
            </a:endParaRPr>
          </a:p>
          <a:p>
            <a:pPr lvl="1"/>
            <a:r>
              <a:rPr lang="en-US" sz="2400" dirty="0">
                <a:solidFill>
                  <a:srgbClr val="262626"/>
                </a:solidFill>
                <a:latin typeface="Times New Roman"/>
                <a:cs typeface="Times New Roman"/>
              </a:rPr>
              <a:t>IV identifies the treatment effect on those affected by the instrument</a:t>
            </a:r>
            <a:endParaRPr lang="en-US" sz="2400" dirty="0">
              <a:solidFill>
                <a:srgbClr val="262626"/>
              </a:solidFill>
              <a:cs typeface="Times New Roman" panose="02020603050405020304" pitchFamily="18" charset="0"/>
            </a:endParaRPr>
          </a:p>
          <a:p>
            <a:pPr lvl="1"/>
            <a:r>
              <a:rPr lang="en-US" sz="2400" dirty="0">
                <a:solidFill>
                  <a:srgbClr val="262626"/>
                </a:solidFill>
                <a:latin typeface="Times New Roman"/>
                <a:cs typeface="Times New Roman"/>
              </a:rPr>
              <a:t>This does reduce the amount of variation/data used in identification</a:t>
            </a:r>
          </a:p>
          <a:p>
            <a:pPr lvl="1"/>
            <a:r>
              <a:rPr lang="en-US" sz="2400" dirty="0">
                <a:solidFill>
                  <a:srgbClr val="262626"/>
                </a:solidFill>
                <a:latin typeface="Times New Roman"/>
                <a:cs typeface="Times New Roman"/>
              </a:rPr>
              <a:t>Identification rests on an assumption: </a:t>
            </a:r>
            <a:r>
              <a:rPr lang="en-US" sz="2400" b="1" dirty="0">
                <a:solidFill>
                  <a:schemeClr val="accent2">
                    <a:lumMod val="75000"/>
                  </a:schemeClr>
                </a:solidFill>
                <a:latin typeface="Times New Roman"/>
                <a:cs typeface="Times New Roman"/>
              </a:rPr>
              <a:t>no </a:t>
            </a:r>
            <a:r>
              <a:rPr lang="en-US" sz="2400" b="1" dirty="0" err="1">
                <a:solidFill>
                  <a:schemeClr val="accent2">
                    <a:lumMod val="75000"/>
                  </a:schemeClr>
                </a:solidFill>
                <a:latin typeface="Times New Roman"/>
                <a:cs typeface="Times New Roman"/>
              </a:rPr>
              <a:t>defiers</a:t>
            </a:r>
            <a:r>
              <a:rPr lang="en-US" sz="2400" b="1" dirty="0">
                <a:solidFill>
                  <a:schemeClr val="accent2">
                    <a:lumMod val="75000"/>
                  </a:schemeClr>
                </a:solidFill>
                <a:latin typeface="Times New Roman"/>
                <a:cs typeface="Times New Roman"/>
              </a:rPr>
              <a:t> </a:t>
            </a:r>
            <a:r>
              <a:rPr lang="en-US" sz="2400" dirty="0">
                <a:solidFill>
                  <a:schemeClr val="accent2">
                    <a:lumMod val="75000"/>
                  </a:schemeClr>
                </a:solidFill>
                <a:latin typeface="Times New Roman"/>
                <a:cs typeface="Times New Roman"/>
              </a:rPr>
              <a:t>(also called monotonicity)</a:t>
            </a:r>
            <a:endParaRPr lang="en-US" sz="2400" dirty="0">
              <a:solidFill>
                <a:schemeClr val="accent2">
                  <a:lumMod val="75000"/>
                </a:schemeClr>
              </a:solidFill>
              <a:cs typeface="Times New Roman" panose="02020603050405020304" pitchFamily="18" charset="0"/>
            </a:endParaRPr>
          </a:p>
          <a:p>
            <a:pPr lvl="1"/>
            <a:r>
              <a:rPr lang="en-US" sz="2400" dirty="0">
                <a:solidFill>
                  <a:srgbClr val="262626"/>
                </a:solidFill>
                <a:cs typeface="Times New Roman" panose="02020603050405020304" pitchFamily="18" charset="0"/>
              </a:rPr>
              <a:t>Also, have to consider: is the LATE policy relevant? (ex: blood type)</a:t>
            </a:r>
            <a:endParaRPr lang="en-US" sz="2400" dirty="0">
              <a:solidFill>
                <a:schemeClr val="accent2">
                  <a:lumMod val="75000"/>
                </a:schemeClr>
              </a:solidFill>
              <a:cs typeface="Times New Roman" panose="02020603050405020304" pitchFamily="18" charset="0"/>
            </a:endParaRP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7093E690-876D-FC05-0BC2-4E076DC9DD74}"/>
              </a:ext>
            </a:extLst>
          </p:cNvPr>
          <p:cNvPicPr>
            <a:picLocks noChangeAspect="1"/>
          </p:cNvPicPr>
          <p:nvPr/>
        </p:nvPicPr>
        <p:blipFill>
          <a:blip r:embed="rId3"/>
          <a:stretch>
            <a:fillRect/>
          </a:stretch>
        </p:blipFill>
        <p:spPr>
          <a:xfrm>
            <a:off x="2298518" y="3770917"/>
            <a:ext cx="7061563" cy="2749691"/>
          </a:xfrm>
          <a:prstGeom prst="rect">
            <a:avLst/>
          </a:prstGeom>
        </p:spPr>
      </p:pic>
    </p:spTree>
    <p:extLst>
      <p:ext uri="{BB962C8B-B14F-4D97-AF65-F5344CB8AC3E}">
        <p14:creationId xmlns:p14="http://schemas.microsoft.com/office/powerpoint/2010/main" val="23036759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250AD-B848-C7CF-F13D-516E72264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0EB6A-CCDF-FA93-01EF-81D0A45F8963}"/>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pic>
        <p:nvPicPr>
          <p:cNvPr id="6" name="Content Placeholder 5">
            <a:extLst>
              <a:ext uri="{FF2B5EF4-FFF2-40B4-BE49-F238E27FC236}">
                <a16:creationId xmlns:a16="http://schemas.microsoft.com/office/drawing/2014/main" id="{51AB7AFE-3B29-D784-DF50-43E815788E4D}"/>
              </a:ext>
            </a:extLst>
          </p:cNvPr>
          <p:cNvPicPr>
            <a:picLocks noGrp="1" noChangeAspect="1"/>
          </p:cNvPicPr>
          <p:nvPr>
            <p:ph idx="1"/>
          </p:nvPr>
        </p:nvPicPr>
        <p:blipFill>
          <a:blip r:embed="rId3"/>
          <a:stretch>
            <a:fillRect/>
          </a:stretch>
        </p:blipFill>
        <p:spPr>
          <a:xfrm>
            <a:off x="609600" y="962232"/>
            <a:ext cx="7696200" cy="5946133"/>
          </a:xfrm>
          <a:prstGeom prst="rect">
            <a:avLst/>
          </a:prstGeom>
        </p:spPr>
      </p:pic>
    </p:spTree>
    <p:extLst>
      <p:ext uri="{BB962C8B-B14F-4D97-AF65-F5344CB8AC3E}">
        <p14:creationId xmlns:p14="http://schemas.microsoft.com/office/powerpoint/2010/main" val="34615736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EAF2-088F-7D57-274D-78A5B9B99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2A77A-321A-8E89-DE53-67AFB3B4A598}"/>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sp>
        <p:nvSpPr>
          <p:cNvPr id="4" name="Content Placeholder 3">
            <a:extLst>
              <a:ext uri="{FF2B5EF4-FFF2-40B4-BE49-F238E27FC236}">
                <a16:creationId xmlns:a16="http://schemas.microsoft.com/office/drawing/2014/main" id="{75E218D1-59AA-DA2A-6D93-12F26BA9E579}"/>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94467243-DA98-32EF-6DC5-87C242F3F42D}"/>
              </a:ext>
            </a:extLst>
          </p:cNvPr>
          <p:cNvPicPr>
            <a:picLocks noChangeAspect="1"/>
          </p:cNvPicPr>
          <p:nvPr/>
        </p:nvPicPr>
        <p:blipFill>
          <a:blip r:embed="rId3"/>
          <a:stretch>
            <a:fillRect/>
          </a:stretch>
        </p:blipFill>
        <p:spPr>
          <a:xfrm>
            <a:off x="609600" y="962232"/>
            <a:ext cx="6973273" cy="5582429"/>
          </a:xfrm>
          <a:prstGeom prst="rect">
            <a:avLst/>
          </a:prstGeom>
        </p:spPr>
      </p:pic>
    </p:spTree>
    <p:extLst>
      <p:ext uri="{BB962C8B-B14F-4D97-AF65-F5344CB8AC3E}">
        <p14:creationId xmlns:p14="http://schemas.microsoft.com/office/powerpoint/2010/main" val="2124226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sp>
        <p:nvSpPr>
          <p:cNvPr id="3" name="Content Placeholder 2"/>
          <p:cNvSpPr>
            <a:spLocks noGrp="1"/>
          </p:cNvSpPr>
          <p:nvPr>
            <p:ph idx="1"/>
          </p:nvPr>
        </p:nvSpPr>
        <p:spPr>
          <a:xfrm>
            <a:off x="609600" y="962232"/>
            <a:ext cx="10744200" cy="6200568"/>
          </a:xfrm>
        </p:spPr>
        <p:txBody>
          <a:bodyPr>
            <a:noAutofit/>
          </a:bodyPr>
          <a:lstStyle/>
          <a:p>
            <a:endParaRPr lang="en-US" sz="2200" dirty="0">
              <a:solidFill>
                <a:schemeClr val="tx1"/>
              </a:solidFill>
              <a:cs typeface="Times New Roman" panose="02020603050405020304" pitchFamily="18" charset="0"/>
            </a:endParaRPr>
          </a:p>
        </p:txBody>
      </p:sp>
      <p:pic>
        <p:nvPicPr>
          <p:cNvPr id="5" name="Picture 4">
            <a:extLst>
              <a:ext uri="{FF2B5EF4-FFF2-40B4-BE49-F238E27FC236}">
                <a16:creationId xmlns:a16="http://schemas.microsoft.com/office/drawing/2014/main" id="{0A52A206-E6CF-FF0C-4747-8736ED4A52DC}"/>
              </a:ext>
            </a:extLst>
          </p:cNvPr>
          <p:cNvPicPr>
            <a:picLocks noChangeAspect="1"/>
          </p:cNvPicPr>
          <p:nvPr/>
        </p:nvPicPr>
        <p:blipFill>
          <a:blip r:embed="rId3"/>
          <a:stretch>
            <a:fillRect/>
          </a:stretch>
        </p:blipFill>
        <p:spPr>
          <a:xfrm>
            <a:off x="304800" y="962232"/>
            <a:ext cx="10877554" cy="4933536"/>
          </a:xfrm>
          <a:prstGeom prst="rect">
            <a:avLst/>
          </a:prstGeom>
        </p:spPr>
      </p:pic>
    </p:spTree>
    <p:extLst>
      <p:ext uri="{BB962C8B-B14F-4D97-AF65-F5344CB8AC3E}">
        <p14:creationId xmlns:p14="http://schemas.microsoft.com/office/powerpoint/2010/main" val="464481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sp>
        <p:nvSpPr>
          <p:cNvPr id="3" name="Content Placeholder 2"/>
          <p:cNvSpPr>
            <a:spLocks noGrp="1"/>
          </p:cNvSpPr>
          <p:nvPr>
            <p:ph idx="1"/>
          </p:nvPr>
        </p:nvSpPr>
        <p:spPr>
          <a:xfrm>
            <a:off x="609600" y="5029200"/>
            <a:ext cx="10744200" cy="2133600"/>
          </a:xfrm>
        </p:spPr>
        <p:txBody>
          <a:bodyPr>
            <a:noAutofit/>
          </a:bodyPr>
          <a:lstStyle/>
          <a:p>
            <a:r>
              <a:rPr lang="en-US" sz="2200" dirty="0">
                <a:cs typeface="Times New Roman" panose="02020603050405020304" pitchFamily="18" charset="0"/>
              </a:rPr>
              <a:t>Who are the people affected by this treatment effect? (What is the LATE? Who are the compliers?) </a:t>
            </a:r>
            <a:endParaRPr lang="en-US" sz="22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8814AB32-2D6F-5311-16B1-A8E5587D9FCA}"/>
              </a:ext>
            </a:extLst>
          </p:cNvPr>
          <p:cNvPicPr>
            <a:picLocks noChangeAspect="1"/>
          </p:cNvPicPr>
          <p:nvPr/>
        </p:nvPicPr>
        <p:blipFill>
          <a:blip r:embed="rId3"/>
          <a:stretch>
            <a:fillRect/>
          </a:stretch>
        </p:blipFill>
        <p:spPr>
          <a:xfrm>
            <a:off x="76200" y="830240"/>
            <a:ext cx="11141031" cy="3284559"/>
          </a:xfrm>
          <a:prstGeom prst="rect">
            <a:avLst/>
          </a:prstGeom>
        </p:spPr>
      </p:pic>
    </p:spTree>
    <p:extLst>
      <p:ext uri="{BB962C8B-B14F-4D97-AF65-F5344CB8AC3E}">
        <p14:creationId xmlns:p14="http://schemas.microsoft.com/office/powerpoint/2010/main" val="26954502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latin typeface="Times New Roman"/>
                <a:cs typeface="Times New Roman"/>
              </a:rPr>
              <a:t>Some IV Best Practices </a:t>
            </a:r>
            <a:endParaRPr lang="en-US" dirty="0"/>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950961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How do I come up with an IV?</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16AE12EB-447C-7D26-C5DA-9E0014C4327C}"/>
              </a:ext>
            </a:extLst>
          </p:cNvPr>
          <p:cNvPicPr>
            <a:picLocks noChangeAspect="1"/>
          </p:cNvPicPr>
          <p:nvPr/>
        </p:nvPicPr>
        <p:blipFill>
          <a:blip r:embed="rId3"/>
          <a:stretch>
            <a:fillRect/>
          </a:stretch>
        </p:blipFill>
        <p:spPr>
          <a:xfrm>
            <a:off x="800100" y="1371968"/>
            <a:ext cx="10058400" cy="4114064"/>
          </a:xfrm>
          <a:prstGeom prst="rect">
            <a:avLst/>
          </a:prstGeom>
        </p:spPr>
      </p:pic>
    </p:spTree>
    <p:extLst>
      <p:ext uri="{BB962C8B-B14F-4D97-AF65-F5344CB8AC3E}">
        <p14:creationId xmlns:p14="http://schemas.microsoft.com/office/powerpoint/2010/main" val="11086638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How do I come up with an IV?</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r>
              <a:rPr lang="en-US" sz="2400" dirty="0">
                <a:latin typeface="Times New Roman"/>
                <a:cs typeface="Times New Roman"/>
              </a:rPr>
              <a:t>It is unlikely that any personal characteristic can be used as a strong instrumental variable</a:t>
            </a:r>
          </a:p>
          <a:p>
            <a:r>
              <a:rPr lang="en-US" sz="2400" dirty="0">
                <a:latin typeface="Times New Roman"/>
                <a:cs typeface="Times New Roman"/>
              </a:rPr>
              <a:t>Most good instruments come from: </a:t>
            </a:r>
          </a:p>
          <a:p>
            <a:pPr lvl="1"/>
            <a:r>
              <a:rPr lang="en-US" sz="2400" spc="10" dirty="0">
                <a:solidFill>
                  <a:srgbClr val="000000"/>
                </a:solidFill>
                <a:latin typeface="Times New Roman"/>
                <a:cs typeface="Times New Roman"/>
              </a:rPr>
              <a:t>Real randomization (blood type)</a:t>
            </a:r>
          </a:p>
          <a:p>
            <a:pPr lvl="1"/>
            <a:r>
              <a:rPr lang="en-US" sz="2400" spc="10" dirty="0">
                <a:solidFill>
                  <a:srgbClr val="000000"/>
                </a:solidFill>
                <a:latin typeface="Times New Roman"/>
                <a:cs typeface="Times New Roman"/>
              </a:rPr>
              <a:t>“Mendelian randomization”: parent genes produce "random" children</a:t>
            </a:r>
            <a:endParaRPr lang="en-US" sz="2400" dirty="0">
              <a:latin typeface="Times New Roman"/>
              <a:cs typeface="Times New Roman"/>
            </a:endParaRPr>
          </a:p>
          <a:p>
            <a:pPr lvl="1"/>
            <a:r>
              <a:rPr lang="en-US" sz="2400" dirty="0">
                <a:latin typeface="Times New Roman"/>
                <a:cs typeface="Times New Roman"/>
              </a:rPr>
              <a:t>Unexpected correlations – a variable you would never expect had anything to do with assigning treatment ("a good instrument should feel weird")</a:t>
            </a:r>
          </a:p>
          <a:p>
            <a:r>
              <a:rPr lang="en-US" sz="2400" dirty="0">
                <a:latin typeface="Times New Roman"/>
                <a:cs typeface="Times New Roman"/>
              </a:rPr>
              <a:t>Think about regional characteristics (unemployment rate), policies (blood type; cigarette tax), “natural” features (proximity)</a:t>
            </a:r>
          </a:p>
          <a:p>
            <a:r>
              <a:rPr lang="en-US" sz="2400" dirty="0">
                <a:latin typeface="Times New Roman"/>
                <a:cs typeface="Times New Roman"/>
              </a:rPr>
              <a:t>Clever instruments are likely to be </a:t>
            </a:r>
            <a:r>
              <a:rPr lang="en-US" sz="2400" b="1" dirty="0">
                <a:solidFill>
                  <a:schemeClr val="accent3">
                    <a:lumMod val="75000"/>
                  </a:schemeClr>
                </a:solidFill>
                <a:latin typeface="Times New Roman"/>
                <a:cs typeface="Times New Roman"/>
              </a:rPr>
              <a:t>extremely context-dependent!</a:t>
            </a:r>
          </a:p>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6730519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defend an IV?</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pPr marL="457200" indent="-457200">
              <a:buAutoNum type="arabicPeriod"/>
            </a:pPr>
            <a:r>
              <a:rPr lang="en-US" sz="2400" b="1" dirty="0">
                <a:solidFill>
                  <a:schemeClr val="accent2">
                    <a:lumMod val="75000"/>
                  </a:schemeClr>
                </a:solidFill>
                <a:latin typeface="Times New Roman"/>
                <a:cs typeface="Times New Roman"/>
              </a:rPr>
              <a:t>Report relevance: </a:t>
            </a:r>
            <a:endParaRPr lang="en-US" sz="2400" b="1" dirty="0">
              <a:solidFill>
                <a:schemeClr val="accent2">
                  <a:lumMod val="75000"/>
                </a:schemeClr>
              </a:solidFill>
              <a:cs typeface="Times New Roman" panose="02020603050405020304" pitchFamily="18" charset="0"/>
            </a:endParaRPr>
          </a:p>
          <a:p>
            <a:pPr lvl="1"/>
            <a:r>
              <a:rPr lang="en-US" sz="2400" spc="10" dirty="0">
                <a:solidFill>
                  <a:srgbClr val="000000"/>
                </a:solidFill>
                <a:latin typeface="Times New Roman"/>
                <a:cs typeface="Times New Roman"/>
              </a:rPr>
              <a:t>Used to be F &gt; 10, </a:t>
            </a:r>
            <a:r>
              <a:rPr lang="en-US" sz="2400" spc="10" dirty="0">
                <a:solidFill>
                  <a:srgbClr val="000000"/>
                </a:solidFill>
                <a:latin typeface="Times New Roman"/>
                <a:cs typeface="Times New Roman"/>
                <a:hlinkClick r:id="rId3"/>
              </a:rPr>
              <a:t>now is F &gt; 104.7</a:t>
            </a:r>
            <a:endParaRPr lang="en-US" sz="2400" spc="10" dirty="0">
              <a:solidFill>
                <a:srgbClr val="000000"/>
              </a:solidFill>
              <a:latin typeface="Times New Roman"/>
              <a:cs typeface="Times New Roman"/>
            </a:endParaRPr>
          </a:p>
          <a:p>
            <a:pPr marL="457200" lvl="1"/>
            <a:endParaRPr lang="en-US" sz="2400" dirty="0">
              <a:cs typeface="Times New Roman" panose="02020603050405020304" pitchFamily="18" charset="0"/>
            </a:endParaRPr>
          </a:p>
        </p:txBody>
      </p:sp>
    </p:spTree>
    <p:extLst>
      <p:ext uri="{BB962C8B-B14F-4D97-AF65-F5344CB8AC3E}">
        <p14:creationId xmlns:p14="http://schemas.microsoft.com/office/powerpoint/2010/main" val="357619803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defend an IV?</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pPr marL="457200" indent="-457200">
              <a:buAutoNum type="arabicPeriod"/>
            </a:pPr>
            <a:r>
              <a:rPr lang="en-US" sz="2400" dirty="0">
                <a:latin typeface="Times New Roman"/>
                <a:cs typeface="Times New Roman"/>
              </a:rPr>
              <a:t>Report relevance: </a:t>
            </a:r>
            <a:endParaRPr lang="en-US" sz="2400" dirty="0">
              <a:cs typeface="Times New Roman" panose="02020603050405020304" pitchFamily="18" charset="0"/>
            </a:endParaRPr>
          </a:p>
          <a:p>
            <a:pPr lvl="1"/>
            <a:r>
              <a:rPr lang="en-US" sz="2400" spc="10" dirty="0">
                <a:solidFill>
                  <a:srgbClr val="000000"/>
                </a:solidFill>
                <a:latin typeface="Times New Roman"/>
                <a:cs typeface="Times New Roman"/>
              </a:rPr>
              <a:t>Used to be F &gt; 10, </a:t>
            </a:r>
            <a:r>
              <a:rPr lang="en-US" sz="2400" spc="10" dirty="0">
                <a:solidFill>
                  <a:srgbClr val="000000"/>
                </a:solidFill>
                <a:latin typeface="Times New Roman"/>
                <a:cs typeface="Times New Roman"/>
                <a:hlinkClick r:id="rId3"/>
              </a:rPr>
              <a:t>now is F &gt; 104.7</a:t>
            </a:r>
            <a:endParaRPr lang="en-US" sz="2400" spc="10" dirty="0">
              <a:solidFill>
                <a:srgbClr val="000000"/>
              </a:solidFill>
              <a:latin typeface="Times New Roman"/>
              <a:cs typeface="Times New Roman"/>
            </a:endParaRPr>
          </a:p>
          <a:p>
            <a:pPr marL="457200" indent="-457200">
              <a:buAutoNum type="arabicPeriod"/>
            </a:pPr>
            <a:r>
              <a:rPr lang="en-US" sz="2400" b="1" dirty="0">
                <a:solidFill>
                  <a:schemeClr val="accent2">
                    <a:lumMod val="75000"/>
                  </a:schemeClr>
                </a:solidFill>
                <a:latin typeface="Times New Roman"/>
                <a:cs typeface="Times New Roman"/>
              </a:rPr>
              <a:t>Correct for weak instrument problems</a:t>
            </a:r>
            <a:endParaRPr lang="en-US" sz="2400" dirty="0">
              <a:solidFill>
                <a:schemeClr val="accent2">
                  <a:lumMod val="75000"/>
                </a:schemeClr>
              </a:solidFill>
              <a:cs typeface="Times New Roman" panose="02020603050405020304" pitchFamily="18" charset="0"/>
            </a:endParaRPr>
          </a:p>
          <a:p>
            <a:pPr lvl="1"/>
            <a:r>
              <a:rPr lang="en-US" sz="2400" spc="10" dirty="0">
                <a:solidFill>
                  <a:srgbClr val="000000"/>
                </a:solidFill>
                <a:latin typeface="Times New Roman"/>
                <a:cs typeface="Times New Roman"/>
              </a:rPr>
              <a:t>There are </a:t>
            </a:r>
            <a:r>
              <a:rPr lang="en-US" sz="2400" spc="10" dirty="0">
                <a:solidFill>
                  <a:srgbClr val="000000"/>
                </a:solidFill>
                <a:latin typeface="Times New Roman"/>
                <a:cs typeface="Times New Roman"/>
                <a:hlinkClick r:id="rId4"/>
              </a:rPr>
              <a:t>bias correction tests and methods</a:t>
            </a:r>
            <a:r>
              <a:rPr lang="en-US" sz="2400" spc="10" dirty="0">
                <a:solidFill>
                  <a:srgbClr val="000000"/>
                </a:solidFill>
                <a:latin typeface="Times New Roman"/>
                <a:cs typeface="Times New Roman"/>
              </a:rPr>
              <a:t> </a:t>
            </a:r>
            <a:endParaRPr lang="en-US" sz="2400" dirty="0">
              <a:solidFill>
                <a:srgbClr val="000000"/>
              </a:solidFill>
              <a:latin typeface="Times New Roman"/>
              <a:cs typeface="Times New Roman"/>
            </a:endParaRPr>
          </a:p>
          <a:p>
            <a:pPr lvl="1"/>
            <a:r>
              <a:rPr lang="en-US" sz="2400" spc="10" dirty="0">
                <a:solidFill>
                  <a:srgbClr val="000000"/>
                </a:solidFill>
                <a:latin typeface="Times New Roman"/>
                <a:cs typeface="Times New Roman"/>
              </a:rPr>
              <a:t>These corrections aren't universally accepted</a:t>
            </a:r>
            <a:endParaRPr lang="en-US" sz="2400" spc="10" dirty="0">
              <a:solidFill>
                <a:srgbClr val="000000"/>
              </a:solidFill>
              <a:cs typeface="Times New Roman" panose="02020603050405020304" pitchFamily="18" charset="0"/>
            </a:endParaRPr>
          </a:p>
          <a:p>
            <a:pPr lvl="1"/>
            <a:r>
              <a:rPr lang="en-US" sz="2400" spc="10" dirty="0">
                <a:solidFill>
                  <a:srgbClr val="000000"/>
                </a:solidFill>
                <a:latin typeface="Times New Roman"/>
                <a:cs typeface="Times New Roman"/>
              </a:rPr>
              <a:t>Generally, they blow up your standard errors too much to be useful anyway</a:t>
            </a:r>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78F2922B-B767-FFB2-FCC9-28E1B7234E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9917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defend an IV?</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pPr marL="457200" indent="-457200">
                  <a:buAutoNum type="arabicPeriod"/>
                </a:pPr>
                <a:r>
                  <a:rPr lang="en-US" sz="2400" dirty="0">
                    <a:latin typeface="Times New Roman"/>
                    <a:cs typeface="Times New Roman"/>
                  </a:rPr>
                  <a:t>Report relevance: </a:t>
                </a:r>
                <a:endParaRPr lang="en-US" sz="2400" dirty="0">
                  <a:cs typeface="Times New Roman" panose="02020603050405020304" pitchFamily="18" charset="0"/>
                </a:endParaRPr>
              </a:p>
              <a:p>
                <a:pPr lvl="1"/>
                <a:r>
                  <a:rPr lang="en-US" sz="2400" spc="10" dirty="0">
                    <a:solidFill>
                      <a:srgbClr val="000000"/>
                    </a:solidFill>
                    <a:latin typeface="Times New Roman"/>
                    <a:cs typeface="Times New Roman"/>
                  </a:rPr>
                  <a:t>Used to be F &gt; 10, </a:t>
                </a:r>
                <a:r>
                  <a:rPr lang="en-US" sz="2400" spc="10" dirty="0">
                    <a:solidFill>
                      <a:srgbClr val="000000"/>
                    </a:solidFill>
                    <a:latin typeface="Times New Roman"/>
                    <a:cs typeface="Times New Roman"/>
                    <a:hlinkClick r:id="rId3"/>
                  </a:rPr>
                  <a:t>now is F &gt; 104.7</a:t>
                </a:r>
                <a:endParaRPr lang="en-US" sz="2400" spc="10" dirty="0">
                  <a:solidFill>
                    <a:srgbClr val="000000"/>
                  </a:solidFill>
                  <a:latin typeface="Times New Roman"/>
                  <a:cs typeface="Times New Roman"/>
                </a:endParaRPr>
              </a:p>
              <a:p>
                <a:pPr marL="457200" indent="-457200">
                  <a:buAutoNum type="arabicPeriod"/>
                </a:pPr>
                <a:r>
                  <a:rPr lang="en-US" sz="2400" dirty="0">
                    <a:latin typeface="Times New Roman"/>
                    <a:cs typeface="Times New Roman"/>
                  </a:rPr>
                  <a:t>Correct for weak instrument problems</a:t>
                </a:r>
              </a:p>
              <a:p>
                <a:pPr marL="457200" lvl="1">
                  <a:buFont typeface="Wingdings 2" pitchFamily="34" charset="0"/>
                  <a:buChar char=""/>
                </a:pPr>
                <a:r>
                  <a:rPr lang="en-US" sz="2400" dirty="0">
                    <a:latin typeface="Times New Roman"/>
                    <a:cs typeface="Times New Roman"/>
                  </a:rPr>
                  <a:t>There are </a:t>
                </a:r>
                <a:r>
                  <a:rPr lang="en-US" sz="2400" dirty="0">
                    <a:latin typeface="Times New Roman"/>
                    <a:cs typeface="Times New Roman"/>
                    <a:hlinkClick r:id="rId4"/>
                  </a:rPr>
                  <a:t>bias correction tests and methods</a:t>
                </a:r>
                <a:r>
                  <a:rPr lang="en-US" sz="2400" dirty="0">
                    <a:latin typeface="Times New Roman"/>
                    <a:cs typeface="Times New Roman"/>
                  </a:rPr>
                  <a:t> </a:t>
                </a:r>
              </a:p>
              <a:p>
                <a:pPr marL="457200" lvl="1">
                  <a:buFont typeface="Wingdings 2" pitchFamily="34" charset="0"/>
                  <a:buChar char=""/>
                </a:pPr>
                <a:r>
                  <a:rPr lang="en-US" sz="2400" dirty="0">
                    <a:latin typeface="Times New Roman"/>
                    <a:cs typeface="Times New Roman"/>
                  </a:rPr>
                  <a:t>These corrections aren't universally accepted</a:t>
                </a:r>
              </a:p>
              <a:p>
                <a:pPr marL="457200" lvl="1">
                  <a:buFont typeface="Wingdings 2" pitchFamily="34" charset="0"/>
                  <a:buChar char=""/>
                </a:pPr>
                <a:r>
                  <a:rPr lang="en-US" sz="2400" dirty="0">
                    <a:cs typeface="Times New Roman" panose="02020603050405020304" pitchFamily="18" charset="0"/>
                  </a:rPr>
                  <a:t>Generally, they blow up your standard errors too much to be useful anyway</a:t>
                </a:r>
                <a:endParaRPr lang="en-US" sz="2400" dirty="0"/>
              </a:p>
              <a:p>
                <a:pPr marL="457200" indent="-457200">
                  <a:buAutoNum type="arabicPeriod"/>
                </a:pPr>
                <a:r>
                  <a:rPr lang="en-US" sz="2400" b="1" dirty="0">
                    <a:solidFill>
                      <a:schemeClr val="accent2">
                        <a:lumMod val="75000"/>
                      </a:schemeClr>
                    </a:solidFill>
                    <a:latin typeface="Times New Roman"/>
                    <a:cs typeface="Times New Roman"/>
                  </a:rPr>
                  <a:t>Defend validity</a:t>
                </a:r>
                <a:endParaRPr lang="en-US" sz="2400" b="1" dirty="0">
                  <a:solidFill>
                    <a:schemeClr val="accent2">
                      <a:lumMod val="75000"/>
                    </a:schemeClr>
                  </a:solidFill>
                  <a:cs typeface="Times New Roman" panose="02020603050405020304" pitchFamily="18" charset="0"/>
                </a:endParaRPr>
              </a:p>
              <a:p>
                <a:pPr lvl="1"/>
                <a:r>
                  <a:rPr lang="en-US" sz="2400" spc="10" dirty="0">
                    <a:solidFill>
                      <a:srgbClr val="000000"/>
                    </a:solidFill>
                    <a:latin typeface="Times New Roman"/>
                    <a:cs typeface="Times New Roman"/>
                  </a:rPr>
                  <a:t>Hard to justify </a:t>
                </a:r>
                <a14:m>
                  <m:oMath xmlns:m="http://schemas.openxmlformats.org/officeDocument/2006/math">
                    <m:r>
                      <a:rPr lang="en-US" sz="2400" b="0" i="1" spc="10" smtClean="0">
                        <a:solidFill>
                          <a:srgbClr val="000000"/>
                        </a:solidFill>
                        <a:latin typeface="Cambria Math" panose="02040503050406030204" pitchFamily="18" charset="0"/>
                        <a:cs typeface="Times New Roman"/>
                      </a:rPr>
                      <m:t>𝑍</m:t>
                    </m:r>
                  </m:oMath>
                </a14:m>
                <a:r>
                  <a:rPr lang="en-US" sz="2400" spc="10" dirty="0">
                    <a:solidFill>
                      <a:srgbClr val="000000"/>
                    </a:solidFill>
                    <a:latin typeface="Times New Roman"/>
                    <a:cs typeface="Times New Roman"/>
                  </a:rPr>
                  <a:t> isn't related to </a:t>
                </a:r>
                <a14:m>
                  <m:oMath xmlns:m="http://schemas.openxmlformats.org/officeDocument/2006/math">
                    <m:r>
                      <a:rPr lang="en-US" sz="2400" b="0" i="1" spc="10" smtClean="0">
                        <a:solidFill>
                          <a:srgbClr val="000000"/>
                        </a:solidFill>
                        <a:latin typeface="Cambria Math" panose="02040503050406030204" pitchFamily="18" charset="0"/>
                        <a:cs typeface="Times New Roman"/>
                      </a:rPr>
                      <m:t>𝑌</m:t>
                    </m:r>
                  </m:oMath>
                </a14:m>
                <a:r>
                  <a:rPr lang="en-US" sz="2400" spc="10" dirty="0">
                    <a:solidFill>
                      <a:srgbClr val="000000"/>
                    </a:solidFill>
                    <a:latin typeface="Times New Roman"/>
                    <a:cs typeface="Times New Roman"/>
                  </a:rPr>
                  <a:t> </a:t>
                </a:r>
                <a:r>
                  <a:rPr lang="en-US" sz="2400" i="1" spc="10" dirty="0">
                    <a:solidFill>
                      <a:srgbClr val="000000"/>
                    </a:solidFill>
                    <a:latin typeface="Times New Roman"/>
                    <a:cs typeface="Times New Roman"/>
                  </a:rPr>
                  <a:t>at all </a:t>
                </a:r>
                <a:r>
                  <a:rPr lang="en-US" sz="2400" spc="10" dirty="0">
                    <a:solidFill>
                      <a:srgbClr val="000000"/>
                    </a:solidFill>
                    <a:latin typeface="Times New Roman"/>
                    <a:cs typeface="Times New Roman"/>
                  </a:rPr>
                  <a:t>except through </a:t>
                </a:r>
                <a14:m>
                  <m:oMath xmlns:m="http://schemas.openxmlformats.org/officeDocument/2006/math">
                    <m:r>
                      <a:rPr lang="en-US" sz="2400" b="0" i="1" spc="10" smtClean="0">
                        <a:solidFill>
                          <a:srgbClr val="000000"/>
                        </a:solidFill>
                        <a:latin typeface="Cambria Math" panose="02040503050406030204" pitchFamily="18" charset="0"/>
                        <a:cs typeface="Times New Roman"/>
                      </a:rPr>
                      <m:t>𝑋</m:t>
                    </m:r>
                  </m:oMath>
                </a14:m>
                <a:endParaRPr lang="en-US" sz="2400" dirty="0">
                  <a:cs typeface="Times New Roman" panose="02020603050405020304" pitchFamily="18" charset="0"/>
                </a:endParaRPr>
              </a:p>
              <a:p>
                <a:pPr lvl="1"/>
                <a:r>
                  <a:rPr lang="en-US" sz="2400" spc="10" dirty="0">
                    <a:solidFill>
                      <a:srgbClr val="000000"/>
                    </a:solidFill>
                    <a:latin typeface="Times New Roman"/>
                    <a:cs typeface="Times New Roman"/>
                  </a:rPr>
                  <a:t>Example: </a:t>
                </a:r>
                <a:r>
                  <a:rPr lang="en-US" sz="2400" spc="10" dirty="0">
                    <a:solidFill>
                      <a:srgbClr val="000000"/>
                    </a:solidFill>
                    <a:latin typeface="Times New Roman"/>
                    <a:cs typeface="Times New Roman"/>
                    <a:hlinkClick r:id="rId5"/>
                  </a:rPr>
                  <a:t>blood type might be related to risk of infetions (COVID)</a:t>
                </a:r>
                <a:endParaRPr lang="en-US" sz="2400" dirty="0">
                  <a:cs typeface="Times New Roman" panose="02020603050405020304" pitchFamily="18" charset="0"/>
                </a:endParaRPr>
              </a:p>
              <a:p>
                <a:pPr lvl="1"/>
                <a:r>
                  <a:rPr lang="en-US" sz="2400" dirty="0">
                    <a:latin typeface="Times New Roman"/>
                    <a:cs typeface="Times New Roman"/>
                  </a:rPr>
                  <a:t>There are tests, but nobody really buys them – this one is all in the story</a:t>
                </a: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6"/>
                <a:stretch>
                  <a:fillRect l="-488" t="-1305"/>
                </a:stretch>
              </a:blipFill>
            </p:spPr>
            <p:txBody>
              <a:bodyPr/>
              <a:lstStyle/>
              <a:p>
                <a:r>
                  <a:rPr lang="en-US">
                    <a:noFill/>
                  </a:rPr>
                  <a:t> </a:t>
                </a:r>
              </a:p>
            </p:txBody>
          </p:sp>
        </mc:Fallback>
      </mc:AlternateContent>
    </p:spTree>
    <p:extLst>
      <p:ext uri="{BB962C8B-B14F-4D97-AF65-F5344CB8AC3E}">
        <p14:creationId xmlns:p14="http://schemas.microsoft.com/office/powerpoint/2010/main" val="4150992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5ED4-AD65-2028-FEF4-296D494BC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4785C-4D15-25DE-5069-7A7901DDB2E8}"/>
              </a:ext>
            </a:extLst>
          </p:cNvPr>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What about covariates?</a:t>
            </a:r>
          </a:p>
        </p:txBody>
      </p:sp>
      <p:pic>
        <p:nvPicPr>
          <p:cNvPr id="5" name="Content Placeholder 4">
            <a:extLst>
              <a:ext uri="{FF2B5EF4-FFF2-40B4-BE49-F238E27FC236}">
                <a16:creationId xmlns:a16="http://schemas.microsoft.com/office/drawing/2014/main" id="{5B2393E3-3F8C-4EBE-94AC-3741B490A6DD}"/>
              </a:ext>
            </a:extLst>
          </p:cNvPr>
          <p:cNvPicPr>
            <a:picLocks noGrp="1" noChangeAspect="1"/>
          </p:cNvPicPr>
          <p:nvPr>
            <p:ph idx="1"/>
          </p:nvPr>
        </p:nvPicPr>
        <p:blipFill>
          <a:blip r:embed="rId3"/>
          <a:stretch>
            <a:fillRect/>
          </a:stretch>
        </p:blipFill>
        <p:spPr>
          <a:xfrm>
            <a:off x="152401" y="1000332"/>
            <a:ext cx="6096000" cy="1909503"/>
          </a:xfrm>
          <a:prstGeom prst="rect">
            <a:avLst/>
          </a:prstGeom>
        </p:spPr>
      </p:pic>
      <p:pic>
        <p:nvPicPr>
          <p:cNvPr id="7" name="Picture 6">
            <a:extLst>
              <a:ext uri="{FF2B5EF4-FFF2-40B4-BE49-F238E27FC236}">
                <a16:creationId xmlns:a16="http://schemas.microsoft.com/office/drawing/2014/main" id="{F105C195-6484-CAC4-1E87-28C3AC953422}"/>
              </a:ext>
            </a:extLst>
          </p:cNvPr>
          <p:cNvPicPr>
            <a:picLocks noChangeAspect="1"/>
          </p:cNvPicPr>
          <p:nvPr/>
        </p:nvPicPr>
        <p:blipFill>
          <a:blip r:embed="rId4"/>
          <a:stretch>
            <a:fillRect/>
          </a:stretch>
        </p:blipFill>
        <p:spPr>
          <a:xfrm>
            <a:off x="4343400" y="2761191"/>
            <a:ext cx="6815791" cy="4007657"/>
          </a:xfrm>
          <a:prstGeom prst="rect">
            <a:avLst/>
          </a:prstGeom>
        </p:spPr>
      </p:pic>
    </p:spTree>
    <p:extLst>
      <p:ext uri="{BB962C8B-B14F-4D97-AF65-F5344CB8AC3E}">
        <p14:creationId xmlns:p14="http://schemas.microsoft.com/office/powerpoint/2010/main" val="4330273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What if I </a:t>
            </a:r>
            <a:r>
              <a:rPr lang="en-US" sz="3600" b="1" dirty="0">
                <a:solidFill>
                  <a:schemeClr val="accent2">
                    <a:lumMod val="75000"/>
                  </a:schemeClr>
                </a:solidFill>
                <a:latin typeface="Times New Roman"/>
                <a:cs typeface="Times New Roman"/>
              </a:rPr>
              <a:t>can’t</a:t>
            </a:r>
            <a:r>
              <a:rPr lang="en-US" sz="3600" b="1" dirty="0">
                <a:latin typeface="Times New Roman"/>
                <a:cs typeface="Times New Roman"/>
              </a:rPr>
              <a:t> </a:t>
            </a:r>
            <a:r>
              <a:rPr lang="en-US" sz="3600" dirty="0">
                <a:latin typeface="Times New Roman"/>
                <a:cs typeface="Times New Roman"/>
              </a:rPr>
              <a:t>defend my IV? </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r>
              <a:rPr lang="en-US" sz="2400" dirty="0">
                <a:cs typeface="Times New Roman" panose="02020603050405020304" pitchFamily="18" charset="0"/>
              </a:rPr>
              <a:t>Many quasi-experimental approaches are very assumption dependent</a:t>
            </a:r>
          </a:p>
          <a:p>
            <a:r>
              <a:rPr lang="en-US" sz="2400" b="1" dirty="0">
                <a:cs typeface="Times New Roman" panose="02020603050405020304" pitchFamily="18" charset="0"/>
              </a:rPr>
              <a:t>IV is no exception!</a:t>
            </a:r>
          </a:p>
        </p:txBody>
      </p:sp>
    </p:spTree>
    <p:extLst>
      <p:ext uri="{BB962C8B-B14F-4D97-AF65-F5344CB8AC3E}">
        <p14:creationId xmlns:p14="http://schemas.microsoft.com/office/powerpoint/2010/main" val="20817419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What if I </a:t>
            </a:r>
            <a:r>
              <a:rPr lang="en-US" sz="3600" b="1" dirty="0">
                <a:solidFill>
                  <a:schemeClr val="accent2">
                    <a:lumMod val="75000"/>
                  </a:schemeClr>
                </a:solidFill>
                <a:latin typeface="Times New Roman"/>
                <a:cs typeface="Times New Roman"/>
              </a:rPr>
              <a:t>can’t</a:t>
            </a:r>
            <a:r>
              <a:rPr lang="en-US" sz="3600" b="1" dirty="0">
                <a:latin typeface="Times New Roman"/>
                <a:cs typeface="Times New Roman"/>
              </a:rPr>
              <a:t> </a:t>
            </a:r>
            <a:r>
              <a:rPr lang="en-US" sz="3600" dirty="0">
                <a:latin typeface="Times New Roman"/>
                <a:cs typeface="Times New Roman"/>
              </a:rPr>
              <a:t>defend my IV? </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r>
              <a:rPr lang="en-US" sz="2400" dirty="0">
                <a:cs typeface="Times New Roman" panose="02020603050405020304" pitchFamily="18" charset="0"/>
              </a:rPr>
              <a:t>Many quasi-experimental approaches are very assumption dependent</a:t>
            </a:r>
          </a:p>
          <a:p>
            <a:r>
              <a:rPr lang="en-US" sz="2400" b="1" dirty="0">
                <a:cs typeface="Times New Roman" panose="02020603050405020304" pitchFamily="18" charset="0"/>
              </a:rPr>
              <a:t>IV is no exception!</a:t>
            </a:r>
          </a:p>
          <a:p>
            <a:r>
              <a:rPr lang="en-US" sz="2400" dirty="0">
                <a:cs typeface="Times New Roman" panose="02020603050405020304" pitchFamily="18" charset="0"/>
              </a:rPr>
              <a:t>Some things to be aware of: </a:t>
            </a:r>
          </a:p>
          <a:p>
            <a:pPr lvl="1"/>
            <a:r>
              <a:rPr lang="en-US" sz="2200" dirty="0">
                <a:cs typeface="Times New Roman" panose="02020603050405020304" pitchFamily="18" charset="0"/>
              </a:rPr>
              <a:t>IV is (more) biased if you condition on post-instrument variables</a:t>
            </a:r>
          </a:p>
          <a:p>
            <a:pPr lvl="1"/>
            <a:r>
              <a:rPr lang="en-US" sz="2200" dirty="0">
                <a:cs typeface="Times New Roman" panose="02020603050405020304" pitchFamily="18" charset="0"/>
              </a:rPr>
              <a:t>IV must match </a:t>
            </a:r>
            <a:r>
              <a:rPr lang="en-US" sz="2200" i="1" dirty="0">
                <a:cs typeface="Times New Roman" panose="02020603050405020304" pitchFamily="18" charset="0"/>
              </a:rPr>
              <a:t>measured treatments</a:t>
            </a:r>
            <a:r>
              <a:rPr lang="en-US" sz="2200" dirty="0">
                <a:cs typeface="Times New Roman" panose="02020603050405020304" pitchFamily="18" charset="0"/>
              </a:rPr>
              <a:t>, not true treatment</a:t>
            </a:r>
          </a:p>
          <a:p>
            <a:pPr lvl="1"/>
            <a:r>
              <a:rPr lang="en-US" sz="2200" dirty="0">
                <a:cs typeface="Times New Roman" panose="02020603050405020304" pitchFamily="18" charset="0"/>
              </a:rPr>
              <a:t>Weak IVs can exacerbate even trivial assumption violations!</a:t>
            </a:r>
          </a:p>
          <a:p>
            <a:pPr lvl="1"/>
            <a:r>
              <a:rPr lang="en-US" sz="2200" dirty="0">
                <a:cs typeface="Times New Roman" panose="02020603050405020304" pitchFamily="18" charset="0"/>
              </a:rPr>
              <a:t>Small sample bias – your assumptions might be statistically violated at random</a:t>
            </a:r>
          </a:p>
        </p:txBody>
      </p:sp>
    </p:spTree>
    <p:extLst>
      <p:ext uri="{BB962C8B-B14F-4D97-AF65-F5344CB8AC3E}">
        <p14:creationId xmlns:p14="http://schemas.microsoft.com/office/powerpoint/2010/main" val="39974814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Weak IV Bias </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endParaRPr lang="en-US" sz="2200" dirty="0">
              <a:cs typeface="Times New Roman" panose="02020603050405020304" pitchFamily="18" charset="0"/>
            </a:endParaRPr>
          </a:p>
        </p:txBody>
      </p:sp>
      <p:pic>
        <p:nvPicPr>
          <p:cNvPr id="6" name="Picture 5">
            <a:extLst>
              <a:ext uri="{FF2B5EF4-FFF2-40B4-BE49-F238E27FC236}">
                <a16:creationId xmlns:a16="http://schemas.microsoft.com/office/drawing/2014/main" id="{38FABAC0-2F99-C28E-7F87-93116B8CAC40}"/>
              </a:ext>
            </a:extLst>
          </p:cNvPr>
          <p:cNvPicPr>
            <a:picLocks noChangeAspect="1"/>
          </p:cNvPicPr>
          <p:nvPr/>
        </p:nvPicPr>
        <p:blipFill>
          <a:blip r:embed="rId3"/>
          <a:stretch>
            <a:fillRect/>
          </a:stretch>
        </p:blipFill>
        <p:spPr>
          <a:xfrm>
            <a:off x="838200" y="1066801"/>
            <a:ext cx="7620000" cy="5588518"/>
          </a:xfrm>
          <a:prstGeom prst="rect">
            <a:avLst/>
          </a:prstGeom>
        </p:spPr>
      </p:pic>
    </p:spTree>
    <p:extLst>
      <p:ext uri="{BB962C8B-B14F-4D97-AF65-F5344CB8AC3E}">
        <p14:creationId xmlns:p14="http://schemas.microsoft.com/office/powerpoint/2010/main" val="3837994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Best Practices</a:t>
            </a:r>
            <a:endParaRPr lang="en-US"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1B0A385-F87C-5AA6-58B3-88F7F71D15C3}"/>
              </a:ext>
            </a:extLst>
          </p:cNvPr>
          <p:cNvPicPr>
            <a:picLocks noGrp="1" noChangeAspect="1"/>
          </p:cNvPicPr>
          <p:nvPr>
            <p:ph idx="1"/>
          </p:nvPr>
        </p:nvPicPr>
        <p:blipFill rotWithShape="1">
          <a:blip r:embed="rId3"/>
          <a:srcRect b="20055"/>
          <a:stretch/>
        </p:blipFill>
        <p:spPr>
          <a:xfrm>
            <a:off x="342900" y="990600"/>
            <a:ext cx="10972800" cy="5791200"/>
          </a:xfrm>
        </p:spPr>
      </p:pic>
    </p:spTree>
    <p:extLst>
      <p:ext uri="{BB962C8B-B14F-4D97-AF65-F5344CB8AC3E}">
        <p14:creationId xmlns:p14="http://schemas.microsoft.com/office/powerpoint/2010/main" val="32542247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Best Practices</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E5DA7E7-7D76-4BB9-1CA0-A23A156878C6}"/>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49EA0A10-2A5A-2F22-06B9-D109071542EA}"/>
              </a:ext>
            </a:extLst>
          </p:cNvPr>
          <p:cNvPicPr>
            <a:picLocks noChangeAspect="1"/>
          </p:cNvPicPr>
          <p:nvPr/>
        </p:nvPicPr>
        <p:blipFill rotWithShape="1">
          <a:blip r:embed="rId3"/>
          <a:srcRect t="36154"/>
          <a:stretch/>
        </p:blipFill>
        <p:spPr>
          <a:xfrm>
            <a:off x="457200" y="1066800"/>
            <a:ext cx="10058400" cy="4356063"/>
          </a:xfrm>
          <a:prstGeom prst="rect">
            <a:avLst/>
          </a:prstGeom>
        </p:spPr>
      </p:pic>
    </p:spTree>
    <p:extLst>
      <p:ext uri="{BB962C8B-B14F-4D97-AF65-F5344CB8AC3E}">
        <p14:creationId xmlns:p14="http://schemas.microsoft.com/office/powerpoint/2010/main" val="28286311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685800" y="1119952"/>
            <a:ext cx="10213429" cy="5357048"/>
          </a:xfrm>
        </p:spPr>
        <p:txBody>
          <a:bodyPr vert="horz" lIns="91440" tIns="45720" rIns="91440" bIns="45720" rtlCol="0" anchor="t">
            <a:normAutofit/>
          </a:bodyPr>
          <a:lstStyle/>
          <a:p>
            <a:r>
              <a:rPr lang="en-US" sz="2400" dirty="0">
                <a:latin typeface="Times New Roman"/>
                <a:cs typeface="Times New Roman"/>
              </a:rPr>
              <a:t>IV is a powerful design when data suffer from selection on </a:t>
            </a:r>
            <a:r>
              <a:rPr lang="en-US" sz="2400" dirty="0" err="1">
                <a:latin typeface="Times New Roman"/>
                <a:cs typeface="Times New Roman"/>
              </a:rPr>
              <a:t>unobservables</a:t>
            </a:r>
            <a:r>
              <a:rPr lang="en-US" sz="2400" dirty="0">
                <a:latin typeface="Times New Roman"/>
                <a:cs typeface="Times New Roman"/>
              </a:rPr>
              <a:t>.</a:t>
            </a:r>
          </a:p>
          <a:p>
            <a:r>
              <a:rPr lang="en-US" sz="2400" dirty="0">
                <a:latin typeface="Times New Roman"/>
                <a:cs typeface="Times New Roman"/>
              </a:rPr>
              <a:t>Good front door approach! </a:t>
            </a:r>
          </a:p>
          <a:p>
            <a:r>
              <a:rPr lang="en-US" sz="2400" dirty="0">
                <a:latin typeface="Times New Roman"/>
                <a:cs typeface="Times New Roman"/>
              </a:rPr>
              <a:t>Has limitations: </a:t>
            </a:r>
          </a:p>
          <a:p>
            <a:pPr lvl="1"/>
            <a:r>
              <a:rPr lang="en-US" sz="2400" dirty="0">
                <a:latin typeface="Times New Roman"/>
                <a:cs typeface="Times New Roman"/>
              </a:rPr>
              <a:t>First, it only identifies the LATE, which may or may not be policy relevant</a:t>
            </a:r>
            <a:endParaRPr lang="en-US" sz="2400" dirty="0">
              <a:solidFill>
                <a:srgbClr val="000000"/>
              </a:solidFill>
              <a:latin typeface="Times New Roman"/>
              <a:cs typeface="Times New Roman"/>
            </a:endParaRPr>
          </a:p>
          <a:p>
            <a:pPr lvl="1"/>
            <a:r>
              <a:rPr lang="en-US" sz="2400" dirty="0">
                <a:latin typeface="Times New Roman"/>
                <a:cs typeface="Times New Roman"/>
              </a:rPr>
              <a:t>IV has up to five (untestable) assumptions! </a:t>
            </a:r>
            <a:endParaRPr lang="en-US" sz="2400" dirty="0">
              <a:solidFill>
                <a:srgbClr val="000000"/>
              </a:solidFill>
              <a:latin typeface="Times New Roman"/>
              <a:cs typeface="Times New Roman"/>
            </a:endParaRPr>
          </a:p>
          <a:p>
            <a:pPr lvl="1"/>
            <a:r>
              <a:rPr lang="en-US" sz="2400" dirty="0">
                <a:latin typeface="Times New Roman"/>
                <a:cs typeface="Times New Roman"/>
              </a:rPr>
              <a:t>IV tends to be less credible generally (too many unknowns)</a:t>
            </a:r>
          </a:p>
          <a:p>
            <a:pPr>
              <a:buFont typeface="Arial" pitchFamily="18" charset="2"/>
              <a:buChar char="•"/>
            </a:pPr>
            <a:r>
              <a:rPr lang="en-US" sz="2400" dirty="0">
                <a:latin typeface="Times New Roman"/>
                <a:cs typeface="Times New Roman"/>
              </a:rPr>
              <a:t>But IV is an important strategy and sometimes the opportunity to use it will come along! </a:t>
            </a:r>
            <a:endParaRPr lang="en-US" sz="2400" spc="0" dirty="0">
              <a:latin typeface="Times New Roman"/>
              <a:cs typeface="Times New Roman"/>
            </a:endParaRPr>
          </a:p>
          <a:p>
            <a:pPr>
              <a:buFont typeface="Arial" pitchFamily="18" charset="2"/>
              <a:buChar char="•"/>
            </a:pPr>
            <a:r>
              <a:rPr lang="en-US" sz="2400" dirty="0">
                <a:latin typeface="Times New Roman"/>
                <a:cs typeface="Times New Roman"/>
              </a:rPr>
              <a:t>Build in-depth knowledge of institutional details -- familiarity is how you find instruments!</a:t>
            </a:r>
            <a:endParaRPr lang="en-US" sz="2400" dirty="0">
              <a:solidFill>
                <a:srgbClr val="000000"/>
              </a:solidFill>
              <a:cs typeface="Times New Roman"/>
            </a:endParaRPr>
          </a:p>
          <a:p>
            <a:pPr lvl="1">
              <a:buFont typeface="Wingdings 2"/>
              <a:buChar char=""/>
            </a:pPr>
            <a:endParaRPr lang="en-US" sz="2400" dirty="0">
              <a:solidFill>
                <a:srgbClr val="262626"/>
              </a:solidFill>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Conclusion</a:t>
            </a:r>
            <a:endParaRPr lang="en-US" dirty="0"/>
          </a:p>
        </p:txBody>
      </p:sp>
    </p:spTree>
    <p:extLst>
      <p:ext uri="{BB962C8B-B14F-4D97-AF65-F5344CB8AC3E}">
        <p14:creationId xmlns:p14="http://schemas.microsoft.com/office/powerpoint/2010/main" val="17104779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5211</TotalTime>
  <Words>3891</Words>
  <Application>Microsoft Office PowerPoint</Application>
  <PresentationFormat>Widescreen</PresentationFormat>
  <Paragraphs>281</Paragraphs>
  <Slides>48</Slides>
  <Notes>46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48</vt:i4>
      </vt:variant>
    </vt:vector>
  </HeadingPairs>
  <TitlesOfParts>
    <vt:vector size="56" baseType="lpstr">
      <vt:lpstr>Aptos</vt:lpstr>
      <vt:lpstr>Arial</vt:lpstr>
      <vt:lpstr>Calibri</vt:lpstr>
      <vt:lpstr>Cambria Math</vt:lpstr>
      <vt:lpstr>Century Schoolbook</vt:lpstr>
      <vt:lpstr>Times New Roman</vt:lpstr>
      <vt:lpstr>Wingdings 2</vt:lpstr>
      <vt:lpstr>View</vt:lpstr>
      <vt:lpstr>Quantitative HSR I</vt:lpstr>
      <vt:lpstr>Last Time: Introducing IV</vt:lpstr>
      <vt:lpstr>Case Stud(ies)</vt:lpstr>
      <vt:lpstr>Another example: causal effect of surgical interventions</vt:lpstr>
      <vt:lpstr>Instrumental Variable in our Example(s)</vt:lpstr>
      <vt:lpstr>Example: Waiting Times and Transplantation Outcomes</vt:lpstr>
      <vt:lpstr>Case study: what is the reform? </vt:lpstr>
      <vt:lpstr>Case study: what is the reform? </vt:lpstr>
      <vt:lpstr>Case study: what is the reform? </vt:lpstr>
      <vt:lpstr>Case study: what is the reform? </vt:lpstr>
      <vt:lpstr>PowerPoint Presentation</vt:lpstr>
      <vt:lpstr>Interpreting and Implementing IV</vt:lpstr>
      <vt:lpstr>Using an IV: Testing Assumptions </vt:lpstr>
      <vt:lpstr>Using an IV: Testing Assumptions </vt:lpstr>
      <vt:lpstr>Example of a First Stage Test</vt:lpstr>
      <vt:lpstr>Current Research Alert: First-Stage Tests</vt:lpstr>
      <vt:lpstr>Using an IV: Testing Assumptions </vt:lpstr>
      <vt:lpstr>Descriptive/Suggestive Evidence for Exclusion</vt:lpstr>
      <vt:lpstr>Using an IV: Testing Assumptions </vt:lpstr>
      <vt:lpstr>Descriptive/Suggestive Evidence for Exogeneity</vt:lpstr>
      <vt:lpstr>Descriptive/Suggestive Evidence for Exogeneity</vt:lpstr>
      <vt:lpstr>Negative Control Tests: Falsifying Your IV</vt:lpstr>
      <vt:lpstr>Negative-Control Outcome (distance example)</vt:lpstr>
      <vt:lpstr>Negative-Control Population / Balance (distance example)</vt:lpstr>
      <vt:lpstr>What Negative Controls Buy You (and their limits)</vt:lpstr>
      <vt:lpstr>Interpreting IV Results</vt:lpstr>
      <vt:lpstr>Using an IV: How do I interpret an IV?</vt:lpstr>
      <vt:lpstr>Using an IV: How do I interpret an IV?</vt:lpstr>
      <vt:lpstr>Using an IV: How do I interpret an IV?</vt:lpstr>
      <vt:lpstr>Using an IV: How do I interpret an IV?</vt:lpstr>
      <vt:lpstr>Using an IV: How do I interpret an IV?</vt:lpstr>
      <vt:lpstr>IV Results</vt:lpstr>
      <vt:lpstr>IV Results</vt:lpstr>
      <vt:lpstr>IV Results</vt:lpstr>
      <vt:lpstr>IV Results</vt:lpstr>
      <vt:lpstr>Some IV Best Practices </vt:lpstr>
      <vt:lpstr>Using an IV: How do I come up with an IV?</vt:lpstr>
      <vt:lpstr>Using an IV: How do I come up with an IV?</vt:lpstr>
      <vt:lpstr>Using an IV: How do I defend an IV?</vt:lpstr>
      <vt:lpstr>Using an IV: How do I defend an IV?</vt:lpstr>
      <vt:lpstr>Using an IV: How do I defend an IV?</vt:lpstr>
      <vt:lpstr>What about covariates?</vt:lpstr>
      <vt:lpstr>Using an IV: What if I can’t defend my IV? </vt:lpstr>
      <vt:lpstr>Using an IV: What if I can’t defend my IV? </vt:lpstr>
      <vt:lpstr>Weak IV Bias </vt:lpstr>
      <vt:lpstr>Using an IV: Best Practices</vt:lpstr>
      <vt:lpstr>Using an IV: Best Practices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565</cp:revision>
  <dcterms:created xsi:type="dcterms:W3CDTF">2011-01-10T00:42:42Z</dcterms:created>
  <dcterms:modified xsi:type="dcterms:W3CDTF">2026-07-22T17:17:29Z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