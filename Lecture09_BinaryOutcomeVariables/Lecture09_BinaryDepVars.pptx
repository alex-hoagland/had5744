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03"/>
  </p:notesMasterIdLst>
  <p:sldIdLst>
    <p:sldId id="256" r:id="rId2"/>
    <p:sldId id="667" r:id="rId3"/>
    <p:sldId id="668" r:id="rId4"/>
    <p:sldId id="669" r:id="rId5"/>
    <p:sldId id="670" r:id="rId6"/>
    <p:sldId id="671" r:id="rId7"/>
    <p:sldId id="515" r:id="rId8"/>
    <p:sldId id="397" r:id="rId9"/>
    <p:sldId id="516" r:id="rId10"/>
    <p:sldId id="517" r:id="rId11"/>
    <p:sldId id="518" r:id="rId12"/>
    <p:sldId id="519" r:id="rId13"/>
    <p:sldId id="520" r:id="rId14"/>
    <p:sldId id="630" r:id="rId15"/>
    <p:sldId id="631" r:id="rId16"/>
    <p:sldId id="632" r:id="rId17"/>
    <p:sldId id="633" r:id="rId18"/>
    <p:sldId id="634" r:id="rId19"/>
    <p:sldId id="635" r:id="rId20"/>
    <p:sldId id="636" r:id="rId21"/>
    <p:sldId id="637" r:id="rId22"/>
    <p:sldId id="398" r:id="rId23"/>
    <p:sldId id="419" r:id="rId24"/>
    <p:sldId id="543" r:id="rId25"/>
    <p:sldId id="523" r:id="rId26"/>
    <p:sldId id="544" r:id="rId27"/>
    <p:sldId id="525" r:id="rId28"/>
    <p:sldId id="546" r:id="rId29"/>
    <p:sldId id="589" r:id="rId30"/>
    <p:sldId id="590" r:id="rId31"/>
    <p:sldId id="591" r:id="rId32"/>
    <p:sldId id="592" r:id="rId33"/>
    <p:sldId id="547" r:id="rId34"/>
    <p:sldId id="548" r:id="rId35"/>
    <p:sldId id="549" r:id="rId36"/>
    <p:sldId id="550" r:id="rId37"/>
    <p:sldId id="524" r:id="rId38"/>
    <p:sldId id="552" r:id="rId39"/>
    <p:sldId id="553" r:id="rId40"/>
    <p:sldId id="551" r:id="rId41"/>
    <p:sldId id="521" r:id="rId42"/>
    <p:sldId id="645" r:id="rId43"/>
    <p:sldId id="555" r:id="rId44"/>
    <p:sldId id="554" r:id="rId45"/>
    <p:sldId id="640" r:id="rId46"/>
    <p:sldId id="641" r:id="rId47"/>
    <p:sldId id="639" r:id="rId48"/>
    <p:sldId id="643" r:id="rId49"/>
    <p:sldId id="644" r:id="rId50"/>
    <p:sldId id="638" r:id="rId51"/>
    <p:sldId id="556" r:id="rId52"/>
    <p:sldId id="557" r:id="rId53"/>
    <p:sldId id="642" r:id="rId54"/>
    <p:sldId id="527" r:id="rId55"/>
    <p:sldId id="559" r:id="rId56"/>
    <p:sldId id="558" r:id="rId57"/>
    <p:sldId id="604" r:id="rId58"/>
    <p:sldId id="560" r:id="rId59"/>
    <p:sldId id="605" r:id="rId60"/>
    <p:sldId id="607" r:id="rId61"/>
    <p:sldId id="602" r:id="rId62"/>
    <p:sldId id="616" r:id="rId63"/>
    <p:sldId id="617" r:id="rId64"/>
    <p:sldId id="618" r:id="rId65"/>
    <p:sldId id="619" r:id="rId66"/>
    <p:sldId id="620" r:id="rId67"/>
    <p:sldId id="609" r:id="rId68"/>
    <p:sldId id="586" r:id="rId69"/>
    <p:sldId id="603" r:id="rId70"/>
    <p:sldId id="656" r:id="rId71"/>
    <p:sldId id="529" r:id="rId72"/>
    <p:sldId id="561" r:id="rId73"/>
    <p:sldId id="562" r:id="rId74"/>
    <p:sldId id="564" r:id="rId75"/>
    <p:sldId id="565" r:id="rId76"/>
    <p:sldId id="569" r:id="rId77"/>
    <p:sldId id="612" r:id="rId78"/>
    <p:sldId id="566" r:id="rId79"/>
    <p:sldId id="570" r:id="rId80"/>
    <p:sldId id="567" r:id="rId81"/>
    <p:sldId id="613" r:id="rId82"/>
    <p:sldId id="614" r:id="rId83"/>
    <p:sldId id="647" r:id="rId84"/>
    <p:sldId id="648" r:id="rId85"/>
    <p:sldId id="649" r:id="rId86"/>
    <p:sldId id="650" r:id="rId87"/>
    <p:sldId id="651" r:id="rId88"/>
    <p:sldId id="652" r:id="rId89"/>
    <p:sldId id="653" r:id="rId90"/>
    <p:sldId id="654" r:id="rId91"/>
    <p:sldId id="655" r:id="rId92"/>
    <p:sldId id="601" r:id="rId93"/>
    <p:sldId id="568" r:id="rId94"/>
    <p:sldId id="593" r:id="rId95"/>
    <p:sldId id="594" r:id="rId96"/>
    <p:sldId id="595" r:id="rId97"/>
    <p:sldId id="596" r:id="rId98"/>
    <p:sldId id="597" r:id="rId99"/>
    <p:sldId id="598" r:id="rId100"/>
    <p:sldId id="599" r:id="rId101"/>
    <p:sldId id="600" r:id="rId102"/>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3618" autoAdjust="0"/>
  </p:normalViewPr>
  <p:slideViewPr>
    <p:cSldViewPr>
      <p:cViewPr>
        <p:scale>
          <a:sx n="53" d="100"/>
          <a:sy n="53" d="100"/>
        </p:scale>
        <p:origin x="1152" y="3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Today and next week are more mechanics-oriented than design. But they integrate! </a:t>
            </a:r>
          </a:p>
          <a:p>
            <a:pPr marL="171450" indent="-171450">
              <a:buFont typeface="Arial" panose="020B0604020202020204" pitchFamily="34" charset="0"/>
              <a:buChar char="•"/>
            </a:pPr>
            <a:r>
              <a:rPr lang="en-US" dirty="0"/>
              <a:t>Referee reports</a:t>
            </a:r>
          </a:p>
          <a:p>
            <a:pPr marL="171450" indent="-171450">
              <a:buFont typeface="Arial" panose="020B0604020202020204" pitchFamily="34" charset="0"/>
              <a:buChar char="•"/>
            </a:pPr>
            <a:r>
              <a:rPr lang="en-US" dirty="0"/>
              <a:t>Assignment 4</a:t>
            </a:r>
          </a:p>
          <a:p>
            <a:pPr marL="171450" indent="-171450">
              <a:buFont typeface="Arial" panose="020B0604020202020204" pitchFamily="34" charset="0"/>
              <a:buChar char="•"/>
            </a:pPr>
            <a:r>
              <a:rPr lang="en-US" dirty="0"/>
              <a:t>Course evaluations</a:t>
            </a:r>
          </a:p>
          <a:p>
            <a:pPr marL="171450" indent="-171450">
              <a:buFont typeface="Arial" panose="020B0604020202020204" pitchFamily="34" charset="0"/>
              <a:buChar char="•"/>
            </a:pPr>
            <a:r>
              <a:rPr lang="en-US" dirty="0"/>
              <a:t>NBER WP </a:t>
            </a:r>
          </a:p>
          <a:p>
            <a:pPr marL="171450" indent="-171450">
              <a:buFont typeface="Arial" panose="020B0604020202020204" pitchFamily="34" charset="0"/>
              <a:buChar char="•"/>
            </a:pPr>
            <a:r>
              <a:rPr lang="en-US" dirty="0"/>
              <a:t>Next week’s “case study”</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E39D6-2FA4-3DD6-02DC-1E2E25E2D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DAE36-848E-8F90-251D-8AC78B68E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5116E-C1BD-D4E9-A370-A9A6E6F1C6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0CE760-F6E6-A1E2-AB29-C5488BEFCA35}"/>
              </a:ext>
            </a:extLst>
          </p:cNvPr>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1508387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EB41-94C3-8DCF-E9C1-9FA9C2AB9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87681-08FA-183D-790F-C329279E8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EDCC6-3014-A9EE-7B66-660889B681EC}"/>
              </a:ext>
            </a:extLst>
          </p:cNvPr>
          <p:cNvSpPr>
            <a:spLocks noGrp="1"/>
          </p:cNvSpPr>
          <p:nvPr>
            <p:ph type="body" idx="1"/>
          </p:nvPr>
        </p:nvSpPr>
        <p:spPr/>
        <p:txBody>
          <a:bodyPr/>
          <a:lstStyle/>
          <a:p>
            <a:r>
              <a:rPr lang="en-US" dirty="0"/>
              <a:t>So what kinds of questions allow us to use the word “association”? Do we use these a lot? </a:t>
            </a:r>
          </a:p>
          <a:p>
            <a:pPr marL="171450" indent="-171450">
              <a:buFontTx/>
              <a:buChar char="-"/>
            </a:pPr>
            <a:r>
              <a:rPr lang="en-US" dirty="0"/>
              <a:t>We will cover predictive research questions in the last lecture on ML</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8A74FB35-46C0-A11A-96BD-E45293C66F7D}"/>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741552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6F5D-81E9-A6C7-7D2B-AE5FC2509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5C6D8-7B9F-D976-C7F8-AD1327B88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153F4-9EA4-070D-2F16-666310221D70}"/>
              </a:ext>
            </a:extLst>
          </p:cNvPr>
          <p:cNvSpPr>
            <a:spLocks noGrp="1"/>
          </p:cNvSpPr>
          <p:nvPr>
            <p:ph type="body" idx="1"/>
          </p:nvPr>
        </p:nvSpPr>
        <p:spPr/>
        <p:txBody>
          <a:bodyPr/>
          <a:lstStyle/>
          <a:p>
            <a:r>
              <a:rPr lang="en-US" dirty="0"/>
              <a:t>Very contrived discussion but good point here – if your methods are not causal (e.g., you’re using OLS with selection on observables), then you run into an issue: your association depends on what you put in there.</a:t>
            </a:r>
          </a:p>
        </p:txBody>
      </p:sp>
      <p:sp>
        <p:nvSpPr>
          <p:cNvPr id="4" name="Slide Number Placeholder 3">
            <a:extLst>
              <a:ext uri="{FF2B5EF4-FFF2-40B4-BE49-F238E27FC236}">
                <a16:creationId xmlns:a16="http://schemas.microsoft.com/office/drawing/2014/main" id="{07CA2C00-5263-B8A9-AB74-59FCC027B4AC}"/>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273948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D7C8B-4489-2B41-0A91-DF9C243C6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58236-7B42-CD83-2409-5B15D8BCD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B5C12-BFF5-4BD2-05BE-6179608324B2}"/>
              </a:ext>
            </a:extLst>
          </p:cNvPr>
          <p:cNvSpPr>
            <a:spLocks noGrp="1"/>
          </p:cNvSpPr>
          <p:nvPr>
            <p:ph type="body" idx="1"/>
          </p:nvPr>
        </p:nvSpPr>
        <p:spPr/>
        <p:txBody>
          <a:bodyPr/>
          <a:lstStyle/>
          <a:p>
            <a:r>
              <a:rPr lang="en-US" dirty="0"/>
              <a:t>Very contrived discussion but good point here – if your methods are not causal (e.g., you’re using OLS with selection on observables), then you run into an issue: your association depends on what you put in there.</a:t>
            </a:r>
          </a:p>
        </p:txBody>
      </p:sp>
      <p:sp>
        <p:nvSpPr>
          <p:cNvPr id="4" name="Slide Number Placeholder 3">
            <a:extLst>
              <a:ext uri="{FF2B5EF4-FFF2-40B4-BE49-F238E27FC236}">
                <a16:creationId xmlns:a16="http://schemas.microsoft.com/office/drawing/2014/main" id="{CDCD8F1D-F848-4B2D-7E88-13E64E8D9830}"/>
              </a:ext>
            </a:extLst>
          </p:cNvPr>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1805454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AD8A-36F0-07D0-3D77-6B60D09675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02823-C485-0BC4-BD0B-79031CF79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3647E-47B6-9440-1BBF-E3B75DBEBC1C}"/>
              </a:ext>
            </a:extLst>
          </p:cNvPr>
          <p:cNvSpPr>
            <a:spLocks noGrp="1"/>
          </p:cNvSpPr>
          <p:nvPr>
            <p:ph type="body" idx="1"/>
          </p:nvPr>
        </p:nvSpPr>
        <p:spPr/>
        <p:txBody>
          <a:bodyPr/>
          <a:lstStyle/>
          <a:p>
            <a:r>
              <a:rPr lang="en-US" dirty="0"/>
              <a:t>Thoughts about this? What experiences have you had in this class or other readings that fit into this discussion? How does this fit into your thesis?</a:t>
            </a:r>
          </a:p>
        </p:txBody>
      </p:sp>
      <p:sp>
        <p:nvSpPr>
          <p:cNvPr id="4" name="Slide Number Placeholder 3">
            <a:extLst>
              <a:ext uri="{FF2B5EF4-FFF2-40B4-BE49-F238E27FC236}">
                <a16:creationId xmlns:a16="http://schemas.microsoft.com/office/drawing/2014/main" id="{F390EC27-2C35-B030-8CAA-4744C1F93888}"/>
              </a:ext>
            </a:extLst>
          </p:cNvPr>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992432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Call these limited dependent varaibles </a:t>
            </a:r>
          </a:p>
        </p:txBody>
      </p:sp>
      <p:sp>
        <p:nvSpPr>
          <p:cNvPr id="4" name="Slide Number Placeholder 3"/>
          <p:cNvSpPr>
            <a:spLocks noGrp="1"/>
          </p:cNvSpPr>
          <p:nvPr>
            <p:ph type="sldNum" sz="quarter" idx="5"/>
          </p:nvPr>
        </p:nvSpPr>
        <p:spPr/>
        <p:txBody>
          <a:bodyPr/>
          <a:lstStyle/>
          <a:p>
            <a:fld id="{3298C5B2-5D6B-2949-9D6C-64FEDA8AB56A}" type="slidenum">
              <a:rPr lang="en-US" smtClean="0"/>
              <a:t>7</a:t>
            </a:fld>
            <a:endParaRPr lang="en-US"/>
          </a:p>
        </p:txBody>
      </p:sp>
    </p:spTree>
    <p:extLst>
      <p:ext uri="{BB962C8B-B14F-4D97-AF65-F5344CB8AC3E}">
        <p14:creationId xmlns:p14="http://schemas.microsoft.com/office/powerpoint/2010/main" val="121388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055365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771879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3034532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979269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78335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only on just logit/probit for today, as this lays the ground work </a:t>
            </a:r>
            <a:r>
              <a:rPr lang="en-US"/>
              <a:t>for the rest </a:t>
            </a:r>
            <a:r>
              <a:rPr lang="en-US" dirty="0"/>
              <a:t>of them. (can include more in next lecture if you want?). Also have appendix material on an extension of ordered that highlights choices between competing options.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765826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effects could be very powerful to the extent that they generate a “social multiplier”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336318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for endogeneity, think about “selection.” What could be selected by the agents in your sample, and how could that affect estimation? Correlation isn’t evidence of spillovers (what do we mean by spillovers?) Also, pairs are endogenously formed (two high propensity people might have matched)</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123716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problem – who started the spillover? Chicken and egg.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3713539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652628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bivariate? Just that we have probit on both sides of the 2SLS equation. </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3144348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think about this figure?</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249535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nice descriptive graph. What is it showing? Walk through (quickly) tests of IV validity – what tests did they do? Was the IV strong?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202563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dependent variables show up *all* the time in research. We’ve already seen them (and glossed over them) in lots of cases. Can anyone think of key examples (propensity score is a big one). </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differences in pp versus %. Homework late grades are a good example.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6712281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note that there is field idiosyncrasy in how people respond to LPMs. Economists = great, others = not. Really depends on your context (are you using for prediction, or just trying to get a simple ATE, or something in between?)</a:t>
            </a:r>
          </a:p>
          <a:p>
            <a:r>
              <a:rPr lang="en-US" dirty="0"/>
              <a:t>- Larger point here: some fields try to focus on getting one single parameter really well-identified (no mistakes allowed in methods), while others (econ) try to tell a more holistic story with multiple specifications. You can decide what’s good there. </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21026496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as well get in the habit of some kind of robust standard error anyway (remember for DID we cluster)</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264886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heteroskedasticity – the residuals (difference between prediction and actual) depend on X because X is only in (0,1). </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3212296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OLS prediction to just a local mean across x – okay in middle, but notice that the slopes don’t flatten out at edge of range like we would want</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149550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this is the true underlying DGP – probability of outcome needs to be between 0 and 1, will almost surely be continuous (note: how many straight lines fit the criteria that y(0)=0,y(1)=1, linear, and increasing? Only 1!</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1241265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linear probability model tries to do (hence, the problems). Note that this also shows the benefits (are we that far off?)</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3493422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if we transform probabilities? Meh, still funky, but we’re getting closer!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4074671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now we’re getting somewhere! The trick was to transform the data in a specific way so that a (then) linear regression works. </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374580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functions! So we call this GLM (generalized linear models)</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253203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a nonlinear “link” function coupled with a linear “index” function. So the index function is the linear (marginal effects) we want, and we wrap them in a transformation to handle the nonlinearity of the prediction.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39380218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GEE bit here – there are slight differences but we are definitely covering this. Here, F() is a piecewise function where F(D*)=1 if D*&gt;c, 0 otherwise</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1852544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824756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link functions can we use?</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85855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25358631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phi is the normal </a:t>
            </a:r>
            <a:r>
              <a:rPr lang="en-US" dirty="0" err="1"/>
              <a:t>cdf</a:t>
            </a:r>
            <a:r>
              <a:rPr lang="en-US" dirty="0"/>
              <a:t> for the standard normal (probability that </a:t>
            </a:r>
            <a:r>
              <a:rPr lang="en-US" dirty="0" err="1"/>
              <a:t>i</a:t>
            </a:r>
            <a:r>
              <a:rPr lang="en-US" dirty="0"/>
              <a:t> is &lt;= </a:t>
            </a:r>
            <a:r>
              <a:rPr lang="en-US" dirty="0" err="1"/>
              <a:t>i</a:t>
            </a:r>
            <a:r>
              <a:rPr lang="en-US"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3199977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F(b_1) isn’t necessarily the same across x</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2544021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76DB-B838-5984-075C-B5521AA4A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68BEA-C56E-0277-B628-3376A835C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F604B-1D3C-886A-FCF6-B4E157781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05069-9297-7333-23C1-4F183C83EEEF}"/>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39448759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1246714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that? Have to look it up every time I use one. </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6516963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use a two-way frequency table to calculate these (ish). So here’s the example: does a new program affect 30-day readmission rates (binary outcome), with an RCT (so no identification concerns) for program adherence. </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3855206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still have to transform regression coefficients just to get this (less useful) measure. So suppose our log odds is -0.2 (so then our OR = 0.82). So we can say that readmission rates are lower for those randomized into the program vs. not. But what does this mean magnitude-wise? </a:t>
            </a:r>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37615443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with odds ratios: </a:t>
            </a:r>
          </a:p>
          <a:p>
            <a:pPr marL="171450" indent="-171450">
              <a:buFont typeface="Arial" panose="020B0604020202020204" pitchFamily="34" charset="0"/>
              <a:buChar char="•"/>
            </a:pPr>
            <a:r>
              <a:rPr lang="en-US" dirty="0"/>
              <a:t>The data affects the scaling here (scaling factor is exp(\beta/\sigma)), so different data/models means </a:t>
            </a:r>
            <a:r>
              <a:rPr lang="en-US" dirty="0" err="1"/>
              <a:t>uncomparable</a:t>
            </a:r>
            <a:r>
              <a:rPr lang="en-US" dirty="0"/>
              <a:t> coefficients. This is a big problem for meta-analyses! </a:t>
            </a:r>
          </a:p>
          <a:p>
            <a:pPr marL="171450" indent="-171450">
              <a:buFont typeface="Arial" panose="020B0604020202020204" pitchFamily="34" charset="0"/>
              <a:buChar char="•"/>
            </a:pPr>
            <a:r>
              <a:rPr lang="en-US" dirty="0"/>
              <a:t>Can’t even compare odds ratios across models in a paper!</a:t>
            </a:r>
          </a:p>
          <a:p>
            <a:pPr marL="171450" indent="-171450">
              <a:buFont typeface="Arial" panose="020B0604020202020204" pitchFamily="34" charset="0"/>
              <a:buChar char="•"/>
            </a:pPr>
            <a:r>
              <a:rPr lang="en-US" dirty="0"/>
              <a:t>Might work okay(?) for descriptive work, but certainly not for causal work</a:t>
            </a:r>
          </a:p>
          <a:p>
            <a:pPr marL="171450" indent="-171450">
              <a:buFont typeface="Arial" panose="020B0604020202020204" pitchFamily="34" charset="0"/>
              <a:buChar char="•"/>
            </a:pPr>
            <a:r>
              <a:rPr lang="en-US" dirty="0"/>
              <a:t>Example: in a perfect RCT, the treatment effect doesn’t depend on if you include covariates or not (because there is absolutely no correlation between treatment assignment and other covariates)</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7956319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 Odds ratios are hard to interpret</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29436435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904D-4B60-EE89-59D9-9B4629F8F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76BEF-961D-3907-030D-A8318BC56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FC5A1-0327-C94F-B40A-03C0709A2EC9}"/>
              </a:ext>
            </a:extLst>
          </p:cNvPr>
          <p:cNvSpPr>
            <a:spLocks noGrp="1"/>
          </p:cNvSpPr>
          <p:nvPr>
            <p:ph type="body" idx="1"/>
          </p:nvPr>
        </p:nvSpPr>
        <p:spPr/>
        <p:txBody>
          <a:bodyPr/>
          <a:lstStyle/>
          <a:p>
            <a:r>
              <a:rPr lang="en-CA" dirty="0"/>
              <a:t>2. Odds ratios can’t be compared across data/models/papers! This is the problem of </a:t>
            </a:r>
            <a:r>
              <a:rPr lang="en-CA" b="1" dirty="0"/>
              <a:t>non-collapsibility. </a:t>
            </a:r>
          </a:p>
          <a:p>
            <a:r>
              <a:rPr lang="en-CA" b="1" dirty="0"/>
              <a:t>- Do code first, then come back to this after running through the code. </a:t>
            </a:r>
            <a:endParaRPr lang="en-CA" dirty="0"/>
          </a:p>
        </p:txBody>
      </p:sp>
      <p:sp>
        <p:nvSpPr>
          <p:cNvPr id="4" name="Slide Number Placeholder 3">
            <a:extLst>
              <a:ext uri="{FF2B5EF4-FFF2-40B4-BE49-F238E27FC236}">
                <a16:creationId xmlns:a16="http://schemas.microsoft.com/office/drawing/2014/main" id="{C0B29A48-7C3A-4270-56D7-0B79AD7F9E72}"/>
              </a:ext>
            </a:extLst>
          </p:cNvPr>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416783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marginal effects = derivatives</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0389618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41629767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MEM is easier to calculate and interpret, but AME is considered to be more appropriate (it takes into account how variables are correlated, and doesn’t produce an ME for something that doesn’t exist – like someone with 2.3 kids, for example). </a:t>
            </a:r>
          </a:p>
          <a:p>
            <a:r>
              <a:rPr lang="en-US" dirty="0"/>
              <a:t>When using R, keep track of ME for BMI or smoker for each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27113156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use the F test because the test statistic no longer has an F distribution under the null hypothesis because of the link function. Easy to do in R.</a:t>
            </a:r>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22251747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 a linear model, d2/dx1dx2 = d/d(x1x2) = beta_x1x2. But in a nonlinear model, the estimating equation is Phi(b1x2+b2x2+gamma(x1x2)+…), so the cross partial is gamma Phi’() + (beta_1+gamma x2)(beta_2 + gamma x1) Phi’’(), not the simple gamma Phi’(). One immediate takeaway here: if gamma = =0, the cross partial could still be nonzero (could still be an interaction effect!). Another note </a:t>
            </a:r>
            <a:r>
              <a:rPr lang="en-US"/>
              <a:t>from Wooldridge: https://twitter.com/jmwooldridge/status/1594542775189606400?s=12&amp;t=sQpjyPWgoSWS_PAStprl3Q</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918216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4943542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18311064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22261579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This is based off of Wooldridge 2010 : (1) Estimate the first stage using nonlinear regression (logit) and get predicted values. (2) Instead of sticking predicted values into the second stage, use them </a:t>
            </a:r>
            <a:r>
              <a:rPr lang="en-US" b="0" i="1" dirty="0">
                <a:solidFill>
                  <a:srgbClr val="222222"/>
                </a:solidFill>
                <a:effectLst/>
                <a:latin typeface="Source Sans Pro" panose="020B0503030403020204" pitchFamily="34" charset="0"/>
              </a:rPr>
              <a:t>in place of the instrument</a:t>
            </a:r>
            <a:r>
              <a:rPr lang="en-US" b="0" i="0" dirty="0">
                <a:solidFill>
                  <a:srgbClr val="222222"/>
                </a:solidFill>
                <a:effectLst/>
                <a:latin typeface="Source Sans Pro" panose="020B0503030403020204" pitchFamily="34" charset="0"/>
              </a:rPr>
              <a:t> in 2SLS. You’ll look at this a little bit in the problem set. Under this process, the nonlinearity no longer biases the estimate, and we get more precise estimates than if we’d run a linear probability model.</a:t>
            </a:r>
          </a:p>
          <a:p>
            <a:endParaRPr lang="en-US" dirty="0"/>
          </a:p>
          <a:p>
            <a:pPr algn="l" fontAlgn="base"/>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1067276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Deferring the mechanics of this.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10848626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notation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9478259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suppose that each of these coefficients is a tilde variable – the parameter of interest is delta. Identified by dividing the reduced-form coefficient of donor 2’s phone call by the reduced-form coefficient of donor 1’s phone call</a:t>
            </a:r>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12114918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won’t talk much about the bivariate </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24569550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out some of the middle of the table here. Note that we can say something about relative magnitudes and sizes – but no marginal effects (need to look at Appendix A.5 for that)</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28734276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these effects are not very comparable – how do we put them in context together? Baseline of 8.7 is 30 percentage points (29%). The 46% is a 5 percentage point increase. Do we really believe that the spillover effects are larger? </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42081327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issues: data came from people already registered as blood donors? Do you believe the phone call over the letter/text? Is this convenience or is it altruism (does it matter)? </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33279584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next time (or now if we have time!) Note that we have 2-3 case studies (since there are no readings) next week!</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20834994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5450485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9726642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feature: low counts, far from normal. Hurdle Poisson takes into account the fact that we may not see people with 0 job changes in our data. We’ll get to that. </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38691109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Poisson distribution over data in class</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12398958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function looks weird, but remember we just need a linear index function (our regression, bottom right of equation) and a pdf as our link function.</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14806801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drop the last term in maximization – doesn’t matter because it doesn’t depend on beta. </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35772509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299805470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using the Poisson pdf here, and getting a semi-elasticity! So 100 </a:t>
            </a:r>
            <a:r>
              <a:rPr lang="en-US" dirty="0" err="1"/>
              <a:t>beta_j</a:t>
            </a:r>
            <a:r>
              <a:rPr lang="en-US" dirty="0"/>
              <a:t> is approximately the percentage change. Here it really is percent increase, not percentage points (because this is essentially a log transform)! </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165070680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t>
            </a:r>
            <a:r>
              <a:rPr lang="en-US" dirty="0" err="1"/>
              <a:t>ppmlhdfe</a:t>
            </a:r>
            <a:r>
              <a:rPr lang="en-US" dirty="0"/>
              <a:t> help page in </a:t>
            </a:r>
            <a:r>
              <a:rPr lang="en-US" dirty="0" err="1"/>
              <a:t>Github</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11816625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Overdispersion is likely since we know e(x) is small – otherwise, why would be doing </a:t>
            </a:r>
            <a:r>
              <a:rPr lang="en-US" dirty="0" err="1"/>
              <a:t>poisson</a:t>
            </a:r>
            <a:r>
              <a:rPr lang="en-US" dirty="0"/>
              <a:t> in the first place?</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2700220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binomial adds an additional variance parameter. Doesn’t really matter unless you are doing a complicated model and need to reduce parameters. </a:t>
            </a:r>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4930471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not as big a deal as </a:t>
            </a:r>
            <a:r>
              <a:rPr lang="en-US" dirty="0" err="1"/>
              <a:t>yo</a:t>
            </a:r>
            <a:r>
              <a:rPr lang="en-US" dirty="0"/>
              <a:t> </a:t>
            </a:r>
            <a:r>
              <a:rPr lang="en-US" dirty="0" err="1"/>
              <a:t>umight</a:t>
            </a:r>
            <a:r>
              <a:rPr lang="en-US" dirty="0"/>
              <a:t> have heard. Negative binomial adds an additional variance parameter. Doesn’t really matter unless you are doing a complicated model and need to reduce parameters.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398327868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19208503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250980746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 data seems </a:t>
            </a:r>
            <a:r>
              <a:rPr lang="en-US" dirty="0" err="1"/>
              <a:t>usefu</a:t>
            </a:r>
            <a:r>
              <a:rPr lang="en-US" dirty="0"/>
              <a:t> </a:t>
            </a:r>
            <a:r>
              <a:rPr lang="en-US" dirty="0" err="1"/>
              <a:t>lin</a:t>
            </a:r>
            <a:r>
              <a:rPr lang="en-US" dirty="0"/>
              <a:t> the sense hat it allows to separate out two things: where people are getting care, </a:t>
            </a:r>
            <a:r>
              <a:rPr lang="en-US" dirty="0" err="1"/>
              <a:t>nd</a:t>
            </a:r>
            <a:r>
              <a:rPr lang="en-US" dirty="0"/>
              <a:t> where care might be most valuable (AMI) </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10531160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assuming that hospital closures are exogenous to patients (good assumption or not – areas might be very different?) Control group is those in areas without closures.</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309293650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a:t>
            </a:r>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7116659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(Review; how would these change if we used logit/</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9036389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Notice the title is helpful here – plus look at that note! But we have very small death counts here, and are the results significant? Not really talking about significance here or in the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32187536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Specification/robustness checks: what concerns are we addressing here? Mostly checking the mechanisms – are mortality results driven by lack of ER access. Panel D is the funkiest. What is panel E attempting to do (take into account differences in treated vs. control group)</a:t>
            </a:r>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334032193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what are these negative trends from the closure? Reporting error? I don’t like the data. Would have liked to see some figures. </a:t>
            </a:r>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if you have time? </a:t>
            </a:r>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36840939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likelihood: </a:t>
            </a:r>
            <a:r>
              <a:rPr lang="en-US" sz="1200" dirty="0">
                <a:cs typeface="Times New Roman" panose="02020603050405020304" pitchFamily="18" charset="0"/>
              </a:rPr>
              <a:t>For example, if your model estimates that a coin has a .6 chance of being heads, then two observations of heads followed by one observation of tails has a likelihood of , i.e. a .144 chance of occurring. 0.6 is the “hyperparameter” governing the likelihood, which you test for based on your data and model.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93</a:t>
            </a:fld>
            <a:endParaRPr lang="en-US"/>
          </a:p>
        </p:txBody>
      </p:sp>
    </p:spTree>
    <p:extLst>
      <p:ext uri="{BB962C8B-B14F-4D97-AF65-F5344CB8AC3E}">
        <p14:creationId xmlns:p14="http://schemas.microsoft.com/office/powerpoint/2010/main" val="84980737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some old slides – all of our estimation so far uses MOM (or GMM). </a:t>
            </a:r>
          </a:p>
        </p:txBody>
      </p:sp>
      <p:sp>
        <p:nvSpPr>
          <p:cNvPr id="4" name="Slide Number Placeholder 3"/>
          <p:cNvSpPr>
            <a:spLocks noGrp="1"/>
          </p:cNvSpPr>
          <p:nvPr>
            <p:ph type="sldNum" sz="quarter" idx="5"/>
          </p:nvPr>
        </p:nvSpPr>
        <p:spPr/>
        <p:txBody>
          <a:bodyPr/>
          <a:lstStyle/>
          <a:p>
            <a:fld id="{4AF79E1B-2C51-4B9B-8EA4-26DE9E345AFF}" type="slidenum">
              <a:rPr lang="en-US" smtClean="0"/>
              <a:t>94</a:t>
            </a:fld>
            <a:endParaRPr lang="en-US"/>
          </a:p>
        </p:txBody>
      </p:sp>
    </p:spTree>
    <p:extLst>
      <p:ext uri="{BB962C8B-B14F-4D97-AF65-F5344CB8AC3E}">
        <p14:creationId xmlns:p14="http://schemas.microsoft.com/office/powerpoint/2010/main" val="257273321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95</a:t>
            </a:fld>
            <a:endParaRPr lang="en-US"/>
          </a:p>
        </p:txBody>
      </p:sp>
    </p:spTree>
    <p:extLst>
      <p:ext uri="{BB962C8B-B14F-4D97-AF65-F5344CB8AC3E}">
        <p14:creationId xmlns:p14="http://schemas.microsoft.com/office/powerpoint/2010/main" val="2962324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96</a:t>
            </a:fld>
            <a:endParaRPr lang="en-US"/>
          </a:p>
        </p:txBody>
      </p:sp>
    </p:spTree>
    <p:extLst>
      <p:ext uri="{BB962C8B-B14F-4D97-AF65-F5344CB8AC3E}">
        <p14:creationId xmlns:p14="http://schemas.microsoft.com/office/powerpoint/2010/main" val="36698127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drawback of MOM is that using the first m moments doesn’t use the full distribution of data. This might matter more as distributions get more non-normal, hence MLE was developed. </a:t>
            </a:r>
          </a:p>
        </p:txBody>
      </p:sp>
      <p:sp>
        <p:nvSpPr>
          <p:cNvPr id="4" name="Slide Number Placeholder 3"/>
          <p:cNvSpPr>
            <a:spLocks noGrp="1"/>
          </p:cNvSpPr>
          <p:nvPr>
            <p:ph type="sldNum" sz="quarter" idx="5"/>
          </p:nvPr>
        </p:nvSpPr>
        <p:spPr/>
        <p:txBody>
          <a:bodyPr/>
          <a:lstStyle/>
          <a:p>
            <a:fld id="{4AF79E1B-2C51-4B9B-8EA4-26DE9E345AFF}" type="slidenum">
              <a:rPr lang="en-US" smtClean="0"/>
              <a:t>97</a:t>
            </a:fld>
            <a:endParaRPr lang="en-US"/>
          </a:p>
        </p:txBody>
      </p:sp>
    </p:spTree>
    <p:extLst>
      <p:ext uri="{BB962C8B-B14F-4D97-AF65-F5344CB8AC3E}">
        <p14:creationId xmlns:p14="http://schemas.microsoft.com/office/powerpoint/2010/main" val="304234311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logs because they’re monotonic, so they don’t change the maximum. Work through this on board. </a:t>
            </a:r>
          </a:p>
        </p:txBody>
      </p:sp>
      <p:sp>
        <p:nvSpPr>
          <p:cNvPr id="4" name="Slide Number Placeholder 3"/>
          <p:cNvSpPr>
            <a:spLocks noGrp="1"/>
          </p:cNvSpPr>
          <p:nvPr>
            <p:ph type="sldNum" sz="quarter" idx="5"/>
          </p:nvPr>
        </p:nvSpPr>
        <p:spPr/>
        <p:txBody>
          <a:bodyPr/>
          <a:lstStyle/>
          <a:p>
            <a:fld id="{4AF79E1B-2C51-4B9B-8EA4-26DE9E345AFF}" type="slidenum">
              <a:rPr lang="en-US" smtClean="0"/>
              <a:t>98</a:t>
            </a:fld>
            <a:endParaRPr lang="en-US"/>
          </a:p>
        </p:txBody>
      </p:sp>
    </p:spTree>
    <p:extLst>
      <p:ext uri="{BB962C8B-B14F-4D97-AF65-F5344CB8AC3E}">
        <p14:creationId xmlns:p14="http://schemas.microsoft.com/office/powerpoint/2010/main" val="402452315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be </a:t>
            </a:r>
            <a:r>
              <a:rPr lang="en-US" dirty="0" err="1"/>
              <a:t>usingn</a:t>
            </a:r>
            <a:r>
              <a:rPr lang="en-US" dirty="0"/>
              <a:t> the actual pdf (full distribution!) of an RV</a:t>
            </a:r>
          </a:p>
        </p:txBody>
      </p:sp>
      <p:sp>
        <p:nvSpPr>
          <p:cNvPr id="4" name="Slide Number Placeholder 3"/>
          <p:cNvSpPr>
            <a:spLocks noGrp="1"/>
          </p:cNvSpPr>
          <p:nvPr>
            <p:ph type="sldNum" sz="quarter" idx="5"/>
          </p:nvPr>
        </p:nvSpPr>
        <p:spPr/>
        <p:txBody>
          <a:bodyPr/>
          <a:lstStyle/>
          <a:p>
            <a:fld id="{4AF79E1B-2C51-4B9B-8EA4-26DE9E345AFF}" type="slidenum">
              <a:rPr lang="en-US" smtClean="0"/>
              <a:t>99</a:t>
            </a:fld>
            <a:endParaRPr lang="en-US"/>
          </a:p>
        </p:txBody>
      </p:sp>
    </p:spTree>
    <p:extLst>
      <p:ext uri="{BB962C8B-B14F-4D97-AF65-F5344CB8AC3E}">
        <p14:creationId xmlns:p14="http://schemas.microsoft.com/office/powerpoint/2010/main" val="316158888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100</a:t>
            </a:fld>
            <a:endParaRPr lang="en-US"/>
          </a:p>
        </p:txBody>
      </p:sp>
    </p:spTree>
    <p:extLst>
      <p:ext uri="{BB962C8B-B14F-4D97-AF65-F5344CB8AC3E}">
        <p14:creationId xmlns:p14="http://schemas.microsoft.com/office/powerpoint/2010/main" val="299493750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check for a maximum. Of course R will do all this for you. </a:t>
            </a:r>
          </a:p>
        </p:txBody>
      </p:sp>
      <p:sp>
        <p:nvSpPr>
          <p:cNvPr id="4" name="Slide Number Placeholder 3"/>
          <p:cNvSpPr>
            <a:spLocks noGrp="1"/>
          </p:cNvSpPr>
          <p:nvPr>
            <p:ph type="sldNum" sz="quarter" idx="5"/>
          </p:nvPr>
        </p:nvSpPr>
        <p:spPr/>
        <p:txBody>
          <a:bodyPr/>
          <a:lstStyle/>
          <a:p>
            <a:fld id="{4AF79E1B-2C51-4B9B-8EA4-26DE9E345AFF}" type="slidenum">
              <a:rPr lang="en-US" smtClean="0"/>
              <a:t>101</a:t>
            </a:fld>
            <a:endParaRPr lang="en-US"/>
          </a:p>
        </p:txBody>
      </p:sp>
    </p:spTree>
    <p:extLst>
      <p:ext uri="{BB962C8B-B14F-4D97-AF65-F5344CB8AC3E}">
        <p14:creationId xmlns:p14="http://schemas.microsoft.com/office/powerpoint/2010/main" val="9089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11.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bookdown.org/sarahwerth2024/CategoricalBook/multinomial-logit-regression-r.html#running-a-mlr-in-r" TargetMode="Externa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10.png"/><Relationship Id="rId5"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0.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20.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0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11.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2.png"/><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1.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31.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80.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9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7.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4.png"/><Relationship Id="rId4"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3.png"/><Relationship Id="rId4" Type="http://schemas.openxmlformats.org/officeDocument/2006/relationships/hyperlink" Target="https://www.sciencedirect.com/science/article/pii/S0165176503000326?casa_token=6s_iEmC5d6EAAAAA:nJdepSQey56XGlCa0Ty0ChxjrDgoM9KZkatzvjvghz2Hvx47Vv99mSWD9Y1Mn80Mo6roXgTa"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5.png"/><Relationship Id="rId4" Type="http://schemas.openxmlformats.org/officeDocument/2006/relationships/image" Target="../media/image3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5.png"/><Relationship Id="rId4" Type="http://schemas.openxmlformats.org/officeDocument/2006/relationships/image" Target="../media/image3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10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400.png"/><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60.png"/><Relationship Id="rId4" Type="http://schemas.openxmlformats.org/officeDocument/2006/relationships/image" Target="../media/image14.png"/><Relationship Id="rId5" Type="http://schemas.openxmlformats.org/officeDocument/2006/relationships/image" Target="../media/image4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5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1.png"/><Relationship Id="rId4" Type="http://schemas.openxmlformats.org/officeDocument/2006/relationships/image" Target="../media/image1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9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400.png"/><Relationship Id="rId4"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14.png"/><Relationship Id="rId4" Type="http://schemas.openxmlformats.org/officeDocument/2006/relationships/image" Target="../media/image4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46.png"/><Relationship Id="rId4" Type="http://schemas.openxmlformats.org/officeDocument/2006/relationships/image" Target="../media/image4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4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8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5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5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5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5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5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09800"/>
            <a:ext cx="10591800" cy="1894362"/>
          </a:xfrm>
        </p:spPr>
        <p:txBody>
          <a:bodyPr>
            <a:normAutofit fontScale="90000"/>
          </a:bodyPr>
          <a:lstStyle/>
          <a:p>
            <a:r>
              <a:rPr lang="en-US" dirty="0"/>
              <a:t>Quantitative Methods in HSR I </a:t>
            </a:r>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9: Regressions with </a:t>
            </a:r>
            <a:r>
              <a:rPr lang="en-US" sz="2400" b="1" dirty="0"/>
              <a:t>Binary</a:t>
            </a:r>
            <a:r>
              <a:rPr lang="en-US" sz="2400" dirty="0"/>
              <a:t> Dependent Variables</a:t>
            </a:r>
          </a:p>
          <a:p>
            <a:r>
              <a:rPr lang="en-US" sz="2400" dirty="0"/>
              <a:t>November 16,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C84E-C480-08F7-241C-86A695695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5C230-3021-57AE-9D8F-2A29F25C6570}"/>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Current research discussion: </a:t>
            </a:r>
          </a:p>
        </p:txBody>
      </p:sp>
      <p:sp>
        <p:nvSpPr>
          <p:cNvPr id="3" name="Content Placeholder 2">
            <a:extLst>
              <a:ext uri="{FF2B5EF4-FFF2-40B4-BE49-F238E27FC236}">
                <a16:creationId xmlns:a16="http://schemas.microsoft.com/office/drawing/2014/main" id="{F4A5205E-517B-F10F-16B3-A45CA7FED05B}"/>
              </a:ext>
            </a:extLst>
          </p:cNvPr>
          <p:cNvSpPr>
            <a:spLocks noGrp="1"/>
          </p:cNvSpPr>
          <p:nvPr>
            <p:ph idx="1"/>
          </p:nvPr>
        </p:nvSpPr>
        <p:spPr>
          <a:xfrm>
            <a:off x="762001" y="1066801"/>
            <a:ext cx="9862990" cy="5141388"/>
          </a:xfrm>
        </p:spPr>
        <p:txBody>
          <a:bodyPr>
            <a:noAutofit/>
          </a:bodyPr>
          <a:lstStyle/>
          <a:p>
            <a:pPr marL="0" indent="0">
              <a:buNone/>
            </a:pPr>
            <a:r>
              <a:rPr lang="en-US" sz="2400" dirty="0">
                <a:cs typeface="Times New Roman" panose="02020603050405020304" pitchFamily="18" charset="0"/>
              </a:rPr>
              <a:t>Published in the BMJ last month</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Random sample of articles from five of the top journals in epidemiology found that 69% “appeared to have causal goals” but used non-causal language (e.g., association)</a:t>
            </a:r>
          </a:p>
          <a:p>
            <a:r>
              <a:rPr lang="en-US" sz="2400" dirty="0">
                <a:cs typeface="Times New Roman" panose="02020603050405020304" pitchFamily="18" charset="0"/>
              </a:rPr>
              <a:t>This paper: </a:t>
            </a:r>
          </a:p>
          <a:p>
            <a:pPr lvl="1"/>
            <a:r>
              <a:rPr lang="en-US" sz="2200" dirty="0">
                <a:cs typeface="Times New Roman" panose="02020603050405020304" pitchFamily="18" charset="0"/>
              </a:rPr>
              <a:t>Characterizes types of questions</a:t>
            </a:r>
          </a:p>
          <a:p>
            <a:pPr lvl="1"/>
            <a:r>
              <a:rPr lang="en-US" sz="2200" dirty="0">
                <a:cs typeface="Times New Roman" panose="02020603050405020304" pitchFamily="18" charset="0"/>
              </a:rPr>
              <a:t>Discusses when to use certain terms (“causal effect”, “association”, etc.)</a:t>
            </a:r>
          </a:p>
          <a:p>
            <a:pPr lvl="1"/>
            <a:r>
              <a:rPr lang="en-US" sz="2200" dirty="0">
                <a:cs typeface="Times New Roman" panose="02020603050405020304" pitchFamily="18" charset="0"/>
              </a:rPr>
              <a:t>Argues that if your question is causal, you must use causal language even if your design is imperfect (with clarity on the imperfections)</a:t>
            </a:r>
          </a:p>
        </p:txBody>
      </p:sp>
      <p:pic>
        <p:nvPicPr>
          <p:cNvPr id="5" name="Picture 4">
            <a:extLst>
              <a:ext uri="{FF2B5EF4-FFF2-40B4-BE49-F238E27FC236}">
                <a16:creationId xmlns:a16="http://schemas.microsoft.com/office/drawing/2014/main" id="{E47AADA8-8EF0-11DC-FA31-FEF00EC57FDA}"/>
              </a:ext>
            </a:extLst>
          </p:cNvPr>
          <p:cNvPicPr>
            <a:picLocks noChangeAspect="1"/>
          </p:cNvPicPr>
          <p:nvPr/>
        </p:nvPicPr>
        <p:blipFill>
          <a:blip r:embed="rId3"/>
          <a:stretch>
            <a:fillRect/>
          </a:stretch>
        </p:blipFill>
        <p:spPr>
          <a:xfrm>
            <a:off x="2387859" y="1524000"/>
            <a:ext cx="6611273" cy="1400370"/>
          </a:xfrm>
          <a:prstGeom prst="rect">
            <a:avLst/>
          </a:prstGeom>
        </p:spPr>
      </p:pic>
    </p:spTree>
    <p:extLst>
      <p:ext uri="{BB962C8B-B14F-4D97-AF65-F5344CB8AC3E}">
        <p14:creationId xmlns:p14="http://schemas.microsoft.com/office/powerpoint/2010/main" val="3280811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0279C-B34A-CBEE-7EB2-E6E3641BC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F7619-7689-3275-7CAD-7ECC7BE77890}"/>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Types of Research Questions</a:t>
            </a:r>
          </a:p>
        </p:txBody>
      </p:sp>
      <p:sp>
        <p:nvSpPr>
          <p:cNvPr id="3" name="Content Placeholder 2">
            <a:extLst>
              <a:ext uri="{FF2B5EF4-FFF2-40B4-BE49-F238E27FC236}">
                <a16:creationId xmlns:a16="http://schemas.microsoft.com/office/drawing/2014/main" id="{AC747990-9C23-FDB2-768B-465A1A59AA3B}"/>
              </a:ext>
            </a:extLst>
          </p:cNvPr>
          <p:cNvSpPr>
            <a:spLocks noGrp="1"/>
          </p:cNvSpPr>
          <p:nvPr>
            <p:ph idx="1"/>
          </p:nvPr>
        </p:nvSpPr>
        <p:spPr>
          <a:xfrm>
            <a:off x="762001" y="1066801"/>
            <a:ext cx="9862990" cy="5141388"/>
          </a:xfrm>
        </p:spPr>
        <p:txBody>
          <a:bodyPr>
            <a:noAutofit/>
          </a:bodyPr>
          <a:lstStyle/>
          <a:p>
            <a:pPr marL="0" indent="0">
              <a:buNone/>
            </a:pPr>
            <a:r>
              <a:rPr lang="en-US" sz="2400" dirty="0">
                <a:cs typeface="Times New Roman" panose="02020603050405020304" pitchFamily="18" charset="0"/>
              </a:rPr>
              <a:t>Published in the BMJ last month</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Random sample of articles from five of the top journals in epidemiology found that 69% “appeared to have causal goals” but used non-causal language (e.g., association)</a:t>
            </a:r>
          </a:p>
          <a:p>
            <a:r>
              <a:rPr lang="en-US" sz="2400" dirty="0">
                <a:cs typeface="Times New Roman" panose="02020603050405020304" pitchFamily="18" charset="0"/>
              </a:rPr>
              <a:t>This paper: </a:t>
            </a:r>
          </a:p>
          <a:p>
            <a:pPr lvl="1"/>
            <a:r>
              <a:rPr lang="en-US" sz="2200" dirty="0">
                <a:cs typeface="Times New Roman" panose="02020603050405020304" pitchFamily="18" charset="0"/>
              </a:rPr>
              <a:t>Characterizes types of questions</a:t>
            </a:r>
          </a:p>
          <a:p>
            <a:pPr lvl="1"/>
            <a:r>
              <a:rPr lang="en-US" sz="2200" dirty="0">
                <a:cs typeface="Times New Roman" panose="02020603050405020304" pitchFamily="18" charset="0"/>
              </a:rPr>
              <a:t>Discusses when to use certain terms (“causal effect”, “association”, etc.)</a:t>
            </a:r>
          </a:p>
          <a:p>
            <a:pPr lvl="1"/>
            <a:r>
              <a:rPr lang="en-US" sz="2200" dirty="0">
                <a:cs typeface="Times New Roman" panose="02020603050405020304" pitchFamily="18" charset="0"/>
              </a:rPr>
              <a:t>Argues that if your question is causal, you must use causal language even if your design is imperfect (with clarity on the imperfections)</a:t>
            </a:r>
          </a:p>
        </p:txBody>
      </p:sp>
      <p:pic>
        <p:nvPicPr>
          <p:cNvPr id="6" name="Picture 5">
            <a:extLst>
              <a:ext uri="{FF2B5EF4-FFF2-40B4-BE49-F238E27FC236}">
                <a16:creationId xmlns:a16="http://schemas.microsoft.com/office/drawing/2014/main" id="{59980BAF-9179-9DD3-3933-640B189B102B}"/>
              </a:ext>
            </a:extLst>
          </p:cNvPr>
          <p:cNvPicPr>
            <a:picLocks noChangeAspect="1"/>
          </p:cNvPicPr>
          <p:nvPr/>
        </p:nvPicPr>
        <p:blipFill>
          <a:blip r:embed="rId3"/>
          <a:stretch>
            <a:fillRect/>
          </a:stretch>
        </p:blipFill>
        <p:spPr>
          <a:xfrm>
            <a:off x="431818" y="962232"/>
            <a:ext cx="10193173" cy="5744377"/>
          </a:xfrm>
          <a:prstGeom prst="rect">
            <a:avLst/>
          </a:prstGeom>
        </p:spPr>
      </p:pic>
    </p:spTree>
    <p:extLst>
      <p:ext uri="{BB962C8B-B14F-4D97-AF65-F5344CB8AC3E}">
        <p14:creationId xmlns:p14="http://schemas.microsoft.com/office/powerpoint/2010/main" val="211944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5A29-0B8B-2DD0-1BCF-2C02D616D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5C1F3-5A28-B751-9054-B36DA37773B9}"/>
              </a:ext>
            </a:extLst>
          </p:cNvPr>
          <p:cNvSpPr>
            <a:spLocks noGrp="1"/>
          </p:cNvSpPr>
          <p:nvPr>
            <p:ph type="title"/>
          </p:nvPr>
        </p:nvSpPr>
        <p:spPr>
          <a:xfrm>
            <a:off x="152400" y="337391"/>
            <a:ext cx="11582400" cy="624840"/>
          </a:xfrm>
        </p:spPr>
        <p:txBody>
          <a:bodyPr>
            <a:noAutofit/>
          </a:bodyPr>
          <a:lstStyle/>
          <a:p>
            <a:r>
              <a:rPr lang="en-US" sz="3600" dirty="0">
                <a:latin typeface="Times New Roman" panose="02020603050405020304" pitchFamily="18" charset="0"/>
                <a:cs typeface="Times New Roman" panose="02020603050405020304" pitchFamily="18" charset="0"/>
              </a:rPr>
              <a:t>Why do you have to use causal language for causal questions?</a:t>
            </a:r>
          </a:p>
        </p:txBody>
      </p:sp>
      <p:sp>
        <p:nvSpPr>
          <p:cNvPr id="3" name="Content Placeholder 2">
            <a:extLst>
              <a:ext uri="{FF2B5EF4-FFF2-40B4-BE49-F238E27FC236}">
                <a16:creationId xmlns:a16="http://schemas.microsoft.com/office/drawing/2014/main" id="{1F7DD274-E8BE-26E9-E5E4-5BE658D20EA9}"/>
              </a:ext>
            </a:extLst>
          </p:cNvPr>
          <p:cNvSpPr>
            <a:spLocks noGrp="1"/>
          </p:cNvSpPr>
          <p:nvPr>
            <p:ph idx="1"/>
          </p:nvPr>
        </p:nvSpPr>
        <p:spPr>
          <a:xfrm>
            <a:off x="762001" y="1066801"/>
            <a:ext cx="9862990" cy="5141388"/>
          </a:xfrm>
        </p:spPr>
        <p:txBody>
          <a:bodyPr>
            <a:noAutofit/>
          </a:bodyPr>
          <a:lstStyle/>
          <a:p>
            <a:pPr marL="0" indent="0">
              <a:buNone/>
            </a:pPr>
            <a:endParaRPr lang="en-US" sz="2200" dirty="0">
              <a:cs typeface="Times New Roman" panose="02020603050405020304" pitchFamily="18" charset="0"/>
            </a:endParaRPr>
          </a:p>
        </p:txBody>
      </p:sp>
      <p:pic>
        <p:nvPicPr>
          <p:cNvPr id="5" name="Picture 4">
            <a:extLst>
              <a:ext uri="{FF2B5EF4-FFF2-40B4-BE49-F238E27FC236}">
                <a16:creationId xmlns:a16="http://schemas.microsoft.com/office/drawing/2014/main" id="{3303C405-98E6-FC40-99B2-0ECDDE8BD681}"/>
              </a:ext>
            </a:extLst>
          </p:cNvPr>
          <p:cNvPicPr>
            <a:picLocks noChangeAspect="1"/>
          </p:cNvPicPr>
          <p:nvPr/>
        </p:nvPicPr>
        <p:blipFill>
          <a:blip r:embed="rId3"/>
          <a:srcRect b="20293"/>
          <a:stretch>
            <a:fillRect/>
          </a:stretch>
        </p:blipFill>
        <p:spPr>
          <a:xfrm>
            <a:off x="76200" y="962231"/>
            <a:ext cx="6124651" cy="5245958"/>
          </a:xfrm>
          <a:prstGeom prst="rect">
            <a:avLst/>
          </a:prstGeom>
        </p:spPr>
      </p:pic>
      <p:pic>
        <p:nvPicPr>
          <p:cNvPr id="8" name="Picture 7">
            <a:extLst>
              <a:ext uri="{FF2B5EF4-FFF2-40B4-BE49-F238E27FC236}">
                <a16:creationId xmlns:a16="http://schemas.microsoft.com/office/drawing/2014/main" id="{BE218EC4-2F73-988B-760A-25F083FC8310}"/>
              </a:ext>
            </a:extLst>
          </p:cNvPr>
          <p:cNvPicPr>
            <a:picLocks noChangeAspect="1"/>
          </p:cNvPicPr>
          <p:nvPr/>
        </p:nvPicPr>
        <p:blipFill>
          <a:blip r:embed="rId3"/>
          <a:srcRect t="78514"/>
          <a:stretch>
            <a:fillRect/>
          </a:stretch>
        </p:blipFill>
        <p:spPr>
          <a:xfrm>
            <a:off x="6200851" y="1082843"/>
            <a:ext cx="6001588" cy="1385689"/>
          </a:xfrm>
          <a:prstGeom prst="rect">
            <a:avLst/>
          </a:prstGeom>
        </p:spPr>
      </p:pic>
    </p:spTree>
    <p:extLst>
      <p:ext uri="{BB962C8B-B14F-4D97-AF65-F5344CB8AC3E}">
        <p14:creationId xmlns:p14="http://schemas.microsoft.com/office/powerpoint/2010/main" val="173887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1624A-FC58-6A28-1447-5897BABE9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8FF95-14EB-7A86-CA82-3292CB3D7FCB}"/>
              </a:ext>
            </a:extLst>
          </p:cNvPr>
          <p:cNvSpPr>
            <a:spLocks noGrp="1"/>
          </p:cNvSpPr>
          <p:nvPr>
            <p:ph type="title"/>
          </p:nvPr>
        </p:nvSpPr>
        <p:spPr>
          <a:xfrm>
            <a:off x="152400" y="337391"/>
            <a:ext cx="11582400" cy="624840"/>
          </a:xfrm>
        </p:spPr>
        <p:txBody>
          <a:bodyPr>
            <a:noAutofit/>
          </a:bodyPr>
          <a:lstStyle/>
          <a:p>
            <a:r>
              <a:rPr lang="en-US" sz="3600" dirty="0">
                <a:latin typeface="Times New Roman" panose="02020603050405020304" pitchFamily="18" charset="0"/>
                <a:cs typeface="Times New Roman" panose="02020603050405020304" pitchFamily="18" charset="0"/>
              </a:rPr>
              <a:t>Why do you have to use causal language for causal questions?</a:t>
            </a:r>
          </a:p>
        </p:txBody>
      </p:sp>
      <p:sp>
        <p:nvSpPr>
          <p:cNvPr id="3" name="Content Placeholder 2">
            <a:extLst>
              <a:ext uri="{FF2B5EF4-FFF2-40B4-BE49-F238E27FC236}">
                <a16:creationId xmlns:a16="http://schemas.microsoft.com/office/drawing/2014/main" id="{DC8DB031-6927-7CF2-60BE-9C197A3C6351}"/>
              </a:ext>
            </a:extLst>
          </p:cNvPr>
          <p:cNvSpPr>
            <a:spLocks noGrp="1"/>
          </p:cNvSpPr>
          <p:nvPr>
            <p:ph idx="1"/>
          </p:nvPr>
        </p:nvSpPr>
        <p:spPr>
          <a:xfrm>
            <a:off x="762001" y="1066801"/>
            <a:ext cx="9862990" cy="5141388"/>
          </a:xfrm>
        </p:spPr>
        <p:txBody>
          <a:bodyPr>
            <a:noAutofit/>
          </a:bodyPr>
          <a:lstStyle/>
          <a:p>
            <a:pPr marL="0" indent="0">
              <a:buNone/>
            </a:pPr>
            <a:r>
              <a:rPr lang="en-US" sz="2200" b="1" dirty="0">
                <a:cs typeface="Times New Roman" panose="02020603050405020304" pitchFamily="18" charset="0"/>
              </a:rPr>
              <a:t>What are the advantages of talking about causal questions with causal language? </a:t>
            </a:r>
          </a:p>
          <a:p>
            <a:r>
              <a:rPr lang="en-US" sz="2200" dirty="0">
                <a:cs typeface="Times New Roman" panose="02020603050405020304" pitchFamily="18" charset="0"/>
              </a:rPr>
              <a:t>You make your research question clear</a:t>
            </a:r>
          </a:p>
          <a:p>
            <a:r>
              <a:rPr lang="en-US" sz="2200" dirty="0">
                <a:cs typeface="Times New Roman" panose="02020603050405020304" pitchFamily="18" charset="0"/>
              </a:rPr>
              <a:t>This often makes the ideal research design and data clear!</a:t>
            </a:r>
          </a:p>
          <a:p>
            <a:r>
              <a:rPr lang="en-US" sz="2200" dirty="0">
                <a:cs typeface="Times New Roman" panose="02020603050405020304" pitchFamily="18" charset="0"/>
              </a:rPr>
              <a:t>You invite discussion of important identification assumptions</a:t>
            </a:r>
          </a:p>
          <a:p>
            <a:r>
              <a:rPr lang="en-US" sz="2200" dirty="0">
                <a:cs typeface="Times New Roman" panose="02020603050405020304" pitchFamily="18" charset="0"/>
              </a:rPr>
              <a:t>You can talk about bias (this is almost always hidden in “association” papers)</a:t>
            </a:r>
          </a:p>
          <a:p>
            <a:r>
              <a:rPr lang="en-US" sz="2200" dirty="0">
                <a:cs typeface="Times New Roman" panose="02020603050405020304" pitchFamily="18" charset="0"/>
              </a:rPr>
              <a:t>Authors call this promoting “critical thinking” and “transparency”</a:t>
            </a:r>
          </a:p>
          <a:p>
            <a:endParaRPr lang="en-US" sz="2200" dirty="0">
              <a:cs typeface="Times New Roman" panose="02020603050405020304" pitchFamily="18" charset="0"/>
            </a:endParaRPr>
          </a:p>
        </p:txBody>
      </p:sp>
    </p:spTree>
    <p:extLst>
      <p:ext uri="{BB962C8B-B14F-4D97-AF65-F5344CB8AC3E}">
        <p14:creationId xmlns:p14="http://schemas.microsoft.com/office/powerpoint/2010/main" val="260962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7CA3F-1A2A-1C7F-B737-ACB6EB935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6F770-5154-D686-96AA-4956DAE2E29B}"/>
              </a:ext>
            </a:extLst>
          </p:cNvPr>
          <p:cNvSpPr>
            <a:spLocks noGrp="1"/>
          </p:cNvSpPr>
          <p:nvPr>
            <p:ph type="title"/>
          </p:nvPr>
        </p:nvSpPr>
        <p:spPr>
          <a:xfrm>
            <a:off x="152400" y="337391"/>
            <a:ext cx="11582400" cy="624840"/>
          </a:xfrm>
        </p:spPr>
        <p:txBody>
          <a:bodyPr>
            <a:noAutofit/>
          </a:bodyPr>
          <a:lstStyle/>
          <a:p>
            <a:r>
              <a:rPr lang="en-US" sz="3600" dirty="0">
                <a:latin typeface="Times New Roman" panose="02020603050405020304" pitchFamily="18" charset="0"/>
                <a:cs typeface="Times New Roman" panose="02020603050405020304" pitchFamily="18" charset="0"/>
              </a:rPr>
              <a:t>What language should I use?</a:t>
            </a:r>
          </a:p>
        </p:txBody>
      </p:sp>
      <p:pic>
        <p:nvPicPr>
          <p:cNvPr id="5" name="Content Placeholder 4">
            <a:extLst>
              <a:ext uri="{FF2B5EF4-FFF2-40B4-BE49-F238E27FC236}">
                <a16:creationId xmlns:a16="http://schemas.microsoft.com/office/drawing/2014/main" id="{D775B0CF-93A4-9541-1D57-3A7F5D2DB61D}"/>
              </a:ext>
            </a:extLst>
          </p:cNvPr>
          <p:cNvPicPr>
            <a:picLocks noGrp="1" noChangeAspect="1"/>
          </p:cNvPicPr>
          <p:nvPr>
            <p:ph idx="1"/>
          </p:nvPr>
        </p:nvPicPr>
        <p:blipFill>
          <a:blip r:embed="rId3"/>
          <a:stretch>
            <a:fillRect/>
          </a:stretch>
        </p:blipFill>
        <p:spPr>
          <a:xfrm>
            <a:off x="304800" y="962231"/>
            <a:ext cx="11572334" cy="4371769"/>
          </a:xfrm>
          <a:prstGeom prst="rect">
            <a:avLst/>
          </a:prstGeom>
        </p:spPr>
      </p:pic>
    </p:spTree>
    <p:extLst>
      <p:ext uri="{BB962C8B-B14F-4D97-AF65-F5344CB8AC3E}">
        <p14:creationId xmlns:p14="http://schemas.microsoft.com/office/powerpoint/2010/main" val="24579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rPr>
                  <a:t>Using plausibly exogenous variation to deal with </a:t>
                </a:r>
                <a:r>
                  <a:rPr lang="en-US" sz="2400" b="1" dirty="0">
                    <a:latin typeface="Times New Roman"/>
                    <a:cs typeface="Times New Roman"/>
                  </a:rPr>
                  <a:t>endogeneity</a:t>
                </a:r>
              </a:p>
              <a:p>
                <a:endParaRPr lang="en-US" sz="2400" b="1" dirty="0">
                  <a:solidFill>
                    <a:srgbClr val="262626"/>
                  </a:solidFill>
                  <a:latin typeface="Times New Roman"/>
                  <a:cs typeface="Times New Roman"/>
                </a:endParaRPr>
              </a:p>
              <a:p>
                <a:endParaRPr lang="en-US" sz="2400" b="1" dirty="0">
                  <a:solidFill>
                    <a:srgbClr val="262626"/>
                  </a:solidFill>
                  <a:latin typeface="Times New Roman"/>
                  <a:cs typeface="Times New Roman"/>
                </a:endParaRPr>
              </a:p>
              <a:p>
                <a:endParaRPr lang="en-US" sz="2400" b="1"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r>
                  <a:rPr lang="en-US" sz="2600" dirty="0">
                    <a:solidFill>
                      <a:srgbClr val="262626"/>
                    </a:solidFill>
                    <a:latin typeface="Times New Roman"/>
                    <a:cs typeface="Times New Roman"/>
                  </a:rPr>
                  <a:t>Designing estimating equations</a:t>
                </a:r>
              </a:p>
              <a:p>
                <a:r>
                  <a:rPr lang="en-US" sz="2600" dirty="0">
                    <a:solidFill>
                      <a:srgbClr val="262626"/>
                    </a:solidFill>
                    <a:latin typeface="Times New Roman"/>
                    <a:cs typeface="Times New Roman"/>
                  </a:rPr>
                  <a:t>Specifically: what do you do when </a:t>
                </a:r>
                <a14:m>
                  <m:oMath xmlns:m="http://schemas.openxmlformats.org/officeDocument/2006/math">
                    <m:r>
                      <a:rPr lang="en-US" sz="2600" b="0" i="1" smtClean="0">
                        <a:solidFill>
                          <a:srgbClr val="262626"/>
                        </a:solidFill>
                        <a:latin typeface="Cambria Math" panose="02040503050406030204" pitchFamily="18" charset="0"/>
                        <a:cs typeface="Times New Roman"/>
                      </a:rPr>
                      <m:t>𝑌</m:t>
                    </m:r>
                  </m:oMath>
                </a14:m>
                <a:r>
                  <a:rPr lang="en-US" sz="2600" dirty="0">
                    <a:solidFill>
                      <a:srgbClr val="262626"/>
                    </a:solidFill>
                    <a:cs typeface="Times New Roman"/>
                  </a:rPr>
                  <a:t> is not continuous or you don’t want OLS? </a:t>
                </a:r>
              </a:p>
              <a:p>
                <a:pPr lvl="1">
                  <a:buFont typeface="Wingdings 2"/>
                  <a:buChar char=""/>
                </a:pPr>
                <a:endParaRPr lang="en-US" sz="2400" dirty="0">
                  <a:cs typeface="Times New Roman"/>
                </a:endParaRPr>
              </a:p>
            </p:txBody>
          </p:sp>
        </mc:Choice>
        <mc:Fallback xmlns="">
          <p:sp>
            <p:nvSpPr>
              <p:cNvPr id="3" name="Content Placeholder 2">
                <a:extLst>
                  <a:ext uri="{FF2B5EF4-FFF2-40B4-BE49-F238E27FC236}">
                    <a16:creationId xmlns:a16="http://schemas.microsoft.com/office/drawing/2014/main" id="{8BFAC18E-4064-A1FE-C1EB-5D23F1DFAD23}"/>
                  </a:ext>
                </a:extLst>
              </p:cNvPr>
              <p:cNvSpPr>
                <a:spLocks noGrp="1" noRot="1" noChangeAspect="1" noMove="1" noResize="1" noEditPoints="1" noAdjustHandles="1" noChangeArrowheads="1" noChangeShapeType="1" noTextEdit="1"/>
              </p:cNvSpPr>
              <p:nvPr>
                <p:ph idx="1"/>
              </p:nvPr>
            </p:nvSpPr>
            <p:spPr>
              <a:xfrm>
                <a:off x="914400" y="1119952"/>
                <a:ext cx="9984829" cy="5357048"/>
              </a:xfrm>
              <a:blipFill>
                <a:blip r:embed="rId3"/>
                <a:stretch>
                  <a:fillRect l="-549" t="-1251" b="-796"/>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Last Time: Instrumental Variables</a:t>
            </a:r>
            <a:endParaRPr lang="en-US" dirty="0"/>
          </a:p>
        </p:txBody>
      </p:sp>
      <p:sp>
        <p:nvSpPr>
          <p:cNvPr id="4" name="Title 1">
            <a:extLst>
              <a:ext uri="{FF2B5EF4-FFF2-40B4-BE49-F238E27FC236}">
                <a16:creationId xmlns:a16="http://schemas.microsoft.com/office/drawing/2014/main" id="{66D88018-A2D6-33DA-4F0F-340FD6CC732C}"/>
              </a:ext>
            </a:extLst>
          </p:cNvPr>
          <p:cNvSpPr txBox="1">
            <a:spLocks/>
          </p:cNvSpPr>
          <p:nvPr/>
        </p:nvSpPr>
        <p:spPr>
          <a:xfrm>
            <a:off x="609600" y="39624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This Time: Limited Dependent Variables</a:t>
            </a:r>
            <a:endParaRPr lang="en-US" dirty="0"/>
          </a:p>
        </p:txBody>
      </p:sp>
      <p:pic>
        <p:nvPicPr>
          <p:cNvPr id="1026" name="Picture 2" descr="Unlimited Wicked Star Wars | TikTok">
            <a:extLst>
              <a:ext uri="{FF2B5EF4-FFF2-40B4-BE49-F238E27FC236}">
                <a16:creationId xmlns:a16="http://schemas.microsoft.com/office/drawing/2014/main" id="{121C6132-7BB5-01D5-44F1-F66CD6E83C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956" y="3781158"/>
            <a:ext cx="30480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152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824285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endParaRPr lang="en-US" sz="2400" dirty="0">
                  <a:cs typeface="Times New Roman" panose="02020603050405020304" pitchFamily="18" charset="0"/>
                </a:endParaRP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 1, 2, 3, …, </m:t>
                      </m:r>
                      <m:r>
                        <a:rPr lang="en-US" sz="2400" b="0" i="1" smtClean="0">
                          <a:latin typeface="Cambria Math" panose="02040503050406030204" pitchFamily="18" charset="0"/>
                          <a:cs typeface="Times New Roman" panose="02020603050405020304" pitchFamily="18" charset="0"/>
                        </a:rPr>
                        <m:t>𝑁</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2634887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m:rPr>
                          <m:lit/>
                        </m:rP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$0−$1,000, $1,000−$5,000, $5,000−$8,000,…, $1,000,000+</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r="-324"/>
                </a:stretch>
              </a:blipFill>
            </p:spPr>
            <p:txBody>
              <a:bodyPr/>
              <a:lstStyle/>
              <a:p>
                <a:r>
                  <a:rPr lang="en-US">
                    <a:noFill/>
                  </a:rPr>
                  <a:t> </a:t>
                </a:r>
              </a:p>
            </p:txBody>
          </p:sp>
        </mc:Fallback>
      </mc:AlternateContent>
    </p:spTree>
    <p:extLst>
      <p:ext uri="{BB962C8B-B14F-4D97-AF65-F5344CB8AC3E}">
        <p14:creationId xmlns:p14="http://schemas.microsoft.com/office/powerpoint/2010/main" val="1919802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&lt;0</m:t>
                              </m:r>
                            </m:e>
                          </m:eqArr>
                        </m:e>
                      </m:d>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40201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98969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rgbClr val="FF0000"/>
                    </a:solidFill>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solidFill>
                      <a:srgbClr val="FF0000"/>
                    </a:solidFill>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A handy resource: </a:t>
                </a:r>
                <a:r>
                  <a:rPr lang="en-US" sz="2400" dirty="0">
                    <a:cs typeface="Times New Roman" panose="02020603050405020304" pitchFamily="18" charset="0"/>
                    <a:hlinkClick r:id="rId3"/>
                  </a:rPr>
                  <a:t>https://bookdown.org/sarahwerth2024/CategoricalBook/multinomial-logit-regression-r.html#running-a-mlr-in-r</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4"/>
                <a:stretch>
                  <a:fillRect l="-454" t="-1305" b="-5457"/>
                </a:stretch>
              </a:blipFill>
            </p:spPr>
            <p:txBody>
              <a:bodyPr/>
              <a:lstStyle/>
              <a:p>
                <a:r>
                  <a:rPr lang="en-CA">
                    <a:noFill/>
                  </a:rPr>
                  <a:t> </a:t>
                </a:r>
              </a:p>
            </p:txBody>
          </p:sp>
        </mc:Fallback>
      </mc:AlternateContent>
    </p:spTree>
    <p:extLst>
      <p:ext uri="{BB962C8B-B14F-4D97-AF65-F5344CB8AC3E}">
        <p14:creationId xmlns:p14="http://schemas.microsoft.com/office/powerpoint/2010/main" val="981944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1210529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question: how do peer effects drive donations?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rely on blood donations for a lot of stuff, but we don’t get a lot of blood</a:t>
            </a:r>
          </a:p>
          <a:p>
            <a:r>
              <a:rPr lang="en-US" sz="2400" dirty="0">
                <a:cs typeface="Times New Roman" panose="02020603050405020304" pitchFamily="18" charset="0"/>
              </a:rPr>
              <a:t>Can peer effects increase turn out? (Motivational complementarities) </a:t>
            </a:r>
          </a:p>
        </p:txBody>
      </p:sp>
      <p:pic>
        <p:nvPicPr>
          <p:cNvPr id="5" name="Picture 4">
            <a:extLst>
              <a:ext uri="{FF2B5EF4-FFF2-40B4-BE49-F238E27FC236}">
                <a16:creationId xmlns:a16="http://schemas.microsoft.com/office/drawing/2014/main" id="{33FF6FDE-6EE7-D11B-4B4E-5B2EAEFC9BE5}"/>
              </a:ext>
            </a:extLst>
          </p:cNvPr>
          <p:cNvPicPr>
            <a:picLocks noChangeAspect="1"/>
          </p:cNvPicPr>
          <p:nvPr/>
        </p:nvPicPr>
        <p:blipFill>
          <a:blip r:embed="rId3"/>
          <a:stretch>
            <a:fillRect/>
          </a:stretch>
        </p:blipFill>
        <p:spPr>
          <a:xfrm>
            <a:off x="2209800" y="2034006"/>
            <a:ext cx="7228501" cy="4823994"/>
          </a:xfrm>
          <a:prstGeom prst="rect">
            <a:avLst/>
          </a:prstGeom>
        </p:spPr>
      </p:pic>
    </p:spTree>
    <p:extLst>
      <p:ext uri="{BB962C8B-B14F-4D97-AF65-F5344CB8AC3E}">
        <p14:creationId xmlns:p14="http://schemas.microsoft.com/office/powerpoint/2010/main" val="3866058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p:txBody>
      </p:sp>
      <p:pic>
        <p:nvPicPr>
          <p:cNvPr id="1026" name="Picture 2">
            <a:extLst>
              <a:ext uri="{FF2B5EF4-FFF2-40B4-BE49-F238E27FC236}">
                <a16:creationId xmlns:a16="http://schemas.microsoft.com/office/drawing/2014/main" id="{7574125F-4CDD-0BAB-5380-9652D37362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5" t="2222" r="1251" b="25031"/>
          <a:stretch/>
        </p:blipFill>
        <p:spPr bwMode="auto">
          <a:xfrm>
            <a:off x="914400" y="2438400"/>
            <a:ext cx="9664276" cy="408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970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p:txBody>
      </p:sp>
    </p:spTree>
    <p:extLst>
      <p:ext uri="{BB962C8B-B14F-4D97-AF65-F5344CB8AC3E}">
        <p14:creationId xmlns:p14="http://schemas.microsoft.com/office/powerpoint/2010/main" val="303120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  </a:t>
            </a:r>
          </a:p>
        </p:txBody>
      </p:sp>
      <p:pic>
        <p:nvPicPr>
          <p:cNvPr id="2050" name="Picture 2" descr="I vant to suck your blood - YouTube">
            <a:extLst>
              <a:ext uri="{FF2B5EF4-FFF2-40B4-BE49-F238E27FC236}">
                <a16:creationId xmlns:a16="http://schemas.microsoft.com/office/drawing/2014/main" id="{9B8DB551-2327-220C-D202-A62B85D20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089722"/>
            <a:ext cx="3657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509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 endogeneity  </a:t>
            </a:r>
          </a:p>
        </p:txBody>
      </p:sp>
    </p:spTree>
    <p:extLst>
      <p:ext uri="{BB962C8B-B14F-4D97-AF65-F5344CB8AC3E}">
        <p14:creationId xmlns:p14="http://schemas.microsoft.com/office/powerpoint/2010/main" val="2542586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a:t>
            </a:r>
          </a:p>
        </p:txBody>
      </p:sp>
      <p:pic>
        <p:nvPicPr>
          <p:cNvPr id="5" name="Picture 4">
            <a:extLst>
              <a:ext uri="{FF2B5EF4-FFF2-40B4-BE49-F238E27FC236}">
                <a16:creationId xmlns:a16="http://schemas.microsoft.com/office/drawing/2014/main" id="{E20D521E-7AB7-8AF4-7955-8ECBE15FC752}"/>
              </a:ext>
            </a:extLst>
          </p:cNvPr>
          <p:cNvPicPr>
            <a:picLocks noChangeAspect="1"/>
          </p:cNvPicPr>
          <p:nvPr/>
        </p:nvPicPr>
        <p:blipFill>
          <a:blip r:embed="rId3"/>
          <a:stretch>
            <a:fillRect/>
          </a:stretch>
        </p:blipFill>
        <p:spPr>
          <a:xfrm>
            <a:off x="838200" y="1115993"/>
            <a:ext cx="7696200" cy="5464835"/>
          </a:xfrm>
          <a:prstGeom prst="rect">
            <a:avLst/>
          </a:prstGeom>
        </p:spPr>
      </p:pic>
    </p:spTree>
    <p:extLst>
      <p:ext uri="{BB962C8B-B14F-4D97-AF65-F5344CB8AC3E}">
        <p14:creationId xmlns:p14="http://schemas.microsoft.com/office/powerpoint/2010/main" val="348101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instrument relevance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3610D34E-4D11-8988-9788-9EE87C2AF9EF}"/>
              </a:ext>
            </a:extLst>
          </p:cNvPr>
          <p:cNvPicPr>
            <a:picLocks noChangeAspect="1"/>
          </p:cNvPicPr>
          <p:nvPr/>
        </p:nvPicPr>
        <p:blipFill>
          <a:blip r:embed="rId3"/>
          <a:stretch>
            <a:fillRect/>
          </a:stretch>
        </p:blipFill>
        <p:spPr>
          <a:xfrm>
            <a:off x="609600" y="1042687"/>
            <a:ext cx="10439400" cy="5500484"/>
          </a:xfrm>
          <a:prstGeom prst="rect">
            <a:avLst/>
          </a:prstGeom>
        </p:spPr>
      </p:pic>
    </p:spTree>
    <p:extLst>
      <p:ext uri="{BB962C8B-B14F-4D97-AF65-F5344CB8AC3E}">
        <p14:creationId xmlns:p14="http://schemas.microsoft.com/office/powerpoint/2010/main" val="3042219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Binary Outcome Variables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53910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46545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pPr lvl="1"/>
                <a:r>
                  <a:rPr lang="en-US" sz="2400" dirty="0">
                    <a:cs typeface="Times New Roman" panose="02020603050405020304" pitchFamily="18" charset="0"/>
                  </a:rPr>
                  <a:t>Before,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Now,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the change in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Pr</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Measured in </a:t>
                </a:r>
                <a:r>
                  <a:rPr lang="en-US" sz="2400" b="1" dirty="0">
                    <a:cs typeface="Times New Roman" panose="02020603050405020304" pitchFamily="18" charset="0"/>
                  </a:rPr>
                  <a:t>percentage points</a:t>
                </a:r>
                <a:r>
                  <a:rPr lang="en-US" sz="2400" dirty="0">
                    <a:cs typeface="Times New Roman" panose="02020603050405020304" pitchFamily="18" charset="0"/>
                  </a:rPr>
                  <a:t>, not </a:t>
                </a:r>
                <a:r>
                  <a:rPr lang="en-US" sz="2400" b="1" dirty="0">
                    <a:cs typeface="Times New Roman" panose="02020603050405020304" pitchFamily="18" charset="0"/>
                  </a:rPr>
                  <a:t>percent</a:t>
                </a: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4729F17E-6CED-F798-54A5-63FBD44D61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25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spTree>
    <p:extLst>
      <p:ext uri="{BB962C8B-B14F-4D97-AF65-F5344CB8AC3E}">
        <p14:creationId xmlns:p14="http://schemas.microsoft.com/office/powerpoint/2010/main" val="2519103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a:p>
                <a:r>
                  <a:rPr lang="en-US" sz="2400" dirty="0">
                    <a:cs typeface="Times New Roman" panose="02020603050405020304" pitchFamily="18" charset="0"/>
                  </a:rPr>
                  <a:t>What we really want is a model that </a:t>
                </a:r>
                <a:r>
                  <a:rPr lang="en-US" sz="2400" b="1" dirty="0">
                    <a:cs typeface="Times New Roman" panose="02020603050405020304" pitchFamily="18" charset="0"/>
                  </a:rPr>
                  <a:t>acknowledges </a:t>
                </a:r>
                <a:r>
                  <a:rPr lang="en-US" sz="2400" dirty="0">
                    <a:cs typeface="Times New Roman" panose="02020603050405020304" pitchFamily="18" charset="0"/>
                  </a:rPr>
                  <a:t>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a:t>
                </a:r>
              </a:p>
              <a:p>
                <a:r>
                  <a:rPr lang="en-US" sz="2400" dirty="0">
                    <a:cs typeface="Times New Roman" panose="02020603050405020304" pitchFamily="18" charset="0"/>
                  </a:rPr>
                  <a:t>OLS doesn’t do that!</a:t>
                </a:r>
              </a:p>
              <a:p>
                <a:r>
                  <a:rPr lang="en-US" sz="2400" dirty="0">
                    <a:cs typeface="Times New Roman" panose="02020603050405020304" pitchFamily="18" charset="0"/>
                  </a:rPr>
                  <a:t>A side note: </a:t>
                </a:r>
                <a:r>
                  <a:rPr lang="en-US" sz="2400" b="1" dirty="0">
                    <a:cs typeface="Times New Roman" panose="02020603050405020304" pitchFamily="18" charset="0"/>
                  </a:rPr>
                  <a:t>heteroskedasticity is </a:t>
                </a:r>
                <a:r>
                  <a:rPr lang="en-US" sz="2400" b="1" i="1" dirty="0">
                    <a:cs typeface="Times New Roman" panose="02020603050405020304" pitchFamily="18" charset="0"/>
                  </a:rPr>
                  <a:t>built in </a:t>
                </a:r>
                <a:r>
                  <a:rPr lang="en-US" sz="2400" b="1" dirty="0">
                    <a:cs typeface="Times New Roman" panose="02020603050405020304" pitchFamily="18" charset="0"/>
                  </a:rPr>
                  <a:t>with an LPM. </a:t>
                </a:r>
                <a:r>
                  <a:rPr lang="en-US" sz="2400" dirty="0">
                    <a:cs typeface="Times New Roman" panose="02020603050405020304" pitchFamily="18" charset="0"/>
                  </a:rPr>
                  <a:t>(Why?)</a:t>
                </a:r>
              </a:p>
              <a:p>
                <a:pPr lvl="1"/>
                <a:r>
                  <a:rPr lang="en-US" sz="2400" dirty="0">
                    <a:cs typeface="Times New Roman" panose="02020603050405020304" pitchFamily="18" charset="0"/>
                  </a:rPr>
                  <a:t>If you use an LPM, you </a:t>
                </a:r>
                <a:r>
                  <a:rPr lang="en-US" sz="2400" u="sng" dirty="0">
                    <a:cs typeface="Times New Roman" panose="02020603050405020304" pitchFamily="18" charset="0"/>
                  </a:rPr>
                  <a:t>have to </a:t>
                </a:r>
                <a:r>
                  <a:rPr lang="en-US" sz="2400" dirty="0">
                    <a:cs typeface="Times New Roman" panose="02020603050405020304" pitchFamily="18" charset="0"/>
                  </a:rPr>
                  <a:t>use robust standard errors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459510D8-8B9D-93E2-2694-109AC84122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582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6AA3B4D-6FE0-330B-A38D-E604B97B2203}"/>
              </a:ext>
            </a:extLst>
          </p:cNvPr>
          <p:cNvPicPr>
            <a:picLocks noChangeAspect="1"/>
          </p:cNvPicPr>
          <p:nvPr/>
        </p:nvPicPr>
        <p:blipFill>
          <a:blip r:embed="rId3"/>
          <a:stretch>
            <a:fillRect/>
          </a:stretch>
        </p:blipFill>
        <p:spPr>
          <a:xfrm>
            <a:off x="2034540" y="1098631"/>
            <a:ext cx="7589520" cy="5598013"/>
          </a:xfrm>
          <a:prstGeom prst="rect">
            <a:avLst/>
          </a:prstGeom>
        </p:spPr>
      </p:pic>
    </p:spTree>
    <p:extLst>
      <p:ext uri="{BB962C8B-B14F-4D97-AF65-F5344CB8AC3E}">
        <p14:creationId xmlns:p14="http://schemas.microsoft.com/office/powerpoint/2010/main" val="3952436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5C30B6BD-3AAC-1744-B9F6-05C4C85190E6}"/>
              </a:ext>
            </a:extLst>
          </p:cNvPr>
          <p:cNvPicPr>
            <a:picLocks noChangeAspect="1"/>
          </p:cNvPicPr>
          <p:nvPr/>
        </p:nvPicPr>
        <p:blipFill>
          <a:blip r:embed="rId3"/>
          <a:stretch>
            <a:fillRect/>
          </a:stretch>
        </p:blipFill>
        <p:spPr>
          <a:xfrm>
            <a:off x="2034540" y="1066801"/>
            <a:ext cx="7589520" cy="5391743"/>
          </a:xfrm>
          <a:prstGeom prst="rect">
            <a:avLst/>
          </a:prstGeom>
        </p:spPr>
      </p:pic>
    </p:spTree>
    <p:extLst>
      <p:ext uri="{BB962C8B-B14F-4D97-AF65-F5344CB8AC3E}">
        <p14:creationId xmlns:p14="http://schemas.microsoft.com/office/powerpoint/2010/main" val="2277832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spTree>
    <p:extLst>
      <p:ext uri="{BB962C8B-B14F-4D97-AF65-F5344CB8AC3E}">
        <p14:creationId xmlns:p14="http://schemas.microsoft.com/office/powerpoint/2010/main" val="761996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pic>
        <p:nvPicPr>
          <p:cNvPr id="4" name="Picture 3">
            <a:extLst>
              <a:ext uri="{FF2B5EF4-FFF2-40B4-BE49-F238E27FC236}">
                <a16:creationId xmlns:a16="http://schemas.microsoft.com/office/drawing/2014/main" id="{B4770FD9-848C-7252-BE1C-4E88CF5E068B}"/>
              </a:ext>
            </a:extLst>
          </p:cNvPr>
          <p:cNvPicPr>
            <a:picLocks noChangeAspect="1"/>
          </p:cNvPicPr>
          <p:nvPr/>
        </p:nvPicPr>
        <p:blipFill>
          <a:blip r:embed="rId4"/>
          <a:stretch>
            <a:fillRect/>
          </a:stretch>
        </p:blipFill>
        <p:spPr>
          <a:xfrm>
            <a:off x="322144" y="1447800"/>
            <a:ext cx="10726856" cy="4267200"/>
          </a:xfrm>
          <a:prstGeom prst="rect">
            <a:avLst/>
          </a:prstGeom>
        </p:spPr>
      </p:pic>
    </p:spTree>
    <p:extLst>
      <p:ext uri="{BB962C8B-B14F-4D97-AF65-F5344CB8AC3E}">
        <p14:creationId xmlns:p14="http://schemas.microsoft.com/office/powerpoint/2010/main" val="140850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Odds</a:t>
            </a:r>
          </a:p>
        </p:txBody>
      </p:sp>
      <p:pic>
        <p:nvPicPr>
          <p:cNvPr id="6" name="Picture 5">
            <a:extLst>
              <a:ext uri="{FF2B5EF4-FFF2-40B4-BE49-F238E27FC236}">
                <a16:creationId xmlns:a16="http://schemas.microsoft.com/office/drawing/2014/main" id="{21E7C558-BF76-3B25-160A-34080317BC74}"/>
              </a:ext>
            </a:extLst>
          </p:cNvPr>
          <p:cNvPicPr>
            <a:picLocks noChangeAspect="1"/>
          </p:cNvPicPr>
          <p:nvPr/>
        </p:nvPicPr>
        <p:blipFill>
          <a:blip r:embed="rId3"/>
          <a:stretch>
            <a:fillRect/>
          </a:stretch>
        </p:blipFill>
        <p:spPr>
          <a:xfrm>
            <a:off x="685800" y="1202170"/>
            <a:ext cx="10223630" cy="4208029"/>
          </a:xfrm>
          <a:prstGeom prst="rect">
            <a:avLst/>
          </a:prstGeom>
        </p:spPr>
      </p:pic>
    </p:spTree>
    <p:extLst>
      <p:ext uri="{BB962C8B-B14F-4D97-AF65-F5344CB8AC3E}">
        <p14:creationId xmlns:p14="http://schemas.microsoft.com/office/powerpoint/2010/main" val="2479680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Log(Odds)</a:t>
            </a:r>
          </a:p>
        </p:txBody>
      </p:sp>
      <p:pic>
        <p:nvPicPr>
          <p:cNvPr id="4" name="Picture 3">
            <a:extLst>
              <a:ext uri="{FF2B5EF4-FFF2-40B4-BE49-F238E27FC236}">
                <a16:creationId xmlns:a16="http://schemas.microsoft.com/office/drawing/2014/main" id="{846C7293-360E-3624-0789-B5A891DD32A2}"/>
              </a:ext>
            </a:extLst>
          </p:cNvPr>
          <p:cNvPicPr>
            <a:picLocks noChangeAspect="1"/>
          </p:cNvPicPr>
          <p:nvPr/>
        </p:nvPicPr>
        <p:blipFill>
          <a:blip r:embed="rId3"/>
          <a:stretch>
            <a:fillRect/>
          </a:stretch>
        </p:blipFill>
        <p:spPr>
          <a:xfrm>
            <a:off x="692347" y="1295400"/>
            <a:ext cx="10228344" cy="4038600"/>
          </a:xfrm>
          <a:prstGeom prst="rect">
            <a:avLst/>
          </a:prstGeom>
        </p:spPr>
      </p:pic>
    </p:spTree>
    <p:extLst>
      <p:ext uri="{BB962C8B-B14F-4D97-AF65-F5344CB8AC3E}">
        <p14:creationId xmlns:p14="http://schemas.microsoft.com/office/powerpoint/2010/main" val="413823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2432205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FDEE5680-F793-B1DA-EEF6-7CE7096CB210}"/>
              </a:ext>
            </a:extLst>
          </p:cNvPr>
          <p:cNvSpPr/>
          <p:nvPr/>
        </p:nvSpPr>
        <p:spPr>
          <a:xfrm rot="5400000">
            <a:off x="6591300" y="2532444"/>
            <a:ext cx="304800" cy="99060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C270F4F4-2332-5C23-F166-91C98618F264}"/>
              </a:ext>
            </a:extLst>
          </p:cNvPr>
          <p:cNvSpPr txBox="1"/>
          <p:nvPr/>
        </p:nvSpPr>
        <p:spPr>
          <a:xfrm>
            <a:off x="5829300" y="3276600"/>
            <a:ext cx="2705100" cy="369332"/>
          </a:xfrm>
          <a:prstGeom prst="rect">
            <a:avLst/>
          </a:prstGeom>
          <a:noFill/>
        </p:spPr>
        <p:txBody>
          <a:bodyPr wrap="square" rtlCol="0">
            <a:spAutoFit/>
          </a:bodyPr>
          <a:lstStyle/>
          <a:p>
            <a:r>
              <a:rPr lang="en-US" i="1" dirty="0">
                <a:solidFill>
                  <a:srgbClr val="00B050"/>
                </a:solidFill>
              </a:rPr>
              <a:t>Index function</a:t>
            </a:r>
          </a:p>
        </p:txBody>
      </p:sp>
      <p:sp>
        <p:nvSpPr>
          <p:cNvPr id="6" name="Right Brace 5">
            <a:extLst>
              <a:ext uri="{FF2B5EF4-FFF2-40B4-BE49-F238E27FC236}">
                <a16:creationId xmlns:a16="http://schemas.microsoft.com/office/drawing/2014/main" id="{C2A88EFE-D6C0-0B35-C371-E3FAC1DDF1A5}"/>
              </a:ext>
            </a:extLst>
          </p:cNvPr>
          <p:cNvSpPr/>
          <p:nvPr/>
        </p:nvSpPr>
        <p:spPr>
          <a:xfrm rot="5400000">
            <a:off x="6473624" y="2926299"/>
            <a:ext cx="266700" cy="1752600"/>
          </a:xfrm>
          <a:prstGeom prst="rightBrac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DA50D0B-9E57-5F7B-1538-07B3502740E7}"/>
              </a:ext>
            </a:extLst>
          </p:cNvPr>
          <p:cNvSpPr txBox="1"/>
          <p:nvPr/>
        </p:nvSpPr>
        <p:spPr>
          <a:xfrm>
            <a:off x="5943600" y="3897868"/>
            <a:ext cx="2705100" cy="369332"/>
          </a:xfrm>
          <a:prstGeom prst="rect">
            <a:avLst/>
          </a:prstGeom>
          <a:noFill/>
        </p:spPr>
        <p:txBody>
          <a:bodyPr wrap="square" rtlCol="0">
            <a:spAutoFit/>
          </a:bodyPr>
          <a:lstStyle/>
          <a:p>
            <a:r>
              <a:rPr lang="en-US" i="1" dirty="0">
                <a:solidFill>
                  <a:schemeClr val="accent2">
                    <a:lumMod val="50000"/>
                  </a:schemeClr>
                </a:solidFill>
              </a:rPr>
              <a:t>Link function</a:t>
            </a:r>
          </a:p>
        </p:txBody>
      </p:sp>
    </p:spTree>
    <p:extLst>
      <p:ext uri="{BB962C8B-B14F-4D97-AF65-F5344CB8AC3E}">
        <p14:creationId xmlns:p14="http://schemas.microsoft.com/office/powerpoint/2010/main" val="745034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 (GLM)</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a:stretch>
              </a:blipFill>
            </p:spPr>
            <p:txBody>
              <a:bodyPr/>
              <a:lstStyle/>
              <a:p>
                <a:r>
                  <a:rPr lang="en-US">
                    <a:noFill/>
                  </a:rPr>
                  <a:t> </a:t>
                </a:r>
              </a:p>
            </p:txBody>
          </p:sp>
        </mc:Fallback>
      </mc:AlternateContent>
    </p:spTree>
    <p:extLst>
      <p:ext uri="{BB962C8B-B14F-4D97-AF65-F5344CB8AC3E}">
        <p14:creationId xmlns:p14="http://schemas.microsoft.com/office/powerpoint/2010/main" val="1365956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591800"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r>
                  <a:rPr lang="en-US" sz="2400" dirty="0">
                    <a:cs typeface="Times New Roman" panose="02020603050405020304" pitchFamily="18" charset="0"/>
                  </a:rPr>
                  <a:t>This GLM interpretation will help us deal with essentially </a:t>
                </a:r>
                <a:r>
                  <a:rPr lang="en-US" sz="2400" b="1" dirty="0">
                    <a:cs typeface="Times New Roman" panose="02020603050405020304" pitchFamily="18" charset="0"/>
                  </a:rPr>
                  <a:t>all </a:t>
                </a:r>
                <a:r>
                  <a:rPr lang="en-US" sz="2400" dirty="0">
                    <a:cs typeface="Times New Roman" panose="02020603050405020304" pitchFamily="18" charset="0"/>
                  </a:rPr>
                  <a:t>LDV problems!</a:t>
                </a:r>
              </a:p>
              <a:p>
                <a:pPr lvl="1"/>
                <a:r>
                  <a:rPr lang="en-US" sz="2400" dirty="0">
                    <a:cs typeface="Times New Roman" panose="02020603050405020304" pitchFamily="18" charset="0"/>
                  </a:rPr>
                  <a:t>It’s just a matter of selecting the appropriate</a:t>
                </a:r>
                <a:r>
                  <a:rPr lang="en-US" sz="2400" dirty="0">
                    <a:solidFill>
                      <a:schemeClr val="accent3">
                        <a:lumMod val="75000"/>
                      </a:schemeClr>
                    </a:solidFill>
                    <a:cs typeface="Times New Roman" panose="02020603050405020304" pitchFamily="18" charset="0"/>
                  </a:rPr>
                  <a:t> </a:t>
                </a:r>
                <a:r>
                  <a:rPr lang="en-US" sz="2400" b="1" dirty="0">
                    <a:solidFill>
                      <a:schemeClr val="accent3">
                        <a:lumMod val="75000"/>
                      </a:schemeClr>
                    </a:solidFill>
                    <a:cs typeface="Times New Roman" panose="02020603050405020304" pitchFamily="18" charset="0"/>
                  </a:rPr>
                  <a:t>link function </a:t>
                </a:r>
                <a:r>
                  <a:rPr lang="en-US" sz="2400" dirty="0">
                    <a:solidFill>
                      <a:schemeClr val="tx1"/>
                    </a:solidFill>
                    <a:cs typeface="Times New Roman" panose="02020603050405020304" pitchFamily="18" charset="0"/>
                  </a:rPr>
                  <a:t>and</a:t>
                </a:r>
                <a:r>
                  <a:rPr lang="en-US" sz="2400" b="1" dirty="0">
                    <a:solidFill>
                      <a:schemeClr val="accent3">
                        <a:lumMod val="75000"/>
                      </a:schemeClr>
                    </a:solidFill>
                    <a:cs typeface="Times New Roman" panose="02020603050405020304" pitchFamily="18" charset="0"/>
                  </a:rPr>
                  <a:t> </a:t>
                </a:r>
                <a:r>
                  <a:rPr lang="en-US" sz="2400" b="1" dirty="0">
                    <a:solidFill>
                      <a:schemeClr val="accent5">
                        <a:lumMod val="75000"/>
                      </a:schemeClr>
                    </a:solidFill>
                    <a:cs typeface="Times New Roman" panose="02020603050405020304" pitchFamily="18" charset="0"/>
                  </a:rPr>
                  <a:t>standard errors</a:t>
                </a:r>
                <a:endParaRPr lang="en-US" sz="2400" dirty="0">
                  <a:solidFill>
                    <a:schemeClr val="accent5">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591800" cy="5141388"/>
              </a:xfrm>
              <a:blipFill>
                <a:blip r:embed="rId3"/>
                <a:stretch>
                  <a:fillRect l="-863" t="-1305"/>
                </a:stretch>
              </a:blipFill>
            </p:spPr>
            <p:txBody>
              <a:bodyPr/>
              <a:lstStyle/>
              <a:p>
                <a:r>
                  <a:rPr lang="en-CA">
                    <a:noFill/>
                  </a:rPr>
                  <a:t> </a:t>
                </a:r>
              </a:p>
            </p:txBody>
          </p:sp>
        </mc:Fallback>
      </mc:AlternateContent>
    </p:spTree>
    <p:extLst>
      <p:ext uri="{BB962C8B-B14F-4D97-AF65-F5344CB8AC3E}">
        <p14:creationId xmlns:p14="http://schemas.microsoft.com/office/powerpoint/2010/main" val="7798000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a:cs typeface="Times New Roman" panose="02020603050405020304" pitchFamily="18" charset="0"/>
                  </a:rPr>
                  <a:t>logit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5154364-54DB-54A8-7094-B2CDE7307304}"/>
              </a:ext>
            </a:extLst>
          </p:cNvPr>
          <p:cNvPicPr>
            <a:picLocks noChangeAspect="1"/>
          </p:cNvPicPr>
          <p:nvPr/>
        </p:nvPicPr>
        <p:blipFill>
          <a:blip r:embed="rId4"/>
          <a:stretch>
            <a:fillRect/>
          </a:stretch>
        </p:blipFill>
        <p:spPr>
          <a:xfrm>
            <a:off x="1524000" y="1898488"/>
            <a:ext cx="8229600" cy="4594148"/>
          </a:xfrm>
          <a:prstGeom prst="rect">
            <a:avLst/>
          </a:prstGeom>
        </p:spPr>
      </p:pic>
    </p:spTree>
    <p:extLst>
      <p:ext uri="{BB962C8B-B14F-4D97-AF65-F5344CB8AC3E}">
        <p14:creationId xmlns:p14="http://schemas.microsoft.com/office/powerpoint/2010/main" val="384174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err="1">
                    <a:cs typeface="Times New Roman" panose="02020603050405020304" pitchFamily="18" charset="0"/>
                  </a:rPr>
                  <a:t>probit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504D56D-9C8D-459A-45DE-FB104C5F794F}"/>
              </a:ext>
            </a:extLst>
          </p:cNvPr>
          <p:cNvPicPr>
            <a:picLocks noChangeAspect="1"/>
          </p:cNvPicPr>
          <p:nvPr/>
        </p:nvPicPr>
        <p:blipFill>
          <a:blip r:embed="rId4"/>
          <a:stretch>
            <a:fillRect/>
          </a:stretch>
        </p:blipFill>
        <p:spPr>
          <a:xfrm>
            <a:off x="1905000" y="1848519"/>
            <a:ext cx="7589520" cy="4780881"/>
          </a:xfrm>
          <a:prstGeom prst="rect">
            <a:avLst/>
          </a:prstGeom>
        </p:spPr>
      </p:pic>
    </p:spTree>
    <p:extLst>
      <p:ext uri="{BB962C8B-B14F-4D97-AF65-F5344CB8AC3E}">
        <p14:creationId xmlns:p14="http://schemas.microsoft.com/office/powerpoint/2010/main" val="262094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a:t>
                </a:r>
              </a:p>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exploit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dirty="0">
                    <a:cs typeface="Times New Roman" panose="02020603050405020304" pitchFamily="18" charset="0"/>
                  </a:rPr>
                  <a:t> shape here: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𝐿𝑜𝑔𝑖𝑠𝑡𝑖𝑐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num>
                        <m:den>
                          <m:r>
                            <a:rPr lang="en-US" sz="2400" b="0" i="1" smtClean="0">
                              <a:latin typeface="Cambria Math" panose="02040503050406030204" pitchFamily="18" charset="0"/>
                              <a:cs typeface="Times New Roman" panose="02020603050405020304" pitchFamily="18" charset="0"/>
                            </a:rPr>
                            <m:t>1+</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den>
                      </m:f>
                    </m:oMath>
                  </m:oMathPara>
                </a14:m>
                <a:endParaRPr lang="en-US" sz="2400" b="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𝑃𝑟𝑜𝑏𝑖𝑡</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𝑖𝑛𝑑𝑒𝑥</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In general, these return similar answers. Logit has gotten more popular in machine learning than </a:t>
                </a:r>
                <a:r>
                  <a:rPr lang="en-US" sz="2400" dirty="0" err="1">
                    <a:cs typeface="Times New Roman" panose="02020603050405020304" pitchFamily="18" charset="0"/>
                  </a:rPr>
                  <a:t>probit</a:t>
                </a:r>
                <a:r>
                  <a:rPr lang="en-US" sz="2400" dirty="0">
                    <a:cs typeface="Times New Roman" panose="02020603050405020304" pitchFamily="18" charset="0"/>
                  </a:rPr>
                  <a:t> (easier to compute), so we tend to focus on that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66137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LPM vs. Logit vs.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have the advantages that: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num>
                                <m:den>
                                  <m:r>
                                    <a:rPr lang="en-US" sz="2400" b="0" i="1" smtClean="0">
                                      <a:latin typeface="Cambria Math" panose="02040503050406030204" pitchFamily="18" charset="0"/>
                                      <a:cs typeface="Times New Roman" panose="02020603050405020304" pitchFamily="18" charset="0"/>
                                    </a:rPr>
                                    <m:t>1+∞</m:t>
                                  </m:r>
                                </m:den>
                              </m:f>
                              <m:r>
                                <a:rPr lang="en-US" sz="2400" b="0" i="1" smtClean="0">
                                  <a:latin typeface="Cambria Math" panose="02040503050406030204" pitchFamily="18" charset="0"/>
                                  <a:cs typeface="Times New Roman" panose="02020603050405020304" pitchFamily="18" charset="0"/>
                                </a:rPr>
                                <m:t>=1</m:t>
                              </m:r>
                            </m:e>
                            <m:sup/>
                          </m:sSup>
                        </m:e>
                      </m:func>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And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0</m:t>
                                  </m:r>
                                </m:num>
                                <m:den>
                                  <m:r>
                                    <a:rPr lang="en-US" sz="2400" b="0" i="1" smtClean="0">
                                      <a:latin typeface="Cambria Math" panose="02040503050406030204" pitchFamily="18" charset="0"/>
                                      <a:cs typeface="Times New Roman" panose="02020603050405020304" pitchFamily="18" charset="0"/>
                                    </a:rPr>
                                    <m:t>1+0</m:t>
                                  </m:r>
                                </m:den>
                              </m:f>
                              <m:r>
                                <a:rPr lang="en-US" sz="2400" b="0" i="1" smtClean="0">
                                  <a:latin typeface="Cambria Math" panose="02040503050406030204" pitchFamily="18" charset="0"/>
                                  <a:cs typeface="Times New Roman" panose="02020603050405020304" pitchFamily="18" charset="0"/>
                                </a:rPr>
                                <m:t>=0</m:t>
                              </m:r>
                            </m:e>
                            <m:sup/>
                          </m:sSup>
                        </m:e>
                      </m:func>
                    </m:oMath>
                  </m:oMathPara>
                </a14:m>
                <a:endParaRPr lang="en-US" sz="2400" dirty="0">
                  <a:cs typeface="Times New Roman" panose="02020603050405020304" pitchFamily="18" charset="0"/>
                </a:endParaRPr>
              </a:p>
              <a:p>
                <a:r>
                  <a:rPr lang="en-US" sz="2400" dirty="0">
                    <a:cs typeface="Times New Roman" panose="02020603050405020304" pitchFamily="18" charset="0"/>
                  </a:rPr>
                  <a:t>However, due to the link function, it is </a:t>
                </a:r>
                <a:r>
                  <a:rPr lang="en-US" sz="2400" b="1" dirty="0">
                    <a:cs typeface="Times New Roman" panose="02020603050405020304" pitchFamily="18" charset="0"/>
                  </a:rPr>
                  <a:t>no longer true </a:t>
                </a:r>
                <a:r>
                  <a:rPr lang="en-US" sz="2400" dirty="0">
                    <a:cs typeface="Times New Roman" panose="02020603050405020304" pitchFamily="18" charset="0"/>
                  </a:rPr>
                  <a:t>that our regression coefficients capture </a:t>
                </a:r>
                <a:r>
                  <a:rPr lang="en-US" sz="2400" b="1" dirty="0">
                    <a:cs typeface="Times New Roman" panose="02020603050405020304" pitchFamily="18" charset="0"/>
                  </a:rPr>
                  <a:t>marginal effects</a:t>
                </a:r>
                <a:endParaRPr lang="en-US" sz="2400" dirty="0">
                  <a:cs typeface="Times New Roman" panose="02020603050405020304" pitchFamily="18" charset="0"/>
                </a:endParaRPr>
              </a:p>
              <a:p>
                <a:pPr lvl="1"/>
                <a:r>
                  <a:rPr lang="en-US" sz="2400" dirty="0">
                    <a:cs typeface="Times New Roman" panose="02020603050405020304" pitchFamily="18" charset="0"/>
                  </a:rPr>
                  <a:t>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is what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pPr lvl="1"/>
                <a:r>
                  <a:rPr lang="en-US" sz="2400" dirty="0">
                    <a:cs typeface="Times New Roman" panose="02020603050405020304" pitchFamily="18" charset="0"/>
                  </a:rPr>
                  <a:t>But we can (and should!) invert it to get back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we are after.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1753929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Logit/</a:t>
            </a:r>
            <a:r>
              <a:rPr lang="en-US" dirty="0" err="1"/>
              <a:t>Probit</a:t>
            </a:r>
            <a:r>
              <a:rPr lang="en-US" dirty="0"/>
              <a:t> Best Practices </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2256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F3BD-C5D1-A90E-C4FE-D9CD2BD99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1488-8705-068D-3F21-0B0653350141}"/>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04E067-9C98-37E8-E622-F328026F7C01}"/>
                  </a:ext>
                </a:extLst>
              </p:cNvPr>
              <p:cNvSpPr>
                <a:spLocks noGrp="1"/>
              </p:cNvSpPr>
              <p:nvPr>
                <p:ph idx="1"/>
              </p:nvPr>
            </p:nvSpPr>
            <p:spPr>
              <a:xfrm>
                <a:off x="914401" y="1066801"/>
                <a:ext cx="9677400" cy="5141388"/>
              </a:xfrm>
            </p:spPr>
            <p:txBody>
              <a:bodyPr>
                <a:normAutofit/>
              </a:bodyPr>
              <a:lstStyle/>
              <a:p>
                <a:r>
                  <a:rPr lang="en-US" sz="2400" dirty="0">
                    <a:cs typeface="Times New Roman" panose="02020603050405020304" pitchFamily="18" charset="0"/>
                  </a:rPr>
                  <a:t>Logit and probit are easy to execute (just use “glm” method in R)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B1A6FF66-D8C9-2DF7-B9D7-2E9021366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419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1" y="1066801"/>
                <a:ext cx="9677400" cy="5141388"/>
              </a:xfrm>
            </p:spPr>
            <p:txBody>
              <a:bodyPr>
                <a:noAutofit/>
              </a:bodyPr>
              <a:lstStyle/>
              <a:p>
                <a:r>
                  <a:rPr lang="en-US" sz="2400" dirty="0">
                    <a:cs typeface="Times New Roman" panose="02020603050405020304" pitchFamily="18" charset="0"/>
                  </a:rPr>
                  <a:t>Logit and probit are easy to execute (just use “glm” method in R)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r>
                  <a:rPr lang="en-US" sz="2400" dirty="0">
                    <a:cs typeface="Times New Roman" panose="02020603050405020304" pitchFamily="18" charset="0"/>
                  </a:rPr>
                  <a:t>You might use an LPM when: </a:t>
                </a:r>
              </a:p>
              <a:p>
                <a:pPr lvl="1"/>
                <a:r>
                  <a:rPr lang="en-US" sz="2400" dirty="0">
                    <a:cs typeface="Times New Roman" panose="02020603050405020304" pitchFamily="18" charset="0"/>
                  </a:rPr>
                  <a:t>LPMs are better in small samples than logit/</a:t>
                </a:r>
                <a:r>
                  <a:rPr lang="en-US" sz="2400" dirty="0" err="1">
                    <a:cs typeface="Times New Roman" panose="02020603050405020304" pitchFamily="18" charset="0"/>
                  </a:rPr>
                  <a:t>probit</a:t>
                </a:r>
                <a:r>
                  <a:rPr lang="en-US" sz="2400" dirty="0">
                    <a:cs typeface="Times New Roman" panose="02020603050405020304" pitchFamily="18" charset="0"/>
                  </a:rPr>
                  <a:t>, which generally use </a:t>
                </a:r>
                <a:r>
                  <a:rPr lang="en-US" sz="2400" b="1" dirty="0">
                    <a:cs typeface="Times New Roman" panose="02020603050405020304" pitchFamily="18" charset="0"/>
                  </a:rPr>
                  <a:t>Maximum Likelihood Estimation (MLE) </a:t>
                </a:r>
              </a:p>
              <a:p>
                <a:pPr lvl="1"/>
                <a:r>
                  <a:rPr lang="en-US" sz="2400" dirty="0">
                    <a:cs typeface="Times New Roman" panose="02020603050405020304" pitchFamily="18" charset="0"/>
                  </a:rPr>
                  <a:t>You only care about slope for predicted values far from boundaries</a:t>
                </a:r>
              </a:p>
              <a:p>
                <a:pPr lvl="1"/>
                <a:r>
                  <a:rPr lang="en-US" sz="2400" dirty="0">
                    <a:cs typeface="Times New Roman" panose="02020603050405020304" pitchFamily="18" charset="0"/>
                  </a:rPr>
                  <a:t>There are limited values on RHS (less variation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fewer prediction issues)</a:t>
                </a:r>
              </a:p>
              <a:p>
                <a:pPr lvl="1"/>
                <a:r>
                  <a:rPr lang="en-US" sz="2400" b="1" dirty="0">
                    <a:cs typeface="Times New Roman" panose="02020603050405020304" pitchFamily="18" charset="0"/>
                  </a:rPr>
                  <a:t>Remember LPM performs poorly if </a:t>
                </a:r>
                <a14:m>
                  <m:oMath xmlns:m="http://schemas.openxmlformats.org/officeDocument/2006/math">
                    <m:acc>
                      <m:accPr>
                        <m:chr m:val="̅"/>
                        <m:ctrlPr>
                          <a:rPr lang="en-US" sz="2400" b="1"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b="1" dirty="0">
                    <a:cs typeface="Times New Roman" panose="02020603050405020304" pitchFamily="18" charset="0"/>
                  </a:rPr>
                  <a:t> is close to 0 or 1!</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b="-100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901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What does</a:t>
            </a:r>
          </a:p>
          <a:p>
            <a:pPr marL="0" indent="0">
              <a:buNone/>
            </a:pPr>
            <a:endParaRPr lang="en-US" sz="2400" dirty="0">
              <a:cs typeface="Times New Roman" panose="02020603050405020304" pitchFamily="18" charset="0"/>
            </a:endParaRPr>
          </a:p>
        </p:txBody>
      </p:sp>
      <p:pic>
        <p:nvPicPr>
          <p:cNvPr id="1026" name="Picture 2" descr="What is a meme? Here's everything you need to know | Digital Trends">
            <a:extLst>
              <a:ext uri="{FF2B5EF4-FFF2-40B4-BE49-F238E27FC236}">
                <a16:creationId xmlns:a16="http://schemas.microsoft.com/office/drawing/2014/main" id="{524E3057-0FB5-4790-63D2-1507DF7B4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32552"/>
            <a:ext cx="7696200" cy="513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374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6F1CE88-2774-14BD-93C9-DE7A97892485}"/>
              </a:ext>
            </a:extLst>
          </p:cNvPr>
          <p:cNvPicPr>
            <a:picLocks noChangeAspect="1"/>
          </p:cNvPicPr>
          <p:nvPr/>
        </p:nvPicPr>
        <p:blipFill>
          <a:blip r:embed="rId4"/>
          <a:stretch>
            <a:fillRect/>
          </a:stretch>
        </p:blipFill>
        <p:spPr>
          <a:xfrm>
            <a:off x="622139" y="3124200"/>
            <a:ext cx="9640645" cy="2457793"/>
          </a:xfrm>
          <a:prstGeom prst="rect">
            <a:avLst/>
          </a:prstGeom>
        </p:spPr>
      </p:pic>
    </p:spTree>
    <p:extLst>
      <p:ext uri="{BB962C8B-B14F-4D97-AF65-F5344CB8AC3E}">
        <p14:creationId xmlns:p14="http://schemas.microsoft.com/office/powerpoint/2010/main" val="99543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1790D96-D6D0-633B-7CE1-317DBB66DAF7}"/>
              </a:ext>
            </a:extLst>
          </p:cNvPr>
          <p:cNvPicPr>
            <a:picLocks noChangeAspect="1"/>
          </p:cNvPicPr>
          <p:nvPr/>
        </p:nvPicPr>
        <p:blipFill>
          <a:blip r:embed="rId4"/>
          <a:stretch>
            <a:fillRect/>
          </a:stretch>
        </p:blipFill>
        <p:spPr>
          <a:xfrm>
            <a:off x="591273" y="3429000"/>
            <a:ext cx="7259063" cy="1438476"/>
          </a:xfrm>
          <a:prstGeom prst="rect">
            <a:avLst/>
          </a:prstGeom>
        </p:spPr>
      </p:pic>
    </p:spTree>
    <p:extLst>
      <p:ext uri="{BB962C8B-B14F-4D97-AF65-F5344CB8AC3E}">
        <p14:creationId xmlns:p14="http://schemas.microsoft.com/office/powerpoint/2010/main" val="33566932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9830" y="1066800"/>
                <a:ext cx="10741570" cy="5453807"/>
              </a:xfrm>
            </p:spPr>
            <p:txBody>
              <a:bodyPr>
                <a:norm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Odds ratios are </a:t>
                </a:r>
                <a:r>
                  <a:rPr lang="en-US" sz="2400" b="1" u="sng" dirty="0">
                    <a:cs typeface="Times New Roman" panose="02020603050405020304" pitchFamily="18" charset="0"/>
                  </a:rPr>
                  <a:t>confusing </a:t>
                </a:r>
                <a:r>
                  <a:rPr lang="en-US" sz="2400" dirty="0">
                    <a:cs typeface="Times New Roman" panose="02020603050405020304" pitchFamily="18" charset="0"/>
                  </a:rPr>
                  <a:t>and </a:t>
                </a:r>
                <a:r>
                  <a:rPr lang="en-US" sz="2400" b="1" u="sng" dirty="0">
                    <a:cs typeface="Times New Roman" panose="02020603050405020304" pitchFamily="18" charset="0"/>
                  </a:rPr>
                  <a:t>often misinterpreted</a:t>
                </a:r>
              </a:p>
              <a:p>
                <a:pPr lvl="1"/>
                <a:r>
                  <a:rPr lang="en-US" sz="2200" dirty="0">
                    <a:cs typeface="Times New Roman" panose="02020603050405020304" pitchFamily="18" charset="0"/>
                  </a:rPr>
                  <a:t>Can we just compare odds ratios across literature? </a:t>
                </a:r>
                <a:r>
                  <a:rPr lang="en-US" sz="2200" b="1" u="sng" dirty="0">
                    <a:cs typeface="Times New Roman" panose="02020603050405020304" pitchFamily="18" charset="0"/>
                  </a:rPr>
                  <a:t>NO!</a:t>
                </a:r>
              </a:p>
              <a:p>
                <a:pPr lvl="1"/>
                <a:r>
                  <a:rPr lang="en-US" sz="2200" dirty="0">
                    <a:cs typeface="Times New Roman" panose="02020603050405020304" pitchFamily="18" charset="0"/>
                  </a:rPr>
                  <a:t>Can we compare odds ratios across models in my paper? </a:t>
                </a:r>
                <a:r>
                  <a:rPr lang="en-US" sz="2200" b="1" u="sng" dirty="0">
                    <a:cs typeface="Times New Roman" panose="02020603050405020304" pitchFamily="18" charset="0"/>
                  </a:rPr>
                  <a:t>NO! </a:t>
                </a:r>
              </a:p>
              <a:p>
                <a:r>
                  <a:rPr lang="en-US" sz="2400" dirty="0">
                    <a:cs typeface="Times New Roman" panose="02020603050405020304" pitchFamily="18" charset="0"/>
                  </a:rPr>
                  <a:t>Why? Differences in regression methods: </a:t>
                </a:r>
              </a:p>
              <a:p>
                <a:pPr lvl="1"/>
                <a:r>
                  <a:rPr lang="en-US" sz="2200" dirty="0">
                    <a:cs typeface="Times New Roman" panose="02020603050405020304" pitchFamily="18" charset="0"/>
                  </a:rPr>
                  <a:t>In OLS, adding new (uncorrelated/same population) variables/data just changes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𝜎</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not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lvl="1"/>
                <a:r>
                  <a:rPr lang="en-US" sz="2200" dirty="0">
                    <a:cs typeface="Times New Roman" panose="02020603050405020304" pitchFamily="18" charset="0"/>
                  </a:rPr>
                  <a:t>In nonlinear regression, adding new variables changes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𝐹</m:t>
                    </m:r>
                    <m:r>
                      <a:rPr lang="en-US" sz="2200" b="0" i="1" smtClean="0">
                        <a:latin typeface="Cambria Math" panose="02040503050406030204" pitchFamily="18" charset="0"/>
                        <a:cs typeface="Times New Roman" panose="02020603050405020304" pitchFamily="18" charset="0"/>
                      </a:rPr>
                      <m:t>(</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𝐷</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 and hence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9830" y="1066800"/>
                <a:ext cx="10741570" cy="5453807"/>
              </a:xfrm>
              <a:blipFill>
                <a:blip r:embed="rId3"/>
                <a:stretch>
                  <a:fillRect l="-39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3B7929B-E19D-034C-3CA6-DD4EBC807847}"/>
              </a:ext>
            </a:extLst>
          </p:cNvPr>
          <p:cNvPicPr>
            <a:picLocks noChangeAspect="1"/>
          </p:cNvPicPr>
          <p:nvPr/>
        </p:nvPicPr>
        <p:blipFill>
          <a:blip r:embed="rId4"/>
          <a:stretch>
            <a:fillRect/>
          </a:stretch>
        </p:blipFill>
        <p:spPr>
          <a:xfrm>
            <a:off x="152400" y="1107713"/>
            <a:ext cx="12192000" cy="2055267"/>
          </a:xfrm>
          <a:prstGeom prst="rect">
            <a:avLst/>
          </a:prstGeom>
        </p:spPr>
      </p:pic>
    </p:spTree>
    <p:extLst>
      <p:ext uri="{BB962C8B-B14F-4D97-AF65-F5344CB8AC3E}">
        <p14:creationId xmlns:p14="http://schemas.microsoft.com/office/powerpoint/2010/main" val="41454998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2449-6C12-5A99-5AA2-21944BC6AFEF}"/>
              </a:ext>
            </a:extLst>
          </p:cNvPr>
          <p:cNvSpPr>
            <a:spLocks noGrp="1"/>
          </p:cNvSpPr>
          <p:nvPr>
            <p:ph type="title"/>
          </p:nvPr>
        </p:nvSpPr>
        <p:spPr>
          <a:xfrm>
            <a:off x="381000" y="365760"/>
            <a:ext cx="10573512" cy="853440"/>
          </a:xfrm>
        </p:spPr>
        <p:txBody>
          <a:bodyPr/>
          <a:lstStyle/>
          <a:p>
            <a:r>
              <a:rPr lang="en-CA" dirty="0"/>
              <a:t>A simple example: ORs and MEs</a:t>
            </a:r>
          </a:p>
        </p:txBody>
      </p:sp>
      <p:graphicFrame>
        <p:nvGraphicFramePr>
          <p:cNvPr id="4" name="Content Placeholder 3">
            <a:extLst>
              <a:ext uri="{FF2B5EF4-FFF2-40B4-BE49-F238E27FC236}">
                <a16:creationId xmlns:a16="http://schemas.microsoft.com/office/drawing/2014/main" id="{9EF9871E-86E9-7BA4-3147-A8217FB4B216}"/>
              </a:ext>
            </a:extLst>
          </p:cNvPr>
          <p:cNvGraphicFramePr>
            <a:graphicFrameLocks noGrp="1"/>
          </p:cNvGraphicFramePr>
          <p:nvPr>
            <p:ph idx="1"/>
            <p:extLst>
              <p:ext uri="{D42A27DB-BD31-4B8C-83A1-F6EECF244321}">
                <p14:modId xmlns:p14="http://schemas.microsoft.com/office/powerpoint/2010/main" val="3761911914"/>
              </p:ext>
            </p:extLst>
          </p:nvPr>
        </p:nvGraphicFramePr>
        <p:xfrm>
          <a:off x="401782" y="1371600"/>
          <a:ext cx="6446043" cy="1112520"/>
        </p:xfrm>
        <a:graphic>
          <a:graphicData uri="http://schemas.openxmlformats.org/drawingml/2006/table">
            <a:tbl>
              <a:tblPr firstRow="1" bandRow="1">
                <a:tableStyleId>{5C22544A-7EE6-4342-B048-85BDC9FD1C3A}</a:tableStyleId>
              </a:tblPr>
              <a:tblGrid>
                <a:gridCol w="2148681">
                  <a:extLst>
                    <a:ext uri="{9D8B030D-6E8A-4147-A177-3AD203B41FA5}">
                      <a16:colId xmlns:a16="http://schemas.microsoft.com/office/drawing/2014/main" val="4183290916"/>
                    </a:ext>
                  </a:extLst>
                </a:gridCol>
                <a:gridCol w="2148681">
                  <a:extLst>
                    <a:ext uri="{9D8B030D-6E8A-4147-A177-3AD203B41FA5}">
                      <a16:colId xmlns:a16="http://schemas.microsoft.com/office/drawing/2014/main" val="1266826328"/>
                    </a:ext>
                  </a:extLst>
                </a:gridCol>
                <a:gridCol w="2148681">
                  <a:extLst>
                    <a:ext uri="{9D8B030D-6E8A-4147-A177-3AD203B41FA5}">
                      <a16:colId xmlns:a16="http://schemas.microsoft.com/office/drawing/2014/main" val="1299978980"/>
                    </a:ext>
                  </a:extLst>
                </a:gridCol>
              </a:tblGrid>
              <a:tr h="370840">
                <a:tc>
                  <a:txBody>
                    <a:bodyPr/>
                    <a:lstStyle/>
                    <a:p>
                      <a:r>
                        <a:rPr lang="en-CA" dirty="0"/>
                        <a:t>Group</a:t>
                      </a:r>
                    </a:p>
                  </a:txBody>
                  <a:tcPr/>
                </a:tc>
                <a:tc>
                  <a:txBody>
                    <a:bodyPr/>
                    <a:lstStyle/>
                    <a:p>
                      <a:r>
                        <a:rPr lang="en-CA" dirty="0"/>
                        <a:t>No Event</a:t>
                      </a:r>
                    </a:p>
                  </a:txBody>
                  <a:tcPr/>
                </a:tc>
                <a:tc>
                  <a:txBody>
                    <a:bodyPr/>
                    <a:lstStyle/>
                    <a:p>
                      <a:r>
                        <a:rPr lang="en-CA" dirty="0"/>
                        <a:t>Event</a:t>
                      </a:r>
                    </a:p>
                  </a:txBody>
                  <a:tcPr/>
                </a:tc>
                <a:extLst>
                  <a:ext uri="{0D108BD9-81ED-4DB2-BD59-A6C34878D82A}">
                    <a16:rowId xmlns:a16="http://schemas.microsoft.com/office/drawing/2014/main" val="3201516244"/>
                  </a:ext>
                </a:extLst>
              </a:tr>
              <a:tr h="370840">
                <a:tc>
                  <a:txBody>
                    <a:bodyPr/>
                    <a:lstStyle/>
                    <a:p>
                      <a:r>
                        <a:rPr lang="en-CA" dirty="0"/>
                        <a:t>Treated</a:t>
                      </a:r>
                    </a:p>
                  </a:txBody>
                  <a:tcPr/>
                </a:tc>
                <a:tc>
                  <a:txBody>
                    <a:bodyPr/>
                    <a:lstStyle/>
                    <a:p>
                      <a:r>
                        <a:rPr lang="en-CA" dirty="0"/>
                        <a:t>0.55</a:t>
                      </a:r>
                    </a:p>
                  </a:txBody>
                  <a:tcPr/>
                </a:tc>
                <a:tc>
                  <a:txBody>
                    <a:bodyPr/>
                    <a:lstStyle/>
                    <a:p>
                      <a:r>
                        <a:rPr lang="en-CA" dirty="0"/>
                        <a:t>0.45</a:t>
                      </a:r>
                    </a:p>
                  </a:txBody>
                  <a:tcPr/>
                </a:tc>
                <a:extLst>
                  <a:ext uri="{0D108BD9-81ED-4DB2-BD59-A6C34878D82A}">
                    <a16:rowId xmlns:a16="http://schemas.microsoft.com/office/drawing/2014/main" val="3795299237"/>
                  </a:ext>
                </a:extLst>
              </a:tr>
              <a:tr h="370840">
                <a:tc>
                  <a:txBody>
                    <a:bodyPr/>
                    <a:lstStyle/>
                    <a:p>
                      <a:r>
                        <a:rPr lang="en-CA" dirty="0"/>
                        <a:t>Control</a:t>
                      </a:r>
                    </a:p>
                  </a:txBody>
                  <a:tcPr/>
                </a:tc>
                <a:tc>
                  <a:txBody>
                    <a:bodyPr/>
                    <a:lstStyle/>
                    <a:p>
                      <a:r>
                        <a:rPr lang="en-CA" dirty="0"/>
                        <a:t>0.7</a:t>
                      </a:r>
                    </a:p>
                  </a:txBody>
                  <a:tcPr/>
                </a:tc>
                <a:tc>
                  <a:txBody>
                    <a:bodyPr/>
                    <a:lstStyle/>
                    <a:p>
                      <a:r>
                        <a:rPr lang="en-CA" dirty="0"/>
                        <a:t>0.3</a:t>
                      </a:r>
                    </a:p>
                  </a:txBody>
                  <a:tcPr/>
                </a:tc>
                <a:extLst>
                  <a:ext uri="{0D108BD9-81ED-4DB2-BD59-A6C34878D82A}">
                    <a16:rowId xmlns:a16="http://schemas.microsoft.com/office/drawing/2014/main" val="1823849640"/>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CA8BC1-3BB8-C1A7-D73B-6AF981B2BA5C}"/>
                  </a:ext>
                </a:extLst>
              </p:cNvPr>
              <p:cNvSpPr txBox="1"/>
              <p:nvPr/>
            </p:nvSpPr>
            <p:spPr>
              <a:xfrm>
                <a:off x="533400" y="2667000"/>
                <a:ext cx="10058400" cy="2031325"/>
              </a:xfrm>
              <a:prstGeom prst="rect">
                <a:avLst/>
              </a:prstGeom>
              <a:noFill/>
            </p:spPr>
            <p:txBody>
              <a:bodyPr wrap="square" rtlCol="0">
                <a:spAutoFit/>
              </a:bodyPr>
              <a:lstStyle/>
              <a:p>
                <a:pPr marL="285750" indent="-285750">
                  <a:buFont typeface="Arial" panose="020B0604020202020204" pitchFamily="34" charset="0"/>
                  <a:buChar char="•"/>
                </a:pPr>
                <a:r>
                  <a:rPr lang="en-CA" dirty="0"/>
                  <a:t>What’s the treatment effect </a:t>
                </a:r>
                <a:r>
                  <a:rPr lang="en-CA" b="1" dirty="0"/>
                  <a:t>in levels? </a:t>
                </a:r>
              </a:p>
              <a:p>
                <a:pPr marL="285750" indent="-285750">
                  <a:buFont typeface="Arial" panose="020B0604020202020204" pitchFamily="34" charset="0"/>
                  <a:buChar char="•"/>
                </a:pPr>
                <a:r>
                  <a:rPr lang="en-CA" dirty="0"/>
                  <a:t>What’s the treatment effect </a:t>
                </a:r>
                <a:r>
                  <a:rPr lang="en-CA" b="1" dirty="0"/>
                  <a:t>in relative changes (percentages)? </a:t>
                </a:r>
              </a:p>
              <a:p>
                <a:pPr marL="285750" indent="-285750">
                  <a:buFont typeface="Arial" panose="020B0604020202020204" pitchFamily="34" charset="0"/>
                  <a:buChar char="•"/>
                </a:pPr>
                <a:r>
                  <a:rPr lang="en-CA" dirty="0"/>
                  <a:t>What’s the odds ratio? </a:t>
                </a:r>
              </a:p>
              <a:p>
                <a:pPr/>
                <a14:m>
                  <m:oMathPara xmlns:m="http://schemas.openxmlformats.org/officeDocument/2006/math">
                    <m:oMathParaPr>
                      <m:jc m:val="centerGroup"/>
                    </m:oMathParaPr>
                    <m:oMath xmlns:m="http://schemas.openxmlformats.org/officeDocument/2006/math">
                      <m:r>
                        <m:rPr>
                          <m:nor/>
                        </m:rPr>
                        <a:rPr lang="en-CA" i="0"/>
                        <m:t>(0.45/0.55) / (0.30/0.70) = 0.8182 / 0.4286 ≈ </m:t>
                      </m:r>
                      <m:r>
                        <m:rPr>
                          <m:nor/>
                        </m:rPr>
                        <a:rPr lang="en-CA" b="0" i="0"/>
                        <m:t>1.91</m:t>
                      </m:r>
                    </m:oMath>
                  </m:oMathPara>
                </a14:m>
                <a:endParaRPr lang="en-CA" dirty="0"/>
              </a:p>
              <a:p>
                <a:endParaRPr lang="en-CA" dirty="0"/>
              </a:p>
              <a:p>
                <a:r>
                  <a:rPr lang="en-CA" dirty="0"/>
                  <a:t>How do you intuitively interpret an odds ratio of 1.91? Did the risk of the event almost double? </a:t>
                </a:r>
              </a:p>
            </p:txBody>
          </p:sp>
        </mc:Choice>
        <mc:Fallback xmlns="">
          <p:sp>
            <p:nvSpPr>
              <p:cNvPr id="5" name="TextBox 4">
                <a:extLst>
                  <a:ext uri="{FF2B5EF4-FFF2-40B4-BE49-F238E27FC236}">
                    <a16:creationId xmlns:a16="http://schemas.microsoft.com/office/drawing/2014/main" id="{C1CA8BC1-3BB8-C1A7-D73B-6AF981B2BA5C}"/>
                  </a:ext>
                </a:extLst>
              </p:cNvPr>
              <p:cNvSpPr txBox="1">
                <a:spLocks noRot="1" noChangeAspect="1" noMove="1" noResize="1" noEditPoints="1" noAdjustHandles="1" noChangeArrowheads="1" noChangeShapeType="1" noTextEdit="1"/>
              </p:cNvSpPr>
              <p:nvPr/>
            </p:nvSpPr>
            <p:spPr>
              <a:xfrm>
                <a:off x="533400" y="2667000"/>
                <a:ext cx="10058400" cy="2031325"/>
              </a:xfrm>
              <a:prstGeom prst="rect">
                <a:avLst/>
              </a:prstGeom>
              <a:blipFill>
                <a:blip r:embed="rId3"/>
                <a:stretch>
                  <a:fillRect l="-545" t="-1802" b="-3604"/>
                </a:stretch>
              </a:blipFill>
            </p:spPr>
            <p:txBody>
              <a:bodyPr/>
              <a:lstStyle/>
              <a:p>
                <a:r>
                  <a:rPr lang="en-CA">
                    <a:noFill/>
                  </a:rPr>
                  <a:t> </a:t>
                </a:r>
              </a:p>
            </p:txBody>
          </p:sp>
        </mc:Fallback>
      </mc:AlternateContent>
    </p:spTree>
    <p:extLst>
      <p:ext uri="{BB962C8B-B14F-4D97-AF65-F5344CB8AC3E}">
        <p14:creationId xmlns:p14="http://schemas.microsoft.com/office/powerpoint/2010/main" val="1391536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320D-A8B7-1044-1D2D-34B8A6275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53899-47F1-75EF-010E-73DC5F112B29}"/>
              </a:ext>
            </a:extLst>
          </p:cNvPr>
          <p:cNvSpPr>
            <a:spLocks noGrp="1"/>
          </p:cNvSpPr>
          <p:nvPr>
            <p:ph type="title"/>
          </p:nvPr>
        </p:nvSpPr>
        <p:spPr>
          <a:xfrm>
            <a:off x="381000" y="365760"/>
            <a:ext cx="10573512" cy="853440"/>
          </a:xfrm>
        </p:spPr>
        <p:txBody>
          <a:bodyPr/>
          <a:lstStyle/>
          <a:p>
            <a:r>
              <a:rPr lang="en-CA" dirty="0"/>
              <a:t>A simple example: ORs and 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F296B7-4ABC-4201-0012-4DB0A77901FC}"/>
                  </a:ext>
                </a:extLst>
              </p:cNvPr>
              <p:cNvSpPr>
                <a:spLocks noGrp="1"/>
              </p:cNvSpPr>
              <p:nvPr>
                <p:ph idx="1"/>
              </p:nvPr>
            </p:nvSpPr>
            <p:spPr>
              <a:xfrm>
                <a:off x="381000" y="1295400"/>
                <a:ext cx="10573512" cy="5196840"/>
              </a:xfrm>
            </p:spPr>
            <p:txBody>
              <a:bodyPr>
                <a:normAutofit/>
              </a:bodyPr>
              <a:lstStyle/>
              <a:p>
                <a:r>
                  <a:rPr lang="en-CA" sz="2400" dirty="0"/>
                  <a:t>Now consider a logit regression</a:t>
                </a:r>
              </a:p>
              <a:p>
                <a:r>
                  <a:rPr lang="en-CA" sz="2400" dirty="0"/>
                  <a:t>What is going on? </a:t>
                </a:r>
              </a:p>
              <a:p>
                <a:pPr lvl="1"/>
                <a:r>
                  <a:rPr lang="en-CA" sz="2400" dirty="0"/>
                  <a:t>In an OLS, if you add </a:t>
                </a:r>
                <a14:m>
                  <m:oMath xmlns:m="http://schemas.openxmlformats.org/officeDocument/2006/math">
                    <m:r>
                      <a:rPr lang="en-CA" sz="2400" b="0" i="1" smtClean="0">
                        <a:latin typeface="Cambria Math" panose="02040503050406030204" pitchFamily="18" charset="0"/>
                      </a:rPr>
                      <m:t>𝑍</m:t>
                    </m:r>
                    <m:r>
                      <a:rPr lang="en-CA" sz="2400" b="0" i="1" smtClean="0">
                        <a:latin typeface="Cambria Math" panose="02040503050406030204" pitchFamily="18" charset="0"/>
                      </a:rPr>
                      <m:t>⊥</m:t>
                    </m:r>
                    <m:r>
                      <a:rPr lang="en-CA" sz="2400" b="0" i="1" smtClean="0">
                        <a:latin typeface="Cambria Math" panose="02040503050406030204" pitchFamily="18" charset="0"/>
                      </a:rPr>
                      <m:t>𝑋</m:t>
                    </m:r>
                  </m:oMath>
                </a14:m>
                <a:r>
                  <a:rPr lang="en-CA" sz="2400" dirty="0"/>
                  <a:t>, all that happens is your standard errors get smaller;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sub>
                    </m:sSub>
                  </m:oMath>
                </a14:m>
                <a:r>
                  <a:rPr lang="en-CA" sz="2400" dirty="0"/>
                  <a:t> shouldn’t change</a:t>
                </a:r>
              </a:p>
              <a:p>
                <a:pPr lvl="1"/>
                <a:r>
                  <a:rPr lang="en-CA" sz="2400" dirty="0"/>
                  <a:t>This isn’t true in a GLM world, with the link functions!  </a:t>
                </a:r>
              </a:p>
              <a:p>
                <a:pPr lvl="1"/>
                <a:r>
                  <a:rPr lang="en-CA" sz="2400" dirty="0"/>
                  <a:t>When you estimate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r>
                          <a:rPr lang="en-CA" sz="2400" b="0" i="1" smtClean="0">
                            <a:latin typeface="Cambria Math" panose="02040503050406030204" pitchFamily="18" charset="0"/>
                          </a:rPr>
                          <m:t>, </m:t>
                        </m:r>
                        <m:r>
                          <a:rPr lang="en-CA" sz="2400" b="0" i="1" smtClean="0">
                            <a:latin typeface="Cambria Math" panose="02040503050406030204" pitchFamily="18" charset="0"/>
                          </a:rPr>
                          <m:t>𝑙𝑜𝑔𝑖𝑡</m:t>
                        </m:r>
                      </m:sub>
                    </m:sSub>
                    <m:r>
                      <a:rPr lang="en-CA" sz="2400" b="0" i="1" smtClean="0">
                        <a:latin typeface="Cambria Math" panose="02040503050406030204" pitchFamily="18" charset="0"/>
                      </a:rPr>
                      <m:t>,</m:t>
                    </m:r>
                  </m:oMath>
                </a14:m>
                <a:r>
                  <a:rPr lang="en-CA" sz="2400" dirty="0"/>
                  <a:t> you actually estimate </a:t>
                </a:r>
                <a14:m>
                  <m:oMath xmlns:m="http://schemas.openxmlformats.org/officeDocument/2006/math">
                    <m:r>
                      <a:rPr lang="en-CA" sz="2400" b="0" i="1" smtClean="0">
                        <a:latin typeface="Cambria Math" panose="02040503050406030204" pitchFamily="18" charset="0"/>
                      </a:rPr>
                      <m:t>𝛽</m:t>
                    </m:r>
                    <m:r>
                      <a:rPr lang="en-CA" sz="2400" b="0" i="1" smtClean="0">
                        <a:latin typeface="Cambria Math" panose="02040503050406030204" pitchFamily="18" charset="0"/>
                      </a:rPr>
                      <m:t>/</m:t>
                    </m:r>
                    <m:r>
                      <a:rPr lang="en-CA" sz="2400" b="0" i="1" smtClean="0">
                        <a:latin typeface="Cambria Math" panose="02040503050406030204" pitchFamily="18" charset="0"/>
                      </a:rPr>
                      <m:t>𝜎</m:t>
                    </m:r>
                  </m:oMath>
                </a14:m>
                <a:r>
                  <a:rPr lang="en-CA" sz="2400" dirty="0"/>
                  <a:t>, which depends on the full set of covariates, regardless of correlations! </a:t>
                </a:r>
              </a:p>
              <a:p>
                <a:pPr lvl="1"/>
                <a:r>
                  <a:rPr lang="en-CA" sz="2400" dirty="0"/>
                  <a:t>Different models, data, papers, all have different </a:t>
                </a:r>
                <a14:m>
                  <m:oMath xmlns:m="http://schemas.openxmlformats.org/officeDocument/2006/math">
                    <m:r>
                      <a:rPr lang="en-CA" sz="2400" b="0" i="1" smtClean="0">
                        <a:latin typeface="Cambria Math" panose="02040503050406030204" pitchFamily="18" charset="0"/>
                      </a:rPr>
                      <m:t>𝜎</m:t>
                    </m:r>
                  </m:oMath>
                </a14:m>
                <a:r>
                  <a:rPr lang="en-CA" sz="2400" dirty="0"/>
                  <a:t>!</a:t>
                </a:r>
              </a:p>
            </p:txBody>
          </p:sp>
        </mc:Choice>
        <mc:Fallback xmlns="">
          <p:sp>
            <p:nvSpPr>
              <p:cNvPr id="3" name="Content Placeholder 2">
                <a:extLst>
                  <a:ext uri="{FF2B5EF4-FFF2-40B4-BE49-F238E27FC236}">
                    <a16:creationId xmlns:a16="http://schemas.microsoft.com/office/drawing/2014/main" id="{B0F296B7-4ABC-4201-0012-4DB0A77901FC}"/>
                  </a:ext>
                </a:extLst>
              </p:cNvPr>
              <p:cNvSpPr>
                <a:spLocks noGrp="1" noRot="1" noChangeAspect="1" noMove="1" noResize="1" noEditPoints="1" noAdjustHandles="1" noChangeArrowheads="1" noChangeShapeType="1" noTextEdit="1"/>
              </p:cNvSpPr>
              <p:nvPr>
                <p:ph idx="1"/>
              </p:nvPr>
            </p:nvSpPr>
            <p:spPr>
              <a:xfrm>
                <a:off x="381000" y="1295400"/>
                <a:ext cx="10573512" cy="5196840"/>
              </a:xfrm>
              <a:blipFill>
                <a:blip r:embed="rId3"/>
                <a:stretch>
                  <a:fillRect l="-461" t="-1291" r="-1038"/>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F40E3EB5-A918-2D0B-51D2-C02486263D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649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logit/probit results? </a:t>
            </a:r>
            <a:r>
              <a:rPr lang="en-US" sz="3600" b="1" dirty="0">
                <a:latin typeface="Times New Roman" panose="02020603050405020304" pitchFamily="18" charset="0"/>
                <a:cs typeface="Times New Roman" panose="02020603050405020304" pitchFamily="18" charset="0"/>
              </a:rPr>
              <a:t>Marginal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3852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14:m>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𝐷</m:t>
                        </m:r>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den>
                    </m:f>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i="1">
                        <a:latin typeface="Cambria Math" panose="02040503050406030204" pitchFamily="18" charset="0"/>
                        <a:cs typeface="Times New Roman" panose="02020603050405020304" pitchFamily="18" charset="0"/>
                      </a:rPr>
                      <m:t>×[1−</m:t>
                    </m:r>
                    <m:r>
                      <a:rPr lang="en-US" sz="2400" i="1">
                        <a:latin typeface="Cambria Math" panose="02040503050406030204" pitchFamily="18" charset="0"/>
                        <a:cs typeface="Times New Roman" panose="02020603050405020304" pitchFamily="18" charset="0"/>
                      </a:rPr>
                      <m:t>𝑙𝑜𝑔𝑖𝑠𝑡𝑖𝑐</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1</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2</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2</m:t>
                            </m:r>
                          </m:sub>
                        </m:sSub>
                      </m:e>
                    </m:d>
                  </m:oMath>
                </a14:m>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How can we summarize this cleanly?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425925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Marginal Effects: 4 Options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457200" indent="-457200">
                  <a:buFont typeface="+mj-lt"/>
                  <a:buAutoNum type="arabicPeriod"/>
                </a:pPr>
                <a:r>
                  <a:rPr lang="en-US" sz="2400" b="1" dirty="0">
                    <a:solidFill>
                      <a:schemeClr val="accent2">
                        <a:lumMod val="75000"/>
                      </a:schemeClr>
                    </a:solidFill>
                    <a:cs typeface="Times New Roman" panose="02020603050405020304" pitchFamily="18" charset="0"/>
                  </a:rPr>
                  <a:t>Present the whole distribution!</a:t>
                </a:r>
              </a:p>
              <a:p>
                <a:pPr lvl="1"/>
                <a:r>
                  <a:rPr lang="en-US" sz="2400" dirty="0">
                    <a:cs typeface="Times New Roman" panose="02020603050405020304" pitchFamily="18" charset="0"/>
                  </a:rPr>
                  <a:t>Calculate each observation's marginal effect based on its index</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of a Representative (MER): </a:t>
                </a:r>
              </a:p>
              <a:p>
                <a:pPr lvl="1"/>
                <a:r>
                  <a:rPr lang="en-US" sz="2400" dirty="0">
                    <a:cs typeface="Times New Roman" panose="02020603050405020304" pitchFamily="18" charset="0"/>
                  </a:rPr>
                  <a:t>Pick a set of RHS variables you're interested in for some reason</a:t>
                </a:r>
              </a:p>
              <a:p>
                <a:pPr lvl="1"/>
                <a:r>
                  <a:rPr lang="en-US" sz="2400" dirty="0">
                    <a:cs typeface="Times New Roman" panose="02020603050405020304" pitchFamily="18" charset="0"/>
                  </a:rPr>
                  <a:t>Calculate the marginal effect for them</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Average Marginal Effect (AME) </a:t>
                </a:r>
              </a:p>
              <a:p>
                <a:pPr lvl="1"/>
                <a:r>
                  <a:rPr lang="en-US" sz="2400" dirty="0">
                    <a:cs typeface="Times New Roman" panose="02020603050405020304" pitchFamily="18" charset="0"/>
                  </a:rPr>
                  <a:t>Calculate each individual observation's marginal effect, then average them</a:t>
                </a:r>
              </a:p>
              <a:p>
                <a:pPr lvl="1"/>
                <a:r>
                  <a:rPr lang="en-US" sz="2400" dirty="0">
                    <a:cs typeface="Times New Roman" panose="02020603050405020304" pitchFamily="18" charset="0"/>
                  </a:rPr>
                  <a:t>Average percentage </a:t>
                </a:r>
                <a:r>
                  <a:rPr lang="en-US" sz="2400" i="1" dirty="0">
                    <a:cs typeface="Times New Roman" panose="02020603050405020304" pitchFamily="18" charset="0"/>
                  </a:rPr>
                  <a:t>point</a:t>
                </a:r>
                <a:r>
                  <a:rPr lang="en-US" sz="2400" dirty="0">
                    <a:cs typeface="Times New Roman" panose="02020603050405020304" pitchFamily="18" charset="0"/>
                  </a:rPr>
                  <a:t> difference in outcome probabilities given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at the Mean (MEM)</a:t>
                </a:r>
              </a:p>
              <a:p>
                <a:pPr lvl="1"/>
                <a:r>
                  <a:rPr lang="en-US" sz="2400" dirty="0">
                    <a:cs typeface="Times New Roman" panose="02020603050405020304" pitchFamily="18" charset="0"/>
                  </a:rPr>
                  <a:t>Calculate the average of each RHS variable</a:t>
                </a:r>
              </a:p>
              <a:p>
                <a:pPr lvl="1"/>
                <a:r>
                  <a:rPr lang="en-US" sz="2400" dirty="0">
                    <a:cs typeface="Times New Roman" panose="02020603050405020304" pitchFamily="18" charset="0"/>
                  </a:rPr>
                  <a:t>Get the marginal effect for a hypothetical observation at that index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88"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334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431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9162-0B8C-104E-0FA9-15F4CBA16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C0611-69BE-597D-CE3E-99862FD2411F}"/>
              </a:ext>
            </a:extLst>
          </p:cNvPr>
          <p:cNvSpPr>
            <a:spLocks noGrp="1"/>
          </p:cNvSpPr>
          <p:nvPr>
            <p:ph type="ctrTitle"/>
          </p:nvPr>
        </p:nvSpPr>
        <p:spPr>
          <a:xfrm>
            <a:off x="1261872" y="758952"/>
            <a:ext cx="10549128" cy="4041648"/>
          </a:xfrm>
        </p:spPr>
        <p:txBody>
          <a:bodyPr/>
          <a:lstStyle/>
          <a:p>
            <a:r>
              <a:rPr lang="en-US" dirty="0"/>
              <a:t>Some Logit/Probit Warnings</a:t>
            </a:r>
          </a:p>
        </p:txBody>
      </p:sp>
      <p:sp>
        <p:nvSpPr>
          <p:cNvPr id="3" name="Subtitle 2">
            <a:extLst>
              <a:ext uri="{FF2B5EF4-FFF2-40B4-BE49-F238E27FC236}">
                <a16:creationId xmlns:a16="http://schemas.microsoft.com/office/drawing/2014/main" id="{E52AD138-D35F-FF87-9D90-A28E5E785D3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06581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Hypothesis Testing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If you want to test </a:t>
                </a:r>
                <a:r>
                  <a:rPr lang="en-US" sz="2400" b="1" dirty="0">
                    <a:cs typeface="Times New Roman" panose="02020603050405020304" pitchFamily="18" charset="0"/>
                  </a:rPr>
                  <a:t>multiple hypotheses </a:t>
                </a:r>
                <a:r>
                  <a:rPr lang="en-US" sz="2400" dirty="0">
                    <a:cs typeface="Times New Roman" panose="02020603050405020304" pitchFamily="18" charset="0"/>
                  </a:rPr>
                  <a:t>in GLM, can’t use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oMath>
                </a14:m>
                <a:r>
                  <a:rPr lang="en-US" sz="2400" dirty="0">
                    <a:cs typeface="Times New Roman" panose="02020603050405020304" pitchFamily="18" charset="0"/>
                  </a:rPr>
                  <a:t> test</a:t>
                </a:r>
              </a:p>
              <a:p>
                <a:r>
                  <a:rPr lang="en-US" sz="2400" dirty="0">
                    <a:cs typeface="Times New Roman" panose="02020603050405020304" pitchFamily="18" charset="0"/>
                  </a:rPr>
                  <a:t>Instead, need to use the </a:t>
                </a:r>
                <a:r>
                  <a:rPr lang="en-US" sz="2400" b="1" dirty="0">
                    <a:cs typeface="Times New Roman" panose="02020603050405020304" pitchFamily="18" charset="0"/>
                  </a:rPr>
                  <a:t>Wald test </a:t>
                </a:r>
                <a:r>
                  <a:rPr lang="en-US" sz="2400" dirty="0">
                    <a:cs typeface="Times New Roman" panose="02020603050405020304" pitchFamily="18" charset="0"/>
                  </a:rPr>
                  <a:t>or fit </a:t>
                </a:r>
                <a:r>
                  <a:rPr lang="en-US" sz="2400" b="1" dirty="0">
                    <a:cs typeface="Times New Roman" panose="02020603050405020304" pitchFamily="18" charset="0"/>
                  </a:rPr>
                  <a:t>nested models </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75779AFD-88E8-23E3-40E6-87896577D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980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D8499A-7333-1C61-69EE-5F6BF9D3C630}"/>
              </a:ext>
            </a:extLst>
          </p:cNvPr>
          <p:cNvPicPr>
            <a:picLocks noChangeAspect="1"/>
          </p:cNvPicPr>
          <p:nvPr/>
        </p:nvPicPr>
        <p:blipFill>
          <a:blip r:embed="rId3"/>
          <a:stretch>
            <a:fillRect/>
          </a:stretch>
        </p:blipFill>
        <p:spPr>
          <a:xfrm>
            <a:off x="2362201" y="2347521"/>
            <a:ext cx="7293528" cy="4496011"/>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Interactions</a:t>
            </a:r>
            <a:endParaRPr lang="en-US" sz="36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183B0572-A1C2-858D-5D3D-0E2354442FE9}"/>
              </a:ext>
            </a:extLst>
          </p:cNvPr>
          <p:cNvSpPr>
            <a:spLocks noGrp="1" noChangeArrowheads="1"/>
          </p:cNvSpPr>
          <p:nvPr>
            <p:ph idx="1"/>
          </p:nvPr>
        </p:nvSpPr>
        <p:spPr bwMode="auto">
          <a:xfrm>
            <a:off x="-1611485" y="1020892"/>
            <a:ext cx="13270085" cy="193899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Interaction terms in </a:t>
            </a:r>
            <a:r>
              <a:rPr kumimoji="0" lang="en-US" altLang="en-US" sz="2400" b="0" i="0" u="none" strike="noStrike" cap="none" normalizeH="0" baseline="0" dirty="0" err="1">
                <a:ln>
                  <a:noFill/>
                </a:ln>
                <a:solidFill>
                  <a:srgbClr val="000000"/>
                </a:solidFill>
                <a:effectLst/>
                <a:cs typeface="Times New Roman" panose="02020603050405020304" pitchFamily="18" charset="0"/>
              </a:rPr>
              <a:t>probit</a:t>
            </a:r>
            <a:r>
              <a:rPr kumimoji="0" lang="en-US" altLang="en-US" sz="2400" b="0" i="0" u="none" strike="noStrike" cap="none" normalizeH="0" baseline="0" dirty="0">
                <a:ln>
                  <a:noFill/>
                </a:ln>
                <a:solidFill>
                  <a:srgbClr val="000000"/>
                </a:solidFill>
                <a:effectLst/>
                <a:cs typeface="Times New Roman" panose="02020603050405020304" pitchFamily="18" charset="0"/>
              </a:rPr>
              <a:t> and logit models are very tricky to interpret</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M</a:t>
            </a:r>
            <a:r>
              <a:rPr kumimoji="0" lang="en-US" altLang="en-US" sz="2400" b="0" i="0" u="none" strike="noStrike" cap="none" normalizeH="0" baseline="0" dirty="0">
                <a:ln>
                  <a:noFill/>
                </a:ln>
                <a:solidFill>
                  <a:srgbClr val="000000"/>
                </a:solidFill>
                <a:effectLst/>
                <a:cs typeface="Times New Roman" panose="02020603050405020304" pitchFamily="18" charset="0"/>
              </a:rPr>
              <a:t>arginal effects for them should be looked at with suspicion</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Look at predict()ed values instead</a:t>
            </a:r>
          </a:p>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See </a:t>
            </a:r>
            <a:r>
              <a:rPr kumimoji="0" lang="en-US" altLang="en-US" sz="2400" b="0" i="0" u="none" strike="noStrike" cap="none" normalizeH="0" baseline="0" dirty="0">
                <a:ln>
                  <a:noFill/>
                </a:ln>
                <a:solidFill>
                  <a:srgbClr val="F92672"/>
                </a:solidFill>
                <a:effectLst/>
                <a:cs typeface="Times New Roman" panose="02020603050405020304" pitchFamily="18" charset="0"/>
                <a:hlinkClick r:id="rId4"/>
              </a:rPr>
              <a:t>Ai and Norton (2003)</a:t>
            </a:r>
            <a:endParaRPr kumimoji="0" lang="en-US" altLang="en-US" sz="2400" b="0" i="0" u="none" strike="noStrike" cap="none" normalizeH="0" baseline="0" dirty="0">
              <a:ln>
                <a:noFill/>
              </a:ln>
              <a:solidFill>
                <a:srgbClr val="000000"/>
              </a:solidFill>
              <a:effectLs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55875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pPr lvl="1"/>
            <a:endParaRPr lang="en-US" sz="2400" dirty="0">
              <a:cs typeface="Times New Roman" panose="02020603050405020304" pitchFamily="18" charset="0"/>
            </a:endParaRPr>
          </a:p>
        </p:txBody>
      </p:sp>
    </p:spTree>
    <p:extLst>
      <p:ext uri="{BB962C8B-B14F-4D97-AF65-F5344CB8AC3E}">
        <p14:creationId xmlns:p14="http://schemas.microsoft.com/office/powerpoint/2010/main" val="50879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r>
                  <a:rPr lang="en-US" sz="2400" dirty="0">
                    <a:cs typeface="Times New Roman" panose="02020603050405020304" pitchFamily="18" charset="0"/>
                  </a:rPr>
                  <a:t>No! And not just because Jerry Hausman calls this the </a:t>
                </a:r>
                <a:r>
                  <a:rPr lang="en-US" sz="2400" b="1" dirty="0">
                    <a:solidFill>
                      <a:schemeClr val="accent2">
                        <a:lumMod val="75000"/>
                      </a:schemeClr>
                    </a:solidFill>
                    <a:cs typeface="Times New Roman" panose="02020603050405020304" pitchFamily="18" charset="0"/>
                  </a:rPr>
                  <a:t>forbidden regression</a:t>
                </a:r>
                <a:endParaRPr lang="en-US" sz="2400" dirty="0">
                  <a:solidFill>
                    <a:schemeClr val="accent2">
                      <a:lumMod val="75000"/>
                    </a:schemeClr>
                  </a:solidFill>
                  <a:cs typeface="Times New Roman" panose="02020603050405020304" pitchFamily="18" charset="0"/>
                </a:endParaRPr>
              </a:p>
              <a:p>
                <a:r>
                  <a:rPr lang="en-US" sz="2400" dirty="0">
                    <a:cs typeface="Times New Roman" panose="02020603050405020304" pitchFamily="18" charset="0"/>
                  </a:rPr>
                  <a:t>Even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fitted values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𝑋</m:t>
                        </m:r>
                      </m:e>
                    </m:acc>
                  </m:oMath>
                </a14:m>
                <a:r>
                  <a:rPr lang="en-US" sz="2400" dirty="0">
                    <a:cs typeface="Times New Roman" panose="02020603050405020304" pitchFamily="18" charset="0"/>
                  </a:rPr>
                  <a:t> will all depend on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r>
                  <a:rPr lang="en-US" sz="2400" dirty="0">
                    <a:cs typeface="Times New Roman" panose="02020603050405020304" pitchFamily="18" charset="0"/>
                  </a:rPr>
                  <a:t> </a:t>
                </a:r>
                <a:r>
                  <a:rPr lang="en-US" sz="2400" i="1" dirty="0">
                    <a:cs typeface="Times New Roman" panose="02020603050405020304" pitchFamily="18" charset="0"/>
                  </a:rPr>
                  <a:t>and all other regressors</a:t>
                </a:r>
                <a:r>
                  <a:rPr lang="en-US" sz="2400" dirty="0">
                    <a:cs typeface="Times New Roman" panose="02020603050405020304" pitchFamily="18" charset="0"/>
                  </a:rPr>
                  <a:t>, given the link function</a:t>
                </a:r>
              </a:p>
              <a:p>
                <a:pPr lvl="1"/>
                <a:r>
                  <a:rPr lang="en-US" sz="2400" dirty="0">
                    <a:cs typeface="Times New Roman" panose="02020603050405020304" pitchFamily="18" charset="0"/>
                  </a:rPr>
                  <a:t>This leaves original back door (between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open!</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01289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9501297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If endogenous </a:t>
                </a:r>
                <a:r>
                  <a:rPr lang="en-US" sz="2400" b="1" i="1" dirty="0">
                    <a:solidFill>
                      <a:schemeClr val="accent2">
                        <a:lumMod val="75000"/>
                      </a:schemeClr>
                    </a:solidFill>
                    <a:cs typeface="Times New Roman" panose="02020603050405020304" pitchFamily="18" charset="0"/>
                  </a:rPr>
                  <a:t>regressor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𝑿</m:t>
                    </m:r>
                  </m:oMath>
                </a14:m>
                <a:r>
                  <a:rPr lang="en-US" sz="2400" b="1" dirty="0">
                    <a:solidFill>
                      <a:schemeClr val="accent2">
                        <a:lumMod val="75000"/>
                      </a:schemeClr>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19744227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dirty="0">
                    <a:solidFill>
                      <a:schemeClr val="tx1"/>
                    </a:solidFill>
                    <a:cs typeface="Times New Roman" panose="02020603050405020304" pitchFamily="18" charset="0"/>
                  </a:rPr>
                  <a:t>If endogenous </a:t>
                </a:r>
                <a:r>
                  <a:rPr lang="en-US" sz="2400" i="1" dirty="0">
                    <a:solidFill>
                      <a:schemeClr val="tx1"/>
                    </a:solidFill>
                    <a:cs typeface="Times New Roman" panose="02020603050405020304" pitchFamily="18" charset="0"/>
                  </a:rPr>
                  <a:t>regressor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marL="788670" lvl="1" indent="-514350">
                  <a:buFont typeface="+mj-lt"/>
                  <a:buAutoNum type="arabicPeriod"/>
                </a:pPr>
                <a:r>
                  <a:rPr lang="en-US" sz="2400" b="1" dirty="0">
                    <a:solidFill>
                      <a:schemeClr val="accent2">
                        <a:lumMod val="75000"/>
                      </a:schemeClr>
                    </a:solidFill>
                    <a:cs typeface="Times New Roman" panose="02020603050405020304" pitchFamily="18" charset="0"/>
                  </a:rPr>
                  <a:t>If outcome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𝒀</m:t>
                    </m:r>
                  </m:oMath>
                </a14:m>
                <a:r>
                  <a:rPr lang="en-US" sz="2400" b="1" dirty="0">
                    <a:solidFill>
                      <a:schemeClr val="accent2">
                        <a:lumMod val="75000"/>
                      </a:schemeClr>
                    </a:solidFill>
                    <a:cs typeface="Times New Roman" panose="02020603050405020304" pitchFamily="18" charset="0"/>
                  </a:rPr>
                  <a:t> is binary</a:t>
                </a:r>
              </a:p>
              <a:p>
                <a:pPr lvl="2"/>
                <a:r>
                  <a:rPr lang="en-US" sz="2400" dirty="0">
                    <a:solidFill>
                      <a:schemeClr val="tx1"/>
                    </a:solidFill>
                    <a:cs typeface="Times New Roman" panose="02020603050405020304" pitchFamily="18" charset="0"/>
                  </a:rPr>
                  <a:t>Control function approach</a:t>
                </a:r>
              </a:p>
              <a:p>
                <a:pPr lvl="2"/>
                <a:r>
                  <a:rPr lang="en-US" sz="2400" dirty="0">
                    <a:solidFill>
                      <a:schemeClr val="tx1"/>
                    </a:solidFill>
                    <a:cs typeface="Times New Roman" panose="02020603050405020304" pitchFamily="18" charset="0"/>
                  </a:rPr>
                  <a:t>Idea: use endogenous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and “control” for unexplained part</a:t>
                </a:r>
              </a:p>
              <a:p>
                <a:pPr lvl="2"/>
                <a:r>
                  <a:rPr lang="en-US" sz="2400" dirty="0">
                    <a:solidFill>
                      <a:schemeClr val="tx1"/>
                    </a:solidFill>
                    <a:cs typeface="Times New Roman" panose="02020603050405020304" pitchFamily="18" charset="0"/>
                  </a:rPr>
                  <a:t>Done in R with “</a:t>
                </a:r>
                <a:r>
                  <a:rPr lang="en-US" sz="2400" dirty="0" err="1">
                    <a:solidFill>
                      <a:schemeClr val="tx1"/>
                    </a:solidFill>
                    <a:cs typeface="Times New Roman" panose="02020603050405020304" pitchFamily="18" charset="0"/>
                  </a:rPr>
                  <a:t>ivprobit</a:t>
                </a:r>
                <a:r>
                  <a:rPr lang="en-US" sz="2400" dirty="0">
                    <a:solidFill>
                      <a:schemeClr val="tx1"/>
                    </a:solidFill>
                    <a:cs typeface="Times New Roman" panose="02020603050405020304" pitchFamily="18" charset="0"/>
                  </a:rPr>
                  <a:t>” </a:t>
                </a:r>
                <a:endParaRPr lang="en-US" sz="2400" dirty="0">
                  <a:cs typeface="Times New Roman" panose="02020603050405020304" pitchFamily="18" charset="0"/>
                </a:endParaRPr>
              </a:p>
              <a:p>
                <a:pPr lvl="1"/>
                <a:endParaRPr lang="en-US" sz="2600" dirty="0">
                  <a:cs typeface="Times New Roman" panose="02020603050405020304" pitchFamily="18" charset="0"/>
                </a:endParaRP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37815638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30076896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The propensity to donate is: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What is the variable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𝑦</m:t>
                    </m:r>
                    <m:r>
                      <a:rPr lang="en-US"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r>
                  <a:rPr lang="en-US" sz="2200" dirty="0">
                    <a:cs typeface="Times New Roman" panose="02020603050405020304" pitchFamily="18" charset="0"/>
                  </a:rPr>
                  <a:t>Here, the identification problem is easy to spot: </a:t>
                </a:r>
              </a:p>
              <a:p>
                <a:pPr lvl="1"/>
                <a:r>
                  <a:rPr lang="en-US" sz="2000" dirty="0">
                    <a:cs typeface="Times New Roman" panose="02020603050405020304" pitchFamily="18" charset="0"/>
                  </a:rPr>
                  <a:t>4 parameters of interest (same coefficients across both regressions)</a:t>
                </a:r>
              </a:p>
              <a:p>
                <a:pPr lvl="1"/>
                <a:r>
                  <a:rPr lang="en-US" sz="2000" dirty="0">
                    <a:cs typeface="Times New Roman" panose="02020603050405020304" pitchFamily="18" charset="0"/>
                  </a:rPr>
                  <a:t>3 data points (constant,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2</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oMath>
                </a14:m>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28308829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2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2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2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7400413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10287000" cy="5141388"/>
              </a:xfrm>
            </p:spPr>
            <p:txBody>
              <a:bodyPr>
                <a:normAutofit/>
              </a:bodyPr>
              <a:lstStyle/>
              <a:p>
                <a:r>
                  <a:rPr lang="en-US" sz="24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𝛿</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up>
                          <m:r>
                            <a:rPr lang="en-US" sz="2400" b="0"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𝑖𝑝</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Can estimate this for two individuals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∈{1,2}</m:t>
                    </m:r>
                  </m:oMath>
                </a14:m>
                <a:endParaRPr lang="en-US" sz="2400" dirty="0">
                  <a:cs typeface="Times New Roman" panose="02020603050405020304" pitchFamily="18" charset="0"/>
                </a:endParaRPr>
              </a:p>
              <a:p>
                <a:r>
                  <a:rPr lang="en-US" sz="24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b="0" dirty="0">
                  <a:cs typeface="Times New Roman" panose="02020603050405020304" pitchFamily="18" charset="0"/>
                </a:endParaRPr>
              </a:p>
              <a:p>
                <a:r>
                  <a:rPr lang="en-US" sz="2400" dirty="0">
                    <a:cs typeface="Times New Roman" panose="02020603050405020304" pitchFamily="18" charset="0"/>
                  </a:rPr>
                  <a:t>Estimated using </a:t>
                </a:r>
                <a:r>
                  <a:rPr lang="en-US" sz="2400" b="1" dirty="0">
                    <a:cs typeface="Times New Roman" panose="02020603050405020304" pitchFamily="18" charset="0"/>
                  </a:rPr>
                  <a:t>maximum likelihood </a:t>
                </a:r>
                <a:r>
                  <a:rPr lang="en-US" sz="2400" dirty="0">
                    <a:cs typeface="Times New Roman" panose="02020603050405020304" pitchFamily="18" charset="0"/>
                  </a:rPr>
                  <a:t>and assuming </a:t>
                </a:r>
                <a:r>
                  <a:rPr lang="en-US" sz="2400" b="1" dirty="0">
                    <a:cs typeface="Times New Roman" panose="02020603050405020304" pitchFamily="18" charset="0"/>
                  </a:rPr>
                  <a:t>joint </a:t>
                </a:r>
                <a:r>
                  <a:rPr lang="en-US" sz="2400" b="1" dirty="0" err="1">
                    <a:cs typeface="Times New Roman" panose="02020603050405020304" pitchFamily="18" charset="0"/>
                  </a:rPr>
                  <a:t>probit</a:t>
                </a:r>
                <a:r>
                  <a:rPr lang="en-US" sz="2400" b="1" dirty="0">
                    <a:cs typeface="Times New Roman" panose="02020603050405020304" pitchFamily="18" charset="0"/>
                  </a:rPr>
                  <a:t> distribution</a:t>
                </a:r>
              </a:p>
              <a:p>
                <a:pPr lvl="1"/>
                <a:r>
                  <a:rPr lang="en-US" sz="2400" dirty="0">
                    <a:cs typeface="Times New Roman" panose="02020603050405020304" pitchFamily="18" charset="0"/>
                  </a:rPr>
                  <a:t>Note that SEs are clustered at the pair level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10287000" cy="5141388"/>
              </a:xfrm>
              <a:blipFill>
                <a:blip r:embed="rId3"/>
                <a:stretch>
                  <a:fillRect l="-415" t="-1305"/>
                </a:stretch>
              </a:blipFill>
            </p:spPr>
            <p:txBody>
              <a:bodyPr/>
              <a:lstStyle/>
              <a:p>
                <a:r>
                  <a:rPr lang="en-US">
                    <a:noFill/>
                  </a:rPr>
                  <a:t> </a:t>
                </a:r>
              </a:p>
            </p:txBody>
          </p:sp>
        </mc:Fallback>
      </mc:AlternateContent>
    </p:spTree>
    <p:extLst>
      <p:ext uri="{BB962C8B-B14F-4D97-AF65-F5344CB8AC3E}">
        <p14:creationId xmlns:p14="http://schemas.microsoft.com/office/powerpoint/2010/main" val="1752143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Tree>
    <p:extLst>
      <p:ext uri="{BB962C8B-B14F-4D97-AF65-F5344CB8AC3E}">
        <p14:creationId xmlns:p14="http://schemas.microsoft.com/office/powerpoint/2010/main" val="2361296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
        <p:nvSpPr>
          <p:cNvPr id="3" name="TextBox 2">
            <a:extLst>
              <a:ext uri="{FF2B5EF4-FFF2-40B4-BE49-F238E27FC236}">
                <a16:creationId xmlns:a16="http://schemas.microsoft.com/office/drawing/2014/main" id="{782E097D-27F6-B999-74FC-814893FE6BBA}"/>
              </a:ext>
            </a:extLst>
          </p:cNvPr>
          <p:cNvSpPr txBox="1"/>
          <p:nvPr/>
        </p:nvSpPr>
        <p:spPr>
          <a:xfrm>
            <a:off x="2362200" y="2185438"/>
            <a:ext cx="2209259" cy="338554"/>
          </a:xfrm>
          <a:prstGeom prst="rect">
            <a:avLst/>
          </a:prstGeom>
          <a:solidFill>
            <a:schemeClr val="accent2"/>
          </a:solidFill>
        </p:spPr>
        <p:txBody>
          <a:bodyPr wrap="none" rtlCol="0">
            <a:spAutoFit/>
          </a:bodyPr>
          <a:lstStyle/>
          <a:p>
            <a:r>
              <a:rPr lang="en-US" sz="1600" dirty="0">
                <a:solidFill>
                  <a:schemeClr val="bg1"/>
                </a:solidFill>
              </a:rPr>
              <a:t>8.7 percentage points</a:t>
            </a:r>
          </a:p>
        </p:txBody>
      </p:sp>
      <p:sp>
        <p:nvSpPr>
          <p:cNvPr id="4" name="TextBox 3">
            <a:extLst>
              <a:ext uri="{FF2B5EF4-FFF2-40B4-BE49-F238E27FC236}">
                <a16:creationId xmlns:a16="http://schemas.microsoft.com/office/drawing/2014/main" id="{52D5A10E-2165-B8A6-3C0A-0F63828A6CCA}"/>
              </a:ext>
            </a:extLst>
          </p:cNvPr>
          <p:cNvSpPr txBox="1"/>
          <p:nvPr/>
        </p:nvSpPr>
        <p:spPr>
          <a:xfrm>
            <a:off x="2286000" y="2743200"/>
            <a:ext cx="2731838" cy="584775"/>
          </a:xfrm>
          <a:prstGeom prst="rect">
            <a:avLst/>
          </a:prstGeom>
          <a:solidFill>
            <a:schemeClr val="accent3">
              <a:lumMod val="75000"/>
            </a:schemeClr>
          </a:solidFill>
        </p:spPr>
        <p:txBody>
          <a:bodyPr wrap="none" rtlCol="0">
            <a:spAutoFit/>
          </a:bodyPr>
          <a:lstStyle/>
          <a:p>
            <a:r>
              <a:rPr lang="en-US" sz="1600" dirty="0">
                <a:solidFill>
                  <a:schemeClr val="bg1"/>
                </a:solidFill>
              </a:rPr>
              <a:t>Already a marginal effect!</a:t>
            </a:r>
          </a:p>
          <a:p>
            <a:r>
              <a:rPr lang="en-US" sz="1600" dirty="0">
                <a:solidFill>
                  <a:schemeClr val="bg1"/>
                </a:solidFill>
              </a:rPr>
              <a:t>46% (not percentage point)</a:t>
            </a:r>
          </a:p>
        </p:txBody>
      </p:sp>
    </p:spTree>
    <p:extLst>
      <p:ext uri="{BB962C8B-B14F-4D97-AF65-F5344CB8AC3E}">
        <p14:creationId xmlns:p14="http://schemas.microsoft.com/office/powerpoint/2010/main" val="41062500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Other research results</a:t>
            </a: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Is this just a blood type issue (e.g., was the call informative to both)? </a:t>
            </a:r>
            <a:r>
              <a:rPr lang="en-US" sz="2400" b="1" dirty="0">
                <a:cs typeface="Times New Roman" panose="02020603050405020304" pitchFamily="18" charset="0"/>
              </a:rPr>
              <a:t>No!</a:t>
            </a:r>
            <a:endParaRPr lang="en-US" sz="2400" dirty="0">
              <a:cs typeface="Times New Roman" panose="02020603050405020304" pitchFamily="18" charset="0"/>
            </a:endParaRPr>
          </a:p>
          <a:p>
            <a:r>
              <a:rPr lang="en-US" sz="2400" dirty="0">
                <a:cs typeface="Times New Roman" panose="02020603050405020304" pitchFamily="18" charset="0"/>
              </a:rPr>
              <a:t>Was it simply a reminder? </a:t>
            </a:r>
            <a:r>
              <a:rPr lang="en-US" sz="2400" b="1" dirty="0">
                <a:cs typeface="Times New Roman" panose="02020603050405020304" pitchFamily="18" charset="0"/>
              </a:rPr>
              <a:t>No! </a:t>
            </a:r>
          </a:p>
          <a:p>
            <a:r>
              <a:rPr lang="en-US" sz="2400" b="1" dirty="0">
                <a:cs typeface="Times New Roman" panose="02020603050405020304" pitchFamily="18" charset="0"/>
              </a:rPr>
              <a:t>Estimate the social multiplier: 70-85% (big policy implications!) </a:t>
            </a:r>
          </a:p>
          <a:p>
            <a:r>
              <a:rPr lang="en-US" sz="2400" dirty="0">
                <a:cs typeface="Times New Roman" panose="02020603050405020304" pitchFamily="18" charset="0"/>
              </a:rPr>
              <a:t>Are people just giving blood sooner (intertemporal substitution)? </a:t>
            </a:r>
            <a:r>
              <a:rPr lang="en-US" sz="2400" b="1" dirty="0">
                <a:cs typeface="Times New Roman" panose="02020603050405020304" pitchFamily="18" charset="0"/>
              </a:rPr>
              <a:t>No!</a:t>
            </a:r>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b="1" u="sng" dirty="0">
                <a:solidFill>
                  <a:schemeClr val="accent2">
                    <a:lumMod val="75000"/>
                  </a:schemeClr>
                </a:solidFill>
                <a:cs typeface="Times New Roman" panose="02020603050405020304" pitchFamily="18" charset="0"/>
              </a:rPr>
              <a:t>What issues did you see with the paper? </a:t>
            </a:r>
          </a:p>
        </p:txBody>
      </p:sp>
    </p:spTree>
    <p:extLst>
      <p:ext uri="{BB962C8B-B14F-4D97-AF65-F5344CB8AC3E}">
        <p14:creationId xmlns:p14="http://schemas.microsoft.com/office/powerpoint/2010/main" val="35006998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 Limited Dependent Variables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chemeClr val="accent2">
                    <a:lumMod val="75000"/>
                  </a:schemeClr>
                </a:solidFill>
                <a:cs typeface="Times New Roman" panose="02020603050405020304" pitchFamily="18" charset="0"/>
              </a:rPr>
              <a:t>Binary</a:t>
            </a:r>
            <a:r>
              <a:rPr lang="en-US" sz="2400" dirty="0">
                <a:cs typeface="Times New Roman" panose="02020603050405020304" pitchFamily="18" charset="0"/>
              </a:rPr>
              <a:t>: LPM, Logit, </a:t>
            </a:r>
            <a:r>
              <a:rPr lang="en-US" sz="2400" dirty="0" err="1">
                <a:cs typeface="Times New Roman" panose="02020603050405020304" pitchFamily="18" charset="0"/>
              </a:rPr>
              <a:t>Probit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Ordered</a:t>
            </a:r>
            <a:r>
              <a:rPr lang="en-US" sz="2400" dirty="0">
                <a:cs typeface="Times New Roman" panose="02020603050405020304" pitchFamily="18" charset="0"/>
              </a:rPr>
              <a:t>: Poisson, Negative Binomial, possibly truncated</a:t>
            </a:r>
          </a:p>
          <a:p>
            <a:r>
              <a:rPr lang="en-US" sz="2400" b="1" dirty="0">
                <a:solidFill>
                  <a:schemeClr val="accent2">
                    <a:lumMod val="75000"/>
                  </a:schemeClr>
                </a:solidFill>
                <a:cs typeface="Times New Roman" panose="02020603050405020304" pitchFamily="18" charset="0"/>
              </a:rPr>
              <a:t>Selection</a:t>
            </a:r>
            <a:r>
              <a:rPr lang="en-US" sz="2400" dirty="0">
                <a:cs typeface="Times New Roman" panose="02020603050405020304" pitchFamily="18" charset="0"/>
              </a:rPr>
              <a:t>: Hurdle Models, </a:t>
            </a:r>
            <a:r>
              <a:rPr lang="en-US" sz="2400" dirty="0" err="1">
                <a:cs typeface="Times New Roman" panose="02020603050405020304" pitchFamily="18" charset="0"/>
              </a:rPr>
              <a:t>Heckit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Choices</a:t>
            </a:r>
            <a:r>
              <a:rPr lang="en-US" sz="2400" dirty="0">
                <a:cs typeface="Times New Roman" panose="02020603050405020304" pitchFamily="18" charset="0"/>
              </a:rPr>
              <a:t>: Multinomial Logit models</a:t>
            </a:r>
          </a:p>
        </p:txBody>
      </p:sp>
    </p:spTree>
    <p:extLst>
      <p:ext uri="{BB962C8B-B14F-4D97-AF65-F5344CB8AC3E}">
        <p14:creationId xmlns:p14="http://schemas.microsoft.com/office/powerpoint/2010/main" val="1285670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Appendix</a:t>
            </a:r>
            <a:r>
              <a:rPr lang="en-US"/>
              <a:t>: </a:t>
            </a:r>
            <a:br>
              <a:rPr lang="en-US"/>
            </a:br>
            <a:r>
              <a:rPr lang="en-US"/>
              <a:t>Additional Resources </a:t>
            </a: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445932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B9C3-1474-9B95-2818-D160C69F7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D1A23-B790-5233-E422-97085DD4992B}"/>
              </a:ext>
            </a:extLst>
          </p:cNvPr>
          <p:cNvSpPr>
            <a:spLocks noGrp="1"/>
          </p:cNvSpPr>
          <p:nvPr>
            <p:ph type="ctrTitle"/>
          </p:nvPr>
        </p:nvSpPr>
        <p:spPr>
          <a:xfrm>
            <a:off x="1261872" y="758952"/>
            <a:ext cx="10549128" cy="4041648"/>
          </a:xfrm>
        </p:spPr>
        <p:txBody>
          <a:bodyPr/>
          <a:lstStyle/>
          <a:p>
            <a:r>
              <a:rPr lang="en-US" dirty="0"/>
              <a:t>Count Data: </a:t>
            </a:r>
            <a:br>
              <a:rPr lang="en-US" dirty="0"/>
            </a:br>
            <a:r>
              <a:rPr lang="en-US" dirty="0"/>
              <a:t>Poisson Regression</a:t>
            </a:r>
          </a:p>
        </p:txBody>
      </p:sp>
      <p:sp>
        <p:nvSpPr>
          <p:cNvPr id="3" name="Subtitle 2">
            <a:extLst>
              <a:ext uri="{FF2B5EF4-FFF2-40B4-BE49-F238E27FC236}">
                <a16:creationId xmlns:a16="http://schemas.microsoft.com/office/drawing/2014/main" id="{090DBC19-58D5-3295-1CE7-F00B03471BB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5624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28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Same problems exist for count data as for </a:t>
                </a:r>
                <a:r>
                  <a:rPr lang="en-US" sz="2400" i="1" dirty="0">
                    <a:cs typeface="Times New Roman" panose="02020603050405020304" pitchFamily="18" charset="0"/>
                  </a:rPr>
                  <a:t>linear probability models</a:t>
                </a:r>
              </a:p>
              <a:p>
                <a:r>
                  <a:rPr lang="en-US" sz="2400" dirty="0">
                    <a:cs typeface="Times New Roman" panose="02020603050405020304" pitchFamily="18" charset="0"/>
                  </a:rPr>
                  <a:t>Can’t assume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𝑦</m:t>
                        </m:r>
                      </m:e>
                      <m:e>
                        <m:r>
                          <a:rPr lang="en-CA"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is constant/linear over a wide range</a:t>
                </a: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1221" t="-1305"/>
                </a:stretch>
              </a:blipFill>
            </p:spPr>
            <p:txBody>
              <a:bodyPr/>
              <a:lstStyle/>
              <a:p>
                <a:r>
                  <a:rPr lang="en-CA">
                    <a:noFill/>
                  </a:rPr>
                  <a:t> </a:t>
                </a:r>
              </a:p>
            </p:txBody>
          </p:sp>
        </mc:Fallback>
      </mc:AlternateContent>
    </p:spTree>
    <p:extLst>
      <p:ext uri="{BB962C8B-B14F-4D97-AF65-F5344CB8AC3E}">
        <p14:creationId xmlns:p14="http://schemas.microsoft.com/office/powerpoint/2010/main" val="41168794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32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When an event is relatively rare (counts are small), data tend to be far from </a:t>
            </a:r>
            <a:r>
              <a:rPr lang="en-US" sz="2400" u="sng" dirty="0">
                <a:cs typeface="Times New Roman" panose="02020603050405020304" pitchFamily="18" charset="0"/>
              </a:rPr>
              <a:t>normally distributed</a:t>
            </a:r>
          </a:p>
          <a:p>
            <a:pPr lvl="1"/>
            <a:r>
              <a:rPr lang="en-US" sz="2400" dirty="0">
                <a:cs typeface="Times New Roman" panose="02020603050405020304" pitchFamily="18" charset="0"/>
              </a:rPr>
              <a:t>We use </a:t>
            </a:r>
            <a:r>
              <a:rPr lang="en-US" sz="2400" b="1" dirty="0">
                <a:solidFill>
                  <a:schemeClr val="accent2">
                    <a:lumMod val="75000"/>
                  </a:schemeClr>
                </a:solidFill>
                <a:cs typeface="Times New Roman" panose="02020603050405020304" pitchFamily="18" charset="0"/>
              </a:rPr>
              <a:t>Poisson regression </a:t>
            </a:r>
            <a:r>
              <a:rPr lang="en-US" sz="2400" dirty="0">
                <a:cs typeface="Times New Roman" panose="02020603050405020304" pitchFamily="18" charset="0"/>
              </a:rPr>
              <a:t>to handle this</a:t>
            </a:r>
          </a:p>
        </p:txBody>
      </p:sp>
    </p:spTree>
    <p:extLst>
      <p:ext uri="{BB962C8B-B14F-4D97-AF65-F5344CB8AC3E}">
        <p14:creationId xmlns:p14="http://schemas.microsoft.com/office/powerpoint/2010/main" val="35338421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Job Changes</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51B982D-3109-50AC-7B64-32C959187547}"/>
              </a:ext>
            </a:extLst>
          </p:cNvPr>
          <p:cNvPicPr>
            <a:picLocks noGrp="1" noChangeAspect="1"/>
          </p:cNvPicPr>
          <p:nvPr>
            <p:ph idx="1"/>
          </p:nvPr>
        </p:nvPicPr>
        <p:blipFill>
          <a:blip r:embed="rId3"/>
          <a:stretch>
            <a:fillRect/>
          </a:stretch>
        </p:blipFill>
        <p:spPr>
          <a:xfrm>
            <a:off x="1447800" y="1447800"/>
            <a:ext cx="8229600" cy="4849585"/>
          </a:xfrm>
        </p:spPr>
      </p:pic>
    </p:spTree>
    <p:extLst>
      <p:ext uri="{BB962C8B-B14F-4D97-AF65-F5344CB8AC3E}">
        <p14:creationId xmlns:p14="http://schemas.microsoft.com/office/powerpoint/2010/main" val="24822365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endParaRPr lang="en-US" sz="2400" dirty="0">
              <a:cs typeface="Times New Roman" panose="02020603050405020304" pitchFamily="18" charset="0"/>
            </a:endParaRPr>
          </a:p>
        </p:txBody>
      </p:sp>
      <p:pic>
        <p:nvPicPr>
          <p:cNvPr id="4" name="Content Placeholder 4">
            <a:extLst>
              <a:ext uri="{FF2B5EF4-FFF2-40B4-BE49-F238E27FC236}">
                <a16:creationId xmlns:a16="http://schemas.microsoft.com/office/drawing/2014/main" id="{9FABAB00-0F1A-5442-84F7-35BD8A3EE1E4}"/>
              </a:ext>
            </a:extLst>
          </p:cNvPr>
          <p:cNvPicPr>
            <a:picLocks noChangeAspect="1"/>
          </p:cNvPicPr>
          <p:nvPr/>
        </p:nvPicPr>
        <p:blipFill>
          <a:blip r:embed="rId3"/>
          <a:stretch>
            <a:fillRect/>
          </a:stretch>
        </p:blipFill>
        <p:spPr>
          <a:xfrm>
            <a:off x="1828800" y="2209800"/>
            <a:ext cx="7772400" cy="4580165"/>
          </a:xfrm>
          <a:prstGeom prst="rect">
            <a:avLst/>
          </a:prstGeom>
        </p:spPr>
      </p:pic>
    </p:spTree>
    <p:extLst>
      <p:ext uri="{BB962C8B-B14F-4D97-AF65-F5344CB8AC3E}">
        <p14:creationId xmlns:p14="http://schemas.microsoft.com/office/powerpoint/2010/main" val="8353747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The likelihood function is: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3F0C935-CD1A-7345-E271-EB9C839A5B96}"/>
              </a:ext>
            </a:extLst>
          </p:cNvPr>
          <p:cNvPicPr>
            <a:picLocks noChangeAspect="1"/>
          </p:cNvPicPr>
          <p:nvPr/>
        </p:nvPicPr>
        <p:blipFill>
          <a:blip r:embed="rId4"/>
          <a:stretch>
            <a:fillRect/>
          </a:stretch>
        </p:blipFill>
        <p:spPr>
          <a:xfrm>
            <a:off x="1828800" y="5105400"/>
            <a:ext cx="7315200" cy="1032387"/>
          </a:xfrm>
          <a:prstGeom prst="rect">
            <a:avLst/>
          </a:prstGeom>
        </p:spPr>
      </p:pic>
    </p:spTree>
    <p:extLst>
      <p:ext uri="{BB962C8B-B14F-4D97-AF65-F5344CB8AC3E}">
        <p14:creationId xmlns:p14="http://schemas.microsoft.com/office/powerpoint/2010/main" val="4020892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We can take logs as our link function to get: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8EEA72E-CAAF-DDB2-7226-52034B38A6A7}"/>
              </a:ext>
            </a:extLst>
          </p:cNvPr>
          <p:cNvPicPr>
            <a:picLocks noChangeAspect="1"/>
          </p:cNvPicPr>
          <p:nvPr/>
        </p:nvPicPr>
        <p:blipFill>
          <a:blip r:embed="rId5"/>
          <a:stretch>
            <a:fillRect/>
          </a:stretch>
        </p:blipFill>
        <p:spPr>
          <a:xfrm>
            <a:off x="2171700" y="5181600"/>
            <a:ext cx="7315200" cy="905692"/>
          </a:xfrm>
          <a:prstGeom prst="rect">
            <a:avLst/>
          </a:prstGeom>
        </p:spPr>
      </p:pic>
    </p:spTree>
    <p:extLst>
      <p:ext uri="{BB962C8B-B14F-4D97-AF65-F5344CB8AC3E}">
        <p14:creationId xmlns:p14="http://schemas.microsoft.com/office/powerpoint/2010/main" val="37882754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CA">
                    <a:noFill/>
                  </a:rPr>
                  <a:t> </a:t>
                </a:r>
              </a:p>
            </p:txBody>
          </p:sp>
        </mc:Fallback>
      </mc:AlternateContent>
    </p:spTree>
    <p:extLst>
      <p:ext uri="{BB962C8B-B14F-4D97-AF65-F5344CB8AC3E}">
        <p14:creationId xmlns:p14="http://schemas.microsoft.com/office/powerpoint/2010/main" val="42394184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fontScale="92500" lnSpcReduction="10000"/>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However,  also note:</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m:rPr>
                                  <m:sty m:val="p"/>
                                </m:rPr>
                                <a:rPr lang="en-US" sz="2400" b="0" i="0" smtClean="0">
                                  <a:latin typeface="Cambria Math" panose="02040503050406030204" pitchFamily="18" charset="0"/>
                                  <a:cs typeface="Times New Roman" panose="02020603050405020304" pitchFamily="18" charset="0"/>
                                </a:rPr>
                                <m:t>j</m:t>
                              </m:r>
                            </m:sub>
                          </m:sSub>
                          <m:r>
                            <a:rPr lang="en-US" sz="2400" b="0" i="0" smtClean="0">
                              <a:latin typeface="Cambria Math" panose="02040503050406030204" pitchFamily="18" charset="0"/>
                              <a:cs typeface="Times New Roman" panose="02020603050405020304" pitchFamily="18" charset="0"/>
                            </a:rPr>
                            <m:t>=</m:t>
                          </m:r>
                          <m:f>
                            <m:fPr>
                              <m:ctrlPr>
                                <a:rPr lang="en-US" sz="2400" i="1">
                                  <a:latin typeface="Cambria Math" panose="02040503050406030204" pitchFamily="18" charset="0"/>
                                  <a:cs typeface="Times New Roman" panose="02020603050405020304" pitchFamily="18" charset="0"/>
                                </a:rPr>
                              </m:ctrlPr>
                            </m:fPr>
                            <m:num>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𝑦</m:t>
                                  </m:r>
                                </m:e>
                                <m:e>
                                  <m:r>
                                    <a:rPr lang="en-US" sz="2400" i="1">
                                      <a:latin typeface="Cambria Math" panose="02040503050406030204" pitchFamily="18" charset="0"/>
                                      <a:cs typeface="Times New Roman" panose="02020603050405020304" pitchFamily="18" charset="0"/>
                                    </a:rPr>
                                    <m:t>𝑥</m:t>
                                  </m:r>
                                </m:e>
                              </m:d>
                            </m:num>
                            <m:den>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cs typeface="Times New Roman" panose="02020603050405020304" pitchFamily="18" charset="0"/>
                                    </a:rPr>
                                    <m:t>y</m:t>
                                  </m:r>
                                </m:e>
                                <m:e>
                                  <m:r>
                                    <m:rPr>
                                      <m:sty m:val="p"/>
                                    </m:rPr>
                                    <a:rPr lang="en-US" sz="2400" b="0" i="0" smtClean="0">
                                      <a:latin typeface="Cambria Math" panose="02040503050406030204" pitchFamily="18" charset="0"/>
                                      <a:cs typeface="Times New Roman" panose="02020603050405020304" pitchFamily="18" charset="0"/>
                                    </a:rPr>
                                    <m:t>x</m:t>
                                  </m:r>
                                </m:e>
                              </m:d>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log</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fName>
                        <m:e/>
                      </m:func>
                    </m:oMath>
                  </m:oMathPara>
                </a14:m>
                <a:endParaRPr lang="en-US" sz="2400" b="0" dirty="0">
                  <a:cs typeface="Times New Roman" panose="02020603050405020304" pitchFamily="18" charset="0"/>
                </a:endParaRPr>
              </a:p>
              <a:p>
                <a:pPr marL="0" indent="0">
                  <a:buNone/>
                </a:pPr>
                <a:r>
                  <a:rPr lang="en-US" sz="2400" b="0" dirty="0">
                    <a:cs typeface="Times New Roman" panose="02020603050405020304" pitchFamily="18" charset="0"/>
                  </a:rPr>
                  <a:t>For </a:t>
                </a:r>
                <a:r>
                  <a:rPr lang="en-US" sz="2400" b="1" dirty="0">
                    <a:cs typeface="Times New Roman" panose="02020603050405020304" pitchFamily="18" charset="0"/>
                  </a:rPr>
                  <a:t>dummy </a:t>
                </a:r>
                <a:r>
                  <a:rPr lang="en-US" sz="2400" dirty="0">
                    <a:cs typeface="Times New Roman" panose="02020603050405020304" pitchFamily="18" charset="0"/>
                  </a:rPr>
                  <a:t>variables, the change in expected value is simply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b="1" dirty="0">
                    <a:cs typeface="Times New Roman" panose="02020603050405020304" pitchFamily="18" charset="0"/>
                  </a:rPr>
                  <a:t>:</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−1&lt;0</m:t>
                        </m:r>
                      </m:e>
                    </m:func>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less likely </a:t>
                </a:r>
                <a:r>
                  <a:rPr lang="en-US" sz="2400" dirty="0">
                    <a:cs typeface="Times New Roman" panose="02020603050405020304" pitchFamily="18" charset="0"/>
                  </a:rPr>
                  <a:t>to happen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&gt; 0,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more likely </a:t>
                </a:r>
                <a:r>
                  <a:rPr lang="en-US" sz="2400" dirty="0">
                    <a:cs typeface="Times New Roman" panose="02020603050405020304" pitchFamily="18" charset="0"/>
                  </a:rPr>
                  <a:t>to happen when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endParaRPr lang="en-US" sz="2400" dirty="0">
                  <a:cs typeface="Times New Roman" panose="02020603050405020304" pitchFamily="18" charset="0"/>
                </a:endParaRPr>
              </a:p>
              <a:p>
                <a:pPr lvl="1"/>
                <a:r>
                  <a:rPr lang="en-US" sz="2400" dirty="0">
                    <a:cs typeface="Times New Roman" panose="02020603050405020304" pitchFamily="18" charset="0"/>
                  </a:rPr>
                  <a: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794" t="-1779" b="-35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0258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Advantages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Useful for count data, but also for</a:t>
            </a:r>
            <a:r>
              <a:rPr lang="en-US" sz="2400" i="1" dirty="0">
                <a:cs typeface="Times New Roman" panose="02020603050405020304" pitchFamily="18" charset="0"/>
              </a:rPr>
              <a:t> any</a:t>
            </a:r>
            <a:r>
              <a:rPr lang="en-US" sz="2400" dirty="0">
                <a:cs typeface="Times New Roman" panose="02020603050405020304" pitchFamily="18" charset="0"/>
              </a:rPr>
              <a:t> case with nonnegative data: </a:t>
            </a:r>
          </a:p>
          <a:p>
            <a:pPr lvl="1"/>
            <a:r>
              <a:rPr lang="en-US" sz="2200" dirty="0">
                <a:cs typeface="Times New Roman" panose="02020603050405020304" pitchFamily="18" charset="0"/>
              </a:rPr>
              <a:t>Don’t need additional assumptions about conditional mean (log-transformed data)</a:t>
            </a:r>
          </a:p>
          <a:p>
            <a:pPr lvl="1"/>
            <a:r>
              <a:rPr lang="en-US" sz="2200" dirty="0">
                <a:cs typeface="Times New Roman" panose="02020603050405020304" pitchFamily="18" charset="0"/>
              </a:rPr>
              <a:t>Natural way to deal with zeros</a:t>
            </a:r>
          </a:p>
          <a:p>
            <a:pPr lvl="1"/>
            <a:r>
              <a:rPr lang="en-US" sz="2200" dirty="0">
                <a:cs typeface="Times New Roman" panose="02020603050405020304" pitchFamily="18" charset="0"/>
              </a:rPr>
              <a:t>Avoids inconsistency when using log-transformed + heteroskedasticity</a:t>
            </a:r>
          </a:p>
          <a:p>
            <a:r>
              <a:rPr lang="en-US" sz="2400" dirty="0">
                <a:cs typeface="Times New Roman" panose="02020603050405020304" pitchFamily="18" charset="0"/>
              </a:rPr>
              <a:t>Not as computationally intensive anymore (</a:t>
            </a:r>
            <a:r>
              <a:rPr lang="en-US" sz="2400" dirty="0" err="1">
                <a:cs typeface="Times New Roman" panose="02020603050405020304" pitchFamily="18" charset="0"/>
              </a:rPr>
              <a:t>ppmlhdfe</a:t>
            </a:r>
            <a:r>
              <a:rPr lang="en-US" sz="2400" dirty="0">
                <a:cs typeface="Times New Roman" panose="02020603050405020304" pitchFamily="18" charset="0"/>
              </a:rPr>
              <a:t> in Stata, glm in R)</a:t>
            </a:r>
          </a:p>
          <a:p>
            <a:r>
              <a:rPr lang="en-US" sz="2400" dirty="0">
                <a:cs typeface="Times New Roman" panose="02020603050405020304" pitchFamily="18" charset="0"/>
              </a:rPr>
              <a:t>Can report marginal effects, or use levels of coefficients as </a:t>
            </a:r>
            <a:r>
              <a:rPr lang="en-US" sz="2400" b="1" dirty="0">
                <a:cs typeface="Times New Roman" panose="02020603050405020304" pitchFamily="18" charset="0"/>
              </a:rPr>
              <a:t>approximate percentage changes </a:t>
            </a:r>
            <a:r>
              <a:rPr lang="en-US" sz="2400" dirty="0">
                <a:cs typeface="Times New Roman" panose="02020603050405020304" pitchFamily="18" charset="0"/>
              </a:rPr>
              <a:t>(similar to a log model).</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34369098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spTree>
    <p:extLst>
      <p:ext uri="{BB962C8B-B14F-4D97-AF65-F5344CB8AC3E}">
        <p14:creationId xmlns:p14="http://schemas.microsoft.com/office/powerpoint/2010/main" val="2542273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pPr lvl="1"/>
                <a:r>
                  <a:rPr lang="en-US" sz="2400" dirty="0">
                    <a:cs typeface="Times New Roman" panose="02020603050405020304" pitchFamily="18" charset="0"/>
                  </a:rPr>
                  <a:t>Good news: you can test for this in data! </a:t>
                </a:r>
              </a:p>
              <a:p>
                <a:pPr lvl="1"/>
                <a:r>
                  <a:rPr lang="en-US" sz="2400" dirty="0">
                    <a:cs typeface="Times New Roman" panose="02020603050405020304" pitchFamily="18" charset="0"/>
                  </a:rPr>
                  <a:t>Can also adjust your likelihood function with a new variance term</a:t>
                </a:r>
              </a:p>
              <a:p>
                <a:r>
                  <a:rPr lang="en-US" sz="2400" dirty="0">
                    <a:cs typeface="Times New Roman" panose="02020603050405020304" pitchFamily="18" charset="0"/>
                  </a:rPr>
                  <a:t>Most common way to deal with overdispersion: </a:t>
                </a:r>
                <a:r>
                  <a:rPr lang="en-US" sz="2400" b="1" dirty="0">
                    <a:cs typeface="Times New Roman" panose="02020603050405020304" pitchFamily="18" charset="0"/>
                  </a:rPr>
                  <a:t>negative binomial </a:t>
                </a:r>
                <a:r>
                  <a:rPr lang="en-US" sz="2400" dirty="0">
                    <a:cs typeface="Times New Roman" panose="02020603050405020304" pitchFamily="18" charset="0"/>
                  </a:rPr>
                  <a:t>link</a:t>
                </a:r>
              </a:p>
              <a:p>
                <a:pPr lvl="1"/>
                <a:r>
                  <a:rPr lang="en-US" sz="2400" dirty="0">
                    <a:cs typeface="Times New Roman" panose="02020603050405020304" pitchFamily="18" charset="0"/>
                  </a:rPr>
                  <a:t>Just changes link function slightly, can accommodate over/under dispersion</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6217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4C626BF-B5BE-4A42-CA68-E242EA6ED788}"/>
              </a:ext>
            </a:extLst>
          </p:cNvPr>
          <p:cNvPicPr>
            <a:picLocks noChangeAspect="1"/>
          </p:cNvPicPr>
          <p:nvPr/>
        </p:nvPicPr>
        <p:blipFill>
          <a:blip r:embed="rId4"/>
          <a:stretch>
            <a:fillRect/>
          </a:stretch>
        </p:blipFill>
        <p:spPr>
          <a:xfrm>
            <a:off x="642730" y="909166"/>
            <a:ext cx="6935221" cy="5796433"/>
          </a:xfrm>
          <a:prstGeom prst="rect">
            <a:avLst/>
          </a:prstGeom>
        </p:spPr>
      </p:pic>
    </p:spTree>
    <p:extLst>
      <p:ext uri="{BB962C8B-B14F-4D97-AF65-F5344CB8AC3E}">
        <p14:creationId xmlns:p14="http://schemas.microsoft.com/office/powerpoint/2010/main" val="12865321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p:txBody>
      </p:sp>
    </p:spTree>
    <p:extLst>
      <p:ext uri="{BB962C8B-B14F-4D97-AF65-F5344CB8AC3E}">
        <p14:creationId xmlns:p14="http://schemas.microsoft.com/office/powerpoint/2010/main" val="30811451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a:t>
            </a:r>
          </a:p>
          <a:p>
            <a:pPr marL="731520" lvl="1" indent="-457200">
              <a:buAutoNum type="arabicPeriod"/>
            </a:pPr>
            <a:r>
              <a:rPr lang="en-US" sz="2200" dirty="0">
                <a:cs typeface="Times New Roman" panose="02020603050405020304" pitchFamily="18" charset="0"/>
              </a:rPr>
              <a:t>Perceived access to care</a:t>
            </a:r>
          </a:p>
          <a:p>
            <a:pPr marL="731520" lvl="1" indent="-457200">
              <a:buAutoNum type="arabicPeriod"/>
            </a:pPr>
            <a:r>
              <a:rPr lang="en-US" sz="2200" dirty="0">
                <a:cs typeface="Times New Roman" panose="02020603050405020304" pitchFamily="18" charset="0"/>
              </a:rPr>
              <a:t>Health care utilization</a:t>
            </a:r>
          </a:p>
          <a:p>
            <a:pPr marL="731520" lvl="1" indent="-457200">
              <a:buAutoNum type="arabicPeriod"/>
            </a:pPr>
            <a:r>
              <a:rPr lang="en-US" sz="2200" dirty="0">
                <a:cs typeface="Times New Roman" panose="02020603050405020304" pitchFamily="18" charset="0"/>
              </a:rPr>
              <a:t>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p:txBody>
      </p:sp>
    </p:spTree>
    <p:extLst>
      <p:ext uri="{BB962C8B-B14F-4D97-AF65-F5344CB8AC3E}">
        <p14:creationId xmlns:p14="http://schemas.microsoft.com/office/powerpoint/2010/main" val="30413849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p:txBody>
      </p:sp>
    </p:spTree>
    <p:extLst>
      <p:ext uri="{BB962C8B-B14F-4D97-AF65-F5344CB8AC3E}">
        <p14:creationId xmlns:p14="http://schemas.microsoft.com/office/powerpoint/2010/main" val="17835535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a:p>
            <a:r>
              <a:rPr lang="en-US" sz="2400" dirty="0">
                <a:cs typeface="Times New Roman" panose="02020603050405020304" pitchFamily="18" charset="0"/>
              </a:rPr>
              <a:t>Methods: What exogeneity assumption are they resting on?</a:t>
            </a:r>
          </a:p>
          <a:p>
            <a:pPr lvl="1"/>
            <a:r>
              <a:rPr lang="en-US" sz="2200" dirty="0">
                <a:cs typeface="Times New Roman" panose="02020603050405020304" pitchFamily="18" charset="0"/>
              </a:rPr>
              <a:t>Do they have a control group? Who? </a:t>
            </a:r>
          </a:p>
        </p:txBody>
      </p:sp>
    </p:spTree>
    <p:extLst>
      <p:ext uri="{BB962C8B-B14F-4D97-AF65-F5344CB8AC3E}">
        <p14:creationId xmlns:p14="http://schemas.microsoft.com/office/powerpoint/2010/main" val="3728336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Data: What story are we telling here?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0AEF109-A331-86E3-6C4E-58643AF7D8B4}"/>
              </a:ext>
            </a:extLst>
          </p:cNvPr>
          <p:cNvPicPr>
            <a:picLocks noChangeAspect="1"/>
          </p:cNvPicPr>
          <p:nvPr/>
        </p:nvPicPr>
        <p:blipFill>
          <a:blip r:embed="rId3"/>
          <a:stretch>
            <a:fillRect/>
          </a:stretch>
        </p:blipFill>
        <p:spPr>
          <a:xfrm>
            <a:off x="665686" y="1219200"/>
            <a:ext cx="10327228" cy="5141388"/>
          </a:xfrm>
          <a:prstGeom prst="rect">
            <a:avLst/>
          </a:prstGeom>
        </p:spPr>
      </p:pic>
    </p:spTree>
    <p:extLst>
      <p:ext uri="{BB962C8B-B14F-4D97-AF65-F5344CB8AC3E}">
        <p14:creationId xmlns:p14="http://schemas.microsoft.com/office/powerpoint/2010/main" val="28194383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Linear Probability Models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D8A28756-B9C4-BEFA-CD3E-5102A04A4397}"/>
              </a:ext>
            </a:extLst>
          </p:cNvPr>
          <p:cNvPicPr>
            <a:picLocks noChangeAspect="1"/>
          </p:cNvPicPr>
          <p:nvPr/>
        </p:nvPicPr>
        <p:blipFill>
          <a:blip r:embed="rId3"/>
          <a:stretch>
            <a:fillRect/>
          </a:stretch>
        </p:blipFill>
        <p:spPr>
          <a:xfrm>
            <a:off x="609600" y="855525"/>
            <a:ext cx="9000000" cy="3264580"/>
          </a:xfrm>
          <a:prstGeom prst="rect">
            <a:avLst/>
          </a:prstGeom>
        </p:spPr>
      </p:pic>
      <p:pic>
        <p:nvPicPr>
          <p:cNvPr id="8" name="Picture 7">
            <a:extLst>
              <a:ext uri="{FF2B5EF4-FFF2-40B4-BE49-F238E27FC236}">
                <a16:creationId xmlns:a16="http://schemas.microsoft.com/office/drawing/2014/main" id="{5950D5DE-497B-034D-A43E-1FB0EB97852F}"/>
              </a:ext>
            </a:extLst>
          </p:cNvPr>
          <p:cNvPicPr>
            <a:picLocks noChangeAspect="1"/>
          </p:cNvPicPr>
          <p:nvPr/>
        </p:nvPicPr>
        <p:blipFill>
          <a:blip r:embed="rId4"/>
          <a:stretch>
            <a:fillRect/>
          </a:stretch>
        </p:blipFill>
        <p:spPr>
          <a:xfrm>
            <a:off x="601200" y="3649175"/>
            <a:ext cx="9000000" cy="3361225"/>
          </a:xfrm>
          <a:prstGeom prst="rect">
            <a:avLst/>
          </a:prstGeom>
        </p:spPr>
      </p:pic>
    </p:spTree>
    <p:extLst>
      <p:ext uri="{BB962C8B-B14F-4D97-AF65-F5344CB8AC3E}">
        <p14:creationId xmlns:p14="http://schemas.microsoft.com/office/powerpoint/2010/main" val="30887127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B46438B3-898A-A613-F9A4-8F4FEB51D09F}"/>
              </a:ext>
            </a:extLst>
          </p:cNvPr>
          <p:cNvPicPr>
            <a:picLocks noChangeAspect="1"/>
          </p:cNvPicPr>
          <p:nvPr/>
        </p:nvPicPr>
        <p:blipFill>
          <a:blip r:embed="rId3"/>
          <a:stretch>
            <a:fillRect/>
          </a:stretch>
        </p:blipFill>
        <p:spPr>
          <a:xfrm>
            <a:off x="228600" y="962230"/>
            <a:ext cx="11050351" cy="4295569"/>
          </a:xfrm>
          <a:prstGeom prst="rect">
            <a:avLst/>
          </a:prstGeom>
        </p:spPr>
      </p:pic>
    </p:spTree>
    <p:extLst>
      <p:ext uri="{BB962C8B-B14F-4D97-AF65-F5344CB8AC3E}">
        <p14:creationId xmlns:p14="http://schemas.microsoft.com/office/powerpoint/2010/main" val="17087719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65FBAE5-6EBA-3BE8-1BB4-D93DDFCD848E}"/>
              </a:ext>
            </a:extLst>
          </p:cNvPr>
          <p:cNvPicPr>
            <a:picLocks noChangeAspect="1"/>
          </p:cNvPicPr>
          <p:nvPr/>
        </p:nvPicPr>
        <p:blipFill>
          <a:blip r:embed="rId3"/>
          <a:stretch>
            <a:fillRect/>
          </a:stretch>
        </p:blipFill>
        <p:spPr>
          <a:xfrm>
            <a:off x="228600" y="925788"/>
            <a:ext cx="10290643" cy="5703612"/>
          </a:xfrm>
          <a:prstGeom prst="rect">
            <a:avLst/>
          </a:prstGeom>
        </p:spPr>
      </p:pic>
    </p:spTree>
    <p:extLst>
      <p:ext uri="{BB962C8B-B14F-4D97-AF65-F5344CB8AC3E}">
        <p14:creationId xmlns:p14="http://schemas.microsoft.com/office/powerpoint/2010/main" val="9634544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this paper? Any concerns? Anything clever?</a:t>
            </a:r>
          </a:p>
        </p:txBody>
      </p:sp>
    </p:spTree>
    <p:extLst>
      <p:ext uri="{BB962C8B-B14F-4D97-AF65-F5344CB8AC3E}">
        <p14:creationId xmlns:p14="http://schemas.microsoft.com/office/powerpoint/2010/main" val="25856780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762000" y="758952"/>
            <a:ext cx="11353800" cy="4041648"/>
          </a:xfrm>
        </p:spPr>
        <p:txBody>
          <a:bodyPr>
            <a:normAutofit/>
          </a:bodyPr>
          <a:lstStyle/>
          <a:p>
            <a:r>
              <a:rPr lang="en-US" sz="6600" dirty="0"/>
              <a:t>Appendix: Estimation Methods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8900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Quick Note: MLE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So far, we have been using the </a:t>
                </a:r>
                <a:r>
                  <a:rPr lang="en-US" sz="2400" b="1" dirty="0">
                    <a:solidFill>
                      <a:schemeClr val="accent3">
                        <a:lumMod val="75000"/>
                      </a:schemeClr>
                    </a:solidFill>
                    <a:cs typeface="Times New Roman" panose="02020603050405020304" pitchFamily="18" charset="0"/>
                  </a:rPr>
                  <a:t>method of moments </a:t>
                </a:r>
                <a:r>
                  <a:rPr lang="en-US" sz="2400" dirty="0">
                    <a:cs typeface="Times New Roman" panose="02020603050405020304" pitchFamily="18" charset="0"/>
                  </a:rPr>
                  <a:t>(like GMM) to (talk about) estimating our regressions</a:t>
                </a:r>
              </a:p>
              <a:p>
                <a:pPr lvl="1"/>
                <a:r>
                  <a:rPr lang="en-US" sz="2400" dirty="0">
                    <a:cs typeface="Times New Roman" panose="02020603050405020304" pitchFamily="18" charset="0"/>
                  </a:rPr>
                  <a:t>We have conditions (e.g.,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that give us formulas for our parameters of interest</a:t>
                </a:r>
              </a:p>
              <a:p>
                <a:r>
                  <a:rPr lang="en-US" sz="2400" dirty="0">
                    <a:cs typeface="Times New Roman" panose="02020603050405020304" pitchFamily="18" charset="0"/>
                  </a:rPr>
                  <a:t>Another estimation technique is called </a:t>
                </a:r>
                <a:r>
                  <a:rPr lang="en-US" sz="2400" b="1" dirty="0">
                    <a:solidFill>
                      <a:schemeClr val="accent2">
                        <a:lumMod val="75000"/>
                      </a:schemeClr>
                    </a:solidFill>
                    <a:cs typeface="Times New Roman" panose="02020603050405020304" pitchFamily="18" charset="0"/>
                  </a:rPr>
                  <a:t>maximum likelihood estimation</a:t>
                </a:r>
              </a:p>
              <a:p>
                <a:pPr lvl="1"/>
                <a:r>
                  <a:rPr lang="en-US" sz="2400" dirty="0">
                    <a:cs typeface="Times New Roman" panose="02020603050405020304" pitchFamily="18" charset="0"/>
                  </a:rPr>
                  <a:t>Main idea: Given a model, you can calculate the probability of a given observation occurring (likelihood)</a:t>
                </a:r>
              </a:p>
              <a:p>
                <a:pPr lvl="1"/>
                <a:r>
                  <a:rPr lang="en-US" sz="2400" dirty="0">
                    <a:cs typeface="Times New Roman" panose="02020603050405020304" pitchFamily="18" charset="0"/>
                  </a:rPr>
                  <a:t>You can pick the model that makes your data </a:t>
                </a:r>
                <a:r>
                  <a:rPr lang="en-US" sz="2400" b="1" i="1" dirty="0">
                    <a:solidFill>
                      <a:schemeClr val="accent2">
                        <a:lumMod val="75000"/>
                      </a:schemeClr>
                    </a:solidFill>
                    <a:cs typeface="Times New Roman" panose="02020603050405020304" pitchFamily="18" charset="0"/>
                  </a:rPr>
                  <a:t>as likely as possible</a:t>
                </a:r>
                <a:r>
                  <a:rPr lang="en-US" sz="2400" dirty="0">
                    <a:cs typeface="Times New Roman" panose="02020603050405020304" pitchFamily="18" charset="0"/>
                  </a:rPr>
                  <a:t>. </a:t>
                </a:r>
              </a:p>
              <a:p>
                <a:r>
                  <a:rPr lang="en-US" sz="2400" dirty="0">
                    <a:cs typeface="Times New Roman" panose="02020603050405020304" pitchFamily="18" charset="0"/>
                  </a:rPr>
                  <a:t>Estimation of MLE requires specifying a </a:t>
                </a:r>
                <a:r>
                  <a:rPr lang="en-US" sz="2400" b="1" dirty="0">
                    <a:cs typeface="Times New Roman" panose="02020603050405020304" pitchFamily="18" charset="0"/>
                  </a:rPr>
                  <a:t>likelihood function </a:t>
                </a:r>
                <a:r>
                  <a:rPr lang="en-US" sz="2400" dirty="0">
                    <a:cs typeface="Times New Roman" panose="02020603050405020304" pitchFamily="18" charset="0"/>
                  </a:rPr>
                  <a:t>based on the DGP you think is involved</a:t>
                </a:r>
              </a:p>
              <a:p>
                <a:pPr lvl="1"/>
                <a:r>
                  <a:rPr lang="en-US" sz="2400" dirty="0">
                    <a:cs typeface="Times New Roman" panose="02020603050405020304" pitchFamily="18" charset="0"/>
                  </a:rPr>
                  <a:t>If events are independent, this is just the product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𝑁</m:t>
                    </m:r>
                  </m:oMath>
                </a14:m>
                <a:r>
                  <a:rPr lang="en-US" sz="2400" dirty="0">
                    <a:cs typeface="Times New Roman" panose="02020603050405020304" pitchFamily="18" charset="0"/>
                  </a:rPr>
                  <a:t> pdfs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9862990" cy="5141388"/>
              </a:xfrm>
              <a:blipFill>
                <a:blip r:embed="rId3"/>
                <a:stretch>
                  <a:fillRect l="-433" t="-1305"/>
                </a:stretch>
              </a:blipFill>
            </p:spPr>
            <p:txBody>
              <a:bodyPr/>
              <a:lstStyle/>
              <a:p>
                <a:r>
                  <a:rPr lang="en-US">
                    <a:noFill/>
                  </a:rPr>
                  <a:t> </a:t>
                </a:r>
              </a:p>
            </p:txBody>
          </p:sp>
        </mc:Fallback>
      </mc:AlternateContent>
    </p:spTree>
    <p:extLst>
      <p:ext uri="{BB962C8B-B14F-4D97-AF65-F5344CB8AC3E}">
        <p14:creationId xmlns:p14="http://schemas.microsoft.com/office/powerpoint/2010/main" val="21295715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11AA682-8615-71E4-E042-828940B56DAF}"/>
              </a:ext>
            </a:extLst>
          </p:cNvPr>
          <p:cNvPicPr>
            <a:picLocks noChangeAspect="1"/>
          </p:cNvPicPr>
          <p:nvPr/>
        </p:nvPicPr>
        <p:blipFill>
          <a:blip r:embed="rId3"/>
          <a:stretch>
            <a:fillRect/>
          </a:stretch>
        </p:blipFill>
        <p:spPr>
          <a:xfrm>
            <a:off x="152400" y="223228"/>
            <a:ext cx="10472590" cy="6426143"/>
          </a:xfrm>
          <a:prstGeom prst="rect">
            <a:avLst/>
          </a:prstGeom>
        </p:spPr>
      </p:pic>
    </p:spTree>
    <p:extLst>
      <p:ext uri="{BB962C8B-B14F-4D97-AF65-F5344CB8AC3E}">
        <p14:creationId xmlns:p14="http://schemas.microsoft.com/office/powerpoint/2010/main" val="33078816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5C32CBE0-FD33-9753-DDEB-94D6643B4F21}"/>
              </a:ext>
            </a:extLst>
          </p:cNvPr>
          <p:cNvPicPr>
            <a:picLocks noChangeAspect="1"/>
          </p:cNvPicPr>
          <p:nvPr/>
        </p:nvPicPr>
        <p:blipFill>
          <a:blip r:embed="rId3"/>
          <a:stretch>
            <a:fillRect/>
          </a:stretch>
        </p:blipFill>
        <p:spPr>
          <a:xfrm>
            <a:off x="37618" y="17362"/>
            <a:ext cx="9639782" cy="6813874"/>
          </a:xfrm>
          <a:prstGeom prst="rect">
            <a:avLst/>
          </a:prstGeom>
        </p:spPr>
      </p:pic>
    </p:spTree>
    <p:extLst>
      <p:ext uri="{BB962C8B-B14F-4D97-AF65-F5344CB8AC3E}">
        <p14:creationId xmlns:p14="http://schemas.microsoft.com/office/powerpoint/2010/main" val="575780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6DC5AE8E-A65F-5605-D51C-DC5F4DDDB01B}"/>
              </a:ext>
            </a:extLst>
          </p:cNvPr>
          <p:cNvPicPr>
            <a:picLocks noChangeAspect="1"/>
          </p:cNvPicPr>
          <p:nvPr/>
        </p:nvPicPr>
        <p:blipFill>
          <a:blip r:embed="rId3"/>
          <a:stretch>
            <a:fillRect/>
          </a:stretch>
        </p:blipFill>
        <p:spPr>
          <a:xfrm>
            <a:off x="152400" y="228600"/>
            <a:ext cx="10101064" cy="6629400"/>
          </a:xfrm>
          <a:prstGeom prst="rect">
            <a:avLst/>
          </a:prstGeom>
        </p:spPr>
      </p:pic>
    </p:spTree>
    <p:extLst>
      <p:ext uri="{BB962C8B-B14F-4D97-AF65-F5344CB8AC3E}">
        <p14:creationId xmlns:p14="http://schemas.microsoft.com/office/powerpoint/2010/main" val="31720419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A2AF3DBF-360B-9FEA-5A7D-CD48520EA4E8}"/>
              </a:ext>
            </a:extLst>
          </p:cNvPr>
          <p:cNvPicPr>
            <a:picLocks noChangeAspect="1"/>
          </p:cNvPicPr>
          <p:nvPr/>
        </p:nvPicPr>
        <p:blipFill>
          <a:blip r:embed="rId3"/>
          <a:stretch>
            <a:fillRect/>
          </a:stretch>
        </p:blipFill>
        <p:spPr>
          <a:xfrm>
            <a:off x="152399" y="15432"/>
            <a:ext cx="10308341" cy="6613967"/>
          </a:xfrm>
          <a:prstGeom prst="rect">
            <a:avLst/>
          </a:prstGeom>
        </p:spPr>
      </p:pic>
    </p:spTree>
    <p:extLst>
      <p:ext uri="{BB962C8B-B14F-4D97-AF65-F5344CB8AC3E}">
        <p14:creationId xmlns:p14="http://schemas.microsoft.com/office/powerpoint/2010/main" val="31231137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F98407E-EA83-3871-B049-D2CC9CBE08CB}"/>
              </a:ext>
            </a:extLst>
          </p:cNvPr>
          <p:cNvPicPr>
            <a:picLocks noChangeAspect="1"/>
          </p:cNvPicPr>
          <p:nvPr/>
        </p:nvPicPr>
        <p:blipFill>
          <a:blip r:embed="rId3"/>
          <a:stretch>
            <a:fillRect/>
          </a:stretch>
        </p:blipFill>
        <p:spPr>
          <a:xfrm>
            <a:off x="6752" y="14468"/>
            <a:ext cx="9823048" cy="6735288"/>
          </a:xfrm>
          <a:prstGeom prst="rect">
            <a:avLst/>
          </a:prstGeom>
        </p:spPr>
      </p:pic>
    </p:spTree>
    <p:extLst>
      <p:ext uri="{BB962C8B-B14F-4D97-AF65-F5344CB8AC3E}">
        <p14:creationId xmlns:p14="http://schemas.microsoft.com/office/powerpoint/2010/main" val="42289133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345FEF1-EACC-6E43-10F1-1B626213F6B5}"/>
              </a:ext>
            </a:extLst>
          </p:cNvPr>
          <p:cNvPicPr>
            <a:picLocks noChangeAspect="1"/>
          </p:cNvPicPr>
          <p:nvPr/>
        </p:nvPicPr>
        <p:blipFill>
          <a:blip r:embed="rId3"/>
          <a:stretch>
            <a:fillRect/>
          </a:stretch>
        </p:blipFill>
        <p:spPr>
          <a:xfrm>
            <a:off x="32794" y="152400"/>
            <a:ext cx="10439399" cy="5058070"/>
          </a:xfrm>
          <a:prstGeom prst="rect">
            <a:avLst/>
          </a:prstGeom>
        </p:spPr>
      </p:pic>
    </p:spTree>
    <p:extLst>
      <p:ext uri="{BB962C8B-B14F-4D97-AF65-F5344CB8AC3E}">
        <p14:creationId xmlns:p14="http://schemas.microsoft.com/office/powerpoint/2010/main" val="36653518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6815261-7160-3084-A334-7CA9BEC3C513}"/>
              </a:ext>
            </a:extLst>
          </p:cNvPr>
          <p:cNvPicPr>
            <a:picLocks noChangeAspect="1"/>
          </p:cNvPicPr>
          <p:nvPr/>
        </p:nvPicPr>
        <p:blipFill>
          <a:blip r:embed="rId3"/>
          <a:stretch>
            <a:fillRect/>
          </a:stretch>
        </p:blipFill>
        <p:spPr>
          <a:xfrm>
            <a:off x="30866" y="152400"/>
            <a:ext cx="9574212" cy="6368208"/>
          </a:xfrm>
          <a:prstGeom prst="rect">
            <a:avLst/>
          </a:prstGeom>
        </p:spPr>
      </p:pic>
    </p:spTree>
    <p:extLst>
      <p:ext uri="{BB962C8B-B14F-4D97-AF65-F5344CB8AC3E}">
        <p14:creationId xmlns:p14="http://schemas.microsoft.com/office/powerpoint/2010/main" val="548703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9372B997-D6A5-9098-B577-E069D7484464}"/>
              </a:ext>
            </a:extLst>
          </p:cNvPr>
          <p:cNvPicPr>
            <a:picLocks noChangeAspect="1"/>
          </p:cNvPicPr>
          <p:nvPr/>
        </p:nvPicPr>
        <p:blipFill>
          <a:blip r:embed="rId3"/>
          <a:stretch>
            <a:fillRect/>
          </a:stretch>
        </p:blipFill>
        <p:spPr>
          <a:xfrm>
            <a:off x="76200" y="-1"/>
            <a:ext cx="10439400" cy="6691923"/>
          </a:xfrm>
          <a:prstGeom prst="rect">
            <a:avLst/>
          </a:prstGeom>
        </p:spPr>
      </p:pic>
    </p:spTree>
    <p:extLst>
      <p:ext uri="{BB962C8B-B14F-4D97-AF65-F5344CB8AC3E}">
        <p14:creationId xmlns:p14="http://schemas.microsoft.com/office/powerpoint/2010/main" val="386570733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6277</TotalTime>
  <Words>7622</Words>
  <Application>Microsoft Office PowerPoint</Application>
  <PresentationFormat>Widescreen</PresentationFormat>
  <Paragraphs>726</Paragraphs>
  <Slides>101</Slides>
  <Notes>94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101</vt:i4>
      </vt:variant>
    </vt:vector>
  </HeadingPairs>
  <TitlesOfParts>
    <vt:vector size="110" baseType="lpstr">
      <vt:lpstr>Arial</vt:lpstr>
      <vt:lpstr>Calibri</vt:lpstr>
      <vt:lpstr>Cambria Math</vt:lpstr>
      <vt:lpstr>Century Schoolbook</vt:lpstr>
      <vt:lpstr>Source Sans Pro</vt:lpstr>
      <vt:lpstr>Symbol</vt:lpstr>
      <vt:lpstr>Times New Roman</vt:lpstr>
      <vt:lpstr>Wingdings 2</vt:lpstr>
      <vt:lpstr>View</vt:lpstr>
      <vt:lpstr>Quantitative Methods in HSR I </vt:lpstr>
      <vt:lpstr>Current research discussion: </vt:lpstr>
      <vt:lpstr>Types of Research Questions</vt:lpstr>
      <vt:lpstr>Why do you have to use causal language for causal questions?</vt:lpstr>
      <vt:lpstr>Why do you have to use causal language for causal questions?</vt:lpstr>
      <vt:lpstr>What language should I use?</vt:lpstr>
      <vt:lpstr>PowerPoint Presentation</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 Paper:  Bruhin et al., (2019)</vt:lpstr>
      <vt:lpstr>Research question: how do peer effects drive donations?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methods: instrument relevance</vt:lpstr>
      <vt:lpstr>Binary Outcome Variables</vt:lpstr>
      <vt:lpstr>How does OLS work when Y is binary?</vt:lpstr>
      <vt:lpstr>How does OLS work when Y is binary?</vt:lpstr>
      <vt:lpstr>Advantages and disadvantages of LPM</vt:lpstr>
      <vt:lpstr>Advantages and disadvantages of LPM</vt:lpstr>
      <vt:lpstr>What does an LPM even predict?</vt:lpstr>
      <vt:lpstr>What does an LPM even predict?</vt:lpstr>
      <vt:lpstr>Estimating Probabilities: Linear Probability Models</vt:lpstr>
      <vt:lpstr>Estimating Probabilities: Linear Probability Models</vt:lpstr>
      <vt:lpstr>Estimating Probabilities: Odds</vt:lpstr>
      <vt:lpstr>Estimating Probabilities: Log(Odds)</vt:lpstr>
      <vt:lpstr>Alternatives: Nonlinear estimation</vt:lpstr>
      <vt:lpstr>Alternatives: Nonlinear estimation</vt:lpstr>
      <vt:lpstr>Alternatives: Nonlinear estimation</vt:lpstr>
      <vt:lpstr>Alternatives: Nonlinear estimation</vt:lpstr>
      <vt:lpstr>Binary Link Functions: Logit and Probit</vt:lpstr>
      <vt:lpstr>Binary Link Functions: Logit and Probit</vt:lpstr>
      <vt:lpstr>Binary Link Functions: Logit and Probit</vt:lpstr>
      <vt:lpstr>LPM vs. Logit vs. Probit</vt:lpstr>
      <vt:lpstr>Logit/Probit Best Practices </vt:lpstr>
      <vt:lpstr>Logit/Probit in Practice</vt:lpstr>
      <vt:lpstr>Logit/Probit in Practice</vt:lpstr>
      <vt:lpstr>How to interpret logit/probit results?</vt:lpstr>
      <vt:lpstr>How to interpret logit/probit results?</vt:lpstr>
      <vt:lpstr>How to interpret logit/probit results?</vt:lpstr>
      <vt:lpstr>How to interpret logit/probit results?</vt:lpstr>
      <vt:lpstr>A simple example: ORs and MEs</vt:lpstr>
      <vt:lpstr>A simple example: ORs and MEs</vt:lpstr>
      <vt:lpstr>How to interpret logit/probit results? Marginal effects</vt:lpstr>
      <vt:lpstr>How to interpret logit/probit results?</vt:lpstr>
      <vt:lpstr>Marginal Effects: 4 Options</vt:lpstr>
      <vt:lpstr>Some Logit/Probit Warnings</vt:lpstr>
      <vt:lpstr>Complications in GLM: Hypothesis Testing</vt:lpstr>
      <vt:lpstr>Complications in GLM: Interactions</vt:lpstr>
      <vt:lpstr>Complications in GLM: Nonlinear models and IV</vt:lpstr>
      <vt:lpstr>Complications in GLM: Nonlinear models and IV</vt:lpstr>
      <vt:lpstr>What can you do instead?</vt:lpstr>
      <vt:lpstr>What can you do instead?</vt:lpstr>
      <vt:lpstr>What can you do instead?</vt:lpstr>
      <vt:lpstr>Example Paper:  Bruhin et al., (2019)</vt:lpstr>
      <vt:lpstr>Research methods: bivariate probit</vt:lpstr>
      <vt:lpstr>Research methods: bivariate probit + IV</vt:lpstr>
      <vt:lpstr>Research methods: bivariate probit + IV</vt:lpstr>
      <vt:lpstr>Research results: peer effects are strong! </vt:lpstr>
      <vt:lpstr>Research results: peer effects are strong! </vt:lpstr>
      <vt:lpstr>Other research results</vt:lpstr>
      <vt:lpstr>Conclusion: Limited Dependent Variables</vt:lpstr>
      <vt:lpstr>Appendix:  Additional Resources </vt:lpstr>
      <vt:lpstr>Count Data:  Poisson Regression</vt:lpstr>
      <vt:lpstr>Examples of Count Data in Health Policy</vt:lpstr>
      <vt:lpstr>Examples of Count Data in Health Policy</vt:lpstr>
      <vt:lpstr>Examples of Count Data: Job Changes</vt:lpstr>
      <vt:lpstr>The Poisson Distribution</vt:lpstr>
      <vt:lpstr>The Poisson Distribution</vt:lpstr>
      <vt:lpstr>The Poisson Distribution</vt:lpstr>
      <vt:lpstr>Poisson Regressions in Practice: Interpretation</vt:lpstr>
      <vt:lpstr>Poisson Regressions in Practice: Interpretation</vt:lpstr>
      <vt:lpstr>Poisson Regressions in Practice: Advantages</vt:lpstr>
      <vt:lpstr>Poisson Regressions in Practice: Dispersion</vt:lpstr>
      <vt:lpstr>Poisson Regressions in Practice: Dispersion</vt:lpstr>
      <vt:lpstr>Poisson Regressions in Practice: Dispersion</vt:lpstr>
      <vt:lpstr>Example: How do hospital closures affect access?</vt:lpstr>
      <vt:lpstr>Example: How do hospital closures affect access?</vt:lpstr>
      <vt:lpstr>Example: How do hospital closures affect access?</vt:lpstr>
      <vt:lpstr>Example: How do hospital closures affect access?</vt:lpstr>
      <vt:lpstr>Data: What story are we telling here? </vt:lpstr>
      <vt:lpstr>Results: Linear Probability Models</vt:lpstr>
      <vt:lpstr>Poisson results: How do hospital closures affect access?</vt:lpstr>
      <vt:lpstr>Poisson results: How do hospital closures affect access?</vt:lpstr>
      <vt:lpstr>Mini Referee Report</vt:lpstr>
      <vt:lpstr>Appendix: Estimation Methods</vt:lpstr>
      <vt:lpstr>Quick Note: MLE</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582</cp:revision>
  <dcterms:created xsi:type="dcterms:W3CDTF">2011-01-10T00:42:42Z</dcterms:created>
  <dcterms:modified xsi:type="dcterms:W3CDTF">2026-07-22T17:25:18Z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