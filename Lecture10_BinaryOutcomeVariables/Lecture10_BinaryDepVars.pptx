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99"/>
  </p:notesMasterIdLst>
  <p:sldIdLst>
    <p:sldId id="256" r:id="rId2"/>
    <p:sldId id="526" r:id="rId3"/>
    <p:sldId id="646" r:id="rId4"/>
    <p:sldId id="515" r:id="rId5"/>
    <p:sldId id="397" r:id="rId6"/>
    <p:sldId id="516" r:id="rId7"/>
    <p:sldId id="517" r:id="rId8"/>
    <p:sldId id="518" r:id="rId9"/>
    <p:sldId id="519" r:id="rId10"/>
    <p:sldId id="520" r:id="rId11"/>
    <p:sldId id="630" r:id="rId12"/>
    <p:sldId id="631" r:id="rId13"/>
    <p:sldId id="632" r:id="rId14"/>
    <p:sldId id="633" r:id="rId15"/>
    <p:sldId id="634" r:id="rId16"/>
    <p:sldId id="635" r:id="rId17"/>
    <p:sldId id="636" r:id="rId18"/>
    <p:sldId id="637" r:id="rId19"/>
    <p:sldId id="398" r:id="rId20"/>
    <p:sldId id="419" r:id="rId21"/>
    <p:sldId id="543" r:id="rId22"/>
    <p:sldId id="523" r:id="rId23"/>
    <p:sldId id="544" r:id="rId24"/>
    <p:sldId id="525" r:id="rId25"/>
    <p:sldId id="546" r:id="rId26"/>
    <p:sldId id="589" r:id="rId27"/>
    <p:sldId id="590" r:id="rId28"/>
    <p:sldId id="591" r:id="rId29"/>
    <p:sldId id="592" r:id="rId30"/>
    <p:sldId id="547" r:id="rId31"/>
    <p:sldId id="548" r:id="rId32"/>
    <p:sldId id="549" r:id="rId33"/>
    <p:sldId id="550" r:id="rId34"/>
    <p:sldId id="524" r:id="rId35"/>
    <p:sldId id="552" r:id="rId36"/>
    <p:sldId id="553" r:id="rId37"/>
    <p:sldId id="551" r:id="rId38"/>
    <p:sldId id="521" r:id="rId39"/>
    <p:sldId id="645" r:id="rId40"/>
    <p:sldId id="555" r:id="rId41"/>
    <p:sldId id="554" r:id="rId42"/>
    <p:sldId id="640" r:id="rId43"/>
    <p:sldId id="641" r:id="rId44"/>
    <p:sldId id="639" r:id="rId45"/>
    <p:sldId id="643" r:id="rId46"/>
    <p:sldId id="644" r:id="rId47"/>
    <p:sldId id="638" r:id="rId48"/>
    <p:sldId id="556" r:id="rId49"/>
    <p:sldId id="557" r:id="rId50"/>
    <p:sldId id="642" r:id="rId51"/>
    <p:sldId id="527" r:id="rId52"/>
    <p:sldId id="559" r:id="rId53"/>
    <p:sldId id="558" r:id="rId54"/>
    <p:sldId id="604" r:id="rId55"/>
    <p:sldId id="560" r:id="rId56"/>
    <p:sldId id="605" r:id="rId57"/>
    <p:sldId id="607" r:id="rId58"/>
    <p:sldId id="602" r:id="rId59"/>
    <p:sldId id="616" r:id="rId60"/>
    <p:sldId id="617" r:id="rId61"/>
    <p:sldId id="618" r:id="rId62"/>
    <p:sldId id="619" r:id="rId63"/>
    <p:sldId id="620" r:id="rId64"/>
    <p:sldId id="609" r:id="rId65"/>
    <p:sldId id="586" r:id="rId66"/>
    <p:sldId id="603" r:id="rId67"/>
    <p:sldId id="529" r:id="rId68"/>
    <p:sldId id="561" r:id="rId69"/>
    <p:sldId id="562" r:id="rId70"/>
    <p:sldId id="564" r:id="rId71"/>
    <p:sldId id="565" r:id="rId72"/>
    <p:sldId id="569" r:id="rId73"/>
    <p:sldId id="612" r:id="rId74"/>
    <p:sldId id="566" r:id="rId75"/>
    <p:sldId id="570" r:id="rId76"/>
    <p:sldId id="567" r:id="rId77"/>
    <p:sldId id="613" r:id="rId78"/>
    <p:sldId id="614" r:id="rId79"/>
    <p:sldId id="647" r:id="rId80"/>
    <p:sldId id="648" r:id="rId81"/>
    <p:sldId id="649" r:id="rId82"/>
    <p:sldId id="650" r:id="rId83"/>
    <p:sldId id="651" r:id="rId84"/>
    <p:sldId id="652" r:id="rId85"/>
    <p:sldId id="653" r:id="rId86"/>
    <p:sldId id="654" r:id="rId87"/>
    <p:sldId id="655" r:id="rId88"/>
    <p:sldId id="601" r:id="rId89"/>
    <p:sldId id="568" r:id="rId90"/>
    <p:sldId id="593" r:id="rId91"/>
    <p:sldId id="594" r:id="rId92"/>
    <p:sldId id="595" r:id="rId93"/>
    <p:sldId id="596" r:id="rId94"/>
    <p:sldId id="597" r:id="rId95"/>
    <p:sldId id="598" r:id="rId96"/>
    <p:sldId id="599" r:id="rId97"/>
    <p:sldId id="600" r:id="rId98"/>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83618" autoAdjust="0"/>
  </p:normalViewPr>
  <p:slideViewPr>
    <p:cSldViewPr>
      <p:cViewPr varScale="1">
        <p:scale>
          <a:sx n="53" d="100"/>
          <a:sy n="53" d="100"/>
        </p:scale>
        <p:origin x="1152" y="3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notesMaster" Target="notesMasters/notesMaster1.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EF911157-0FC2-4F06-8D61-FD647FE4E19D}" type="datetimeFigureOut">
              <a:rPr lang="en-US" smtClean="0"/>
              <a:t>3/23/2026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4AF79E1B-2C51-4B9B-8EA4-26DE9E345AFF}" type="slidenum">
              <a:rPr lang="en-US" smtClean="0"/>
              <a:t>‹#›</a:t>
            </a:fld>
            <a:endParaRPr lang="en-US"/>
          </a:p>
        </p:txBody>
      </p:sp>
    </p:spTree>
    <p:extLst>
      <p:ext uri="{BB962C8B-B14F-4D97-AF65-F5344CB8AC3E}">
        <p14:creationId xmlns:p14="http://schemas.microsoft.com/office/powerpoint/2010/main" val="836726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Today and next week are more mechanics-oriented than design. But they integrate! </a:t>
            </a:r>
          </a:p>
        </p:txBody>
      </p:sp>
      <p:sp>
        <p:nvSpPr>
          <p:cNvPr id="4" name="Slide Number Placeholder 3"/>
          <p:cNvSpPr>
            <a:spLocks noGrp="1"/>
          </p:cNvSpPr>
          <p:nvPr>
            <p:ph type="sldNum" sz="quarter" idx="5"/>
          </p:nvPr>
        </p:nvSpPr>
        <p:spPr/>
        <p:txBody>
          <a:bodyPr/>
          <a:lstStyle/>
          <a:p>
            <a:fld id="{4AF79E1B-2C51-4B9B-8EA4-26DE9E345AFF}" type="slidenum">
              <a:rPr lang="en-US" smtClean="0"/>
              <a:t>1</a:t>
            </a:fld>
            <a:endParaRPr lang="en-US"/>
          </a:p>
        </p:txBody>
      </p:sp>
    </p:spTree>
    <p:extLst>
      <p:ext uri="{BB962C8B-B14F-4D97-AF65-F5344CB8AC3E}">
        <p14:creationId xmlns:p14="http://schemas.microsoft.com/office/powerpoint/2010/main" val="3611709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this to beginning of another lecture for next time. Link here: https://hadley.github.io/genzplyr/. </a:t>
            </a:r>
          </a:p>
        </p:txBody>
      </p:sp>
      <p:sp>
        <p:nvSpPr>
          <p:cNvPr id="4" name="Slide Number Placeholder 3"/>
          <p:cNvSpPr>
            <a:spLocks noGrp="1"/>
          </p:cNvSpPr>
          <p:nvPr>
            <p:ph type="sldNum" sz="quarter" idx="5"/>
          </p:nvPr>
        </p:nvSpPr>
        <p:spPr/>
        <p:txBody>
          <a:bodyPr/>
          <a:lstStyle/>
          <a:p>
            <a:fld id="{4AF79E1B-2C51-4B9B-8EA4-26DE9E345AFF}" type="slidenum">
              <a:rPr lang="en-US" smtClean="0"/>
              <a:t>2</a:t>
            </a:fld>
            <a:endParaRPr lang="en-US"/>
          </a:p>
        </p:txBody>
      </p:sp>
    </p:spTree>
    <p:extLst>
      <p:ext uri="{BB962C8B-B14F-4D97-AF65-F5344CB8AC3E}">
        <p14:creationId xmlns:p14="http://schemas.microsoft.com/office/powerpoint/2010/main" val="21166269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C7C6E-8B35-E59D-7510-35BA90F709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DA8A05-3B1B-8C35-8D48-EE8466D9DA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EAC7BD-A59B-3CFD-B624-BEE5B6EC79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6CD589-F905-AA73-02C6-403EAF869B7E}"/>
              </a:ext>
            </a:extLst>
          </p:cNvPr>
          <p:cNvSpPr>
            <a:spLocks noGrp="1"/>
          </p:cNvSpPr>
          <p:nvPr>
            <p:ph type="sldNum" sz="quarter" idx="5"/>
          </p:nvPr>
        </p:nvSpPr>
        <p:spPr/>
        <p:txBody>
          <a:bodyPr/>
          <a:lstStyle/>
          <a:p>
            <a:fld id="{4AF79E1B-2C51-4B9B-8EA4-26DE9E345AFF}" type="slidenum">
              <a:rPr lang="en-US" smtClean="0"/>
              <a:t>3</a:t>
            </a:fld>
            <a:endParaRPr lang="en-US"/>
          </a:p>
        </p:txBody>
      </p:sp>
    </p:spTree>
    <p:extLst>
      <p:ext uri="{BB962C8B-B14F-4D97-AF65-F5344CB8AC3E}">
        <p14:creationId xmlns:p14="http://schemas.microsoft.com/office/powerpoint/2010/main" val="30907707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Call these limited dependent varaibles </a:t>
            </a:r>
          </a:p>
        </p:txBody>
      </p:sp>
      <p:sp>
        <p:nvSpPr>
          <p:cNvPr id="4" name="Slide Number Placeholder 3"/>
          <p:cNvSpPr>
            <a:spLocks noGrp="1"/>
          </p:cNvSpPr>
          <p:nvPr>
            <p:ph type="sldNum" sz="quarter" idx="5"/>
          </p:nvPr>
        </p:nvSpPr>
        <p:spPr/>
        <p:txBody>
          <a:bodyPr/>
          <a:lstStyle/>
          <a:p>
            <a:fld id="{3298C5B2-5D6B-2949-9D6C-64FEDA8AB56A}" type="slidenum">
              <a:rPr lang="en-US" smtClean="0"/>
              <a:t>4</a:t>
            </a:fld>
            <a:endParaRPr lang="en-US"/>
          </a:p>
        </p:txBody>
      </p:sp>
    </p:spTree>
    <p:extLst>
      <p:ext uri="{BB962C8B-B14F-4D97-AF65-F5344CB8AC3E}">
        <p14:creationId xmlns:p14="http://schemas.microsoft.com/office/powerpoint/2010/main" val="12138859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limited dependent variable is one that is restricted in some way. All of these have important considerations for regression. </a:t>
            </a:r>
          </a:p>
        </p:txBody>
      </p:sp>
      <p:sp>
        <p:nvSpPr>
          <p:cNvPr id="4" name="Slide Number Placeholder 3"/>
          <p:cNvSpPr>
            <a:spLocks noGrp="1"/>
          </p:cNvSpPr>
          <p:nvPr>
            <p:ph type="sldNum" sz="quarter" idx="5"/>
          </p:nvPr>
        </p:nvSpPr>
        <p:spPr/>
        <p:txBody>
          <a:bodyPr/>
          <a:lstStyle/>
          <a:p>
            <a:fld id="{4AF79E1B-2C51-4B9B-8EA4-26DE9E345AFF}" type="slidenum">
              <a:rPr lang="en-US" smtClean="0"/>
              <a:t>5</a:t>
            </a:fld>
            <a:endParaRPr lang="en-US"/>
          </a:p>
        </p:txBody>
      </p:sp>
    </p:spTree>
    <p:extLst>
      <p:ext uri="{BB962C8B-B14F-4D97-AF65-F5344CB8AC3E}">
        <p14:creationId xmlns:p14="http://schemas.microsoft.com/office/powerpoint/2010/main" val="20553651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limited dependent variable is one that is restricted in some way. All of these have important considerations for regression. </a:t>
            </a:r>
          </a:p>
        </p:txBody>
      </p:sp>
      <p:sp>
        <p:nvSpPr>
          <p:cNvPr id="4" name="Slide Number Placeholder 3"/>
          <p:cNvSpPr>
            <a:spLocks noGrp="1"/>
          </p:cNvSpPr>
          <p:nvPr>
            <p:ph type="sldNum" sz="quarter" idx="5"/>
          </p:nvPr>
        </p:nvSpPr>
        <p:spPr/>
        <p:txBody>
          <a:bodyPr/>
          <a:lstStyle/>
          <a:p>
            <a:fld id="{4AF79E1B-2C51-4B9B-8EA4-26DE9E345AFF}" type="slidenum">
              <a:rPr lang="en-US" smtClean="0"/>
              <a:t>6</a:t>
            </a:fld>
            <a:endParaRPr lang="en-US"/>
          </a:p>
        </p:txBody>
      </p:sp>
    </p:spTree>
    <p:extLst>
      <p:ext uri="{BB962C8B-B14F-4D97-AF65-F5344CB8AC3E}">
        <p14:creationId xmlns:p14="http://schemas.microsoft.com/office/powerpoint/2010/main" val="37718795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limited dependent variable is one that is restricted in some way. All of these have important considerations for regression. </a:t>
            </a:r>
          </a:p>
        </p:txBody>
      </p:sp>
      <p:sp>
        <p:nvSpPr>
          <p:cNvPr id="4" name="Slide Number Placeholder 3"/>
          <p:cNvSpPr>
            <a:spLocks noGrp="1"/>
          </p:cNvSpPr>
          <p:nvPr>
            <p:ph type="sldNum" sz="quarter" idx="5"/>
          </p:nvPr>
        </p:nvSpPr>
        <p:spPr/>
        <p:txBody>
          <a:bodyPr/>
          <a:lstStyle/>
          <a:p>
            <a:fld id="{4AF79E1B-2C51-4B9B-8EA4-26DE9E345AFF}" type="slidenum">
              <a:rPr lang="en-US" smtClean="0"/>
              <a:t>7</a:t>
            </a:fld>
            <a:endParaRPr lang="en-US"/>
          </a:p>
        </p:txBody>
      </p:sp>
    </p:spTree>
    <p:extLst>
      <p:ext uri="{BB962C8B-B14F-4D97-AF65-F5344CB8AC3E}">
        <p14:creationId xmlns:p14="http://schemas.microsoft.com/office/powerpoint/2010/main" val="30345326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limited dependent variable is one that is restricted in some way. All of these have important considerations for regression. </a:t>
            </a:r>
          </a:p>
        </p:txBody>
      </p:sp>
      <p:sp>
        <p:nvSpPr>
          <p:cNvPr id="4" name="Slide Number Placeholder 3"/>
          <p:cNvSpPr>
            <a:spLocks noGrp="1"/>
          </p:cNvSpPr>
          <p:nvPr>
            <p:ph type="sldNum" sz="quarter" idx="5"/>
          </p:nvPr>
        </p:nvSpPr>
        <p:spPr/>
        <p:txBody>
          <a:bodyPr/>
          <a:lstStyle/>
          <a:p>
            <a:fld id="{4AF79E1B-2C51-4B9B-8EA4-26DE9E345AFF}" type="slidenum">
              <a:rPr lang="en-US" smtClean="0"/>
              <a:t>8</a:t>
            </a:fld>
            <a:endParaRPr lang="en-US"/>
          </a:p>
        </p:txBody>
      </p:sp>
    </p:spTree>
    <p:extLst>
      <p:ext uri="{BB962C8B-B14F-4D97-AF65-F5344CB8AC3E}">
        <p14:creationId xmlns:p14="http://schemas.microsoft.com/office/powerpoint/2010/main" val="29792697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limited dependent variable is one that is restricted in some way. All of these have important considerations for regression. </a:t>
            </a:r>
          </a:p>
        </p:txBody>
      </p:sp>
      <p:sp>
        <p:nvSpPr>
          <p:cNvPr id="4" name="Slide Number Placeholder 3"/>
          <p:cNvSpPr>
            <a:spLocks noGrp="1"/>
          </p:cNvSpPr>
          <p:nvPr>
            <p:ph type="sldNum" sz="quarter" idx="5"/>
          </p:nvPr>
        </p:nvSpPr>
        <p:spPr/>
        <p:txBody>
          <a:bodyPr/>
          <a:lstStyle/>
          <a:p>
            <a:fld id="{4AF79E1B-2C51-4B9B-8EA4-26DE9E345AFF}" type="slidenum">
              <a:rPr lang="en-US" smtClean="0"/>
              <a:t>9</a:t>
            </a:fld>
            <a:endParaRPr lang="en-US"/>
          </a:p>
        </p:txBody>
      </p:sp>
    </p:spTree>
    <p:extLst>
      <p:ext uri="{BB962C8B-B14F-4D97-AF65-F5344CB8AC3E}">
        <p14:creationId xmlns:p14="http://schemas.microsoft.com/office/powerpoint/2010/main" val="2783351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Focusing only on just logit/probit for today, as this lays the ground work </a:t>
            </a:r>
            <a:r>
              <a:rPr lang="en-US"/>
              <a:t>for the rest </a:t>
            </a:r>
            <a:r>
              <a:rPr lang="en-US" dirty="0"/>
              <a:t>of them. (can include more in next lecture if you want?). Also have appendix material on an extension of ordered that highlights choices between competing options. </a:t>
            </a:r>
          </a:p>
        </p:txBody>
      </p:sp>
      <p:sp>
        <p:nvSpPr>
          <p:cNvPr id="4" name="Slide Number Placeholder 3"/>
          <p:cNvSpPr>
            <a:spLocks noGrp="1"/>
          </p:cNvSpPr>
          <p:nvPr>
            <p:ph type="sldNum" sz="quarter" idx="5"/>
          </p:nvPr>
        </p:nvSpPr>
        <p:spPr/>
        <p:txBody>
          <a:bodyPr/>
          <a:lstStyle/>
          <a:p>
            <a:fld id="{4AF79E1B-2C51-4B9B-8EA4-26DE9E345AFF}" type="slidenum">
              <a:rPr lang="en-US" smtClean="0"/>
              <a:t>10</a:t>
            </a:fld>
            <a:endParaRPr lang="en-US"/>
          </a:p>
        </p:txBody>
      </p:sp>
    </p:spTree>
    <p:extLst>
      <p:ext uri="{BB962C8B-B14F-4D97-AF65-F5344CB8AC3E}">
        <p14:creationId xmlns:p14="http://schemas.microsoft.com/office/powerpoint/2010/main" val="7658266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Peer effects could be very powerful to the extent that they generate a “social multiplier” effect </a:t>
            </a:r>
          </a:p>
        </p:txBody>
      </p:sp>
      <p:sp>
        <p:nvSpPr>
          <p:cNvPr id="4" name="Slide Number Placeholder 3"/>
          <p:cNvSpPr>
            <a:spLocks noGrp="1"/>
          </p:cNvSpPr>
          <p:nvPr>
            <p:ph type="sldNum" sz="quarter" idx="5"/>
          </p:nvPr>
        </p:nvSpPr>
        <p:spPr/>
        <p:txBody>
          <a:bodyPr/>
          <a:lstStyle/>
          <a:p>
            <a:fld id="{4AF79E1B-2C51-4B9B-8EA4-26DE9E345AFF}" type="slidenum">
              <a:rPr lang="en-US" smtClean="0"/>
              <a:t>12</a:t>
            </a:fld>
            <a:endParaRPr lang="en-US"/>
          </a:p>
        </p:txBody>
      </p:sp>
    </p:spTree>
    <p:extLst>
      <p:ext uri="{BB962C8B-B14F-4D97-AF65-F5344CB8AC3E}">
        <p14:creationId xmlns:p14="http://schemas.microsoft.com/office/powerpoint/2010/main" val="33363180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Reminder: for endogeneity, think about “selection.” What could be selected by the agents in your sample, and how could that affect estimation? Correlation isn’t evidence of spillovers (what do we mean by spillovers?) Also, pairs are endogenously formed (two high propensity people might have matched)</a:t>
            </a:r>
          </a:p>
        </p:txBody>
      </p:sp>
      <p:sp>
        <p:nvSpPr>
          <p:cNvPr id="4" name="Slide Number Placeholder 3"/>
          <p:cNvSpPr>
            <a:spLocks noGrp="1"/>
          </p:cNvSpPr>
          <p:nvPr>
            <p:ph type="sldNum" sz="quarter" idx="5"/>
          </p:nvPr>
        </p:nvSpPr>
        <p:spPr/>
        <p:txBody>
          <a:bodyPr/>
          <a:lstStyle/>
          <a:p>
            <a:fld id="{4AF79E1B-2C51-4B9B-8EA4-26DE9E345AFF}" type="slidenum">
              <a:rPr lang="en-US" smtClean="0"/>
              <a:t>13</a:t>
            </a:fld>
            <a:endParaRPr lang="en-US"/>
          </a:p>
        </p:txBody>
      </p:sp>
    </p:spTree>
    <p:extLst>
      <p:ext uri="{BB962C8B-B14F-4D97-AF65-F5344CB8AC3E}">
        <p14:creationId xmlns:p14="http://schemas.microsoft.com/office/powerpoint/2010/main" val="1237168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problem – who started the spillover? Chicken and egg. </a:t>
            </a:r>
          </a:p>
        </p:txBody>
      </p:sp>
      <p:sp>
        <p:nvSpPr>
          <p:cNvPr id="4" name="Slide Number Placeholder 3"/>
          <p:cNvSpPr>
            <a:spLocks noGrp="1"/>
          </p:cNvSpPr>
          <p:nvPr>
            <p:ph type="sldNum" sz="quarter" idx="5"/>
          </p:nvPr>
        </p:nvSpPr>
        <p:spPr/>
        <p:txBody>
          <a:bodyPr/>
          <a:lstStyle/>
          <a:p>
            <a:fld id="{4AF79E1B-2C51-4B9B-8EA4-26DE9E345AFF}" type="slidenum">
              <a:rPr lang="en-US" smtClean="0"/>
              <a:t>14</a:t>
            </a:fld>
            <a:endParaRPr lang="en-US"/>
          </a:p>
        </p:txBody>
      </p:sp>
    </p:spTree>
    <p:extLst>
      <p:ext uri="{BB962C8B-B14F-4D97-AF65-F5344CB8AC3E}">
        <p14:creationId xmlns:p14="http://schemas.microsoft.com/office/powerpoint/2010/main" val="37135393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15</a:t>
            </a:fld>
            <a:endParaRPr lang="en-US"/>
          </a:p>
        </p:txBody>
      </p:sp>
    </p:spTree>
    <p:extLst>
      <p:ext uri="{BB962C8B-B14F-4D97-AF65-F5344CB8AC3E}">
        <p14:creationId xmlns:p14="http://schemas.microsoft.com/office/powerpoint/2010/main" val="26526281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we mean by bivariate? Just that we have probit on both sides of the 2SLS equation. </a:t>
            </a:r>
          </a:p>
        </p:txBody>
      </p:sp>
      <p:sp>
        <p:nvSpPr>
          <p:cNvPr id="4" name="Slide Number Placeholder 3"/>
          <p:cNvSpPr>
            <a:spLocks noGrp="1"/>
          </p:cNvSpPr>
          <p:nvPr>
            <p:ph type="sldNum" sz="quarter" idx="5"/>
          </p:nvPr>
        </p:nvSpPr>
        <p:spPr/>
        <p:txBody>
          <a:bodyPr/>
          <a:lstStyle/>
          <a:p>
            <a:fld id="{4AF79E1B-2C51-4B9B-8EA4-26DE9E345AFF}" type="slidenum">
              <a:rPr lang="en-US" smtClean="0"/>
              <a:t>16</a:t>
            </a:fld>
            <a:endParaRPr lang="en-US"/>
          </a:p>
        </p:txBody>
      </p:sp>
    </p:spTree>
    <p:extLst>
      <p:ext uri="{BB962C8B-B14F-4D97-AF65-F5344CB8AC3E}">
        <p14:creationId xmlns:p14="http://schemas.microsoft.com/office/powerpoint/2010/main" val="31443488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we think about this figure?</a:t>
            </a:r>
          </a:p>
        </p:txBody>
      </p:sp>
      <p:sp>
        <p:nvSpPr>
          <p:cNvPr id="4" name="Slide Number Placeholder 3"/>
          <p:cNvSpPr>
            <a:spLocks noGrp="1"/>
          </p:cNvSpPr>
          <p:nvPr>
            <p:ph type="sldNum" sz="quarter" idx="5"/>
          </p:nvPr>
        </p:nvSpPr>
        <p:spPr/>
        <p:txBody>
          <a:bodyPr/>
          <a:lstStyle/>
          <a:p>
            <a:fld id="{4AF79E1B-2C51-4B9B-8EA4-26DE9E345AFF}" type="slidenum">
              <a:rPr lang="en-US" smtClean="0"/>
              <a:t>17</a:t>
            </a:fld>
            <a:endParaRPr lang="en-US"/>
          </a:p>
        </p:txBody>
      </p:sp>
    </p:spTree>
    <p:extLst>
      <p:ext uri="{BB962C8B-B14F-4D97-AF65-F5344CB8AC3E}">
        <p14:creationId xmlns:p14="http://schemas.microsoft.com/office/powerpoint/2010/main" val="12495356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nice descriptive graph. What is it showing? Walk through (quickly) tests of IV validity – what tests did they do? Was the IV strong? </a:t>
            </a:r>
          </a:p>
        </p:txBody>
      </p:sp>
      <p:sp>
        <p:nvSpPr>
          <p:cNvPr id="4" name="Slide Number Placeholder 3"/>
          <p:cNvSpPr>
            <a:spLocks noGrp="1"/>
          </p:cNvSpPr>
          <p:nvPr>
            <p:ph type="sldNum" sz="quarter" idx="5"/>
          </p:nvPr>
        </p:nvSpPr>
        <p:spPr/>
        <p:txBody>
          <a:bodyPr/>
          <a:lstStyle/>
          <a:p>
            <a:fld id="{4AF79E1B-2C51-4B9B-8EA4-26DE9E345AFF}" type="slidenum">
              <a:rPr lang="en-US" smtClean="0"/>
              <a:t>18</a:t>
            </a:fld>
            <a:endParaRPr lang="en-US"/>
          </a:p>
        </p:txBody>
      </p:sp>
    </p:spTree>
    <p:extLst>
      <p:ext uri="{BB962C8B-B14F-4D97-AF65-F5344CB8AC3E}">
        <p14:creationId xmlns:p14="http://schemas.microsoft.com/office/powerpoint/2010/main" val="2025631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Binary dependent variables show up *all* the time in research. We’ve already seen them (and glossed over them) in lots of cases. Can anyone think of key examples (propensity score is a big one). </a:t>
            </a:r>
          </a:p>
        </p:txBody>
      </p:sp>
      <p:sp>
        <p:nvSpPr>
          <p:cNvPr id="4" name="Slide Number Placeholder 3"/>
          <p:cNvSpPr>
            <a:spLocks noGrp="1"/>
          </p:cNvSpPr>
          <p:nvPr>
            <p:ph type="sldNum" sz="quarter" idx="5"/>
          </p:nvPr>
        </p:nvSpPr>
        <p:spPr/>
        <p:txBody>
          <a:bodyPr/>
          <a:lstStyle/>
          <a:p>
            <a:fld id="{4AF79E1B-2C51-4B9B-8EA4-26DE9E345AFF}" type="slidenum">
              <a:rPr lang="en-US" smtClean="0"/>
              <a:t>20</a:t>
            </a:fld>
            <a:endParaRPr lang="en-US"/>
          </a:p>
        </p:txBody>
      </p:sp>
    </p:spTree>
    <p:extLst>
      <p:ext uri="{BB962C8B-B14F-4D97-AF65-F5344CB8AC3E}">
        <p14:creationId xmlns:p14="http://schemas.microsoft.com/office/powerpoint/2010/main" val="19367876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differences in pp versus %. Homework late grades are a good example. </a:t>
            </a:r>
          </a:p>
        </p:txBody>
      </p:sp>
      <p:sp>
        <p:nvSpPr>
          <p:cNvPr id="4" name="Slide Number Placeholder 3"/>
          <p:cNvSpPr>
            <a:spLocks noGrp="1"/>
          </p:cNvSpPr>
          <p:nvPr>
            <p:ph type="sldNum" sz="quarter" idx="5"/>
          </p:nvPr>
        </p:nvSpPr>
        <p:spPr/>
        <p:txBody>
          <a:bodyPr/>
          <a:lstStyle/>
          <a:p>
            <a:fld id="{4AF79E1B-2C51-4B9B-8EA4-26DE9E345AFF}" type="slidenum">
              <a:rPr lang="en-US" smtClean="0"/>
              <a:t>21</a:t>
            </a:fld>
            <a:endParaRPr lang="en-US"/>
          </a:p>
        </p:txBody>
      </p:sp>
    </p:spTree>
    <p:extLst>
      <p:ext uri="{BB962C8B-B14F-4D97-AF65-F5344CB8AC3E}">
        <p14:creationId xmlns:p14="http://schemas.microsoft.com/office/powerpoint/2010/main" val="36712281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Again, note that there is field idiosyncrasy in how people respond to LPMs. Economists = great, others = not. Really depends on your context (are you using for prediction, or just trying to get a simple ATE, or something in between?)</a:t>
            </a:r>
          </a:p>
          <a:p>
            <a:r>
              <a:rPr lang="en-US" dirty="0"/>
              <a:t>- Larger point here: some fields try to focus on getting one single parameter really well-identified (no mistakes allowed in methods), while others (econ) try to tell a more holistic story with multiple specifications. You can decide what’s good there. </a:t>
            </a:r>
          </a:p>
        </p:txBody>
      </p:sp>
      <p:sp>
        <p:nvSpPr>
          <p:cNvPr id="4" name="Slide Number Placeholder 3"/>
          <p:cNvSpPr>
            <a:spLocks noGrp="1"/>
          </p:cNvSpPr>
          <p:nvPr>
            <p:ph type="sldNum" sz="quarter" idx="5"/>
          </p:nvPr>
        </p:nvSpPr>
        <p:spPr/>
        <p:txBody>
          <a:bodyPr/>
          <a:lstStyle/>
          <a:p>
            <a:fld id="{4AF79E1B-2C51-4B9B-8EA4-26DE9E345AFF}" type="slidenum">
              <a:rPr lang="en-US" smtClean="0"/>
              <a:t>22</a:t>
            </a:fld>
            <a:endParaRPr lang="en-US"/>
          </a:p>
        </p:txBody>
      </p:sp>
    </p:spTree>
    <p:extLst>
      <p:ext uri="{BB962C8B-B14F-4D97-AF65-F5344CB8AC3E}">
        <p14:creationId xmlns:p14="http://schemas.microsoft.com/office/powerpoint/2010/main" val="21026496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might as well get in the habit of some kind of robust standard error anyway (remember for DID we cluster)</a:t>
            </a:r>
          </a:p>
        </p:txBody>
      </p:sp>
      <p:sp>
        <p:nvSpPr>
          <p:cNvPr id="4" name="Slide Number Placeholder 3"/>
          <p:cNvSpPr>
            <a:spLocks noGrp="1"/>
          </p:cNvSpPr>
          <p:nvPr>
            <p:ph type="sldNum" sz="quarter" idx="5"/>
          </p:nvPr>
        </p:nvSpPr>
        <p:spPr/>
        <p:txBody>
          <a:bodyPr/>
          <a:lstStyle/>
          <a:p>
            <a:fld id="{4AF79E1B-2C51-4B9B-8EA4-26DE9E345AFF}" type="slidenum">
              <a:rPr lang="en-US" smtClean="0"/>
              <a:t>23</a:t>
            </a:fld>
            <a:endParaRPr lang="en-US"/>
          </a:p>
        </p:txBody>
      </p:sp>
    </p:spTree>
    <p:extLst>
      <p:ext uri="{BB962C8B-B14F-4D97-AF65-F5344CB8AC3E}">
        <p14:creationId xmlns:p14="http://schemas.microsoft.com/office/powerpoint/2010/main" val="32648864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heteroskedasticity – the residuals (difference between prediction and actual) depend on X because X is only in (0,1). </a:t>
            </a:r>
          </a:p>
        </p:txBody>
      </p:sp>
      <p:sp>
        <p:nvSpPr>
          <p:cNvPr id="4" name="Slide Number Placeholder 3"/>
          <p:cNvSpPr>
            <a:spLocks noGrp="1"/>
          </p:cNvSpPr>
          <p:nvPr>
            <p:ph type="sldNum" sz="quarter" idx="5"/>
          </p:nvPr>
        </p:nvSpPr>
        <p:spPr/>
        <p:txBody>
          <a:bodyPr/>
          <a:lstStyle/>
          <a:p>
            <a:fld id="{4AF79E1B-2C51-4B9B-8EA4-26DE9E345AFF}" type="slidenum">
              <a:rPr lang="en-US" smtClean="0"/>
              <a:t>24</a:t>
            </a:fld>
            <a:endParaRPr lang="en-US"/>
          </a:p>
        </p:txBody>
      </p:sp>
    </p:spTree>
    <p:extLst>
      <p:ext uri="{BB962C8B-B14F-4D97-AF65-F5344CB8AC3E}">
        <p14:creationId xmlns:p14="http://schemas.microsoft.com/office/powerpoint/2010/main" val="32122960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OLS prediction to just a local mean across x – okay in middle, but notice that the slopes don’t flatten out at edge of range like we would want</a:t>
            </a:r>
          </a:p>
        </p:txBody>
      </p:sp>
      <p:sp>
        <p:nvSpPr>
          <p:cNvPr id="4" name="Slide Number Placeholder 3"/>
          <p:cNvSpPr>
            <a:spLocks noGrp="1"/>
          </p:cNvSpPr>
          <p:nvPr>
            <p:ph type="sldNum" sz="quarter" idx="5"/>
          </p:nvPr>
        </p:nvSpPr>
        <p:spPr/>
        <p:txBody>
          <a:bodyPr/>
          <a:lstStyle/>
          <a:p>
            <a:fld id="{4AF79E1B-2C51-4B9B-8EA4-26DE9E345AFF}" type="slidenum">
              <a:rPr lang="en-US" smtClean="0"/>
              <a:t>25</a:t>
            </a:fld>
            <a:endParaRPr lang="en-US"/>
          </a:p>
        </p:txBody>
      </p:sp>
    </p:spTree>
    <p:extLst>
      <p:ext uri="{BB962C8B-B14F-4D97-AF65-F5344CB8AC3E}">
        <p14:creationId xmlns:p14="http://schemas.microsoft.com/office/powerpoint/2010/main" val="31495505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that this is the true underlying DGP – probability of outcome needs to be between 0 and 1, will almost surely be continuous (note: how many straight lines fit the criteria that y(0)=0,y(1)=1, linear, and increasing? Only 1!</a:t>
            </a:r>
          </a:p>
        </p:txBody>
      </p:sp>
      <p:sp>
        <p:nvSpPr>
          <p:cNvPr id="4" name="Slide Number Placeholder 3"/>
          <p:cNvSpPr>
            <a:spLocks noGrp="1"/>
          </p:cNvSpPr>
          <p:nvPr>
            <p:ph type="sldNum" sz="quarter" idx="5"/>
          </p:nvPr>
        </p:nvSpPr>
        <p:spPr/>
        <p:txBody>
          <a:bodyPr/>
          <a:lstStyle/>
          <a:p>
            <a:fld id="{4AF79E1B-2C51-4B9B-8EA4-26DE9E345AFF}" type="slidenum">
              <a:rPr lang="en-US" smtClean="0"/>
              <a:t>26</a:t>
            </a:fld>
            <a:endParaRPr lang="en-US"/>
          </a:p>
        </p:txBody>
      </p:sp>
    </p:spTree>
    <p:extLst>
      <p:ext uri="{BB962C8B-B14F-4D97-AF65-F5344CB8AC3E}">
        <p14:creationId xmlns:p14="http://schemas.microsoft.com/office/powerpoint/2010/main" val="12412655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a linear probability model tries to do (hence, the problems). Note that this also shows the benefits (are we that far off?)</a:t>
            </a:r>
          </a:p>
        </p:txBody>
      </p:sp>
      <p:sp>
        <p:nvSpPr>
          <p:cNvPr id="4" name="Slide Number Placeholder 3"/>
          <p:cNvSpPr>
            <a:spLocks noGrp="1"/>
          </p:cNvSpPr>
          <p:nvPr>
            <p:ph type="sldNum" sz="quarter" idx="5"/>
          </p:nvPr>
        </p:nvSpPr>
        <p:spPr/>
        <p:txBody>
          <a:bodyPr/>
          <a:lstStyle/>
          <a:p>
            <a:fld id="{4AF79E1B-2C51-4B9B-8EA4-26DE9E345AFF}" type="slidenum">
              <a:rPr lang="en-US" smtClean="0"/>
              <a:t>27</a:t>
            </a:fld>
            <a:endParaRPr lang="en-US"/>
          </a:p>
        </p:txBody>
      </p:sp>
    </p:spTree>
    <p:extLst>
      <p:ext uri="{BB962C8B-B14F-4D97-AF65-F5344CB8AC3E}">
        <p14:creationId xmlns:p14="http://schemas.microsoft.com/office/powerpoint/2010/main" val="34934222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if we transform probabilities? Meh, still funky, but we’re getting closer! </a:t>
            </a:r>
          </a:p>
        </p:txBody>
      </p:sp>
      <p:sp>
        <p:nvSpPr>
          <p:cNvPr id="4" name="Slide Number Placeholder 3"/>
          <p:cNvSpPr>
            <a:spLocks noGrp="1"/>
          </p:cNvSpPr>
          <p:nvPr>
            <p:ph type="sldNum" sz="quarter" idx="5"/>
          </p:nvPr>
        </p:nvSpPr>
        <p:spPr/>
        <p:txBody>
          <a:bodyPr/>
          <a:lstStyle/>
          <a:p>
            <a:fld id="{4AF79E1B-2C51-4B9B-8EA4-26DE9E345AFF}" type="slidenum">
              <a:rPr lang="en-US" smtClean="0"/>
              <a:t>28</a:t>
            </a:fld>
            <a:endParaRPr lang="en-US"/>
          </a:p>
        </p:txBody>
      </p:sp>
    </p:spTree>
    <p:extLst>
      <p:ext uri="{BB962C8B-B14F-4D97-AF65-F5344CB8AC3E}">
        <p14:creationId xmlns:p14="http://schemas.microsoft.com/office/powerpoint/2010/main" val="40746719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Hey, now we’re getting somewhere! The trick was to transform the data in a specific way so that a (then) linear regression works. </a:t>
            </a:r>
          </a:p>
        </p:txBody>
      </p:sp>
      <p:sp>
        <p:nvSpPr>
          <p:cNvPr id="4" name="Slide Number Placeholder 3"/>
          <p:cNvSpPr>
            <a:spLocks noGrp="1"/>
          </p:cNvSpPr>
          <p:nvPr>
            <p:ph type="sldNum" sz="quarter" idx="5"/>
          </p:nvPr>
        </p:nvSpPr>
        <p:spPr/>
        <p:txBody>
          <a:bodyPr/>
          <a:lstStyle/>
          <a:p>
            <a:fld id="{4AF79E1B-2C51-4B9B-8EA4-26DE9E345AFF}" type="slidenum">
              <a:rPr lang="en-US" smtClean="0"/>
              <a:t>29</a:t>
            </a:fld>
            <a:endParaRPr lang="en-US"/>
          </a:p>
        </p:txBody>
      </p:sp>
    </p:spTree>
    <p:extLst>
      <p:ext uri="{BB962C8B-B14F-4D97-AF65-F5344CB8AC3E}">
        <p14:creationId xmlns:p14="http://schemas.microsoft.com/office/powerpoint/2010/main" val="3745802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Nonlinear functions! So we call this GLM (generalized linear models)</a:t>
            </a:r>
          </a:p>
        </p:txBody>
      </p:sp>
      <p:sp>
        <p:nvSpPr>
          <p:cNvPr id="4" name="Slide Number Placeholder 3"/>
          <p:cNvSpPr>
            <a:spLocks noGrp="1"/>
          </p:cNvSpPr>
          <p:nvPr>
            <p:ph type="sldNum" sz="quarter" idx="5"/>
          </p:nvPr>
        </p:nvSpPr>
        <p:spPr/>
        <p:txBody>
          <a:bodyPr/>
          <a:lstStyle/>
          <a:p>
            <a:fld id="{4AF79E1B-2C51-4B9B-8EA4-26DE9E345AFF}" type="slidenum">
              <a:rPr lang="en-US" smtClean="0"/>
              <a:t>30</a:t>
            </a:fld>
            <a:endParaRPr lang="en-US"/>
          </a:p>
        </p:txBody>
      </p:sp>
    </p:spTree>
    <p:extLst>
      <p:ext uri="{BB962C8B-B14F-4D97-AF65-F5344CB8AC3E}">
        <p14:creationId xmlns:p14="http://schemas.microsoft.com/office/powerpoint/2010/main" val="12532038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Specifically, a nonlinear “link” function coupled with a linear “index” function. So the index function is the linear (marginal effects) we want, and we wrap them in a transformation to handle the nonlinearity of the prediction. </a:t>
            </a:r>
          </a:p>
        </p:txBody>
      </p:sp>
      <p:sp>
        <p:nvSpPr>
          <p:cNvPr id="4" name="Slide Number Placeholder 3"/>
          <p:cNvSpPr>
            <a:spLocks noGrp="1"/>
          </p:cNvSpPr>
          <p:nvPr>
            <p:ph type="sldNum" sz="quarter" idx="5"/>
          </p:nvPr>
        </p:nvSpPr>
        <p:spPr/>
        <p:txBody>
          <a:bodyPr/>
          <a:lstStyle/>
          <a:p>
            <a:fld id="{4AF79E1B-2C51-4B9B-8EA4-26DE9E345AFF}" type="slidenum">
              <a:rPr lang="en-US" smtClean="0"/>
              <a:t>31</a:t>
            </a:fld>
            <a:endParaRPr lang="en-US"/>
          </a:p>
        </p:txBody>
      </p:sp>
    </p:spTree>
    <p:extLst>
      <p:ext uri="{BB962C8B-B14F-4D97-AF65-F5344CB8AC3E}">
        <p14:creationId xmlns:p14="http://schemas.microsoft.com/office/powerpoint/2010/main" val="39380218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Hit the GEE bit here – there are slight differences but we are definitely covering this. Here, F() is a piecewise function where F(D*)=1 if D*&gt;c, 0 otherwise</a:t>
            </a:r>
          </a:p>
        </p:txBody>
      </p:sp>
      <p:sp>
        <p:nvSpPr>
          <p:cNvPr id="4" name="Slide Number Placeholder 3"/>
          <p:cNvSpPr>
            <a:spLocks noGrp="1"/>
          </p:cNvSpPr>
          <p:nvPr>
            <p:ph type="sldNum" sz="quarter" idx="5"/>
          </p:nvPr>
        </p:nvSpPr>
        <p:spPr/>
        <p:txBody>
          <a:bodyPr/>
          <a:lstStyle/>
          <a:p>
            <a:fld id="{4AF79E1B-2C51-4B9B-8EA4-26DE9E345AFF}" type="slidenum">
              <a:rPr lang="en-US" smtClean="0"/>
              <a:t>32</a:t>
            </a:fld>
            <a:endParaRPr lang="en-US"/>
          </a:p>
        </p:txBody>
      </p:sp>
    </p:spTree>
    <p:extLst>
      <p:ext uri="{BB962C8B-B14F-4D97-AF65-F5344CB8AC3E}">
        <p14:creationId xmlns:p14="http://schemas.microsoft.com/office/powerpoint/2010/main" val="18525444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33</a:t>
            </a:fld>
            <a:endParaRPr lang="en-US"/>
          </a:p>
        </p:txBody>
      </p:sp>
    </p:spTree>
    <p:extLst>
      <p:ext uri="{BB962C8B-B14F-4D97-AF65-F5344CB8AC3E}">
        <p14:creationId xmlns:p14="http://schemas.microsoft.com/office/powerpoint/2010/main" val="3824756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link functions can we use?</a:t>
            </a:r>
          </a:p>
        </p:txBody>
      </p:sp>
      <p:sp>
        <p:nvSpPr>
          <p:cNvPr id="4" name="Slide Number Placeholder 3"/>
          <p:cNvSpPr>
            <a:spLocks noGrp="1"/>
          </p:cNvSpPr>
          <p:nvPr>
            <p:ph type="sldNum" sz="quarter" idx="5"/>
          </p:nvPr>
        </p:nvSpPr>
        <p:spPr/>
        <p:txBody>
          <a:bodyPr/>
          <a:lstStyle/>
          <a:p>
            <a:fld id="{4AF79E1B-2C51-4B9B-8EA4-26DE9E345AFF}" type="slidenum">
              <a:rPr lang="en-US" smtClean="0"/>
              <a:t>34</a:t>
            </a:fld>
            <a:endParaRPr lang="en-US"/>
          </a:p>
        </p:txBody>
      </p:sp>
    </p:spTree>
    <p:extLst>
      <p:ext uri="{BB962C8B-B14F-4D97-AF65-F5344CB8AC3E}">
        <p14:creationId xmlns:p14="http://schemas.microsoft.com/office/powerpoint/2010/main" val="2858551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35</a:t>
            </a:fld>
            <a:endParaRPr lang="en-US"/>
          </a:p>
        </p:txBody>
      </p:sp>
    </p:spTree>
    <p:extLst>
      <p:ext uri="{BB962C8B-B14F-4D97-AF65-F5344CB8AC3E}">
        <p14:creationId xmlns:p14="http://schemas.microsoft.com/office/powerpoint/2010/main" val="25358631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phi is the normal </a:t>
            </a:r>
            <a:r>
              <a:rPr lang="en-US" dirty="0" err="1"/>
              <a:t>cdf</a:t>
            </a:r>
            <a:r>
              <a:rPr lang="en-US" dirty="0"/>
              <a:t> for the standard normal (probability that </a:t>
            </a:r>
            <a:r>
              <a:rPr lang="en-US" dirty="0" err="1"/>
              <a:t>i</a:t>
            </a:r>
            <a:r>
              <a:rPr lang="en-US" dirty="0"/>
              <a:t> is &lt;= </a:t>
            </a:r>
            <a:r>
              <a:rPr lang="en-US" dirty="0" err="1"/>
              <a:t>i</a:t>
            </a:r>
            <a:r>
              <a:rPr lang="en-US" dirty="0"/>
              <a:t>)</a:t>
            </a:r>
          </a:p>
        </p:txBody>
      </p:sp>
      <p:sp>
        <p:nvSpPr>
          <p:cNvPr id="4" name="Slide Number Placeholder 3"/>
          <p:cNvSpPr>
            <a:spLocks noGrp="1"/>
          </p:cNvSpPr>
          <p:nvPr>
            <p:ph type="sldNum" sz="quarter" idx="5"/>
          </p:nvPr>
        </p:nvSpPr>
        <p:spPr/>
        <p:txBody>
          <a:bodyPr/>
          <a:lstStyle/>
          <a:p>
            <a:fld id="{4AF79E1B-2C51-4B9B-8EA4-26DE9E345AFF}" type="slidenum">
              <a:rPr lang="en-US" smtClean="0"/>
              <a:t>36</a:t>
            </a:fld>
            <a:endParaRPr lang="en-US"/>
          </a:p>
        </p:txBody>
      </p:sp>
    </p:spTree>
    <p:extLst>
      <p:ext uri="{BB962C8B-B14F-4D97-AF65-F5344CB8AC3E}">
        <p14:creationId xmlns:p14="http://schemas.microsoft.com/office/powerpoint/2010/main" val="331999776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F(b_1) isn’t necessarily the same across x</a:t>
            </a:r>
          </a:p>
        </p:txBody>
      </p:sp>
      <p:sp>
        <p:nvSpPr>
          <p:cNvPr id="4" name="Slide Number Placeholder 3"/>
          <p:cNvSpPr>
            <a:spLocks noGrp="1"/>
          </p:cNvSpPr>
          <p:nvPr>
            <p:ph type="sldNum" sz="quarter" idx="5"/>
          </p:nvPr>
        </p:nvSpPr>
        <p:spPr/>
        <p:txBody>
          <a:bodyPr/>
          <a:lstStyle/>
          <a:p>
            <a:fld id="{4AF79E1B-2C51-4B9B-8EA4-26DE9E345AFF}" type="slidenum">
              <a:rPr lang="en-US" smtClean="0"/>
              <a:t>37</a:t>
            </a:fld>
            <a:endParaRPr lang="en-US"/>
          </a:p>
        </p:txBody>
      </p:sp>
    </p:spTree>
    <p:extLst>
      <p:ext uri="{BB962C8B-B14F-4D97-AF65-F5344CB8AC3E}">
        <p14:creationId xmlns:p14="http://schemas.microsoft.com/office/powerpoint/2010/main" val="25440210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976DB-B838-5984-075C-B5521AA4AE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368BEA-C56E-0277-B628-3376A835C3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7F604B-1D3C-886A-FCF6-B4E1577818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005069-9297-7333-23C1-4F183C83EEEF}"/>
              </a:ext>
            </a:extLst>
          </p:cNvPr>
          <p:cNvSpPr>
            <a:spLocks noGrp="1"/>
          </p:cNvSpPr>
          <p:nvPr>
            <p:ph type="sldNum" sz="quarter" idx="5"/>
          </p:nvPr>
        </p:nvSpPr>
        <p:spPr/>
        <p:txBody>
          <a:bodyPr/>
          <a:lstStyle/>
          <a:p>
            <a:fld id="{4AF79E1B-2C51-4B9B-8EA4-26DE9E345AFF}" type="slidenum">
              <a:rPr lang="en-US" smtClean="0"/>
              <a:t>39</a:t>
            </a:fld>
            <a:endParaRPr lang="en-US"/>
          </a:p>
        </p:txBody>
      </p:sp>
    </p:spTree>
    <p:extLst>
      <p:ext uri="{BB962C8B-B14F-4D97-AF65-F5344CB8AC3E}">
        <p14:creationId xmlns:p14="http://schemas.microsoft.com/office/powerpoint/2010/main" val="394487592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40</a:t>
            </a:fld>
            <a:endParaRPr lang="en-US"/>
          </a:p>
        </p:txBody>
      </p:sp>
    </p:spTree>
    <p:extLst>
      <p:ext uri="{BB962C8B-B14F-4D97-AF65-F5344CB8AC3E}">
        <p14:creationId xmlns:p14="http://schemas.microsoft.com/office/powerpoint/2010/main" val="124671496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that? Have to look it up every time I use one. </a:t>
            </a:r>
          </a:p>
        </p:txBody>
      </p:sp>
      <p:sp>
        <p:nvSpPr>
          <p:cNvPr id="4" name="Slide Number Placeholder 3"/>
          <p:cNvSpPr>
            <a:spLocks noGrp="1"/>
          </p:cNvSpPr>
          <p:nvPr>
            <p:ph type="sldNum" sz="quarter" idx="5"/>
          </p:nvPr>
        </p:nvSpPr>
        <p:spPr/>
        <p:txBody>
          <a:bodyPr/>
          <a:lstStyle/>
          <a:p>
            <a:fld id="{4AF79E1B-2C51-4B9B-8EA4-26DE9E345AFF}" type="slidenum">
              <a:rPr lang="en-US" smtClean="0"/>
              <a:t>41</a:t>
            </a:fld>
            <a:endParaRPr lang="en-US"/>
          </a:p>
        </p:txBody>
      </p:sp>
    </p:spTree>
    <p:extLst>
      <p:ext uri="{BB962C8B-B14F-4D97-AF65-F5344CB8AC3E}">
        <p14:creationId xmlns:p14="http://schemas.microsoft.com/office/powerpoint/2010/main" val="365169634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use a two-way frequency table to calculate these (ish). So here’s the example: does a new program affect 30-day readmission rates (binary outcome), with an RCT (so no identification concerns) for program adherence. </a:t>
            </a:r>
          </a:p>
        </p:txBody>
      </p:sp>
      <p:sp>
        <p:nvSpPr>
          <p:cNvPr id="4" name="Slide Number Placeholder 3"/>
          <p:cNvSpPr>
            <a:spLocks noGrp="1"/>
          </p:cNvSpPr>
          <p:nvPr>
            <p:ph type="sldNum" sz="quarter" idx="5"/>
          </p:nvPr>
        </p:nvSpPr>
        <p:spPr/>
        <p:txBody>
          <a:bodyPr/>
          <a:lstStyle/>
          <a:p>
            <a:fld id="{4AF79E1B-2C51-4B9B-8EA4-26DE9E345AFF}" type="slidenum">
              <a:rPr lang="en-US" smtClean="0"/>
              <a:t>42</a:t>
            </a:fld>
            <a:endParaRPr lang="en-US"/>
          </a:p>
        </p:txBody>
      </p:sp>
    </p:spTree>
    <p:extLst>
      <p:ext uri="{BB962C8B-B14F-4D97-AF65-F5344CB8AC3E}">
        <p14:creationId xmlns:p14="http://schemas.microsoft.com/office/powerpoint/2010/main" val="38552067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you still have to transform regression coefficients just to get this (less useful) measure. So suppose our log odds is -0.2 (so then our OR = 0.82). So we can say that readmission rates are lower for those randomized into the program vs. not. But what does this mean magnitude-wise? </a:t>
            </a:r>
          </a:p>
        </p:txBody>
      </p:sp>
      <p:sp>
        <p:nvSpPr>
          <p:cNvPr id="4" name="Slide Number Placeholder 3"/>
          <p:cNvSpPr>
            <a:spLocks noGrp="1"/>
          </p:cNvSpPr>
          <p:nvPr>
            <p:ph type="sldNum" sz="quarter" idx="5"/>
          </p:nvPr>
        </p:nvSpPr>
        <p:spPr/>
        <p:txBody>
          <a:bodyPr/>
          <a:lstStyle/>
          <a:p>
            <a:fld id="{4AF79E1B-2C51-4B9B-8EA4-26DE9E345AFF}" type="slidenum">
              <a:rPr lang="en-US" smtClean="0"/>
              <a:t>43</a:t>
            </a:fld>
            <a:endParaRPr lang="en-US"/>
          </a:p>
        </p:txBody>
      </p:sp>
    </p:spTree>
    <p:extLst>
      <p:ext uri="{BB962C8B-B14F-4D97-AF65-F5344CB8AC3E}">
        <p14:creationId xmlns:p14="http://schemas.microsoft.com/office/powerpoint/2010/main" val="376154437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Problems with odds ratios: </a:t>
            </a:r>
          </a:p>
          <a:p>
            <a:pPr marL="171450" indent="-171450">
              <a:buFont typeface="Arial" panose="020B0604020202020204" pitchFamily="34" charset="0"/>
              <a:buChar char="•"/>
            </a:pPr>
            <a:r>
              <a:rPr lang="en-US" dirty="0"/>
              <a:t>The data affects the scaling here (scaling factor is exp(\beta/\sigma)), so different data/models means </a:t>
            </a:r>
            <a:r>
              <a:rPr lang="en-US" dirty="0" err="1"/>
              <a:t>uncomparable</a:t>
            </a:r>
            <a:r>
              <a:rPr lang="en-US" dirty="0"/>
              <a:t> coefficients. This is a big problem for meta-analyses! </a:t>
            </a:r>
          </a:p>
          <a:p>
            <a:pPr marL="171450" indent="-171450">
              <a:buFont typeface="Arial" panose="020B0604020202020204" pitchFamily="34" charset="0"/>
              <a:buChar char="•"/>
            </a:pPr>
            <a:r>
              <a:rPr lang="en-US" dirty="0"/>
              <a:t>Can’t even compare odds ratios across models in a paper!</a:t>
            </a:r>
          </a:p>
          <a:p>
            <a:pPr marL="171450" indent="-171450">
              <a:buFont typeface="Arial" panose="020B0604020202020204" pitchFamily="34" charset="0"/>
              <a:buChar char="•"/>
            </a:pPr>
            <a:r>
              <a:rPr lang="en-US" dirty="0"/>
              <a:t>Might work okay(?) for descriptive work, but certainly not for causal work</a:t>
            </a:r>
          </a:p>
          <a:p>
            <a:pPr marL="171450" indent="-171450">
              <a:buFont typeface="Arial" panose="020B0604020202020204" pitchFamily="34" charset="0"/>
              <a:buChar char="•"/>
            </a:pPr>
            <a:r>
              <a:rPr lang="en-US" dirty="0"/>
              <a:t>Example: in a perfect RCT, the treatment effect doesn’t depend on if you include covariates or not (because there is absolutely no correlation between treatment assignment and other covariates)</a:t>
            </a:r>
          </a:p>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44</a:t>
            </a:fld>
            <a:endParaRPr lang="en-US"/>
          </a:p>
        </p:txBody>
      </p:sp>
    </p:spTree>
    <p:extLst>
      <p:ext uri="{BB962C8B-B14F-4D97-AF65-F5344CB8AC3E}">
        <p14:creationId xmlns:p14="http://schemas.microsoft.com/office/powerpoint/2010/main" val="79563199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 Odds ratios are hard to interpret</a:t>
            </a:r>
          </a:p>
        </p:txBody>
      </p:sp>
      <p:sp>
        <p:nvSpPr>
          <p:cNvPr id="4" name="Slide Number Placeholder 3"/>
          <p:cNvSpPr>
            <a:spLocks noGrp="1"/>
          </p:cNvSpPr>
          <p:nvPr>
            <p:ph type="sldNum" sz="quarter" idx="5"/>
          </p:nvPr>
        </p:nvSpPr>
        <p:spPr/>
        <p:txBody>
          <a:bodyPr/>
          <a:lstStyle/>
          <a:p>
            <a:fld id="{4AF79E1B-2C51-4B9B-8EA4-26DE9E345AFF}" type="slidenum">
              <a:rPr lang="en-US" smtClean="0"/>
              <a:t>45</a:t>
            </a:fld>
            <a:endParaRPr lang="en-US"/>
          </a:p>
        </p:txBody>
      </p:sp>
    </p:spTree>
    <p:extLst>
      <p:ext uri="{BB962C8B-B14F-4D97-AF65-F5344CB8AC3E}">
        <p14:creationId xmlns:p14="http://schemas.microsoft.com/office/powerpoint/2010/main" val="294364350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A904D-4B60-EE89-59D9-9B4629F8F4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676BEF-961D-3907-030D-A8318BC568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1FC5A1-0327-C94F-B40A-03C0709A2EC9}"/>
              </a:ext>
            </a:extLst>
          </p:cNvPr>
          <p:cNvSpPr>
            <a:spLocks noGrp="1"/>
          </p:cNvSpPr>
          <p:nvPr>
            <p:ph type="body" idx="1"/>
          </p:nvPr>
        </p:nvSpPr>
        <p:spPr/>
        <p:txBody>
          <a:bodyPr/>
          <a:lstStyle/>
          <a:p>
            <a:r>
              <a:rPr lang="en-CA" dirty="0"/>
              <a:t>2. Odds ratios can’t be compared across data/models/papers! This is the problem of </a:t>
            </a:r>
            <a:r>
              <a:rPr lang="en-CA" b="1" dirty="0"/>
              <a:t>non-collapsibility. </a:t>
            </a:r>
          </a:p>
          <a:p>
            <a:r>
              <a:rPr lang="en-CA" b="1" dirty="0"/>
              <a:t>- Do code first, then come back to this after running through the code. </a:t>
            </a:r>
            <a:endParaRPr lang="en-CA" dirty="0"/>
          </a:p>
        </p:txBody>
      </p:sp>
      <p:sp>
        <p:nvSpPr>
          <p:cNvPr id="4" name="Slide Number Placeholder 3">
            <a:extLst>
              <a:ext uri="{FF2B5EF4-FFF2-40B4-BE49-F238E27FC236}">
                <a16:creationId xmlns:a16="http://schemas.microsoft.com/office/drawing/2014/main" id="{C0B29A48-7C3A-4270-56D7-0B79AD7F9E72}"/>
              </a:ext>
            </a:extLst>
          </p:cNvPr>
          <p:cNvSpPr>
            <a:spLocks noGrp="1"/>
          </p:cNvSpPr>
          <p:nvPr>
            <p:ph type="sldNum" sz="quarter" idx="5"/>
          </p:nvPr>
        </p:nvSpPr>
        <p:spPr/>
        <p:txBody>
          <a:bodyPr/>
          <a:lstStyle/>
          <a:p>
            <a:fld id="{4AF79E1B-2C51-4B9B-8EA4-26DE9E345AFF}" type="slidenum">
              <a:rPr lang="en-US" smtClean="0"/>
              <a:t>46</a:t>
            </a:fld>
            <a:endParaRPr lang="en-US"/>
          </a:p>
        </p:txBody>
      </p:sp>
    </p:spTree>
    <p:extLst>
      <p:ext uri="{BB962C8B-B14F-4D97-AF65-F5344CB8AC3E}">
        <p14:creationId xmlns:p14="http://schemas.microsoft.com/office/powerpoint/2010/main" val="4167839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PICK UP HERE *** (with some slides to </a:t>
            </a:r>
            <a:r>
              <a:rPr lang="en-US"/>
              <a:t>refresh memory) Given </a:t>
            </a:r>
            <a:r>
              <a:rPr lang="en-US" dirty="0"/>
              <a:t>this link function, what is the partial derivative?</a:t>
            </a:r>
          </a:p>
        </p:txBody>
      </p:sp>
      <p:sp>
        <p:nvSpPr>
          <p:cNvPr id="4" name="Slide Number Placeholder 3"/>
          <p:cNvSpPr>
            <a:spLocks noGrp="1"/>
          </p:cNvSpPr>
          <p:nvPr>
            <p:ph type="sldNum" sz="quarter" idx="5"/>
          </p:nvPr>
        </p:nvSpPr>
        <p:spPr/>
        <p:txBody>
          <a:bodyPr/>
          <a:lstStyle/>
          <a:p>
            <a:fld id="{4AF79E1B-2C51-4B9B-8EA4-26DE9E345AFF}" type="slidenum">
              <a:rPr lang="en-US" smtClean="0"/>
              <a:t>47</a:t>
            </a:fld>
            <a:endParaRPr lang="en-US"/>
          </a:p>
        </p:txBody>
      </p:sp>
    </p:spTree>
    <p:extLst>
      <p:ext uri="{BB962C8B-B14F-4D97-AF65-F5344CB8AC3E}">
        <p14:creationId xmlns:p14="http://schemas.microsoft.com/office/powerpoint/2010/main" val="203896184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48</a:t>
            </a:fld>
            <a:endParaRPr lang="en-US"/>
          </a:p>
        </p:txBody>
      </p:sp>
    </p:spTree>
    <p:extLst>
      <p:ext uri="{BB962C8B-B14F-4D97-AF65-F5344CB8AC3E}">
        <p14:creationId xmlns:p14="http://schemas.microsoft.com/office/powerpoint/2010/main" val="416297673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MEM is easier to calculate and interpret, but AME is considered to be more appropriate (it takes into account how variables are correlated, and doesn’t produce an ME for something that doesn’t exist – like someone with 2.3 kids, for example). </a:t>
            </a:r>
          </a:p>
          <a:p>
            <a:r>
              <a:rPr lang="en-US" dirty="0"/>
              <a:t>When using R, keep track of ME for BMI or smoker for each model. </a:t>
            </a:r>
          </a:p>
        </p:txBody>
      </p:sp>
      <p:sp>
        <p:nvSpPr>
          <p:cNvPr id="4" name="Slide Number Placeholder 3"/>
          <p:cNvSpPr>
            <a:spLocks noGrp="1"/>
          </p:cNvSpPr>
          <p:nvPr>
            <p:ph type="sldNum" sz="quarter" idx="5"/>
          </p:nvPr>
        </p:nvSpPr>
        <p:spPr/>
        <p:txBody>
          <a:bodyPr/>
          <a:lstStyle/>
          <a:p>
            <a:fld id="{4AF79E1B-2C51-4B9B-8EA4-26DE9E345AFF}" type="slidenum">
              <a:rPr lang="en-US" smtClean="0"/>
              <a:t>49</a:t>
            </a:fld>
            <a:endParaRPr lang="en-US"/>
          </a:p>
        </p:txBody>
      </p:sp>
    </p:spTree>
    <p:extLst>
      <p:ext uri="{BB962C8B-B14F-4D97-AF65-F5344CB8AC3E}">
        <p14:creationId xmlns:p14="http://schemas.microsoft.com/office/powerpoint/2010/main" val="271131566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Can’t use the F test because the test statistic no longer has an F distribution under the null hypothesis because of the link function. Easy to do in R.</a:t>
            </a:r>
          </a:p>
        </p:txBody>
      </p:sp>
      <p:sp>
        <p:nvSpPr>
          <p:cNvPr id="4" name="Slide Number Placeholder 3"/>
          <p:cNvSpPr>
            <a:spLocks noGrp="1"/>
          </p:cNvSpPr>
          <p:nvPr>
            <p:ph type="sldNum" sz="quarter" idx="5"/>
          </p:nvPr>
        </p:nvSpPr>
        <p:spPr/>
        <p:txBody>
          <a:bodyPr/>
          <a:lstStyle/>
          <a:p>
            <a:fld id="{4AF79E1B-2C51-4B9B-8EA4-26DE9E345AFF}" type="slidenum">
              <a:rPr lang="en-US" smtClean="0"/>
              <a:t>51</a:t>
            </a:fld>
            <a:endParaRPr lang="en-US"/>
          </a:p>
        </p:txBody>
      </p:sp>
    </p:spTree>
    <p:extLst>
      <p:ext uri="{BB962C8B-B14F-4D97-AF65-F5344CB8AC3E}">
        <p14:creationId xmlns:p14="http://schemas.microsoft.com/office/powerpoint/2010/main" val="222517474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In a linear model, d2/dx1dx2 = d/d(x1x2) = beta_x1x2. But in a nonlinear model, the estimating equation is Phi(b1x2+b2x2+gamma(x1x2)+…), so the cross partial is gamma Phi’() + (beta_1+gamma x2)(beta_2 + gamma x1) Phi’’(), not the simple gamma Phi’(). One immediate takeaway here: if gamma = =0, the cross partial could still be nonzero (could still be an interaction effect!). Another note </a:t>
            </a:r>
            <a:r>
              <a:rPr lang="en-US"/>
              <a:t>from Wooldridge: https://twitter.com/jmwooldridge/status/1594542775189606400?s=12&amp;t=sQpjyPWgoSWS_PAStprl3Q</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52</a:t>
            </a:fld>
            <a:endParaRPr lang="en-US"/>
          </a:p>
        </p:txBody>
      </p:sp>
    </p:spTree>
    <p:extLst>
      <p:ext uri="{BB962C8B-B14F-4D97-AF65-F5344CB8AC3E}">
        <p14:creationId xmlns:p14="http://schemas.microsoft.com/office/powerpoint/2010/main" val="9182165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53</a:t>
            </a:fld>
            <a:endParaRPr lang="en-US"/>
          </a:p>
        </p:txBody>
      </p:sp>
    </p:spTree>
    <p:extLst>
      <p:ext uri="{BB962C8B-B14F-4D97-AF65-F5344CB8AC3E}">
        <p14:creationId xmlns:p14="http://schemas.microsoft.com/office/powerpoint/2010/main" val="49435425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54</a:t>
            </a:fld>
            <a:endParaRPr lang="en-US"/>
          </a:p>
        </p:txBody>
      </p:sp>
    </p:spTree>
    <p:extLst>
      <p:ext uri="{BB962C8B-B14F-4D97-AF65-F5344CB8AC3E}">
        <p14:creationId xmlns:p14="http://schemas.microsoft.com/office/powerpoint/2010/main" val="183110648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55</a:t>
            </a:fld>
            <a:endParaRPr lang="en-US"/>
          </a:p>
        </p:txBody>
      </p:sp>
    </p:spTree>
    <p:extLst>
      <p:ext uri="{BB962C8B-B14F-4D97-AF65-F5344CB8AC3E}">
        <p14:creationId xmlns:p14="http://schemas.microsoft.com/office/powerpoint/2010/main" val="222615794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0" i="0" dirty="0">
                <a:solidFill>
                  <a:srgbClr val="222222"/>
                </a:solidFill>
                <a:effectLst/>
                <a:latin typeface="Source Sans Pro" panose="020B0503030403020204" pitchFamily="34" charset="0"/>
              </a:rPr>
              <a:t>This is based off of Wooldridge 2010 : (1) Estimate the first stage using nonlinear regression (logit) and get predicted values. (2) Instead of sticking predicted values into the second stage, use them </a:t>
            </a:r>
            <a:r>
              <a:rPr lang="en-US" b="0" i="1" dirty="0">
                <a:solidFill>
                  <a:srgbClr val="222222"/>
                </a:solidFill>
                <a:effectLst/>
                <a:latin typeface="Source Sans Pro" panose="020B0503030403020204" pitchFamily="34" charset="0"/>
              </a:rPr>
              <a:t>in place of the instrument</a:t>
            </a:r>
            <a:r>
              <a:rPr lang="en-US" b="0" i="0" dirty="0">
                <a:solidFill>
                  <a:srgbClr val="222222"/>
                </a:solidFill>
                <a:effectLst/>
                <a:latin typeface="Source Sans Pro" panose="020B0503030403020204" pitchFamily="34" charset="0"/>
              </a:rPr>
              <a:t> in 2SLS. You’ll look at this a little bit in the problem set. Under this process, the nonlinearity no longer biases the estimate, and we get more precise estimates than if we’d run a linear probability model.</a:t>
            </a:r>
          </a:p>
          <a:p>
            <a:endParaRPr lang="en-US" dirty="0"/>
          </a:p>
          <a:p>
            <a:pPr algn="l" fontAlgn="base"/>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56</a:t>
            </a:fld>
            <a:endParaRPr lang="en-US"/>
          </a:p>
        </p:txBody>
      </p:sp>
    </p:spTree>
    <p:extLst>
      <p:ext uri="{BB962C8B-B14F-4D97-AF65-F5344CB8AC3E}">
        <p14:creationId xmlns:p14="http://schemas.microsoft.com/office/powerpoint/2010/main" val="10672766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US" b="0" i="0" dirty="0">
                <a:solidFill>
                  <a:srgbClr val="222222"/>
                </a:solidFill>
                <a:effectLst/>
                <a:latin typeface="Source Sans Pro" panose="020B0503030403020204" pitchFamily="34" charset="0"/>
              </a:rPr>
              <a:t>Deferring the mechanics of this. </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57</a:t>
            </a:fld>
            <a:endParaRPr lang="en-US"/>
          </a:p>
        </p:txBody>
      </p:sp>
    </p:spTree>
    <p:extLst>
      <p:ext uri="{BB962C8B-B14F-4D97-AF65-F5344CB8AC3E}">
        <p14:creationId xmlns:p14="http://schemas.microsoft.com/office/powerpoint/2010/main" val="108486264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about notation here. </a:t>
            </a:r>
          </a:p>
        </p:txBody>
      </p:sp>
      <p:sp>
        <p:nvSpPr>
          <p:cNvPr id="4" name="Slide Number Placeholder 3"/>
          <p:cNvSpPr>
            <a:spLocks noGrp="1"/>
          </p:cNvSpPr>
          <p:nvPr>
            <p:ph type="sldNum" sz="quarter" idx="5"/>
          </p:nvPr>
        </p:nvSpPr>
        <p:spPr/>
        <p:txBody>
          <a:bodyPr/>
          <a:lstStyle/>
          <a:p>
            <a:fld id="{4AF79E1B-2C51-4B9B-8EA4-26DE9E345AFF}" type="slidenum">
              <a:rPr lang="en-US" smtClean="0"/>
              <a:t>59</a:t>
            </a:fld>
            <a:endParaRPr lang="en-US"/>
          </a:p>
        </p:txBody>
      </p:sp>
    </p:spTree>
    <p:extLst>
      <p:ext uri="{BB962C8B-B14F-4D97-AF65-F5344CB8AC3E}">
        <p14:creationId xmlns:p14="http://schemas.microsoft.com/office/powerpoint/2010/main" val="294782592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suppose that each of these coefficients is a tilde variable – the parameter of interest is delta. Identified by dividing the reduced-form coefficient of donor 2’s phone call by the reduced-form coefficient of donor 1’s phone call</a:t>
            </a:r>
          </a:p>
        </p:txBody>
      </p:sp>
      <p:sp>
        <p:nvSpPr>
          <p:cNvPr id="4" name="Slide Number Placeholder 3"/>
          <p:cNvSpPr>
            <a:spLocks noGrp="1"/>
          </p:cNvSpPr>
          <p:nvPr>
            <p:ph type="sldNum" sz="quarter" idx="5"/>
          </p:nvPr>
        </p:nvSpPr>
        <p:spPr/>
        <p:txBody>
          <a:bodyPr/>
          <a:lstStyle/>
          <a:p>
            <a:fld id="{4AF79E1B-2C51-4B9B-8EA4-26DE9E345AFF}" type="slidenum">
              <a:rPr lang="en-US" smtClean="0"/>
              <a:t>60</a:t>
            </a:fld>
            <a:endParaRPr lang="en-US"/>
          </a:p>
        </p:txBody>
      </p:sp>
    </p:spTree>
    <p:extLst>
      <p:ext uri="{BB962C8B-B14F-4D97-AF65-F5344CB8AC3E}">
        <p14:creationId xmlns:p14="http://schemas.microsoft.com/office/powerpoint/2010/main" val="121149186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won’t talk much about the bivariate </a:t>
            </a:r>
            <a:r>
              <a:rPr lang="en-US" dirty="0" err="1"/>
              <a:t>probit</a:t>
            </a:r>
            <a:r>
              <a:rPr lang="en-US" dirty="0"/>
              <a:t>. </a:t>
            </a:r>
          </a:p>
        </p:txBody>
      </p:sp>
      <p:sp>
        <p:nvSpPr>
          <p:cNvPr id="4" name="Slide Number Placeholder 3"/>
          <p:cNvSpPr>
            <a:spLocks noGrp="1"/>
          </p:cNvSpPr>
          <p:nvPr>
            <p:ph type="sldNum" sz="quarter" idx="5"/>
          </p:nvPr>
        </p:nvSpPr>
        <p:spPr/>
        <p:txBody>
          <a:bodyPr/>
          <a:lstStyle/>
          <a:p>
            <a:fld id="{4AF79E1B-2C51-4B9B-8EA4-26DE9E345AFF}" type="slidenum">
              <a:rPr lang="en-US" smtClean="0"/>
              <a:t>61</a:t>
            </a:fld>
            <a:endParaRPr lang="en-US"/>
          </a:p>
        </p:txBody>
      </p:sp>
    </p:spTree>
    <p:extLst>
      <p:ext uri="{BB962C8B-B14F-4D97-AF65-F5344CB8AC3E}">
        <p14:creationId xmlns:p14="http://schemas.microsoft.com/office/powerpoint/2010/main" val="245695502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Cut out some of the middle of the table here. Note that we can say something about relative magnitudes and sizes – but no marginal effects (need to look at Appendix A.5 for that)</a:t>
            </a:r>
          </a:p>
        </p:txBody>
      </p:sp>
      <p:sp>
        <p:nvSpPr>
          <p:cNvPr id="4" name="Slide Number Placeholder 3"/>
          <p:cNvSpPr>
            <a:spLocks noGrp="1"/>
          </p:cNvSpPr>
          <p:nvPr>
            <p:ph type="sldNum" sz="quarter" idx="5"/>
          </p:nvPr>
        </p:nvSpPr>
        <p:spPr/>
        <p:txBody>
          <a:bodyPr/>
          <a:lstStyle/>
          <a:p>
            <a:fld id="{4AF79E1B-2C51-4B9B-8EA4-26DE9E345AFF}" type="slidenum">
              <a:rPr lang="en-US" smtClean="0"/>
              <a:t>62</a:t>
            </a:fld>
            <a:endParaRPr lang="en-US"/>
          </a:p>
        </p:txBody>
      </p:sp>
    </p:spTree>
    <p:extLst>
      <p:ext uri="{BB962C8B-B14F-4D97-AF65-F5344CB8AC3E}">
        <p14:creationId xmlns:p14="http://schemas.microsoft.com/office/powerpoint/2010/main" val="287342768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these effects are not very comparable – how do we put them in context together? Baseline of 8.7 is 30 percentage points (29%). The 46% is a 5 percentage point increase. Do we really believe that the spillover effects are larger? </a:t>
            </a:r>
          </a:p>
        </p:txBody>
      </p:sp>
      <p:sp>
        <p:nvSpPr>
          <p:cNvPr id="4" name="Slide Number Placeholder 3"/>
          <p:cNvSpPr>
            <a:spLocks noGrp="1"/>
          </p:cNvSpPr>
          <p:nvPr>
            <p:ph type="sldNum" sz="quarter" idx="5"/>
          </p:nvPr>
        </p:nvSpPr>
        <p:spPr/>
        <p:txBody>
          <a:bodyPr/>
          <a:lstStyle/>
          <a:p>
            <a:fld id="{4AF79E1B-2C51-4B9B-8EA4-26DE9E345AFF}" type="slidenum">
              <a:rPr lang="en-US" smtClean="0"/>
              <a:t>63</a:t>
            </a:fld>
            <a:endParaRPr lang="en-US"/>
          </a:p>
        </p:txBody>
      </p:sp>
    </p:spTree>
    <p:extLst>
      <p:ext uri="{BB962C8B-B14F-4D97-AF65-F5344CB8AC3E}">
        <p14:creationId xmlns:p14="http://schemas.microsoft.com/office/powerpoint/2010/main" val="420813275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issues: data came from people already registered as blood donors? Do you believe the phone call over the letter/text? Is this convenience or is it altruism (does it matter)? </a:t>
            </a:r>
          </a:p>
        </p:txBody>
      </p:sp>
      <p:sp>
        <p:nvSpPr>
          <p:cNvPr id="4" name="Slide Number Placeholder 3"/>
          <p:cNvSpPr>
            <a:spLocks noGrp="1"/>
          </p:cNvSpPr>
          <p:nvPr>
            <p:ph type="sldNum" sz="quarter" idx="5"/>
          </p:nvPr>
        </p:nvSpPr>
        <p:spPr/>
        <p:txBody>
          <a:bodyPr/>
          <a:lstStyle/>
          <a:p>
            <a:fld id="{4AF79E1B-2C51-4B9B-8EA4-26DE9E345AFF}" type="slidenum">
              <a:rPr lang="en-US" smtClean="0"/>
              <a:t>64</a:t>
            </a:fld>
            <a:endParaRPr lang="en-US"/>
          </a:p>
        </p:txBody>
      </p:sp>
    </p:spTree>
    <p:extLst>
      <p:ext uri="{BB962C8B-B14F-4D97-AF65-F5344CB8AC3E}">
        <p14:creationId xmlns:p14="http://schemas.microsoft.com/office/powerpoint/2010/main" val="332795846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where we’re headed next time (or now if we have time!) Note that we have 2-3 case studies (since there are no readings) next week!</a:t>
            </a:r>
          </a:p>
        </p:txBody>
      </p:sp>
      <p:sp>
        <p:nvSpPr>
          <p:cNvPr id="4" name="Slide Number Placeholder 3"/>
          <p:cNvSpPr>
            <a:spLocks noGrp="1"/>
          </p:cNvSpPr>
          <p:nvPr>
            <p:ph type="sldNum" sz="quarter" idx="5"/>
          </p:nvPr>
        </p:nvSpPr>
        <p:spPr/>
        <p:txBody>
          <a:bodyPr/>
          <a:lstStyle/>
          <a:p>
            <a:fld id="{4AF79E1B-2C51-4B9B-8EA4-26DE9E345AFF}" type="slidenum">
              <a:rPr lang="en-US" smtClean="0"/>
              <a:t>65</a:t>
            </a:fld>
            <a:endParaRPr lang="en-US"/>
          </a:p>
        </p:txBody>
      </p:sp>
    </p:spTree>
    <p:extLst>
      <p:ext uri="{BB962C8B-B14F-4D97-AF65-F5344CB8AC3E}">
        <p14:creationId xmlns:p14="http://schemas.microsoft.com/office/powerpoint/2010/main" val="208349941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67</a:t>
            </a:fld>
            <a:endParaRPr lang="en-US"/>
          </a:p>
        </p:txBody>
      </p:sp>
    </p:spTree>
    <p:extLst>
      <p:ext uri="{BB962C8B-B14F-4D97-AF65-F5344CB8AC3E}">
        <p14:creationId xmlns:p14="http://schemas.microsoft.com/office/powerpoint/2010/main" val="54504851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68</a:t>
            </a:fld>
            <a:endParaRPr lang="en-US"/>
          </a:p>
        </p:txBody>
      </p:sp>
    </p:spTree>
    <p:extLst>
      <p:ext uri="{BB962C8B-B14F-4D97-AF65-F5344CB8AC3E}">
        <p14:creationId xmlns:p14="http://schemas.microsoft.com/office/powerpoint/2010/main" val="97266428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feature: low counts, far from normal. Hurdle Poisson takes into account the fact that we may not see people with 0 job changes in our data. We’ll get to that. </a:t>
            </a:r>
          </a:p>
        </p:txBody>
      </p:sp>
      <p:sp>
        <p:nvSpPr>
          <p:cNvPr id="4" name="Slide Number Placeholder 3"/>
          <p:cNvSpPr>
            <a:spLocks noGrp="1"/>
          </p:cNvSpPr>
          <p:nvPr>
            <p:ph type="sldNum" sz="quarter" idx="5"/>
          </p:nvPr>
        </p:nvSpPr>
        <p:spPr/>
        <p:txBody>
          <a:bodyPr/>
          <a:lstStyle/>
          <a:p>
            <a:fld id="{4AF79E1B-2C51-4B9B-8EA4-26DE9E345AFF}" type="slidenum">
              <a:rPr lang="en-US" smtClean="0"/>
              <a:t>69</a:t>
            </a:fld>
            <a:endParaRPr lang="en-US"/>
          </a:p>
        </p:txBody>
      </p:sp>
    </p:spTree>
    <p:extLst>
      <p:ext uri="{BB962C8B-B14F-4D97-AF65-F5344CB8AC3E}">
        <p14:creationId xmlns:p14="http://schemas.microsoft.com/office/powerpoint/2010/main" val="386911092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Poisson distribution over data in class</a:t>
            </a:r>
          </a:p>
        </p:txBody>
      </p:sp>
      <p:sp>
        <p:nvSpPr>
          <p:cNvPr id="4" name="Slide Number Placeholder 3"/>
          <p:cNvSpPr>
            <a:spLocks noGrp="1"/>
          </p:cNvSpPr>
          <p:nvPr>
            <p:ph type="sldNum" sz="quarter" idx="5"/>
          </p:nvPr>
        </p:nvSpPr>
        <p:spPr/>
        <p:txBody>
          <a:bodyPr/>
          <a:lstStyle/>
          <a:p>
            <a:fld id="{4AF79E1B-2C51-4B9B-8EA4-26DE9E345AFF}" type="slidenum">
              <a:rPr lang="en-US" smtClean="0"/>
              <a:t>70</a:t>
            </a:fld>
            <a:endParaRPr lang="en-US"/>
          </a:p>
        </p:txBody>
      </p:sp>
    </p:spTree>
    <p:extLst>
      <p:ext uri="{BB962C8B-B14F-4D97-AF65-F5344CB8AC3E}">
        <p14:creationId xmlns:p14="http://schemas.microsoft.com/office/powerpoint/2010/main" val="123989582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Likelihood function looks weird, but remember we just need a linear index function (our regression, bottom right of equation) and a pdf as our link function.</a:t>
            </a:r>
          </a:p>
        </p:txBody>
      </p:sp>
      <p:sp>
        <p:nvSpPr>
          <p:cNvPr id="4" name="Slide Number Placeholder 3"/>
          <p:cNvSpPr>
            <a:spLocks noGrp="1"/>
          </p:cNvSpPr>
          <p:nvPr>
            <p:ph type="sldNum" sz="quarter" idx="5"/>
          </p:nvPr>
        </p:nvSpPr>
        <p:spPr/>
        <p:txBody>
          <a:bodyPr/>
          <a:lstStyle/>
          <a:p>
            <a:fld id="{4AF79E1B-2C51-4B9B-8EA4-26DE9E345AFF}" type="slidenum">
              <a:rPr lang="en-US" smtClean="0"/>
              <a:t>71</a:t>
            </a:fld>
            <a:endParaRPr lang="en-US"/>
          </a:p>
        </p:txBody>
      </p:sp>
    </p:spTree>
    <p:extLst>
      <p:ext uri="{BB962C8B-B14F-4D97-AF65-F5344CB8AC3E}">
        <p14:creationId xmlns:p14="http://schemas.microsoft.com/office/powerpoint/2010/main" val="148068014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drop the last term in maximization – doesn’t matter because it doesn’t depend on beta. </a:t>
            </a:r>
          </a:p>
        </p:txBody>
      </p:sp>
      <p:sp>
        <p:nvSpPr>
          <p:cNvPr id="4" name="Slide Number Placeholder 3"/>
          <p:cNvSpPr>
            <a:spLocks noGrp="1"/>
          </p:cNvSpPr>
          <p:nvPr>
            <p:ph type="sldNum" sz="quarter" idx="5"/>
          </p:nvPr>
        </p:nvSpPr>
        <p:spPr/>
        <p:txBody>
          <a:bodyPr/>
          <a:lstStyle/>
          <a:p>
            <a:fld id="{4AF79E1B-2C51-4B9B-8EA4-26DE9E345AFF}" type="slidenum">
              <a:rPr lang="en-US" smtClean="0"/>
              <a:t>72</a:t>
            </a:fld>
            <a:endParaRPr lang="en-US"/>
          </a:p>
        </p:txBody>
      </p:sp>
    </p:spTree>
    <p:extLst>
      <p:ext uri="{BB962C8B-B14F-4D97-AF65-F5344CB8AC3E}">
        <p14:creationId xmlns:p14="http://schemas.microsoft.com/office/powerpoint/2010/main" val="357725099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73</a:t>
            </a:fld>
            <a:endParaRPr lang="en-US"/>
          </a:p>
        </p:txBody>
      </p:sp>
    </p:spTree>
    <p:extLst>
      <p:ext uri="{BB962C8B-B14F-4D97-AF65-F5344CB8AC3E}">
        <p14:creationId xmlns:p14="http://schemas.microsoft.com/office/powerpoint/2010/main" val="299805470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You’re using the Poisson pdf here, and getting a semi-elasticity! So 100 </a:t>
            </a:r>
            <a:r>
              <a:rPr lang="en-US" dirty="0" err="1"/>
              <a:t>beta_j</a:t>
            </a:r>
            <a:r>
              <a:rPr lang="en-US" dirty="0"/>
              <a:t> is approximately the percentage change. Here it really is percent increase, not percentage points (because this is essentially a log transform)! </a:t>
            </a:r>
          </a:p>
        </p:txBody>
      </p:sp>
      <p:sp>
        <p:nvSpPr>
          <p:cNvPr id="4" name="Slide Number Placeholder 3"/>
          <p:cNvSpPr>
            <a:spLocks noGrp="1"/>
          </p:cNvSpPr>
          <p:nvPr>
            <p:ph type="sldNum" sz="quarter" idx="5"/>
          </p:nvPr>
        </p:nvSpPr>
        <p:spPr/>
        <p:txBody>
          <a:bodyPr/>
          <a:lstStyle/>
          <a:p>
            <a:fld id="{4AF79E1B-2C51-4B9B-8EA4-26DE9E345AFF}" type="slidenum">
              <a:rPr lang="en-US" smtClean="0"/>
              <a:t>74</a:t>
            </a:fld>
            <a:endParaRPr lang="en-US"/>
          </a:p>
        </p:txBody>
      </p:sp>
    </p:spTree>
    <p:extLst>
      <p:ext uri="{BB962C8B-B14F-4D97-AF65-F5344CB8AC3E}">
        <p14:creationId xmlns:p14="http://schemas.microsoft.com/office/powerpoint/2010/main" val="165070680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 </a:t>
            </a:r>
            <a:r>
              <a:rPr lang="en-US" dirty="0" err="1"/>
              <a:t>ppmlhdfe</a:t>
            </a:r>
            <a:r>
              <a:rPr lang="en-US" dirty="0"/>
              <a:t> help page in </a:t>
            </a:r>
            <a:r>
              <a:rPr lang="en-US" dirty="0" err="1"/>
              <a:t>Github</a:t>
            </a:r>
            <a:r>
              <a:rPr lang="en-US" dirty="0"/>
              <a:t>? </a:t>
            </a:r>
          </a:p>
        </p:txBody>
      </p:sp>
      <p:sp>
        <p:nvSpPr>
          <p:cNvPr id="4" name="Slide Number Placeholder 3"/>
          <p:cNvSpPr>
            <a:spLocks noGrp="1"/>
          </p:cNvSpPr>
          <p:nvPr>
            <p:ph type="sldNum" sz="quarter" idx="5"/>
          </p:nvPr>
        </p:nvSpPr>
        <p:spPr/>
        <p:txBody>
          <a:bodyPr/>
          <a:lstStyle/>
          <a:p>
            <a:fld id="{4AF79E1B-2C51-4B9B-8EA4-26DE9E345AFF}" type="slidenum">
              <a:rPr lang="en-US" smtClean="0"/>
              <a:t>75</a:t>
            </a:fld>
            <a:endParaRPr lang="en-US"/>
          </a:p>
        </p:txBody>
      </p:sp>
    </p:spTree>
    <p:extLst>
      <p:ext uri="{BB962C8B-B14F-4D97-AF65-F5344CB8AC3E}">
        <p14:creationId xmlns:p14="http://schemas.microsoft.com/office/powerpoint/2010/main" val="118166256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Overdispersion is likely since we know e(x) is small – otherwise, why would be doing </a:t>
            </a:r>
            <a:r>
              <a:rPr lang="en-US" dirty="0" err="1"/>
              <a:t>poisson</a:t>
            </a:r>
            <a:r>
              <a:rPr lang="en-US" dirty="0"/>
              <a:t> in the first place?</a:t>
            </a:r>
          </a:p>
        </p:txBody>
      </p:sp>
      <p:sp>
        <p:nvSpPr>
          <p:cNvPr id="4" name="Slide Number Placeholder 3"/>
          <p:cNvSpPr>
            <a:spLocks noGrp="1"/>
          </p:cNvSpPr>
          <p:nvPr>
            <p:ph type="sldNum" sz="quarter" idx="5"/>
          </p:nvPr>
        </p:nvSpPr>
        <p:spPr/>
        <p:txBody>
          <a:bodyPr/>
          <a:lstStyle/>
          <a:p>
            <a:fld id="{4AF79E1B-2C51-4B9B-8EA4-26DE9E345AFF}" type="slidenum">
              <a:rPr lang="en-US" smtClean="0"/>
              <a:t>76</a:t>
            </a:fld>
            <a:endParaRPr lang="en-US"/>
          </a:p>
        </p:txBody>
      </p:sp>
    </p:spTree>
    <p:extLst>
      <p:ext uri="{BB962C8B-B14F-4D97-AF65-F5344CB8AC3E}">
        <p14:creationId xmlns:p14="http://schemas.microsoft.com/office/powerpoint/2010/main" val="227002207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Negative binomial adds an additional variance parameter. Doesn’t really matter unless you are doing a complicated model and need to reduce parameters. </a:t>
            </a:r>
          </a:p>
        </p:txBody>
      </p:sp>
      <p:sp>
        <p:nvSpPr>
          <p:cNvPr id="4" name="Slide Number Placeholder 3"/>
          <p:cNvSpPr>
            <a:spLocks noGrp="1"/>
          </p:cNvSpPr>
          <p:nvPr>
            <p:ph type="sldNum" sz="quarter" idx="5"/>
          </p:nvPr>
        </p:nvSpPr>
        <p:spPr/>
        <p:txBody>
          <a:bodyPr/>
          <a:lstStyle/>
          <a:p>
            <a:fld id="{4AF79E1B-2C51-4B9B-8EA4-26DE9E345AFF}" type="slidenum">
              <a:rPr lang="en-US" smtClean="0"/>
              <a:t>77</a:t>
            </a:fld>
            <a:endParaRPr lang="en-US"/>
          </a:p>
        </p:txBody>
      </p:sp>
    </p:spTree>
    <p:extLst>
      <p:ext uri="{BB962C8B-B14F-4D97-AF65-F5344CB8AC3E}">
        <p14:creationId xmlns:p14="http://schemas.microsoft.com/office/powerpoint/2010/main" val="49304713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It’s not as big a deal as </a:t>
            </a:r>
            <a:r>
              <a:rPr lang="en-US" dirty="0" err="1"/>
              <a:t>yo</a:t>
            </a:r>
            <a:r>
              <a:rPr lang="en-US" dirty="0"/>
              <a:t> </a:t>
            </a:r>
            <a:r>
              <a:rPr lang="en-US" dirty="0" err="1"/>
              <a:t>umight</a:t>
            </a:r>
            <a:r>
              <a:rPr lang="en-US" dirty="0"/>
              <a:t> have heard. Negative binomial adds an additional variance parameter. Doesn’t really matter unless you are doing a complicated model and need to reduce parameters. </a:t>
            </a:r>
          </a:p>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78</a:t>
            </a:fld>
            <a:endParaRPr lang="en-US"/>
          </a:p>
        </p:txBody>
      </p:sp>
    </p:spTree>
    <p:extLst>
      <p:ext uri="{BB962C8B-B14F-4D97-AF65-F5344CB8AC3E}">
        <p14:creationId xmlns:p14="http://schemas.microsoft.com/office/powerpoint/2010/main" val="398327868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is table 1 a helpful descriptive? How can it be better? Main mechanism is distance! Possible that it could be beneficial if you close low-quality hospitals (average quality increases). They are assuming that hospital closures are exogenous to patients (good assumption or not?)</a:t>
            </a:r>
          </a:p>
        </p:txBody>
      </p:sp>
      <p:sp>
        <p:nvSpPr>
          <p:cNvPr id="4" name="Slide Number Placeholder 3"/>
          <p:cNvSpPr>
            <a:spLocks noGrp="1"/>
          </p:cNvSpPr>
          <p:nvPr>
            <p:ph type="sldNum" sz="quarter" idx="5"/>
          </p:nvPr>
        </p:nvSpPr>
        <p:spPr/>
        <p:txBody>
          <a:bodyPr/>
          <a:lstStyle/>
          <a:p>
            <a:fld id="{4AF79E1B-2C51-4B9B-8EA4-26DE9E345AFF}" type="slidenum">
              <a:rPr lang="en-US" smtClean="0"/>
              <a:t>79</a:t>
            </a:fld>
            <a:endParaRPr lang="en-US"/>
          </a:p>
        </p:txBody>
      </p:sp>
    </p:spTree>
    <p:extLst>
      <p:ext uri="{BB962C8B-B14F-4D97-AF65-F5344CB8AC3E}">
        <p14:creationId xmlns:p14="http://schemas.microsoft.com/office/powerpoint/2010/main" val="192085039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is table 1 a helpful descriptive? How can it be better? Main mechanism is distance! Possible that it could be beneficial if you close low-quality hospitals (average quality increases). They are assuming that hospital closures are exogenous to patients (good assumption or not?)</a:t>
            </a:r>
          </a:p>
        </p:txBody>
      </p:sp>
      <p:sp>
        <p:nvSpPr>
          <p:cNvPr id="4" name="Slide Number Placeholder 3"/>
          <p:cNvSpPr>
            <a:spLocks noGrp="1"/>
          </p:cNvSpPr>
          <p:nvPr>
            <p:ph type="sldNum" sz="quarter" idx="5"/>
          </p:nvPr>
        </p:nvSpPr>
        <p:spPr/>
        <p:txBody>
          <a:bodyPr/>
          <a:lstStyle/>
          <a:p>
            <a:fld id="{4AF79E1B-2C51-4B9B-8EA4-26DE9E345AFF}" type="slidenum">
              <a:rPr lang="en-US" smtClean="0"/>
              <a:t>80</a:t>
            </a:fld>
            <a:endParaRPr lang="en-US"/>
          </a:p>
        </p:txBody>
      </p:sp>
    </p:spTree>
    <p:extLst>
      <p:ext uri="{BB962C8B-B14F-4D97-AF65-F5344CB8AC3E}">
        <p14:creationId xmlns:p14="http://schemas.microsoft.com/office/powerpoint/2010/main" val="250980746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is table 1 a helpful descriptive? How can it be better? Main mechanism is distance! Possible that it could be beneficial if you close low-quality hospitals (average quality increases). The data seems </a:t>
            </a:r>
            <a:r>
              <a:rPr lang="en-US" dirty="0" err="1"/>
              <a:t>usefu</a:t>
            </a:r>
            <a:r>
              <a:rPr lang="en-US" dirty="0"/>
              <a:t> </a:t>
            </a:r>
            <a:r>
              <a:rPr lang="en-US" dirty="0" err="1"/>
              <a:t>lin</a:t>
            </a:r>
            <a:r>
              <a:rPr lang="en-US" dirty="0"/>
              <a:t> the sense hat it allows to separate out two things: where people are getting care, </a:t>
            </a:r>
            <a:r>
              <a:rPr lang="en-US" dirty="0" err="1"/>
              <a:t>nd</a:t>
            </a:r>
            <a:r>
              <a:rPr lang="en-US" dirty="0"/>
              <a:t> where care might be most valuable (AMI) </a:t>
            </a:r>
          </a:p>
        </p:txBody>
      </p:sp>
      <p:sp>
        <p:nvSpPr>
          <p:cNvPr id="4" name="Slide Number Placeholder 3"/>
          <p:cNvSpPr>
            <a:spLocks noGrp="1"/>
          </p:cNvSpPr>
          <p:nvPr>
            <p:ph type="sldNum" sz="quarter" idx="5"/>
          </p:nvPr>
        </p:nvSpPr>
        <p:spPr/>
        <p:txBody>
          <a:bodyPr/>
          <a:lstStyle/>
          <a:p>
            <a:fld id="{4AF79E1B-2C51-4B9B-8EA4-26DE9E345AFF}" type="slidenum">
              <a:rPr lang="en-US" smtClean="0"/>
              <a:t>81</a:t>
            </a:fld>
            <a:endParaRPr lang="en-US"/>
          </a:p>
        </p:txBody>
      </p:sp>
    </p:spTree>
    <p:extLst>
      <p:ext uri="{BB962C8B-B14F-4D97-AF65-F5344CB8AC3E}">
        <p14:creationId xmlns:p14="http://schemas.microsoft.com/office/powerpoint/2010/main" val="105311600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are assuming that hospital closures are exogenous to patients (good assumption or not – areas might be very different?) Control group is those in areas without closures.</a:t>
            </a:r>
          </a:p>
        </p:txBody>
      </p:sp>
      <p:sp>
        <p:nvSpPr>
          <p:cNvPr id="4" name="Slide Number Placeholder 3"/>
          <p:cNvSpPr>
            <a:spLocks noGrp="1"/>
          </p:cNvSpPr>
          <p:nvPr>
            <p:ph type="sldNum" sz="quarter" idx="5"/>
          </p:nvPr>
        </p:nvSpPr>
        <p:spPr/>
        <p:txBody>
          <a:bodyPr/>
          <a:lstStyle/>
          <a:p>
            <a:fld id="{4AF79E1B-2C51-4B9B-8EA4-26DE9E345AFF}" type="slidenum">
              <a:rPr lang="en-US" smtClean="0"/>
              <a:t>82</a:t>
            </a:fld>
            <a:endParaRPr lang="en-US"/>
          </a:p>
        </p:txBody>
      </p:sp>
    </p:spTree>
    <p:extLst>
      <p:ext uri="{BB962C8B-B14F-4D97-AF65-F5344CB8AC3E}">
        <p14:creationId xmlns:p14="http://schemas.microsoft.com/office/powerpoint/2010/main" val="309293650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interpret these results? </a:t>
            </a:r>
          </a:p>
        </p:txBody>
      </p:sp>
      <p:sp>
        <p:nvSpPr>
          <p:cNvPr id="4" name="Slide Number Placeholder 3"/>
          <p:cNvSpPr>
            <a:spLocks noGrp="1"/>
          </p:cNvSpPr>
          <p:nvPr>
            <p:ph type="sldNum" sz="quarter" idx="5"/>
          </p:nvPr>
        </p:nvSpPr>
        <p:spPr/>
        <p:txBody>
          <a:bodyPr/>
          <a:lstStyle/>
          <a:p>
            <a:fld id="{4AF79E1B-2C51-4B9B-8EA4-26DE9E345AFF}" type="slidenum">
              <a:rPr lang="en-US" smtClean="0"/>
              <a:t>83</a:t>
            </a:fld>
            <a:endParaRPr lang="en-US"/>
          </a:p>
        </p:txBody>
      </p:sp>
    </p:spTree>
    <p:extLst>
      <p:ext uri="{BB962C8B-B14F-4D97-AF65-F5344CB8AC3E}">
        <p14:creationId xmlns:p14="http://schemas.microsoft.com/office/powerpoint/2010/main" val="71166592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interpret these results? (Review; how would these change if we used logit/</a:t>
            </a:r>
            <a:r>
              <a:rPr lang="en-US" dirty="0" err="1"/>
              <a:t>probit</a:t>
            </a:r>
            <a:r>
              <a:rPr lang="en-US" dirty="0"/>
              <a:t>)? </a:t>
            </a:r>
          </a:p>
        </p:txBody>
      </p:sp>
      <p:sp>
        <p:nvSpPr>
          <p:cNvPr id="4" name="Slide Number Placeholder 3"/>
          <p:cNvSpPr>
            <a:spLocks noGrp="1"/>
          </p:cNvSpPr>
          <p:nvPr>
            <p:ph type="sldNum" sz="quarter" idx="5"/>
          </p:nvPr>
        </p:nvSpPr>
        <p:spPr/>
        <p:txBody>
          <a:bodyPr/>
          <a:lstStyle/>
          <a:p>
            <a:fld id="{4AF79E1B-2C51-4B9B-8EA4-26DE9E345AFF}" type="slidenum">
              <a:rPr lang="en-US" smtClean="0"/>
              <a:t>84</a:t>
            </a:fld>
            <a:endParaRPr lang="en-US"/>
          </a:p>
        </p:txBody>
      </p:sp>
    </p:spTree>
    <p:extLst>
      <p:ext uri="{BB962C8B-B14F-4D97-AF65-F5344CB8AC3E}">
        <p14:creationId xmlns:p14="http://schemas.microsoft.com/office/powerpoint/2010/main" val="90363890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interpret these results? Notice the title is helpful here – plus look at that note! But we have very small death counts here, and are the results significant? Not really talking about significance here or in the paper. </a:t>
            </a:r>
          </a:p>
        </p:txBody>
      </p:sp>
      <p:sp>
        <p:nvSpPr>
          <p:cNvPr id="4" name="Slide Number Placeholder 3"/>
          <p:cNvSpPr>
            <a:spLocks noGrp="1"/>
          </p:cNvSpPr>
          <p:nvPr>
            <p:ph type="sldNum" sz="quarter" idx="5"/>
          </p:nvPr>
        </p:nvSpPr>
        <p:spPr/>
        <p:txBody>
          <a:bodyPr/>
          <a:lstStyle/>
          <a:p>
            <a:fld id="{4AF79E1B-2C51-4B9B-8EA4-26DE9E345AFF}" type="slidenum">
              <a:rPr lang="en-US" smtClean="0"/>
              <a:t>85</a:t>
            </a:fld>
            <a:endParaRPr lang="en-US"/>
          </a:p>
        </p:txBody>
      </p:sp>
    </p:spTree>
    <p:extLst>
      <p:ext uri="{BB962C8B-B14F-4D97-AF65-F5344CB8AC3E}">
        <p14:creationId xmlns:p14="http://schemas.microsoft.com/office/powerpoint/2010/main" val="321875364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interpret these results? Specification/robustness checks: what concerns are we addressing here? Mostly checking the mechanisms – are mortality results driven by lack of ER access. Panel D is the funkiest. What is panel E attempting to do (take into account differences in treated vs. control group)</a:t>
            </a:r>
          </a:p>
        </p:txBody>
      </p:sp>
      <p:sp>
        <p:nvSpPr>
          <p:cNvPr id="4" name="Slide Number Placeholder 3"/>
          <p:cNvSpPr>
            <a:spLocks noGrp="1"/>
          </p:cNvSpPr>
          <p:nvPr>
            <p:ph type="sldNum" sz="quarter" idx="5"/>
          </p:nvPr>
        </p:nvSpPr>
        <p:spPr/>
        <p:txBody>
          <a:bodyPr/>
          <a:lstStyle/>
          <a:p>
            <a:fld id="{4AF79E1B-2C51-4B9B-8EA4-26DE9E345AFF}" type="slidenum">
              <a:rPr lang="en-US" smtClean="0"/>
              <a:t>86</a:t>
            </a:fld>
            <a:endParaRPr lang="en-US"/>
          </a:p>
        </p:txBody>
      </p:sp>
    </p:spTree>
    <p:extLst>
      <p:ext uri="{BB962C8B-B14F-4D97-AF65-F5344CB8AC3E}">
        <p14:creationId xmlns:p14="http://schemas.microsoft.com/office/powerpoint/2010/main" val="334032193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of my concerns – what are these negative trends from the closure? Reporting error? I don’t like the data. Would have liked to see some figures. </a:t>
            </a:r>
          </a:p>
        </p:txBody>
      </p:sp>
      <p:sp>
        <p:nvSpPr>
          <p:cNvPr id="4" name="Slide Number Placeholder 3"/>
          <p:cNvSpPr>
            <a:spLocks noGrp="1"/>
          </p:cNvSpPr>
          <p:nvPr>
            <p:ph type="sldNum" sz="quarter" idx="5"/>
          </p:nvPr>
        </p:nvSpPr>
        <p:spPr/>
        <p:txBody>
          <a:bodyPr/>
          <a:lstStyle/>
          <a:p>
            <a:fld id="{4AF79E1B-2C51-4B9B-8EA4-26DE9E345AFF}" type="slidenum">
              <a:rPr lang="en-US" smtClean="0"/>
              <a:t>87</a:t>
            </a:fld>
            <a:endParaRPr lang="en-US"/>
          </a:p>
        </p:txBody>
      </p:sp>
    </p:spTree>
    <p:extLst>
      <p:ext uri="{BB962C8B-B14F-4D97-AF65-F5344CB8AC3E}">
        <p14:creationId xmlns:p14="http://schemas.microsoft.com/office/powerpoint/2010/main" val="356983313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if you have time? </a:t>
            </a:r>
          </a:p>
        </p:txBody>
      </p:sp>
      <p:sp>
        <p:nvSpPr>
          <p:cNvPr id="4" name="Slide Number Placeholder 3"/>
          <p:cNvSpPr>
            <a:spLocks noGrp="1"/>
          </p:cNvSpPr>
          <p:nvPr>
            <p:ph type="sldNum" sz="quarter" idx="5"/>
          </p:nvPr>
        </p:nvSpPr>
        <p:spPr/>
        <p:txBody>
          <a:bodyPr/>
          <a:lstStyle/>
          <a:p>
            <a:fld id="{4AF79E1B-2C51-4B9B-8EA4-26DE9E345AFF}" type="slidenum">
              <a:rPr lang="en-US" smtClean="0"/>
              <a:t>88</a:t>
            </a:fld>
            <a:endParaRPr lang="en-US"/>
          </a:p>
        </p:txBody>
      </p:sp>
    </p:spTree>
    <p:extLst>
      <p:ext uri="{BB962C8B-B14F-4D97-AF65-F5344CB8AC3E}">
        <p14:creationId xmlns:p14="http://schemas.microsoft.com/office/powerpoint/2010/main" val="368409395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of likelihood: </a:t>
            </a:r>
            <a:r>
              <a:rPr lang="en-US" sz="1200" dirty="0">
                <a:cs typeface="Times New Roman" panose="02020603050405020304" pitchFamily="18" charset="0"/>
              </a:rPr>
              <a:t>For example, if your model estimates that a coin has a .6 chance of being heads, then two observations of heads followed by one observation of tails has a likelihood of , i.e. a .144 chance of occurring. 0.6 is the “hyperparameter” governing the likelihood, which you test for based on your data and model. </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89</a:t>
            </a:fld>
            <a:endParaRPr lang="en-US"/>
          </a:p>
        </p:txBody>
      </p:sp>
    </p:spTree>
    <p:extLst>
      <p:ext uri="{BB962C8B-B14F-4D97-AF65-F5344CB8AC3E}">
        <p14:creationId xmlns:p14="http://schemas.microsoft.com/office/powerpoint/2010/main" val="84980737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come from some old slides – all of our estimation so far uses MOM (or GMM). </a:t>
            </a:r>
          </a:p>
        </p:txBody>
      </p:sp>
      <p:sp>
        <p:nvSpPr>
          <p:cNvPr id="4" name="Slide Number Placeholder 3"/>
          <p:cNvSpPr>
            <a:spLocks noGrp="1"/>
          </p:cNvSpPr>
          <p:nvPr>
            <p:ph type="sldNum" sz="quarter" idx="5"/>
          </p:nvPr>
        </p:nvSpPr>
        <p:spPr/>
        <p:txBody>
          <a:bodyPr/>
          <a:lstStyle/>
          <a:p>
            <a:fld id="{4AF79E1B-2C51-4B9B-8EA4-26DE9E345AFF}" type="slidenum">
              <a:rPr lang="en-US" smtClean="0"/>
              <a:t>90</a:t>
            </a:fld>
            <a:endParaRPr lang="en-US"/>
          </a:p>
        </p:txBody>
      </p:sp>
    </p:spTree>
    <p:extLst>
      <p:ext uri="{BB962C8B-B14F-4D97-AF65-F5344CB8AC3E}">
        <p14:creationId xmlns:p14="http://schemas.microsoft.com/office/powerpoint/2010/main" val="257273321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going to be estimating how our data fits various distributions today – these can be done with MOM (provided there are enough conditions and few enough parameters)</a:t>
            </a:r>
          </a:p>
        </p:txBody>
      </p:sp>
      <p:sp>
        <p:nvSpPr>
          <p:cNvPr id="4" name="Slide Number Placeholder 3"/>
          <p:cNvSpPr>
            <a:spLocks noGrp="1"/>
          </p:cNvSpPr>
          <p:nvPr>
            <p:ph type="sldNum" sz="quarter" idx="5"/>
          </p:nvPr>
        </p:nvSpPr>
        <p:spPr/>
        <p:txBody>
          <a:bodyPr/>
          <a:lstStyle/>
          <a:p>
            <a:fld id="{4AF79E1B-2C51-4B9B-8EA4-26DE9E345AFF}" type="slidenum">
              <a:rPr lang="en-US" smtClean="0"/>
              <a:t>91</a:t>
            </a:fld>
            <a:endParaRPr lang="en-US"/>
          </a:p>
        </p:txBody>
      </p:sp>
    </p:spTree>
    <p:extLst>
      <p:ext uri="{BB962C8B-B14F-4D97-AF65-F5344CB8AC3E}">
        <p14:creationId xmlns:p14="http://schemas.microsoft.com/office/powerpoint/2010/main" val="29623247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going to be estimating how our data fits various distributions today – these can be done with MOM (provided there are enough conditions and few enough parameters)</a:t>
            </a:r>
          </a:p>
        </p:txBody>
      </p:sp>
      <p:sp>
        <p:nvSpPr>
          <p:cNvPr id="4" name="Slide Number Placeholder 3"/>
          <p:cNvSpPr>
            <a:spLocks noGrp="1"/>
          </p:cNvSpPr>
          <p:nvPr>
            <p:ph type="sldNum" sz="quarter" idx="5"/>
          </p:nvPr>
        </p:nvSpPr>
        <p:spPr/>
        <p:txBody>
          <a:bodyPr/>
          <a:lstStyle/>
          <a:p>
            <a:fld id="{4AF79E1B-2C51-4B9B-8EA4-26DE9E345AFF}" type="slidenum">
              <a:rPr lang="en-US" smtClean="0"/>
              <a:t>92</a:t>
            </a:fld>
            <a:endParaRPr lang="en-US"/>
          </a:p>
        </p:txBody>
      </p:sp>
    </p:spTree>
    <p:extLst>
      <p:ext uri="{BB962C8B-B14F-4D97-AF65-F5344CB8AC3E}">
        <p14:creationId xmlns:p14="http://schemas.microsoft.com/office/powerpoint/2010/main" val="366981278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drawback of MOM is that using the first m moments doesn’t use the full distribution of data. This might matter more as distributions get more non-normal, hence MLE was developed. </a:t>
            </a:r>
          </a:p>
        </p:txBody>
      </p:sp>
      <p:sp>
        <p:nvSpPr>
          <p:cNvPr id="4" name="Slide Number Placeholder 3"/>
          <p:cNvSpPr>
            <a:spLocks noGrp="1"/>
          </p:cNvSpPr>
          <p:nvPr>
            <p:ph type="sldNum" sz="quarter" idx="5"/>
          </p:nvPr>
        </p:nvSpPr>
        <p:spPr/>
        <p:txBody>
          <a:bodyPr/>
          <a:lstStyle/>
          <a:p>
            <a:fld id="{4AF79E1B-2C51-4B9B-8EA4-26DE9E345AFF}" type="slidenum">
              <a:rPr lang="en-US" smtClean="0"/>
              <a:t>93</a:t>
            </a:fld>
            <a:endParaRPr lang="en-US"/>
          </a:p>
        </p:txBody>
      </p:sp>
    </p:spTree>
    <p:extLst>
      <p:ext uri="{BB962C8B-B14F-4D97-AF65-F5344CB8AC3E}">
        <p14:creationId xmlns:p14="http://schemas.microsoft.com/office/powerpoint/2010/main" val="304234311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use logs because they’re monotonic, so they don’t change the maximum. Work through this on board. </a:t>
            </a:r>
          </a:p>
        </p:txBody>
      </p:sp>
      <p:sp>
        <p:nvSpPr>
          <p:cNvPr id="4" name="Slide Number Placeholder 3"/>
          <p:cNvSpPr>
            <a:spLocks noGrp="1"/>
          </p:cNvSpPr>
          <p:nvPr>
            <p:ph type="sldNum" sz="quarter" idx="5"/>
          </p:nvPr>
        </p:nvSpPr>
        <p:spPr/>
        <p:txBody>
          <a:bodyPr/>
          <a:lstStyle/>
          <a:p>
            <a:fld id="{4AF79E1B-2C51-4B9B-8EA4-26DE9E345AFF}" type="slidenum">
              <a:rPr lang="en-US" smtClean="0"/>
              <a:t>94</a:t>
            </a:fld>
            <a:endParaRPr lang="en-US"/>
          </a:p>
        </p:txBody>
      </p:sp>
    </p:spTree>
    <p:extLst>
      <p:ext uri="{BB962C8B-B14F-4D97-AF65-F5344CB8AC3E}">
        <p14:creationId xmlns:p14="http://schemas.microsoft.com/office/powerpoint/2010/main" val="402452315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will be </a:t>
            </a:r>
            <a:r>
              <a:rPr lang="en-US" dirty="0" err="1"/>
              <a:t>usingn</a:t>
            </a:r>
            <a:r>
              <a:rPr lang="en-US" dirty="0"/>
              <a:t> the actual pdf (full distribution!) of an RV</a:t>
            </a:r>
          </a:p>
        </p:txBody>
      </p:sp>
      <p:sp>
        <p:nvSpPr>
          <p:cNvPr id="4" name="Slide Number Placeholder 3"/>
          <p:cNvSpPr>
            <a:spLocks noGrp="1"/>
          </p:cNvSpPr>
          <p:nvPr>
            <p:ph type="sldNum" sz="quarter" idx="5"/>
          </p:nvPr>
        </p:nvSpPr>
        <p:spPr/>
        <p:txBody>
          <a:bodyPr/>
          <a:lstStyle/>
          <a:p>
            <a:fld id="{4AF79E1B-2C51-4B9B-8EA4-26DE9E345AFF}" type="slidenum">
              <a:rPr lang="en-US" smtClean="0"/>
              <a:t>95</a:t>
            </a:fld>
            <a:endParaRPr lang="en-US"/>
          </a:p>
        </p:txBody>
      </p:sp>
    </p:spTree>
    <p:extLst>
      <p:ext uri="{BB962C8B-B14F-4D97-AF65-F5344CB8AC3E}">
        <p14:creationId xmlns:p14="http://schemas.microsoft.com/office/powerpoint/2010/main" val="316158888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96</a:t>
            </a:fld>
            <a:endParaRPr lang="en-US"/>
          </a:p>
        </p:txBody>
      </p:sp>
    </p:spTree>
    <p:extLst>
      <p:ext uri="{BB962C8B-B14F-4D97-AF65-F5344CB8AC3E}">
        <p14:creationId xmlns:p14="http://schemas.microsoft.com/office/powerpoint/2010/main" val="299493750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You’ll want to check for a maximum. Of course R will do all this for you. </a:t>
            </a:r>
          </a:p>
        </p:txBody>
      </p:sp>
      <p:sp>
        <p:nvSpPr>
          <p:cNvPr id="4" name="Slide Number Placeholder 3"/>
          <p:cNvSpPr>
            <a:spLocks noGrp="1"/>
          </p:cNvSpPr>
          <p:nvPr>
            <p:ph type="sldNum" sz="quarter" idx="5"/>
          </p:nvPr>
        </p:nvSpPr>
        <p:spPr/>
        <p:txBody>
          <a:bodyPr/>
          <a:lstStyle/>
          <a:p>
            <a:fld id="{4AF79E1B-2C51-4B9B-8EA4-26DE9E345AFF}" type="slidenum">
              <a:rPr lang="en-US" smtClean="0"/>
              <a:t>97</a:t>
            </a:fld>
            <a:endParaRPr lang="en-US"/>
          </a:p>
        </p:txBody>
      </p:sp>
    </p:spTree>
    <p:extLst>
      <p:ext uri="{BB962C8B-B14F-4D97-AF65-F5344CB8AC3E}">
        <p14:creationId xmlns:p14="http://schemas.microsoft.com/office/powerpoint/2010/main" val="908943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0972D05C-DCFB-4BB6-B49C-AC126BF3ED2C}" type="datetimeFigureOut">
              <a:rPr lang="en-US" smtClean="0"/>
              <a:pPr/>
              <a:t>3/23/2026</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Tree>
    <p:extLst>
      <p:ext uri="{BB962C8B-B14F-4D97-AF65-F5344CB8AC3E}">
        <p14:creationId xmlns:p14="http://schemas.microsoft.com/office/powerpoint/2010/main" val="15694125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242221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72D05C-DCFB-4BB6-B49C-AC126BF3ED2C}"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6479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72D05C-DCFB-4BB6-B49C-AC126BF3ED2C}"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046844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Times New Roman" panose="02020603050405020304" pitchFamily="18"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dirty="0"/>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72D05C-DCFB-4BB6-B49C-AC126BF3ED2C}" type="datetimeFigureOut">
              <a:rPr lang="en-US" smtClean="0"/>
              <a:pPr/>
              <a:t>3/23/2026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1598161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72D05C-DCFB-4BB6-B49C-AC126BF3ED2C}" type="datetimeFigureOut">
              <a:rPr lang="en-US" smtClean="0"/>
              <a:pPr/>
              <a:t>3/23/2026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81016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72D05C-DCFB-4BB6-B49C-AC126BF3ED2C}" type="datetimeFigureOut">
              <a:rPr lang="en-US" smtClean="0"/>
              <a:pPr/>
              <a:t>3/23/2026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64512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162882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964433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3810766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390804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latin typeface="Times New Roman" panose="02020603050405020304" pitchFamily="18" charset="0"/>
              </a:defRPr>
            </a:lvl1pPr>
          </a:lstStyle>
          <a:p>
            <a:fld id="{0972D05C-DCFB-4BB6-B49C-AC126BF3ED2C}" type="datetimeFigureOut">
              <a:rPr lang="en-US" smtClean="0"/>
              <a:pPr/>
              <a:t>3/23/2026</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latin typeface="Times New Roman" panose="02020603050405020304" pitchFamily="18" charset="0"/>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latin typeface="Times New Roman" panose="02020603050405020304" pitchFamily="18" charset="0"/>
              </a:defRPr>
            </a:lvl1pPr>
          </a:lstStyle>
          <a:p>
            <a:fld id="{D55C3209-28DC-43DB-92C2-2AB8D1DA00B1}" type="slidenum">
              <a:rPr lang="en-US" smtClean="0"/>
              <a:pPr/>
              <a:t>‹#›</a:t>
            </a:fld>
            <a:endParaRPr lang="en-US" dirty="0"/>
          </a:p>
        </p:txBody>
      </p:sp>
    </p:spTree>
    <p:extLst>
      <p:ext uri="{BB962C8B-B14F-4D97-AF65-F5344CB8AC3E}">
        <p14:creationId xmlns:p14="http://schemas.microsoft.com/office/powerpoint/2010/main" val="3753244356"/>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bookdown.org/sarahwerth2024/CategoricalBook/multinomial-logit-regression-r.html#running-a-mlr-in-r"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00.png"/></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10.png"/></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5.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6.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40.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4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4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47.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48.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5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hyperlink" Target="https://www.sciencedirect.com/science/article/pii/S0165176503000326?casa_token=6s_iEmC5d6EAAAAA:nJdepSQey56XGlCa0Ty0ChxjrDgoM9KZkatzvjvghz2Hvx47Vv99mSWD9Y1Mn80Mo6roXgTa" TargetMode="Externa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50.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6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400.pn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72.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notesSlide" Target="../notesSlides/notesSlide66.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14.png"/></Relationships>
</file>

<file path=ppt/slides/_rels/slide7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90.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7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8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209800"/>
            <a:ext cx="10591800" cy="1894362"/>
          </a:xfrm>
        </p:spPr>
        <p:txBody>
          <a:bodyPr>
            <a:normAutofit fontScale="90000"/>
          </a:bodyPr>
          <a:lstStyle/>
          <a:p>
            <a:r>
              <a:rPr lang="en-US" dirty="0"/>
              <a:t>Quantitative Methods in HSR I </a:t>
            </a:r>
          </a:p>
        </p:txBody>
      </p:sp>
      <p:sp>
        <p:nvSpPr>
          <p:cNvPr id="3" name="Subtitle 2"/>
          <p:cNvSpPr>
            <a:spLocks noGrp="1"/>
          </p:cNvSpPr>
          <p:nvPr>
            <p:ph type="subTitle" idx="1"/>
          </p:nvPr>
        </p:nvSpPr>
        <p:spPr>
          <a:xfrm>
            <a:off x="838200" y="4191000"/>
            <a:ext cx="10515600" cy="1981200"/>
          </a:xfrm>
        </p:spPr>
        <p:txBody>
          <a:bodyPr>
            <a:noAutofit/>
          </a:bodyPr>
          <a:lstStyle/>
          <a:p>
            <a:r>
              <a:rPr lang="en-US" sz="2400" dirty="0"/>
              <a:t>Lecture 10: Regressions with </a:t>
            </a:r>
            <a:r>
              <a:rPr lang="en-US" sz="2400" b="1" dirty="0"/>
              <a:t>Binary</a:t>
            </a:r>
            <a:r>
              <a:rPr lang="en-US" sz="2400" dirty="0"/>
              <a:t> Dependent Variables</a:t>
            </a:r>
          </a:p>
          <a:p>
            <a:r>
              <a:rPr lang="en-US" sz="2400" dirty="0"/>
              <a:t>March 23, 2026</a:t>
            </a:r>
          </a:p>
          <a:p>
            <a:endParaRPr lang="en-US" sz="2400" dirty="0"/>
          </a:p>
          <a:p>
            <a:r>
              <a:rPr lang="en-US" sz="2400" dirty="0"/>
              <a:t>HAD5744 </a:t>
            </a:r>
            <a:r>
              <a:rPr lang="en-US" sz="2400" dirty="0">
                <a:sym typeface="Symbol" panose="05050102010706020507" pitchFamily="18" charset="2"/>
              </a:rPr>
              <a:t> </a:t>
            </a:r>
            <a:r>
              <a:rPr lang="en-US" sz="2400" dirty="0"/>
              <a:t>Alex Hoagland, Ph.D.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But first…</a:t>
            </a:r>
          </a:p>
        </p:txBody>
      </p:sp>
      <p:pic>
        <p:nvPicPr>
          <p:cNvPr id="6" name="Picture 5">
            <a:extLst>
              <a:ext uri="{FF2B5EF4-FFF2-40B4-BE49-F238E27FC236}">
                <a16:creationId xmlns:a16="http://schemas.microsoft.com/office/drawing/2014/main" id="{18FABF23-63D4-8045-1F8F-6775C282DB0B}"/>
              </a:ext>
            </a:extLst>
          </p:cNvPr>
          <p:cNvPicPr>
            <a:picLocks noChangeAspect="1"/>
          </p:cNvPicPr>
          <p:nvPr/>
        </p:nvPicPr>
        <p:blipFill>
          <a:blip r:embed="rId3"/>
          <a:stretch>
            <a:fillRect/>
          </a:stretch>
        </p:blipFill>
        <p:spPr>
          <a:xfrm>
            <a:off x="32084" y="1143000"/>
            <a:ext cx="11774543" cy="5896798"/>
          </a:xfrm>
          <a:prstGeom prst="rect">
            <a:avLst/>
          </a:prstGeom>
        </p:spPr>
      </p:pic>
    </p:spTree>
    <p:extLst>
      <p:ext uri="{BB962C8B-B14F-4D97-AF65-F5344CB8AC3E}">
        <p14:creationId xmlns:p14="http://schemas.microsoft.com/office/powerpoint/2010/main" val="39494886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9F446-C813-A200-4803-DECAB82C61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4DE3A3-AF4B-8985-A02D-C074836BF1C7}"/>
              </a:ext>
            </a:extLst>
          </p:cNvPr>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But first…</a:t>
            </a:r>
          </a:p>
        </p:txBody>
      </p:sp>
      <p:pic>
        <p:nvPicPr>
          <p:cNvPr id="4" name="Picture 3">
            <a:extLst>
              <a:ext uri="{FF2B5EF4-FFF2-40B4-BE49-F238E27FC236}">
                <a16:creationId xmlns:a16="http://schemas.microsoft.com/office/drawing/2014/main" id="{07D30BFC-92FC-9D40-7964-36F920834C44}"/>
              </a:ext>
            </a:extLst>
          </p:cNvPr>
          <p:cNvPicPr>
            <a:picLocks noChangeAspect="1"/>
          </p:cNvPicPr>
          <p:nvPr/>
        </p:nvPicPr>
        <p:blipFill>
          <a:blip r:embed="rId3"/>
          <a:stretch>
            <a:fillRect/>
          </a:stretch>
        </p:blipFill>
        <p:spPr>
          <a:xfrm>
            <a:off x="0" y="116304"/>
            <a:ext cx="6219777" cy="3846096"/>
          </a:xfrm>
          <a:prstGeom prst="rect">
            <a:avLst/>
          </a:prstGeom>
        </p:spPr>
      </p:pic>
      <p:pic>
        <p:nvPicPr>
          <p:cNvPr id="7" name="Picture 6">
            <a:extLst>
              <a:ext uri="{FF2B5EF4-FFF2-40B4-BE49-F238E27FC236}">
                <a16:creationId xmlns:a16="http://schemas.microsoft.com/office/drawing/2014/main" id="{81C3A404-F206-4BBD-6A1B-D1C8C09D14C6}"/>
              </a:ext>
            </a:extLst>
          </p:cNvPr>
          <p:cNvPicPr>
            <a:picLocks noChangeAspect="1"/>
          </p:cNvPicPr>
          <p:nvPr/>
        </p:nvPicPr>
        <p:blipFill>
          <a:blip r:embed="rId4"/>
          <a:stretch>
            <a:fillRect/>
          </a:stretch>
        </p:blipFill>
        <p:spPr>
          <a:xfrm>
            <a:off x="6371247" y="3011904"/>
            <a:ext cx="5824764" cy="3810001"/>
          </a:xfrm>
          <a:prstGeom prst="rect">
            <a:avLst/>
          </a:prstGeom>
        </p:spPr>
      </p:pic>
    </p:spTree>
    <p:extLst>
      <p:ext uri="{BB962C8B-B14F-4D97-AF65-F5344CB8AC3E}">
        <p14:creationId xmlns:p14="http://schemas.microsoft.com/office/powerpoint/2010/main" val="1834883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BFAC18E-4064-A1FE-C1EB-5D23F1DFAD23}"/>
                  </a:ext>
                </a:extLst>
              </p:cNvPr>
              <p:cNvSpPr>
                <a:spLocks noGrp="1"/>
              </p:cNvSpPr>
              <p:nvPr>
                <p:ph idx="1"/>
              </p:nvPr>
            </p:nvSpPr>
            <p:spPr>
              <a:xfrm>
                <a:off x="914400" y="1119952"/>
                <a:ext cx="9984829" cy="5357048"/>
              </a:xfrm>
            </p:spPr>
            <p:txBody>
              <a:bodyPr vert="horz" lIns="91440" tIns="45720" rIns="91440" bIns="45720" rtlCol="0" anchor="t">
                <a:normAutofit/>
              </a:bodyPr>
              <a:lstStyle/>
              <a:p>
                <a:r>
                  <a:rPr lang="en-US" sz="2400" dirty="0">
                    <a:latin typeface="Times New Roman"/>
                    <a:cs typeface="Times New Roman"/>
                  </a:rPr>
                  <a:t>Using plausibly exogenous variation </a:t>
                </a:r>
                <a:r>
                  <a:rPr lang="en-US" sz="2400" b="1" dirty="0">
                    <a:latin typeface="Times New Roman"/>
                    <a:cs typeface="Times New Roman"/>
                  </a:rPr>
                  <a:t>across groups and time</a:t>
                </a:r>
              </a:p>
              <a:p>
                <a:r>
                  <a:rPr lang="en-US" sz="2400" dirty="0">
                    <a:latin typeface="Times New Roman"/>
                    <a:cs typeface="Times New Roman"/>
                  </a:rPr>
                  <a:t>Mimicking an experiment with federalism</a:t>
                </a:r>
              </a:p>
              <a:p>
                <a:r>
                  <a:rPr lang="en-US" sz="2400" dirty="0">
                    <a:latin typeface="Times New Roman"/>
                    <a:cs typeface="Times New Roman"/>
                  </a:rPr>
                  <a:t>Parallel trends assumption is easy to state and defend – what drawbacks are there? </a:t>
                </a:r>
                <a:endParaRPr lang="en-US" sz="2400" dirty="0">
                  <a:solidFill>
                    <a:srgbClr val="262626"/>
                  </a:solidFill>
                  <a:latin typeface="Times New Roman"/>
                  <a:cs typeface="Times New Roman"/>
                </a:endParaRPr>
              </a:p>
              <a:p>
                <a:pPr lvl="1"/>
                <a:endParaRPr lang="en-US" sz="2400" dirty="0">
                  <a:solidFill>
                    <a:srgbClr val="262626"/>
                  </a:solidFill>
                  <a:latin typeface="Times New Roman"/>
                  <a:cs typeface="Times New Roman"/>
                </a:endParaRPr>
              </a:p>
              <a:p>
                <a:pPr lvl="1"/>
                <a:endParaRPr lang="en-US" sz="2400" dirty="0">
                  <a:solidFill>
                    <a:srgbClr val="262626"/>
                  </a:solidFill>
                  <a:latin typeface="Times New Roman"/>
                  <a:cs typeface="Times New Roman"/>
                </a:endParaRPr>
              </a:p>
              <a:p>
                <a:pPr lvl="1"/>
                <a:endParaRPr lang="en-US" sz="2400" dirty="0">
                  <a:solidFill>
                    <a:srgbClr val="262626"/>
                  </a:solidFill>
                  <a:latin typeface="Times New Roman"/>
                  <a:cs typeface="Times New Roman"/>
                </a:endParaRPr>
              </a:p>
              <a:p>
                <a:pPr lvl="1"/>
                <a:endParaRPr lang="en-US" sz="2400" dirty="0">
                  <a:solidFill>
                    <a:srgbClr val="262626"/>
                  </a:solidFill>
                  <a:latin typeface="Times New Roman"/>
                  <a:cs typeface="Times New Roman"/>
                </a:endParaRPr>
              </a:p>
              <a:p>
                <a:r>
                  <a:rPr lang="en-US" sz="2600" dirty="0">
                    <a:solidFill>
                      <a:srgbClr val="262626"/>
                    </a:solidFill>
                    <a:latin typeface="Times New Roman"/>
                    <a:cs typeface="Times New Roman"/>
                  </a:rPr>
                  <a:t>Designing estimating equations</a:t>
                </a:r>
              </a:p>
              <a:p>
                <a:r>
                  <a:rPr lang="en-US" sz="2600" dirty="0">
                    <a:solidFill>
                      <a:srgbClr val="262626"/>
                    </a:solidFill>
                    <a:latin typeface="Times New Roman"/>
                    <a:cs typeface="Times New Roman"/>
                  </a:rPr>
                  <a:t>Specifically: what do you do when </a:t>
                </a:r>
                <a14:m>
                  <m:oMath xmlns:m="http://schemas.openxmlformats.org/officeDocument/2006/math">
                    <m:r>
                      <a:rPr lang="en-US" sz="2600" b="0" i="1" smtClean="0">
                        <a:solidFill>
                          <a:srgbClr val="262626"/>
                        </a:solidFill>
                        <a:latin typeface="Cambria Math" panose="02040503050406030204" pitchFamily="18" charset="0"/>
                        <a:cs typeface="Times New Roman"/>
                      </a:rPr>
                      <m:t>𝑌</m:t>
                    </m:r>
                  </m:oMath>
                </a14:m>
                <a:r>
                  <a:rPr lang="en-US" sz="2600" dirty="0">
                    <a:solidFill>
                      <a:srgbClr val="262626"/>
                    </a:solidFill>
                    <a:cs typeface="Times New Roman"/>
                  </a:rPr>
                  <a:t> is not continuous or you don’t want OLS? </a:t>
                </a:r>
              </a:p>
              <a:p>
                <a:pPr lvl="1">
                  <a:buFont typeface="Wingdings 2"/>
                  <a:buChar char=""/>
                </a:pPr>
                <a:endParaRPr lang="en-US" sz="2400" dirty="0">
                  <a:cs typeface="Times New Roman"/>
                </a:endParaRPr>
              </a:p>
            </p:txBody>
          </p:sp>
        </mc:Choice>
        <mc:Fallback xmlns="">
          <p:sp>
            <p:nvSpPr>
              <p:cNvPr id="3" name="Content Placeholder 2">
                <a:extLst>
                  <a:ext uri="{FF2B5EF4-FFF2-40B4-BE49-F238E27FC236}">
                    <a16:creationId xmlns:a16="http://schemas.microsoft.com/office/drawing/2014/main" id="{8BFAC18E-4064-A1FE-C1EB-5D23F1DFAD23}"/>
                  </a:ext>
                </a:extLst>
              </p:cNvPr>
              <p:cNvSpPr>
                <a:spLocks noGrp="1" noRot="1" noChangeAspect="1" noMove="1" noResize="1" noEditPoints="1" noAdjustHandles="1" noChangeArrowheads="1" noChangeShapeType="1" noTextEdit="1"/>
              </p:cNvSpPr>
              <p:nvPr>
                <p:ph idx="1"/>
              </p:nvPr>
            </p:nvSpPr>
            <p:spPr>
              <a:xfrm>
                <a:off x="914400" y="1119952"/>
                <a:ext cx="9984829" cy="5357048"/>
              </a:xfrm>
              <a:blipFill>
                <a:blip r:embed="rId3"/>
                <a:stretch>
                  <a:fillRect l="-549" t="-1251"/>
                </a:stretch>
              </a:blipFill>
            </p:spPr>
            <p:txBody>
              <a:bodyPr/>
              <a:lstStyle/>
              <a:p>
                <a:r>
                  <a:rPr lang="en-CA">
                    <a:noFill/>
                  </a:rPr>
                  <a:t> </a:t>
                </a:r>
              </a:p>
            </p:txBody>
          </p:sp>
        </mc:Fallback>
      </mc:AlternateContent>
      <p:sp>
        <p:nvSpPr>
          <p:cNvPr id="5" name="Title 1">
            <a:extLst>
              <a:ext uri="{FF2B5EF4-FFF2-40B4-BE49-F238E27FC236}">
                <a16:creationId xmlns:a16="http://schemas.microsoft.com/office/drawing/2014/main" id="{EF3111ED-61A2-2123-0D2A-EFDD981A07C2}"/>
              </a:ext>
            </a:extLst>
          </p:cNvPr>
          <p:cNvSpPr txBox="1">
            <a:spLocks/>
          </p:cNvSpPr>
          <p:nvPr/>
        </p:nvSpPr>
        <p:spPr>
          <a:xfrm>
            <a:off x="609600" y="337392"/>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latin typeface="Times New Roman"/>
                <a:cs typeface="Times New Roman"/>
              </a:rPr>
              <a:t>Last Time: Difference-in-Differences </a:t>
            </a:r>
            <a:endParaRPr lang="en-US" dirty="0"/>
          </a:p>
        </p:txBody>
      </p:sp>
      <p:sp>
        <p:nvSpPr>
          <p:cNvPr id="4" name="Title 1">
            <a:extLst>
              <a:ext uri="{FF2B5EF4-FFF2-40B4-BE49-F238E27FC236}">
                <a16:creationId xmlns:a16="http://schemas.microsoft.com/office/drawing/2014/main" id="{66D88018-A2D6-33DA-4F0F-340FD6CC732C}"/>
              </a:ext>
            </a:extLst>
          </p:cNvPr>
          <p:cNvSpPr txBox="1">
            <a:spLocks/>
          </p:cNvSpPr>
          <p:nvPr/>
        </p:nvSpPr>
        <p:spPr>
          <a:xfrm>
            <a:off x="609600" y="3962400"/>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latin typeface="Times New Roman"/>
                <a:cs typeface="Times New Roman"/>
              </a:rPr>
              <a:t>This Time: Limited Dependent Variables</a:t>
            </a:r>
            <a:endParaRPr lang="en-US" dirty="0"/>
          </a:p>
        </p:txBody>
      </p:sp>
      <p:pic>
        <p:nvPicPr>
          <p:cNvPr id="1026" name="Picture 2" descr="Unlimited Wicked Star Wars | TikTok">
            <a:extLst>
              <a:ext uri="{FF2B5EF4-FFF2-40B4-BE49-F238E27FC236}">
                <a16:creationId xmlns:a16="http://schemas.microsoft.com/office/drawing/2014/main" id="{121C6132-7BB5-01D5-44F1-F66CD6E83C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62956" y="3781158"/>
            <a:ext cx="3048000" cy="1504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61524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Examples of Limited Dependent Variables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405791" cy="5141388"/>
              </a:xfrm>
            </p:spPr>
            <p:txBody>
              <a:bodyPr>
                <a:noAutofit/>
              </a:bodyPr>
              <a:lstStyle/>
              <a:p>
                <a:r>
                  <a:rPr lang="en-US" sz="2600" b="1" dirty="0">
                    <a:cs typeface="Times New Roman" panose="02020603050405020304" pitchFamily="18" charset="0"/>
                  </a:rPr>
                  <a:t>Binary</a:t>
                </a:r>
                <a:r>
                  <a:rPr lang="en-US" sz="2600" dirty="0">
                    <a:cs typeface="Times New Roman" panose="02020603050405020304" pitchFamily="18" charset="0"/>
                  </a:rPr>
                  <a:t>: Whether or not someone receives a treatment</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𝑌</m:t>
                      </m:r>
                      <m:r>
                        <a:rPr lang="en-US" sz="2400" b="0" i="1" smtClean="0">
                          <a:latin typeface="Cambria Math" panose="02040503050406030204" pitchFamily="18" charset="0"/>
                          <a:cs typeface="Times New Roman" panose="02020603050405020304" pitchFamily="18" charset="0"/>
                        </a:rPr>
                        <m:t>∈</m:t>
                      </m:r>
                      <m:r>
                        <m:rPr>
                          <m:lit/>
                        </m:rP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0,1</m:t>
                      </m:r>
                      <m:r>
                        <m:rPr>
                          <m:lit/>
                        </m:rPr>
                        <a:rPr lang="en-US" sz="2400" b="0" i="1" smtClean="0">
                          <a:latin typeface="Cambria Math" panose="02040503050406030204" pitchFamily="18" charset="0"/>
                          <a:cs typeface="Times New Roman" panose="02020603050405020304" pitchFamily="18" charset="0"/>
                        </a:rPr>
                        <m:t>}</m:t>
                      </m:r>
                    </m:oMath>
                  </m:oMathPara>
                </a14:m>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405791" cy="5141388"/>
              </a:xfrm>
              <a:blipFill>
                <a:blip r:embed="rId3"/>
                <a:stretch>
                  <a:fillRect l="-583" t="-1423"/>
                </a:stretch>
              </a:blipFill>
            </p:spPr>
            <p:txBody>
              <a:bodyPr/>
              <a:lstStyle/>
              <a:p>
                <a:r>
                  <a:rPr lang="en-US">
                    <a:noFill/>
                  </a:rPr>
                  <a:t> </a:t>
                </a:r>
              </a:p>
            </p:txBody>
          </p:sp>
        </mc:Fallback>
      </mc:AlternateContent>
    </p:spTree>
    <p:extLst>
      <p:ext uri="{BB962C8B-B14F-4D97-AF65-F5344CB8AC3E}">
        <p14:creationId xmlns:p14="http://schemas.microsoft.com/office/powerpoint/2010/main" val="8242856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Examples of Limited Dependent Variables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405791" cy="5141388"/>
              </a:xfrm>
            </p:spPr>
            <p:txBody>
              <a:bodyPr>
                <a:noAutofit/>
              </a:bodyPr>
              <a:lstStyle/>
              <a:p>
                <a:r>
                  <a:rPr lang="en-US" sz="2600" b="1" dirty="0">
                    <a:cs typeface="Times New Roman" panose="02020603050405020304" pitchFamily="18" charset="0"/>
                  </a:rPr>
                  <a:t>Binary</a:t>
                </a:r>
                <a:r>
                  <a:rPr lang="en-US" sz="2600" dirty="0">
                    <a:cs typeface="Times New Roman" panose="02020603050405020304" pitchFamily="18" charset="0"/>
                  </a:rPr>
                  <a:t>: Whether or not someone receives a treatment</a:t>
                </a:r>
                <a:endParaRPr lang="en-US" sz="2400" dirty="0">
                  <a:cs typeface="Times New Roman" panose="02020603050405020304" pitchFamily="18" charset="0"/>
                </a:endParaRPr>
              </a:p>
              <a:p>
                <a:r>
                  <a:rPr lang="en-US" sz="2400" b="1" dirty="0">
                    <a:cs typeface="Times New Roman" panose="02020603050405020304" pitchFamily="18" charset="0"/>
                  </a:rPr>
                  <a:t>Ordered</a:t>
                </a:r>
                <a:r>
                  <a:rPr lang="en-US" sz="2400" dirty="0">
                    <a:cs typeface="Times New Roman" panose="02020603050405020304" pitchFamily="18" charset="0"/>
                  </a:rPr>
                  <a:t>: Number of prenatal visits during a pregnancy</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𝑌</m:t>
                      </m:r>
                      <m:r>
                        <a:rPr lang="en-US" sz="2400" b="0" i="1" smtClean="0">
                          <a:latin typeface="Cambria Math" panose="02040503050406030204" pitchFamily="18" charset="0"/>
                          <a:cs typeface="Times New Roman" panose="02020603050405020304" pitchFamily="18" charset="0"/>
                        </a:rPr>
                        <m:t>∈</m:t>
                      </m:r>
                      <m:r>
                        <m:rPr>
                          <m:lit/>
                        </m:rP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0, 1, 2, 3, …, </m:t>
                      </m:r>
                      <m:r>
                        <a:rPr lang="en-US" sz="2400" b="0" i="1" smtClean="0">
                          <a:latin typeface="Cambria Math" panose="02040503050406030204" pitchFamily="18" charset="0"/>
                          <a:cs typeface="Times New Roman" panose="02020603050405020304" pitchFamily="18" charset="0"/>
                        </a:rPr>
                        <m:t>𝑁</m:t>
                      </m:r>
                      <m:r>
                        <m:rPr>
                          <m:lit/>
                        </m:rPr>
                        <a:rPr lang="en-US" sz="2400" b="0" i="1" smtClean="0">
                          <a:latin typeface="Cambria Math" panose="02040503050406030204" pitchFamily="18" charset="0"/>
                          <a:cs typeface="Times New Roman" panose="02020603050405020304" pitchFamily="18" charset="0"/>
                        </a:rPr>
                        <m:t>}</m:t>
                      </m:r>
                    </m:oMath>
                  </m:oMathPara>
                </a14:m>
                <a:endParaRPr lang="en-US" sz="2400" dirty="0">
                  <a:cs typeface="Times New Roman" panose="02020603050405020304" pitchFamily="18" charset="0"/>
                </a:endParaRPr>
              </a:p>
              <a:p>
                <a:endParaRPr lang="en-US" sz="22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405791" cy="5141388"/>
              </a:xfrm>
              <a:blipFill>
                <a:blip r:embed="rId3"/>
                <a:stretch>
                  <a:fillRect l="-583" t="-1423"/>
                </a:stretch>
              </a:blipFill>
            </p:spPr>
            <p:txBody>
              <a:bodyPr/>
              <a:lstStyle/>
              <a:p>
                <a:r>
                  <a:rPr lang="en-US">
                    <a:noFill/>
                  </a:rPr>
                  <a:t> </a:t>
                </a:r>
              </a:p>
            </p:txBody>
          </p:sp>
        </mc:Fallback>
      </mc:AlternateContent>
    </p:spTree>
    <p:extLst>
      <p:ext uri="{BB962C8B-B14F-4D97-AF65-F5344CB8AC3E}">
        <p14:creationId xmlns:p14="http://schemas.microsoft.com/office/powerpoint/2010/main" val="26348879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Examples of Limited Dependent Variables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405791" cy="5141388"/>
              </a:xfrm>
            </p:spPr>
            <p:txBody>
              <a:bodyPr>
                <a:noAutofit/>
              </a:bodyPr>
              <a:lstStyle/>
              <a:p>
                <a:r>
                  <a:rPr lang="en-US" sz="2600" b="1" dirty="0">
                    <a:cs typeface="Times New Roman" panose="02020603050405020304" pitchFamily="18" charset="0"/>
                  </a:rPr>
                  <a:t>Binary</a:t>
                </a:r>
                <a:r>
                  <a:rPr lang="en-US" sz="2600" dirty="0">
                    <a:cs typeface="Times New Roman" panose="02020603050405020304" pitchFamily="18" charset="0"/>
                  </a:rPr>
                  <a:t>: Whether or not someone receives a treatment</a:t>
                </a:r>
              </a:p>
              <a:p>
                <a:r>
                  <a:rPr lang="en-US" sz="2400" b="1" dirty="0">
                    <a:cs typeface="Times New Roman" panose="02020603050405020304" pitchFamily="18" charset="0"/>
                  </a:rPr>
                  <a:t>Ordered</a:t>
                </a:r>
                <a:r>
                  <a:rPr lang="en-US" sz="2400" dirty="0">
                    <a:cs typeface="Times New Roman" panose="02020603050405020304" pitchFamily="18" charset="0"/>
                  </a:rPr>
                  <a:t>: Number of prenatal visits during a pregnancy</a:t>
                </a:r>
              </a:p>
              <a:p>
                <a:r>
                  <a:rPr lang="en-US" sz="2400" b="1" dirty="0">
                    <a:cs typeface="Times New Roman" panose="02020603050405020304" pitchFamily="18" charset="0"/>
                  </a:rPr>
                  <a:t>Censored</a:t>
                </a:r>
                <a:r>
                  <a:rPr lang="en-US" sz="2400" dirty="0">
                    <a:cs typeface="Times New Roman" panose="02020603050405020304" pitchFamily="18" charset="0"/>
                  </a:rPr>
                  <a:t>: Income data is observed only in a certain range</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𝑌</m:t>
                      </m:r>
                      <m:r>
                        <m:rPr>
                          <m:lit/>
                        </m:rP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m:t>
                      </m:r>
                      <m:r>
                        <m:rPr>
                          <m:lit/>
                        </m:rP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$0−$1,000, $1,000−$5,000, $5,000−$8,000,…, $1,000,000+</m:t>
                      </m:r>
                      <m:r>
                        <m:rPr>
                          <m:lit/>
                        </m:rPr>
                        <a:rPr lang="en-US" sz="2400" b="0" i="1" smtClean="0">
                          <a:latin typeface="Cambria Math" panose="02040503050406030204" pitchFamily="18" charset="0"/>
                          <a:cs typeface="Times New Roman" panose="02020603050405020304" pitchFamily="18" charset="0"/>
                        </a:rPr>
                        <m:t>}</m:t>
                      </m:r>
                    </m:oMath>
                  </m:oMathPara>
                </a14:m>
                <a:endParaRPr lang="en-US" sz="2400" dirty="0">
                  <a:cs typeface="Times New Roman" panose="02020603050405020304" pitchFamily="18" charset="0"/>
                </a:endParaRPr>
              </a:p>
              <a:p>
                <a:endParaRPr lang="en-US" sz="22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405791" cy="5141388"/>
              </a:xfrm>
              <a:blipFill>
                <a:blip r:embed="rId3"/>
                <a:stretch>
                  <a:fillRect l="-583" t="-1423" r="-324"/>
                </a:stretch>
              </a:blipFill>
            </p:spPr>
            <p:txBody>
              <a:bodyPr/>
              <a:lstStyle/>
              <a:p>
                <a:r>
                  <a:rPr lang="en-US">
                    <a:noFill/>
                  </a:rPr>
                  <a:t> </a:t>
                </a:r>
              </a:p>
            </p:txBody>
          </p:sp>
        </mc:Fallback>
      </mc:AlternateContent>
    </p:spTree>
    <p:extLst>
      <p:ext uri="{BB962C8B-B14F-4D97-AF65-F5344CB8AC3E}">
        <p14:creationId xmlns:p14="http://schemas.microsoft.com/office/powerpoint/2010/main" val="19198022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Examples of Limited Dependent Variables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405791" cy="5141388"/>
              </a:xfrm>
            </p:spPr>
            <p:txBody>
              <a:bodyPr>
                <a:noAutofit/>
              </a:bodyPr>
              <a:lstStyle/>
              <a:p>
                <a:r>
                  <a:rPr lang="en-US" sz="2400" b="1" dirty="0">
                    <a:cs typeface="Times New Roman" panose="02020603050405020304" pitchFamily="18" charset="0"/>
                  </a:rPr>
                  <a:t>Binary</a:t>
                </a:r>
                <a:r>
                  <a:rPr lang="en-US" sz="2400" dirty="0">
                    <a:cs typeface="Times New Roman" panose="02020603050405020304" pitchFamily="18" charset="0"/>
                  </a:rPr>
                  <a:t>: Whether or not someone receives a treatment</a:t>
                </a:r>
              </a:p>
              <a:p>
                <a:r>
                  <a:rPr lang="en-US" sz="2400" b="1" dirty="0">
                    <a:cs typeface="Times New Roman" panose="02020603050405020304" pitchFamily="18" charset="0"/>
                  </a:rPr>
                  <a:t>Ordered</a:t>
                </a:r>
                <a:r>
                  <a:rPr lang="en-US" sz="2400" dirty="0">
                    <a:cs typeface="Times New Roman" panose="02020603050405020304" pitchFamily="18" charset="0"/>
                  </a:rPr>
                  <a:t>: Number of prenatal visits during a pregnancy</a:t>
                </a:r>
              </a:p>
              <a:p>
                <a:r>
                  <a:rPr lang="en-US" sz="2400" b="1" dirty="0">
                    <a:cs typeface="Times New Roman" panose="02020603050405020304" pitchFamily="18" charset="0"/>
                  </a:rPr>
                  <a:t>Censored</a:t>
                </a:r>
                <a:r>
                  <a:rPr lang="en-US" sz="2400" dirty="0">
                    <a:cs typeface="Times New Roman" panose="02020603050405020304" pitchFamily="18" charset="0"/>
                  </a:rPr>
                  <a:t>: Income data is observed only in a certain range</a:t>
                </a:r>
              </a:p>
              <a:p>
                <a:r>
                  <a:rPr lang="en-US" sz="2400" b="1" dirty="0">
                    <a:cs typeface="Times New Roman" panose="02020603050405020304" pitchFamily="18" charset="0"/>
                  </a:rPr>
                  <a:t>Truncated</a:t>
                </a:r>
                <a:r>
                  <a:rPr lang="en-US" sz="2400" dirty="0">
                    <a:cs typeface="Times New Roman" panose="02020603050405020304" pitchFamily="18" charset="0"/>
                  </a:rPr>
                  <a:t>: Data has a “hard limit” at a certain value</a:t>
                </a:r>
              </a:p>
              <a:p>
                <a:pPr lvl="1"/>
                <a:r>
                  <a:rPr lang="en-US" sz="2400" dirty="0">
                    <a:cs typeface="Times New Roman" panose="02020603050405020304" pitchFamily="18" charset="0"/>
                  </a:rPr>
                  <a:t>Can be natural (no negative income) or imposed (top-coded spending)</a:t>
                </a:r>
              </a:p>
              <a:p>
                <a:pPr marL="274320" lvl="1"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𝑌</m:t>
                      </m:r>
                      <m:r>
                        <a:rPr lang="en-US" sz="2400" b="0" i="1" smtClean="0">
                          <a:latin typeface="Cambria Math" panose="02040503050406030204" pitchFamily="18" charset="0"/>
                          <a:cs typeface="Times New Roman" panose="02020603050405020304" pitchFamily="18" charset="0"/>
                        </a:rPr>
                        <m:t>= </m:t>
                      </m:r>
                      <m:d>
                        <m:dPr>
                          <m:begChr m:val="{"/>
                          <m:endChr m:val=""/>
                          <m:ctrlPr>
                            <a:rPr lang="en-US" sz="2400" b="0" i="1" smtClean="0">
                              <a:latin typeface="Cambria Math" panose="02040503050406030204" pitchFamily="18" charset="0"/>
                              <a:cs typeface="Times New Roman" panose="02020603050405020304" pitchFamily="18" charset="0"/>
                            </a:rPr>
                          </m:ctrlPr>
                        </m:dPr>
                        <m:e>
                          <m:eqArr>
                            <m:eqArrPr>
                              <m:ctrlPr>
                                <a:rPr lang="en-US" sz="2400" b="0" i="1" smtClean="0">
                                  <a:latin typeface="Cambria Math" panose="02040503050406030204" pitchFamily="18" charset="0"/>
                                  <a:cs typeface="Times New Roman" panose="02020603050405020304" pitchFamily="18" charset="0"/>
                                </a:rPr>
                              </m:ctrlPr>
                            </m:eqArr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𝑦</m:t>
                                  </m:r>
                                </m:e>
                                <m:sub>
                                  <m:r>
                                    <a:rPr lang="en-US" sz="2400" b="0" i="1" smtClean="0">
                                      <a:latin typeface="Cambria Math" panose="02040503050406030204" pitchFamily="18" charset="0"/>
                                      <a:cs typeface="Times New Roman" panose="02020603050405020304" pitchFamily="18" charset="0"/>
                                    </a:rPr>
                                    <m:t>𝑖</m:t>
                                  </m:r>
                                  <m:r>
                                    <a:rPr lang="en-US" sz="2400" b="0" i="1" smtClean="0">
                                      <a:latin typeface="Cambria Math" panose="02040503050406030204" pitchFamily="18" charset="0"/>
                                      <a:cs typeface="Times New Roman" panose="02020603050405020304" pitchFamily="18" charset="0"/>
                                    </a:rPr>
                                    <m:t> </m:t>
                                  </m:r>
                                </m:sub>
                              </m:sSub>
                              <m:r>
                                <a:rPr lang="en-US" sz="2400" b="0" i="1" smtClean="0">
                                  <a:latin typeface="Cambria Math" panose="02040503050406030204" pitchFamily="18" charset="0"/>
                                  <a:cs typeface="Times New Roman" panose="02020603050405020304" pitchFamily="18" charset="0"/>
                                </a:rPr>
                                <m:t>𝑖𝑓</m:t>
                              </m:r>
                              <m:r>
                                <a:rPr lang="en-US" sz="2400" b="0" i="1" smtClean="0">
                                  <a:latin typeface="Cambria Math" panose="02040503050406030204" pitchFamily="18" charset="0"/>
                                  <a:cs typeface="Times New Roman" panose="02020603050405020304" pitchFamily="18" charset="0"/>
                                </a:rPr>
                                <m:t> </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𝑦</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≥0</m:t>
                              </m:r>
                            </m:e>
                            <m:e>
                              <m:r>
                                <a:rPr lang="en-US" sz="2400" b="0" i="1" smtClean="0">
                                  <a:latin typeface="Cambria Math" panose="02040503050406030204" pitchFamily="18" charset="0"/>
                                  <a:cs typeface="Times New Roman" panose="02020603050405020304" pitchFamily="18" charset="0"/>
                                </a:rPr>
                                <m:t>0 </m:t>
                              </m:r>
                              <m:r>
                                <a:rPr lang="en-US" sz="2400" b="0" i="1" smtClean="0">
                                  <a:latin typeface="Cambria Math" panose="02040503050406030204" pitchFamily="18" charset="0"/>
                                  <a:cs typeface="Times New Roman" panose="02020603050405020304" pitchFamily="18" charset="0"/>
                                </a:rPr>
                                <m:t>𝑖𝑓</m:t>
                              </m:r>
                              <m:r>
                                <a:rPr lang="en-US" sz="2400" b="0" i="1" smtClean="0">
                                  <a:latin typeface="Cambria Math" panose="02040503050406030204" pitchFamily="18" charset="0"/>
                                  <a:cs typeface="Times New Roman" panose="02020603050405020304" pitchFamily="18" charset="0"/>
                                </a:rPr>
                                <m:t> </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𝑦</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&lt;0</m:t>
                              </m:r>
                            </m:e>
                          </m:eqArr>
                        </m:e>
                      </m:d>
                    </m:oMath>
                  </m:oMathPara>
                </a14:m>
                <a:endParaRPr lang="en-US" sz="2400"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405791" cy="5141388"/>
              </a:xfrm>
              <a:blipFill>
                <a:blip r:embed="rId3"/>
                <a:stretch>
                  <a:fillRect l="-454" t="-1305"/>
                </a:stretch>
              </a:blipFill>
            </p:spPr>
            <p:txBody>
              <a:bodyPr/>
              <a:lstStyle/>
              <a:p>
                <a:r>
                  <a:rPr lang="en-US">
                    <a:noFill/>
                  </a:rPr>
                  <a:t> </a:t>
                </a:r>
              </a:p>
            </p:txBody>
          </p:sp>
        </mc:Fallback>
      </mc:AlternateContent>
    </p:spTree>
    <p:extLst>
      <p:ext uri="{BB962C8B-B14F-4D97-AF65-F5344CB8AC3E}">
        <p14:creationId xmlns:p14="http://schemas.microsoft.com/office/powerpoint/2010/main" val="402010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Examples of Limited Dependent Variables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405791" cy="5141388"/>
              </a:xfrm>
            </p:spPr>
            <p:txBody>
              <a:bodyPr>
                <a:noAutofit/>
              </a:bodyPr>
              <a:lstStyle/>
              <a:p>
                <a:r>
                  <a:rPr lang="en-US" sz="2400" b="1" dirty="0">
                    <a:cs typeface="Times New Roman" panose="02020603050405020304" pitchFamily="18" charset="0"/>
                  </a:rPr>
                  <a:t>Binary</a:t>
                </a:r>
                <a:r>
                  <a:rPr lang="en-US" sz="2400" dirty="0">
                    <a:cs typeface="Times New Roman" panose="02020603050405020304" pitchFamily="18" charset="0"/>
                  </a:rPr>
                  <a:t>: Whether or not someone receives a treatment</a:t>
                </a:r>
              </a:p>
              <a:p>
                <a:r>
                  <a:rPr lang="en-US" sz="2400" b="1" dirty="0">
                    <a:cs typeface="Times New Roman" panose="02020603050405020304" pitchFamily="18" charset="0"/>
                  </a:rPr>
                  <a:t>Ordered</a:t>
                </a:r>
                <a:r>
                  <a:rPr lang="en-US" sz="2400" dirty="0">
                    <a:cs typeface="Times New Roman" panose="02020603050405020304" pitchFamily="18" charset="0"/>
                  </a:rPr>
                  <a:t>: Number of prenatal visits during a pregnancy</a:t>
                </a:r>
              </a:p>
              <a:p>
                <a:r>
                  <a:rPr lang="en-US" sz="2400" b="1" dirty="0">
                    <a:cs typeface="Times New Roman" panose="02020603050405020304" pitchFamily="18" charset="0"/>
                  </a:rPr>
                  <a:t>Censored</a:t>
                </a:r>
                <a:r>
                  <a:rPr lang="en-US" sz="2400" dirty="0">
                    <a:cs typeface="Times New Roman" panose="02020603050405020304" pitchFamily="18" charset="0"/>
                  </a:rPr>
                  <a:t>: Income data is observed only in a certain range</a:t>
                </a:r>
              </a:p>
              <a:p>
                <a:r>
                  <a:rPr lang="en-US" sz="2400" b="1" dirty="0">
                    <a:cs typeface="Times New Roman" panose="02020603050405020304" pitchFamily="18" charset="0"/>
                  </a:rPr>
                  <a:t>Truncated</a:t>
                </a:r>
                <a:r>
                  <a:rPr lang="en-US" sz="2400" dirty="0">
                    <a:cs typeface="Times New Roman" panose="02020603050405020304" pitchFamily="18" charset="0"/>
                  </a:rPr>
                  <a:t>: Data has a “hard limit” at a certain value</a:t>
                </a:r>
              </a:p>
              <a:p>
                <a:pPr lvl="1"/>
                <a:r>
                  <a:rPr lang="en-US" sz="2400" dirty="0">
                    <a:cs typeface="Times New Roman" panose="02020603050405020304" pitchFamily="18" charset="0"/>
                  </a:rPr>
                  <a:t>Can be natural (no negative income) or imposed (top-coded spending)</a:t>
                </a:r>
              </a:p>
              <a:p>
                <a:r>
                  <a:rPr lang="en-US" sz="2400" b="1" dirty="0">
                    <a:cs typeface="Times New Roman" panose="02020603050405020304" pitchFamily="18" charset="0"/>
                  </a:rPr>
                  <a:t>Selection</a:t>
                </a:r>
                <a:r>
                  <a:rPr lang="en-US" sz="2400" dirty="0">
                    <a:cs typeface="Times New Roman" panose="02020603050405020304" pitchFamily="18" charset="0"/>
                  </a:rPr>
                  <a:t>: Outcome is observed only if a condition is met</a:t>
                </a:r>
              </a:p>
              <a:p>
                <a:pPr lvl="1"/>
                <a:r>
                  <a:rPr lang="en-US" sz="2400" dirty="0">
                    <a:cs typeface="Times New Roman" panose="02020603050405020304" pitchFamily="18" charset="0"/>
                  </a:rPr>
                  <a:t>Example: diabetes risk observed only if a patient comes in</a:t>
                </a:r>
              </a:p>
              <a:p>
                <a:pPr marL="274320" lvl="1"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𝑌</m:t>
                      </m:r>
                      <m:r>
                        <a:rPr lang="en-US" sz="2400" b="0" i="1" smtClean="0">
                          <a:latin typeface="Cambria Math" panose="02040503050406030204" pitchFamily="18" charset="0"/>
                          <a:cs typeface="Times New Roman" panose="02020603050405020304" pitchFamily="18" charset="0"/>
                        </a:rPr>
                        <m:t>= </m:t>
                      </m:r>
                      <m:d>
                        <m:dPr>
                          <m:begChr m:val="{"/>
                          <m:endChr m:val=""/>
                          <m:ctrlPr>
                            <a:rPr lang="en-US" sz="2400" b="0" i="1" smtClean="0">
                              <a:latin typeface="Cambria Math" panose="02040503050406030204" pitchFamily="18" charset="0"/>
                              <a:cs typeface="Times New Roman" panose="02020603050405020304" pitchFamily="18" charset="0"/>
                            </a:rPr>
                          </m:ctrlPr>
                        </m:dPr>
                        <m:e>
                          <m:eqArr>
                            <m:eqArrPr>
                              <m:ctrlPr>
                                <a:rPr lang="en-US" sz="2400" b="0" i="1" smtClean="0">
                                  <a:latin typeface="Cambria Math" panose="02040503050406030204" pitchFamily="18" charset="0"/>
                                  <a:cs typeface="Times New Roman" panose="02020603050405020304" pitchFamily="18" charset="0"/>
                                </a:rPr>
                              </m:ctrlPr>
                            </m:eqArr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𝑦</m:t>
                                  </m:r>
                                </m:e>
                                <m:sub>
                                  <m:r>
                                    <a:rPr lang="en-US" sz="2400" b="0" i="1" smtClean="0">
                                      <a:latin typeface="Cambria Math" panose="02040503050406030204" pitchFamily="18" charset="0"/>
                                      <a:cs typeface="Times New Roman" panose="02020603050405020304" pitchFamily="18" charset="0"/>
                                    </a:rPr>
                                    <m:t>𝑖</m:t>
                                  </m:r>
                                  <m:r>
                                    <a:rPr lang="en-US" sz="2400" b="0" i="1" smtClean="0">
                                      <a:latin typeface="Cambria Math" panose="02040503050406030204" pitchFamily="18" charset="0"/>
                                      <a:cs typeface="Times New Roman" panose="02020603050405020304" pitchFamily="18" charset="0"/>
                                    </a:rPr>
                                    <m:t> </m:t>
                                  </m:r>
                                </m:sub>
                              </m:sSub>
                              <m:r>
                                <a:rPr lang="en-US" sz="2400" b="0" i="1" smtClean="0">
                                  <a:latin typeface="Cambria Math" panose="02040503050406030204" pitchFamily="18" charset="0"/>
                                  <a:cs typeface="Times New Roman" panose="02020603050405020304" pitchFamily="18" charset="0"/>
                                </a:rPr>
                                <m:t>𝑖𝑓</m:t>
                              </m:r>
                              <m:r>
                                <a:rPr lang="en-US" sz="2400" b="0" i="1" smtClean="0">
                                  <a:latin typeface="Cambria Math" panose="02040503050406030204" pitchFamily="18" charset="0"/>
                                  <a:cs typeface="Times New Roman" panose="02020603050405020304" pitchFamily="18" charset="0"/>
                                </a:rPr>
                                <m:t> </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=1</m:t>
                              </m:r>
                            </m:e>
                            <m:e>
                              <m:r>
                                <a:rPr lang="en-US" sz="2400" b="0" i="1" smtClean="0">
                                  <a:latin typeface="Cambria Math" panose="02040503050406030204" pitchFamily="18" charset="0"/>
                                  <a:cs typeface="Times New Roman" panose="02020603050405020304" pitchFamily="18" charset="0"/>
                                </a:rPr>
                                <m:t>0 </m:t>
                              </m:r>
                              <m:r>
                                <a:rPr lang="en-US" sz="2400" b="0" i="1" smtClean="0">
                                  <a:latin typeface="Cambria Math" panose="02040503050406030204" pitchFamily="18" charset="0"/>
                                  <a:cs typeface="Times New Roman" panose="02020603050405020304" pitchFamily="18" charset="0"/>
                                </a:rPr>
                                <m:t>𝑖𝑓</m:t>
                              </m:r>
                              <m:r>
                                <a:rPr lang="en-US" sz="2400" b="0" i="1" smtClean="0">
                                  <a:latin typeface="Cambria Math" panose="02040503050406030204" pitchFamily="18" charset="0"/>
                                  <a:cs typeface="Times New Roman" panose="02020603050405020304" pitchFamily="18" charset="0"/>
                                </a:rPr>
                                <m:t> </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=0</m:t>
                              </m:r>
                            </m:e>
                          </m:eqArr>
                        </m:e>
                      </m:d>
                    </m:oMath>
                  </m:oMathPara>
                </a14:m>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405791" cy="5141388"/>
              </a:xfrm>
              <a:blipFill>
                <a:blip r:embed="rId3"/>
                <a:stretch>
                  <a:fillRect l="-454" t="-1305"/>
                </a:stretch>
              </a:blipFill>
            </p:spPr>
            <p:txBody>
              <a:bodyPr/>
              <a:lstStyle/>
              <a:p>
                <a:r>
                  <a:rPr lang="en-US">
                    <a:noFill/>
                  </a:rPr>
                  <a:t> </a:t>
                </a:r>
              </a:p>
            </p:txBody>
          </p:sp>
        </mc:Fallback>
      </mc:AlternateContent>
    </p:spTree>
    <p:extLst>
      <p:ext uri="{BB962C8B-B14F-4D97-AF65-F5344CB8AC3E}">
        <p14:creationId xmlns:p14="http://schemas.microsoft.com/office/powerpoint/2010/main" val="9896991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Examples of Limited Dependent Variables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405791" cy="5141388"/>
              </a:xfrm>
            </p:spPr>
            <p:txBody>
              <a:bodyPr>
                <a:noAutofit/>
              </a:bodyPr>
              <a:lstStyle/>
              <a:p>
                <a:r>
                  <a:rPr lang="en-US" sz="2400" b="1" dirty="0">
                    <a:solidFill>
                      <a:srgbClr val="FF0000"/>
                    </a:solidFill>
                    <a:cs typeface="Times New Roman" panose="02020603050405020304" pitchFamily="18" charset="0"/>
                  </a:rPr>
                  <a:t>Binary</a:t>
                </a:r>
                <a:r>
                  <a:rPr lang="en-US" sz="2400" dirty="0">
                    <a:cs typeface="Times New Roman" panose="02020603050405020304" pitchFamily="18" charset="0"/>
                  </a:rPr>
                  <a:t>: Whether or not someone receives a treatment</a:t>
                </a:r>
              </a:p>
              <a:p>
                <a:r>
                  <a:rPr lang="en-US" sz="2400" b="1" dirty="0">
                    <a:solidFill>
                      <a:srgbClr val="FF0000"/>
                    </a:solidFill>
                    <a:cs typeface="Times New Roman" panose="02020603050405020304" pitchFamily="18" charset="0"/>
                  </a:rPr>
                  <a:t>Ordered</a:t>
                </a:r>
                <a:r>
                  <a:rPr lang="en-US" sz="2400" dirty="0">
                    <a:cs typeface="Times New Roman" panose="02020603050405020304" pitchFamily="18" charset="0"/>
                  </a:rPr>
                  <a:t>: Number of prenatal visits during a pregnancy</a:t>
                </a:r>
              </a:p>
              <a:p>
                <a:r>
                  <a:rPr lang="en-US" sz="2400" b="1" dirty="0">
                    <a:cs typeface="Times New Roman" panose="02020603050405020304" pitchFamily="18" charset="0"/>
                  </a:rPr>
                  <a:t>Censored</a:t>
                </a:r>
                <a:r>
                  <a:rPr lang="en-US" sz="2400" dirty="0">
                    <a:cs typeface="Times New Roman" panose="02020603050405020304" pitchFamily="18" charset="0"/>
                  </a:rPr>
                  <a:t>: Income data is observed only in a certain range</a:t>
                </a:r>
              </a:p>
              <a:p>
                <a:r>
                  <a:rPr lang="en-US" sz="2400" b="1" dirty="0">
                    <a:cs typeface="Times New Roman" panose="02020603050405020304" pitchFamily="18" charset="0"/>
                  </a:rPr>
                  <a:t>Truncated</a:t>
                </a:r>
                <a:r>
                  <a:rPr lang="en-US" sz="2400" dirty="0">
                    <a:cs typeface="Times New Roman" panose="02020603050405020304" pitchFamily="18" charset="0"/>
                  </a:rPr>
                  <a:t>: Data has a “hard limit” at a certain value</a:t>
                </a:r>
              </a:p>
              <a:p>
                <a:pPr lvl="1"/>
                <a:r>
                  <a:rPr lang="en-US" sz="2400" dirty="0">
                    <a:cs typeface="Times New Roman" panose="02020603050405020304" pitchFamily="18" charset="0"/>
                  </a:rPr>
                  <a:t>Can be natural (no negative income) or imposed (top-coded spending)</a:t>
                </a:r>
              </a:p>
              <a:p>
                <a:r>
                  <a:rPr lang="en-US" sz="2400" b="1" dirty="0">
                    <a:cs typeface="Times New Roman" panose="02020603050405020304" pitchFamily="18" charset="0"/>
                  </a:rPr>
                  <a:t>Selection</a:t>
                </a:r>
                <a:r>
                  <a:rPr lang="en-US" sz="2400" dirty="0">
                    <a:cs typeface="Times New Roman" panose="02020603050405020304" pitchFamily="18" charset="0"/>
                  </a:rPr>
                  <a:t>: Outcome is observed only if a condition is met</a:t>
                </a:r>
              </a:p>
              <a:p>
                <a:pPr lvl="1"/>
                <a:r>
                  <a:rPr lang="en-US" sz="2400" dirty="0">
                    <a:cs typeface="Times New Roman" panose="02020603050405020304" pitchFamily="18" charset="0"/>
                  </a:rPr>
                  <a:t>Example: diabetes risk observed only if a patient comes in</a:t>
                </a:r>
              </a:p>
              <a:p>
                <a:pPr marL="274320" lvl="1"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𝑌</m:t>
                      </m:r>
                      <m:r>
                        <a:rPr lang="en-US" sz="2400" b="0" i="1" smtClean="0">
                          <a:latin typeface="Cambria Math" panose="02040503050406030204" pitchFamily="18" charset="0"/>
                          <a:cs typeface="Times New Roman" panose="02020603050405020304" pitchFamily="18" charset="0"/>
                        </a:rPr>
                        <m:t>= </m:t>
                      </m:r>
                      <m:d>
                        <m:dPr>
                          <m:begChr m:val="{"/>
                          <m:endChr m:val=""/>
                          <m:ctrlPr>
                            <a:rPr lang="en-US" sz="2400" b="0" i="1" smtClean="0">
                              <a:latin typeface="Cambria Math" panose="02040503050406030204" pitchFamily="18" charset="0"/>
                              <a:cs typeface="Times New Roman" panose="02020603050405020304" pitchFamily="18" charset="0"/>
                            </a:rPr>
                          </m:ctrlPr>
                        </m:dPr>
                        <m:e>
                          <m:eqArr>
                            <m:eqArrPr>
                              <m:ctrlPr>
                                <a:rPr lang="en-US" sz="2400" b="0" i="1" smtClean="0">
                                  <a:latin typeface="Cambria Math" panose="02040503050406030204" pitchFamily="18" charset="0"/>
                                  <a:cs typeface="Times New Roman" panose="02020603050405020304" pitchFamily="18" charset="0"/>
                                </a:rPr>
                              </m:ctrlPr>
                            </m:eqArr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𝑦</m:t>
                                  </m:r>
                                </m:e>
                                <m:sub>
                                  <m:r>
                                    <a:rPr lang="en-US" sz="2400" b="0" i="1" smtClean="0">
                                      <a:latin typeface="Cambria Math" panose="02040503050406030204" pitchFamily="18" charset="0"/>
                                      <a:cs typeface="Times New Roman" panose="02020603050405020304" pitchFamily="18" charset="0"/>
                                    </a:rPr>
                                    <m:t>𝑖</m:t>
                                  </m:r>
                                  <m:r>
                                    <a:rPr lang="en-US" sz="2400" b="0" i="1" smtClean="0">
                                      <a:latin typeface="Cambria Math" panose="02040503050406030204" pitchFamily="18" charset="0"/>
                                      <a:cs typeface="Times New Roman" panose="02020603050405020304" pitchFamily="18" charset="0"/>
                                    </a:rPr>
                                    <m:t> </m:t>
                                  </m:r>
                                </m:sub>
                              </m:sSub>
                              <m:r>
                                <a:rPr lang="en-US" sz="2400" b="0" i="1" smtClean="0">
                                  <a:latin typeface="Cambria Math" panose="02040503050406030204" pitchFamily="18" charset="0"/>
                                  <a:cs typeface="Times New Roman" panose="02020603050405020304" pitchFamily="18" charset="0"/>
                                </a:rPr>
                                <m:t>𝑖𝑓</m:t>
                              </m:r>
                              <m:r>
                                <a:rPr lang="en-US" sz="2400" b="0" i="1" smtClean="0">
                                  <a:latin typeface="Cambria Math" panose="02040503050406030204" pitchFamily="18" charset="0"/>
                                  <a:cs typeface="Times New Roman" panose="02020603050405020304" pitchFamily="18" charset="0"/>
                                </a:rPr>
                                <m:t> </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=1</m:t>
                              </m:r>
                            </m:e>
                            <m:e>
                              <m:r>
                                <a:rPr lang="en-US" sz="2400" b="0" i="1" smtClean="0">
                                  <a:latin typeface="Cambria Math" panose="02040503050406030204" pitchFamily="18" charset="0"/>
                                  <a:cs typeface="Times New Roman" panose="02020603050405020304" pitchFamily="18" charset="0"/>
                                </a:rPr>
                                <m:t>0 </m:t>
                              </m:r>
                              <m:r>
                                <a:rPr lang="en-US" sz="2400" b="0" i="1" smtClean="0">
                                  <a:latin typeface="Cambria Math" panose="02040503050406030204" pitchFamily="18" charset="0"/>
                                  <a:cs typeface="Times New Roman" panose="02020603050405020304" pitchFamily="18" charset="0"/>
                                </a:rPr>
                                <m:t>𝑖𝑓</m:t>
                              </m:r>
                              <m:r>
                                <a:rPr lang="en-US" sz="2400" b="0" i="1" smtClean="0">
                                  <a:latin typeface="Cambria Math" panose="02040503050406030204" pitchFamily="18" charset="0"/>
                                  <a:cs typeface="Times New Roman" panose="02020603050405020304" pitchFamily="18" charset="0"/>
                                </a:rPr>
                                <m:t> </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=0</m:t>
                              </m:r>
                            </m:e>
                          </m:eqArr>
                        </m:e>
                      </m:d>
                    </m:oMath>
                  </m:oMathPara>
                </a14:m>
                <a:endParaRPr lang="en-US" sz="2400" dirty="0">
                  <a:cs typeface="Times New Roman" panose="02020603050405020304" pitchFamily="18" charset="0"/>
                </a:endParaRPr>
              </a:p>
              <a:p>
                <a:pPr marL="274320" lvl="1" indent="0">
                  <a:buNone/>
                </a:pPr>
                <a:r>
                  <a:rPr lang="en-US" sz="2400" dirty="0">
                    <a:cs typeface="Times New Roman" panose="02020603050405020304" pitchFamily="18" charset="0"/>
                  </a:rPr>
                  <a:t>A handy resource: </a:t>
                </a:r>
                <a:r>
                  <a:rPr lang="en-US" sz="2400" dirty="0">
                    <a:cs typeface="Times New Roman" panose="02020603050405020304" pitchFamily="18" charset="0"/>
                    <a:hlinkClick r:id="rId3"/>
                  </a:rPr>
                  <a:t>https://bookdown.org/sarahwerth2024/CategoricalBook/multinomial-logit-regression-r.html#running-a-mlr-in-r</a:t>
                </a:r>
                <a:r>
                  <a:rPr lang="en-US" sz="2400" dirty="0">
                    <a:cs typeface="Times New Roman" panose="02020603050405020304" pitchFamily="18" charset="0"/>
                  </a:rPr>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405791" cy="5141388"/>
              </a:xfrm>
              <a:blipFill>
                <a:blip r:embed="rId4"/>
                <a:stretch>
                  <a:fillRect l="-454" t="-1305" b="-5457"/>
                </a:stretch>
              </a:blipFill>
            </p:spPr>
            <p:txBody>
              <a:bodyPr/>
              <a:lstStyle/>
              <a:p>
                <a:r>
                  <a:rPr lang="en-CA">
                    <a:noFill/>
                  </a:rPr>
                  <a:t> </a:t>
                </a:r>
              </a:p>
            </p:txBody>
          </p:sp>
        </mc:Fallback>
      </mc:AlternateContent>
    </p:spTree>
    <p:extLst>
      <p:ext uri="{BB962C8B-B14F-4D97-AF65-F5344CB8AC3E}">
        <p14:creationId xmlns:p14="http://schemas.microsoft.com/office/powerpoint/2010/main" val="981944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261872" y="758952"/>
            <a:ext cx="10549128" cy="4041648"/>
          </a:xfrm>
        </p:spPr>
        <p:txBody>
          <a:bodyPr/>
          <a:lstStyle/>
          <a:p>
            <a:r>
              <a:rPr lang="en-US" dirty="0"/>
              <a:t>Example Paper: </a:t>
            </a:r>
            <a:br>
              <a:rPr lang="en-US" dirty="0"/>
            </a:br>
            <a:r>
              <a:rPr lang="en-US" dirty="0" err="1"/>
              <a:t>Bruhin</a:t>
            </a:r>
            <a:r>
              <a:rPr lang="en-US" dirty="0"/>
              <a:t> et al., (2019)</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r>
              <a:rPr lang="en-US" dirty="0"/>
              <a:t>“Spillovers of prosocial motivation: Evidence from an intervention study on blood donors”</a:t>
            </a:r>
          </a:p>
          <a:p>
            <a:r>
              <a:rPr lang="en-US" i="1" dirty="0"/>
              <a:t>Journal of Health Economics</a:t>
            </a:r>
          </a:p>
        </p:txBody>
      </p:sp>
    </p:spTree>
    <p:extLst>
      <p:ext uri="{BB962C8B-B14F-4D97-AF65-F5344CB8AC3E}">
        <p14:creationId xmlns:p14="http://schemas.microsoft.com/office/powerpoint/2010/main" val="12105292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Research question: how do peer effects drive donations?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We rely on blood donations for a lot of stuff, but we don’t get a lot of blood</a:t>
            </a:r>
          </a:p>
          <a:p>
            <a:r>
              <a:rPr lang="en-US" sz="2400" dirty="0">
                <a:cs typeface="Times New Roman" panose="02020603050405020304" pitchFamily="18" charset="0"/>
              </a:rPr>
              <a:t>Can peer effects increase turn out? (Motivational complementarities) </a:t>
            </a:r>
          </a:p>
        </p:txBody>
      </p:sp>
      <p:pic>
        <p:nvPicPr>
          <p:cNvPr id="5" name="Picture 4">
            <a:extLst>
              <a:ext uri="{FF2B5EF4-FFF2-40B4-BE49-F238E27FC236}">
                <a16:creationId xmlns:a16="http://schemas.microsoft.com/office/drawing/2014/main" id="{33FF6FDE-6EE7-D11B-4B4E-5B2EAEFC9BE5}"/>
              </a:ext>
            </a:extLst>
          </p:cNvPr>
          <p:cNvPicPr>
            <a:picLocks noChangeAspect="1"/>
          </p:cNvPicPr>
          <p:nvPr/>
        </p:nvPicPr>
        <p:blipFill>
          <a:blip r:embed="rId3"/>
          <a:stretch>
            <a:fillRect/>
          </a:stretch>
        </p:blipFill>
        <p:spPr>
          <a:xfrm>
            <a:off x="2209800" y="2034006"/>
            <a:ext cx="7228501" cy="4823994"/>
          </a:xfrm>
          <a:prstGeom prst="rect">
            <a:avLst/>
          </a:prstGeom>
        </p:spPr>
      </p:pic>
    </p:spTree>
    <p:extLst>
      <p:ext uri="{BB962C8B-B14F-4D97-AF65-F5344CB8AC3E}">
        <p14:creationId xmlns:p14="http://schemas.microsoft.com/office/powerpoint/2010/main" val="3866058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Research design: </a:t>
            </a:r>
            <a:r>
              <a:rPr lang="en-US" sz="3200" dirty="0">
                <a:cs typeface="Times New Roman" panose="02020603050405020304" pitchFamily="18" charset="0"/>
              </a:rPr>
              <a:t>identifying motivational complementarities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Two (Swiss) donors pre-registered at same address</a:t>
            </a:r>
          </a:p>
          <a:p>
            <a:pPr lvl="1"/>
            <a:r>
              <a:rPr lang="en-US" sz="2200" dirty="0">
                <a:cs typeface="Times New Roman" panose="02020603050405020304" pitchFamily="18" charset="0"/>
              </a:rPr>
              <a:t>Donors receive letter invitations + text message reminders</a:t>
            </a:r>
          </a:p>
          <a:p>
            <a:r>
              <a:rPr lang="en-US" sz="2400" dirty="0">
                <a:cs typeface="Times New Roman" panose="02020603050405020304" pitchFamily="18" charset="0"/>
              </a:rPr>
              <a:t>What’s the endogeneity problem? </a:t>
            </a:r>
          </a:p>
        </p:txBody>
      </p:sp>
      <p:pic>
        <p:nvPicPr>
          <p:cNvPr id="1026" name="Picture 2">
            <a:extLst>
              <a:ext uri="{FF2B5EF4-FFF2-40B4-BE49-F238E27FC236}">
                <a16:creationId xmlns:a16="http://schemas.microsoft.com/office/drawing/2014/main" id="{7574125F-4CDD-0BAB-5380-9652D373622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75" t="2222" r="1251" b="25031"/>
          <a:stretch/>
        </p:blipFill>
        <p:spPr bwMode="auto">
          <a:xfrm>
            <a:off x="914400" y="2438400"/>
            <a:ext cx="9664276" cy="40822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09700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Research design: </a:t>
            </a:r>
            <a:r>
              <a:rPr lang="en-US" sz="3200" dirty="0">
                <a:cs typeface="Times New Roman" panose="02020603050405020304" pitchFamily="18" charset="0"/>
              </a:rPr>
              <a:t>identifying motivational complementarities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Two (Swiss) donors pre-registered at same address</a:t>
            </a:r>
          </a:p>
          <a:p>
            <a:pPr lvl="1"/>
            <a:r>
              <a:rPr lang="en-US" sz="2200" dirty="0">
                <a:cs typeface="Times New Roman" panose="02020603050405020304" pitchFamily="18" charset="0"/>
              </a:rPr>
              <a:t>Donors receive letter invitations + text message reminders</a:t>
            </a:r>
          </a:p>
          <a:p>
            <a:r>
              <a:rPr lang="en-US" sz="2400" dirty="0">
                <a:cs typeface="Times New Roman" panose="02020603050405020304" pitchFamily="18" charset="0"/>
              </a:rPr>
              <a:t>What’s the endogeneity problem? </a:t>
            </a:r>
          </a:p>
          <a:p>
            <a:pPr lvl="1"/>
            <a:r>
              <a:rPr lang="en-US" sz="2200" dirty="0">
                <a:cs typeface="Times New Roman" panose="02020603050405020304" pitchFamily="18" charset="0"/>
              </a:rPr>
              <a:t>Pairs are endogenous</a:t>
            </a:r>
          </a:p>
          <a:p>
            <a:pPr lvl="1"/>
            <a:r>
              <a:rPr lang="en-US" sz="2200" dirty="0">
                <a:cs typeface="Times New Roman" panose="02020603050405020304" pitchFamily="18" charset="0"/>
              </a:rPr>
              <a:t>Even if spillovers exist, they create a “reflection problem”</a:t>
            </a:r>
          </a:p>
          <a:p>
            <a:r>
              <a:rPr lang="en-US" sz="2400" dirty="0">
                <a:cs typeface="Times New Roman" panose="02020603050405020304" pitchFamily="18" charset="0"/>
              </a:rPr>
              <a:t>What’s the strategy?  </a:t>
            </a:r>
          </a:p>
        </p:txBody>
      </p:sp>
    </p:spTree>
    <p:extLst>
      <p:ext uri="{BB962C8B-B14F-4D97-AF65-F5344CB8AC3E}">
        <p14:creationId xmlns:p14="http://schemas.microsoft.com/office/powerpoint/2010/main" val="30312006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Research design: </a:t>
            </a:r>
            <a:r>
              <a:rPr lang="en-US" sz="3200" dirty="0">
                <a:cs typeface="Times New Roman" panose="02020603050405020304" pitchFamily="18" charset="0"/>
              </a:rPr>
              <a:t>identifying motivational complementarities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Two (Swiss) donors pre-registered at same address</a:t>
            </a:r>
          </a:p>
          <a:p>
            <a:pPr lvl="1"/>
            <a:r>
              <a:rPr lang="en-US" sz="2200" dirty="0">
                <a:cs typeface="Times New Roman" panose="02020603050405020304" pitchFamily="18" charset="0"/>
              </a:rPr>
              <a:t>Donors receive letter invitations + text message reminders</a:t>
            </a:r>
          </a:p>
          <a:p>
            <a:r>
              <a:rPr lang="en-US" sz="2400" dirty="0">
                <a:cs typeface="Times New Roman" panose="02020603050405020304" pitchFamily="18" charset="0"/>
              </a:rPr>
              <a:t>What’s the endogeneity problem? </a:t>
            </a:r>
          </a:p>
          <a:p>
            <a:pPr lvl="1"/>
            <a:r>
              <a:rPr lang="en-US" sz="2200" dirty="0">
                <a:cs typeface="Times New Roman" panose="02020603050405020304" pitchFamily="18" charset="0"/>
              </a:rPr>
              <a:t>Pairs are endogenous</a:t>
            </a:r>
          </a:p>
          <a:p>
            <a:pPr lvl="1"/>
            <a:r>
              <a:rPr lang="en-US" sz="2200" dirty="0">
                <a:cs typeface="Times New Roman" panose="02020603050405020304" pitchFamily="18" charset="0"/>
              </a:rPr>
              <a:t>Even if spillovers exist, they create a “reflection problem”</a:t>
            </a:r>
          </a:p>
          <a:p>
            <a:r>
              <a:rPr lang="en-US" sz="2400" dirty="0">
                <a:cs typeface="Times New Roman" panose="02020603050405020304" pitchFamily="18" charset="0"/>
              </a:rPr>
              <a:t>What’s the strategy? </a:t>
            </a:r>
          </a:p>
          <a:p>
            <a:pPr lvl="1"/>
            <a:r>
              <a:rPr lang="en-US" sz="2200" dirty="0">
                <a:cs typeface="Times New Roman" panose="02020603050405020304" pitchFamily="18" charset="0"/>
              </a:rPr>
              <a:t>Random phone call, telling people their blood type is in short supply.  </a:t>
            </a:r>
          </a:p>
        </p:txBody>
      </p:sp>
      <p:pic>
        <p:nvPicPr>
          <p:cNvPr id="2050" name="Picture 2" descr="I vant to suck your blood - YouTube">
            <a:extLst>
              <a:ext uri="{FF2B5EF4-FFF2-40B4-BE49-F238E27FC236}">
                <a16:creationId xmlns:a16="http://schemas.microsoft.com/office/drawing/2014/main" id="{9B8DB551-2327-220C-D202-A62B85D20B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1400" y="4089722"/>
            <a:ext cx="3657600" cy="274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85094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Research design: </a:t>
            </a:r>
            <a:r>
              <a:rPr lang="en-US" sz="3200" dirty="0">
                <a:cs typeface="Times New Roman" panose="02020603050405020304" pitchFamily="18" charset="0"/>
              </a:rPr>
              <a:t>identifying motivational complementarities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Two (Swiss) donors pre-registered at same address</a:t>
            </a:r>
          </a:p>
          <a:p>
            <a:pPr lvl="1"/>
            <a:r>
              <a:rPr lang="en-US" sz="2200" dirty="0">
                <a:cs typeface="Times New Roman" panose="02020603050405020304" pitchFamily="18" charset="0"/>
              </a:rPr>
              <a:t>Donors receive letter invitations + text message reminders</a:t>
            </a:r>
          </a:p>
          <a:p>
            <a:r>
              <a:rPr lang="en-US" sz="2400" dirty="0">
                <a:cs typeface="Times New Roman" panose="02020603050405020304" pitchFamily="18" charset="0"/>
              </a:rPr>
              <a:t>What’s the endogeneity problem? </a:t>
            </a:r>
          </a:p>
          <a:p>
            <a:pPr lvl="1"/>
            <a:r>
              <a:rPr lang="en-US" sz="2200" dirty="0">
                <a:cs typeface="Times New Roman" panose="02020603050405020304" pitchFamily="18" charset="0"/>
              </a:rPr>
              <a:t>Pairs are endogenous</a:t>
            </a:r>
          </a:p>
          <a:p>
            <a:pPr lvl="1"/>
            <a:r>
              <a:rPr lang="en-US" sz="2200" dirty="0">
                <a:cs typeface="Times New Roman" panose="02020603050405020304" pitchFamily="18" charset="0"/>
              </a:rPr>
              <a:t>Even if spillovers exist, they create a “reflection problem”</a:t>
            </a:r>
          </a:p>
          <a:p>
            <a:r>
              <a:rPr lang="en-US" sz="2400" dirty="0">
                <a:cs typeface="Times New Roman" panose="02020603050405020304" pitchFamily="18" charset="0"/>
              </a:rPr>
              <a:t>What’s the strategy? </a:t>
            </a:r>
          </a:p>
          <a:p>
            <a:pPr lvl="1"/>
            <a:r>
              <a:rPr lang="en-US" sz="2200" dirty="0">
                <a:cs typeface="Times New Roman" panose="02020603050405020304" pitchFamily="18" charset="0"/>
              </a:rPr>
              <a:t>Random phone call, telling people their blood type is in short supply.</a:t>
            </a:r>
          </a:p>
          <a:p>
            <a:pPr lvl="1"/>
            <a:r>
              <a:rPr lang="en-US" sz="2200" dirty="0">
                <a:cs typeface="Times New Roman" panose="02020603050405020304" pitchFamily="18" charset="0"/>
              </a:rPr>
              <a:t>Is this a valid instrument? Why/why not? </a:t>
            </a:r>
          </a:p>
          <a:p>
            <a:pPr lvl="1"/>
            <a:r>
              <a:rPr lang="en-US" sz="2200" dirty="0">
                <a:cs typeface="Times New Roman" panose="02020603050405020304" pitchFamily="18" charset="0"/>
              </a:rPr>
              <a:t>Based on instrument, estimate a </a:t>
            </a:r>
            <a:r>
              <a:rPr lang="en-US" sz="2200" i="1" dirty="0">
                <a:cs typeface="Times New Roman" panose="02020603050405020304" pitchFamily="18" charset="0"/>
              </a:rPr>
              <a:t>bivariate </a:t>
            </a:r>
            <a:r>
              <a:rPr lang="en-US" sz="2200" i="1" dirty="0" err="1">
                <a:cs typeface="Times New Roman" panose="02020603050405020304" pitchFamily="18" charset="0"/>
              </a:rPr>
              <a:t>probit</a:t>
            </a:r>
            <a:r>
              <a:rPr lang="en-US" sz="2200" i="1" dirty="0">
                <a:cs typeface="Times New Roman" panose="02020603050405020304" pitchFamily="18" charset="0"/>
              </a:rPr>
              <a:t> </a:t>
            </a:r>
            <a:r>
              <a:rPr lang="en-US" sz="2200" dirty="0">
                <a:cs typeface="Times New Roman" panose="02020603050405020304" pitchFamily="18" charset="0"/>
              </a:rPr>
              <a:t>accounting for endogeneity  </a:t>
            </a:r>
          </a:p>
        </p:txBody>
      </p:sp>
    </p:spTree>
    <p:extLst>
      <p:ext uri="{BB962C8B-B14F-4D97-AF65-F5344CB8AC3E}">
        <p14:creationId xmlns:p14="http://schemas.microsoft.com/office/powerpoint/2010/main" val="25425860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Research design: </a:t>
            </a:r>
            <a:r>
              <a:rPr lang="en-US" sz="3200" dirty="0">
                <a:cs typeface="Times New Roman" panose="02020603050405020304" pitchFamily="18" charset="0"/>
              </a:rPr>
              <a:t>identifying motivational complementarities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Two (Swiss) donors pre-registered at same address</a:t>
            </a:r>
          </a:p>
          <a:p>
            <a:pPr lvl="1"/>
            <a:r>
              <a:rPr lang="en-US" sz="2200" dirty="0">
                <a:cs typeface="Times New Roman" panose="02020603050405020304" pitchFamily="18" charset="0"/>
              </a:rPr>
              <a:t>Donors receive letter invitations + text message reminders</a:t>
            </a:r>
          </a:p>
          <a:p>
            <a:r>
              <a:rPr lang="en-US" sz="2400" dirty="0">
                <a:cs typeface="Times New Roman" panose="02020603050405020304" pitchFamily="18" charset="0"/>
              </a:rPr>
              <a:t>What’s the endogeneity problem? </a:t>
            </a:r>
          </a:p>
          <a:p>
            <a:pPr lvl="1"/>
            <a:r>
              <a:rPr lang="en-US" sz="2200" dirty="0">
                <a:cs typeface="Times New Roman" panose="02020603050405020304" pitchFamily="18" charset="0"/>
              </a:rPr>
              <a:t>Pairs are endogenous</a:t>
            </a:r>
          </a:p>
          <a:p>
            <a:pPr lvl="1"/>
            <a:r>
              <a:rPr lang="en-US" sz="2200" dirty="0">
                <a:cs typeface="Times New Roman" panose="02020603050405020304" pitchFamily="18" charset="0"/>
              </a:rPr>
              <a:t>Even if spillovers exist, they create a “reflection problem”</a:t>
            </a:r>
          </a:p>
          <a:p>
            <a:r>
              <a:rPr lang="en-US" sz="2400" dirty="0">
                <a:cs typeface="Times New Roman" panose="02020603050405020304" pitchFamily="18" charset="0"/>
              </a:rPr>
              <a:t>What’s the strategy? </a:t>
            </a:r>
          </a:p>
          <a:p>
            <a:pPr lvl="1"/>
            <a:r>
              <a:rPr lang="en-US" sz="2200" dirty="0">
                <a:cs typeface="Times New Roman" panose="02020603050405020304" pitchFamily="18" charset="0"/>
              </a:rPr>
              <a:t>Random phone call, telling people their blood type is in short</a:t>
            </a:r>
          </a:p>
          <a:p>
            <a:pPr lvl="1"/>
            <a:r>
              <a:rPr lang="en-US" sz="2200" dirty="0">
                <a:cs typeface="Times New Roman" panose="02020603050405020304" pitchFamily="18" charset="0"/>
              </a:rPr>
              <a:t>Is this a valid instrument? Why/why not? </a:t>
            </a:r>
          </a:p>
          <a:p>
            <a:pPr lvl="1"/>
            <a:r>
              <a:rPr lang="en-US" sz="2200" dirty="0">
                <a:cs typeface="Times New Roman" panose="02020603050405020304" pitchFamily="18" charset="0"/>
              </a:rPr>
              <a:t>Based on instrument, estimate a </a:t>
            </a:r>
            <a:r>
              <a:rPr lang="en-US" sz="2200" i="1" dirty="0">
                <a:cs typeface="Times New Roman" panose="02020603050405020304" pitchFamily="18" charset="0"/>
              </a:rPr>
              <a:t>bivariate </a:t>
            </a:r>
            <a:r>
              <a:rPr lang="en-US" sz="2200" i="1" dirty="0" err="1">
                <a:cs typeface="Times New Roman" panose="02020603050405020304" pitchFamily="18" charset="0"/>
              </a:rPr>
              <a:t>probit</a:t>
            </a:r>
            <a:r>
              <a:rPr lang="en-US" sz="2200" i="1" dirty="0">
                <a:cs typeface="Times New Roman" panose="02020603050405020304" pitchFamily="18" charset="0"/>
              </a:rPr>
              <a:t> </a:t>
            </a:r>
            <a:r>
              <a:rPr lang="en-US" sz="2200" dirty="0">
                <a:cs typeface="Times New Roman" panose="02020603050405020304" pitchFamily="18" charset="0"/>
              </a:rPr>
              <a:t>accounting for</a:t>
            </a:r>
          </a:p>
        </p:txBody>
      </p:sp>
      <p:pic>
        <p:nvPicPr>
          <p:cNvPr id="5" name="Picture 4">
            <a:extLst>
              <a:ext uri="{FF2B5EF4-FFF2-40B4-BE49-F238E27FC236}">
                <a16:creationId xmlns:a16="http://schemas.microsoft.com/office/drawing/2014/main" id="{E20D521E-7AB7-8AF4-7955-8ECBE15FC752}"/>
              </a:ext>
            </a:extLst>
          </p:cNvPr>
          <p:cNvPicPr>
            <a:picLocks noChangeAspect="1"/>
          </p:cNvPicPr>
          <p:nvPr/>
        </p:nvPicPr>
        <p:blipFill>
          <a:blip r:embed="rId3"/>
          <a:stretch>
            <a:fillRect/>
          </a:stretch>
        </p:blipFill>
        <p:spPr>
          <a:xfrm>
            <a:off x="838200" y="1115993"/>
            <a:ext cx="7696200" cy="5464835"/>
          </a:xfrm>
          <a:prstGeom prst="rect">
            <a:avLst/>
          </a:prstGeom>
        </p:spPr>
      </p:pic>
    </p:spTree>
    <p:extLst>
      <p:ext uri="{BB962C8B-B14F-4D97-AF65-F5344CB8AC3E}">
        <p14:creationId xmlns:p14="http://schemas.microsoft.com/office/powerpoint/2010/main" val="3481013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Research methods: instrument relevance</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endParaRPr lang="en-US" sz="2200" dirty="0">
              <a:cs typeface="Times New Roman" panose="02020603050405020304" pitchFamily="18" charset="0"/>
            </a:endParaRPr>
          </a:p>
        </p:txBody>
      </p:sp>
      <p:pic>
        <p:nvPicPr>
          <p:cNvPr id="6" name="Picture 5">
            <a:extLst>
              <a:ext uri="{FF2B5EF4-FFF2-40B4-BE49-F238E27FC236}">
                <a16:creationId xmlns:a16="http://schemas.microsoft.com/office/drawing/2014/main" id="{3610D34E-4D11-8988-9788-9EE87C2AF9EF}"/>
              </a:ext>
            </a:extLst>
          </p:cNvPr>
          <p:cNvPicPr>
            <a:picLocks noChangeAspect="1"/>
          </p:cNvPicPr>
          <p:nvPr/>
        </p:nvPicPr>
        <p:blipFill>
          <a:blip r:embed="rId3"/>
          <a:stretch>
            <a:fillRect/>
          </a:stretch>
        </p:blipFill>
        <p:spPr>
          <a:xfrm>
            <a:off x="609600" y="1042687"/>
            <a:ext cx="10439400" cy="5500484"/>
          </a:xfrm>
          <a:prstGeom prst="rect">
            <a:avLst/>
          </a:prstGeom>
        </p:spPr>
      </p:pic>
    </p:spTree>
    <p:extLst>
      <p:ext uri="{BB962C8B-B14F-4D97-AF65-F5344CB8AC3E}">
        <p14:creationId xmlns:p14="http://schemas.microsoft.com/office/powerpoint/2010/main" val="30422194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261872" y="758952"/>
            <a:ext cx="10549128" cy="4041648"/>
          </a:xfrm>
        </p:spPr>
        <p:txBody>
          <a:bodyPr/>
          <a:lstStyle/>
          <a:p>
            <a:r>
              <a:rPr lang="en-US" dirty="0"/>
              <a:t>Binary Outcome Variables</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9539107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How does </a:t>
                </a:r>
                <a:r>
                  <a:rPr lang="en-US" sz="3600" b="1" dirty="0">
                    <a:cs typeface="Times New Roman" panose="02020603050405020304" pitchFamily="18" charset="0"/>
                  </a:rPr>
                  <a:t>OLS</a:t>
                </a:r>
                <a:r>
                  <a:rPr lang="en-US" sz="3600" dirty="0">
                    <a:cs typeface="Times New Roman" panose="02020603050405020304" pitchFamily="18" charset="0"/>
                  </a:rPr>
                  <a:t> work when </a:t>
                </a:r>
                <a14:m>
                  <m:oMath xmlns:m="http://schemas.openxmlformats.org/officeDocument/2006/math">
                    <m:r>
                      <a:rPr lang="en-US" sz="3600" b="0" i="1" smtClean="0">
                        <a:latin typeface="Cambria Math" panose="02040503050406030204" pitchFamily="18" charset="0"/>
                        <a:cs typeface="Times New Roman" panose="02020603050405020304" pitchFamily="18" charset="0"/>
                      </a:rPr>
                      <m:t>𝑌</m:t>
                    </m:r>
                  </m:oMath>
                </a14:m>
                <a:r>
                  <a:rPr lang="en-US" sz="3600" dirty="0">
                    <a:latin typeface="Times New Roman" panose="02020603050405020304" pitchFamily="18" charset="0"/>
                    <a:cs typeface="Times New Roman" panose="02020603050405020304" pitchFamily="18" charset="0"/>
                  </a:rPr>
                  <a:t> is binary?</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609600" y="337392"/>
                <a:ext cx="10439400" cy="624840"/>
              </a:xfrm>
              <a:blipFill>
                <a:blip r:embed="rId3"/>
                <a:stretch>
                  <a:fillRect l="-1751" t="-18447" b="-35922"/>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This is a really common case!</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𝐷</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oMath>
                  </m:oMathPara>
                </a14:m>
                <a:endParaRPr lang="en-US" sz="2400" dirty="0">
                  <a:cs typeface="Times New Roman" panose="02020603050405020304" pitchFamily="18" charset="0"/>
                </a:endParaRPr>
              </a:p>
              <a:p>
                <a:r>
                  <a:rPr lang="en-US" sz="2400" dirty="0">
                    <a:cs typeface="Times New Roman" panose="02020603050405020304" pitchFamily="18" charset="0"/>
                  </a:rPr>
                  <a:t>Let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be a binary outcome variable here</a:t>
                </a:r>
              </a:p>
              <a:p>
                <a:r>
                  <a:rPr lang="en-US" sz="2400" dirty="0">
                    <a:cs typeface="Times New Roman" panose="02020603050405020304" pitchFamily="18" charset="0"/>
                  </a:rPr>
                  <a:t>This is a typical OLS regression—same formula, same estimation. </a:t>
                </a:r>
              </a:p>
              <a:p>
                <a:r>
                  <a:rPr lang="en-US" sz="2400" dirty="0">
                    <a:cs typeface="Times New Roman" panose="02020603050405020304" pitchFamily="18" charset="0"/>
                  </a:rPr>
                  <a:t>Only difference: </a:t>
                </a:r>
                <a:r>
                  <a:rPr lang="en-US" sz="2400" b="1" dirty="0">
                    <a:solidFill>
                      <a:schemeClr val="accent2">
                        <a:lumMod val="75000"/>
                      </a:schemeClr>
                    </a:solidFill>
                    <a:cs typeface="Times New Roman" panose="02020603050405020304" pitchFamily="18" charset="0"/>
                  </a:rPr>
                  <a:t>interpretation</a:t>
                </a:r>
                <a:r>
                  <a:rPr lang="en-US" sz="2400" dirty="0">
                    <a:cs typeface="Times New Roman" panose="02020603050405020304" pitchFamily="18" charset="0"/>
                  </a:rPr>
                  <a:t>: how would we interpret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4"/>
                <a:stretch>
                  <a:fillRect l="-427" t="-1305"/>
                </a:stretch>
              </a:blipFill>
            </p:spPr>
            <p:txBody>
              <a:bodyPr/>
              <a:lstStyle/>
              <a:p>
                <a:r>
                  <a:rPr lang="en-US">
                    <a:noFill/>
                  </a:rPr>
                  <a:t> </a:t>
                </a:r>
              </a:p>
            </p:txBody>
          </p:sp>
        </mc:Fallback>
      </mc:AlternateContent>
    </p:spTree>
    <p:extLst>
      <p:ext uri="{BB962C8B-B14F-4D97-AF65-F5344CB8AC3E}">
        <p14:creationId xmlns:p14="http://schemas.microsoft.com/office/powerpoint/2010/main" val="3465454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How does </a:t>
                </a:r>
                <a:r>
                  <a:rPr lang="en-US" sz="3600" b="1" dirty="0">
                    <a:cs typeface="Times New Roman" panose="02020603050405020304" pitchFamily="18" charset="0"/>
                  </a:rPr>
                  <a:t>OLS</a:t>
                </a:r>
                <a:r>
                  <a:rPr lang="en-US" sz="3600" dirty="0">
                    <a:cs typeface="Times New Roman" panose="02020603050405020304" pitchFamily="18" charset="0"/>
                  </a:rPr>
                  <a:t> work when </a:t>
                </a:r>
                <a14:m>
                  <m:oMath xmlns:m="http://schemas.openxmlformats.org/officeDocument/2006/math">
                    <m:r>
                      <a:rPr lang="en-US" sz="3600" b="0" i="1" smtClean="0">
                        <a:latin typeface="Cambria Math" panose="02040503050406030204" pitchFamily="18" charset="0"/>
                        <a:cs typeface="Times New Roman" panose="02020603050405020304" pitchFamily="18" charset="0"/>
                      </a:rPr>
                      <m:t>𝑌</m:t>
                    </m:r>
                  </m:oMath>
                </a14:m>
                <a:r>
                  <a:rPr lang="en-US" sz="3600" dirty="0">
                    <a:latin typeface="Times New Roman" panose="02020603050405020304" pitchFamily="18" charset="0"/>
                    <a:cs typeface="Times New Roman" panose="02020603050405020304" pitchFamily="18" charset="0"/>
                  </a:rPr>
                  <a:t> is binary?</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609600" y="337392"/>
                <a:ext cx="10439400" cy="624840"/>
              </a:xfrm>
              <a:blipFill>
                <a:blip r:embed="rId3"/>
                <a:stretch>
                  <a:fillRect l="-1751" t="-18447" b="-35922"/>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This is a really common case!</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𝐷</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oMath>
                  </m:oMathPara>
                </a14:m>
                <a:endParaRPr lang="en-US" sz="2400" dirty="0">
                  <a:cs typeface="Times New Roman" panose="02020603050405020304" pitchFamily="18" charset="0"/>
                </a:endParaRPr>
              </a:p>
              <a:p>
                <a:r>
                  <a:rPr lang="en-US" sz="2400" dirty="0">
                    <a:cs typeface="Times New Roman" panose="02020603050405020304" pitchFamily="18" charset="0"/>
                  </a:rPr>
                  <a:t>Let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be a binary outcome variable here</a:t>
                </a:r>
              </a:p>
              <a:p>
                <a:r>
                  <a:rPr lang="en-US" sz="2400" dirty="0">
                    <a:cs typeface="Times New Roman" panose="02020603050405020304" pitchFamily="18" charset="0"/>
                  </a:rPr>
                  <a:t>This is a typical OLS regression—same formula, same estimation. </a:t>
                </a:r>
              </a:p>
              <a:p>
                <a:r>
                  <a:rPr lang="en-US" sz="2400" dirty="0">
                    <a:cs typeface="Times New Roman" panose="02020603050405020304" pitchFamily="18" charset="0"/>
                  </a:rPr>
                  <a:t>Only difference: </a:t>
                </a:r>
                <a:r>
                  <a:rPr lang="en-US" sz="2400" b="1" dirty="0">
                    <a:solidFill>
                      <a:schemeClr val="accent2">
                        <a:lumMod val="75000"/>
                      </a:schemeClr>
                    </a:solidFill>
                    <a:cs typeface="Times New Roman" panose="02020603050405020304" pitchFamily="18" charset="0"/>
                  </a:rPr>
                  <a:t>interpretation</a:t>
                </a:r>
                <a:r>
                  <a:rPr lang="en-US" sz="2400" dirty="0">
                    <a:cs typeface="Times New Roman" panose="02020603050405020304" pitchFamily="18" charset="0"/>
                  </a:rPr>
                  <a:t>: how would we interpret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a:t>
                </a:r>
              </a:p>
              <a:p>
                <a:pPr lvl="1"/>
                <a:r>
                  <a:rPr lang="en-US" sz="2400" dirty="0">
                    <a:cs typeface="Times New Roman" panose="02020603050405020304" pitchFamily="18" charset="0"/>
                  </a:rPr>
                  <a:t>Before,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oMath>
                </a14:m>
                <a:r>
                  <a:rPr lang="en-US" sz="2400" dirty="0">
                    <a:cs typeface="Times New Roman" panose="02020603050405020304" pitchFamily="18" charset="0"/>
                  </a:rPr>
                  <a:t> measures change in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𝑌</m:t>
                    </m:r>
                  </m:oMath>
                </a14:m>
                <a:r>
                  <a:rPr lang="en-US" sz="2400" dirty="0">
                    <a:cs typeface="Times New Roman" panose="02020603050405020304" pitchFamily="18" charset="0"/>
                  </a:rPr>
                  <a:t> when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changes by 1</a:t>
                </a:r>
              </a:p>
              <a:p>
                <a:pPr lvl="1"/>
                <a:r>
                  <a:rPr lang="en-US" sz="2400" dirty="0">
                    <a:cs typeface="Times New Roman" panose="02020603050405020304" pitchFamily="18" charset="0"/>
                  </a:rPr>
                  <a:t>Now,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oMath>
                </a14:m>
                <a:r>
                  <a:rPr lang="en-US" sz="2400" dirty="0">
                    <a:cs typeface="Times New Roman" panose="02020603050405020304" pitchFamily="18" charset="0"/>
                  </a:rPr>
                  <a:t> measures the change in </a:t>
                </a:r>
                <a14:m>
                  <m:oMath xmlns:m="http://schemas.openxmlformats.org/officeDocument/2006/math">
                    <m:r>
                      <m:rPr>
                        <m:sty m:val="p"/>
                      </m:rPr>
                      <a:rPr lang="en-US" sz="2400" b="0" i="0" smtClean="0">
                        <a:latin typeface="Cambria Math" panose="02040503050406030204" pitchFamily="18" charset="0"/>
                        <a:cs typeface="Times New Roman" panose="02020603050405020304" pitchFamily="18" charset="0"/>
                      </a:rPr>
                      <m:t>Pr</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𝑌</m:t>
                    </m:r>
                    <m:r>
                      <a:rPr lang="en-US" sz="2400" b="0" i="1" smtClean="0">
                        <a:latin typeface="Cambria Math" panose="02040503050406030204" pitchFamily="18" charset="0"/>
                        <a:cs typeface="Times New Roman" panose="02020603050405020304" pitchFamily="18" charset="0"/>
                      </a:rPr>
                      <m:t>=1)</m:t>
                    </m:r>
                  </m:oMath>
                </a14:m>
                <a:r>
                  <a:rPr lang="en-US" sz="2400" dirty="0">
                    <a:cs typeface="Times New Roman" panose="02020603050405020304" pitchFamily="18" charset="0"/>
                  </a:rPr>
                  <a:t> when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changes by 1</a:t>
                </a:r>
              </a:p>
              <a:p>
                <a:pPr lvl="1"/>
                <a:r>
                  <a:rPr lang="en-US" sz="2400" dirty="0">
                    <a:cs typeface="Times New Roman" panose="02020603050405020304" pitchFamily="18" charset="0"/>
                  </a:rPr>
                  <a:t>Measured in </a:t>
                </a:r>
                <a:r>
                  <a:rPr lang="en-US" sz="2400" b="1" dirty="0">
                    <a:cs typeface="Times New Roman" panose="02020603050405020304" pitchFamily="18" charset="0"/>
                  </a:rPr>
                  <a:t>percentage points</a:t>
                </a:r>
                <a:r>
                  <a:rPr lang="en-US" sz="2400" dirty="0">
                    <a:cs typeface="Times New Roman" panose="02020603050405020304" pitchFamily="18" charset="0"/>
                  </a:rPr>
                  <a:t>, not </a:t>
                </a:r>
                <a:r>
                  <a:rPr lang="en-US" sz="2400" b="1" dirty="0">
                    <a:cs typeface="Times New Roman" panose="02020603050405020304" pitchFamily="18" charset="0"/>
                  </a:rPr>
                  <a:t>percent</a:t>
                </a:r>
                <a:endParaRPr lang="en-US" sz="2400"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4"/>
                <a:stretch>
                  <a:fillRect l="-427" t="-1305"/>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4729F17E-6CED-F798-54A5-63FBD44D618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27629"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5253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Advantages and disadvantages of LPM</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0"/>
                <a:ext cx="9984829" cy="5141388"/>
              </a:xfrm>
            </p:spPr>
            <p:txBody>
              <a:bodyPr>
                <a:normAutofit/>
              </a:bodyPr>
              <a:lstStyle/>
              <a:p>
                <a:r>
                  <a:rPr lang="en-US" sz="2400" dirty="0">
                    <a:cs typeface="Times New Roman" panose="02020603050405020304" pitchFamily="18" charset="0"/>
                  </a:rPr>
                  <a:t>Being able to interpret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oMath>
                </a14:m>
                <a:r>
                  <a:rPr lang="en-US" sz="2400" dirty="0">
                    <a:cs typeface="Times New Roman" panose="02020603050405020304" pitchFamily="18" charset="0"/>
                  </a:rPr>
                  <a:t> as a </a:t>
                </a:r>
                <a:r>
                  <a:rPr lang="en-US" sz="2400" b="1" dirty="0">
                    <a:solidFill>
                      <a:schemeClr val="accent2">
                        <a:lumMod val="75000"/>
                      </a:schemeClr>
                    </a:solidFill>
                    <a:cs typeface="Times New Roman" panose="02020603050405020304" pitchFamily="18" charset="0"/>
                  </a:rPr>
                  <a:t>marginal effect </a:t>
                </a:r>
                <a:r>
                  <a:rPr lang="en-US" sz="2400" dirty="0">
                    <a:cs typeface="Times New Roman" panose="02020603050405020304" pitchFamily="18" charset="0"/>
                  </a:rPr>
                  <a:t>here is very useful!</a:t>
                </a:r>
              </a:p>
              <a:p>
                <a:r>
                  <a:rPr lang="en-US" sz="2400" dirty="0">
                    <a:cs typeface="Times New Roman" panose="02020603050405020304" pitchFamily="18" charset="0"/>
                  </a:rPr>
                  <a:t>But LPM has some other major drawbacks: </a:t>
                </a:r>
              </a:p>
              <a:p>
                <a:pPr lvl="1"/>
                <a:r>
                  <a:rPr lang="en-US" sz="2400" dirty="0">
                    <a:cs typeface="Times New Roman" panose="02020603050405020304" pitchFamily="18" charset="0"/>
                  </a:rPr>
                  <a:t> Predictions are generally </a:t>
                </a:r>
                <a:r>
                  <a:rPr lang="en-US" sz="2400" i="1" dirty="0">
                    <a:cs typeface="Times New Roman" panose="02020603050405020304" pitchFamily="18" charset="0"/>
                  </a:rPr>
                  <a:t>way </a:t>
                </a:r>
                <a:r>
                  <a:rPr lang="en-US" sz="2400" dirty="0">
                    <a:cs typeface="Times New Roman" panose="02020603050405020304" pitchFamily="18" charset="0"/>
                  </a:rPr>
                  <a:t>off (how do you calculate accuracy here?)</a:t>
                </a:r>
              </a:p>
              <a:p>
                <a:pPr lvl="1"/>
                <a:r>
                  <a:rPr lang="en-US" sz="2400" dirty="0">
                    <a:cs typeface="Times New Roman" panose="02020603050405020304" pitchFamily="18" charset="0"/>
                  </a:rPr>
                  <a:t> What’s more, predictions can be outside of the actual </a:t>
                </a:r>
                <a:r>
                  <a:rPr lang="en-US" sz="2400" b="1" dirty="0">
                    <a:cs typeface="Times New Roman" panose="02020603050405020304" pitchFamily="18" charset="0"/>
                  </a:rPr>
                  <a:t>unit interval</a:t>
                </a:r>
              </a:p>
              <a:p>
                <a:pPr lvl="1"/>
                <a:r>
                  <a:rPr lang="en-US" sz="2400" dirty="0">
                    <a:cs typeface="Times New Roman" panose="02020603050405020304" pitchFamily="18" charset="0"/>
                  </a:rPr>
                  <a:t> A disguised disadvantage: we assume that the marginal effect here is </a:t>
                </a:r>
                <a:r>
                  <a:rPr lang="en-US" sz="2400" u="sng" dirty="0">
                    <a:cs typeface="Times New Roman" panose="02020603050405020304" pitchFamily="18" charset="0"/>
                  </a:rPr>
                  <a:t>constant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0"/>
                <a:ext cx="9984829" cy="5141388"/>
              </a:xfrm>
              <a:blipFill>
                <a:blip r:embed="rId3"/>
                <a:stretch>
                  <a:fillRect l="-427" t="-1305"/>
                </a:stretch>
              </a:blipFill>
            </p:spPr>
            <p:txBody>
              <a:bodyPr/>
              <a:lstStyle/>
              <a:p>
                <a:r>
                  <a:rPr lang="en-CA">
                    <a:noFill/>
                  </a:rPr>
                  <a:t> </a:t>
                </a:r>
              </a:p>
            </p:txBody>
          </p:sp>
        </mc:Fallback>
      </mc:AlternateContent>
    </p:spTree>
    <p:extLst>
      <p:ext uri="{BB962C8B-B14F-4D97-AF65-F5344CB8AC3E}">
        <p14:creationId xmlns:p14="http://schemas.microsoft.com/office/powerpoint/2010/main" val="25191038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Advantages and disadvantages of LPM</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0"/>
                <a:ext cx="9984829" cy="5141388"/>
              </a:xfrm>
            </p:spPr>
            <p:txBody>
              <a:bodyPr>
                <a:normAutofit/>
              </a:bodyPr>
              <a:lstStyle/>
              <a:p>
                <a:r>
                  <a:rPr lang="en-US" sz="2400" dirty="0">
                    <a:cs typeface="Times New Roman" panose="02020603050405020304" pitchFamily="18" charset="0"/>
                  </a:rPr>
                  <a:t>Being able to interpret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oMath>
                </a14:m>
                <a:r>
                  <a:rPr lang="en-US" sz="2400" dirty="0">
                    <a:cs typeface="Times New Roman" panose="02020603050405020304" pitchFamily="18" charset="0"/>
                  </a:rPr>
                  <a:t> as a </a:t>
                </a:r>
                <a:r>
                  <a:rPr lang="en-US" sz="2400" b="1" dirty="0">
                    <a:solidFill>
                      <a:schemeClr val="accent2">
                        <a:lumMod val="75000"/>
                      </a:schemeClr>
                    </a:solidFill>
                    <a:cs typeface="Times New Roman" panose="02020603050405020304" pitchFamily="18" charset="0"/>
                  </a:rPr>
                  <a:t>marginal effect </a:t>
                </a:r>
                <a:r>
                  <a:rPr lang="en-US" sz="2400" dirty="0">
                    <a:cs typeface="Times New Roman" panose="02020603050405020304" pitchFamily="18" charset="0"/>
                  </a:rPr>
                  <a:t>here is very useful!</a:t>
                </a:r>
              </a:p>
              <a:p>
                <a:r>
                  <a:rPr lang="en-US" sz="2400" dirty="0">
                    <a:cs typeface="Times New Roman" panose="02020603050405020304" pitchFamily="18" charset="0"/>
                  </a:rPr>
                  <a:t>But LPM has some other major drawbacks: </a:t>
                </a:r>
              </a:p>
              <a:p>
                <a:pPr lvl="1"/>
                <a:r>
                  <a:rPr lang="en-US" sz="2400" dirty="0">
                    <a:cs typeface="Times New Roman" panose="02020603050405020304" pitchFamily="18" charset="0"/>
                  </a:rPr>
                  <a:t> Predictions are generally </a:t>
                </a:r>
                <a:r>
                  <a:rPr lang="en-US" sz="2400" i="1" dirty="0">
                    <a:cs typeface="Times New Roman" panose="02020603050405020304" pitchFamily="18" charset="0"/>
                  </a:rPr>
                  <a:t>way </a:t>
                </a:r>
                <a:r>
                  <a:rPr lang="en-US" sz="2400" dirty="0">
                    <a:cs typeface="Times New Roman" panose="02020603050405020304" pitchFamily="18" charset="0"/>
                  </a:rPr>
                  <a:t>off (how do you calculate accuracy here?)</a:t>
                </a:r>
              </a:p>
              <a:p>
                <a:pPr lvl="1"/>
                <a:r>
                  <a:rPr lang="en-US" sz="2400" dirty="0">
                    <a:cs typeface="Times New Roman" panose="02020603050405020304" pitchFamily="18" charset="0"/>
                  </a:rPr>
                  <a:t> What’s more, predictions can be outside of the actual </a:t>
                </a:r>
                <a:r>
                  <a:rPr lang="en-US" sz="2400" b="1" dirty="0">
                    <a:cs typeface="Times New Roman" panose="02020603050405020304" pitchFamily="18" charset="0"/>
                  </a:rPr>
                  <a:t>unit interval</a:t>
                </a:r>
              </a:p>
              <a:p>
                <a:pPr lvl="1"/>
                <a:r>
                  <a:rPr lang="en-US" sz="2400" dirty="0">
                    <a:cs typeface="Times New Roman" panose="02020603050405020304" pitchFamily="18" charset="0"/>
                  </a:rPr>
                  <a:t> A disguised disadvantage: we assume that the marginal effect here is </a:t>
                </a:r>
                <a:r>
                  <a:rPr lang="en-US" sz="2400" u="sng" dirty="0">
                    <a:cs typeface="Times New Roman" panose="02020603050405020304" pitchFamily="18" charset="0"/>
                  </a:rPr>
                  <a:t>constant</a:t>
                </a:r>
              </a:p>
              <a:p>
                <a:r>
                  <a:rPr lang="en-US" sz="2400" dirty="0">
                    <a:cs typeface="Times New Roman" panose="02020603050405020304" pitchFamily="18" charset="0"/>
                  </a:rPr>
                  <a:t>What we really want is a model that </a:t>
                </a:r>
                <a:r>
                  <a:rPr lang="en-US" sz="2400" b="1" dirty="0">
                    <a:cs typeface="Times New Roman" panose="02020603050405020304" pitchFamily="18" charset="0"/>
                  </a:rPr>
                  <a:t>acknowledges </a:t>
                </a:r>
                <a:r>
                  <a:rPr lang="en-US" sz="2400" dirty="0">
                    <a:cs typeface="Times New Roman" panose="02020603050405020304" pitchFamily="18" charset="0"/>
                  </a:rPr>
                  <a:t>that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𝑌</m:t>
                    </m:r>
                    <m:r>
                      <a:rPr lang="en-US" sz="2400" b="0" i="1" smtClean="0">
                        <a:latin typeface="Cambria Math" panose="02040503050406030204" pitchFamily="18" charset="0"/>
                        <a:cs typeface="Times New Roman" panose="02020603050405020304" pitchFamily="18" charset="0"/>
                      </a:rPr>
                      <m:t>∈{0,1}</m:t>
                    </m:r>
                  </m:oMath>
                </a14:m>
                <a:r>
                  <a:rPr lang="en-US" sz="2400" dirty="0">
                    <a:cs typeface="Times New Roman" panose="02020603050405020304" pitchFamily="18" charset="0"/>
                  </a:rPr>
                  <a:t>. </a:t>
                </a:r>
              </a:p>
              <a:p>
                <a:r>
                  <a:rPr lang="en-US" sz="2400" dirty="0">
                    <a:cs typeface="Times New Roman" panose="02020603050405020304" pitchFamily="18" charset="0"/>
                  </a:rPr>
                  <a:t>OLS doesn’t do that!</a:t>
                </a:r>
              </a:p>
              <a:p>
                <a:r>
                  <a:rPr lang="en-US" sz="2400" dirty="0">
                    <a:cs typeface="Times New Roman" panose="02020603050405020304" pitchFamily="18" charset="0"/>
                  </a:rPr>
                  <a:t>A side note: </a:t>
                </a:r>
                <a:r>
                  <a:rPr lang="en-US" sz="2400" b="1" dirty="0">
                    <a:cs typeface="Times New Roman" panose="02020603050405020304" pitchFamily="18" charset="0"/>
                  </a:rPr>
                  <a:t>heteroskedasticity is </a:t>
                </a:r>
                <a:r>
                  <a:rPr lang="en-US" sz="2400" b="1" i="1" dirty="0">
                    <a:cs typeface="Times New Roman" panose="02020603050405020304" pitchFamily="18" charset="0"/>
                  </a:rPr>
                  <a:t>built in </a:t>
                </a:r>
                <a:r>
                  <a:rPr lang="en-US" sz="2400" b="1" dirty="0">
                    <a:cs typeface="Times New Roman" panose="02020603050405020304" pitchFamily="18" charset="0"/>
                  </a:rPr>
                  <a:t>with an LPM. </a:t>
                </a:r>
                <a:r>
                  <a:rPr lang="en-US" sz="2400" dirty="0">
                    <a:cs typeface="Times New Roman" panose="02020603050405020304" pitchFamily="18" charset="0"/>
                  </a:rPr>
                  <a:t>(Why?)</a:t>
                </a:r>
              </a:p>
              <a:p>
                <a:pPr lvl="1"/>
                <a:r>
                  <a:rPr lang="en-US" sz="2400" dirty="0">
                    <a:cs typeface="Times New Roman" panose="02020603050405020304" pitchFamily="18" charset="0"/>
                  </a:rPr>
                  <a:t>If you use an LPM, you </a:t>
                </a:r>
                <a:r>
                  <a:rPr lang="en-US" sz="2400" u="sng" dirty="0">
                    <a:cs typeface="Times New Roman" panose="02020603050405020304" pitchFamily="18" charset="0"/>
                  </a:rPr>
                  <a:t>have to </a:t>
                </a:r>
                <a:r>
                  <a:rPr lang="en-US" sz="2400" dirty="0">
                    <a:cs typeface="Times New Roman" panose="02020603050405020304" pitchFamily="18" charset="0"/>
                  </a:rPr>
                  <a:t>use robust standard errors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0"/>
                <a:ext cx="9984829" cy="5141388"/>
              </a:xfrm>
              <a:blipFill>
                <a:blip r:embed="rId3"/>
                <a:stretch>
                  <a:fillRect l="-427" t="-1305"/>
                </a:stretch>
              </a:blipFill>
            </p:spPr>
            <p:txBody>
              <a:bodyPr/>
              <a:lstStyle/>
              <a:p>
                <a:r>
                  <a:rPr lang="en-CA">
                    <a:noFill/>
                  </a:rPr>
                  <a:t> </a:t>
                </a:r>
              </a:p>
            </p:txBody>
          </p:sp>
        </mc:Fallback>
      </mc:AlternateContent>
      <p:pic>
        <p:nvPicPr>
          <p:cNvPr id="4" name="Picture 2" descr="RStudio - RStudio">
            <a:extLst>
              <a:ext uri="{FF2B5EF4-FFF2-40B4-BE49-F238E27FC236}">
                <a16:creationId xmlns:a16="http://schemas.microsoft.com/office/drawing/2014/main" id="{459510D8-8B9D-93E2-2694-109AC84122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7629"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65821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What does an LPM even predict?</a:t>
            </a:r>
          </a:p>
        </p:txBody>
      </p:sp>
      <p:sp>
        <p:nvSpPr>
          <p:cNvPr id="3" name="Content Placeholder 2"/>
          <p:cNvSpPr>
            <a:spLocks noGrp="1"/>
          </p:cNvSpPr>
          <p:nvPr>
            <p:ph idx="1"/>
          </p:nvPr>
        </p:nvSpPr>
        <p:spPr>
          <a:xfrm>
            <a:off x="914400" y="1066801"/>
            <a:ext cx="9984829" cy="5141388"/>
          </a:xfrm>
        </p:spPr>
        <p:txBody>
          <a:bodyPr>
            <a:normAutofit/>
          </a:bodyPr>
          <a:lstStyle/>
          <a:p>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E6AA3B4D-6FE0-330B-A38D-E604B97B2203}"/>
              </a:ext>
            </a:extLst>
          </p:cNvPr>
          <p:cNvPicPr>
            <a:picLocks noChangeAspect="1"/>
          </p:cNvPicPr>
          <p:nvPr/>
        </p:nvPicPr>
        <p:blipFill>
          <a:blip r:embed="rId3"/>
          <a:stretch>
            <a:fillRect/>
          </a:stretch>
        </p:blipFill>
        <p:spPr>
          <a:xfrm>
            <a:off x="2034540" y="1098631"/>
            <a:ext cx="7589520" cy="5598013"/>
          </a:xfrm>
          <a:prstGeom prst="rect">
            <a:avLst/>
          </a:prstGeom>
        </p:spPr>
      </p:pic>
    </p:spTree>
    <p:extLst>
      <p:ext uri="{BB962C8B-B14F-4D97-AF65-F5344CB8AC3E}">
        <p14:creationId xmlns:p14="http://schemas.microsoft.com/office/powerpoint/2010/main" val="39524367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What does an LPM even predict?</a:t>
            </a:r>
          </a:p>
        </p:txBody>
      </p:sp>
      <p:sp>
        <p:nvSpPr>
          <p:cNvPr id="3" name="Content Placeholder 2"/>
          <p:cNvSpPr>
            <a:spLocks noGrp="1"/>
          </p:cNvSpPr>
          <p:nvPr>
            <p:ph idx="1"/>
          </p:nvPr>
        </p:nvSpPr>
        <p:spPr>
          <a:xfrm>
            <a:off x="914400" y="1066801"/>
            <a:ext cx="9984829" cy="5141388"/>
          </a:xfrm>
        </p:spPr>
        <p:txBody>
          <a:bodyPr>
            <a:normAutofit/>
          </a:bodyPr>
          <a:lstStyle/>
          <a:p>
            <a:endParaRPr lang="en-US" sz="2400" dirty="0">
              <a:cs typeface="Times New Roman" panose="02020603050405020304" pitchFamily="18" charset="0"/>
            </a:endParaRPr>
          </a:p>
        </p:txBody>
      </p:sp>
      <p:pic>
        <p:nvPicPr>
          <p:cNvPr id="7" name="Picture 6">
            <a:extLst>
              <a:ext uri="{FF2B5EF4-FFF2-40B4-BE49-F238E27FC236}">
                <a16:creationId xmlns:a16="http://schemas.microsoft.com/office/drawing/2014/main" id="{5C30B6BD-3AAC-1744-B9F6-05C4C85190E6}"/>
              </a:ext>
            </a:extLst>
          </p:cNvPr>
          <p:cNvPicPr>
            <a:picLocks noChangeAspect="1"/>
          </p:cNvPicPr>
          <p:nvPr/>
        </p:nvPicPr>
        <p:blipFill>
          <a:blip r:embed="rId3"/>
          <a:stretch>
            <a:fillRect/>
          </a:stretch>
        </p:blipFill>
        <p:spPr>
          <a:xfrm>
            <a:off x="2034540" y="1066801"/>
            <a:ext cx="7589520" cy="5391743"/>
          </a:xfrm>
          <a:prstGeom prst="rect">
            <a:avLst/>
          </a:prstGeom>
        </p:spPr>
      </p:pic>
    </p:spTree>
    <p:extLst>
      <p:ext uri="{BB962C8B-B14F-4D97-AF65-F5344CB8AC3E}">
        <p14:creationId xmlns:p14="http://schemas.microsoft.com/office/powerpoint/2010/main" val="22778320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Estimating Probabilities: Linear Probability Models</a:t>
            </a:r>
          </a:p>
        </p:txBody>
      </p:sp>
      <p:pic>
        <p:nvPicPr>
          <p:cNvPr id="5" name="Content Placeholder 4">
            <a:extLst>
              <a:ext uri="{FF2B5EF4-FFF2-40B4-BE49-F238E27FC236}">
                <a16:creationId xmlns:a16="http://schemas.microsoft.com/office/drawing/2014/main" id="{180BC8A5-5C96-718F-57D2-B77896F883CB}"/>
              </a:ext>
            </a:extLst>
          </p:cNvPr>
          <p:cNvPicPr>
            <a:picLocks noGrp="1" noChangeAspect="1"/>
          </p:cNvPicPr>
          <p:nvPr>
            <p:ph idx="1"/>
          </p:nvPr>
        </p:nvPicPr>
        <p:blipFill>
          <a:blip r:embed="rId3"/>
          <a:stretch>
            <a:fillRect/>
          </a:stretch>
        </p:blipFill>
        <p:spPr>
          <a:xfrm>
            <a:off x="199731" y="1371600"/>
            <a:ext cx="10747021" cy="4267200"/>
          </a:xfrm>
        </p:spPr>
      </p:pic>
    </p:spTree>
    <p:extLst>
      <p:ext uri="{BB962C8B-B14F-4D97-AF65-F5344CB8AC3E}">
        <p14:creationId xmlns:p14="http://schemas.microsoft.com/office/powerpoint/2010/main" val="7619968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Estimating Probabilities: Linear Probability Models</a:t>
            </a:r>
          </a:p>
        </p:txBody>
      </p:sp>
      <p:pic>
        <p:nvPicPr>
          <p:cNvPr id="5" name="Content Placeholder 4">
            <a:extLst>
              <a:ext uri="{FF2B5EF4-FFF2-40B4-BE49-F238E27FC236}">
                <a16:creationId xmlns:a16="http://schemas.microsoft.com/office/drawing/2014/main" id="{180BC8A5-5C96-718F-57D2-B77896F883CB}"/>
              </a:ext>
            </a:extLst>
          </p:cNvPr>
          <p:cNvPicPr>
            <a:picLocks noGrp="1" noChangeAspect="1"/>
          </p:cNvPicPr>
          <p:nvPr>
            <p:ph idx="1"/>
          </p:nvPr>
        </p:nvPicPr>
        <p:blipFill>
          <a:blip r:embed="rId3"/>
          <a:stretch>
            <a:fillRect/>
          </a:stretch>
        </p:blipFill>
        <p:spPr>
          <a:xfrm>
            <a:off x="199731" y="1371600"/>
            <a:ext cx="10747021" cy="4267200"/>
          </a:xfrm>
        </p:spPr>
      </p:pic>
      <p:pic>
        <p:nvPicPr>
          <p:cNvPr id="4" name="Picture 3">
            <a:extLst>
              <a:ext uri="{FF2B5EF4-FFF2-40B4-BE49-F238E27FC236}">
                <a16:creationId xmlns:a16="http://schemas.microsoft.com/office/drawing/2014/main" id="{B4770FD9-848C-7252-BE1C-4E88CF5E068B}"/>
              </a:ext>
            </a:extLst>
          </p:cNvPr>
          <p:cNvPicPr>
            <a:picLocks noChangeAspect="1"/>
          </p:cNvPicPr>
          <p:nvPr/>
        </p:nvPicPr>
        <p:blipFill>
          <a:blip r:embed="rId4"/>
          <a:stretch>
            <a:fillRect/>
          </a:stretch>
        </p:blipFill>
        <p:spPr>
          <a:xfrm>
            <a:off x="322144" y="1447800"/>
            <a:ext cx="10726856" cy="4267200"/>
          </a:xfrm>
          <a:prstGeom prst="rect">
            <a:avLst/>
          </a:prstGeom>
        </p:spPr>
      </p:pic>
    </p:spTree>
    <p:extLst>
      <p:ext uri="{BB962C8B-B14F-4D97-AF65-F5344CB8AC3E}">
        <p14:creationId xmlns:p14="http://schemas.microsoft.com/office/powerpoint/2010/main" val="1408503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Estimating Probabilities: Odds</a:t>
            </a:r>
          </a:p>
        </p:txBody>
      </p:sp>
      <p:pic>
        <p:nvPicPr>
          <p:cNvPr id="6" name="Picture 5">
            <a:extLst>
              <a:ext uri="{FF2B5EF4-FFF2-40B4-BE49-F238E27FC236}">
                <a16:creationId xmlns:a16="http://schemas.microsoft.com/office/drawing/2014/main" id="{21E7C558-BF76-3B25-160A-34080317BC74}"/>
              </a:ext>
            </a:extLst>
          </p:cNvPr>
          <p:cNvPicPr>
            <a:picLocks noChangeAspect="1"/>
          </p:cNvPicPr>
          <p:nvPr/>
        </p:nvPicPr>
        <p:blipFill>
          <a:blip r:embed="rId3"/>
          <a:stretch>
            <a:fillRect/>
          </a:stretch>
        </p:blipFill>
        <p:spPr>
          <a:xfrm>
            <a:off x="685800" y="1202170"/>
            <a:ext cx="10223630" cy="4208029"/>
          </a:xfrm>
          <a:prstGeom prst="rect">
            <a:avLst/>
          </a:prstGeom>
        </p:spPr>
      </p:pic>
    </p:spTree>
    <p:extLst>
      <p:ext uri="{BB962C8B-B14F-4D97-AF65-F5344CB8AC3E}">
        <p14:creationId xmlns:p14="http://schemas.microsoft.com/office/powerpoint/2010/main" val="24796806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Estimating Probabilities: Log(Odds)</a:t>
            </a:r>
          </a:p>
        </p:txBody>
      </p:sp>
      <p:pic>
        <p:nvPicPr>
          <p:cNvPr id="4" name="Picture 3">
            <a:extLst>
              <a:ext uri="{FF2B5EF4-FFF2-40B4-BE49-F238E27FC236}">
                <a16:creationId xmlns:a16="http://schemas.microsoft.com/office/drawing/2014/main" id="{846C7293-360E-3624-0789-B5A891DD32A2}"/>
              </a:ext>
            </a:extLst>
          </p:cNvPr>
          <p:cNvPicPr>
            <a:picLocks noChangeAspect="1"/>
          </p:cNvPicPr>
          <p:nvPr/>
        </p:nvPicPr>
        <p:blipFill>
          <a:blip r:embed="rId3"/>
          <a:stretch>
            <a:fillRect/>
          </a:stretch>
        </p:blipFill>
        <p:spPr>
          <a:xfrm>
            <a:off x="692347" y="1295400"/>
            <a:ext cx="10228344" cy="4038600"/>
          </a:xfrm>
          <a:prstGeom prst="rect">
            <a:avLst/>
          </a:prstGeom>
        </p:spPr>
      </p:pic>
    </p:spTree>
    <p:extLst>
      <p:ext uri="{BB962C8B-B14F-4D97-AF65-F5344CB8AC3E}">
        <p14:creationId xmlns:p14="http://schemas.microsoft.com/office/powerpoint/2010/main" val="4138237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Alternatives: Nonlinear estimation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OLS can’t take into account the shape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but we can generalize from: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𝐷</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oMath>
                  </m:oMathPara>
                </a14:m>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To: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𝐷</m:t>
                          </m:r>
                        </m:e>
                        <m:e>
                          <m:r>
                            <a:rPr lang="en-US" sz="2400" b="0" i="1" smtClean="0">
                              <a:latin typeface="Cambria Math" panose="02040503050406030204" pitchFamily="18" charset="0"/>
                              <a:cs typeface="Times New Roman" panose="02020603050405020304" pitchFamily="18" charset="0"/>
                            </a:rPr>
                            <m:t>𝑋</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𝐹</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oMath>
                  </m:oMathPara>
                </a14:m>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916" t="-1305"/>
                </a:stretch>
              </a:blipFill>
            </p:spPr>
            <p:txBody>
              <a:bodyPr/>
              <a:lstStyle/>
              <a:p>
                <a:r>
                  <a:rPr lang="en-US">
                    <a:noFill/>
                  </a:rPr>
                  <a:t> </a:t>
                </a:r>
              </a:p>
            </p:txBody>
          </p:sp>
        </mc:Fallback>
      </mc:AlternateContent>
    </p:spTree>
    <p:extLst>
      <p:ext uri="{BB962C8B-B14F-4D97-AF65-F5344CB8AC3E}">
        <p14:creationId xmlns:p14="http://schemas.microsoft.com/office/powerpoint/2010/main" val="24322055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Alternatives: Nonlinear estimation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OLS can’t take into account the shape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but we can generalize from: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𝐷</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oMath>
                  </m:oMathPara>
                </a14:m>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To: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𝐷</m:t>
                          </m:r>
                        </m:e>
                        <m:e>
                          <m:r>
                            <a:rPr lang="en-US" sz="2400" b="0" i="1" smtClean="0">
                              <a:latin typeface="Cambria Math" panose="02040503050406030204" pitchFamily="18" charset="0"/>
                              <a:cs typeface="Times New Roman" panose="02020603050405020304" pitchFamily="18" charset="0"/>
                            </a:rPr>
                            <m:t>𝑋</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𝐹</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oMath>
                  </m:oMathPara>
                </a14:m>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916" t="-1305"/>
                </a:stretch>
              </a:blipFill>
            </p:spPr>
            <p:txBody>
              <a:bodyPr/>
              <a:lstStyle/>
              <a:p>
                <a:r>
                  <a:rPr lang="en-US">
                    <a:noFill/>
                  </a:rPr>
                  <a:t> </a:t>
                </a:r>
              </a:p>
            </p:txBody>
          </p:sp>
        </mc:Fallback>
      </mc:AlternateContent>
      <p:sp>
        <p:nvSpPr>
          <p:cNvPr id="4" name="Right Brace 3">
            <a:extLst>
              <a:ext uri="{FF2B5EF4-FFF2-40B4-BE49-F238E27FC236}">
                <a16:creationId xmlns:a16="http://schemas.microsoft.com/office/drawing/2014/main" id="{FDEE5680-F793-B1DA-EEF6-7CE7096CB210}"/>
              </a:ext>
            </a:extLst>
          </p:cNvPr>
          <p:cNvSpPr/>
          <p:nvPr/>
        </p:nvSpPr>
        <p:spPr>
          <a:xfrm rot="5400000">
            <a:off x="6591300" y="2532444"/>
            <a:ext cx="304800" cy="990600"/>
          </a:xfrm>
          <a:prstGeom prst="rightBrace">
            <a:avLst/>
          </a:prstGeom>
          <a:noFill/>
          <a:ln w="381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C270F4F4-2332-5C23-F166-91C98618F264}"/>
              </a:ext>
            </a:extLst>
          </p:cNvPr>
          <p:cNvSpPr txBox="1"/>
          <p:nvPr/>
        </p:nvSpPr>
        <p:spPr>
          <a:xfrm>
            <a:off x="5829300" y="3276600"/>
            <a:ext cx="2705100" cy="369332"/>
          </a:xfrm>
          <a:prstGeom prst="rect">
            <a:avLst/>
          </a:prstGeom>
          <a:noFill/>
        </p:spPr>
        <p:txBody>
          <a:bodyPr wrap="square" rtlCol="0">
            <a:spAutoFit/>
          </a:bodyPr>
          <a:lstStyle/>
          <a:p>
            <a:r>
              <a:rPr lang="en-US" i="1" dirty="0">
                <a:solidFill>
                  <a:srgbClr val="00B050"/>
                </a:solidFill>
              </a:rPr>
              <a:t>Index function</a:t>
            </a:r>
          </a:p>
        </p:txBody>
      </p:sp>
      <p:sp>
        <p:nvSpPr>
          <p:cNvPr id="6" name="Right Brace 5">
            <a:extLst>
              <a:ext uri="{FF2B5EF4-FFF2-40B4-BE49-F238E27FC236}">
                <a16:creationId xmlns:a16="http://schemas.microsoft.com/office/drawing/2014/main" id="{C2A88EFE-D6C0-0B35-C371-E3FAC1DDF1A5}"/>
              </a:ext>
            </a:extLst>
          </p:cNvPr>
          <p:cNvSpPr/>
          <p:nvPr/>
        </p:nvSpPr>
        <p:spPr>
          <a:xfrm rot="5400000">
            <a:off x="6473624" y="2926299"/>
            <a:ext cx="266700" cy="1752600"/>
          </a:xfrm>
          <a:prstGeom prst="rightBrace">
            <a:avLst/>
          </a:prstGeom>
          <a:ln w="381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3DA50D0B-9E57-5F7B-1538-07B3502740E7}"/>
              </a:ext>
            </a:extLst>
          </p:cNvPr>
          <p:cNvSpPr txBox="1"/>
          <p:nvPr/>
        </p:nvSpPr>
        <p:spPr>
          <a:xfrm>
            <a:off x="5943600" y="3897868"/>
            <a:ext cx="2705100" cy="369332"/>
          </a:xfrm>
          <a:prstGeom prst="rect">
            <a:avLst/>
          </a:prstGeom>
          <a:noFill/>
        </p:spPr>
        <p:txBody>
          <a:bodyPr wrap="square" rtlCol="0">
            <a:spAutoFit/>
          </a:bodyPr>
          <a:lstStyle/>
          <a:p>
            <a:r>
              <a:rPr lang="en-US" i="1" dirty="0">
                <a:solidFill>
                  <a:schemeClr val="accent2">
                    <a:lumMod val="50000"/>
                  </a:schemeClr>
                </a:solidFill>
              </a:rPr>
              <a:t>Link function</a:t>
            </a:r>
          </a:p>
        </p:txBody>
      </p:sp>
    </p:spTree>
    <p:extLst>
      <p:ext uri="{BB962C8B-B14F-4D97-AF65-F5344CB8AC3E}">
        <p14:creationId xmlns:p14="http://schemas.microsoft.com/office/powerpoint/2010/main" val="7450347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Alternatives: Nonlinear estimation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066801"/>
                <a:ext cx="10289629" cy="5141388"/>
              </a:xfrm>
            </p:spPr>
            <p:txBody>
              <a:bodyPr>
                <a:normAutofit/>
              </a:bodyPr>
              <a:lstStyle/>
              <a:p>
                <a:r>
                  <a:rPr lang="en-US" sz="2400" dirty="0">
                    <a:cs typeface="Times New Roman" panose="02020603050405020304" pitchFamily="18" charset="0"/>
                  </a:rPr>
                  <a:t>OLS can’t take into account the shape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but we can generalize from: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𝐷</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oMath>
                  </m:oMathPara>
                </a14:m>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To: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𝐷</m:t>
                          </m:r>
                        </m:e>
                        <m:e>
                          <m:r>
                            <a:rPr lang="en-US" sz="2400" b="0" i="1" smtClean="0">
                              <a:latin typeface="Cambria Math" panose="02040503050406030204" pitchFamily="18" charset="0"/>
                              <a:cs typeface="Times New Roman" panose="02020603050405020304" pitchFamily="18" charset="0"/>
                            </a:rPr>
                            <m:t>𝑋</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𝐹</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oMath>
                  </m:oMathPara>
                </a14:m>
                <a:endParaRPr lang="en-US" sz="2400" dirty="0">
                  <a:cs typeface="Times New Roman" panose="02020603050405020304" pitchFamily="18" charset="0"/>
                </a:endParaRPr>
              </a:p>
              <a:p>
                <a:r>
                  <a:rPr lang="en-US" sz="2400" dirty="0">
                    <a:cs typeface="Times New Roman" panose="02020603050405020304" pitchFamily="18" charset="0"/>
                  </a:rPr>
                  <a:t>These </a:t>
                </a:r>
                <a:r>
                  <a:rPr lang="en-US" sz="2400" b="1" dirty="0">
                    <a:solidFill>
                      <a:schemeClr val="accent3">
                        <a:lumMod val="75000"/>
                      </a:schemeClr>
                    </a:solidFill>
                    <a:cs typeface="Times New Roman" panose="02020603050405020304" pitchFamily="18" charset="0"/>
                  </a:rPr>
                  <a:t>generalized linear models </a:t>
                </a:r>
                <a:r>
                  <a:rPr lang="en-US" sz="2400" dirty="0">
                    <a:cs typeface="Times New Roman" panose="02020603050405020304" pitchFamily="18" charset="0"/>
                  </a:rPr>
                  <a:t>capture some of our intuition about limited dependent variables (GLM, sometimes called </a:t>
                </a:r>
                <a:r>
                  <a:rPr lang="en-US" sz="2400" b="1" u="sng" dirty="0">
                    <a:cs typeface="Times New Roman" panose="02020603050405020304" pitchFamily="18" charset="0"/>
                  </a:rPr>
                  <a:t>GEE</a:t>
                </a:r>
                <a:r>
                  <a:rPr lang="en-US" sz="2400" dirty="0">
                    <a:cs typeface="Times New Roman" panose="02020603050405020304" pitchFamily="18" charset="0"/>
                  </a:rPr>
                  <a:t>)</a:t>
                </a:r>
              </a:p>
              <a:p>
                <a:r>
                  <a:rPr lang="en-US" sz="2400" dirty="0">
                    <a:cs typeface="Times New Roman" panose="02020603050405020304" pitchFamily="18" charset="0"/>
                  </a:rPr>
                  <a:t>For example, suppose </a:t>
                </a:r>
                <a14:m>
                  <m:oMath xmlns:m="http://schemas.openxmlformats.org/officeDocument/2006/math">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𝐷</m:t>
                        </m:r>
                      </m:e>
                      <m:sup>
                        <m:r>
                          <a:rPr lang="en-US" sz="2400" b="0" i="1" smtClean="0">
                            <a:latin typeface="Cambria Math" panose="02040503050406030204" pitchFamily="18" charset="0"/>
                            <a:cs typeface="Times New Roman" panose="02020603050405020304" pitchFamily="18" charset="0"/>
                          </a:rPr>
                          <m:t>∗</m:t>
                        </m:r>
                      </m:sup>
                    </m:sSup>
                    <m:r>
                      <a:rPr lang="en-US" sz="2400" b="0" i="0"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but we only observe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r>
                      <a:rPr lang="en-US" sz="2400" b="0" i="1" smtClean="0">
                        <a:latin typeface="Cambria Math" panose="02040503050406030204" pitchFamily="18" charset="0"/>
                        <a:cs typeface="Times New Roman" panose="02020603050405020304" pitchFamily="18" charset="0"/>
                      </a:rPr>
                      <m:t>=1</m:t>
                    </m:r>
                  </m:oMath>
                </a14:m>
                <a:r>
                  <a:rPr lang="en-US" sz="2400" dirty="0">
                    <a:cs typeface="Times New Roman" panose="02020603050405020304" pitchFamily="18" charset="0"/>
                  </a:rPr>
                  <a:t> if </a:t>
                </a:r>
                <a14:m>
                  <m:oMath xmlns:m="http://schemas.openxmlformats.org/officeDocument/2006/math">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𝐷</m:t>
                        </m:r>
                      </m:e>
                      <m:sup>
                        <m:r>
                          <a:rPr lang="en-US" sz="2400" b="0" i="1" smtClean="0">
                            <a:latin typeface="Cambria Math" panose="02040503050406030204" pitchFamily="18" charset="0"/>
                            <a:cs typeface="Times New Roman" panose="02020603050405020304" pitchFamily="18" charset="0"/>
                          </a:rPr>
                          <m:t>∗</m:t>
                        </m:r>
                      </m:sup>
                    </m:sSup>
                    <m:r>
                      <a:rPr lang="en-US" sz="2400" b="0" i="1" smtClean="0">
                        <a:latin typeface="Cambria Math" panose="02040503050406030204" pitchFamily="18" charset="0"/>
                        <a:cs typeface="Times New Roman" panose="02020603050405020304" pitchFamily="18" charset="0"/>
                      </a:rPr>
                      <m:t>&gt;</m:t>
                    </m:r>
                    <m:r>
                      <a:rPr lang="en-US" sz="2400" b="0" i="1" smtClean="0">
                        <a:latin typeface="Cambria Math" panose="02040503050406030204" pitchFamily="18" charset="0"/>
                        <a:cs typeface="Times New Roman" panose="02020603050405020304" pitchFamily="18" charset="0"/>
                      </a:rPr>
                      <m:t>𝑐</m:t>
                    </m:r>
                  </m:oMath>
                </a14:m>
                <a:endParaRPr lang="en-US" sz="2400" dirty="0">
                  <a:cs typeface="Times New Roman" panose="02020603050405020304" pitchFamily="18" charset="0"/>
                </a:endParaRPr>
              </a:p>
              <a:p>
                <a:pPr lvl="1"/>
                <a:r>
                  <a:rPr lang="en-US" sz="2400" dirty="0">
                    <a:cs typeface="Times New Roman" panose="02020603050405020304" pitchFamily="18" charset="0"/>
                  </a:rPr>
                  <a:t>This is called a </a:t>
                </a:r>
                <a:r>
                  <a:rPr lang="en-US" sz="2400" b="1" dirty="0">
                    <a:cs typeface="Times New Roman" panose="02020603050405020304" pitchFamily="18" charset="0"/>
                  </a:rPr>
                  <a:t>latent variable interpretation</a:t>
                </a:r>
              </a:p>
              <a:p>
                <a:pPr lvl="1"/>
                <a:r>
                  <a:rPr lang="en-US" sz="2400" dirty="0">
                    <a:cs typeface="Times New Roman" panose="02020603050405020304" pitchFamily="18" charset="0"/>
                  </a:rPr>
                  <a:t>Then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𝐷</m:t>
                        </m:r>
                      </m:e>
                      <m:e>
                        <m:r>
                          <a:rPr lang="en-US" sz="2400" b="0" i="1" smtClean="0">
                            <a:latin typeface="Cambria Math" panose="02040503050406030204" pitchFamily="18" charset="0"/>
                            <a:cs typeface="Times New Roman" panose="02020603050405020304" pitchFamily="18" charset="0"/>
                          </a:rPr>
                          <m:t>𝑋</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𝐹</m:t>
                    </m:r>
                    <m:r>
                      <a:rPr lang="en-US" sz="2400" b="0" i="1" smtClean="0">
                        <a:latin typeface="Cambria Math" panose="02040503050406030204" pitchFamily="18" charset="0"/>
                        <a:cs typeface="Times New Roman" panose="02020603050405020304" pitchFamily="18" charset="0"/>
                      </a:rPr>
                      <m:t>(</m:t>
                    </m:r>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𝐷</m:t>
                        </m:r>
                      </m:e>
                      <m:sup>
                        <m:r>
                          <a:rPr lang="en-US" sz="2400" b="0" i="1" smtClean="0">
                            <a:latin typeface="Cambria Math" panose="02040503050406030204" pitchFamily="18" charset="0"/>
                            <a:cs typeface="Times New Roman" panose="02020603050405020304" pitchFamily="18" charset="0"/>
                          </a:rPr>
                          <m:t>∗</m:t>
                        </m:r>
                      </m:sup>
                    </m:sSup>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(what would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𝐹</m:t>
                    </m:r>
                    <m:r>
                      <a:rPr lang="en-US" sz="2400" b="0" i="0" smtClean="0">
                        <a:latin typeface="Cambria Math" panose="02040503050406030204" pitchFamily="18" charset="0"/>
                        <a:cs typeface="Times New Roman" panose="02020603050405020304" pitchFamily="18" charset="0"/>
                      </a:rPr>
                      <m:t> </m:t>
                    </m:r>
                    <m:r>
                      <m:rPr>
                        <m:sty m:val="p"/>
                      </m:rPr>
                      <a:rPr lang="en-US" sz="2400" b="0" i="0" smtClean="0">
                        <a:latin typeface="Cambria Math" panose="02040503050406030204" pitchFamily="18" charset="0"/>
                        <a:cs typeface="Times New Roman" panose="02020603050405020304" pitchFamily="18" charset="0"/>
                      </a:rPr>
                      <m:t>be</m:t>
                    </m:r>
                    <m:r>
                      <a:rPr lang="en-US" sz="2400" b="0" i="0"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066801"/>
                <a:ext cx="10289629" cy="5141388"/>
              </a:xfrm>
              <a:blipFill>
                <a:blip r:embed="rId3"/>
                <a:stretch>
                  <a:fillRect l="-889" t="-1305"/>
                </a:stretch>
              </a:blipFill>
            </p:spPr>
            <p:txBody>
              <a:bodyPr/>
              <a:lstStyle/>
              <a:p>
                <a:r>
                  <a:rPr lang="en-CA">
                    <a:noFill/>
                  </a:rPr>
                  <a:t> </a:t>
                </a:r>
              </a:p>
            </p:txBody>
          </p:sp>
        </mc:Fallback>
      </mc:AlternateContent>
    </p:spTree>
    <p:extLst>
      <p:ext uri="{BB962C8B-B14F-4D97-AF65-F5344CB8AC3E}">
        <p14:creationId xmlns:p14="http://schemas.microsoft.com/office/powerpoint/2010/main" val="13659562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Alternatives: Nonlinear estimation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066801"/>
                <a:ext cx="10591800" cy="5141388"/>
              </a:xfrm>
            </p:spPr>
            <p:txBody>
              <a:bodyPr>
                <a:normAutofit/>
              </a:bodyPr>
              <a:lstStyle/>
              <a:p>
                <a:r>
                  <a:rPr lang="en-US" sz="2400" dirty="0">
                    <a:cs typeface="Times New Roman" panose="02020603050405020304" pitchFamily="18" charset="0"/>
                  </a:rPr>
                  <a:t>OLS can’t take into account the shape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but we can generalize from: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𝐷</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oMath>
                  </m:oMathPara>
                </a14:m>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To: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𝐷</m:t>
                          </m:r>
                        </m:e>
                        <m:e>
                          <m:r>
                            <a:rPr lang="en-US" sz="2400" b="0" i="1" smtClean="0">
                              <a:latin typeface="Cambria Math" panose="02040503050406030204" pitchFamily="18" charset="0"/>
                              <a:cs typeface="Times New Roman" panose="02020603050405020304" pitchFamily="18" charset="0"/>
                            </a:rPr>
                            <m:t>𝑋</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𝐹</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oMath>
                  </m:oMathPara>
                </a14:m>
                <a:endParaRPr lang="en-US" sz="2400" dirty="0">
                  <a:cs typeface="Times New Roman" panose="02020603050405020304" pitchFamily="18" charset="0"/>
                </a:endParaRPr>
              </a:p>
              <a:p>
                <a:r>
                  <a:rPr lang="en-US" sz="2400" dirty="0">
                    <a:cs typeface="Times New Roman" panose="02020603050405020304" pitchFamily="18" charset="0"/>
                  </a:rPr>
                  <a:t>These </a:t>
                </a:r>
                <a:r>
                  <a:rPr lang="en-US" sz="2400" b="1" dirty="0">
                    <a:solidFill>
                      <a:schemeClr val="accent3">
                        <a:lumMod val="75000"/>
                      </a:schemeClr>
                    </a:solidFill>
                    <a:cs typeface="Times New Roman" panose="02020603050405020304" pitchFamily="18" charset="0"/>
                  </a:rPr>
                  <a:t>generalized linear models </a:t>
                </a:r>
                <a:r>
                  <a:rPr lang="en-US" sz="2400" dirty="0">
                    <a:cs typeface="Times New Roman" panose="02020603050405020304" pitchFamily="18" charset="0"/>
                  </a:rPr>
                  <a:t>capture some of our intuition about limited dependent variables</a:t>
                </a:r>
              </a:p>
              <a:p>
                <a:r>
                  <a:rPr lang="en-US" sz="2400" dirty="0">
                    <a:cs typeface="Times New Roman" panose="02020603050405020304" pitchFamily="18" charset="0"/>
                  </a:rPr>
                  <a:t>For example, suppose </a:t>
                </a:r>
                <a14:m>
                  <m:oMath xmlns:m="http://schemas.openxmlformats.org/officeDocument/2006/math">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𝐷</m:t>
                        </m:r>
                      </m:e>
                      <m:sup>
                        <m:r>
                          <a:rPr lang="en-US" sz="2400" b="0" i="1" smtClean="0">
                            <a:latin typeface="Cambria Math" panose="02040503050406030204" pitchFamily="18" charset="0"/>
                            <a:cs typeface="Times New Roman" panose="02020603050405020304" pitchFamily="18" charset="0"/>
                          </a:rPr>
                          <m:t>∗</m:t>
                        </m:r>
                      </m:sup>
                    </m:sSup>
                    <m:r>
                      <a:rPr lang="en-US" sz="2400" b="0" i="0"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but we only observe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r>
                      <a:rPr lang="en-US" sz="2400" b="0" i="1" smtClean="0">
                        <a:latin typeface="Cambria Math" panose="02040503050406030204" pitchFamily="18" charset="0"/>
                        <a:cs typeface="Times New Roman" panose="02020603050405020304" pitchFamily="18" charset="0"/>
                      </a:rPr>
                      <m:t>=1</m:t>
                    </m:r>
                  </m:oMath>
                </a14:m>
                <a:r>
                  <a:rPr lang="en-US" sz="2400" dirty="0">
                    <a:cs typeface="Times New Roman" panose="02020603050405020304" pitchFamily="18" charset="0"/>
                  </a:rPr>
                  <a:t> if </a:t>
                </a:r>
                <a14:m>
                  <m:oMath xmlns:m="http://schemas.openxmlformats.org/officeDocument/2006/math">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𝐷</m:t>
                        </m:r>
                      </m:e>
                      <m:sup>
                        <m:r>
                          <a:rPr lang="en-US" sz="2400" b="0" i="1" smtClean="0">
                            <a:latin typeface="Cambria Math" panose="02040503050406030204" pitchFamily="18" charset="0"/>
                            <a:cs typeface="Times New Roman" panose="02020603050405020304" pitchFamily="18" charset="0"/>
                          </a:rPr>
                          <m:t>∗</m:t>
                        </m:r>
                      </m:sup>
                    </m:sSup>
                    <m:r>
                      <a:rPr lang="en-US" sz="2400" b="0" i="1" smtClean="0">
                        <a:latin typeface="Cambria Math" panose="02040503050406030204" pitchFamily="18" charset="0"/>
                        <a:cs typeface="Times New Roman" panose="02020603050405020304" pitchFamily="18" charset="0"/>
                      </a:rPr>
                      <m:t>&gt;</m:t>
                    </m:r>
                    <m:r>
                      <a:rPr lang="en-US" sz="2400" b="0" i="1" smtClean="0">
                        <a:latin typeface="Cambria Math" panose="02040503050406030204" pitchFamily="18" charset="0"/>
                        <a:cs typeface="Times New Roman" panose="02020603050405020304" pitchFamily="18" charset="0"/>
                      </a:rPr>
                      <m:t>𝑐</m:t>
                    </m:r>
                  </m:oMath>
                </a14:m>
                <a:endParaRPr lang="en-US" sz="2400" dirty="0">
                  <a:cs typeface="Times New Roman" panose="02020603050405020304" pitchFamily="18" charset="0"/>
                </a:endParaRPr>
              </a:p>
              <a:p>
                <a:pPr lvl="1"/>
                <a:r>
                  <a:rPr lang="en-US" sz="2400" dirty="0">
                    <a:cs typeface="Times New Roman" panose="02020603050405020304" pitchFamily="18" charset="0"/>
                  </a:rPr>
                  <a:t>This is called a </a:t>
                </a:r>
                <a:r>
                  <a:rPr lang="en-US" sz="2400" b="1" dirty="0">
                    <a:cs typeface="Times New Roman" panose="02020603050405020304" pitchFamily="18" charset="0"/>
                  </a:rPr>
                  <a:t>latent variable interpretation</a:t>
                </a:r>
              </a:p>
              <a:p>
                <a:pPr lvl="1"/>
                <a:r>
                  <a:rPr lang="en-US" sz="2400" dirty="0">
                    <a:cs typeface="Times New Roman" panose="02020603050405020304" pitchFamily="18" charset="0"/>
                  </a:rPr>
                  <a:t>Then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𝐷</m:t>
                        </m:r>
                      </m:e>
                      <m:e>
                        <m:r>
                          <a:rPr lang="en-US" sz="2400" b="0" i="1" smtClean="0">
                            <a:latin typeface="Cambria Math" panose="02040503050406030204" pitchFamily="18" charset="0"/>
                            <a:cs typeface="Times New Roman" panose="02020603050405020304" pitchFamily="18" charset="0"/>
                          </a:rPr>
                          <m:t>𝑋</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𝐹</m:t>
                    </m:r>
                    <m:r>
                      <a:rPr lang="en-US" sz="2400" b="0" i="1" smtClean="0">
                        <a:latin typeface="Cambria Math" panose="02040503050406030204" pitchFamily="18" charset="0"/>
                        <a:cs typeface="Times New Roman" panose="02020603050405020304" pitchFamily="18" charset="0"/>
                      </a:rPr>
                      <m:t>(</m:t>
                    </m:r>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𝐷</m:t>
                        </m:r>
                      </m:e>
                      <m:sup>
                        <m:r>
                          <a:rPr lang="en-US" sz="2400" b="0" i="1" smtClean="0">
                            <a:latin typeface="Cambria Math" panose="02040503050406030204" pitchFamily="18" charset="0"/>
                            <a:cs typeface="Times New Roman" panose="02020603050405020304" pitchFamily="18" charset="0"/>
                          </a:rPr>
                          <m:t>∗</m:t>
                        </m:r>
                      </m:sup>
                    </m:sSup>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(what would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𝐹</m:t>
                    </m:r>
                    <m:r>
                      <a:rPr lang="en-US" sz="2400" b="0" i="0" smtClean="0">
                        <a:latin typeface="Cambria Math" panose="02040503050406030204" pitchFamily="18" charset="0"/>
                        <a:cs typeface="Times New Roman" panose="02020603050405020304" pitchFamily="18" charset="0"/>
                      </a:rPr>
                      <m:t> </m:t>
                    </m:r>
                    <m:r>
                      <m:rPr>
                        <m:sty m:val="p"/>
                      </m:rPr>
                      <a:rPr lang="en-US" sz="2400" b="0" i="0" smtClean="0">
                        <a:latin typeface="Cambria Math" panose="02040503050406030204" pitchFamily="18" charset="0"/>
                        <a:cs typeface="Times New Roman" panose="02020603050405020304" pitchFamily="18" charset="0"/>
                      </a:rPr>
                      <m:t>be</m:t>
                    </m:r>
                    <m:r>
                      <a:rPr lang="en-US" sz="2400" b="0" i="0"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a:t>
                </a:r>
              </a:p>
              <a:p>
                <a:r>
                  <a:rPr lang="en-US" sz="2400" dirty="0">
                    <a:cs typeface="Times New Roman" panose="02020603050405020304" pitchFamily="18" charset="0"/>
                  </a:rPr>
                  <a:t>This GLM interpretation will help us deal with essentially </a:t>
                </a:r>
                <a:r>
                  <a:rPr lang="en-US" sz="2400" b="1" dirty="0">
                    <a:cs typeface="Times New Roman" panose="02020603050405020304" pitchFamily="18" charset="0"/>
                  </a:rPr>
                  <a:t>all </a:t>
                </a:r>
                <a:r>
                  <a:rPr lang="en-US" sz="2400" dirty="0">
                    <a:cs typeface="Times New Roman" panose="02020603050405020304" pitchFamily="18" charset="0"/>
                  </a:rPr>
                  <a:t>LDV problems!</a:t>
                </a:r>
              </a:p>
              <a:p>
                <a:pPr lvl="1"/>
                <a:r>
                  <a:rPr lang="en-US" sz="2400" dirty="0">
                    <a:cs typeface="Times New Roman" panose="02020603050405020304" pitchFamily="18" charset="0"/>
                  </a:rPr>
                  <a:t>It’s just a matter of selecting the appropriate</a:t>
                </a:r>
                <a:r>
                  <a:rPr lang="en-US" sz="2400" dirty="0">
                    <a:solidFill>
                      <a:schemeClr val="accent3">
                        <a:lumMod val="75000"/>
                      </a:schemeClr>
                    </a:solidFill>
                    <a:cs typeface="Times New Roman" panose="02020603050405020304" pitchFamily="18" charset="0"/>
                  </a:rPr>
                  <a:t> </a:t>
                </a:r>
                <a:r>
                  <a:rPr lang="en-US" sz="2400" b="1" dirty="0">
                    <a:solidFill>
                      <a:schemeClr val="accent3">
                        <a:lumMod val="75000"/>
                      </a:schemeClr>
                    </a:solidFill>
                    <a:cs typeface="Times New Roman" panose="02020603050405020304" pitchFamily="18" charset="0"/>
                  </a:rPr>
                  <a:t>link function </a:t>
                </a:r>
                <a:r>
                  <a:rPr lang="en-US" sz="2400" dirty="0">
                    <a:solidFill>
                      <a:schemeClr val="tx1"/>
                    </a:solidFill>
                    <a:cs typeface="Times New Roman" panose="02020603050405020304" pitchFamily="18" charset="0"/>
                  </a:rPr>
                  <a:t>and</a:t>
                </a:r>
                <a:r>
                  <a:rPr lang="en-US" sz="2400" b="1" dirty="0">
                    <a:solidFill>
                      <a:schemeClr val="accent3">
                        <a:lumMod val="75000"/>
                      </a:schemeClr>
                    </a:solidFill>
                    <a:cs typeface="Times New Roman" panose="02020603050405020304" pitchFamily="18" charset="0"/>
                  </a:rPr>
                  <a:t> </a:t>
                </a:r>
                <a:r>
                  <a:rPr lang="en-US" sz="2400" b="1" dirty="0">
                    <a:solidFill>
                      <a:schemeClr val="accent5">
                        <a:lumMod val="75000"/>
                      </a:schemeClr>
                    </a:solidFill>
                    <a:cs typeface="Times New Roman" panose="02020603050405020304" pitchFamily="18" charset="0"/>
                  </a:rPr>
                  <a:t>standard errors</a:t>
                </a:r>
                <a:endParaRPr lang="en-US" sz="2400" dirty="0">
                  <a:solidFill>
                    <a:schemeClr val="accent5">
                      <a:lumMod val="75000"/>
                    </a:schemeClr>
                  </a:solidFill>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066801"/>
                <a:ext cx="10591800" cy="5141388"/>
              </a:xfrm>
              <a:blipFill>
                <a:blip r:embed="rId3"/>
                <a:stretch>
                  <a:fillRect l="-863" t="-1305"/>
                </a:stretch>
              </a:blipFill>
            </p:spPr>
            <p:txBody>
              <a:bodyPr/>
              <a:lstStyle/>
              <a:p>
                <a:r>
                  <a:rPr lang="en-CA">
                    <a:noFill/>
                  </a:rPr>
                  <a:t> </a:t>
                </a:r>
              </a:p>
            </p:txBody>
          </p:sp>
        </mc:Fallback>
      </mc:AlternateContent>
    </p:spTree>
    <p:extLst>
      <p:ext uri="{BB962C8B-B14F-4D97-AF65-F5344CB8AC3E}">
        <p14:creationId xmlns:p14="http://schemas.microsoft.com/office/powerpoint/2010/main" val="7798000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Binary Link Functions: Logit and </a:t>
            </a:r>
            <a:r>
              <a:rPr lang="en-US" sz="3600" dirty="0" err="1">
                <a:latin typeface="Times New Roman" panose="02020603050405020304" pitchFamily="18" charset="0"/>
                <a:cs typeface="Times New Roman" panose="02020603050405020304" pitchFamily="18" charset="0"/>
              </a:rPr>
              <a:t>Probit</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When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is binary, there are two popular link functions that capture the “smoothing” of predicted probabilities close to a range: </a:t>
                </a:r>
                <a:r>
                  <a:rPr lang="en-US" sz="2400" b="1" dirty="0">
                    <a:cs typeface="Times New Roman" panose="02020603050405020304" pitchFamily="18" charset="0"/>
                  </a:rPr>
                  <a:t>logit</a:t>
                </a:r>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45154364-54DB-54A8-7094-B2CDE7307304}"/>
              </a:ext>
            </a:extLst>
          </p:cNvPr>
          <p:cNvPicPr>
            <a:picLocks noChangeAspect="1"/>
          </p:cNvPicPr>
          <p:nvPr/>
        </p:nvPicPr>
        <p:blipFill>
          <a:blip r:embed="rId4"/>
          <a:stretch>
            <a:fillRect/>
          </a:stretch>
        </p:blipFill>
        <p:spPr>
          <a:xfrm>
            <a:off x="1524000" y="1898488"/>
            <a:ext cx="8229600" cy="4594148"/>
          </a:xfrm>
          <a:prstGeom prst="rect">
            <a:avLst/>
          </a:prstGeom>
        </p:spPr>
      </p:pic>
    </p:spTree>
    <p:extLst>
      <p:ext uri="{BB962C8B-B14F-4D97-AF65-F5344CB8AC3E}">
        <p14:creationId xmlns:p14="http://schemas.microsoft.com/office/powerpoint/2010/main" val="3841740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Binary Link Functions: Logit and </a:t>
            </a:r>
            <a:r>
              <a:rPr lang="en-US" sz="3600" dirty="0" err="1">
                <a:latin typeface="Times New Roman" panose="02020603050405020304" pitchFamily="18" charset="0"/>
                <a:cs typeface="Times New Roman" panose="02020603050405020304" pitchFamily="18" charset="0"/>
              </a:rPr>
              <a:t>Probit</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When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is binary, there are two popular link functions that capture the “smoothing” of predicted probabilities close to a range: </a:t>
                </a:r>
                <a:r>
                  <a:rPr lang="en-US" sz="2400" b="1" dirty="0" err="1">
                    <a:cs typeface="Times New Roman" panose="02020603050405020304" pitchFamily="18" charset="0"/>
                  </a:rPr>
                  <a:t>probit</a:t>
                </a:r>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B504D56D-9C8D-459A-45DE-FB104C5F794F}"/>
              </a:ext>
            </a:extLst>
          </p:cNvPr>
          <p:cNvPicPr>
            <a:picLocks noChangeAspect="1"/>
          </p:cNvPicPr>
          <p:nvPr/>
        </p:nvPicPr>
        <p:blipFill>
          <a:blip r:embed="rId4"/>
          <a:stretch>
            <a:fillRect/>
          </a:stretch>
        </p:blipFill>
        <p:spPr>
          <a:xfrm>
            <a:off x="1905000" y="1848519"/>
            <a:ext cx="7589520" cy="4780881"/>
          </a:xfrm>
          <a:prstGeom prst="rect">
            <a:avLst/>
          </a:prstGeom>
        </p:spPr>
      </p:pic>
    </p:spTree>
    <p:extLst>
      <p:ext uri="{BB962C8B-B14F-4D97-AF65-F5344CB8AC3E}">
        <p14:creationId xmlns:p14="http://schemas.microsoft.com/office/powerpoint/2010/main" val="2620948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Binary Link Functions: Logit and </a:t>
            </a:r>
            <a:r>
              <a:rPr lang="en-US" sz="3600" dirty="0" err="1">
                <a:latin typeface="Times New Roman" panose="02020603050405020304" pitchFamily="18" charset="0"/>
                <a:cs typeface="Times New Roman" panose="02020603050405020304" pitchFamily="18" charset="0"/>
              </a:rPr>
              <a:t>Probit</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When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is binary, there are two popular link functions that capture the “smoothing” of predicted probabilities close to a range</a:t>
                </a:r>
              </a:p>
              <a:p>
                <a:r>
                  <a:rPr lang="en-US" sz="2400" dirty="0">
                    <a:cs typeface="Times New Roman" panose="02020603050405020304" pitchFamily="18" charset="0"/>
                  </a:rPr>
                  <a:t>Logit and </a:t>
                </a:r>
                <a:r>
                  <a:rPr lang="en-US" sz="2400" dirty="0" err="1">
                    <a:cs typeface="Times New Roman" panose="02020603050405020304" pitchFamily="18" charset="0"/>
                  </a:rPr>
                  <a:t>probit</a:t>
                </a:r>
                <a:r>
                  <a:rPr lang="en-US" sz="2400" dirty="0">
                    <a:cs typeface="Times New Roman" panose="02020603050405020304" pitchFamily="18" charset="0"/>
                  </a:rPr>
                  <a:t> both exploit the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𝑆</m:t>
                    </m:r>
                  </m:oMath>
                </a14:m>
                <a:r>
                  <a:rPr lang="en-US" sz="2400" dirty="0">
                    <a:cs typeface="Times New Roman" panose="02020603050405020304" pitchFamily="18" charset="0"/>
                  </a:rPr>
                  <a:t> shape here: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𝐿𝑜𝑔𝑖𝑠𝑡𝑖𝑐</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𝑖𝑛𝑑𝑒𝑥</m:t>
                          </m:r>
                        </m:e>
                      </m:d>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𝑒</m:t>
                              </m:r>
                            </m:e>
                            <m:sup>
                              <m:r>
                                <a:rPr lang="en-US" sz="2400" b="0" i="1" smtClean="0">
                                  <a:latin typeface="Cambria Math" panose="02040503050406030204" pitchFamily="18" charset="0"/>
                                  <a:cs typeface="Times New Roman" panose="02020603050405020304" pitchFamily="18" charset="0"/>
                                </a:rPr>
                                <m:t>𝑖𝑛𝑑𝑒𝑥</m:t>
                              </m:r>
                            </m:sup>
                          </m:sSup>
                        </m:num>
                        <m:den>
                          <m:r>
                            <a:rPr lang="en-US" sz="2400" b="0" i="1" smtClean="0">
                              <a:latin typeface="Cambria Math" panose="02040503050406030204" pitchFamily="18" charset="0"/>
                              <a:cs typeface="Times New Roman" panose="02020603050405020304" pitchFamily="18" charset="0"/>
                            </a:rPr>
                            <m:t>1+</m:t>
                          </m:r>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𝑒</m:t>
                              </m:r>
                            </m:e>
                            <m:sup>
                              <m:r>
                                <a:rPr lang="en-US" sz="2400" b="0" i="1" smtClean="0">
                                  <a:latin typeface="Cambria Math" panose="02040503050406030204" pitchFamily="18" charset="0"/>
                                  <a:cs typeface="Times New Roman" panose="02020603050405020304" pitchFamily="18" charset="0"/>
                                </a:rPr>
                                <m:t>𝑖𝑛𝑑𝑒𝑥</m:t>
                              </m:r>
                            </m:sup>
                          </m:sSup>
                        </m:den>
                      </m:f>
                    </m:oMath>
                  </m:oMathPara>
                </a14:m>
                <a:endParaRPr lang="en-US" sz="2400" b="0" dirty="0">
                  <a:cs typeface="Times New Roman" panose="02020603050405020304" pitchFamily="18" charset="0"/>
                </a:endParaRPr>
              </a:p>
              <a:p>
                <a:pPr marL="0" indent="0">
                  <a:buNone/>
                </a:pPr>
                <a:endParaRPr lang="en-US" sz="2400" dirty="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𝑃𝑟𝑜𝑏𝑖𝑡</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𝑖𝑛𝑑𝑒𝑥</m:t>
                          </m:r>
                        </m:e>
                      </m:d>
                      <m:r>
                        <a:rPr lang="en-US" sz="2400" b="0" i="1" smtClean="0">
                          <a:latin typeface="Cambria Math" panose="02040503050406030204" pitchFamily="18" charset="0"/>
                          <a:cs typeface="Times New Roman" panose="02020603050405020304" pitchFamily="18" charset="0"/>
                        </a:rPr>
                        <m:t>=</m:t>
                      </m:r>
                      <m:r>
                        <m:rPr>
                          <m:sty m:val="p"/>
                        </m:rPr>
                        <a:rPr lang="en-US" sz="2400" b="0" i="0" smtClean="0">
                          <a:latin typeface="Cambria Math" panose="02040503050406030204" pitchFamily="18" charset="0"/>
                          <a:cs typeface="Times New Roman" panose="02020603050405020304" pitchFamily="18" charset="0"/>
                        </a:rPr>
                        <m:t>Φ</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𝑖𝑛𝑑𝑒𝑥</m:t>
                      </m:r>
                      <m:r>
                        <a:rPr lang="en-US" sz="2400" b="0" i="1" smtClean="0">
                          <a:latin typeface="Cambria Math" panose="02040503050406030204" pitchFamily="18" charset="0"/>
                          <a:cs typeface="Times New Roman" panose="02020603050405020304" pitchFamily="18" charset="0"/>
                        </a:rPr>
                        <m:t>)</m:t>
                      </m:r>
                    </m:oMath>
                  </m:oMathPara>
                </a14:m>
                <a:endParaRPr lang="en-US" sz="2400" dirty="0">
                  <a:cs typeface="Times New Roman" panose="02020603050405020304" pitchFamily="18" charset="0"/>
                </a:endParaRPr>
              </a:p>
              <a:p>
                <a:r>
                  <a:rPr lang="en-US" sz="2400" dirty="0">
                    <a:cs typeface="Times New Roman" panose="02020603050405020304" pitchFamily="18" charset="0"/>
                  </a:rPr>
                  <a:t>In general, these return similar answers. Logit has gotten more popular in machine learning than </a:t>
                </a:r>
                <a:r>
                  <a:rPr lang="en-US" sz="2400" dirty="0" err="1">
                    <a:cs typeface="Times New Roman" panose="02020603050405020304" pitchFamily="18" charset="0"/>
                  </a:rPr>
                  <a:t>probit</a:t>
                </a:r>
                <a:r>
                  <a:rPr lang="en-US" sz="2400" dirty="0">
                    <a:cs typeface="Times New Roman" panose="02020603050405020304" pitchFamily="18" charset="0"/>
                  </a:rPr>
                  <a:t> (easier to compute), so we tend to focus on that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US">
                    <a:noFill/>
                  </a:rPr>
                  <a:t> </a:t>
                </a:r>
              </a:p>
            </p:txBody>
          </p:sp>
        </mc:Fallback>
      </mc:AlternateContent>
    </p:spTree>
    <p:extLst>
      <p:ext uri="{BB962C8B-B14F-4D97-AF65-F5344CB8AC3E}">
        <p14:creationId xmlns:p14="http://schemas.microsoft.com/office/powerpoint/2010/main" val="31661376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LPM vs. Logit vs. </a:t>
            </a:r>
            <a:r>
              <a:rPr lang="en-US" sz="3600" dirty="0" err="1">
                <a:latin typeface="Times New Roman" panose="02020603050405020304" pitchFamily="18" charset="0"/>
                <a:cs typeface="Times New Roman" panose="02020603050405020304" pitchFamily="18" charset="0"/>
              </a:rPr>
              <a:t>Probit</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Logit and </a:t>
                </a:r>
                <a:r>
                  <a:rPr lang="en-US" sz="2400" dirty="0" err="1">
                    <a:cs typeface="Times New Roman" panose="02020603050405020304" pitchFamily="18" charset="0"/>
                  </a:rPr>
                  <a:t>probit</a:t>
                </a:r>
                <a:r>
                  <a:rPr lang="en-US" sz="2400" dirty="0">
                    <a:cs typeface="Times New Roman" panose="02020603050405020304" pitchFamily="18" charset="0"/>
                  </a:rPr>
                  <a:t> both have the advantages that: </a:t>
                </a:r>
              </a:p>
              <a:p>
                <a:pPr marL="0" indent="0">
                  <a:buNone/>
                </a:pPr>
                <a14:m>
                  <m:oMathPara xmlns:m="http://schemas.openxmlformats.org/officeDocument/2006/math">
                    <m:oMathParaPr>
                      <m:jc m:val="centerGroup"/>
                    </m:oMathParaPr>
                    <m:oMath xmlns:m="http://schemas.openxmlformats.org/officeDocument/2006/math">
                      <m:func>
                        <m:funcPr>
                          <m:ctrlPr>
                            <a:rPr lang="en-US" sz="2400" b="0" i="1" smtClean="0">
                              <a:latin typeface="Cambria Math" panose="02040503050406030204" pitchFamily="18" charset="0"/>
                              <a:cs typeface="Times New Roman" panose="02020603050405020304" pitchFamily="18" charset="0"/>
                            </a:rPr>
                          </m:ctrlPr>
                        </m:funcPr>
                        <m:fName>
                          <m:limLow>
                            <m:limLowPr>
                              <m:ctrlPr>
                                <a:rPr lang="en-US" sz="2400" b="0" i="1" smtClean="0">
                                  <a:latin typeface="Cambria Math" panose="02040503050406030204" pitchFamily="18" charset="0"/>
                                  <a:cs typeface="Times New Roman" panose="02020603050405020304" pitchFamily="18" charset="0"/>
                                </a:rPr>
                              </m:ctrlPr>
                            </m:limLowPr>
                            <m:e>
                              <m:r>
                                <m:rPr>
                                  <m:sty m:val="p"/>
                                </m:rPr>
                                <a:rPr lang="en-US" sz="2400" b="0" i="0" smtClean="0">
                                  <a:latin typeface="Cambria Math" panose="02040503050406030204" pitchFamily="18" charset="0"/>
                                  <a:cs typeface="Times New Roman" panose="02020603050405020304" pitchFamily="18" charset="0"/>
                                </a:rPr>
                                <m:t>lim</m:t>
                              </m:r>
                            </m:e>
                            <m:lim>
                              <m:r>
                                <a:rPr lang="en-US" sz="2400" b="0" i="1" smtClean="0">
                                  <a:latin typeface="Cambria Math" panose="02040503050406030204" pitchFamily="18" charset="0"/>
                                  <a:cs typeface="Times New Roman" panose="02020603050405020304" pitchFamily="18" charset="0"/>
                                </a:rPr>
                                <m:t>𝑛</m:t>
                              </m:r>
                              <m:r>
                                <a:rPr lang="en-US" sz="2400" b="0" i="1" smtClean="0">
                                  <a:latin typeface="Cambria Math" panose="02040503050406030204" pitchFamily="18" charset="0"/>
                                  <a:cs typeface="Times New Roman" panose="02020603050405020304" pitchFamily="18" charset="0"/>
                                </a:rPr>
                                <m:t>→∞</m:t>
                              </m:r>
                            </m:lim>
                          </m:limLow>
                        </m:fName>
                        <m:e>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𝑙𝑜𝑔𝑖𝑠𝑡𝑖𝑐</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𝑖𝑛𝑑𝑒𝑥</m:t>
                                  </m:r>
                                </m:e>
                              </m:d>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m:t>
                                  </m:r>
                                </m:num>
                                <m:den>
                                  <m:r>
                                    <a:rPr lang="en-US" sz="2400" b="0" i="1" smtClean="0">
                                      <a:latin typeface="Cambria Math" panose="02040503050406030204" pitchFamily="18" charset="0"/>
                                      <a:cs typeface="Times New Roman" panose="02020603050405020304" pitchFamily="18" charset="0"/>
                                    </a:rPr>
                                    <m:t>1+∞</m:t>
                                  </m:r>
                                </m:den>
                              </m:f>
                              <m:r>
                                <a:rPr lang="en-US" sz="2400" b="0" i="1" smtClean="0">
                                  <a:latin typeface="Cambria Math" panose="02040503050406030204" pitchFamily="18" charset="0"/>
                                  <a:cs typeface="Times New Roman" panose="02020603050405020304" pitchFamily="18" charset="0"/>
                                </a:rPr>
                                <m:t>=1</m:t>
                              </m:r>
                            </m:e>
                            <m:sup/>
                          </m:sSup>
                        </m:e>
                      </m:func>
                    </m:oMath>
                  </m:oMathPara>
                </a14:m>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And </a:t>
                </a:r>
              </a:p>
              <a:p>
                <a:pPr marL="0" indent="0">
                  <a:buNone/>
                </a:pPr>
                <a14:m>
                  <m:oMathPara xmlns:m="http://schemas.openxmlformats.org/officeDocument/2006/math">
                    <m:oMathParaPr>
                      <m:jc m:val="centerGroup"/>
                    </m:oMathParaPr>
                    <m:oMath xmlns:m="http://schemas.openxmlformats.org/officeDocument/2006/math">
                      <m:func>
                        <m:funcPr>
                          <m:ctrlPr>
                            <a:rPr lang="en-US" sz="2400" b="0" i="1" smtClean="0">
                              <a:latin typeface="Cambria Math" panose="02040503050406030204" pitchFamily="18" charset="0"/>
                              <a:cs typeface="Times New Roman" panose="02020603050405020304" pitchFamily="18" charset="0"/>
                            </a:rPr>
                          </m:ctrlPr>
                        </m:funcPr>
                        <m:fName>
                          <m:limLow>
                            <m:limLowPr>
                              <m:ctrlPr>
                                <a:rPr lang="en-US" sz="2400" b="0" i="1" smtClean="0">
                                  <a:latin typeface="Cambria Math" panose="02040503050406030204" pitchFamily="18" charset="0"/>
                                  <a:cs typeface="Times New Roman" panose="02020603050405020304" pitchFamily="18" charset="0"/>
                                </a:rPr>
                              </m:ctrlPr>
                            </m:limLowPr>
                            <m:e>
                              <m:r>
                                <m:rPr>
                                  <m:sty m:val="p"/>
                                </m:rPr>
                                <a:rPr lang="en-US" sz="2400" b="0" i="0" smtClean="0">
                                  <a:latin typeface="Cambria Math" panose="02040503050406030204" pitchFamily="18" charset="0"/>
                                  <a:cs typeface="Times New Roman" panose="02020603050405020304" pitchFamily="18" charset="0"/>
                                </a:rPr>
                                <m:t>lim</m:t>
                              </m:r>
                            </m:e>
                            <m:lim>
                              <m:r>
                                <a:rPr lang="en-US" sz="2400" b="0" i="1" smtClean="0">
                                  <a:latin typeface="Cambria Math" panose="02040503050406030204" pitchFamily="18" charset="0"/>
                                  <a:cs typeface="Times New Roman" panose="02020603050405020304" pitchFamily="18" charset="0"/>
                                </a:rPr>
                                <m:t>𝑛</m:t>
                              </m:r>
                              <m:r>
                                <a:rPr lang="en-US" sz="2400" b="0" i="1" smtClean="0">
                                  <a:latin typeface="Cambria Math" panose="02040503050406030204" pitchFamily="18" charset="0"/>
                                  <a:cs typeface="Times New Roman" panose="02020603050405020304" pitchFamily="18" charset="0"/>
                                </a:rPr>
                                <m:t>→−∞</m:t>
                              </m:r>
                            </m:lim>
                          </m:limLow>
                        </m:fName>
                        <m:e>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𝑙𝑜𝑔𝑖𝑠𝑡𝑖𝑐</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𝑖𝑛𝑑𝑒𝑥</m:t>
                                  </m:r>
                                </m:e>
                              </m:d>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0</m:t>
                                  </m:r>
                                </m:num>
                                <m:den>
                                  <m:r>
                                    <a:rPr lang="en-US" sz="2400" b="0" i="1" smtClean="0">
                                      <a:latin typeface="Cambria Math" panose="02040503050406030204" pitchFamily="18" charset="0"/>
                                      <a:cs typeface="Times New Roman" panose="02020603050405020304" pitchFamily="18" charset="0"/>
                                    </a:rPr>
                                    <m:t>1+0</m:t>
                                  </m:r>
                                </m:den>
                              </m:f>
                              <m:r>
                                <a:rPr lang="en-US" sz="2400" b="0" i="1" smtClean="0">
                                  <a:latin typeface="Cambria Math" panose="02040503050406030204" pitchFamily="18" charset="0"/>
                                  <a:cs typeface="Times New Roman" panose="02020603050405020304" pitchFamily="18" charset="0"/>
                                </a:rPr>
                                <m:t>=0</m:t>
                              </m:r>
                            </m:e>
                            <m:sup/>
                          </m:sSup>
                        </m:e>
                      </m:func>
                    </m:oMath>
                  </m:oMathPara>
                </a14:m>
                <a:endParaRPr lang="en-US" sz="2400" dirty="0">
                  <a:cs typeface="Times New Roman" panose="02020603050405020304" pitchFamily="18" charset="0"/>
                </a:endParaRPr>
              </a:p>
              <a:p>
                <a:r>
                  <a:rPr lang="en-US" sz="2400" dirty="0">
                    <a:cs typeface="Times New Roman" panose="02020603050405020304" pitchFamily="18" charset="0"/>
                  </a:rPr>
                  <a:t>However, due to the link function, it is </a:t>
                </a:r>
                <a:r>
                  <a:rPr lang="en-US" sz="2400" b="1" dirty="0">
                    <a:cs typeface="Times New Roman" panose="02020603050405020304" pitchFamily="18" charset="0"/>
                  </a:rPr>
                  <a:t>no longer true </a:t>
                </a:r>
                <a:r>
                  <a:rPr lang="en-US" sz="2400" dirty="0">
                    <a:cs typeface="Times New Roman" panose="02020603050405020304" pitchFamily="18" charset="0"/>
                  </a:rPr>
                  <a:t>that our regression coefficients capture </a:t>
                </a:r>
                <a:r>
                  <a:rPr lang="en-US" sz="2400" b="1" dirty="0">
                    <a:cs typeface="Times New Roman" panose="02020603050405020304" pitchFamily="18" charset="0"/>
                  </a:rPr>
                  <a:t>marginal effects</a:t>
                </a:r>
                <a:endParaRPr lang="en-US" sz="2400" dirty="0">
                  <a:cs typeface="Times New Roman" panose="02020603050405020304" pitchFamily="18" charset="0"/>
                </a:endParaRPr>
              </a:p>
              <a:p>
                <a:pPr lvl="1"/>
                <a:r>
                  <a:rPr lang="en-US" sz="2400" dirty="0">
                    <a:cs typeface="Times New Roman" panose="02020603050405020304" pitchFamily="18" charset="0"/>
                  </a:rPr>
                  <a:t>Now,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𝐹</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e>
                    </m:d>
                  </m:oMath>
                </a14:m>
                <a:r>
                  <a:rPr lang="en-US" sz="2400" dirty="0">
                    <a:cs typeface="Times New Roman" panose="02020603050405020304" pitchFamily="18" charset="0"/>
                  </a:rPr>
                  <a:t> is what affects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a:t>
                </a:r>
              </a:p>
              <a:p>
                <a:pPr lvl="1"/>
                <a:r>
                  <a:rPr lang="en-US" sz="2400" dirty="0">
                    <a:cs typeface="Times New Roman" panose="02020603050405020304" pitchFamily="18" charset="0"/>
                  </a:rPr>
                  <a:t>But we can (and should!) invert it to get back the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𝛽</m:t>
                    </m:r>
                  </m:oMath>
                </a14:m>
                <a:r>
                  <a:rPr lang="en-US" sz="2400" dirty="0">
                    <a:cs typeface="Times New Roman" panose="02020603050405020304" pitchFamily="18" charset="0"/>
                  </a:rPr>
                  <a:t> we are after.</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916" t="-1305"/>
                </a:stretch>
              </a:blipFill>
            </p:spPr>
            <p:txBody>
              <a:bodyPr/>
              <a:lstStyle/>
              <a:p>
                <a:r>
                  <a:rPr lang="en-US">
                    <a:noFill/>
                  </a:rPr>
                  <a:t> </a:t>
                </a:r>
              </a:p>
            </p:txBody>
          </p:sp>
        </mc:Fallback>
      </mc:AlternateContent>
    </p:spTree>
    <p:extLst>
      <p:ext uri="{BB962C8B-B14F-4D97-AF65-F5344CB8AC3E}">
        <p14:creationId xmlns:p14="http://schemas.microsoft.com/office/powerpoint/2010/main" val="17539294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261872" y="758952"/>
            <a:ext cx="10549128" cy="4041648"/>
          </a:xfrm>
        </p:spPr>
        <p:txBody>
          <a:bodyPr/>
          <a:lstStyle/>
          <a:p>
            <a:r>
              <a:rPr lang="en-US" dirty="0"/>
              <a:t>Logit/</a:t>
            </a:r>
            <a:r>
              <a:rPr lang="en-US" dirty="0" err="1"/>
              <a:t>Probit</a:t>
            </a:r>
            <a:r>
              <a:rPr lang="en-US" dirty="0"/>
              <a:t> Best Practices </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9422565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9F3BD-C5D1-A90E-C4FE-D9CD2BD998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BB1488-8705-068D-3F21-0B0653350141}"/>
              </a:ext>
            </a:extLst>
          </p:cNvPr>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Logit/</a:t>
            </a:r>
            <a:r>
              <a:rPr lang="en-US" sz="3600" dirty="0" err="1">
                <a:latin typeface="Times New Roman" panose="02020603050405020304" pitchFamily="18" charset="0"/>
                <a:cs typeface="Times New Roman" panose="02020603050405020304" pitchFamily="18" charset="0"/>
              </a:rPr>
              <a:t>Probit</a:t>
            </a:r>
            <a:r>
              <a:rPr lang="en-US" sz="3600" dirty="0">
                <a:latin typeface="Times New Roman" panose="02020603050405020304" pitchFamily="18" charset="0"/>
                <a:cs typeface="Times New Roman" panose="02020603050405020304" pitchFamily="18" charset="0"/>
              </a:rPr>
              <a:t> in Practice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004E067-9C98-37E8-E622-F328026F7C01}"/>
                  </a:ext>
                </a:extLst>
              </p:cNvPr>
              <p:cNvSpPr>
                <a:spLocks noGrp="1"/>
              </p:cNvSpPr>
              <p:nvPr>
                <p:ph idx="1"/>
              </p:nvPr>
            </p:nvSpPr>
            <p:spPr>
              <a:xfrm>
                <a:off x="914401" y="1066801"/>
                <a:ext cx="9677400" cy="5141388"/>
              </a:xfrm>
            </p:spPr>
            <p:txBody>
              <a:bodyPr>
                <a:normAutofit/>
              </a:bodyPr>
              <a:lstStyle/>
              <a:p>
                <a:r>
                  <a:rPr lang="en-US" sz="2400" dirty="0">
                    <a:cs typeface="Times New Roman" panose="02020603050405020304" pitchFamily="18" charset="0"/>
                  </a:rPr>
                  <a:t>Logit and probit are easy to execute (just use “glm” method in R) </a:t>
                </a:r>
              </a:p>
              <a:p>
                <a:r>
                  <a:rPr lang="en-US" sz="2400" dirty="0">
                    <a:cs typeface="Times New Roman" panose="02020603050405020304" pitchFamily="18" charset="0"/>
                  </a:rPr>
                  <a:t>Trouble is </a:t>
                </a:r>
                <a:r>
                  <a:rPr lang="en-US" sz="2400" b="1" dirty="0">
                    <a:solidFill>
                      <a:schemeClr val="accent2">
                        <a:lumMod val="75000"/>
                      </a:schemeClr>
                    </a:solidFill>
                    <a:cs typeface="Times New Roman" panose="02020603050405020304" pitchFamily="18" charset="0"/>
                  </a:rPr>
                  <a:t>interpreting the coefficients: </a:t>
                </a:r>
              </a:p>
              <a:p>
                <a:pPr lvl="1"/>
                <a:r>
                  <a:rPr lang="en-US" sz="2400" dirty="0">
                    <a:cs typeface="Times New Roman" panose="02020603050405020304" pitchFamily="18" charset="0"/>
                  </a:rPr>
                  <a:t>Recall that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oMath>
                </a14:m>
                <a:r>
                  <a:rPr lang="en-US" sz="2400" dirty="0">
                    <a:cs typeface="Times New Roman" panose="02020603050405020304" pitchFamily="18" charset="0"/>
                  </a:rPr>
                  <a:t> tells you how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affects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𝑖𝑛𝑑𝑒𝑥</m:t>
                    </m:r>
                  </m:oMath>
                </a14:m>
                <a:r>
                  <a:rPr lang="en-US" sz="2400" dirty="0">
                    <a:cs typeface="Times New Roman" panose="02020603050405020304" pitchFamily="18" charset="0"/>
                  </a:rPr>
                  <a:t>, not how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affects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endParaRPr lang="en-US" sz="2400" dirty="0">
                  <a:cs typeface="Times New Roman" panose="02020603050405020304" pitchFamily="18" charset="0"/>
                </a:endParaRPr>
              </a:p>
              <a:p>
                <a:pPr lvl="1"/>
                <a:r>
                  <a:rPr lang="en-US" sz="2400" dirty="0">
                    <a:cs typeface="Times New Roman" panose="02020603050405020304" pitchFamily="18" charset="0"/>
                  </a:rPr>
                  <a:t>We have to consider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𝐹</m:t>
                    </m:r>
                    <m:r>
                      <a:rPr lang="en-US" sz="2400" b="0" i="1" smtClean="0">
                        <a:latin typeface="Cambria Math" panose="02040503050406030204" pitchFamily="18" charset="0"/>
                        <a:cs typeface="Times New Roman" panose="02020603050405020304" pitchFamily="18" charset="0"/>
                      </a:rPr>
                      <m:t>(⋅)</m:t>
                    </m:r>
                  </m:oMath>
                </a14:m>
                <a:endParaRPr lang="en-US" sz="2400" dirty="0">
                  <a:cs typeface="Times New Roman" panose="02020603050405020304" pitchFamily="18" charset="0"/>
                </a:endParaRPr>
              </a:p>
              <a:p>
                <a:r>
                  <a:rPr lang="en-US" sz="2400" dirty="0">
                    <a:cs typeface="Times New Roman" panose="02020603050405020304" pitchFamily="18" charset="0"/>
                  </a:rPr>
                  <a:t>You can look at the table to get a sense of </a:t>
                </a:r>
                <a:r>
                  <a:rPr lang="en-US" sz="2400" b="1" dirty="0">
                    <a:solidFill>
                      <a:schemeClr val="accent2">
                        <a:lumMod val="75000"/>
                      </a:schemeClr>
                    </a:solidFill>
                    <a:cs typeface="Times New Roman" panose="02020603050405020304" pitchFamily="18" charset="0"/>
                  </a:rPr>
                  <a:t>direction</a:t>
                </a:r>
                <a:r>
                  <a:rPr lang="en-US" sz="2400" dirty="0">
                    <a:cs typeface="Times New Roman" panose="02020603050405020304" pitchFamily="18" charset="0"/>
                  </a:rPr>
                  <a:t> and </a:t>
                </a:r>
                <a:r>
                  <a:rPr lang="en-US" sz="2400" b="1" dirty="0">
                    <a:solidFill>
                      <a:schemeClr val="accent2">
                        <a:lumMod val="75000"/>
                      </a:schemeClr>
                    </a:solidFill>
                    <a:cs typeface="Times New Roman" panose="02020603050405020304" pitchFamily="18" charset="0"/>
                  </a:rPr>
                  <a:t>significance</a:t>
                </a:r>
                <a:r>
                  <a:rPr lang="en-US" sz="2400" dirty="0">
                    <a:cs typeface="Times New Roman" panose="02020603050405020304" pitchFamily="18" charset="0"/>
                  </a:rPr>
                  <a:t>, but </a:t>
                </a:r>
                <a:r>
                  <a:rPr lang="en-US" sz="2400" b="1" dirty="0">
                    <a:solidFill>
                      <a:srgbClr val="FF0000"/>
                    </a:solidFill>
                    <a:cs typeface="Times New Roman" panose="02020603050405020304" pitchFamily="18" charset="0"/>
                  </a:rPr>
                  <a:t>not magnitude</a:t>
                </a: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1" y="1066801"/>
                <a:ext cx="9677400" cy="5141388"/>
              </a:xfrm>
              <a:blipFill>
                <a:blip r:embed="rId3"/>
                <a:stretch>
                  <a:fillRect l="-441" t="-1305"/>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B1A6FF66-D8C9-2DF7-B9D7-2E90213664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7629"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94190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Logit/</a:t>
            </a:r>
            <a:r>
              <a:rPr lang="en-US" sz="3600" dirty="0" err="1">
                <a:latin typeface="Times New Roman" panose="02020603050405020304" pitchFamily="18" charset="0"/>
                <a:cs typeface="Times New Roman" panose="02020603050405020304" pitchFamily="18" charset="0"/>
              </a:rPr>
              <a:t>Probit</a:t>
            </a:r>
            <a:r>
              <a:rPr lang="en-US" sz="3600" dirty="0">
                <a:latin typeface="Times New Roman" panose="02020603050405020304" pitchFamily="18" charset="0"/>
                <a:cs typeface="Times New Roman" panose="02020603050405020304" pitchFamily="18" charset="0"/>
              </a:rPr>
              <a:t> in Practice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1" y="1066801"/>
                <a:ext cx="9677400" cy="5141388"/>
              </a:xfrm>
            </p:spPr>
            <p:txBody>
              <a:bodyPr>
                <a:noAutofit/>
              </a:bodyPr>
              <a:lstStyle/>
              <a:p>
                <a:r>
                  <a:rPr lang="en-US" sz="2400" dirty="0">
                    <a:cs typeface="Times New Roman" panose="02020603050405020304" pitchFamily="18" charset="0"/>
                  </a:rPr>
                  <a:t>Logit and </a:t>
                </a:r>
                <a:r>
                  <a:rPr lang="en-US" sz="2400" dirty="0" err="1">
                    <a:cs typeface="Times New Roman" panose="02020603050405020304" pitchFamily="18" charset="0"/>
                  </a:rPr>
                  <a:t>probit</a:t>
                </a:r>
                <a:r>
                  <a:rPr lang="en-US" sz="2400" dirty="0">
                    <a:cs typeface="Times New Roman" panose="02020603050405020304" pitchFamily="18" charset="0"/>
                  </a:rPr>
                  <a:t> are easy to execute (just use “</a:t>
                </a:r>
                <a:r>
                  <a:rPr lang="en-US" sz="2400" dirty="0" err="1">
                    <a:cs typeface="Times New Roman" panose="02020603050405020304" pitchFamily="18" charset="0"/>
                  </a:rPr>
                  <a:t>glm</a:t>
                </a:r>
                <a:r>
                  <a:rPr lang="en-US" sz="2400" dirty="0">
                    <a:cs typeface="Times New Roman" panose="02020603050405020304" pitchFamily="18" charset="0"/>
                  </a:rPr>
                  <a:t>” method) </a:t>
                </a:r>
              </a:p>
              <a:p>
                <a:r>
                  <a:rPr lang="en-US" sz="2400" dirty="0">
                    <a:cs typeface="Times New Roman" panose="02020603050405020304" pitchFamily="18" charset="0"/>
                  </a:rPr>
                  <a:t>Trouble is </a:t>
                </a:r>
                <a:r>
                  <a:rPr lang="en-US" sz="2400" b="1" dirty="0">
                    <a:solidFill>
                      <a:schemeClr val="accent2">
                        <a:lumMod val="75000"/>
                      </a:schemeClr>
                    </a:solidFill>
                    <a:cs typeface="Times New Roman" panose="02020603050405020304" pitchFamily="18" charset="0"/>
                  </a:rPr>
                  <a:t>interpreting the coefficients: </a:t>
                </a:r>
              </a:p>
              <a:p>
                <a:pPr lvl="1"/>
                <a:r>
                  <a:rPr lang="en-US" sz="2400" dirty="0">
                    <a:cs typeface="Times New Roman" panose="02020603050405020304" pitchFamily="18" charset="0"/>
                  </a:rPr>
                  <a:t>Recall that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oMath>
                </a14:m>
                <a:r>
                  <a:rPr lang="en-US" sz="2400" dirty="0">
                    <a:cs typeface="Times New Roman" panose="02020603050405020304" pitchFamily="18" charset="0"/>
                  </a:rPr>
                  <a:t> tells you how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affects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𝑖𝑛𝑑𝑒𝑥</m:t>
                    </m:r>
                  </m:oMath>
                </a14:m>
                <a:r>
                  <a:rPr lang="en-US" sz="2400" dirty="0">
                    <a:cs typeface="Times New Roman" panose="02020603050405020304" pitchFamily="18" charset="0"/>
                  </a:rPr>
                  <a:t>, not how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affects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endParaRPr lang="en-US" sz="2400" dirty="0">
                  <a:cs typeface="Times New Roman" panose="02020603050405020304" pitchFamily="18" charset="0"/>
                </a:endParaRPr>
              </a:p>
              <a:p>
                <a:pPr lvl="1"/>
                <a:r>
                  <a:rPr lang="en-US" sz="2400" dirty="0">
                    <a:cs typeface="Times New Roman" panose="02020603050405020304" pitchFamily="18" charset="0"/>
                  </a:rPr>
                  <a:t>We have to consider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𝐹</m:t>
                    </m:r>
                    <m:r>
                      <a:rPr lang="en-US" sz="2400" b="0" i="1" smtClean="0">
                        <a:latin typeface="Cambria Math" panose="02040503050406030204" pitchFamily="18" charset="0"/>
                        <a:cs typeface="Times New Roman" panose="02020603050405020304" pitchFamily="18" charset="0"/>
                      </a:rPr>
                      <m:t>(⋅)</m:t>
                    </m:r>
                  </m:oMath>
                </a14:m>
                <a:endParaRPr lang="en-US" sz="2400" dirty="0">
                  <a:cs typeface="Times New Roman" panose="02020603050405020304" pitchFamily="18" charset="0"/>
                </a:endParaRPr>
              </a:p>
              <a:p>
                <a:r>
                  <a:rPr lang="en-US" sz="2400" dirty="0">
                    <a:cs typeface="Times New Roman" panose="02020603050405020304" pitchFamily="18" charset="0"/>
                  </a:rPr>
                  <a:t>You can look at the table to get a sense of </a:t>
                </a:r>
                <a:r>
                  <a:rPr lang="en-US" sz="2400" b="1" dirty="0">
                    <a:solidFill>
                      <a:schemeClr val="accent2">
                        <a:lumMod val="75000"/>
                      </a:schemeClr>
                    </a:solidFill>
                    <a:cs typeface="Times New Roman" panose="02020603050405020304" pitchFamily="18" charset="0"/>
                  </a:rPr>
                  <a:t>direction</a:t>
                </a:r>
                <a:r>
                  <a:rPr lang="en-US" sz="2400" dirty="0">
                    <a:cs typeface="Times New Roman" panose="02020603050405020304" pitchFamily="18" charset="0"/>
                  </a:rPr>
                  <a:t> and </a:t>
                </a:r>
                <a:r>
                  <a:rPr lang="en-US" sz="2400" b="1" dirty="0">
                    <a:solidFill>
                      <a:schemeClr val="accent2">
                        <a:lumMod val="75000"/>
                      </a:schemeClr>
                    </a:solidFill>
                    <a:cs typeface="Times New Roman" panose="02020603050405020304" pitchFamily="18" charset="0"/>
                  </a:rPr>
                  <a:t>significance</a:t>
                </a:r>
                <a:r>
                  <a:rPr lang="en-US" sz="2400" dirty="0">
                    <a:cs typeface="Times New Roman" panose="02020603050405020304" pitchFamily="18" charset="0"/>
                  </a:rPr>
                  <a:t>, but </a:t>
                </a:r>
                <a:r>
                  <a:rPr lang="en-US" sz="2400" b="1" dirty="0">
                    <a:solidFill>
                      <a:srgbClr val="FF0000"/>
                    </a:solidFill>
                    <a:cs typeface="Times New Roman" panose="02020603050405020304" pitchFamily="18" charset="0"/>
                  </a:rPr>
                  <a:t>not magnitude</a:t>
                </a:r>
              </a:p>
              <a:p>
                <a:r>
                  <a:rPr lang="en-US" sz="2400" dirty="0">
                    <a:cs typeface="Times New Roman" panose="02020603050405020304" pitchFamily="18" charset="0"/>
                  </a:rPr>
                  <a:t>You might use an LPM when: </a:t>
                </a:r>
              </a:p>
              <a:p>
                <a:pPr lvl="1"/>
                <a:r>
                  <a:rPr lang="en-US" sz="2400" dirty="0">
                    <a:cs typeface="Times New Roman" panose="02020603050405020304" pitchFamily="18" charset="0"/>
                  </a:rPr>
                  <a:t>LPMs are better in small samples than logit/</a:t>
                </a:r>
                <a:r>
                  <a:rPr lang="en-US" sz="2400" dirty="0" err="1">
                    <a:cs typeface="Times New Roman" panose="02020603050405020304" pitchFamily="18" charset="0"/>
                  </a:rPr>
                  <a:t>probit</a:t>
                </a:r>
                <a:r>
                  <a:rPr lang="en-US" sz="2400" dirty="0">
                    <a:cs typeface="Times New Roman" panose="02020603050405020304" pitchFamily="18" charset="0"/>
                  </a:rPr>
                  <a:t>, which generally use </a:t>
                </a:r>
                <a:r>
                  <a:rPr lang="en-US" sz="2400" b="1" dirty="0">
                    <a:cs typeface="Times New Roman" panose="02020603050405020304" pitchFamily="18" charset="0"/>
                  </a:rPr>
                  <a:t>Maximum Likelihood Estimation (MLE) </a:t>
                </a:r>
              </a:p>
              <a:p>
                <a:pPr lvl="1"/>
                <a:r>
                  <a:rPr lang="en-US" sz="2400" dirty="0">
                    <a:cs typeface="Times New Roman" panose="02020603050405020304" pitchFamily="18" charset="0"/>
                  </a:rPr>
                  <a:t>You only care about slope for predicted values far from boundaries</a:t>
                </a:r>
              </a:p>
              <a:p>
                <a:pPr lvl="1"/>
                <a:r>
                  <a:rPr lang="en-US" sz="2400" dirty="0">
                    <a:cs typeface="Times New Roman" panose="02020603050405020304" pitchFamily="18" charset="0"/>
                  </a:rPr>
                  <a:t>There are limited values on RHS (less variation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fewer prediction issues)</a:t>
                </a:r>
              </a:p>
              <a:p>
                <a:pPr lvl="1"/>
                <a:r>
                  <a:rPr lang="en-US" sz="2400" b="1" dirty="0">
                    <a:cs typeface="Times New Roman" panose="02020603050405020304" pitchFamily="18" charset="0"/>
                  </a:rPr>
                  <a:t>Remember LPM performs poorly if </a:t>
                </a:r>
                <a14:m>
                  <m:oMath xmlns:m="http://schemas.openxmlformats.org/officeDocument/2006/math">
                    <m:acc>
                      <m:accPr>
                        <m:chr m:val="̅"/>
                        <m:ctrlPr>
                          <a:rPr lang="en-US" sz="2400" b="1" i="1" smtClean="0">
                            <a:latin typeface="Cambria Math" panose="02040503050406030204" pitchFamily="18" charset="0"/>
                            <a:cs typeface="Times New Roman" panose="02020603050405020304" pitchFamily="18" charset="0"/>
                          </a:rPr>
                        </m:ctrlPr>
                      </m:accPr>
                      <m:e>
                        <m:r>
                          <a:rPr lang="en-US" sz="2400" b="0" i="1" smtClean="0">
                            <a:latin typeface="Cambria Math" panose="02040503050406030204" pitchFamily="18" charset="0"/>
                            <a:cs typeface="Times New Roman" panose="02020603050405020304" pitchFamily="18" charset="0"/>
                          </a:rPr>
                          <m:t>𝑦</m:t>
                        </m:r>
                      </m:e>
                    </m:acc>
                  </m:oMath>
                </a14:m>
                <a:r>
                  <a:rPr lang="en-US" sz="2400" b="1" dirty="0">
                    <a:cs typeface="Times New Roman" panose="02020603050405020304" pitchFamily="18" charset="0"/>
                  </a:rPr>
                  <a:t> is close to 0 or 1!</a:t>
                </a: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1" y="1066801"/>
                <a:ext cx="9677400" cy="5141388"/>
              </a:xfrm>
              <a:blipFill>
                <a:blip r:embed="rId3"/>
                <a:stretch>
                  <a:fillRect l="-441" t="-1305" b="-10083"/>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D24F87A3-BCAF-963A-30E2-888B7E759B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29800"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89011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How to interpret logit/</a:t>
            </a:r>
            <a:r>
              <a:rPr lang="en-US" sz="3600" dirty="0" err="1">
                <a:latin typeface="Times New Roman" panose="02020603050405020304" pitchFamily="18" charset="0"/>
                <a:cs typeface="Times New Roman" panose="02020603050405020304" pitchFamily="18" charset="0"/>
              </a:rPr>
              <a:t>probit</a:t>
            </a:r>
            <a:r>
              <a:rPr lang="en-US" sz="3600" dirty="0">
                <a:latin typeface="Times New Roman" panose="02020603050405020304" pitchFamily="18" charset="0"/>
                <a:cs typeface="Times New Roman" panose="02020603050405020304" pitchFamily="18" charset="0"/>
              </a:rPr>
              <a:t> results?</a:t>
            </a:r>
          </a:p>
        </p:txBody>
      </p:sp>
      <p:sp>
        <p:nvSpPr>
          <p:cNvPr id="3" name="Content Placeholder 2"/>
          <p:cNvSpPr>
            <a:spLocks noGrp="1"/>
          </p:cNvSpPr>
          <p:nvPr>
            <p:ph idx="1"/>
          </p:nvPr>
        </p:nvSpPr>
        <p:spPr>
          <a:xfrm>
            <a:off x="609600" y="1066801"/>
            <a:ext cx="10289629" cy="5141388"/>
          </a:xfrm>
        </p:spPr>
        <p:txBody>
          <a:bodyPr>
            <a:normAutofit/>
          </a:bodyPr>
          <a:lstStyle/>
          <a:p>
            <a:r>
              <a:rPr lang="en-US" sz="2400" dirty="0">
                <a:cs typeface="Times New Roman" panose="02020603050405020304" pitchFamily="18" charset="0"/>
              </a:rPr>
              <a:t>Typically, journals report results from logit/probit regressions using </a:t>
            </a:r>
            <a:r>
              <a:rPr lang="en-US" sz="2400" b="1" dirty="0">
                <a:cs typeface="Times New Roman" panose="02020603050405020304" pitchFamily="18" charset="0"/>
              </a:rPr>
              <a:t>odds ratios</a:t>
            </a:r>
          </a:p>
          <a:p>
            <a:r>
              <a:rPr lang="en-US" sz="2400" dirty="0">
                <a:cs typeface="Times New Roman" panose="02020603050405020304" pitchFamily="18" charset="0"/>
              </a:rPr>
              <a:t> What does</a:t>
            </a:r>
          </a:p>
          <a:p>
            <a:pPr marL="0" indent="0">
              <a:buNone/>
            </a:pPr>
            <a:endParaRPr lang="en-US" sz="2400" dirty="0">
              <a:cs typeface="Times New Roman" panose="02020603050405020304" pitchFamily="18" charset="0"/>
            </a:endParaRPr>
          </a:p>
        </p:txBody>
      </p:sp>
      <p:pic>
        <p:nvPicPr>
          <p:cNvPr id="1026" name="Picture 2" descr="What is a meme? Here's everything you need to know | Digital Trends">
            <a:extLst>
              <a:ext uri="{FF2B5EF4-FFF2-40B4-BE49-F238E27FC236}">
                <a16:creationId xmlns:a16="http://schemas.microsoft.com/office/drawing/2014/main" id="{524E3057-0FB5-4790-63D2-1507DF7B40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532552"/>
            <a:ext cx="7696200" cy="513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23742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How to interpret logit/</a:t>
            </a:r>
            <a:r>
              <a:rPr lang="en-US" sz="3600" dirty="0" err="1">
                <a:latin typeface="Times New Roman" panose="02020603050405020304" pitchFamily="18" charset="0"/>
                <a:cs typeface="Times New Roman" panose="02020603050405020304" pitchFamily="18" charset="0"/>
              </a:rPr>
              <a:t>probit</a:t>
            </a:r>
            <a:r>
              <a:rPr lang="en-US" sz="3600" dirty="0">
                <a:latin typeface="Times New Roman" panose="02020603050405020304" pitchFamily="18" charset="0"/>
                <a:cs typeface="Times New Roman" panose="02020603050405020304" pitchFamily="18" charset="0"/>
              </a:rPr>
              <a:t> results?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066801"/>
                <a:ext cx="10289629" cy="5141388"/>
              </a:xfrm>
            </p:spPr>
            <p:txBody>
              <a:bodyPr>
                <a:normAutofit/>
              </a:bodyPr>
              <a:lstStyle/>
              <a:p>
                <a:r>
                  <a:rPr lang="en-US" sz="2400" dirty="0">
                    <a:cs typeface="Times New Roman" panose="02020603050405020304" pitchFamily="18" charset="0"/>
                  </a:rPr>
                  <a:t>Typically, journals report results from logit/probit regressions using </a:t>
                </a:r>
                <a:r>
                  <a:rPr lang="en-US" sz="2400" b="1" dirty="0">
                    <a:cs typeface="Times New Roman" panose="02020603050405020304" pitchFamily="18" charset="0"/>
                  </a:rPr>
                  <a:t>odds ratios</a:t>
                </a:r>
              </a:p>
              <a:p>
                <a:r>
                  <a:rPr lang="en-US" sz="2400" dirty="0">
                    <a:cs typeface="Times New Roman" panose="02020603050405020304" pitchFamily="18" charset="0"/>
                  </a:rPr>
                  <a:t> Formally: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𝑂</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𝑅</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𝑂𝑑𝑑𝑠</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𝑌</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=1)</m:t>
                          </m:r>
                        </m:num>
                        <m:den>
                          <m:r>
                            <a:rPr lang="en-US" sz="2400" b="0" i="1" smtClean="0">
                              <a:latin typeface="Cambria Math" panose="02040503050406030204" pitchFamily="18" charset="0"/>
                              <a:cs typeface="Times New Roman" panose="02020603050405020304" pitchFamily="18" charset="0"/>
                            </a:rPr>
                            <m:t>𝑂𝑑𝑑𝑠</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𝑌</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=0)</m:t>
                          </m:r>
                        </m:den>
                      </m:f>
                      <m:r>
                        <a:rPr lang="en-US" sz="2400" b="0" i="1" smtClean="0">
                          <a:latin typeface="Cambria Math" panose="02040503050406030204" pitchFamily="18" charset="0"/>
                          <a:cs typeface="Times New Roman" panose="02020603050405020304" pitchFamily="18" charset="0"/>
                        </a:rPr>
                        <m:t> </m:t>
                      </m:r>
                    </m:oMath>
                  </m:oMathPara>
                </a14:m>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r>
                  <a:rPr lang="en-US" sz="2400" dirty="0">
                    <a:cs typeface="Times New Roman" panose="02020603050405020304" pitchFamily="18" charset="0"/>
                  </a:rPr>
                  <a:t>To report this, take </a:t>
                </a:r>
                <a14:m>
                  <m:oMath xmlns:m="http://schemas.openxmlformats.org/officeDocument/2006/math">
                    <m:func>
                      <m:funcPr>
                        <m:ctrlPr>
                          <a:rPr lang="en-US" sz="2400" b="0" i="1" smtClean="0">
                            <a:latin typeface="Cambria Math" panose="02040503050406030204" pitchFamily="18" charset="0"/>
                            <a:cs typeface="Times New Roman" panose="02020603050405020304" pitchFamily="18" charset="0"/>
                          </a:rPr>
                        </m:ctrlPr>
                      </m:funcPr>
                      <m:fName>
                        <m:r>
                          <m:rPr>
                            <m:sty m:val="p"/>
                          </m:rPr>
                          <a:rPr lang="en-US" sz="2400" b="0" i="0" smtClean="0">
                            <a:latin typeface="Cambria Math" panose="02040503050406030204" pitchFamily="18" charset="0"/>
                            <a:cs typeface="Times New Roman" panose="02020603050405020304" pitchFamily="18" charset="0"/>
                          </a:rPr>
                          <m:t>exp</m:t>
                        </m:r>
                      </m:fName>
                      <m:e>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e>
                        </m:d>
                      </m:e>
                    </m:func>
                  </m:oMath>
                </a14:m>
                <a:r>
                  <a:rPr lang="en-US" sz="2400" dirty="0">
                    <a:cs typeface="Times New Roman" panose="02020603050405020304" pitchFamily="18" charset="0"/>
                  </a:rPr>
                  <a:t> as your odds ratio</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066801"/>
                <a:ext cx="10289629" cy="5141388"/>
              </a:xfrm>
              <a:blipFill>
                <a:blip r:embed="rId3"/>
                <a:stretch>
                  <a:fillRect l="-415" t="-1305"/>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86F1CE88-2774-14BD-93C9-DE7A97892485}"/>
              </a:ext>
            </a:extLst>
          </p:cNvPr>
          <p:cNvPicPr>
            <a:picLocks noChangeAspect="1"/>
          </p:cNvPicPr>
          <p:nvPr/>
        </p:nvPicPr>
        <p:blipFill>
          <a:blip r:embed="rId4"/>
          <a:stretch>
            <a:fillRect/>
          </a:stretch>
        </p:blipFill>
        <p:spPr>
          <a:xfrm>
            <a:off x="622139" y="3124200"/>
            <a:ext cx="9640645" cy="2457793"/>
          </a:xfrm>
          <a:prstGeom prst="rect">
            <a:avLst/>
          </a:prstGeom>
        </p:spPr>
      </p:pic>
    </p:spTree>
    <p:extLst>
      <p:ext uri="{BB962C8B-B14F-4D97-AF65-F5344CB8AC3E}">
        <p14:creationId xmlns:p14="http://schemas.microsoft.com/office/powerpoint/2010/main" val="995439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How to interpret logit/</a:t>
            </a:r>
            <a:r>
              <a:rPr lang="en-US" sz="3600" dirty="0" err="1">
                <a:latin typeface="Times New Roman" panose="02020603050405020304" pitchFamily="18" charset="0"/>
                <a:cs typeface="Times New Roman" panose="02020603050405020304" pitchFamily="18" charset="0"/>
              </a:rPr>
              <a:t>probit</a:t>
            </a:r>
            <a:r>
              <a:rPr lang="en-US" sz="3600" dirty="0">
                <a:latin typeface="Times New Roman" panose="02020603050405020304" pitchFamily="18" charset="0"/>
                <a:cs typeface="Times New Roman" panose="02020603050405020304" pitchFamily="18" charset="0"/>
              </a:rPr>
              <a:t> results?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066801"/>
                <a:ext cx="10289629" cy="5141388"/>
              </a:xfrm>
            </p:spPr>
            <p:txBody>
              <a:bodyPr>
                <a:normAutofit/>
              </a:bodyPr>
              <a:lstStyle/>
              <a:p>
                <a:r>
                  <a:rPr lang="en-US" sz="2400" dirty="0">
                    <a:cs typeface="Times New Roman" panose="02020603050405020304" pitchFamily="18" charset="0"/>
                  </a:rPr>
                  <a:t>Typically, journals report results from logit/probit regressions using </a:t>
                </a:r>
                <a:r>
                  <a:rPr lang="en-US" sz="2400" b="1" dirty="0">
                    <a:cs typeface="Times New Roman" panose="02020603050405020304" pitchFamily="18" charset="0"/>
                  </a:rPr>
                  <a:t>odds ratios</a:t>
                </a:r>
              </a:p>
              <a:p>
                <a:r>
                  <a:rPr lang="en-US" sz="2400" dirty="0">
                    <a:cs typeface="Times New Roman" panose="02020603050405020304" pitchFamily="18" charset="0"/>
                  </a:rPr>
                  <a:t> Formally: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𝑂</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𝑅</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𝑂𝑑𝑑𝑠</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𝑌</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=1)</m:t>
                          </m:r>
                        </m:num>
                        <m:den>
                          <m:r>
                            <a:rPr lang="en-US" sz="2400" b="0" i="1" smtClean="0">
                              <a:latin typeface="Cambria Math" panose="02040503050406030204" pitchFamily="18" charset="0"/>
                              <a:cs typeface="Times New Roman" panose="02020603050405020304" pitchFamily="18" charset="0"/>
                            </a:rPr>
                            <m:t>𝑂𝑑𝑑𝑠</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𝑌</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=0)</m:t>
                          </m:r>
                        </m:den>
                      </m:f>
                      <m:r>
                        <a:rPr lang="en-US" sz="2400" b="0" i="1" smtClean="0">
                          <a:latin typeface="Cambria Math" panose="02040503050406030204" pitchFamily="18" charset="0"/>
                          <a:cs typeface="Times New Roman" panose="02020603050405020304" pitchFamily="18" charset="0"/>
                        </a:rPr>
                        <m:t> </m:t>
                      </m:r>
                    </m:oMath>
                  </m:oMathPara>
                </a14:m>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r>
                  <a:rPr lang="en-US" sz="2400" dirty="0">
                    <a:cs typeface="Times New Roman" panose="02020603050405020304" pitchFamily="18" charset="0"/>
                  </a:rPr>
                  <a:t>To report this, take </a:t>
                </a:r>
                <a14:m>
                  <m:oMath xmlns:m="http://schemas.openxmlformats.org/officeDocument/2006/math">
                    <m:func>
                      <m:funcPr>
                        <m:ctrlPr>
                          <a:rPr lang="en-US" sz="2400" b="0" i="1" smtClean="0">
                            <a:latin typeface="Cambria Math" panose="02040503050406030204" pitchFamily="18" charset="0"/>
                            <a:cs typeface="Times New Roman" panose="02020603050405020304" pitchFamily="18" charset="0"/>
                          </a:rPr>
                        </m:ctrlPr>
                      </m:funcPr>
                      <m:fName>
                        <m:r>
                          <m:rPr>
                            <m:sty m:val="p"/>
                          </m:rPr>
                          <a:rPr lang="en-US" sz="2400" b="0" i="0" smtClean="0">
                            <a:latin typeface="Cambria Math" panose="02040503050406030204" pitchFamily="18" charset="0"/>
                            <a:cs typeface="Times New Roman" panose="02020603050405020304" pitchFamily="18" charset="0"/>
                          </a:rPr>
                          <m:t>exp</m:t>
                        </m:r>
                      </m:fName>
                      <m:e>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e>
                        </m:d>
                      </m:e>
                    </m:func>
                  </m:oMath>
                </a14:m>
                <a:r>
                  <a:rPr lang="en-US" sz="2400" dirty="0">
                    <a:cs typeface="Times New Roman" panose="02020603050405020304" pitchFamily="18" charset="0"/>
                  </a:rPr>
                  <a:t> as your odds ratio</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066801"/>
                <a:ext cx="10289629" cy="5141388"/>
              </a:xfrm>
              <a:blipFill>
                <a:blip r:embed="rId3"/>
                <a:stretch>
                  <a:fillRect l="-415" t="-1305"/>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B1790D96-D6D0-633B-7CE1-317DBB66DAF7}"/>
              </a:ext>
            </a:extLst>
          </p:cNvPr>
          <p:cNvPicPr>
            <a:picLocks noChangeAspect="1"/>
          </p:cNvPicPr>
          <p:nvPr/>
        </p:nvPicPr>
        <p:blipFill>
          <a:blip r:embed="rId4"/>
          <a:stretch>
            <a:fillRect/>
          </a:stretch>
        </p:blipFill>
        <p:spPr>
          <a:xfrm>
            <a:off x="591273" y="3429000"/>
            <a:ext cx="7259063" cy="1438476"/>
          </a:xfrm>
          <a:prstGeom prst="rect">
            <a:avLst/>
          </a:prstGeom>
        </p:spPr>
      </p:pic>
    </p:spTree>
    <p:extLst>
      <p:ext uri="{BB962C8B-B14F-4D97-AF65-F5344CB8AC3E}">
        <p14:creationId xmlns:p14="http://schemas.microsoft.com/office/powerpoint/2010/main" val="33566932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How to interpret logit/</a:t>
            </a:r>
            <a:r>
              <a:rPr lang="en-US" sz="3600" dirty="0" err="1">
                <a:latin typeface="Times New Roman" panose="02020603050405020304" pitchFamily="18" charset="0"/>
                <a:cs typeface="Times New Roman" panose="02020603050405020304" pitchFamily="18" charset="0"/>
              </a:rPr>
              <a:t>probit</a:t>
            </a:r>
            <a:r>
              <a:rPr lang="en-US" sz="3600" dirty="0">
                <a:latin typeface="Times New Roman" panose="02020603050405020304" pitchFamily="18" charset="0"/>
                <a:cs typeface="Times New Roman" panose="02020603050405020304" pitchFamily="18" charset="0"/>
              </a:rPr>
              <a:t> results?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0"/>
                <a:ext cx="9984829" cy="5453807"/>
              </a:xfrm>
            </p:spPr>
            <p:txBody>
              <a:bodyPr>
                <a:normAutofit/>
              </a:bodyPr>
              <a:lstStyle/>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r>
                  <a:rPr lang="en-US" sz="2400" dirty="0">
                    <a:cs typeface="Times New Roman" panose="02020603050405020304" pitchFamily="18" charset="0"/>
                  </a:rPr>
                  <a:t>Odds ratios are </a:t>
                </a:r>
                <a:r>
                  <a:rPr lang="en-US" sz="2400" b="1" u="sng" dirty="0">
                    <a:cs typeface="Times New Roman" panose="02020603050405020304" pitchFamily="18" charset="0"/>
                  </a:rPr>
                  <a:t>confusing </a:t>
                </a:r>
                <a:r>
                  <a:rPr lang="en-US" sz="2400" dirty="0">
                    <a:cs typeface="Times New Roman" panose="02020603050405020304" pitchFamily="18" charset="0"/>
                  </a:rPr>
                  <a:t>and </a:t>
                </a:r>
                <a:r>
                  <a:rPr lang="en-US" sz="2400" b="1" u="sng" dirty="0">
                    <a:cs typeface="Times New Roman" panose="02020603050405020304" pitchFamily="18" charset="0"/>
                  </a:rPr>
                  <a:t>often misinterpreted</a:t>
                </a:r>
              </a:p>
              <a:p>
                <a:pPr lvl="1"/>
                <a:r>
                  <a:rPr lang="en-US" sz="2200" dirty="0">
                    <a:cs typeface="Times New Roman" panose="02020603050405020304" pitchFamily="18" charset="0"/>
                  </a:rPr>
                  <a:t>Can we just compare odds ratios across literature? </a:t>
                </a:r>
                <a:r>
                  <a:rPr lang="en-US" sz="2200" b="1" u="sng" dirty="0">
                    <a:cs typeface="Times New Roman" panose="02020603050405020304" pitchFamily="18" charset="0"/>
                  </a:rPr>
                  <a:t>NO!</a:t>
                </a:r>
              </a:p>
              <a:p>
                <a:pPr lvl="1"/>
                <a:r>
                  <a:rPr lang="en-US" sz="2200" dirty="0">
                    <a:cs typeface="Times New Roman" panose="02020603050405020304" pitchFamily="18" charset="0"/>
                  </a:rPr>
                  <a:t>Can we compare odds ratios across models in my paper? </a:t>
                </a:r>
                <a:r>
                  <a:rPr lang="en-US" sz="2200" b="1" u="sng" dirty="0">
                    <a:cs typeface="Times New Roman" panose="02020603050405020304" pitchFamily="18" charset="0"/>
                  </a:rPr>
                  <a:t>NO! </a:t>
                </a:r>
              </a:p>
              <a:p>
                <a:r>
                  <a:rPr lang="en-US" sz="2400" dirty="0">
                    <a:cs typeface="Times New Roman" panose="02020603050405020304" pitchFamily="18" charset="0"/>
                  </a:rPr>
                  <a:t>Why? Differences in regression methods: </a:t>
                </a:r>
              </a:p>
              <a:p>
                <a:pPr lvl="1"/>
                <a:r>
                  <a:rPr lang="en-US" sz="2200" dirty="0">
                    <a:cs typeface="Times New Roman" panose="02020603050405020304" pitchFamily="18" charset="0"/>
                  </a:rPr>
                  <a:t>In OLS, adding new variables/data just changes </a:t>
                </a:r>
                <a14:m>
                  <m:oMath xmlns:m="http://schemas.openxmlformats.org/officeDocument/2006/math">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𝜎</m:t>
                        </m:r>
                      </m:e>
                      <m:sub>
                        <m:r>
                          <a:rPr lang="en-US" sz="2200" b="0" i="1" smtClean="0">
                            <a:latin typeface="Cambria Math" panose="02040503050406030204" pitchFamily="18" charset="0"/>
                            <a:cs typeface="Times New Roman" panose="02020603050405020304" pitchFamily="18" charset="0"/>
                          </a:rPr>
                          <m:t>𝑖</m:t>
                        </m:r>
                      </m:sub>
                    </m:sSub>
                  </m:oMath>
                </a14:m>
                <a:r>
                  <a:rPr lang="en-US" sz="2200" dirty="0">
                    <a:cs typeface="Times New Roman" panose="02020603050405020304" pitchFamily="18" charset="0"/>
                  </a:rPr>
                  <a:t>, not </a:t>
                </a:r>
                <a14:m>
                  <m:oMath xmlns:m="http://schemas.openxmlformats.org/officeDocument/2006/math">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𝑖</m:t>
                        </m:r>
                      </m:sub>
                    </m:sSub>
                  </m:oMath>
                </a14:m>
                <a:r>
                  <a:rPr lang="en-US" sz="2200" dirty="0">
                    <a:cs typeface="Times New Roman" panose="02020603050405020304" pitchFamily="18" charset="0"/>
                  </a:rPr>
                  <a:t> </a:t>
                </a:r>
              </a:p>
              <a:p>
                <a:pPr lvl="1"/>
                <a:r>
                  <a:rPr lang="en-US" sz="2200" dirty="0">
                    <a:cs typeface="Times New Roman" panose="02020603050405020304" pitchFamily="18" charset="0"/>
                  </a:rPr>
                  <a:t>In nonlinear regression, adding new variables changes </a:t>
                </a:r>
                <a14:m>
                  <m:oMath xmlns:m="http://schemas.openxmlformats.org/officeDocument/2006/math">
                    <m:r>
                      <a:rPr lang="en-US" sz="2200" b="0" i="1" smtClean="0">
                        <a:latin typeface="Cambria Math" panose="02040503050406030204" pitchFamily="18" charset="0"/>
                        <a:cs typeface="Times New Roman" panose="02020603050405020304" pitchFamily="18" charset="0"/>
                      </a:rPr>
                      <m:t>𝐹</m:t>
                    </m:r>
                    <m:r>
                      <a:rPr lang="en-US" sz="2200" b="0" i="1" smtClean="0">
                        <a:latin typeface="Cambria Math" panose="02040503050406030204" pitchFamily="18" charset="0"/>
                        <a:cs typeface="Times New Roman" panose="02020603050405020304" pitchFamily="18" charset="0"/>
                      </a:rPr>
                      <m:t>(</m:t>
                    </m:r>
                    <m:sSup>
                      <m:sSupPr>
                        <m:ctrlPr>
                          <a:rPr lang="en-US" sz="2200" b="0" i="1" smtClean="0">
                            <a:latin typeface="Cambria Math" panose="02040503050406030204" pitchFamily="18" charset="0"/>
                            <a:cs typeface="Times New Roman" panose="02020603050405020304" pitchFamily="18" charset="0"/>
                          </a:rPr>
                        </m:ctrlPr>
                      </m:sSupPr>
                      <m:e>
                        <m:r>
                          <a:rPr lang="en-US" sz="2200" b="0" i="1" smtClean="0">
                            <a:latin typeface="Cambria Math" panose="02040503050406030204" pitchFamily="18" charset="0"/>
                            <a:cs typeface="Times New Roman" panose="02020603050405020304" pitchFamily="18" charset="0"/>
                          </a:rPr>
                          <m:t>𝐷</m:t>
                        </m:r>
                      </m:e>
                      <m:sup>
                        <m:r>
                          <a:rPr lang="en-US" sz="2200" b="0" i="1" smtClean="0">
                            <a:latin typeface="Cambria Math" panose="02040503050406030204" pitchFamily="18" charset="0"/>
                            <a:cs typeface="Times New Roman" panose="02020603050405020304" pitchFamily="18" charset="0"/>
                          </a:rPr>
                          <m:t>∗</m:t>
                        </m:r>
                      </m:sup>
                    </m:sSup>
                    <m:r>
                      <a:rPr lang="en-US" sz="2200" b="0" i="1" smtClean="0">
                        <a:latin typeface="Cambria Math" panose="02040503050406030204" pitchFamily="18" charset="0"/>
                        <a:cs typeface="Times New Roman" panose="02020603050405020304" pitchFamily="18" charset="0"/>
                      </a:rPr>
                      <m:t>)</m:t>
                    </m:r>
                  </m:oMath>
                </a14:m>
                <a:r>
                  <a:rPr lang="en-US" sz="2200" dirty="0">
                    <a:cs typeface="Times New Roman" panose="02020603050405020304" pitchFamily="18" charset="0"/>
                  </a:rPr>
                  <a:t> and hence </a:t>
                </a:r>
                <a14:m>
                  <m:oMath xmlns:m="http://schemas.openxmlformats.org/officeDocument/2006/math">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𝑖</m:t>
                        </m:r>
                      </m:sub>
                    </m:sSub>
                  </m:oMath>
                </a14:m>
                <a:r>
                  <a:rPr lang="en-US" sz="2200" dirty="0">
                    <a:cs typeface="Times New Roman" panose="02020603050405020304" pitchFamily="18" charset="0"/>
                  </a:rPr>
                  <a:t> </a:t>
                </a:r>
              </a:p>
              <a:p>
                <a:pPr marL="0" indent="0">
                  <a:buNone/>
                </a:pPr>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0"/>
                <a:ext cx="9984829" cy="5453807"/>
              </a:xfrm>
              <a:blipFill>
                <a:blip r:embed="rId3"/>
                <a:stretch>
                  <a:fillRect l="-427"/>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93B7929B-E19D-034C-3CA6-DD4EBC807847}"/>
              </a:ext>
            </a:extLst>
          </p:cNvPr>
          <p:cNvPicPr>
            <a:picLocks noChangeAspect="1"/>
          </p:cNvPicPr>
          <p:nvPr/>
        </p:nvPicPr>
        <p:blipFill>
          <a:blip r:embed="rId4"/>
          <a:stretch>
            <a:fillRect/>
          </a:stretch>
        </p:blipFill>
        <p:spPr>
          <a:xfrm>
            <a:off x="152400" y="1107713"/>
            <a:ext cx="12192000" cy="2055267"/>
          </a:xfrm>
          <a:prstGeom prst="rect">
            <a:avLst/>
          </a:prstGeom>
        </p:spPr>
      </p:pic>
    </p:spTree>
    <p:extLst>
      <p:ext uri="{BB962C8B-B14F-4D97-AF65-F5344CB8AC3E}">
        <p14:creationId xmlns:p14="http://schemas.microsoft.com/office/powerpoint/2010/main" val="41454998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52449-6C12-5A99-5AA2-21944BC6AFEF}"/>
              </a:ext>
            </a:extLst>
          </p:cNvPr>
          <p:cNvSpPr>
            <a:spLocks noGrp="1"/>
          </p:cNvSpPr>
          <p:nvPr>
            <p:ph type="title"/>
          </p:nvPr>
        </p:nvSpPr>
        <p:spPr>
          <a:xfrm>
            <a:off x="381000" y="365760"/>
            <a:ext cx="10573512" cy="853440"/>
          </a:xfrm>
        </p:spPr>
        <p:txBody>
          <a:bodyPr/>
          <a:lstStyle/>
          <a:p>
            <a:r>
              <a:rPr lang="en-CA" dirty="0"/>
              <a:t>A simple example: ORs and MEs</a:t>
            </a:r>
          </a:p>
        </p:txBody>
      </p:sp>
      <p:graphicFrame>
        <p:nvGraphicFramePr>
          <p:cNvPr id="4" name="Content Placeholder 3">
            <a:extLst>
              <a:ext uri="{FF2B5EF4-FFF2-40B4-BE49-F238E27FC236}">
                <a16:creationId xmlns:a16="http://schemas.microsoft.com/office/drawing/2014/main" id="{9EF9871E-86E9-7BA4-3147-A8217FB4B216}"/>
              </a:ext>
            </a:extLst>
          </p:cNvPr>
          <p:cNvGraphicFramePr>
            <a:graphicFrameLocks noGrp="1"/>
          </p:cNvGraphicFramePr>
          <p:nvPr>
            <p:ph idx="1"/>
            <p:extLst>
              <p:ext uri="{D42A27DB-BD31-4B8C-83A1-F6EECF244321}">
                <p14:modId xmlns:p14="http://schemas.microsoft.com/office/powerpoint/2010/main" val="3761911914"/>
              </p:ext>
            </p:extLst>
          </p:nvPr>
        </p:nvGraphicFramePr>
        <p:xfrm>
          <a:off x="401782" y="1371600"/>
          <a:ext cx="6446043" cy="1112520"/>
        </p:xfrm>
        <a:graphic>
          <a:graphicData uri="http://schemas.openxmlformats.org/drawingml/2006/table">
            <a:tbl>
              <a:tblPr firstRow="1" bandRow="1">
                <a:tableStyleId>{5C22544A-7EE6-4342-B048-85BDC9FD1C3A}</a:tableStyleId>
              </a:tblPr>
              <a:tblGrid>
                <a:gridCol w="2148681">
                  <a:extLst>
                    <a:ext uri="{9D8B030D-6E8A-4147-A177-3AD203B41FA5}">
                      <a16:colId xmlns:a16="http://schemas.microsoft.com/office/drawing/2014/main" val="4183290916"/>
                    </a:ext>
                  </a:extLst>
                </a:gridCol>
                <a:gridCol w="2148681">
                  <a:extLst>
                    <a:ext uri="{9D8B030D-6E8A-4147-A177-3AD203B41FA5}">
                      <a16:colId xmlns:a16="http://schemas.microsoft.com/office/drawing/2014/main" val="1266826328"/>
                    </a:ext>
                  </a:extLst>
                </a:gridCol>
                <a:gridCol w="2148681">
                  <a:extLst>
                    <a:ext uri="{9D8B030D-6E8A-4147-A177-3AD203B41FA5}">
                      <a16:colId xmlns:a16="http://schemas.microsoft.com/office/drawing/2014/main" val="1299978980"/>
                    </a:ext>
                  </a:extLst>
                </a:gridCol>
              </a:tblGrid>
              <a:tr h="370840">
                <a:tc>
                  <a:txBody>
                    <a:bodyPr/>
                    <a:lstStyle/>
                    <a:p>
                      <a:r>
                        <a:rPr lang="en-CA" dirty="0"/>
                        <a:t>Group</a:t>
                      </a:r>
                    </a:p>
                  </a:txBody>
                  <a:tcPr/>
                </a:tc>
                <a:tc>
                  <a:txBody>
                    <a:bodyPr/>
                    <a:lstStyle/>
                    <a:p>
                      <a:r>
                        <a:rPr lang="en-CA" dirty="0"/>
                        <a:t>No Event</a:t>
                      </a:r>
                    </a:p>
                  </a:txBody>
                  <a:tcPr/>
                </a:tc>
                <a:tc>
                  <a:txBody>
                    <a:bodyPr/>
                    <a:lstStyle/>
                    <a:p>
                      <a:r>
                        <a:rPr lang="en-CA" dirty="0"/>
                        <a:t>Event</a:t>
                      </a:r>
                    </a:p>
                  </a:txBody>
                  <a:tcPr/>
                </a:tc>
                <a:extLst>
                  <a:ext uri="{0D108BD9-81ED-4DB2-BD59-A6C34878D82A}">
                    <a16:rowId xmlns:a16="http://schemas.microsoft.com/office/drawing/2014/main" val="3201516244"/>
                  </a:ext>
                </a:extLst>
              </a:tr>
              <a:tr h="370840">
                <a:tc>
                  <a:txBody>
                    <a:bodyPr/>
                    <a:lstStyle/>
                    <a:p>
                      <a:r>
                        <a:rPr lang="en-CA" dirty="0"/>
                        <a:t>Treated</a:t>
                      </a:r>
                    </a:p>
                  </a:txBody>
                  <a:tcPr/>
                </a:tc>
                <a:tc>
                  <a:txBody>
                    <a:bodyPr/>
                    <a:lstStyle/>
                    <a:p>
                      <a:r>
                        <a:rPr lang="en-CA" dirty="0"/>
                        <a:t>0.55</a:t>
                      </a:r>
                    </a:p>
                  </a:txBody>
                  <a:tcPr/>
                </a:tc>
                <a:tc>
                  <a:txBody>
                    <a:bodyPr/>
                    <a:lstStyle/>
                    <a:p>
                      <a:r>
                        <a:rPr lang="en-CA" dirty="0"/>
                        <a:t>0.45</a:t>
                      </a:r>
                    </a:p>
                  </a:txBody>
                  <a:tcPr/>
                </a:tc>
                <a:extLst>
                  <a:ext uri="{0D108BD9-81ED-4DB2-BD59-A6C34878D82A}">
                    <a16:rowId xmlns:a16="http://schemas.microsoft.com/office/drawing/2014/main" val="3795299237"/>
                  </a:ext>
                </a:extLst>
              </a:tr>
              <a:tr h="370840">
                <a:tc>
                  <a:txBody>
                    <a:bodyPr/>
                    <a:lstStyle/>
                    <a:p>
                      <a:r>
                        <a:rPr lang="en-CA" dirty="0"/>
                        <a:t>Control</a:t>
                      </a:r>
                    </a:p>
                  </a:txBody>
                  <a:tcPr/>
                </a:tc>
                <a:tc>
                  <a:txBody>
                    <a:bodyPr/>
                    <a:lstStyle/>
                    <a:p>
                      <a:r>
                        <a:rPr lang="en-CA" dirty="0"/>
                        <a:t>0.7</a:t>
                      </a:r>
                    </a:p>
                  </a:txBody>
                  <a:tcPr/>
                </a:tc>
                <a:tc>
                  <a:txBody>
                    <a:bodyPr/>
                    <a:lstStyle/>
                    <a:p>
                      <a:r>
                        <a:rPr lang="en-CA" dirty="0"/>
                        <a:t>0.3</a:t>
                      </a:r>
                    </a:p>
                  </a:txBody>
                  <a:tcPr/>
                </a:tc>
                <a:extLst>
                  <a:ext uri="{0D108BD9-81ED-4DB2-BD59-A6C34878D82A}">
                    <a16:rowId xmlns:a16="http://schemas.microsoft.com/office/drawing/2014/main" val="1823849640"/>
                  </a:ext>
                </a:extLst>
              </a:tr>
            </a:tbl>
          </a:graphicData>
        </a:graphic>
      </p:graphicFrame>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1CA8BC1-3BB8-C1A7-D73B-6AF981B2BA5C}"/>
                  </a:ext>
                </a:extLst>
              </p:cNvPr>
              <p:cNvSpPr txBox="1"/>
              <p:nvPr/>
            </p:nvSpPr>
            <p:spPr>
              <a:xfrm>
                <a:off x="533400" y="2667000"/>
                <a:ext cx="10058400" cy="2031325"/>
              </a:xfrm>
              <a:prstGeom prst="rect">
                <a:avLst/>
              </a:prstGeom>
              <a:noFill/>
            </p:spPr>
            <p:txBody>
              <a:bodyPr wrap="square" rtlCol="0">
                <a:spAutoFit/>
              </a:bodyPr>
              <a:lstStyle/>
              <a:p>
                <a:pPr marL="285750" indent="-285750">
                  <a:buFont typeface="Arial" panose="020B0604020202020204" pitchFamily="34" charset="0"/>
                  <a:buChar char="•"/>
                </a:pPr>
                <a:r>
                  <a:rPr lang="en-CA" dirty="0"/>
                  <a:t>What’s the treatment effect </a:t>
                </a:r>
                <a:r>
                  <a:rPr lang="en-CA" b="1" dirty="0"/>
                  <a:t>in levels? </a:t>
                </a:r>
              </a:p>
              <a:p>
                <a:pPr marL="285750" indent="-285750">
                  <a:buFont typeface="Arial" panose="020B0604020202020204" pitchFamily="34" charset="0"/>
                  <a:buChar char="•"/>
                </a:pPr>
                <a:r>
                  <a:rPr lang="en-CA" dirty="0"/>
                  <a:t>What’s the treatment effect </a:t>
                </a:r>
                <a:r>
                  <a:rPr lang="en-CA" b="1" dirty="0"/>
                  <a:t>in relative changes (percentages)? </a:t>
                </a:r>
              </a:p>
              <a:p>
                <a:pPr marL="285750" indent="-285750">
                  <a:buFont typeface="Arial" panose="020B0604020202020204" pitchFamily="34" charset="0"/>
                  <a:buChar char="•"/>
                </a:pPr>
                <a:r>
                  <a:rPr lang="en-CA" dirty="0"/>
                  <a:t>What’s the odds ratio? </a:t>
                </a:r>
              </a:p>
              <a:p>
                <a:pPr/>
                <a14:m>
                  <m:oMathPara xmlns:m="http://schemas.openxmlformats.org/officeDocument/2006/math">
                    <m:oMathParaPr>
                      <m:jc m:val="centerGroup"/>
                    </m:oMathParaPr>
                    <m:oMath xmlns:m="http://schemas.openxmlformats.org/officeDocument/2006/math">
                      <m:r>
                        <m:rPr>
                          <m:nor/>
                        </m:rPr>
                        <a:rPr lang="en-CA"/>
                        <m:t>(0.45/0.55) / (0.30/0.70) = 0.8182 / 0.4286 ≈ </m:t>
                      </m:r>
                      <m:r>
                        <m:rPr>
                          <m:nor/>
                        </m:rPr>
                        <a:rPr lang="en-CA" b="1"/>
                        <m:t>1.91</m:t>
                      </m:r>
                    </m:oMath>
                  </m:oMathPara>
                </a14:m>
                <a:endParaRPr lang="en-CA" dirty="0"/>
              </a:p>
              <a:p>
                <a:endParaRPr lang="en-CA" dirty="0"/>
              </a:p>
              <a:p>
                <a:r>
                  <a:rPr lang="en-CA" dirty="0"/>
                  <a:t>How do you intuitively interpret an odds ratio of 1.91? Did the risk of the event almost double? </a:t>
                </a:r>
              </a:p>
            </p:txBody>
          </p:sp>
        </mc:Choice>
        <mc:Fallback xmlns="">
          <p:sp>
            <p:nvSpPr>
              <p:cNvPr id="5" name="TextBox 4">
                <a:extLst>
                  <a:ext uri="{FF2B5EF4-FFF2-40B4-BE49-F238E27FC236}">
                    <a16:creationId xmlns:a16="http://schemas.microsoft.com/office/drawing/2014/main" id="{C1CA8BC1-3BB8-C1A7-D73B-6AF981B2BA5C}"/>
                  </a:ext>
                </a:extLst>
              </p:cNvPr>
              <p:cNvSpPr txBox="1">
                <a:spLocks noRot="1" noChangeAspect="1" noMove="1" noResize="1" noEditPoints="1" noAdjustHandles="1" noChangeArrowheads="1" noChangeShapeType="1" noTextEdit="1"/>
              </p:cNvSpPr>
              <p:nvPr/>
            </p:nvSpPr>
            <p:spPr>
              <a:xfrm>
                <a:off x="533400" y="2667000"/>
                <a:ext cx="10058400" cy="2031325"/>
              </a:xfrm>
              <a:prstGeom prst="rect">
                <a:avLst/>
              </a:prstGeom>
              <a:blipFill>
                <a:blip r:embed="rId3"/>
                <a:stretch>
                  <a:fillRect l="-545" t="-1802" b="-3604"/>
                </a:stretch>
              </a:blipFill>
            </p:spPr>
            <p:txBody>
              <a:bodyPr/>
              <a:lstStyle/>
              <a:p>
                <a:r>
                  <a:rPr lang="en-CA">
                    <a:noFill/>
                  </a:rPr>
                  <a:t> </a:t>
                </a:r>
              </a:p>
            </p:txBody>
          </p:sp>
        </mc:Fallback>
      </mc:AlternateContent>
    </p:spTree>
    <p:extLst>
      <p:ext uri="{BB962C8B-B14F-4D97-AF65-F5344CB8AC3E}">
        <p14:creationId xmlns:p14="http://schemas.microsoft.com/office/powerpoint/2010/main" val="13915368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F320D-A8B7-1044-1D2D-34B8A62758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D53899-47F1-75EF-010E-73DC5F112B29}"/>
              </a:ext>
            </a:extLst>
          </p:cNvPr>
          <p:cNvSpPr>
            <a:spLocks noGrp="1"/>
          </p:cNvSpPr>
          <p:nvPr>
            <p:ph type="title"/>
          </p:nvPr>
        </p:nvSpPr>
        <p:spPr>
          <a:xfrm>
            <a:off x="381000" y="365760"/>
            <a:ext cx="10573512" cy="853440"/>
          </a:xfrm>
        </p:spPr>
        <p:txBody>
          <a:bodyPr/>
          <a:lstStyle/>
          <a:p>
            <a:r>
              <a:rPr lang="en-CA" dirty="0"/>
              <a:t>A simple example: ORs and MEs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0F296B7-4ABC-4201-0012-4DB0A77901FC}"/>
                  </a:ext>
                </a:extLst>
              </p:cNvPr>
              <p:cNvSpPr>
                <a:spLocks noGrp="1"/>
              </p:cNvSpPr>
              <p:nvPr>
                <p:ph idx="1"/>
              </p:nvPr>
            </p:nvSpPr>
            <p:spPr>
              <a:xfrm>
                <a:off x="381000" y="1295400"/>
                <a:ext cx="10573512" cy="5196840"/>
              </a:xfrm>
            </p:spPr>
            <p:txBody>
              <a:bodyPr>
                <a:normAutofit/>
              </a:bodyPr>
              <a:lstStyle/>
              <a:p>
                <a:r>
                  <a:rPr lang="en-CA" sz="2400" dirty="0"/>
                  <a:t>Now consider a logit regression</a:t>
                </a:r>
              </a:p>
              <a:p>
                <a:r>
                  <a:rPr lang="en-CA" sz="2400" dirty="0"/>
                  <a:t>What is going on? </a:t>
                </a:r>
              </a:p>
              <a:p>
                <a:pPr lvl="1"/>
                <a:r>
                  <a:rPr lang="en-CA" sz="2400" dirty="0"/>
                  <a:t>In an OLS, if you add </a:t>
                </a:r>
                <a14:m>
                  <m:oMath xmlns:m="http://schemas.openxmlformats.org/officeDocument/2006/math">
                    <m:r>
                      <a:rPr lang="en-CA" sz="2400" b="0" i="1" smtClean="0">
                        <a:latin typeface="Cambria Math" panose="02040503050406030204" pitchFamily="18" charset="0"/>
                      </a:rPr>
                      <m:t>𝑍</m:t>
                    </m:r>
                    <m:r>
                      <a:rPr lang="en-CA" sz="2400" b="0" i="1" smtClean="0">
                        <a:latin typeface="Cambria Math" panose="02040503050406030204" pitchFamily="18" charset="0"/>
                      </a:rPr>
                      <m:t>⊥</m:t>
                    </m:r>
                    <m:r>
                      <a:rPr lang="en-CA" sz="2400" b="0" i="1" smtClean="0">
                        <a:latin typeface="Cambria Math" panose="02040503050406030204" pitchFamily="18" charset="0"/>
                      </a:rPr>
                      <m:t>𝑋</m:t>
                    </m:r>
                  </m:oMath>
                </a14:m>
                <a:r>
                  <a:rPr lang="en-CA" sz="2400" dirty="0"/>
                  <a:t>, all that happens is your standard errors get smaller; </a:t>
                </a:r>
                <a14:m>
                  <m:oMath xmlns:m="http://schemas.openxmlformats.org/officeDocument/2006/math">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𝛽</m:t>
                        </m:r>
                      </m:e>
                      <m:sub>
                        <m:r>
                          <a:rPr lang="en-CA" sz="2400" b="0" i="1" smtClean="0">
                            <a:latin typeface="Cambria Math" panose="02040503050406030204" pitchFamily="18" charset="0"/>
                          </a:rPr>
                          <m:t>𝑥</m:t>
                        </m:r>
                      </m:sub>
                    </m:sSub>
                  </m:oMath>
                </a14:m>
                <a:r>
                  <a:rPr lang="en-CA" sz="2400" dirty="0"/>
                  <a:t> shouldn’t change</a:t>
                </a:r>
              </a:p>
              <a:p>
                <a:pPr lvl="1"/>
                <a:r>
                  <a:rPr lang="en-CA" sz="2400" dirty="0"/>
                  <a:t>This isn’t true in a GLM world, with the link functions!  </a:t>
                </a:r>
              </a:p>
              <a:p>
                <a:pPr lvl="1"/>
                <a:r>
                  <a:rPr lang="en-CA" sz="2400" dirty="0"/>
                  <a:t>When you estimate </a:t>
                </a:r>
                <a14:m>
                  <m:oMath xmlns:m="http://schemas.openxmlformats.org/officeDocument/2006/math">
                    <m:sSub>
                      <m:sSubPr>
                        <m:ctrlPr>
                          <a:rPr lang="en-CA" sz="2400" b="0" i="1" smtClean="0">
                            <a:latin typeface="Cambria Math" panose="02040503050406030204" pitchFamily="18" charset="0"/>
                          </a:rPr>
                        </m:ctrlPr>
                      </m:sSubPr>
                      <m:e>
                        <m:r>
                          <a:rPr lang="en-CA" sz="2400" b="0" i="1" smtClean="0">
                            <a:latin typeface="Cambria Math" panose="02040503050406030204" pitchFamily="18" charset="0"/>
                          </a:rPr>
                          <m:t>𝛽</m:t>
                        </m:r>
                      </m:e>
                      <m:sub>
                        <m:r>
                          <a:rPr lang="en-CA" sz="2400" b="0" i="1" smtClean="0">
                            <a:latin typeface="Cambria Math" panose="02040503050406030204" pitchFamily="18" charset="0"/>
                          </a:rPr>
                          <m:t>𝑥</m:t>
                        </m:r>
                        <m:r>
                          <a:rPr lang="en-CA" sz="2400" b="0" i="1" smtClean="0">
                            <a:latin typeface="Cambria Math" panose="02040503050406030204" pitchFamily="18" charset="0"/>
                          </a:rPr>
                          <m:t>, </m:t>
                        </m:r>
                        <m:r>
                          <a:rPr lang="en-CA" sz="2400" b="0" i="1" smtClean="0">
                            <a:latin typeface="Cambria Math" panose="02040503050406030204" pitchFamily="18" charset="0"/>
                          </a:rPr>
                          <m:t>𝑙𝑜𝑔𝑖𝑡</m:t>
                        </m:r>
                      </m:sub>
                    </m:sSub>
                    <m:r>
                      <a:rPr lang="en-CA" sz="2400" b="0" i="1" smtClean="0">
                        <a:latin typeface="Cambria Math" panose="02040503050406030204" pitchFamily="18" charset="0"/>
                      </a:rPr>
                      <m:t>,</m:t>
                    </m:r>
                  </m:oMath>
                </a14:m>
                <a:r>
                  <a:rPr lang="en-CA" sz="2400" dirty="0"/>
                  <a:t> you actually estimate </a:t>
                </a:r>
                <a14:m>
                  <m:oMath xmlns:m="http://schemas.openxmlformats.org/officeDocument/2006/math">
                    <m:r>
                      <a:rPr lang="en-CA" sz="2400" b="0" i="1" smtClean="0">
                        <a:latin typeface="Cambria Math" panose="02040503050406030204" pitchFamily="18" charset="0"/>
                      </a:rPr>
                      <m:t>𝛽</m:t>
                    </m:r>
                    <m:r>
                      <a:rPr lang="en-CA" sz="2400" b="0" i="1" smtClean="0">
                        <a:latin typeface="Cambria Math" panose="02040503050406030204" pitchFamily="18" charset="0"/>
                      </a:rPr>
                      <m:t>/</m:t>
                    </m:r>
                    <m:r>
                      <a:rPr lang="en-CA" sz="2400" b="0" i="1" smtClean="0">
                        <a:latin typeface="Cambria Math" panose="02040503050406030204" pitchFamily="18" charset="0"/>
                      </a:rPr>
                      <m:t>𝜎</m:t>
                    </m:r>
                  </m:oMath>
                </a14:m>
                <a:r>
                  <a:rPr lang="en-CA" sz="2400" dirty="0"/>
                  <a:t>, which depends on the full set of covariates, regardless of correlations! </a:t>
                </a:r>
              </a:p>
              <a:p>
                <a:pPr lvl="1"/>
                <a:r>
                  <a:rPr lang="en-CA" sz="2400" dirty="0"/>
                  <a:t>Different models, data, papers, all have different </a:t>
                </a:r>
                <a14:m>
                  <m:oMath xmlns:m="http://schemas.openxmlformats.org/officeDocument/2006/math">
                    <m:r>
                      <a:rPr lang="en-CA" sz="2400" b="0" i="1" smtClean="0">
                        <a:latin typeface="Cambria Math" panose="02040503050406030204" pitchFamily="18" charset="0"/>
                      </a:rPr>
                      <m:t>𝜎</m:t>
                    </m:r>
                  </m:oMath>
                </a14:m>
                <a:r>
                  <a:rPr lang="en-CA" sz="2400" dirty="0"/>
                  <a:t>!</a:t>
                </a:r>
              </a:p>
            </p:txBody>
          </p:sp>
        </mc:Choice>
        <mc:Fallback xmlns="">
          <p:sp>
            <p:nvSpPr>
              <p:cNvPr id="3" name="Content Placeholder 2">
                <a:extLst>
                  <a:ext uri="{FF2B5EF4-FFF2-40B4-BE49-F238E27FC236}">
                    <a16:creationId xmlns:a16="http://schemas.microsoft.com/office/drawing/2014/main" id="{B0F296B7-4ABC-4201-0012-4DB0A77901FC}"/>
                  </a:ext>
                </a:extLst>
              </p:cNvPr>
              <p:cNvSpPr>
                <a:spLocks noGrp="1" noRot="1" noChangeAspect="1" noMove="1" noResize="1" noEditPoints="1" noAdjustHandles="1" noChangeArrowheads="1" noChangeShapeType="1" noTextEdit="1"/>
              </p:cNvSpPr>
              <p:nvPr>
                <p:ph idx="1"/>
              </p:nvPr>
            </p:nvSpPr>
            <p:spPr>
              <a:xfrm>
                <a:off x="381000" y="1295400"/>
                <a:ext cx="10573512" cy="5196840"/>
              </a:xfrm>
              <a:blipFill>
                <a:blip r:embed="rId3"/>
                <a:stretch>
                  <a:fillRect l="-461" t="-1291" r="-1038"/>
                </a:stretch>
              </a:blipFill>
            </p:spPr>
            <p:txBody>
              <a:bodyPr/>
              <a:lstStyle/>
              <a:p>
                <a:r>
                  <a:rPr lang="en-CA">
                    <a:noFill/>
                  </a:rPr>
                  <a:t> </a:t>
                </a:r>
              </a:p>
            </p:txBody>
          </p:sp>
        </mc:Fallback>
      </mc:AlternateContent>
      <p:pic>
        <p:nvPicPr>
          <p:cNvPr id="4" name="Picture 2" descr="RStudio - RStudio">
            <a:extLst>
              <a:ext uri="{FF2B5EF4-FFF2-40B4-BE49-F238E27FC236}">
                <a16:creationId xmlns:a16="http://schemas.microsoft.com/office/drawing/2014/main" id="{F40E3EB5-A918-2D0B-51D2-C02486263D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7629"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76498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How to interpret logit/probit results? </a:t>
            </a:r>
            <a:r>
              <a:rPr lang="en-US" sz="3600" b="1" dirty="0">
                <a:latin typeface="Times New Roman" panose="02020603050405020304" pitchFamily="18" charset="0"/>
                <a:cs typeface="Times New Roman" panose="02020603050405020304" pitchFamily="18" charset="0"/>
              </a:rPr>
              <a:t>Marginal effects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We typically want to make a statement like “If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increases by 1, then the probability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increases by…” (partial derivative)</a:t>
                </a:r>
              </a:p>
              <a:p>
                <a:pPr lvl="1"/>
                <a:r>
                  <a:rPr lang="en-US" sz="2400" dirty="0">
                    <a:cs typeface="Times New Roman" panose="02020603050405020304" pitchFamily="18" charset="0"/>
                  </a:rPr>
                  <a:t>This is no longer possible with logit/</a:t>
                </a:r>
                <a:r>
                  <a:rPr lang="en-US" sz="2400" dirty="0" err="1">
                    <a:cs typeface="Times New Roman" panose="02020603050405020304" pitchFamily="18" charset="0"/>
                  </a:rPr>
                  <a:t>probit</a:t>
                </a:r>
                <a:r>
                  <a:rPr lang="en-US" sz="2400" dirty="0">
                    <a:cs typeface="Times New Roman" panose="02020603050405020304" pitchFamily="18" charset="0"/>
                  </a:rPr>
                  <a:t> since marginal effects are now </a:t>
                </a:r>
                <a:r>
                  <a:rPr lang="en-US" sz="2400" b="1" dirty="0">
                    <a:cs typeface="Times New Roman" panose="02020603050405020304" pitchFamily="18" charset="0"/>
                  </a:rPr>
                  <a:t>value-dependent</a:t>
                </a:r>
              </a:p>
              <a:p>
                <a:pPr lvl="1"/>
                <a:r>
                  <a:rPr lang="en-US" sz="2400" dirty="0">
                    <a:cs typeface="Times New Roman" panose="02020603050405020304" pitchFamily="18" charset="0"/>
                  </a:rPr>
                  <a:t>But we can still make these statements for a certain set of X’s (or value of index)</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𝐷</m:t>
                          </m:r>
                        </m:e>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2</m:t>
                              </m:r>
                            </m:sub>
                          </m:sSub>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𝑙𝑜𝑔𝑖𝑠𝑡𝑖𝑐</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2</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2</m:t>
                          </m:r>
                        </m:sub>
                      </m:sSub>
                      <m:r>
                        <a:rPr lang="en-US" sz="2400" b="0" i="1" smtClean="0">
                          <a:latin typeface="Cambria Math" panose="02040503050406030204" pitchFamily="18" charset="0"/>
                          <a:cs typeface="Times New Roman" panose="02020603050405020304" pitchFamily="18" charset="0"/>
                        </a:rPr>
                        <m:t>)</m:t>
                      </m:r>
                    </m:oMath>
                  </m:oMathPara>
                </a14:m>
                <a:endParaRPr lang="en-US" sz="2400" dirty="0">
                  <a:cs typeface="Times New Roman" panose="02020603050405020304" pitchFamily="18" charset="0"/>
                </a:endParaRPr>
              </a:p>
              <a:p>
                <a:pPr marL="0" indent="0">
                  <a:buNone/>
                </a:pPr>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D24F87A3-BCAF-963A-30E2-888B7E759B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7629"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93852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How to interpret logit/</a:t>
            </a:r>
            <a:r>
              <a:rPr lang="en-US" sz="3600" dirty="0" err="1">
                <a:latin typeface="Times New Roman" panose="02020603050405020304" pitchFamily="18" charset="0"/>
                <a:cs typeface="Times New Roman" panose="02020603050405020304" pitchFamily="18" charset="0"/>
              </a:rPr>
              <a:t>probit</a:t>
            </a:r>
            <a:r>
              <a:rPr lang="en-US" sz="3600" dirty="0">
                <a:latin typeface="Times New Roman" panose="02020603050405020304" pitchFamily="18" charset="0"/>
                <a:cs typeface="Times New Roman" panose="02020603050405020304" pitchFamily="18" charset="0"/>
              </a:rPr>
              <a:t> results?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We typically want to make a statement like “If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increases by 1, then the probability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increases by…” (partial derivative)</a:t>
                </a:r>
              </a:p>
              <a:p>
                <a:pPr lvl="1"/>
                <a:r>
                  <a:rPr lang="en-US" sz="2400" dirty="0">
                    <a:cs typeface="Times New Roman" panose="02020603050405020304" pitchFamily="18" charset="0"/>
                  </a:rPr>
                  <a:t>This is no longer possible with logit/</a:t>
                </a:r>
                <a:r>
                  <a:rPr lang="en-US" sz="2400" dirty="0" err="1">
                    <a:cs typeface="Times New Roman" panose="02020603050405020304" pitchFamily="18" charset="0"/>
                  </a:rPr>
                  <a:t>probit</a:t>
                </a:r>
                <a:r>
                  <a:rPr lang="en-US" sz="2400" dirty="0">
                    <a:cs typeface="Times New Roman" panose="02020603050405020304" pitchFamily="18" charset="0"/>
                  </a:rPr>
                  <a:t> since marginal effects are now </a:t>
                </a:r>
                <a:r>
                  <a:rPr lang="en-US" sz="2400" b="1" dirty="0">
                    <a:cs typeface="Times New Roman" panose="02020603050405020304" pitchFamily="18" charset="0"/>
                  </a:rPr>
                  <a:t>value-dependent</a:t>
                </a:r>
              </a:p>
              <a:p>
                <a:pPr lvl="1"/>
                <a:r>
                  <a:rPr lang="en-US" sz="2400" dirty="0">
                    <a:cs typeface="Times New Roman" panose="02020603050405020304" pitchFamily="18" charset="0"/>
                  </a:rPr>
                  <a:t>But we can still make these statements for a certain set of X’s (or value of index)</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𝐷</m:t>
                          </m:r>
                        </m:e>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2</m:t>
                              </m:r>
                            </m:sub>
                          </m:sSub>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𝑙𝑜𝑔𝑖𝑠𝑡𝑖𝑐</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2</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2</m:t>
                          </m:r>
                        </m:sub>
                      </m:sSub>
                      <m:r>
                        <a:rPr lang="en-US" sz="2400" b="0" i="1" smtClean="0">
                          <a:latin typeface="Cambria Math" panose="02040503050406030204" pitchFamily="18" charset="0"/>
                          <a:cs typeface="Times New Roman" panose="02020603050405020304" pitchFamily="18" charset="0"/>
                        </a:rPr>
                        <m:t>)</m:t>
                      </m:r>
                    </m:oMath>
                  </m:oMathPara>
                </a14:m>
                <a:endParaRPr lang="en-US" sz="2400" dirty="0">
                  <a:cs typeface="Times New Roman" panose="02020603050405020304" pitchFamily="18" charset="0"/>
                </a:endParaRPr>
              </a:p>
              <a:p>
                <a:pPr marL="0" indent="0">
                  <a:buNone/>
                </a:pPr>
                <a14:m>
                  <m:oMath xmlns:m="http://schemas.openxmlformats.org/officeDocument/2006/math">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𝐷</m:t>
                        </m:r>
                      </m:num>
                      <m:den>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1</m:t>
                            </m:r>
                          </m:sub>
                        </m:sSub>
                      </m:den>
                    </m:f>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𝑙𝑜𝑔𝑖𝑠𝑡𝑖𝑐</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2</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2</m:t>
                            </m:r>
                          </m:sub>
                        </m:sSub>
                      </m:e>
                    </m:d>
                    <m:r>
                      <a:rPr lang="en-US" sz="2400" i="1">
                        <a:latin typeface="Cambria Math" panose="02040503050406030204" pitchFamily="18" charset="0"/>
                        <a:cs typeface="Times New Roman" panose="02020603050405020304" pitchFamily="18" charset="0"/>
                      </a:rPr>
                      <m:t>×[1−</m:t>
                    </m:r>
                    <m:r>
                      <a:rPr lang="en-US" sz="2400" i="1">
                        <a:latin typeface="Cambria Math" panose="02040503050406030204" pitchFamily="18" charset="0"/>
                        <a:cs typeface="Times New Roman" panose="02020603050405020304" pitchFamily="18" charset="0"/>
                      </a:rPr>
                      <m:t>𝑙𝑜𝑔𝑖𝑠𝑡𝑖𝑐</m:t>
                    </m:r>
                    <m:d>
                      <m:dPr>
                        <m:ctrlPr>
                          <a:rPr lang="en-US" sz="2400" i="1">
                            <a:latin typeface="Cambria Math" panose="02040503050406030204" pitchFamily="18" charset="0"/>
                            <a:cs typeface="Times New Roman" panose="02020603050405020304" pitchFamily="18" charset="0"/>
                          </a:rPr>
                        </m:ctrlPr>
                      </m:dPr>
                      <m:e>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𝛽</m:t>
                            </m:r>
                          </m:e>
                          <m:sub>
                            <m:r>
                              <a:rPr lang="en-US" sz="2400" i="1">
                                <a:latin typeface="Cambria Math" panose="02040503050406030204" pitchFamily="18" charset="0"/>
                                <a:cs typeface="Times New Roman" panose="02020603050405020304" pitchFamily="18" charset="0"/>
                              </a:rPr>
                              <m:t>0</m:t>
                            </m:r>
                          </m:sub>
                        </m:sSub>
                        <m:r>
                          <a:rPr lang="en-US" sz="2400" i="1">
                            <a:latin typeface="Cambria Math" panose="02040503050406030204" pitchFamily="18" charset="0"/>
                            <a:cs typeface="Times New Roman" panose="02020603050405020304" pitchFamily="18" charset="0"/>
                          </a:rPr>
                          <m:t>+</m:t>
                        </m:r>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𝛽</m:t>
                            </m:r>
                          </m:e>
                          <m:sub>
                            <m:r>
                              <a:rPr lang="en-US" sz="2400" i="1">
                                <a:latin typeface="Cambria Math" panose="02040503050406030204" pitchFamily="18" charset="0"/>
                                <a:cs typeface="Times New Roman" panose="02020603050405020304" pitchFamily="18" charset="0"/>
                              </a:rPr>
                              <m:t>1</m:t>
                            </m:r>
                          </m:sub>
                        </m:sSub>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𝑋</m:t>
                            </m:r>
                          </m:e>
                          <m:sub>
                            <m:r>
                              <a:rPr lang="en-US" sz="2400" i="1">
                                <a:latin typeface="Cambria Math" panose="02040503050406030204" pitchFamily="18" charset="0"/>
                                <a:cs typeface="Times New Roman" panose="02020603050405020304" pitchFamily="18" charset="0"/>
                              </a:rPr>
                              <m:t>1</m:t>
                            </m:r>
                          </m:sub>
                        </m:sSub>
                        <m:r>
                          <a:rPr lang="en-US" sz="2400" i="1">
                            <a:latin typeface="Cambria Math" panose="02040503050406030204" pitchFamily="18" charset="0"/>
                            <a:cs typeface="Times New Roman" panose="02020603050405020304" pitchFamily="18" charset="0"/>
                          </a:rPr>
                          <m:t>+</m:t>
                        </m:r>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𝛽</m:t>
                            </m:r>
                          </m:e>
                          <m:sub>
                            <m:r>
                              <a:rPr lang="en-US" sz="2400" i="1">
                                <a:latin typeface="Cambria Math" panose="02040503050406030204" pitchFamily="18" charset="0"/>
                                <a:cs typeface="Times New Roman" panose="02020603050405020304" pitchFamily="18" charset="0"/>
                              </a:rPr>
                              <m:t>2</m:t>
                            </m:r>
                          </m:sub>
                        </m:sSub>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𝑋</m:t>
                            </m:r>
                          </m:e>
                          <m:sub>
                            <m:r>
                              <a:rPr lang="en-US" sz="2400" i="1">
                                <a:latin typeface="Cambria Math" panose="02040503050406030204" pitchFamily="18" charset="0"/>
                                <a:cs typeface="Times New Roman" panose="02020603050405020304" pitchFamily="18" charset="0"/>
                              </a:rPr>
                              <m:t>2</m:t>
                            </m:r>
                          </m:sub>
                        </m:sSub>
                      </m:e>
                    </m:d>
                  </m:oMath>
                </a14:m>
                <a:r>
                  <a:rPr lang="en-US" sz="2400" dirty="0">
                    <a:cs typeface="Times New Roman" panose="02020603050405020304" pitchFamily="18" charset="0"/>
                  </a:rPr>
                  <a:t>]</a:t>
                </a:r>
              </a:p>
              <a:p>
                <a:pPr marL="0" indent="0">
                  <a:buNone/>
                </a:pPr>
                <a:endParaRPr lang="en-US" sz="2400" dirty="0">
                  <a:cs typeface="Times New Roman" panose="02020603050405020304" pitchFamily="18" charset="0"/>
                </a:endParaRPr>
              </a:p>
              <a:p>
                <a:pPr marL="0" indent="0">
                  <a:buNone/>
                </a:pPr>
                <a:r>
                  <a:rPr lang="en-US" sz="2400" b="1" dirty="0">
                    <a:solidFill>
                      <a:schemeClr val="accent2">
                        <a:lumMod val="75000"/>
                      </a:schemeClr>
                    </a:solidFill>
                    <a:cs typeface="Times New Roman" panose="02020603050405020304" pitchFamily="18" charset="0"/>
                  </a:rPr>
                  <a:t>How can we summarize this cleanly?</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916" t="-1305"/>
                </a:stretch>
              </a:blipFill>
            </p:spPr>
            <p:txBody>
              <a:bodyPr/>
              <a:lstStyle/>
              <a:p>
                <a:r>
                  <a:rPr lang="en-US">
                    <a:noFill/>
                  </a:rPr>
                  <a:t> </a:t>
                </a:r>
              </a:p>
            </p:txBody>
          </p:sp>
        </mc:Fallback>
      </mc:AlternateContent>
    </p:spTree>
    <p:extLst>
      <p:ext uri="{BB962C8B-B14F-4D97-AF65-F5344CB8AC3E}">
        <p14:creationId xmlns:p14="http://schemas.microsoft.com/office/powerpoint/2010/main" val="4259250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Marginal Effects: 4 Options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pPr marL="457200" indent="-457200">
                  <a:buFont typeface="+mj-lt"/>
                  <a:buAutoNum type="arabicPeriod"/>
                </a:pPr>
                <a:r>
                  <a:rPr lang="en-US" sz="2400" b="1" dirty="0">
                    <a:solidFill>
                      <a:schemeClr val="accent2">
                        <a:lumMod val="75000"/>
                      </a:schemeClr>
                    </a:solidFill>
                    <a:cs typeface="Times New Roman" panose="02020603050405020304" pitchFamily="18" charset="0"/>
                  </a:rPr>
                  <a:t>Present the whole distribution!</a:t>
                </a:r>
              </a:p>
              <a:p>
                <a:pPr lvl="1"/>
                <a:r>
                  <a:rPr lang="en-US" sz="2400" dirty="0">
                    <a:cs typeface="Times New Roman" panose="02020603050405020304" pitchFamily="18" charset="0"/>
                  </a:rPr>
                  <a:t>Calculate each observation's marginal effect based on its index</a:t>
                </a:r>
              </a:p>
              <a:p>
                <a:pPr marL="457200" indent="-457200">
                  <a:buFont typeface="+mj-lt"/>
                  <a:buAutoNum type="arabicPeriod"/>
                </a:pPr>
                <a:r>
                  <a:rPr lang="en-US" sz="2400" b="1" dirty="0">
                    <a:solidFill>
                      <a:schemeClr val="accent2">
                        <a:lumMod val="75000"/>
                      </a:schemeClr>
                    </a:solidFill>
                    <a:cs typeface="Times New Roman" panose="02020603050405020304" pitchFamily="18" charset="0"/>
                  </a:rPr>
                  <a:t>The Marginal Effect of a Representative (MER): </a:t>
                </a:r>
              </a:p>
              <a:p>
                <a:pPr lvl="1"/>
                <a:r>
                  <a:rPr lang="en-US" sz="2400" dirty="0">
                    <a:cs typeface="Times New Roman" panose="02020603050405020304" pitchFamily="18" charset="0"/>
                  </a:rPr>
                  <a:t>Pick a set of RHS variables you're interested in for some reason</a:t>
                </a:r>
              </a:p>
              <a:p>
                <a:pPr lvl="1"/>
                <a:r>
                  <a:rPr lang="en-US" sz="2400" dirty="0">
                    <a:cs typeface="Times New Roman" panose="02020603050405020304" pitchFamily="18" charset="0"/>
                  </a:rPr>
                  <a:t>Calculate the marginal effect for them</a:t>
                </a:r>
              </a:p>
              <a:p>
                <a:pPr marL="457200" indent="-457200">
                  <a:buFont typeface="+mj-lt"/>
                  <a:buAutoNum type="arabicPeriod"/>
                </a:pPr>
                <a:r>
                  <a:rPr lang="en-US" sz="2400" b="1" dirty="0">
                    <a:solidFill>
                      <a:schemeClr val="accent2">
                        <a:lumMod val="75000"/>
                      </a:schemeClr>
                    </a:solidFill>
                    <a:cs typeface="Times New Roman" panose="02020603050405020304" pitchFamily="18" charset="0"/>
                  </a:rPr>
                  <a:t>The Average Marginal Effect (AME) </a:t>
                </a:r>
              </a:p>
              <a:p>
                <a:pPr lvl="1"/>
                <a:r>
                  <a:rPr lang="en-US" sz="2400" dirty="0">
                    <a:cs typeface="Times New Roman" panose="02020603050405020304" pitchFamily="18" charset="0"/>
                  </a:rPr>
                  <a:t>Calculate each individual observation's marginal effect, then average them</a:t>
                </a:r>
              </a:p>
              <a:p>
                <a:pPr lvl="1"/>
                <a:r>
                  <a:rPr lang="en-US" sz="2400" dirty="0">
                    <a:cs typeface="Times New Roman" panose="02020603050405020304" pitchFamily="18" charset="0"/>
                  </a:rPr>
                  <a:t>Average percentage </a:t>
                </a:r>
                <a:r>
                  <a:rPr lang="en-US" sz="2400" i="1" dirty="0">
                    <a:cs typeface="Times New Roman" panose="02020603050405020304" pitchFamily="18" charset="0"/>
                  </a:rPr>
                  <a:t>point</a:t>
                </a:r>
                <a:r>
                  <a:rPr lang="en-US" sz="2400" dirty="0">
                    <a:cs typeface="Times New Roman" panose="02020603050405020304" pitchFamily="18" charset="0"/>
                  </a:rPr>
                  <a:t> difference in outcome probabilities given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endParaRPr lang="en-US" sz="2400" dirty="0">
                  <a:cs typeface="Times New Roman" panose="02020603050405020304" pitchFamily="18" charset="0"/>
                </a:endParaRPr>
              </a:p>
              <a:p>
                <a:pPr marL="457200" indent="-457200">
                  <a:buFont typeface="+mj-lt"/>
                  <a:buAutoNum type="arabicPeriod"/>
                </a:pPr>
                <a:r>
                  <a:rPr lang="en-US" sz="2400" b="1" dirty="0">
                    <a:solidFill>
                      <a:schemeClr val="accent2">
                        <a:lumMod val="75000"/>
                      </a:schemeClr>
                    </a:solidFill>
                    <a:cs typeface="Times New Roman" panose="02020603050405020304" pitchFamily="18" charset="0"/>
                  </a:rPr>
                  <a:t>The Marginal Effect at the Mean (MEM)</a:t>
                </a:r>
              </a:p>
              <a:p>
                <a:pPr lvl="1"/>
                <a:r>
                  <a:rPr lang="en-US" sz="2400" dirty="0">
                    <a:cs typeface="Times New Roman" panose="02020603050405020304" pitchFamily="18" charset="0"/>
                  </a:rPr>
                  <a:t>Calculate the average of each RHS variable</a:t>
                </a:r>
              </a:p>
              <a:p>
                <a:pPr lvl="1"/>
                <a:r>
                  <a:rPr lang="en-US" sz="2400" dirty="0">
                    <a:cs typeface="Times New Roman" panose="02020603050405020304" pitchFamily="18" charset="0"/>
                  </a:rPr>
                  <a:t>Get the marginal effect for a hypothetical observation at that index</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88" t="-1305"/>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D24F87A3-BCAF-963A-30E2-888B7E759B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29800" y="5334000"/>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14318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69162-0B8C-104E-0FA9-15F4CBA166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DC0611-69BE-597D-CE3E-99862FD2411F}"/>
              </a:ext>
            </a:extLst>
          </p:cNvPr>
          <p:cNvSpPr>
            <a:spLocks noGrp="1"/>
          </p:cNvSpPr>
          <p:nvPr>
            <p:ph type="ctrTitle"/>
          </p:nvPr>
        </p:nvSpPr>
        <p:spPr>
          <a:xfrm>
            <a:off x="1261872" y="758952"/>
            <a:ext cx="10549128" cy="4041648"/>
          </a:xfrm>
        </p:spPr>
        <p:txBody>
          <a:bodyPr/>
          <a:lstStyle/>
          <a:p>
            <a:r>
              <a:rPr lang="en-US" dirty="0"/>
              <a:t>Some Logit/Probit Warnings</a:t>
            </a:r>
          </a:p>
        </p:txBody>
      </p:sp>
      <p:sp>
        <p:nvSpPr>
          <p:cNvPr id="3" name="Subtitle 2">
            <a:extLst>
              <a:ext uri="{FF2B5EF4-FFF2-40B4-BE49-F238E27FC236}">
                <a16:creationId xmlns:a16="http://schemas.microsoft.com/office/drawing/2014/main" id="{E52AD138-D35F-FF87-9D90-A28E5E785D3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806581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Complications in GLM: Hypothesis Testing</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If you want to test </a:t>
                </a:r>
                <a:r>
                  <a:rPr lang="en-US" sz="2400" b="1" dirty="0">
                    <a:cs typeface="Times New Roman" panose="02020603050405020304" pitchFamily="18" charset="0"/>
                  </a:rPr>
                  <a:t>multiple hypotheses </a:t>
                </a:r>
                <a:r>
                  <a:rPr lang="en-US" sz="2400" dirty="0">
                    <a:cs typeface="Times New Roman" panose="02020603050405020304" pitchFamily="18" charset="0"/>
                  </a:rPr>
                  <a:t>in GLM, can’t use the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𝐹</m:t>
                    </m:r>
                  </m:oMath>
                </a14:m>
                <a:r>
                  <a:rPr lang="en-US" sz="2400" dirty="0">
                    <a:cs typeface="Times New Roman" panose="02020603050405020304" pitchFamily="18" charset="0"/>
                  </a:rPr>
                  <a:t> test</a:t>
                </a:r>
              </a:p>
              <a:p>
                <a:r>
                  <a:rPr lang="en-US" sz="2400" dirty="0">
                    <a:cs typeface="Times New Roman" panose="02020603050405020304" pitchFamily="18" charset="0"/>
                  </a:rPr>
                  <a:t>Instead, need to use the </a:t>
                </a:r>
                <a:r>
                  <a:rPr lang="en-US" sz="2400" b="1" dirty="0">
                    <a:cs typeface="Times New Roman" panose="02020603050405020304" pitchFamily="18" charset="0"/>
                  </a:rPr>
                  <a:t>Wald test </a:t>
                </a:r>
                <a:r>
                  <a:rPr lang="en-US" sz="2400" dirty="0">
                    <a:cs typeface="Times New Roman" panose="02020603050405020304" pitchFamily="18" charset="0"/>
                  </a:rPr>
                  <a:t>or fit </a:t>
                </a:r>
                <a:r>
                  <a:rPr lang="en-US" sz="2400" b="1" dirty="0">
                    <a:cs typeface="Times New Roman" panose="02020603050405020304" pitchFamily="18" charset="0"/>
                  </a:rPr>
                  <a:t>nested models </a:t>
                </a:r>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CA">
                    <a:noFill/>
                  </a:rPr>
                  <a:t> </a:t>
                </a:r>
              </a:p>
            </p:txBody>
          </p:sp>
        </mc:Fallback>
      </mc:AlternateContent>
      <p:pic>
        <p:nvPicPr>
          <p:cNvPr id="4" name="Picture 2" descr="RStudio - RStudio">
            <a:extLst>
              <a:ext uri="{FF2B5EF4-FFF2-40B4-BE49-F238E27FC236}">
                <a16:creationId xmlns:a16="http://schemas.microsoft.com/office/drawing/2014/main" id="{75779AFD-88E8-23E3-40E6-87896577D5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1200" y="5181600"/>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49805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4D8499A-7333-1C61-69EE-5F6BF9D3C630}"/>
              </a:ext>
            </a:extLst>
          </p:cNvPr>
          <p:cNvPicPr>
            <a:picLocks noChangeAspect="1"/>
          </p:cNvPicPr>
          <p:nvPr/>
        </p:nvPicPr>
        <p:blipFill>
          <a:blip r:embed="rId3"/>
          <a:stretch>
            <a:fillRect/>
          </a:stretch>
        </p:blipFill>
        <p:spPr>
          <a:xfrm>
            <a:off x="2362201" y="2347521"/>
            <a:ext cx="7293528" cy="4496011"/>
          </a:xfrm>
          <a:prstGeom prst="rect">
            <a:avLst/>
          </a:prstGeom>
        </p:spPr>
      </p:pic>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Complications in GLM: Interactions</a:t>
            </a:r>
            <a:endParaRPr lang="en-US" sz="3600" dirty="0">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183B0572-A1C2-858D-5D3D-0E2354442FE9}"/>
              </a:ext>
            </a:extLst>
          </p:cNvPr>
          <p:cNvSpPr>
            <a:spLocks noGrp="1" noChangeArrowheads="1"/>
          </p:cNvSpPr>
          <p:nvPr>
            <p:ph idx="1"/>
          </p:nvPr>
        </p:nvSpPr>
        <p:spPr bwMode="auto">
          <a:xfrm>
            <a:off x="-1611485" y="1020892"/>
            <a:ext cx="13270085" cy="1938992"/>
          </a:xfrm>
          <a:prstGeom prst="rect">
            <a:avLst/>
          </a:prstGeom>
          <a:noFill/>
          <a:ln>
            <a:noFill/>
          </a:ln>
          <a:effectLst/>
        </p:spPr>
        <p:txBody>
          <a:bodyPr vert="horz" wrap="square" lIns="91440" tIns="45720" rIns="91440" bIns="45720" numCol="1" anchor="ctr" anchorCtr="0" compatLnSpc="1">
            <a:prstTxWarp prst="textNoShape">
              <a:avLst/>
            </a:prstTxWarp>
            <a:spAutoFit/>
          </a:bodyPr>
          <a:lstStyle/>
          <a:p>
            <a:pPr marL="2660020" lvl="8" indent="-342900" eaLnBrk="0" fontAlgn="base" hangingPunct="0">
              <a:lnSpc>
                <a:spcPct val="100000"/>
              </a:lnSpc>
              <a:spcBef>
                <a:spcPct val="0"/>
              </a:spcBef>
              <a:spcAft>
                <a:spcPct val="0"/>
              </a:spcAft>
              <a:buClrTx/>
            </a:pPr>
            <a:r>
              <a:rPr kumimoji="0" lang="en-US" altLang="en-US" sz="2400" b="0" i="0" u="none" strike="noStrike" cap="none" normalizeH="0" baseline="0" dirty="0">
                <a:ln>
                  <a:noFill/>
                </a:ln>
                <a:solidFill>
                  <a:srgbClr val="000000"/>
                </a:solidFill>
                <a:effectLst/>
                <a:cs typeface="Times New Roman" panose="02020603050405020304" pitchFamily="18" charset="0"/>
              </a:rPr>
              <a:t>Interaction terms in </a:t>
            </a:r>
            <a:r>
              <a:rPr kumimoji="0" lang="en-US" altLang="en-US" sz="2400" b="0" i="0" u="none" strike="noStrike" cap="none" normalizeH="0" baseline="0" dirty="0" err="1">
                <a:ln>
                  <a:noFill/>
                </a:ln>
                <a:solidFill>
                  <a:srgbClr val="000000"/>
                </a:solidFill>
                <a:effectLst/>
                <a:cs typeface="Times New Roman" panose="02020603050405020304" pitchFamily="18" charset="0"/>
              </a:rPr>
              <a:t>probit</a:t>
            </a:r>
            <a:r>
              <a:rPr kumimoji="0" lang="en-US" altLang="en-US" sz="2400" b="0" i="0" u="none" strike="noStrike" cap="none" normalizeH="0" baseline="0" dirty="0">
                <a:ln>
                  <a:noFill/>
                </a:ln>
                <a:solidFill>
                  <a:srgbClr val="000000"/>
                </a:solidFill>
                <a:effectLst/>
                <a:cs typeface="Times New Roman" panose="02020603050405020304" pitchFamily="18" charset="0"/>
              </a:rPr>
              <a:t> and logit models are very tricky to interpret</a:t>
            </a:r>
          </a:p>
          <a:p>
            <a:pPr marL="2660020" lvl="8" indent="-342900" eaLnBrk="0" fontAlgn="base" hangingPunct="0">
              <a:lnSpc>
                <a:spcPct val="100000"/>
              </a:lnSpc>
              <a:spcBef>
                <a:spcPct val="0"/>
              </a:spcBef>
              <a:spcAft>
                <a:spcPct val="0"/>
              </a:spcAft>
              <a:buClrTx/>
            </a:pPr>
            <a:r>
              <a:rPr lang="en-US" altLang="en-US" sz="2400" dirty="0">
                <a:solidFill>
                  <a:srgbClr val="000000"/>
                </a:solidFill>
                <a:cs typeface="Times New Roman" panose="02020603050405020304" pitchFamily="18" charset="0"/>
              </a:rPr>
              <a:t>M</a:t>
            </a:r>
            <a:r>
              <a:rPr kumimoji="0" lang="en-US" altLang="en-US" sz="2400" b="0" i="0" u="none" strike="noStrike" cap="none" normalizeH="0" baseline="0" dirty="0">
                <a:ln>
                  <a:noFill/>
                </a:ln>
                <a:solidFill>
                  <a:srgbClr val="000000"/>
                </a:solidFill>
                <a:effectLst/>
                <a:cs typeface="Times New Roman" panose="02020603050405020304" pitchFamily="18" charset="0"/>
              </a:rPr>
              <a:t>arginal effects for them should be looked at with suspicion</a:t>
            </a:r>
          </a:p>
          <a:p>
            <a:pPr marL="2660020" lvl="8" indent="-342900" eaLnBrk="0" fontAlgn="base" hangingPunct="0">
              <a:lnSpc>
                <a:spcPct val="100000"/>
              </a:lnSpc>
              <a:spcBef>
                <a:spcPct val="0"/>
              </a:spcBef>
              <a:spcAft>
                <a:spcPct val="0"/>
              </a:spcAft>
              <a:buClrTx/>
            </a:pPr>
            <a:r>
              <a:rPr lang="en-US" altLang="en-US" sz="2400" dirty="0">
                <a:solidFill>
                  <a:srgbClr val="000000"/>
                </a:solidFill>
                <a:cs typeface="Times New Roman" panose="02020603050405020304" pitchFamily="18" charset="0"/>
              </a:rPr>
              <a:t>Look at predict()ed values instead</a:t>
            </a:r>
          </a:p>
          <a:p>
            <a:pPr marL="2660020" lvl="8" indent="-342900" eaLnBrk="0" fontAlgn="base" hangingPunct="0">
              <a:lnSpc>
                <a:spcPct val="100000"/>
              </a:lnSpc>
              <a:spcBef>
                <a:spcPct val="0"/>
              </a:spcBef>
              <a:spcAft>
                <a:spcPct val="0"/>
              </a:spcAft>
              <a:buClrTx/>
            </a:pPr>
            <a:r>
              <a:rPr kumimoji="0" lang="en-US" altLang="en-US" sz="2400" b="0" i="0" u="none" strike="noStrike" cap="none" normalizeH="0" baseline="0" dirty="0">
                <a:ln>
                  <a:noFill/>
                </a:ln>
                <a:solidFill>
                  <a:srgbClr val="000000"/>
                </a:solidFill>
                <a:effectLst/>
                <a:cs typeface="Times New Roman" panose="02020603050405020304" pitchFamily="18" charset="0"/>
              </a:rPr>
              <a:t>See </a:t>
            </a:r>
            <a:r>
              <a:rPr kumimoji="0" lang="en-US" altLang="en-US" sz="2400" b="0" i="0" u="none" strike="noStrike" cap="none" normalizeH="0" baseline="0" dirty="0">
                <a:ln>
                  <a:noFill/>
                </a:ln>
                <a:solidFill>
                  <a:srgbClr val="F92672"/>
                </a:solidFill>
                <a:effectLst/>
                <a:cs typeface="Times New Roman" panose="02020603050405020304" pitchFamily="18" charset="0"/>
                <a:hlinkClick r:id="rId4"/>
              </a:rPr>
              <a:t>Ai and Norton (2003)</a:t>
            </a:r>
            <a:endParaRPr kumimoji="0" lang="en-US" altLang="en-US" sz="2400" b="0" i="0" u="none" strike="noStrike" cap="none" normalizeH="0" baseline="0" dirty="0">
              <a:ln>
                <a:noFill/>
              </a:ln>
              <a:solidFill>
                <a:srgbClr val="000000"/>
              </a:solidFill>
              <a:effectLst/>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655875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Complications in GLM: Nonlinear models and IV</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What if we want to do IV for a binary outcome or endogenous variable? </a:t>
            </a:r>
          </a:p>
          <a:p>
            <a:r>
              <a:rPr lang="en-US" sz="2400" dirty="0">
                <a:cs typeface="Times New Roman" panose="02020603050405020304" pitchFamily="18" charset="0"/>
              </a:rPr>
              <a:t>Can we just run a logit/</a:t>
            </a:r>
            <a:r>
              <a:rPr lang="en-US" sz="2400" dirty="0" err="1">
                <a:cs typeface="Times New Roman" panose="02020603050405020304" pitchFamily="18" charset="0"/>
              </a:rPr>
              <a:t>probit</a:t>
            </a:r>
            <a:r>
              <a:rPr lang="en-US" sz="2400" dirty="0">
                <a:cs typeface="Times New Roman" panose="02020603050405020304" pitchFamily="18" charset="0"/>
              </a:rPr>
              <a:t> first-stage? Can we use a </a:t>
            </a:r>
            <a:r>
              <a:rPr lang="en-US" sz="2400" dirty="0" err="1">
                <a:cs typeface="Times New Roman" panose="02020603050405020304" pitchFamily="18" charset="0"/>
              </a:rPr>
              <a:t>probit</a:t>
            </a:r>
            <a:r>
              <a:rPr lang="en-US" sz="2400" dirty="0">
                <a:cs typeface="Times New Roman" panose="02020603050405020304" pitchFamily="18" charset="0"/>
              </a:rPr>
              <a:t>/logit in the second stage if the outcome is binary? </a:t>
            </a:r>
          </a:p>
          <a:p>
            <a:pPr lvl="1"/>
            <a:endParaRPr lang="en-US" sz="2400" dirty="0">
              <a:cs typeface="Times New Roman" panose="02020603050405020304" pitchFamily="18" charset="0"/>
            </a:endParaRPr>
          </a:p>
        </p:txBody>
      </p:sp>
    </p:spTree>
    <p:extLst>
      <p:ext uri="{BB962C8B-B14F-4D97-AF65-F5344CB8AC3E}">
        <p14:creationId xmlns:p14="http://schemas.microsoft.com/office/powerpoint/2010/main" val="5087934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Complications in GLM: Nonlinear models and IV</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What if we want to do IV for a binary outcome or endogenous variable? </a:t>
                </a:r>
              </a:p>
              <a:p>
                <a:r>
                  <a:rPr lang="en-US" sz="2400" dirty="0">
                    <a:cs typeface="Times New Roman" panose="02020603050405020304" pitchFamily="18" charset="0"/>
                  </a:rPr>
                  <a:t>Can we just run a logit/</a:t>
                </a:r>
                <a:r>
                  <a:rPr lang="en-US" sz="2400" dirty="0" err="1">
                    <a:cs typeface="Times New Roman" panose="02020603050405020304" pitchFamily="18" charset="0"/>
                  </a:rPr>
                  <a:t>probit</a:t>
                </a:r>
                <a:r>
                  <a:rPr lang="en-US" sz="2400" dirty="0">
                    <a:cs typeface="Times New Roman" panose="02020603050405020304" pitchFamily="18" charset="0"/>
                  </a:rPr>
                  <a:t> first-stage? Can we use a </a:t>
                </a:r>
                <a:r>
                  <a:rPr lang="en-US" sz="2400" dirty="0" err="1">
                    <a:cs typeface="Times New Roman" panose="02020603050405020304" pitchFamily="18" charset="0"/>
                  </a:rPr>
                  <a:t>probit</a:t>
                </a:r>
                <a:r>
                  <a:rPr lang="en-US" sz="2400" dirty="0">
                    <a:cs typeface="Times New Roman" panose="02020603050405020304" pitchFamily="18" charset="0"/>
                  </a:rPr>
                  <a:t>/logit in the second stage if the outcome is binary? </a:t>
                </a:r>
              </a:p>
              <a:p>
                <a:r>
                  <a:rPr lang="en-US" sz="2400" dirty="0">
                    <a:cs typeface="Times New Roman" panose="02020603050405020304" pitchFamily="18" charset="0"/>
                  </a:rPr>
                  <a:t>No! And not just because Jerry Hausman calls this the </a:t>
                </a:r>
                <a:r>
                  <a:rPr lang="en-US" sz="2400" b="1" dirty="0">
                    <a:solidFill>
                      <a:schemeClr val="accent2">
                        <a:lumMod val="75000"/>
                      </a:schemeClr>
                    </a:solidFill>
                    <a:cs typeface="Times New Roman" panose="02020603050405020304" pitchFamily="18" charset="0"/>
                  </a:rPr>
                  <a:t>forbidden regression</a:t>
                </a:r>
                <a:endParaRPr lang="en-US" sz="2400" dirty="0">
                  <a:solidFill>
                    <a:schemeClr val="accent2">
                      <a:lumMod val="75000"/>
                    </a:schemeClr>
                  </a:solidFill>
                  <a:cs typeface="Times New Roman" panose="02020603050405020304" pitchFamily="18" charset="0"/>
                </a:endParaRPr>
              </a:p>
              <a:p>
                <a:r>
                  <a:rPr lang="en-US" sz="2400" dirty="0">
                    <a:cs typeface="Times New Roman" panose="02020603050405020304" pitchFamily="18" charset="0"/>
                  </a:rPr>
                  <a:t>Even if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𝐶𝑜𝑣</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𝑍</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e>
                    </m:d>
                    <m:r>
                      <a:rPr lang="en-US" sz="2400" b="0" i="1" smtClean="0">
                        <a:latin typeface="Cambria Math" panose="02040503050406030204" pitchFamily="18" charset="0"/>
                        <a:cs typeface="Times New Roman" panose="02020603050405020304" pitchFamily="18" charset="0"/>
                      </a:rPr>
                      <m:t>=0</m:t>
                    </m:r>
                  </m:oMath>
                </a14:m>
                <a:r>
                  <a:rPr lang="en-US" sz="2400" dirty="0">
                    <a:cs typeface="Times New Roman" panose="02020603050405020304" pitchFamily="18" charset="0"/>
                  </a:rPr>
                  <a:t>, fitted values </a:t>
                </a:r>
                <a14:m>
                  <m:oMath xmlns:m="http://schemas.openxmlformats.org/officeDocument/2006/math">
                    <m:acc>
                      <m:accPr>
                        <m:chr m:val="̂"/>
                        <m:ctrlPr>
                          <a:rPr lang="en-US" sz="2400" b="0" i="1" smtClean="0">
                            <a:latin typeface="Cambria Math" panose="02040503050406030204" pitchFamily="18" charset="0"/>
                            <a:cs typeface="Times New Roman" panose="02020603050405020304" pitchFamily="18" charset="0"/>
                          </a:rPr>
                        </m:ctrlPr>
                      </m:accPr>
                      <m:e>
                        <m:r>
                          <a:rPr lang="en-US" sz="2400" b="0" i="1" smtClean="0">
                            <a:latin typeface="Cambria Math" panose="02040503050406030204" pitchFamily="18" charset="0"/>
                            <a:cs typeface="Times New Roman" panose="02020603050405020304" pitchFamily="18" charset="0"/>
                          </a:rPr>
                          <m:t>𝑋</m:t>
                        </m:r>
                      </m:e>
                    </m:acc>
                  </m:oMath>
                </a14:m>
                <a:r>
                  <a:rPr lang="en-US" sz="2400" dirty="0">
                    <a:cs typeface="Times New Roman" panose="02020603050405020304" pitchFamily="18" charset="0"/>
                  </a:rPr>
                  <a:t> will all depend on values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𝑍</m:t>
                    </m:r>
                  </m:oMath>
                </a14:m>
                <a:r>
                  <a:rPr lang="en-US" sz="2400" dirty="0">
                    <a:cs typeface="Times New Roman" panose="02020603050405020304" pitchFamily="18" charset="0"/>
                  </a:rPr>
                  <a:t> </a:t>
                </a:r>
                <a:r>
                  <a:rPr lang="en-US" sz="2400" i="1" dirty="0">
                    <a:cs typeface="Times New Roman" panose="02020603050405020304" pitchFamily="18" charset="0"/>
                  </a:rPr>
                  <a:t>and all other regressors</a:t>
                </a:r>
                <a:r>
                  <a:rPr lang="en-US" sz="2400" dirty="0">
                    <a:cs typeface="Times New Roman" panose="02020603050405020304" pitchFamily="18" charset="0"/>
                  </a:rPr>
                  <a:t>, given the link function</a:t>
                </a:r>
              </a:p>
              <a:p>
                <a:pPr lvl="1"/>
                <a:r>
                  <a:rPr lang="en-US" sz="2400" dirty="0">
                    <a:cs typeface="Times New Roman" panose="02020603050405020304" pitchFamily="18" charset="0"/>
                  </a:rPr>
                  <a:t>This leaves original back door (between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and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𝜀</m:t>
                    </m:r>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open!</a:t>
                </a:r>
              </a:p>
              <a:p>
                <a:pPr lvl="1"/>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US">
                    <a:noFill/>
                  </a:rPr>
                  <a:t> </a:t>
                </a:r>
              </a:p>
            </p:txBody>
          </p:sp>
        </mc:Fallback>
      </mc:AlternateContent>
    </p:spTree>
    <p:extLst>
      <p:ext uri="{BB962C8B-B14F-4D97-AF65-F5344CB8AC3E}">
        <p14:creationId xmlns:p14="http://schemas.microsoft.com/office/powerpoint/2010/main" val="31012894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What can you do instead?</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pPr marL="731520" lvl="1" indent="-457200">
                  <a:buFont typeface="+mj-lt"/>
                  <a:buAutoNum type="arabicPeriod"/>
                </a:pPr>
                <a:r>
                  <a:rPr lang="en-US" sz="2400" b="1" dirty="0">
                    <a:solidFill>
                      <a:schemeClr val="accent2">
                        <a:lumMod val="75000"/>
                      </a:schemeClr>
                    </a:solidFill>
                    <a:cs typeface="Times New Roman" panose="02020603050405020304" pitchFamily="18" charset="0"/>
                  </a:rPr>
                  <a:t>Can use an LPM </a:t>
                </a:r>
              </a:p>
              <a:p>
                <a:pPr lvl="2"/>
                <a:r>
                  <a:rPr lang="en-US" sz="2400" dirty="0">
                    <a:cs typeface="Times New Roman" panose="02020603050405020304" pitchFamily="18" charset="0"/>
                  </a:rPr>
                  <a:t>2SLS works this way</a:t>
                </a:r>
              </a:p>
              <a:p>
                <a:pPr lvl="2"/>
                <a:r>
                  <a:rPr lang="en-US" sz="2400" dirty="0">
                    <a:cs typeface="Times New Roman" panose="02020603050405020304" pitchFamily="18" charset="0"/>
                  </a:rPr>
                  <a:t>But you have to deal with downsides of LPM</a:t>
                </a:r>
              </a:p>
              <a:p>
                <a:pPr lvl="2"/>
                <a:r>
                  <a:rPr lang="en-US" sz="2400" dirty="0">
                    <a:cs typeface="Times New Roman" panose="02020603050405020304" pitchFamily="18" charset="0"/>
                  </a:rPr>
                  <a:t>Also, recall that </a:t>
                </a:r>
                <a14:m>
                  <m:oMath xmlns:m="http://schemas.openxmlformats.org/officeDocument/2006/math">
                    <m:acc>
                      <m:accPr>
                        <m:chr m:val="̅"/>
                        <m:ctrlPr>
                          <a:rPr lang="en-US" sz="2400" b="0" i="1" smtClean="0">
                            <a:latin typeface="Cambria Math" panose="02040503050406030204" pitchFamily="18" charset="0"/>
                            <a:cs typeface="Times New Roman" panose="02020603050405020304" pitchFamily="18" charset="0"/>
                          </a:rPr>
                        </m:ctrlPr>
                      </m:accPr>
                      <m:e>
                        <m:r>
                          <a:rPr lang="en-US" sz="2400" b="0" i="1" smtClean="0">
                            <a:latin typeface="Cambria Math" panose="02040503050406030204" pitchFamily="18" charset="0"/>
                            <a:cs typeface="Times New Roman" panose="02020603050405020304" pitchFamily="18" charset="0"/>
                          </a:rPr>
                          <m:t>𝑦</m:t>
                        </m:r>
                      </m:e>
                    </m:acc>
                  </m:oMath>
                </a14:m>
                <a:r>
                  <a:rPr lang="en-US" sz="2400" dirty="0">
                    <a:cs typeface="Times New Roman" panose="02020603050405020304" pitchFamily="18" charset="0"/>
                  </a:rPr>
                  <a:t> needs to be far from 0 or 1</a:t>
                </a:r>
              </a:p>
              <a:p>
                <a:pPr lvl="2"/>
                <a:r>
                  <a:rPr lang="en-US" sz="2400" dirty="0">
                    <a:cs typeface="Times New Roman" panose="02020603050405020304" pitchFamily="18" charset="0"/>
                  </a:rPr>
                  <a:t>Your standard errors will be less precise this way</a:t>
                </a:r>
              </a:p>
              <a:p>
                <a:pPr lvl="1"/>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t="-1661"/>
                </a:stretch>
              </a:blipFill>
            </p:spPr>
            <p:txBody>
              <a:bodyPr/>
              <a:lstStyle/>
              <a:p>
                <a:r>
                  <a:rPr lang="en-US">
                    <a:noFill/>
                  </a:rPr>
                  <a:t> </a:t>
                </a:r>
              </a:p>
            </p:txBody>
          </p:sp>
        </mc:Fallback>
      </mc:AlternateContent>
    </p:spTree>
    <p:extLst>
      <p:ext uri="{BB962C8B-B14F-4D97-AF65-F5344CB8AC3E}">
        <p14:creationId xmlns:p14="http://schemas.microsoft.com/office/powerpoint/2010/main" val="9501297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What can you do instead?</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pPr marL="731520" lvl="1" indent="-457200">
                  <a:buFont typeface="+mj-lt"/>
                  <a:buAutoNum type="arabicPeriod"/>
                </a:pPr>
                <a:r>
                  <a:rPr lang="en-US" sz="2400" dirty="0">
                    <a:cs typeface="Times New Roman" panose="02020603050405020304" pitchFamily="18" charset="0"/>
                  </a:rPr>
                  <a:t>Can use an LPM </a:t>
                </a:r>
              </a:p>
              <a:p>
                <a:pPr lvl="2"/>
                <a:r>
                  <a:rPr lang="en-US" sz="2400" dirty="0">
                    <a:cs typeface="Times New Roman" panose="02020603050405020304" pitchFamily="18" charset="0"/>
                  </a:rPr>
                  <a:t>2SLS works this way</a:t>
                </a:r>
              </a:p>
              <a:p>
                <a:pPr lvl="2"/>
                <a:r>
                  <a:rPr lang="en-US" sz="2400" dirty="0">
                    <a:cs typeface="Times New Roman" panose="02020603050405020304" pitchFamily="18" charset="0"/>
                  </a:rPr>
                  <a:t>But you have to deal with downsides of LPM</a:t>
                </a:r>
              </a:p>
              <a:p>
                <a:pPr lvl="2"/>
                <a:r>
                  <a:rPr lang="en-US" sz="2400" dirty="0">
                    <a:cs typeface="Times New Roman" panose="02020603050405020304" pitchFamily="18" charset="0"/>
                  </a:rPr>
                  <a:t>Also, recall that </a:t>
                </a:r>
                <a14:m>
                  <m:oMath xmlns:m="http://schemas.openxmlformats.org/officeDocument/2006/math">
                    <m:acc>
                      <m:accPr>
                        <m:chr m:val="̅"/>
                        <m:ctrlPr>
                          <a:rPr lang="en-US" sz="2400" b="0" i="1" smtClean="0">
                            <a:latin typeface="Cambria Math" panose="02040503050406030204" pitchFamily="18" charset="0"/>
                            <a:cs typeface="Times New Roman" panose="02020603050405020304" pitchFamily="18" charset="0"/>
                          </a:rPr>
                        </m:ctrlPr>
                      </m:accPr>
                      <m:e>
                        <m:r>
                          <a:rPr lang="en-US" sz="2400" b="0" i="1" smtClean="0">
                            <a:latin typeface="Cambria Math" panose="02040503050406030204" pitchFamily="18" charset="0"/>
                            <a:cs typeface="Times New Roman" panose="02020603050405020304" pitchFamily="18" charset="0"/>
                          </a:rPr>
                          <m:t>𝑦</m:t>
                        </m:r>
                      </m:e>
                    </m:acc>
                  </m:oMath>
                </a14:m>
                <a:r>
                  <a:rPr lang="en-US" sz="2400" dirty="0">
                    <a:cs typeface="Times New Roman" panose="02020603050405020304" pitchFamily="18" charset="0"/>
                  </a:rPr>
                  <a:t> needs to be far from 0 or 1</a:t>
                </a:r>
              </a:p>
              <a:p>
                <a:pPr lvl="2"/>
                <a:r>
                  <a:rPr lang="en-US" sz="2400" dirty="0">
                    <a:cs typeface="Times New Roman" panose="02020603050405020304" pitchFamily="18" charset="0"/>
                  </a:rPr>
                  <a:t>Your standard errors will be less precise this way</a:t>
                </a:r>
              </a:p>
              <a:p>
                <a:pPr marL="731520" lvl="1" indent="-457200">
                  <a:buFont typeface="+mj-lt"/>
                  <a:buAutoNum type="arabicPeriod"/>
                </a:pPr>
                <a:r>
                  <a:rPr lang="en-US" sz="2400" b="1" dirty="0">
                    <a:solidFill>
                      <a:schemeClr val="accent2">
                        <a:lumMod val="75000"/>
                      </a:schemeClr>
                    </a:solidFill>
                    <a:cs typeface="Times New Roman" panose="02020603050405020304" pitchFamily="18" charset="0"/>
                  </a:rPr>
                  <a:t>If endogenous </a:t>
                </a:r>
                <a:r>
                  <a:rPr lang="en-US" sz="2400" b="1" i="1" dirty="0">
                    <a:solidFill>
                      <a:schemeClr val="accent2">
                        <a:lumMod val="75000"/>
                      </a:schemeClr>
                    </a:solidFill>
                    <a:cs typeface="Times New Roman" panose="02020603050405020304" pitchFamily="18" charset="0"/>
                  </a:rPr>
                  <a:t>regressor </a:t>
                </a:r>
                <a14:m>
                  <m:oMath xmlns:m="http://schemas.openxmlformats.org/officeDocument/2006/math">
                    <m:r>
                      <a:rPr lang="en-US" sz="2400" b="1" i="1" smtClean="0">
                        <a:solidFill>
                          <a:schemeClr val="accent2">
                            <a:lumMod val="75000"/>
                          </a:schemeClr>
                        </a:solidFill>
                        <a:latin typeface="Cambria Math" panose="02040503050406030204" pitchFamily="18" charset="0"/>
                        <a:cs typeface="Times New Roman" panose="02020603050405020304" pitchFamily="18" charset="0"/>
                      </a:rPr>
                      <m:t>𝑿</m:t>
                    </m:r>
                  </m:oMath>
                </a14:m>
                <a:r>
                  <a:rPr lang="en-US" sz="2400" b="1" dirty="0">
                    <a:solidFill>
                      <a:schemeClr val="accent2">
                        <a:lumMod val="75000"/>
                      </a:schemeClr>
                    </a:solidFill>
                    <a:cs typeface="Times New Roman" panose="02020603050405020304" pitchFamily="18" charset="0"/>
                  </a:rPr>
                  <a:t> is binary</a:t>
                </a:r>
              </a:p>
              <a:p>
                <a:pPr lvl="2"/>
                <a:r>
                  <a:rPr lang="en-US" sz="2400" dirty="0">
                    <a:cs typeface="Times New Roman" panose="02020603050405020304" pitchFamily="18" charset="0"/>
                  </a:rPr>
                  <a:t>Run a </a:t>
                </a:r>
                <a:r>
                  <a:rPr lang="en-US" sz="2400" dirty="0" err="1">
                    <a:cs typeface="Times New Roman" panose="02020603050405020304" pitchFamily="18" charset="0"/>
                  </a:rPr>
                  <a:t>probit</a:t>
                </a:r>
                <a:r>
                  <a:rPr lang="en-US" sz="2400" dirty="0">
                    <a:cs typeface="Times New Roman" panose="02020603050405020304" pitchFamily="18" charset="0"/>
                  </a:rPr>
                  <a:t> in first stage</a:t>
                </a:r>
              </a:p>
              <a:p>
                <a:pPr lvl="2"/>
                <a:r>
                  <a:rPr lang="en-US" sz="2400" dirty="0">
                    <a:cs typeface="Times New Roman" panose="02020603050405020304" pitchFamily="18" charset="0"/>
                  </a:rPr>
                  <a:t>Use predicted values </a:t>
                </a:r>
                <a:r>
                  <a:rPr lang="en-US" sz="2400" i="1" dirty="0">
                    <a:cs typeface="Times New Roman" panose="02020603050405020304" pitchFamily="18" charset="0"/>
                  </a:rPr>
                  <a:t>as the instrument </a:t>
                </a:r>
                <a:r>
                  <a:rPr lang="en-US" sz="2400" dirty="0">
                    <a:cs typeface="Times New Roman" panose="02020603050405020304" pitchFamily="18" charset="0"/>
                  </a:rPr>
                  <a:t>in the second stage</a:t>
                </a:r>
              </a:p>
              <a:p>
                <a:pPr lvl="2"/>
                <a:endParaRPr lang="en-US" sz="22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t="-1661"/>
                </a:stretch>
              </a:blipFill>
            </p:spPr>
            <p:txBody>
              <a:bodyPr/>
              <a:lstStyle/>
              <a:p>
                <a:r>
                  <a:rPr lang="en-US">
                    <a:noFill/>
                  </a:rPr>
                  <a:t> </a:t>
                </a:r>
              </a:p>
            </p:txBody>
          </p:sp>
        </mc:Fallback>
      </mc:AlternateContent>
    </p:spTree>
    <p:extLst>
      <p:ext uri="{BB962C8B-B14F-4D97-AF65-F5344CB8AC3E}">
        <p14:creationId xmlns:p14="http://schemas.microsoft.com/office/powerpoint/2010/main" val="19744227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What can you do instead?</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pPr marL="731520" lvl="1" indent="-457200">
                  <a:buFont typeface="+mj-lt"/>
                  <a:buAutoNum type="arabicPeriod"/>
                </a:pPr>
                <a:r>
                  <a:rPr lang="en-US" sz="2400" dirty="0">
                    <a:cs typeface="Times New Roman" panose="02020603050405020304" pitchFamily="18" charset="0"/>
                  </a:rPr>
                  <a:t>Can use an LPM </a:t>
                </a:r>
              </a:p>
              <a:p>
                <a:pPr lvl="2"/>
                <a:r>
                  <a:rPr lang="en-US" sz="2400" dirty="0">
                    <a:cs typeface="Times New Roman" panose="02020603050405020304" pitchFamily="18" charset="0"/>
                  </a:rPr>
                  <a:t>2SLS works this way</a:t>
                </a:r>
              </a:p>
              <a:p>
                <a:pPr lvl="2"/>
                <a:r>
                  <a:rPr lang="en-US" sz="2400" dirty="0">
                    <a:cs typeface="Times New Roman" panose="02020603050405020304" pitchFamily="18" charset="0"/>
                  </a:rPr>
                  <a:t>But you have to deal with downsides of LPM</a:t>
                </a:r>
              </a:p>
              <a:p>
                <a:pPr lvl="2"/>
                <a:r>
                  <a:rPr lang="en-US" sz="2400" dirty="0">
                    <a:cs typeface="Times New Roman" panose="02020603050405020304" pitchFamily="18" charset="0"/>
                  </a:rPr>
                  <a:t>Also, recall that </a:t>
                </a:r>
                <a14:m>
                  <m:oMath xmlns:m="http://schemas.openxmlformats.org/officeDocument/2006/math">
                    <m:acc>
                      <m:accPr>
                        <m:chr m:val="̅"/>
                        <m:ctrlPr>
                          <a:rPr lang="en-US" sz="2400" b="0" i="1" smtClean="0">
                            <a:latin typeface="Cambria Math" panose="02040503050406030204" pitchFamily="18" charset="0"/>
                            <a:cs typeface="Times New Roman" panose="02020603050405020304" pitchFamily="18" charset="0"/>
                          </a:rPr>
                        </m:ctrlPr>
                      </m:accPr>
                      <m:e>
                        <m:r>
                          <a:rPr lang="en-US" sz="2400" b="0" i="1" smtClean="0">
                            <a:latin typeface="Cambria Math" panose="02040503050406030204" pitchFamily="18" charset="0"/>
                            <a:cs typeface="Times New Roman" panose="02020603050405020304" pitchFamily="18" charset="0"/>
                          </a:rPr>
                          <m:t>𝑦</m:t>
                        </m:r>
                      </m:e>
                    </m:acc>
                  </m:oMath>
                </a14:m>
                <a:r>
                  <a:rPr lang="en-US" sz="2400" dirty="0">
                    <a:cs typeface="Times New Roman" panose="02020603050405020304" pitchFamily="18" charset="0"/>
                  </a:rPr>
                  <a:t> needs to be far from 0 or 1</a:t>
                </a:r>
              </a:p>
              <a:p>
                <a:pPr lvl="2"/>
                <a:r>
                  <a:rPr lang="en-US" sz="2400" dirty="0">
                    <a:cs typeface="Times New Roman" panose="02020603050405020304" pitchFamily="18" charset="0"/>
                  </a:rPr>
                  <a:t>Your standard errors will be less precise this way</a:t>
                </a:r>
              </a:p>
              <a:p>
                <a:pPr marL="731520" lvl="1" indent="-457200">
                  <a:buFont typeface="+mj-lt"/>
                  <a:buAutoNum type="arabicPeriod"/>
                </a:pPr>
                <a:r>
                  <a:rPr lang="en-US" sz="2400" dirty="0">
                    <a:solidFill>
                      <a:schemeClr val="tx1"/>
                    </a:solidFill>
                    <a:cs typeface="Times New Roman" panose="02020603050405020304" pitchFamily="18" charset="0"/>
                  </a:rPr>
                  <a:t>If endogenous </a:t>
                </a:r>
                <a:r>
                  <a:rPr lang="en-US" sz="2400" i="1" dirty="0">
                    <a:solidFill>
                      <a:schemeClr val="tx1"/>
                    </a:solidFill>
                    <a:cs typeface="Times New Roman" panose="02020603050405020304" pitchFamily="18" charset="0"/>
                  </a:rPr>
                  <a:t>regressor </a:t>
                </a:r>
                <a14:m>
                  <m:oMath xmlns:m="http://schemas.openxmlformats.org/officeDocument/2006/math">
                    <m:r>
                      <a:rPr lang="en-US" sz="2400" b="0" i="1" smtClean="0">
                        <a:solidFill>
                          <a:schemeClr val="tx1"/>
                        </a:solidFill>
                        <a:latin typeface="Cambria Math" panose="02040503050406030204" pitchFamily="18" charset="0"/>
                        <a:cs typeface="Times New Roman" panose="02020603050405020304" pitchFamily="18" charset="0"/>
                      </a:rPr>
                      <m:t>𝑋</m:t>
                    </m:r>
                  </m:oMath>
                </a14:m>
                <a:r>
                  <a:rPr lang="en-US" sz="2400" dirty="0">
                    <a:solidFill>
                      <a:schemeClr val="tx1"/>
                    </a:solidFill>
                    <a:cs typeface="Times New Roman" panose="02020603050405020304" pitchFamily="18" charset="0"/>
                  </a:rPr>
                  <a:t> is binary</a:t>
                </a:r>
              </a:p>
              <a:p>
                <a:pPr lvl="2"/>
                <a:r>
                  <a:rPr lang="en-US" sz="2400" dirty="0">
                    <a:cs typeface="Times New Roman" panose="02020603050405020304" pitchFamily="18" charset="0"/>
                  </a:rPr>
                  <a:t>Run a </a:t>
                </a:r>
                <a:r>
                  <a:rPr lang="en-US" sz="2400" dirty="0" err="1">
                    <a:cs typeface="Times New Roman" panose="02020603050405020304" pitchFamily="18" charset="0"/>
                  </a:rPr>
                  <a:t>probit</a:t>
                </a:r>
                <a:r>
                  <a:rPr lang="en-US" sz="2400" dirty="0">
                    <a:cs typeface="Times New Roman" panose="02020603050405020304" pitchFamily="18" charset="0"/>
                  </a:rPr>
                  <a:t> in first stage</a:t>
                </a:r>
              </a:p>
              <a:p>
                <a:pPr lvl="2"/>
                <a:r>
                  <a:rPr lang="en-US" sz="2400" dirty="0">
                    <a:cs typeface="Times New Roman" panose="02020603050405020304" pitchFamily="18" charset="0"/>
                  </a:rPr>
                  <a:t>Use predicted values </a:t>
                </a:r>
                <a:r>
                  <a:rPr lang="en-US" sz="2400" i="1" dirty="0">
                    <a:cs typeface="Times New Roman" panose="02020603050405020304" pitchFamily="18" charset="0"/>
                  </a:rPr>
                  <a:t>as the instrument </a:t>
                </a:r>
                <a:r>
                  <a:rPr lang="en-US" sz="2400" dirty="0">
                    <a:cs typeface="Times New Roman" panose="02020603050405020304" pitchFamily="18" charset="0"/>
                  </a:rPr>
                  <a:t>in the second stage</a:t>
                </a:r>
              </a:p>
              <a:p>
                <a:pPr marL="788670" lvl="1" indent="-514350">
                  <a:buFont typeface="+mj-lt"/>
                  <a:buAutoNum type="arabicPeriod"/>
                </a:pPr>
                <a:r>
                  <a:rPr lang="en-US" sz="2400" b="1" dirty="0">
                    <a:solidFill>
                      <a:schemeClr val="accent2">
                        <a:lumMod val="75000"/>
                      </a:schemeClr>
                    </a:solidFill>
                    <a:cs typeface="Times New Roman" panose="02020603050405020304" pitchFamily="18" charset="0"/>
                  </a:rPr>
                  <a:t>If outcome </a:t>
                </a:r>
                <a14:m>
                  <m:oMath xmlns:m="http://schemas.openxmlformats.org/officeDocument/2006/math">
                    <m:r>
                      <a:rPr lang="en-US" sz="2400" b="1" i="1" smtClean="0">
                        <a:solidFill>
                          <a:schemeClr val="accent2">
                            <a:lumMod val="75000"/>
                          </a:schemeClr>
                        </a:solidFill>
                        <a:latin typeface="Cambria Math" panose="02040503050406030204" pitchFamily="18" charset="0"/>
                        <a:cs typeface="Times New Roman" panose="02020603050405020304" pitchFamily="18" charset="0"/>
                      </a:rPr>
                      <m:t>𝒀</m:t>
                    </m:r>
                  </m:oMath>
                </a14:m>
                <a:r>
                  <a:rPr lang="en-US" sz="2400" b="1" dirty="0">
                    <a:solidFill>
                      <a:schemeClr val="accent2">
                        <a:lumMod val="75000"/>
                      </a:schemeClr>
                    </a:solidFill>
                    <a:cs typeface="Times New Roman" panose="02020603050405020304" pitchFamily="18" charset="0"/>
                  </a:rPr>
                  <a:t> is binary</a:t>
                </a:r>
              </a:p>
              <a:p>
                <a:pPr lvl="2"/>
                <a:r>
                  <a:rPr lang="en-US" sz="2400" dirty="0">
                    <a:solidFill>
                      <a:schemeClr val="tx1"/>
                    </a:solidFill>
                    <a:cs typeface="Times New Roman" panose="02020603050405020304" pitchFamily="18" charset="0"/>
                  </a:rPr>
                  <a:t>Control function approach</a:t>
                </a:r>
              </a:p>
              <a:p>
                <a:pPr lvl="2"/>
                <a:r>
                  <a:rPr lang="en-US" sz="2400" dirty="0">
                    <a:solidFill>
                      <a:schemeClr val="tx1"/>
                    </a:solidFill>
                    <a:cs typeface="Times New Roman" panose="02020603050405020304" pitchFamily="18" charset="0"/>
                  </a:rPr>
                  <a:t>Idea: use endogenous </a:t>
                </a:r>
                <a14:m>
                  <m:oMath xmlns:m="http://schemas.openxmlformats.org/officeDocument/2006/math">
                    <m:r>
                      <a:rPr lang="en-US" sz="2400" b="0" i="1" smtClean="0">
                        <a:solidFill>
                          <a:schemeClr val="tx1"/>
                        </a:solidFill>
                        <a:latin typeface="Cambria Math" panose="02040503050406030204" pitchFamily="18" charset="0"/>
                        <a:cs typeface="Times New Roman" panose="02020603050405020304" pitchFamily="18" charset="0"/>
                      </a:rPr>
                      <m:t>𝑋</m:t>
                    </m:r>
                  </m:oMath>
                </a14:m>
                <a:r>
                  <a:rPr lang="en-US" sz="2400" dirty="0">
                    <a:solidFill>
                      <a:schemeClr val="tx1"/>
                    </a:solidFill>
                    <a:cs typeface="Times New Roman" panose="02020603050405020304" pitchFamily="18" charset="0"/>
                  </a:rPr>
                  <a:t> and “control” for unexplained part</a:t>
                </a:r>
              </a:p>
              <a:p>
                <a:pPr lvl="2"/>
                <a:r>
                  <a:rPr lang="en-US" sz="2400" dirty="0">
                    <a:solidFill>
                      <a:schemeClr val="tx1"/>
                    </a:solidFill>
                    <a:cs typeface="Times New Roman" panose="02020603050405020304" pitchFamily="18" charset="0"/>
                  </a:rPr>
                  <a:t>Done in R with “</a:t>
                </a:r>
                <a:r>
                  <a:rPr lang="en-US" sz="2400" dirty="0" err="1">
                    <a:solidFill>
                      <a:schemeClr val="tx1"/>
                    </a:solidFill>
                    <a:cs typeface="Times New Roman" panose="02020603050405020304" pitchFamily="18" charset="0"/>
                  </a:rPr>
                  <a:t>ivprobit</a:t>
                </a:r>
                <a:r>
                  <a:rPr lang="en-US" sz="2400" dirty="0">
                    <a:solidFill>
                      <a:schemeClr val="tx1"/>
                    </a:solidFill>
                    <a:cs typeface="Times New Roman" panose="02020603050405020304" pitchFamily="18" charset="0"/>
                  </a:rPr>
                  <a:t>” </a:t>
                </a:r>
                <a:endParaRPr lang="en-US" sz="2400" dirty="0">
                  <a:cs typeface="Times New Roman" panose="02020603050405020304" pitchFamily="18" charset="0"/>
                </a:endParaRPr>
              </a:p>
              <a:p>
                <a:pPr lvl="1"/>
                <a:endParaRPr lang="en-US" sz="2600" dirty="0">
                  <a:cs typeface="Times New Roman" panose="02020603050405020304" pitchFamily="18" charset="0"/>
                </a:endParaRPr>
              </a:p>
              <a:p>
                <a:pPr lvl="2"/>
                <a:endParaRPr lang="en-US" sz="22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t="-1661"/>
                </a:stretch>
              </a:blipFill>
            </p:spPr>
            <p:txBody>
              <a:bodyPr/>
              <a:lstStyle/>
              <a:p>
                <a:r>
                  <a:rPr lang="en-US">
                    <a:noFill/>
                  </a:rPr>
                  <a:t> </a:t>
                </a:r>
              </a:p>
            </p:txBody>
          </p:sp>
        </mc:Fallback>
      </mc:AlternateContent>
    </p:spTree>
    <p:extLst>
      <p:ext uri="{BB962C8B-B14F-4D97-AF65-F5344CB8AC3E}">
        <p14:creationId xmlns:p14="http://schemas.microsoft.com/office/powerpoint/2010/main" val="37815638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261872" y="758952"/>
            <a:ext cx="10549128" cy="4041648"/>
          </a:xfrm>
        </p:spPr>
        <p:txBody>
          <a:bodyPr/>
          <a:lstStyle/>
          <a:p>
            <a:r>
              <a:rPr lang="en-US" dirty="0"/>
              <a:t>Example Paper: </a:t>
            </a:r>
            <a:br>
              <a:rPr lang="en-US" dirty="0"/>
            </a:br>
            <a:r>
              <a:rPr lang="en-US" dirty="0" err="1"/>
              <a:t>Bruhin</a:t>
            </a:r>
            <a:r>
              <a:rPr lang="en-US" dirty="0"/>
              <a:t> et al., (2019)</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r>
              <a:rPr lang="en-US" dirty="0"/>
              <a:t>“Spillovers of prosocial motivation: Evidence from an intervention study on blood donors”</a:t>
            </a:r>
          </a:p>
          <a:p>
            <a:r>
              <a:rPr lang="en-US" i="1" dirty="0"/>
              <a:t>Journal of Health Economics</a:t>
            </a:r>
          </a:p>
        </p:txBody>
      </p:sp>
    </p:spTree>
    <p:extLst>
      <p:ext uri="{BB962C8B-B14F-4D97-AF65-F5344CB8AC3E}">
        <p14:creationId xmlns:p14="http://schemas.microsoft.com/office/powerpoint/2010/main" val="30076896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Research methods: bivariate </a:t>
            </a:r>
            <a:r>
              <a:rPr lang="en-US" sz="3600" dirty="0" err="1">
                <a:cs typeface="Times New Roman" panose="02020603050405020304" pitchFamily="18" charset="0"/>
              </a:rPr>
              <a:t>probit</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200" dirty="0">
                    <a:cs typeface="Times New Roman" panose="02020603050405020304" pitchFamily="18" charset="0"/>
                  </a:rPr>
                  <a:t>The propensity to donate is: </a:t>
                </a:r>
              </a:p>
              <a:p>
                <a:pPr marL="0" indent="0">
                  <a:buNone/>
                </a:pPr>
                <a14:m>
                  <m:oMathPara xmlns:m="http://schemas.openxmlformats.org/officeDocument/2006/math">
                    <m:oMathParaPr>
                      <m:jc m:val="centerGroup"/>
                    </m:oMathParaPr>
                    <m:oMath xmlns:m="http://schemas.openxmlformats.org/officeDocument/2006/math">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𝑦</m:t>
                          </m:r>
                        </m:e>
                        <m:sub>
                          <m:r>
                            <a:rPr lang="en-US" sz="2200" b="0" i="1" smtClean="0">
                              <a:latin typeface="Cambria Math" panose="02040503050406030204" pitchFamily="18" charset="0"/>
                              <a:cs typeface="Times New Roman" panose="02020603050405020304" pitchFamily="18" charset="0"/>
                            </a:rPr>
                            <m:t>𝑖𝑝</m:t>
                          </m:r>
                        </m:sub>
                      </m:sSub>
                      <m:r>
                        <a:rPr lang="en-US" sz="2200" b="0" i="1" smtClean="0">
                          <a:latin typeface="Cambria Math" panose="02040503050406030204" pitchFamily="18" charset="0"/>
                          <a:cs typeface="Times New Roman" panose="02020603050405020304" pitchFamily="18" charset="0"/>
                        </a:rPr>
                        <m:t>=</m:t>
                      </m:r>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0</m:t>
                          </m:r>
                        </m:sub>
                      </m:sSub>
                      <m:r>
                        <a:rPr lang="en-US" sz="2200" b="0" i="1" smtClean="0">
                          <a:latin typeface="Cambria Math" panose="02040503050406030204" pitchFamily="18" charset="0"/>
                          <a:cs typeface="Times New Roman" panose="02020603050405020304" pitchFamily="18" charset="0"/>
                        </a:rPr>
                        <m:t>+</m:t>
                      </m:r>
                      <m:r>
                        <a:rPr lang="en-US" sz="2200" b="0" i="1" smtClean="0">
                          <a:latin typeface="Cambria Math" panose="02040503050406030204" pitchFamily="18" charset="0"/>
                          <a:cs typeface="Times New Roman" panose="02020603050405020304" pitchFamily="18" charset="0"/>
                        </a:rPr>
                        <m:t>𝛿</m:t>
                      </m:r>
                      <m:sSubSup>
                        <m:sSubSupPr>
                          <m:ctrlPr>
                            <a:rPr lang="en-US" sz="2200" b="0" i="1" smtClean="0">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𝑌</m:t>
                          </m:r>
                        </m:e>
                        <m:sub>
                          <m:r>
                            <a:rPr lang="en-US" sz="2200" b="0" i="1" smtClean="0">
                              <a:latin typeface="Cambria Math" panose="02040503050406030204" pitchFamily="18" charset="0"/>
                              <a:cs typeface="Times New Roman" panose="02020603050405020304" pitchFamily="18" charset="0"/>
                            </a:rPr>
                            <m:t>𝑖</m:t>
                          </m:r>
                          <m:r>
                            <a:rPr lang="en-US" sz="2200" b="0" i="1" smtClean="0">
                              <a:latin typeface="Cambria Math" panose="02040503050406030204" pitchFamily="18" charset="0"/>
                              <a:cs typeface="Times New Roman" panose="02020603050405020304" pitchFamily="18" charset="0"/>
                            </a:rPr>
                            <m:t>,−</m:t>
                          </m:r>
                          <m:r>
                            <a:rPr lang="en-US" sz="2200" b="0" i="1" smtClean="0">
                              <a:latin typeface="Cambria Math" panose="02040503050406030204" pitchFamily="18" charset="0"/>
                              <a:cs typeface="Times New Roman" panose="02020603050405020304" pitchFamily="18" charset="0"/>
                            </a:rPr>
                            <m:t>𝑝</m:t>
                          </m:r>
                        </m:sub>
                        <m:sup>
                          <m:r>
                            <a:rPr lang="en-US" sz="2200" b="0" i="1" smtClean="0">
                              <a:latin typeface="Cambria Math" panose="02040503050406030204" pitchFamily="18" charset="0"/>
                              <a:cs typeface="Times New Roman" panose="02020603050405020304" pitchFamily="18" charset="0"/>
                            </a:rPr>
                            <m:t>∗</m:t>
                          </m:r>
                        </m:sup>
                      </m:sSubSup>
                      <m:r>
                        <a:rPr lang="en-US" sz="2200" b="0" i="1" smtClean="0">
                          <a:latin typeface="Cambria Math" panose="02040503050406030204" pitchFamily="18" charset="0"/>
                          <a:cs typeface="Times New Roman" panose="02020603050405020304" pitchFamily="18" charset="0"/>
                        </a:rPr>
                        <m:t>+</m:t>
                      </m:r>
                      <m:sSubSup>
                        <m:sSubSupPr>
                          <m:ctrlPr>
                            <a:rPr lang="en-US" sz="2200" b="0" i="1" smtClean="0">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1</m:t>
                          </m:r>
                        </m:sub>
                        <m:sup>
                          <m:r>
                            <a:rPr lang="en-US" sz="2200" b="0" i="1" smtClean="0">
                              <a:latin typeface="Cambria Math" panose="02040503050406030204" pitchFamily="18" charset="0"/>
                              <a:cs typeface="Times New Roman" panose="02020603050405020304" pitchFamily="18" charset="0"/>
                            </a:rPr>
                            <m:t>′</m:t>
                          </m:r>
                        </m:sup>
                      </m:sSubSup>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𝑋</m:t>
                          </m:r>
                        </m:e>
                        <m:sub>
                          <m:r>
                            <a:rPr lang="en-US" sz="2200" b="0" i="1" smtClean="0">
                              <a:latin typeface="Cambria Math" panose="02040503050406030204" pitchFamily="18" charset="0"/>
                              <a:cs typeface="Times New Roman" panose="02020603050405020304" pitchFamily="18" charset="0"/>
                            </a:rPr>
                            <m:t>𝑖𝑝</m:t>
                          </m:r>
                        </m:sub>
                      </m:sSub>
                      <m:r>
                        <a:rPr lang="en-US" sz="2200" b="0" i="1" smtClean="0">
                          <a:latin typeface="Cambria Math" panose="02040503050406030204" pitchFamily="18" charset="0"/>
                          <a:cs typeface="Times New Roman" panose="02020603050405020304" pitchFamily="18" charset="0"/>
                        </a:rPr>
                        <m:t>+</m:t>
                      </m:r>
                      <m:sSubSup>
                        <m:sSubSupPr>
                          <m:ctrlPr>
                            <a:rPr lang="en-US" sz="2200" b="0" i="1" smtClean="0">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2</m:t>
                          </m:r>
                        </m:sub>
                        <m:sup>
                          <m:r>
                            <a:rPr lang="en-US" sz="2200" b="0" i="1" smtClean="0">
                              <a:latin typeface="Cambria Math" panose="02040503050406030204" pitchFamily="18" charset="0"/>
                              <a:cs typeface="Times New Roman" panose="02020603050405020304" pitchFamily="18" charset="0"/>
                            </a:rPr>
                            <m:t>′</m:t>
                          </m:r>
                        </m:sup>
                      </m:sSubSup>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𝑋</m:t>
                          </m:r>
                        </m:e>
                        <m:sub>
                          <m:r>
                            <a:rPr lang="en-US" sz="2200" b="0" i="1" smtClean="0">
                              <a:latin typeface="Cambria Math" panose="02040503050406030204" pitchFamily="18" charset="0"/>
                              <a:cs typeface="Times New Roman" panose="02020603050405020304" pitchFamily="18" charset="0"/>
                            </a:rPr>
                            <m:t>𝑖</m:t>
                          </m:r>
                          <m:r>
                            <a:rPr lang="en-US" sz="2200" b="0" i="1" smtClean="0">
                              <a:latin typeface="Cambria Math" panose="02040503050406030204" pitchFamily="18" charset="0"/>
                              <a:cs typeface="Times New Roman" panose="02020603050405020304" pitchFamily="18" charset="0"/>
                            </a:rPr>
                            <m:t>,−</m:t>
                          </m:r>
                          <m:r>
                            <a:rPr lang="en-US" sz="2200" b="0" i="1" smtClean="0">
                              <a:latin typeface="Cambria Math" panose="02040503050406030204" pitchFamily="18" charset="0"/>
                              <a:cs typeface="Times New Roman" panose="02020603050405020304" pitchFamily="18" charset="0"/>
                            </a:rPr>
                            <m:t>𝑝</m:t>
                          </m:r>
                        </m:sub>
                      </m:sSub>
                      <m:r>
                        <a:rPr lang="en-US" sz="2200" b="0" i="1" smtClean="0">
                          <a:latin typeface="Cambria Math" panose="02040503050406030204" pitchFamily="18" charset="0"/>
                          <a:cs typeface="Times New Roman" panose="02020603050405020304" pitchFamily="18" charset="0"/>
                        </a:rPr>
                        <m:t>+</m:t>
                      </m:r>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𝜀</m:t>
                          </m:r>
                        </m:e>
                        <m:sub>
                          <m:r>
                            <a:rPr lang="en-US" sz="2200" b="0" i="1" smtClean="0">
                              <a:latin typeface="Cambria Math" panose="02040503050406030204" pitchFamily="18" charset="0"/>
                              <a:cs typeface="Times New Roman" panose="02020603050405020304" pitchFamily="18" charset="0"/>
                            </a:rPr>
                            <m:t>𝑖𝑝</m:t>
                          </m:r>
                        </m:sub>
                      </m:sSub>
                    </m:oMath>
                  </m:oMathPara>
                </a14:m>
                <a:endParaRPr lang="en-US" sz="2200" b="0" dirty="0">
                  <a:cs typeface="Times New Roman" panose="02020603050405020304" pitchFamily="18" charset="0"/>
                </a:endParaRPr>
              </a:p>
              <a:p>
                <a:r>
                  <a:rPr lang="en-US" sz="2200" dirty="0">
                    <a:cs typeface="Times New Roman" panose="02020603050405020304" pitchFamily="18" charset="0"/>
                  </a:rPr>
                  <a:t>Can estimate this for two individuals </a:t>
                </a:r>
                <a14:m>
                  <m:oMath xmlns:m="http://schemas.openxmlformats.org/officeDocument/2006/math">
                    <m:r>
                      <a:rPr lang="en-US" sz="2200" b="0" i="1" smtClean="0">
                        <a:latin typeface="Cambria Math" panose="02040503050406030204" pitchFamily="18" charset="0"/>
                        <a:cs typeface="Times New Roman" panose="02020603050405020304" pitchFamily="18" charset="0"/>
                      </a:rPr>
                      <m:t>𝑖</m:t>
                    </m:r>
                    <m:r>
                      <a:rPr lang="en-US" sz="2200" b="0" i="1" smtClean="0">
                        <a:latin typeface="Cambria Math" panose="02040503050406030204" pitchFamily="18" charset="0"/>
                        <a:cs typeface="Times New Roman" panose="02020603050405020304" pitchFamily="18" charset="0"/>
                      </a:rPr>
                      <m:t>∈{1,2}</m:t>
                    </m:r>
                  </m:oMath>
                </a14:m>
                <a:endParaRPr lang="en-US" sz="2200" dirty="0">
                  <a:cs typeface="Times New Roman" panose="02020603050405020304" pitchFamily="18" charset="0"/>
                </a:endParaRPr>
              </a:p>
              <a:p>
                <a:r>
                  <a:rPr lang="en-US" sz="2200" dirty="0">
                    <a:cs typeface="Times New Roman" panose="02020603050405020304" pitchFamily="18" charset="0"/>
                  </a:rPr>
                  <a:t>What is the variable </a:t>
                </a:r>
                <a14:m>
                  <m:oMath xmlns:m="http://schemas.openxmlformats.org/officeDocument/2006/math">
                    <m:r>
                      <a:rPr lang="en-US" sz="2200" b="0" i="1" smtClean="0">
                        <a:latin typeface="Cambria Math" panose="02040503050406030204" pitchFamily="18" charset="0"/>
                        <a:cs typeface="Times New Roman" panose="02020603050405020304" pitchFamily="18" charset="0"/>
                      </a:rPr>
                      <m:t>𝑦</m:t>
                    </m:r>
                    <m:r>
                      <a:rPr lang="en-US" sz="2200" b="0" i="1" smtClean="0">
                        <a:latin typeface="Cambria Math" panose="02040503050406030204" pitchFamily="18" charset="0"/>
                        <a:cs typeface="Times New Roman" panose="02020603050405020304" pitchFamily="18" charset="0"/>
                      </a:rPr>
                      <m:t>?</m:t>
                    </m:r>
                  </m:oMath>
                </a14:m>
                <a:endParaRPr lang="en-US" sz="2200" dirty="0">
                  <a:cs typeface="Times New Roman" panose="02020603050405020304" pitchFamily="18" charset="0"/>
                </a:endParaRPr>
              </a:p>
              <a:p>
                <a:r>
                  <a:rPr lang="en-US" sz="2200" dirty="0">
                    <a:cs typeface="Times New Roman" panose="02020603050405020304" pitchFamily="18" charset="0"/>
                  </a:rPr>
                  <a:t>Here, the identification problem is easy to spot: </a:t>
                </a:r>
              </a:p>
              <a:p>
                <a:pPr lvl="1"/>
                <a:r>
                  <a:rPr lang="en-US" sz="2000" dirty="0">
                    <a:cs typeface="Times New Roman" panose="02020603050405020304" pitchFamily="18" charset="0"/>
                  </a:rPr>
                  <a:t>4 parameters of interest (same coefficients across both regressions)</a:t>
                </a:r>
              </a:p>
              <a:p>
                <a:pPr lvl="1"/>
                <a:r>
                  <a:rPr lang="en-US" sz="2000" dirty="0">
                    <a:cs typeface="Times New Roman" panose="02020603050405020304" pitchFamily="18" charset="0"/>
                  </a:rPr>
                  <a:t>3 data points (constant, </a:t>
                </a:r>
                <a14:m>
                  <m:oMath xmlns:m="http://schemas.openxmlformats.org/officeDocument/2006/math">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𝑋</m:t>
                        </m:r>
                      </m:e>
                      <m:sub>
                        <m:r>
                          <a:rPr lang="en-US" sz="2000" b="0" i="1" smtClean="0">
                            <a:latin typeface="Cambria Math" panose="02040503050406030204" pitchFamily="18" charset="0"/>
                            <a:cs typeface="Times New Roman" panose="02020603050405020304" pitchFamily="18" charset="0"/>
                          </a:rPr>
                          <m:t>1</m:t>
                        </m:r>
                        <m:r>
                          <a:rPr lang="en-US" sz="2000" b="0" i="1" smtClean="0">
                            <a:latin typeface="Cambria Math" panose="02040503050406030204" pitchFamily="18" charset="0"/>
                            <a:cs typeface="Times New Roman" panose="02020603050405020304" pitchFamily="18" charset="0"/>
                          </a:rPr>
                          <m:t>𝑝</m:t>
                        </m:r>
                      </m:sub>
                    </m:sSub>
                    <m:r>
                      <a:rPr lang="en-US" sz="2000" b="0" i="1" smtClean="0">
                        <a:latin typeface="Cambria Math" panose="02040503050406030204" pitchFamily="18" charset="0"/>
                        <a:cs typeface="Times New Roman" panose="02020603050405020304" pitchFamily="18" charset="0"/>
                      </a:rPr>
                      <m:t>,</m:t>
                    </m:r>
                    <m:sSub>
                      <m:sSubPr>
                        <m:ctrlPr>
                          <a:rPr lang="en-US" sz="2000" b="0" i="1" smtClean="0">
                            <a:latin typeface="Cambria Math" panose="02040503050406030204" pitchFamily="18" charset="0"/>
                            <a:cs typeface="Times New Roman" panose="02020603050405020304" pitchFamily="18" charset="0"/>
                          </a:rPr>
                        </m:ctrlPr>
                      </m:sSubPr>
                      <m:e>
                        <m:r>
                          <a:rPr lang="en-US" sz="2000" b="0" i="1" smtClean="0">
                            <a:latin typeface="Cambria Math" panose="02040503050406030204" pitchFamily="18" charset="0"/>
                            <a:cs typeface="Times New Roman" panose="02020603050405020304" pitchFamily="18" charset="0"/>
                          </a:rPr>
                          <m:t>𝑋</m:t>
                        </m:r>
                      </m:e>
                      <m:sub>
                        <m:r>
                          <a:rPr lang="en-US" sz="2000" b="0" i="1" smtClean="0">
                            <a:latin typeface="Cambria Math" panose="02040503050406030204" pitchFamily="18" charset="0"/>
                            <a:cs typeface="Times New Roman" panose="02020603050405020304" pitchFamily="18" charset="0"/>
                          </a:rPr>
                          <m:t>2</m:t>
                        </m:r>
                        <m:r>
                          <a:rPr lang="en-US" sz="2000" b="0" i="1" smtClean="0">
                            <a:latin typeface="Cambria Math" panose="02040503050406030204" pitchFamily="18" charset="0"/>
                            <a:cs typeface="Times New Roman" panose="02020603050405020304" pitchFamily="18" charset="0"/>
                          </a:rPr>
                          <m:t>𝑝</m:t>
                        </m:r>
                      </m:sub>
                    </m:sSub>
                    <m:r>
                      <a:rPr lang="en-US" sz="2000" b="0" i="1" smtClean="0">
                        <a:latin typeface="Cambria Math" panose="02040503050406030204" pitchFamily="18" charset="0"/>
                        <a:cs typeface="Times New Roman" panose="02020603050405020304" pitchFamily="18" charset="0"/>
                      </a:rPr>
                      <m:t>)</m:t>
                    </m:r>
                  </m:oMath>
                </a14:m>
                <a:endParaRPr lang="en-US" sz="20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366" t="-1068"/>
                </a:stretch>
              </a:blipFill>
            </p:spPr>
            <p:txBody>
              <a:bodyPr/>
              <a:lstStyle/>
              <a:p>
                <a:r>
                  <a:rPr lang="en-US">
                    <a:noFill/>
                  </a:rPr>
                  <a:t> </a:t>
                </a:r>
              </a:p>
            </p:txBody>
          </p:sp>
        </mc:Fallback>
      </mc:AlternateContent>
    </p:spTree>
    <p:extLst>
      <p:ext uri="{BB962C8B-B14F-4D97-AF65-F5344CB8AC3E}">
        <p14:creationId xmlns:p14="http://schemas.microsoft.com/office/powerpoint/2010/main" val="283088293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Research methods: bivariate </a:t>
            </a:r>
            <a:r>
              <a:rPr lang="en-US" sz="3600" dirty="0" err="1">
                <a:cs typeface="Times New Roman" panose="02020603050405020304" pitchFamily="18" charset="0"/>
              </a:rPr>
              <a:t>probit</a:t>
            </a:r>
            <a:r>
              <a:rPr lang="en-US" sz="3600" dirty="0">
                <a:cs typeface="Times New Roman" panose="02020603050405020304" pitchFamily="18" charset="0"/>
              </a:rPr>
              <a:t> + IV</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200" dirty="0">
                    <a:cs typeface="Times New Roman" panose="02020603050405020304" pitchFamily="18" charset="0"/>
                  </a:rPr>
                  <a:t>Add in the phone call: </a:t>
                </a:r>
              </a:p>
              <a:p>
                <a:pPr marL="0" indent="0">
                  <a:buNone/>
                </a:pPr>
                <a14:m>
                  <m:oMathPara xmlns:m="http://schemas.openxmlformats.org/officeDocument/2006/math">
                    <m:oMathParaPr>
                      <m:jc m:val="centerGroup"/>
                    </m:oMathParaPr>
                    <m:oMath xmlns:m="http://schemas.openxmlformats.org/officeDocument/2006/math">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𝑦</m:t>
                          </m:r>
                        </m:e>
                        <m:sub>
                          <m:r>
                            <a:rPr lang="en-US" sz="2200" b="0" i="1" smtClean="0">
                              <a:latin typeface="Cambria Math" panose="02040503050406030204" pitchFamily="18" charset="0"/>
                              <a:cs typeface="Times New Roman" panose="02020603050405020304" pitchFamily="18" charset="0"/>
                            </a:rPr>
                            <m:t>𝑖𝑝</m:t>
                          </m:r>
                        </m:sub>
                      </m:sSub>
                      <m:r>
                        <a:rPr lang="en-US" sz="2200" b="0" i="1" smtClean="0">
                          <a:latin typeface="Cambria Math" panose="02040503050406030204" pitchFamily="18" charset="0"/>
                          <a:cs typeface="Times New Roman" panose="02020603050405020304" pitchFamily="18" charset="0"/>
                        </a:rPr>
                        <m:t>=</m:t>
                      </m:r>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0</m:t>
                          </m:r>
                        </m:sub>
                      </m:sSub>
                      <m:r>
                        <a:rPr lang="en-US" sz="2200" b="0" i="1" smtClean="0">
                          <a:latin typeface="Cambria Math" panose="02040503050406030204" pitchFamily="18" charset="0"/>
                          <a:cs typeface="Times New Roman" panose="02020603050405020304" pitchFamily="18" charset="0"/>
                        </a:rPr>
                        <m:t>+</m:t>
                      </m:r>
                      <m:r>
                        <a:rPr lang="en-US" sz="2200" b="1" i="1" smtClean="0">
                          <a:solidFill>
                            <a:schemeClr val="accent2">
                              <a:lumMod val="75000"/>
                            </a:schemeClr>
                          </a:solidFill>
                          <a:latin typeface="Cambria Math" panose="02040503050406030204" pitchFamily="18" charset="0"/>
                          <a:cs typeface="Times New Roman" panose="02020603050405020304" pitchFamily="18" charset="0"/>
                        </a:rPr>
                        <m:t>𝜸</m:t>
                      </m:r>
                      <m:sSub>
                        <m:sSubPr>
                          <m:ctrlPr>
                            <a:rPr lang="en-US" sz="2200" b="1" i="1" smtClean="0">
                              <a:solidFill>
                                <a:schemeClr val="accent2">
                                  <a:lumMod val="75000"/>
                                </a:schemeClr>
                              </a:solidFill>
                              <a:latin typeface="Cambria Math" panose="02040503050406030204" pitchFamily="18" charset="0"/>
                              <a:cs typeface="Times New Roman" panose="02020603050405020304" pitchFamily="18" charset="0"/>
                            </a:rPr>
                          </m:ctrlPr>
                        </m:sSubPr>
                        <m:e>
                          <m:r>
                            <a:rPr lang="en-US" sz="2200" b="1" i="1" smtClean="0">
                              <a:solidFill>
                                <a:schemeClr val="accent2">
                                  <a:lumMod val="75000"/>
                                </a:schemeClr>
                              </a:solidFill>
                              <a:latin typeface="Cambria Math" panose="02040503050406030204" pitchFamily="18" charset="0"/>
                              <a:cs typeface="Times New Roman" panose="02020603050405020304" pitchFamily="18" charset="0"/>
                            </a:rPr>
                            <m:t>𝑷</m:t>
                          </m:r>
                        </m:e>
                        <m:sub>
                          <m:r>
                            <a:rPr lang="en-US" sz="2200" b="1" i="1" smtClean="0">
                              <a:solidFill>
                                <a:schemeClr val="accent2">
                                  <a:lumMod val="75000"/>
                                </a:schemeClr>
                              </a:solidFill>
                              <a:latin typeface="Cambria Math" panose="02040503050406030204" pitchFamily="18" charset="0"/>
                              <a:cs typeface="Times New Roman" panose="02020603050405020304" pitchFamily="18" charset="0"/>
                            </a:rPr>
                            <m:t>𝒊𝒑</m:t>
                          </m:r>
                        </m:sub>
                      </m:sSub>
                      <m:r>
                        <a:rPr lang="en-US" sz="2200" b="0" i="1" smtClean="0">
                          <a:latin typeface="Cambria Math" panose="02040503050406030204" pitchFamily="18" charset="0"/>
                          <a:cs typeface="Times New Roman" panose="02020603050405020304" pitchFamily="18" charset="0"/>
                        </a:rPr>
                        <m:t>+</m:t>
                      </m:r>
                      <m:r>
                        <a:rPr lang="en-US" sz="2200" b="0" i="1" smtClean="0">
                          <a:latin typeface="Cambria Math" panose="02040503050406030204" pitchFamily="18" charset="0"/>
                          <a:cs typeface="Times New Roman" panose="02020603050405020304" pitchFamily="18" charset="0"/>
                        </a:rPr>
                        <m:t>𝛿</m:t>
                      </m:r>
                      <m:sSubSup>
                        <m:sSubSupPr>
                          <m:ctrlPr>
                            <a:rPr lang="en-US" sz="2200" b="0" i="1" smtClean="0">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𝑌</m:t>
                          </m:r>
                        </m:e>
                        <m:sub>
                          <m:r>
                            <a:rPr lang="en-US" sz="2200" b="0" i="1" smtClean="0">
                              <a:latin typeface="Cambria Math" panose="02040503050406030204" pitchFamily="18" charset="0"/>
                              <a:cs typeface="Times New Roman" panose="02020603050405020304" pitchFamily="18" charset="0"/>
                            </a:rPr>
                            <m:t>𝑖</m:t>
                          </m:r>
                          <m:r>
                            <a:rPr lang="en-US" sz="2200" b="0" i="1" smtClean="0">
                              <a:latin typeface="Cambria Math" panose="02040503050406030204" pitchFamily="18" charset="0"/>
                              <a:cs typeface="Times New Roman" panose="02020603050405020304" pitchFamily="18" charset="0"/>
                            </a:rPr>
                            <m:t>,−</m:t>
                          </m:r>
                          <m:r>
                            <a:rPr lang="en-US" sz="2200" b="0" i="1" smtClean="0">
                              <a:latin typeface="Cambria Math" panose="02040503050406030204" pitchFamily="18" charset="0"/>
                              <a:cs typeface="Times New Roman" panose="02020603050405020304" pitchFamily="18" charset="0"/>
                            </a:rPr>
                            <m:t>𝑝</m:t>
                          </m:r>
                        </m:sub>
                        <m:sup>
                          <m:r>
                            <a:rPr lang="en-US" sz="2200" b="0" i="1" smtClean="0">
                              <a:latin typeface="Cambria Math" panose="02040503050406030204" pitchFamily="18" charset="0"/>
                              <a:cs typeface="Times New Roman" panose="02020603050405020304" pitchFamily="18" charset="0"/>
                            </a:rPr>
                            <m:t>∗</m:t>
                          </m:r>
                        </m:sup>
                      </m:sSubSup>
                      <m:r>
                        <a:rPr lang="en-US" sz="2200" b="0" i="1" smtClean="0">
                          <a:latin typeface="Cambria Math" panose="02040503050406030204" pitchFamily="18" charset="0"/>
                          <a:cs typeface="Times New Roman" panose="02020603050405020304" pitchFamily="18" charset="0"/>
                        </a:rPr>
                        <m:t>+</m:t>
                      </m:r>
                      <m:sSubSup>
                        <m:sSubSupPr>
                          <m:ctrlPr>
                            <a:rPr lang="en-US" sz="2200" b="0" i="1" smtClean="0">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1</m:t>
                          </m:r>
                        </m:sub>
                        <m:sup>
                          <m:r>
                            <a:rPr lang="en-US" sz="2200" b="0" i="1" smtClean="0">
                              <a:latin typeface="Cambria Math" panose="02040503050406030204" pitchFamily="18" charset="0"/>
                              <a:cs typeface="Times New Roman" panose="02020603050405020304" pitchFamily="18" charset="0"/>
                            </a:rPr>
                            <m:t>′</m:t>
                          </m:r>
                        </m:sup>
                      </m:sSubSup>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𝑋</m:t>
                          </m:r>
                        </m:e>
                        <m:sub>
                          <m:r>
                            <a:rPr lang="en-US" sz="2200" b="0" i="1" smtClean="0">
                              <a:latin typeface="Cambria Math" panose="02040503050406030204" pitchFamily="18" charset="0"/>
                              <a:cs typeface="Times New Roman" panose="02020603050405020304" pitchFamily="18" charset="0"/>
                            </a:rPr>
                            <m:t>𝑖𝑝</m:t>
                          </m:r>
                        </m:sub>
                      </m:sSub>
                      <m:r>
                        <a:rPr lang="en-US" sz="2200" b="0" i="1" smtClean="0">
                          <a:latin typeface="Cambria Math" panose="02040503050406030204" pitchFamily="18" charset="0"/>
                          <a:cs typeface="Times New Roman" panose="02020603050405020304" pitchFamily="18" charset="0"/>
                        </a:rPr>
                        <m:t>+</m:t>
                      </m:r>
                      <m:sSubSup>
                        <m:sSubSupPr>
                          <m:ctrlPr>
                            <a:rPr lang="en-US" sz="2200" b="0" i="1" smtClean="0">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2</m:t>
                          </m:r>
                        </m:sub>
                        <m:sup>
                          <m:r>
                            <a:rPr lang="en-US" sz="2200" b="0" i="1" smtClean="0">
                              <a:latin typeface="Cambria Math" panose="02040503050406030204" pitchFamily="18" charset="0"/>
                              <a:cs typeface="Times New Roman" panose="02020603050405020304" pitchFamily="18" charset="0"/>
                            </a:rPr>
                            <m:t>′</m:t>
                          </m:r>
                        </m:sup>
                      </m:sSubSup>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𝑋</m:t>
                          </m:r>
                        </m:e>
                        <m:sub>
                          <m:r>
                            <a:rPr lang="en-US" sz="2200" b="0" i="1" smtClean="0">
                              <a:latin typeface="Cambria Math" panose="02040503050406030204" pitchFamily="18" charset="0"/>
                              <a:cs typeface="Times New Roman" panose="02020603050405020304" pitchFamily="18" charset="0"/>
                            </a:rPr>
                            <m:t>𝑖</m:t>
                          </m:r>
                          <m:r>
                            <a:rPr lang="en-US" sz="2200" b="0" i="1" smtClean="0">
                              <a:latin typeface="Cambria Math" panose="02040503050406030204" pitchFamily="18" charset="0"/>
                              <a:cs typeface="Times New Roman" panose="02020603050405020304" pitchFamily="18" charset="0"/>
                            </a:rPr>
                            <m:t>,−</m:t>
                          </m:r>
                          <m:r>
                            <a:rPr lang="en-US" sz="2200" b="0" i="1" smtClean="0">
                              <a:latin typeface="Cambria Math" panose="02040503050406030204" pitchFamily="18" charset="0"/>
                              <a:cs typeface="Times New Roman" panose="02020603050405020304" pitchFamily="18" charset="0"/>
                            </a:rPr>
                            <m:t>𝑝</m:t>
                          </m:r>
                        </m:sub>
                      </m:sSub>
                      <m:r>
                        <a:rPr lang="en-US" sz="2200" b="0" i="1" smtClean="0">
                          <a:latin typeface="Cambria Math" panose="02040503050406030204" pitchFamily="18" charset="0"/>
                          <a:cs typeface="Times New Roman" panose="02020603050405020304" pitchFamily="18" charset="0"/>
                        </a:rPr>
                        <m:t>+</m:t>
                      </m:r>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𝜀</m:t>
                          </m:r>
                        </m:e>
                        <m:sub>
                          <m:r>
                            <a:rPr lang="en-US" sz="2200" b="0" i="1" smtClean="0">
                              <a:latin typeface="Cambria Math" panose="02040503050406030204" pitchFamily="18" charset="0"/>
                              <a:cs typeface="Times New Roman" panose="02020603050405020304" pitchFamily="18" charset="0"/>
                            </a:rPr>
                            <m:t>𝑖𝑝</m:t>
                          </m:r>
                        </m:sub>
                      </m:sSub>
                    </m:oMath>
                  </m:oMathPara>
                </a14:m>
                <a:endParaRPr lang="en-US" sz="2200" b="0" dirty="0">
                  <a:cs typeface="Times New Roman" panose="02020603050405020304" pitchFamily="18" charset="0"/>
                </a:endParaRPr>
              </a:p>
              <a:p>
                <a:r>
                  <a:rPr lang="en-US" sz="2200" dirty="0">
                    <a:cs typeface="Times New Roman" panose="02020603050405020304" pitchFamily="18" charset="0"/>
                  </a:rPr>
                  <a:t>Can estimate this for two individuals </a:t>
                </a:r>
                <a14:m>
                  <m:oMath xmlns:m="http://schemas.openxmlformats.org/officeDocument/2006/math">
                    <m:r>
                      <a:rPr lang="en-US" sz="2200" b="0" i="1" smtClean="0">
                        <a:latin typeface="Cambria Math" panose="02040503050406030204" pitchFamily="18" charset="0"/>
                        <a:cs typeface="Times New Roman" panose="02020603050405020304" pitchFamily="18" charset="0"/>
                      </a:rPr>
                      <m:t>𝑖</m:t>
                    </m:r>
                    <m:r>
                      <a:rPr lang="en-US" sz="2200" b="0" i="1" smtClean="0">
                        <a:latin typeface="Cambria Math" panose="02040503050406030204" pitchFamily="18" charset="0"/>
                        <a:cs typeface="Times New Roman" panose="02020603050405020304" pitchFamily="18" charset="0"/>
                      </a:rPr>
                      <m:t>∈{1,2}</m:t>
                    </m:r>
                  </m:oMath>
                </a14:m>
                <a:endParaRPr lang="en-US" sz="2200" dirty="0">
                  <a:cs typeface="Times New Roman" panose="02020603050405020304" pitchFamily="18" charset="0"/>
                </a:endParaRPr>
              </a:p>
              <a:p>
                <a:r>
                  <a:rPr lang="en-US" sz="2200" dirty="0">
                    <a:cs typeface="Times New Roman" panose="02020603050405020304" pitchFamily="18" charset="0"/>
                  </a:rPr>
                  <a:t>In fact, substitute individual 2’s equation in for individual 1: </a:t>
                </a:r>
              </a:p>
              <a:p>
                <a:pPr marL="0" indent="0">
                  <a:buNone/>
                </a:pPr>
                <a14:m>
                  <m:oMathPara xmlns:m="http://schemas.openxmlformats.org/officeDocument/2006/math">
                    <m:oMathParaPr>
                      <m:jc m:val="centerGroup"/>
                    </m:oMathParaPr>
                    <m:oMath xmlns:m="http://schemas.openxmlformats.org/officeDocument/2006/math">
                      <m:sSubSup>
                        <m:sSubSupPr>
                          <m:ctrlPr>
                            <a:rPr lang="en-US" sz="2200" b="0" i="1" smtClean="0">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𝑦</m:t>
                          </m:r>
                        </m:e>
                        <m:sub>
                          <m:r>
                            <a:rPr lang="en-US" sz="2200" b="0" i="1" smtClean="0">
                              <a:latin typeface="Cambria Math" panose="02040503050406030204" pitchFamily="18" charset="0"/>
                              <a:cs typeface="Times New Roman" panose="02020603050405020304" pitchFamily="18" charset="0"/>
                            </a:rPr>
                            <m:t>1</m:t>
                          </m:r>
                          <m:r>
                            <a:rPr lang="en-US" sz="2200" b="0" i="1" smtClean="0">
                              <a:latin typeface="Cambria Math" panose="02040503050406030204" pitchFamily="18" charset="0"/>
                              <a:cs typeface="Times New Roman" panose="02020603050405020304" pitchFamily="18" charset="0"/>
                            </a:rPr>
                            <m:t>𝑝</m:t>
                          </m:r>
                        </m:sub>
                        <m:sup>
                          <m:r>
                            <a:rPr lang="en-US" sz="2200" b="0" i="1" smtClean="0">
                              <a:latin typeface="Cambria Math" panose="02040503050406030204" pitchFamily="18" charset="0"/>
                              <a:cs typeface="Times New Roman" panose="02020603050405020304" pitchFamily="18" charset="0"/>
                            </a:rPr>
                            <m:t>∗</m:t>
                          </m:r>
                        </m:sup>
                      </m:sSubSup>
                      <m:r>
                        <a:rPr lang="en-US" sz="2200" b="0" i="1" smtClean="0">
                          <a:latin typeface="Cambria Math" panose="02040503050406030204" pitchFamily="18" charset="0"/>
                          <a:cs typeface="Times New Roman" panose="02020603050405020304" pitchFamily="18" charset="0"/>
                        </a:rPr>
                        <m:t>=</m:t>
                      </m:r>
                      <m:f>
                        <m:fPr>
                          <m:ctrlPr>
                            <a:rPr lang="en-US" sz="2200" b="0" i="1" smtClean="0">
                              <a:latin typeface="Cambria Math" panose="02040503050406030204" pitchFamily="18" charset="0"/>
                              <a:cs typeface="Times New Roman" panose="02020603050405020304" pitchFamily="18" charset="0"/>
                            </a:rPr>
                          </m:ctrlPr>
                        </m:fPr>
                        <m:num>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0</m:t>
                              </m:r>
                            </m:sub>
                          </m:sSub>
                          <m:r>
                            <a:rPr lang="en-US" sz="2200" b="0" i="1" smtClean="0">
                              <a:latin typeface="Cambria Math" panose="02040503050406030204" pitchFamily="18" charset="0"/>
                              <a:cs typeface="Times New Roman" panose="02020603050405020304" pitchFamily="18" charset="0"/>
                            </a:rPr>
                            <m:t>+</m:t>
                          </m:r>
                          <m:r>
                            <a:rPr lang="en-US" sz="2200" b="0" i="1" smtClean="0">
                              <a:latin typeface="Cambria Math" panose="02040503050406030204" pitchFamily="18" charset="0"/>
                              <a:cs typeface="Times New Roman" panose="02020603050405020304" pitchFamily="18" charset="0"/>
                            </a:rPr>
                            <m:t>𝛿</m:t>
                          </m:r>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0</m:t>
                              </m:r>
                            </m:sub>
                          </m:sSub>
                        </m:num>
                        <m:den>
                          <m:r>
                            <a:rPr lang="en-US" sz="2200" b="0" i="1" smtClean="0">
                              <a:latin typeface="Cambria Math" panose="02040503050406030204" pitchFamily="18" charset="0"/>
                              <a:cs typeface="Times New Roman" panose="02020603050405020304" pitchFamily="18" charset="0"/>
                            </a:rPr>
                            <m:t>1−</m:t>
                          </m:r>
                          <m:sSup>
                            <m:sSupPr>
                              <m:ctrlPr>
                                <a:rPr lang="en-US" sz="2200" b="0" i="1" smtClean="0">
                                  <a:latin typeface="Cambria Math" panose="02040503050406030204" pitchFamily="18" charset="0"/>
                                  <a:cs typeface="Times New Roman" panose="02020603050405020304" pitchFamily="18" charset="0"/>
                                </a:rPr>
                              </m:ctrlPr>
                            </m:sSupPr>
                            <m:e>
                              <m:r>
                                <a:rPr lang="en-US" sz="2200" b="0" i="1" smtClean="0">
                                  <a:latin typeface="Cambria Math" panose="02040503050406030204" pitchFamily="18" charset="0"/>
                                  <a:cs typeface="Times New Roman" panose="02020603050405020304" pitchFamily="18" charset="0"/>
                                </a:rPr>
                                <m:t>𝛿</m:t>
                              </m:r>
                            </m:e>
                            <m:sup>
                              <m:r>
                                <a:rPr lang="en-US" sz="2200" b="0" i="1" smtClean="0">
                                  <a:latin typeface="Cambria Math" panose="02040503050406030204" pitchFamily="18" charset="0"/>
                                  <a:cs typeface="Times New Roman" panose="02020603050405020304" pitchFamily="18" charset="0"/>
                                </a:rPr>
                                <m:t>2</m:t>
                              </m:r>
                            </m:sup>
                          </m:sSup>
                        </m:den>
                      </m:f>
                      <m:r>
                        <a:rPr lang="en-US" sz="2200" b="0" i="1" smtClean="0">
                          <a:latin typeface="Cambria Math" panose="02040503050406030204" pitchFamily="18" charset="0"/>
                          <a:cs typeface="Times New Roman" panose="02020603050405020304" pitchFamily="18" charset="0"/>
                        </a:rPr>
                        <m:t>+</m:t>
                      </m:r>
                      <m:f>
                        <m:fPr>
                          <m:ctrlPr>
                            <a:rPr lang="en-US" sz="2200" b="0" i="1" smtClean="0">
                              <a:latin typeface="Cambria Math" panose="02040503050406030204" pitchFamily="18" charset="0"/>
                              <a:cs typeface="Times New Roman" panose="02020603050405020304" pitchFamily="18" charset="0"/>
                            </a:rPr>
                          </m:ctrlPr>
                        </m:fPr>
                        <m:num>
                          <m:r>
                            <a:rPr lang="en-US" sz="2200" b="0" i="1" smtClean="0">
                              <a:latin typeface="Cambria Math" panose="02040503050406030204" pitchFamily="18" charset="0"/>
                              <a:cs typeface="Times New Roman" panose="02020603050405020304" pitchFamily="18" charset="0"/>
                            </a:rPr>
                            <m:t>𝛾</m:t>
                          </m:r>
                        </m:num>
                        <m:den>
                          <m:r>
                            <a:rPr lang="en-US" sz="2200" b="0" i="1" smtClean="0">
                              <a:latin typeface="Cambria Math" panose="02040503050406030204" pitchFamily="18" charset="0"/>
                              <a:cs typeface="Times New Roman" panose="02020603050405020304" pitchFamily="18" charset="0"/>
                            </a:rPr>
                            <m:t>1−</m:t>
                          </m:r>
                          <m:sSup>
                            <m:sSupPr>
                              <m:ctrlPr>
                                <a:rPr lang="en-US" sz="2200" b="0" i="1" smtClean="0">
                                  <a:latin typeface="Cambria Math" panose="02040503050406030204" pitchFamily="18" charset="0"/>
                                  <a:cs typeface="Times New Roman" panose="02020603050405020304" pitchFamily="18" charset="0"/>
                                </a:rPr>
                              </m:ctrlPr>
                            </m:sSupPr>
                            <m:e>
                              <m:r>
                                <a:rPr lang="en-US" sz="2200" b="0" i="1" smtClean="0">
                                  <a:latin typeface="Cambria Math" panose="02040503050406030204" pitchFamily="18" charset="0"/>
                                  <a:cs typeface="Times New Roman" panose="02020603050405020304" pitchFamily="18" charset="0"/>
                                </a:rPr>
                                <m:t>𝛿</m:t>
                              </m:r>
                            </m:e>
                            <m:sup>
                              <m:r>
                                <a:rPr lang="en-US" sz="2200" b="0" i="1" smtClean="0">
                                  <a:latin typeface="Cambria Math" panose="02040503050406030204" pitchFamily="18" charset="0"/>
                                  <a:cs typeface="Times New Roman" panose="02020603050405020304" pitchFamily="18" charset="0"/>
                                </a:rPr>
                                <m:t>2</m:t>
                              </m:r>
                            </m:sup>
                          </m:sSup>
                        </m:den>
                      </m:f>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𝑃</m:t>
                          </m:r>
                        </m:e>
                        <m:sub>
                          <m:r>
                            <a:rPr lang="en-US" sz="2200" b="0" i="1" smtClean="0">
                              <a:latin typeface="Cambria Math" panose="02040503050406030204" pitchFamily="18" charset="0"/>
                              <a:cs typeface="Times New Roman" panose="02020603050405020304" pitchFamily="18" charset="0"/>
                            </a:rPr>
                            <m:t>1</m:t>
                          </m:r>
                          <m:r>
                            <a:rPr lang="en-US" sz="2200" b="0" i="1" smtClean="0">
                              <a:latin typeface="Cambria Math" panose="02040503050406030204" pitchFamily="18" charset="0"/>
                              <a:cs typeface="Times New Roman" panose="02020603050405020304" pitchFamily="18" charset="0"/>
                            </a:rPr>
                            <m:t>𝑝</m:t>
                          </m:r>
                        </m:sub>
                      </m:sSub>
                      <m:r>
                        <a:rPr lang="en-US" sz="2200" i="1">
                          <a:latin typeface="Cambria Math" panose="02040503050406030204" pitchFamily="18" charset="0"/>
                          <a:cs typeface="Times New Roman" panose="02020603050405020304" pitchFamily="18" charset="0"/>
                        </a:rPr>
                        <m:t>+</m:t>
                      </m:r>
                      <m:f>
                        <m:fPr>
                          <m:ctrlPr>
                            <a:rPr lang="en-US" sz="2200" i="1">
                              <a:latin typeface="Cambria Math" panose="02040503050406030204" pitchFamily="18" charset="0"/>
                              <a:cs typeface="Times New Roman" panose="02020603050405020304" pitchFamily="18" charset="0"/>
                            </a:rPr>
                          </m:ctrlPr>
                        </m:fPr>
                        <m:num>
                          <m:r>
                            <a:rPr lang="en-US" sz="2200" i="1">
                              <a:latin typeface="Cambria Math" panose="02040503050406030204" pitchFamily="18" charset="0"/>
                              <a:cs typeface="Times New Roman" panose="02020603050405020304" pitchFamily="18" charset="0"/>
                            </a:rPr>
                            <m:t>𝛾</m:t>
                          </m:r>
                        </m:num>
                        <m:den>
                          <m:r>
                            <a:rPr lang="en-US" sz="2200" i="1">
                              <a:latin typeface="Cambria Math" panose="02040503050406030204" pitchFamily="18" charset="0"/>
                              <a:cs typeface="Times New Roman" panose="02020603050405020304" pitchFamily="18" charset="0"/>
                            </a:rPr>
                            <m:t>1−</m:t>
                          </m:r>
                          <m:sSup>
                            <m:sSupPr>
                              <m:ctrlPr>
                                <a:rPr lang="en-US" sz="2200" i="1">
                                  <a:latin typeface="Cambria Math" panose="02040503050406030204" pitchFamily="18" charset="0"/>
                                  <a:cs typeface="Times New Roman" panose="02020603050405020304" pitchFamily="18" charset="0"/>
                                </a:rPr>
                              </m:ctrlPr>
                            </m:sSupPr>
                            <m:e>
                              <m:r>
                                <a:rPr lang="en-US" sz="2200" i="1">
                                  <a:latin typeface="Cambria Math" panose="02040503050406030204" pitchFamily="18" charset="0"/>
                                  <a:cs typeface="Times New Roman" panose="02020603050405020304" pitchFamily="18" charset="0"/>
                                </a:rPr>
                                <m:t>𝛿</m:t>
                              </m:r>
                            </m:e>
                            <m:sup>
                              <m:r>
                                <a:rPr lang="en-US" sz="2200" i="1">
                                  <a:latin typeface="Cambria Math" panose="02040503050406030204" pitchFamily="18" charset="0"/>
                                  <a:cs typeface="Times New Roman" panose="02020603050405020304" pitchFamily="18" charset="0"/>
                                </a:rPr>
                                <m:t>2</m:t>
                              </m:r>
                            </m:sup>
                          </m:sSup>
                        </m:den>
                      </m:f>
                      <m:sSub>
                        <m:sSubPr>
                          <m:ctrlPr>
                            <a:rPr lang="en-US" sz="2200" i="1">
                              <a:latin typeface="Cambria Math" panose="02040503050406030204" pitchFamily="18" charset="0"/>
                              <a:cs typeface="Times New Roman" panose="02020603050405020304" pitchFamily="18" charset="0"/>
                            </a:rPr>
                          </m:ctrlPr>
                        </m:sSubPr>
                        <m:e>
                          <m:r>
                            <a:rPr lang="en-US" sz="2200" i="1">
                              <a:latin typeface="Cambria Math" panose="02040503050406030204" pitchFamily="18" charset="0"/>
                              <a:cs typeface="Times New Roman" panose="02020603050405020304" pitchFamily="18" charset="0"/>
                            </a:rPr>
                            <m:t>𝑃</m:t>
                          </m:r>
                        </m:e>
                        <m:sub>
                          <m:r>
                            <a:rPr lang="en-US" sz="2200" b="0" i="1" smtClean="0">
                              <a:latin typeface="Cambria Math" panose="02040503050406030204" pitchFamily="18" charset="0"/>
                              <a:cs typeface="Times New Roman" panose="02020603050405020304" pitchFamily="18" charset="0"/>
                            </a:rPr>
                            <m:t>2</m:t>
                          </m:r>
                          <m:r>
                            <a:rPr lang="en-US" sz="2200" i="1">
                              <a:latin typeface="Cambria Math" panose="02040503050406030204" pitchFamily="18" charset="0"/>
                              <a:cs typeface="Times New Roman" panose="02020603050405020304" pitchFamily="18" charset="0"/>
                            </a:rPr>
                            <m:t>𝑝</m:t>
                          </m:r>
                        </m:sub>
                      </m:sSub>
                      <m:r>
                        <a:rPr lang="en-US" sz="2200" b="0" i="1" smtClean="0">
                          <a:latin typeface="Cambria Math" panose="02040503050406030204" pitchFamily="18" charset="0"/>
                          <a:cs typeface="Times New Roman" panose="02020603050405020304" pitchFamily="18" charset="0"/>
                        </a:rPr>
                        <m:t>+</m:t>
                      </m:r>
                      <m:f>
                        <m:fPr>
                          <m:ctrlPr>
                            <a:rPr lang="en-US" sz="2200" b="0" i="1" smtClean="0">
                              <a:latin typeface="Cambria Math" panose="02040503050406030204" pitchFamily="18" charset="0"/>
                              <a:cs typeface="Times New Roman" panose="02020603050405020304" pitchFamily="18" charset="0"/>
                            </a:rPr>
                          </m:ctrlPr>
                        </m:fPr>
                        <m:num>
                          <m:sSubSup>
                            <m:sSubSupPr>
                              <m:ctrlPr>
                                <a:rPr lang="en-US" sz="2200" b="0" i="1" smtClean="0">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1</m:t>
                              </m:r>
                            </m:sub>
                            <m:sup>
                              <m:r>
                                <a:rPr lang="en-US" sz="2200" b="0" i="1" smtClean="0">
                                  <a:latin typeface="Cambria Math" panose="02040503050406030204" pitchFamily="18" charset="0"/>
                                  <a:cs typeface="Times New Roman" panose="02020603050405020304" pitchFamily="18" charset="0"/>
                                </a:rPr>
                                <m:t>′</m:t>
                              </m:r>
                            </m:sup>
                          </m:sSubSup>
                          <m:r>
                            <a:rPr lang="en-US" sz="2200" b="0" i="1" smtClean="0">
                              <a:latin typeface="Cambria Math" panose="02040503050406030204" pitchFamily="18" charset="0"/>
                              <a:cs typeface="Times New Roman" panose="02020603050405020304" pitchFamily="18" charset="0"/>
                            </a:rPr>
                            <m:t>+</m:t>
                          </m:r>
                          <m:r>
                            <a:rPr lang="en-US" sz="2200" b="0" i="1" smtClean="0">
                              <a:latin typeface="Cambria Math" panose="02040503050406030204" pitchFamily="18" charset="0"/>
                              <a:cs typeface="Times New Roman" panose="02020603050405020304" pitchFamily="18" charset="0"/>
                            </a:rPr>
                            <m:t>𝛿</m:t>
                          </m:r>
                          <m:sSubSup>
                            <m:sSubSupPr>
                              <m:ctrlPr>
                                <a:rPr lang="en-US" sz="2200" b="0" i="1" smtClean="0">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2</m:t>
                              </m:r>
                            </m:sub>
                            <m:sup>
                              <m:r>
                                <a:rPr lang="en-US" sz="2200" b="0" i="1" smtClean="0">
                                  <a:latin typeface="Cambria Math" panose="02040503050406030204" pitchFamily="18" charset="0"/>
                                  <a:cs typeface="Times New Roman" panose="02020603050405020304" pitchFamily="18" charset="0"/>
                                </a:rPr>
                                <m:t>′</m:t>
                              </m:r>
                            </m:sup>
                          </m:sSubSup>
                        </m:num>
                        <m:den>
                          <m:r>
                            <a:rPr lang="en-US" sz="2200" b="0" i="1" smtClean="0">
                              <a:latin typeface="Cambria Math" panose="02040503050406030204" pitchFamily="18" charset="0"/>
                              <a:cs typeface="Times New Roman" panose="02020603050405020304" pitchFamily="18" charset="0"/>
                            </a:rPr>
                            <m:t>1−</m:t>
                          </m:r>
                          <m:sSup>
                            <m:sSupPr>
                              <m:ctrlPr>
                                <a:rPr lang="en-US" sz="2200" b="0" i="1" smtClean="0">
                                  <a:latin typeface="Cambria Math" panose="02040503050406030204" pitchFamily="18" charset="0"/>
                                  <a:cs typeface="Times New Roman" panose="02020603050405020304" pitchFamily="18" charset="0"/>
                                </a:rPr>
                              </m:ctrlPr>
                            </m:sSupPr>
                            <m:e>
                              <m:r>
                                <a:rPr lang="en-US" sz="2200" b="0" i="1" smtClean="0">
                                  <a:latin typeface="Cambria Math" panose="02040503050406030204" pitchFamily="18" charset="0"/>
                                  <a:cs typeface="Times New Roman" panose="02020603050405020304" pitchFamily="18" charset="0"/>
                                </a:rPr>
                                <m:t>𝛿</m:t>
                              </m:r>
                            </m:e>
                            <m:sup>
                              <m:r>
                                <a:rPr lang="en-US" sz="2200" b="0" i="1" smtClean="0">
                                  <a:latin typeface="Cambria Math" panose="02040503050406030204" pitchFamily="18" charset="0"/>
                                  <a:cs typeface="Times New Roman" panose="02020603050405020304" pitchFamily="18" charset="0"/>
                                </a:rPr>
                                <m:t>2</m:t>
                              </m:r>
                            </m:sup>
                          </m:sSup>
                        </m:den>
                      </m:f>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𝑋</m:t>
                          </m:r>
                        </m:e>
                        <m:sub>
                          <m:r>
                            <a:rPr lang="en-US" sz="2200" b="0" i="1" smtClean="0">
                              <a:latin typeface="Cambria Math" panose="02040503050406030204" pitchFamily="18" charset="0"/>
                              <a:cs typeface="Times New Roman" panose="02020603050405020304" pitchFamily="18" charset="0"/>
                            </a:rPr>
                            <m:t>1</m:t>
                          </m:r>
                          <m:r>
                            <a:rPr lang="en-US" sz="2200" b="0" i="1" smtClean="0">
                              <a:latin typeface="Cambria Math" panose="02040503050406030204" pitchFamily="18" charset="0"/>
                              <a:cs typeface="Times New Roman" panose="02020603050405020304" pitchFamily="18" charset="0"/>
                            </a:rPr>
                            <m:t>𝑝</m:t>
                          </m:r>
                        </m:sub>
                      </m:sSub>
                      <m:r>
                        <a:rPr lang="en-US" sz="2200" i="1">
                          <a:latin typeface="Cambria Math" panose="02040503050406030204" pitchFamily="18" charset="0"/>
                          <a:cs typeface="Times New Roman" panose="02020603050405020304" pitchFamily="18" charset="0"/>
                        </a:rPr>
                        <m:t>+</m:t>
                      </m:r>
                      <m:f>
                        <m:fPr>
                          <m:ctrlPr>
                            <a:rPr lang="en-US" sz="2200" i="1">
                              <a:latin typeface="Cambria Math" panose="02040503050406030204" pitchFamily="18" charset="0"/>
                              <a:cs typeface="Times New Roman" panose="02020603050405020304" pitchFamily="18" charset="0"/>
                            </a:rPr>
                          </m:ctrlPr>
                        </m:fPr>
                        <m:num>
                          <m:sSubSup>
                            <m:sSubSupPr>
                              <m:ctrlPr>
                                <a:rPr lang="en-US" sz="2200" i="1">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𝛿</m:t>
                              </m:r>
                              <m:r>
                                <a:rPr lang="en-US" sz="2200" i="1">
                                  <a:latin typeface="Cambria Math" panose="02040503050406030204" pitchFamily="18" charset="0"/>
                                  <a:cs typeface="Times New Roman" panose="02020603050405020304" pitchFamily="18" charset="0"/>
                                </a:rPr>
                                <m:t>𝛽</m:t>
                              </m:r>
                            </m:e>
                            <m:sub>
                              <m:r>
                                <a:rPr lang="en-US" sz="2200" i="1">
                                  <a:latin typeface="Cambria Math" panose="02040503050406030204" pitchFamily="18" charset="0"/>
                                  <a:cs typeface="Times New Roman" panose="02020603050405020304" pitchFamily="18" charset="0"/>
                                </a:rPr>
                                <m:t>1</m:t>
                              </m:r>
                            </m:sub>
                            <m:sup>
                              <m:r>
                                <a:rPr lang="en-US" sz="2200" i="1">
                                  <a:latin typeface="Cambria Math" panose="02040503050406030204" pitchFamily="18" charset="0"/>
                                  <a:cs typeface="Times New Roman" panose="02020603050405020304" pitchFamily="18" charset="0"/>
                                </a:rPr>
                                <m:t>′</m:t>
                              </m:r>
                            </m:sup>
                          </m:sSubSup>
                          <m:r>
                            <a:rPr lang="en-US" sz="2200" i="1">
                              <a:latin typeface="Cambria Math" panose="02040503050406030204" pitchFamily="18" charset="0"/>
                              <a:cs typeface="Times New Roman" panose="02020603050405020304" pitchFamily="18" charset="0"/>
                            </a:rPr>
                            <m:t>+</m:t>
                          </m:r>
                          <m:sSubSup>
                            <m:sSubSupPr>
                              <m:ctrlPr>
                                <a:rPr lang="en-US" sz="2200" i="1">
                                  <a:latin typeface="Cambria Math" panose="02040503050406030204" pitchFamily="18" charset="0"/>
                                  <a:cs typeface="Times New Roman" panose="02020603050405020304" pitchFamily="18" charset="0"/>
                                </a:rPr>
                              </m:ctrlPr>
                            </m:sSubSupPr>
                            <m:e>
                              <m:r>
                                <a:rPr lang="en-US" sz="2200" i="1">
                                  <a:latin typeface="Cambria Math" panose="02040503050406030204" pitchFamily="18" charset="0"/>
                                  <a:cs typeface="Times New Roman" panose="02020603050405020304" pitchFamily="18" charset="0"/>
                                </a:rPr>
                                <m:t>𝛽</m:t>
                              </m:r>
                            </m:e>
                            <m:sub>
                              <m:r>
                                <a:rPr lang="en-US" sz="2200" i="1">
                                  <a:latin typeface="Cambria Math" panose="02040503050406030204" pitchFamily="18" charset="0"/>
                                  <a:cs typeface="Times New Roman" panose="02020603050405020304" pitchFamily="18" charset="0"/>
                                </a:rPr>
                                <m:t>2</m:t>
                              </m:r>
                            </m:sub>
                            <m:sup>
                              <m:r>
                                <a:rPr lang="en-US" sz="2200" i="1">
                                  <a:latin typeface="Cambria Math" panose="02040503050406030204" pitchFamily="18" charset="0"/>
                                  <a:cs typeface="Times New Roman" panose="02020603050405020304" pitchFamily="18" charset="0"/>
                                </a:rPr>
                                <m:t>′</m:t>
                              </m:r>
                            </m:sup>
                          </m:sSubSup>
                        </m:num>
                        <m:den>
                          <m:r>
                            <a:rPr lang="en-US" sz="2200" i="1">
                              <a:latin typeface="Cambria Math" panose="02040503050406030204" pitchFamily="18" charset="0"/>
                              <a:cs typeface="Times New Roman" panose="02020603050405020304" pitchFamily="18" charset="0"/>
                            </a:rPr>
                            <m:t>1−</m:t>
                          </m:r>
                          <m:sSup>
                            <m:sSupPr>
                              <m:ctrlPr>
                                <a:rPr lang="en-US" sz="2200" i="1">
                                  <a:latin typeface="Cambria Math" panose="02040503050406030204" pitchFamily="18" charset="0"/>
                                  <a:cs typeface="Times New Roman" panose="02020603050405020304" pitchFamily="18" charset="0"/>
                                </a:rPr>
                              </m:ctrlPr>
                            </m:sSupPr>
                            <m:e>
                              <m:r>
                                <a:rPr lang="en-US" sz="2200" i="1">
                                  <a:latin typeface="Cambria Math" panose="02040503050406030204" pitchFamily="18" charset="0"/>
                                  <a:cs typeface="Times New Roman" panose="02020603050405020304" pitchFamily="18" charset="0"/>
                                </a:rPr>
                                <m:t>𝛿</m:t>
                              </m:r>
                            </m:e>
                            <m:sup>
                              <m:r>
                                <a:rPr lang="en-US" sz="2200" i="1">
                                  <a:latin typeface="Cambria Math" panose="02040503050406030204" pitchFamily="18" charset="0"/>
                                  <a:cs typeface="Times New Roman" panose="02020603050405020304" pitchFamily="18" charset="0"/>
                                </a:rPr>
                                <m:t>2</m:t>
                              </m:r>
                            </m:sup>
                          </m:sSup>
                        </m:den>
                      </m:f>
                      <m:sSub>
                        <m:sSubPr>
                          <m:ctrlPr>
                            <a:rPr lang="en-US" sz="2200" i="1">
                              <a:latin typeface="Cambria Math" panose="02040503050406030204" pitchFamily="18" charset="0"/>
                              <a:cs typeface="Times New Roman" panose="02020603050405020304" pitchFamily="18" charset="0"/>
                            </a:rPr>
                          </m:ctrlPr>
                        </m:sSubPr>
                        <m:e>
                          <m:r>
                            <a:rPr lang="en-US" sz="2200" i="1">
                              <a:latin typeface="Cambria Math" panose="02040503050406030204" pitchFamily="18" charset="0"/>
                              <a:cs typeface="Times New Roman" panose="02020603050405020304" pitchFamily="18" charset="0"/>
                            </a:rPr>
                            <m:t>𝑋</m:t>
                          </m:r>
                        </m:e>
                        <m:sub>
                          <m:r>
                            <a:rPr lang="en-US" sz="2200" b="0" i="1" smtClean="0">
                              <a:latin typeface="Cambria Math" panose="02040503050406030204" pitchFamily="18" charset="0"/>
                              <a:cs typeface="Times New Roman" panose="02020603050405020304" pitchFamily="18" charset="0"/>
                            </a:rPr>
                            <m:t>2</m:t>
                          </m:r>
                          <m:r>
                            <a:rPr lang="en-US" sz="2200" i="1">
                              <a:latin typeface="Cambria Math" panose="02040503050406030204" pitchFamily="18" charset="0"/>
                              <a:cs typeface="Times New Roman" panose="02020603050405020304" pitchFamily="18" charset="0"/>
                            </a:rPr>
                            <m:t>𝑝</m:t>
                          </m:r>
                        </m:sub>
                      </m:sSub>
                      <m:r>
                        <a:rPr lang="en-US" sz="2200" b="0" i="1" smtClean="0">
                          <a:latin typeface="Cambria Math" panose="02040503050406030204" pitchFamily="18" charset="0"/>
                          <a:cs typeface="Times New Roman" panose="02020603050405020304" pitchFamily="18" charset="0"/>
                        </a:rPr>
                        <m:t>+</m:t>
                      </m:r>
                      <m:acc>
                        <m:accPr>
                          <m:chr m:val="̃"/>
                          <m:ctrlPr>
                            <a:rPr lang="en-US" sz="2200" b="0" i="1" smtClean="0">
                              <a:latin typeface="Cambria Math" panose="02040503050406030204" pitchFamily="18" charset="0"/>
                              <a:cs typeface="Times New Roman" panose="02020603050405020304" pitchFamily="18" charset="0"/>
                            </a:rPr>
                          </m:ctrlPr>
                        </m:accPr>
                        <m:e>
                          <m:r>
                            <a:rPr lang="en-US" sz="2200" b="0" i="1" smtClean="0">
                              <a:latin typeface="Cambria Math" panose="02040503050406030204" pitchFamily="18" charset="0"/>
                              <a:cs typeface="Times New Roman" panose="02020603050405020304" pitchFamily="18" charset="0"/>
                            </a:rPr>
                            <m:t>𝜀</m:t>
                          </m:r>
                        </m:e>
                      </m:acc>
                    </m:oMath>
                  </m:oMathPara>
                </a14:m>
                <a:endParaRPr lang="en-US" sz="22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366" t="-1068"/>
                </a:stretch>
              </a:blipFill>
            </p:spPr>
            <p:txBody>
              <a:bodyPr/>
              <a:lstStyle/>
              <a:p>
                <a:r>
                  <a:rPr lang="en-US">
                    <a:noFill/>
                  </a:rPr>
                  <a:t> </a:t>
                </a:r>
              </a:p>
            </p:txBody>
          </p:sp>
        </mc:Fallback>
      </mc:AlternateContent>
    </p:spTree>
    <p:extLst>
      <p:ext uri="{BB962C8B-B14F-4D97-AF65-F5344CB8AC3E}">
        <p14:creationId xmlns:p14="http://schemas.microsoft.com/office/powerpoint/2010/main" val="7400413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Research methods: bivariate </a:t>
            </a:r>
            <a:r>
              <a:rPr lang="en-US" sz="3600" dirty="0" err="1">
                <a:cs typeface="Times New Roman" panose="02020603050405020304" pitchFamily="18" charset="0"/>
              </a:rPr>
              <a:t>probit</a:t>
            </a:r>
            <a:r>
              <a:rPr lang="en-US" sz="3600" dirty="0">
                <a:cs typeface="Times New Roman" panose="02020603050405020304" pitchFamily="18" charset="0"/>
              </a:rPr>
              <a:t> + IV</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10287000" cy="5141388"/>
              </a:xfrm>
            </p:spPr>
            <p:txBody>
              <a:bodyPr>
                <a:normAutofit/>
              </a:bodyPr>
              <a:lstStyle/>
              <a:p>
                <a:r>
                  <a:rPr lang="en-US" sz="2400" dirty="0">
                    <a:cs typeface="Times New Roman" panose="02020603050405020304" pitchFamily="18" charset="0"/>
                  </a:rPr>
                  <a:t>Add in the phone call: </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𝑦</m:t>
                          </m:r>
                        </m:e>
                        <m:sub>
                          <m:r>
                            <a:rPr lang="en-US" sz="2400" b="0" i="1" smtClean="0">
                              <a:latin typeface="Cambria Math" panose="02040503050406030204" pitchFamily="18" charset="0"/>
                              <a:cs typeface="Times New Roman" panose="02020603050405020304" pitchFamily="18" charset="0"/>
                            </a:rPr>
                            <m:t>𝑖𝑝</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r>
                        <a:rPr lang="en-US" sz="2400" b="1" i="1" smtClean="0">
                          <a:solidFill>
                            <a:schemeClr val="accent2">
                              <a:lumMod val="75000"/>
                            </a:schemeClr>
                          </a:solidFill>
                          <a:latin typeface="Cambria Math" panose="02040503050406030204" pitchFamily="18" charset="0"/>
                          <a:cs typeface="Times New Roman" panose="02020603050405020304" pitchFamily="18" charset="0"/>
                        </a:rPr>
                        <m:t>𝜸</m:t>
                      </m:r>
                      <m:sSub>
                        <m:sSubPr>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sSubPr>
                        <m:e>
                          <m:r>
                            <a:rPr lang="en-US" sz="2400" b="1" i="1" smtClean="0">
                              <a:solidFill>
                                <a:schemeClr val="accent2">
                                  <a:lumMod val="75000"/>
                                </a:schemeClr>
                              </a:solidFill>
                              <a:latin typeface="Cambria Math" panose="02040503050406030204" pitchFamily="18" charset="0"/>
                              <a:cs typeface="Times New Roman" panose="02020603050405020304" pitchFamily="18" charset="0"/>
                            </a:rPr>
                            <m:t>𝑷</m:t>
                          </m:r>
                        </m:e>
                        <m:sub>
                          <m:r>
                            <a:rPr lang="en-US" sz="2400" b="1" i="1" smtClean="0">
                              <a:solidFill>
                                <a:schemeClr val="accent2">
                                  <a:lumMod val="75000"/>
                                </a:schemeClr>
                              </a:solidFill>
                              <a:latin typeface="Cambria Math" panose="02040503050406030204" pitchFamily="18" charset="0"/>
                              <a:cs typeface="Times New Roman" panose="02020603050405020304" pitchFamily="18" charset="0"/>
                            </a:rPr>
                            <m:t>𝒊𝒑</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𝛿</m:t>
                      </m:r>
                      <m:sSubSup>
                        <m:sSubSupPr>
                          <m:ctrlPr>
                            <a:rPr lang="en-US" sz="2400" b="0" i="1" smtClean="0">
                              <a:latin typeface="Cambria Math" panose="02040503050406030204" pitchFamily="18" charset="0"/>
                              <a:cs typeface="Times New Roman" panose="02020603050405020304" pitchFamily="18" charset="0"/>
                            </a:rPr>
                          </m:ctrlPr>
                        </m:sSubSupPr>
                        <m:e>
                          <m:r>
                            <a:rPr lang="en-US" sz="2400" b="0" i="1" smtClean="0">
                              <a:latin typeface="Cambria Math" panose="02040503050406030204" pitchFamily="18" charset="0"/>
                              <a:cs typeface="Times New Roman" panose="02020603050405020304" pitchFamily="18" charset="0"/>
                            </a:rPr>
                            <m:t>𝑌</m:t>
                          </m:r>
                        </m:e>
                        <m:sub>
                          <m:r>
                            <a:rPr lang="en-US" sz="2400" b="0" i="1" smtClean="0">
                              <a:latin typeface="Cambria Math" panose="02040503050406030204" pitchFamily="18" charset="0"/>
                              <a:cs typeface="Times New Roman" panose="02020603050405020304" pitchFamily="18" charset="0"/>
                            </a:rPr>
                            <m:t>𝑖</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𝑝</m:t>
                          </m:r>
                        </m:sub>
                        <m:sup>
                          <m:r>
                            <a:rPr lang="en-US" sz="2400" b="0" i="1" smtClean="0">
                              <a:latin typeface="Cambria Math" panose="02040503050406030204" pitchFamily="18" charset="0"/>
                              <a:cs typeface="Times New Roman" panose="02020603050405020304" pitchFamily="18" charset="0"/>
                            </a:rPr>
                            <m:t>∗</m:t>
                          </m:r>
                        </m:sup>
                      </m:sSubSup>
                      <m:r>
                        <a:rPr lang="en-US" sz="2400" b="0" i="1" smtClean="0">
                          <a:latin typeface="Cambria Math" panose="02040503050406030204" pitchFamily="18" charset="0"/>
                          <a:cs typeface="Times New Roman" panose="02020603050405020304" pitchFamily="18" charset="0"/>
                        </a:rPr>
                        <m:t>+</m:t>
                      </m:r>
                      <m:sSubSup>
                        <m:sSubSupPr>
                          <m:ctrlPr>
                            <a:rPr lang="en-US" sz="2400" b="0" i="1" smtClean="0">
                              <a:latin typeface="Cambria Math" panose="02040503050406030204" pitchFamily="18" charset="0"/>
                              <a:cs typeface="Times New Roman" panose="02020603050405020304" pitchFamily="18" charset="0"/>
                            </a:rPr>
                          </m:ctrlPr>
                        </m:sSubSup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up>
                          <m:r>
                            <a:rPr lang="en-US" sz="2400" b="0" i="1" smtClean="0">
                              <a:latin typeface="Cambria Math" panose="02040503050406030204" pitchFamily="18" charset="0"/>
                              <a:cs typeface="Times New Roman" panose="02020603050405020304" pitchFamily="18" charset="0"/>
                            </a:rPr>
                            <m:t>′</m:t>
                          </m:r>
                        </m:sup>
                      </m:sSubSup>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𝑖𝑝</m:t>
                          </m:r>
                        </m:sub>
                      </m:sSub>
                      <m:r>
                        <a:rPr lang="en-US" sz="2400" b="0" i="1" smtClean="0">
                          <a:latin typeface="Cambria Math" panose="02040503050406030204" pitchFamily="18" charset="0"/>
                          <a:cs typeface="Times New Roman" panose="02020603050405020304" pitchFamily="18" charset="0"/>
                        </a:rPr>
                        <m:t>+</m:t>
                      </m:r>
                      <m:sSubSup>
                        <m:sSubSupPr>
                          <m:ctrlPr>
                            <a:rPr lang="en-US" sz="2400" b="0" i="1" smtClean="0">
                              <a:latin typeface="Cambria Math" panose="02040503050406030204" pitchFamily="18" charset="0"/>
                              <a:cs typeface="Times New Roman" panose="02020603050405020304" pitchFamily="18" charset="0"/>
                            </a:rPr>
                          </m:ctrlPr>
                        </m:sSubSup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2</m:t>
                          </m:r>
                        </m:sub>
                        <m:sup>
                          <m:r>
                            <a:rPr lang="en-US" sz="2400" b="0" i="1" smtClean="0">
                              <a:latin typeface="Cambria Math" panose="02040503050406030204" pitchFamily="18" charset="0"/>
                              <a:cs typeface="Times New Roman" panose="02020603050405020304" pitchFamily="18" charset="0"/>
                            </a:rPr>
                            <m:t>′</m:t>
                          </m:r>
                        </m:sup>
                      </m:sSubSup>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𝑋</m:t>
                          </m:r>
                        </m:e>
                        <m:sub>
                          <m:r>
                            <a:rPr lang="en-US" sz="2400" b="0" i="1" smtClean="0">
                              <a:latin typeface="Cambria Math" panose="02040503050406030204" pitchFamily="18" charset="0"/>
                              <a:cs typeface="Times New Roman" panose="02020603050405020304" pitchFamily="18" charset="0"/>
                            </a:rPr>
                            <m:t>𝑖</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𝑝</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𝜀</m:t>
                          </m:r>
                        </m:e>
                        <m:sub>
                          <m:r>
                            <a:rPr lang="en-US" sz="2400" b="0" i="1" smtClean="0">
                              <a:latin typeface="Cambria Math" panose="02040503050406030204" pitchFamily="18" charset="0"/>
                              <a:cs typeface="Times New Roman" panose="02020603050405020304" pitchFamily="18" charset="0"/>
                            </a:rPr>
                            <m:t>𝑖𝑝</m:t>
                          </m:r>
                        </m:sub>
                      </m:sSub>
                    </m:oMath>
                  </m:oMathPara>
                </a14:m>
                <a:endParaRPr lang="en-US" sz="2400" b="0" dirty="0">
                  <a:cs typeface="Times New Roman" panose="02020603050405020304" pitchFamily="18" charset="0"/>
                </a:endParaRPr>
              </a:p>
              <a:p>
                <a:r>
                  <a:rPr lang="en-US" sz="2400" dirty="0">
                    <a:cs typeface="Times New Roman" panose="02020603050405020304" pitchFamily="18" charset="0"/>
                  </a:rPr>
                  <a:t>Can estimate this for two individuals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𝑖</m:t>
                    </m:r>
                    <m:r>
                      <a:rPr lang="en-US" sz="2400" b="0" i="1" smtClean="0">
                        <a:latin typeface="Cambria Math" panose="02040503050406030204" pitchFamily="18" charset="0"/>
                        <a:cs typeface="Times New Roman" panose="02020603050405020304" pitchFamily="18" charset="0"/>
                      </a:rPr>
                      <m:t>∈{1,2}</m:t>
                    </m:r>
                  </m:oMath>
                </a14:m>
                <a:endParaRPr lang="en-US" sz="2400" dirty="0">
                  <a:cs typeface="Times New Roman" panose="02020603050405020304" pitchFamily="18" charset="0"/>
                </a:endParaRPr>
              </a:p>
              <a:p>
                <a:r>
                  <a:rPr lang="en-US" sz="2400" dirty="0">
                    <a:cs typeface="Times New Roman" panose="02020603050405020304" pitchFamily="18" charset="0"/>
                  </a:rPr>
                  <a:t>In fact, substitute individual 2’s equation in for individual 1: </a:t>
                </a:r>
              </a:p>
              <a:p>
                <a:pPr marL="0" indent="0">
                  <a:buNone/>
                </a:pPr>
                <a14:m>
                  <m:oMathPara xmlns:m="http://schemas.openxmlformats.org/officeDocument/2006/math">
                    <m:oMathParaPr>
                      <m:jc m:val="centerGroup"/>
                    </m:oMathParaPr>
                    <m:oMath xmlns:m="http://schemas.openxmlformats.org/officeDocument/2006/math">
                      <m:sSubSup>
                        <m:sSubSupPr>
                          <m:ctrlPr>
                            <a:rPr lang="en-US" sz="2200" b="0" i="1" smtClean="0">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𝑦</m:t>
                          </m:r>
                        </m:e>
                        <m:sub>
                          <m:r>
                            <a:rPr lang="en-US" sz="2200" b="0" i="1" smtClean="0">
                              <a:latin typeface="Cambria Math" panose="02040503050406030204" pitchFamily="18" charset="0"/>
                              <a:cs typeface="Times New Roman" panose="02020603050405020304" pitchFamily="18" charset="0"/>
                            </a:rPr>
                            <m:t>1</m:t>
                          </m:r>
                          <m:r>
                            <a:rPr lang="en-US" sz="2200" b="0" i="1" smtClean="0">
                              <a:latin typeface="Cambria Math" panose="02040503050406030204" pitchFamily="18" charset="0"/>
                              <a:cs typeface="Times New Roman" panose="02020603050405020304" pitchFamily="18" charset="0"/>
                            </a:rPr>
                            <m:t>𝑝</m:t>
                          </m:r>
                        </m:sub>
                        <m:sup>
                          <m:r>
                            <a:rPr lang="en-US" sz="2200" b="0" i="1" smtClean="0">
                              <a:latin typeface="Cambria Math" panose="02040503050406030204" pitchFamily="18" charset="0"/>
                              <a:cs typeface="Times New Roman" panose="02020603050405020304" pitchFamily="18" charset="0"/>
                            </a:rPr>
                            <m:t>∗</m:t>
                          </m:r>
                        </m:sup>
                      </m:sSubSup>
                      <m:r>
                        <a:rPr lang="en-US" sz="2200" b="0" i="1" smtClean="0">
                          <a:latin typeface="Cambria Math" panose="02040503050406030204" pitchFamily="18" charset="0"/>
                          <a:cs typeface="Times New Roman" panose="02020603050405020304" pitchFamily="18" charset="0"/>
                        </a:rPr>
                        <m:t>=</m:t>
                      </m:r>
                      <m:f>
                        <m:fPr>
                          <m:ctrlPr>
                            <a:rPr lang="en-US" sz="2200" b="0" i="1" smtClean="0">
                              <a:latin typeface="Cambria Math" panose="02040503050406030204" pitchFamily="18" charset="0"/>
                              <a:cs typeface="Times New Roman" panose="02020603050405020304" pitchFamily="18" charset="0"/>
                            </a:rPr>
                          </m:ctrlPr>
                        </m:fPr>
                        <m:num>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0</m:t>
                              </m:r>
                            </m:sub>
                          </m:sSub>
                          <m:r>
                            <a:rPr lang="en-US" sz="2200" b="0" i="1" smtClean="0">
                              <a:latin typeface="Cambria Math" panose="02040503050406030204" pitchFamily="18" charset="0"/>
                              <a:cs typeface="Times New Roman" panose="02020603050405020304" pitchFamily="18" charset="0"/>
                            </a:rPr>
                            <m:t>+</m:t>
                          </m:r>
                          <m:r>
                            <a:rPr lang="en-US" sz="2200" b="0" i="1" smtClean="0">
                              <a:latin typeface="Cambria Math" panose="02040503050406030204" pitchFamily="18" charset="0"/>
                              <a:cs typeface="Times New Roman" panose="02020603050405020304" pitchFamily="18" charset="0"/>
                            </a:rPr>
                            <m:t>𝛿</m:t>
                          </m:r>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0</m:t>
                              </m:r>
                            </m:sub>
                          </m:sSub>
                        </m:num>
                        <m:den>
                          <m:r>
                            <a:rPr lang="en-US" sz="2200" b="0" i="1" smtClean="0">
                              <a:latin typeface="Cambria Math" panose="02040503050406030204" pitchFamily="18" charset="0"/>
                              <a:cs typeface="Times New Roman" panose="02020603050405020304" pitchFamily="18" charset="0"/>
                            </a:rPr>
                            <m:t>1−</m:t>
                          </m:r>
                          <m:sSup>
                            <m:sSupPr>
                              <m:ctrlPr>
                                <a:rPr lang="en-US" sz="2200" b="0" i="1" smtClean="0">
                                  <a:latin typeface="Cambria Math" panose="02040503050406030204" pitchFamily="18" charset="0"/>
                                  <a:cs typeface="Times New Roman" panose="02020603050405020304" pitchFamily="18" charset="0"/>
                                </a:rPr>
                              </m:ctrlPr>
                            </m:sSupPr>
                            <m:e>
                              <m:r>
                                <a:rPr lang="en-US" sz="2200" b="0" i="1" smtClean="0">
                                  <a:latin typeface="Cambria Math" panose="02040503050406030204" pitchFamily="18" charset="0"/>
                                  <a:cs typeface="Times New Roman" panose="02020603050405020304" pitchFamily="18" charset="0"/>
                                </a:rPr>
                                <m:t>𝛿</m:t>
                              </m:r>
                            </m:e>
                            <m:sup>
                              <m:r>
                                <a:rPr lang="en-US" sz="2200" b="0" i="1" smtClean="0">
                                  <a:latin typeface="Cambria Math" panose="02040503050406030204" pitchFamily="18" charset="0"/>
                                  <a:cs typeface="Times New Roman" panose="02020603050405020304" pitchFamily="18" charset="0"/>
                                </a:rPr>
                                <m:t>2</m:t>
                              </m:r>
                            </m:sup>
                          </m:sSup>
                        </m:den>
                      </m:f>
                      <m:r>
                        <a:rPr lang="en-US" sz="2200" b="0" i="1" smtClean="0">
                          <a:latin typeface="Cambria Math" panose="02040503050406030204" pitchFamily="18" charset="0"/>
                          <a:cs typeface="Times New Roman" panose="02020603050405020304" pitchFamily="18" charset="0"/>
                        </a:rPr>
                        <m:t>+</m:t>
                      </m:r>
                      <m:f>
                        <m:fPr>
                          <m:ctrlPr>
                            <a:rPr lang="en-US" sz="2200" b="0" i="1" smtClean="0">
                              <a:latin typeface="Cambria Math" panose="02040503050406030204" pitchFamily="18" charset="0"/>
                              <a:cs typeface="Times New Roman" panose="02020603050405020304" pitchFamily="18" charset="0"/>
                            </a:rPr>
                          </m:ctrlPr>
                        </m:fPr>
                        <m:num>
                          <m:r>
                            <a:rPr lang="en-US" sz="2200" b="0" i="1" smtClean="0">
                              <a:latin typeface="Cambria Math" panose="02040503050406030204" pitchFamily="18" charset="0"/>
                              <a:cs typeface="Times New Roman" panose="02020603050405020304" pitchFamily="18" charset="0"/>
                            </a:rPr>
                            <m:t>𝛾</m:t>
                          </m:r>
                        </m:num>
                        <m:den>
                          <m:r>
                            <a:rPr lang="en-US" sz="2200" b="0" i="1" smtClean="0">
                              <a:latin typeface="Cambria Math" panose="02040503050406030204" pitchFamily="18" charset="0"/>
                              <a:cs typeface="Times New Roman" panose="02020603050405020304" pitchFamily="18" charset="0"/>
                            </a:rPr>
                            <m:t>1−</m:t>
                          </m:r>
                          <m:sSup>
                            <m:sSupPr>
                              <m:ctrlPr>
                                <a:rPr lang="en-US" sz="2200" b="0" i="1" smtClean="0">
                                  <a:latin typeface="Cambria Math" panose="02040503050406030204" pitchFamily="18" charset="0"/>
                                  <a:cs typeface="Times New Roman" panose="02020603050405020304" pitchFamily="18" charset="0"/>
                                </a:rPr>
                              </m:ctrlPr>
                            </m:sSupPr>
                            <m:e>
                              <m:r>
                                <a:rPr lang="en-US" sz="2200" b="0" i="1" smtClean="0">
                                  <a:latin typeface="Cambria Math" panose="02040503050406030204" pitchFamily="18" charset="0"/>
                                  <a:cs typeface="Times New Roman" panose="02020603050405020304" pitchFamily="18" charset="0"/>
                                </a:rPr>
                                <m:t>𝛿</m:t>
                              </m:r>
                            </m:e>
                            <m:sup>
                              <m:r>
                                <a:rPr lang="en-US" sz="2200" b="0" i="1" smtClean="0">
                                  <a:latin typeface="Cambria Math" panose="02040503050406030204" pitchFamily="18" charset="0"/>
                                  <a:cs typeface="Times New Roman" panose="02020603050405020304" pitchFamily="18" charset="0"/>
                                </a:rPr>
                                <m:t>2</m:t>
                              </m:r>
                            </m:sup>
                          </m:sSup>
                        </m:den>
                      </m:f>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𝑃</m:t>
                          </m:r>
                        </m:e>
                        <m:sub>
                          <m:r>
                            <a:rPr lang="en-US" sz="2200" b="0" i="1" smtClean="0">
                              <a:latin typeface="Cambria Math" panose="02040503050406030204" pitchFamily="18" charset="0"/>
                              <a:cs typeface="Times New Roman" panose="02020603050405020304" pitchFamily="18" charset="0"/>
                            </a:rPr>
                            <m:t>1</m:t>
                          </m:r>
                          <m:r>
                            <a:rPr lang="en-US" sz="2200" b="0" i="1" smtClean="0">
                              <a:latin typeface="Cambria Math" panose="02040503050406030204" pitchFamily="18" charset="0"/>
                              <a:cs typeface="Times New Roman" panose="02020603050405020304" pitchFamily="18" charset="0"/>
                            </a:rPr>
                            <m:t>𝑝</m:t>
                          </m:r>
                        </m:sub>
                      </m:sSub>
                      <m:r>
                        <a:rPr lang="en-US" sz="2200" i="1">
                          <a:latin typeface="Cambria Math" panose="02040503050406030204" pitchFamily="18" charset="0"/>
                          <a:cs typeface="Times New Roman" panose="02020603050405020304" pitchFamily="18" charset="0"/>
                        </a:rPr>
                        <m:t>+</m:t>
                      </m:r>
                      <m:f>
                        <m:fPr>
                          <m:ctrlPr>
                            <a:rPr lang="en-US" sz="2200" i="1">
                              <a:latin typeface="Cambria Math" panose="02040503050406030204" pitchFamily="18" charset="0"/>
                              <a:cs typeface="Times New Roman" panose="02020603050405020304" pitchFamily="18" charset="0"/>
                            </a:rPr>
                          </m:ctrlPr>
                        </m:fPr>
                        <m:num>
                          <m:r>
                            <a:rPr lang="en-US" sz="2200" i="1">
                              <a:latin typeface="Cambria Math" panose="02040503050406030204" pitchFamily="18" charset="0"/>
                              <a:cs typeface="Times New Roman" panose="02020603050405020304" pitchFamily="18" charset="0"/>
                            </a:rPr>
                            <m:t>𝛾</m:t>
                          </m:r>
                        </m:num>
                        <m:den>
                          <m:r>
                            <a:rPr lang="en-US" sz="2200" i="1">
                              <a:latin typeface="Cambria Math" panose="02040503050406030204" pitchFamily="18" charset="0"/>
                              <a:cs typeface="Times New Roman" panose="02020603050405020304" pitchFamily="18" charset="0"/>
                            </a:rPr>
                            <m:t>1−</m:t>
                          </m:r>
                          <m:sSup>
                            <m:sSupPr>
                              <m:ctrlPr>
                                <a:rPr lang="en-US" sz="2200" i="1">
                                  <a:latin typeface="Cambria Math" panose="02040503050406030204" pitchFamily="18" charset="0"/>
                                  <a:cs typeface="Times New Roman" panose="02020603050405020304" pitchFamily="18" charset="0"/>
                                </a:rPr>
                              </m:ctrlPr>
                            </m:sSupPr>
                            <m:e>
                              <m:r>
                                <a:rPr lang="en-US" sz="2200" i="1">
                                  <a:latin typeface="Cambria Math" panose="02040503050406030204" pitchFamily="18" charset="0"/>
                                  <a:cs typeface="Times New Roman" panose="02020603050405020304" pitchFamily="18" charset="0"/>
                                </a:rPr>
                                <m:t>𝛿</m:t>
                              </m:r>
                            </m:e>
                            <m:sup>
                              <m:r>
                                <a:rPr lang="en-US" sz="2200" i="1">
                                  <a:latin typeface="Cambria Math" panose="02040503050406030204" pitchFamily="18" charset="0"/>
                                  <a:cs typeface="Times New Roman" panose="02020603050405020304" pitchFamily="18" charset="0"/>
                                </a:rPr>
                                <m:t>2</m:t>
                              </m:r>
                            </m:sup>
                          </m:sSup>
                        </m:den>
                      </m:f>
                      <m:sSub>
                        <m:sSubPr>
                          <m:ctrlPr>
                            <a:rPr lang="en-US" sz="2200" i="1">
                              <a:latin typeface="Cambria Math" panose="02040503050406030204" pitchFamily="18" charset="0"/>
                              <a:cs typeface="Times New Roman" panose="02020603050405020304" pitchFamily="18" charset="0"/>
                            </a:rPr>
                          </m:ctrlPr>
                        </m:sSubPr>
                        <m:e>
                          <m:r>
                            <a:rPr lang="en-US" sz="2200" i="1">
                              <a:latin typeface="Cambria Math" panose="02040503050406030204" pitchFamily="18" charset="0"/>
                              <a:cs typeface="Times New Roman" panose="02020603050405020304" pitchFamily="18" charset="0"/>
                            </a:rPr>
                            <m:t>𝑃</m:t>
                          </m:r>
                        </m:e>
                        <m:sub>
                          <m:r>
                            <a:rPr lang="en-US" sz="2200" b="0" i="1" smtClean="0">
                              <a:latin typeface="Cambria Math" panose="02040503050406030204" pitchFamily="18" charset="0"/>
                              <a:cs typeface="Times New Roman" panose="02020603050405020304" pitchFamily="18" charset="0"/>
                            </a:rPr>
                            <m:t>2</m:t>
                          </m:r>
                          <m:r>
                            <a:rPr lang="en-US" sz="2200" i="1">
                              <a:latin typeface="Cambria Math" panose="02040503050406030204" pitchFamily="18" charset="0"/>
                              <a:cs typeface="Times New Roman" panose="02020603050405020304" pitchFamily="18" charset="0"/>
                            </a:rPr>
                            <m:t>𝑝</m:t>
                          </m:r>
                        </m:sub>
                      </m:sSub>
                      <m:r>
                        <a:rPr lang="en-US" sz="2200" b="0" i="1" smtClean="0">
                          <a:latin typeface="Cambria Math" panose="02040503050406030204" pitchFamily="18" charset="0"/>
                          <a:cs typeface="Times New Roman" panose="02020603050405020304" pitchFamily="18" charset="0"/>
                        </a:rPr>
                        <m:t>+</m:t>
                      </m:r>
                      <m:f>
                        <m:fPr>
                          <m:ctrlPr>
                            <a:rPr lang="en-US" sz="2200" b="0" i="1" smtClean="0">
                              <a:latin typeface="Cambria Math" panose="02040503050406030204" pitchFamily="18" charset="0"/>
                              <a:cs typeface="Times New Roman" panose="02020603050405020304" pitchFamily="18" charset="0"/>
                            </a:rPr>
                          </m:ctrlPr>
                        </m:fPr>
                        <m:num>
                          <m:sSubSup>
                            <m:sSubSupPr>
                              <m:ctrlPr>
                                <a:rPr lang="en-US" sz="2200" b="0" i="1" smtClean="0">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1</m:t>
                              </m:r>
                            </m:sub>
                            <m:sup>
                              <m:r>
                                <a:rPr lang="en-US" sz="2200" b="0" i="1" smtClean="0">
                                  <a:latin typeface="Cambria Math" panose="02040503050406030204" pitchFamily="18" charset="0"/>
                                  <a:cs typeface="Times New Roman" panose="02020603050405020304" pitchFamily="18" charset="0"/>
                                </a:rPr>
                                <m:t>′</m:t>
                              </m:r>
                            </m:sup>
                          </m:sSubSup>
                          <m:r>
                            <a:rPr lang="en-US" sz="2200" b="0" i="1" smtClean="0">
                              <a:latin typeface="Cambria Math" panose="02040503050406030204" pitchFamily="18" charset="0"/>
                              <a:cs typeface="Times New Roman" panose="02020603050405020304" pitchFamily="18" charset="0"/>
                            </a:rPr>
                            <m:t>+</m:t>
                          </m:r>
                          <m:r>
                            <a:rPr lang="en-US" sz="2200" b="0" i="1" smtClean="0">
                              <a:latin typeface="Cambria Math" panose="02040503050406030204" pitchFamily="18" charset="0"/>
                              <a:cs typeface="Times New Roman" panose="02020603050405020304" pitchFamily="18" charset="0"/>
                            </a:rPr>
                            <m:t>𝛿</m:t>
                          </m:r>
                          <m:sSubSup>
                            <m:sSubSupPr>
                              <m:ctrlPr>
                                <a:rPr lang="en-US" sz="2200" b="0" i="1" smtClean="0">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𝛽</m:t>
                              </m:r>
                            </m:e>
                            <m:sub>
                              <m:r>
                                <a:rPr lang="en-US" sz="2200" b="0" i="1" smtClean="0">
                                  <a:latin typeface="Cambria Math" panose="02040503050406030204" pitchFamily="18" charset="0"/>
                                  <a:cs typeface="Times New Roman" panose="02020603050405020304" pitchFamily="18" charset="0"/>
                                </a:rPr>
                                <m:t>2</m:t>
                              </m:r>
                            </m:sub>
                            <m:sup>
                              <m:r>
                                <a:rPr lang="en-US" sz="2200" b="0" i="1" smtClean="0">
                                  <a:latin typeface="Cambria Math" panose="02040503050406030204" pitchFamily="18" charset="0"/>
                                  <a:cs typeface="Times New Roman" panose="02020603050405020304" pitchFamily="18" charset="0"/>
                                </a:rPr>
                                <m:t>′</m:t>
                              </m:r>
                            </m:sup>
                          </m:sSubSup>
                        </m:num>
                        <m:den>
                          <m:r>
                            <a:rPr lang="en-US" sz="2200" b="0" i="1" smtClean="0">
                              <a:latin typeface="Cambria Math" panose="02040503050406030204" pitchFamily="18" charset="0"/>
                              <a:cs typeface="Times New Roman" panose="02020603050405020304" pitchFamily="18" charset="0"/>
                            </a:rPr>
                            <m:t>1−</m:t>
                          </m:r>
                          <m:sSup>
                            <m:sSupPr>
                              <m:ctrlPr>
                                <a:rPr lang="en-US" sz="2200" b="0" i="1" smtClean="0">
                                  <a:latin typeface="Cambria Math" panose="02040503050406030204" pitchFamily="18" charset="0"/>
                                  <a:cs typeface="Times New Roman" panose="02020603050405020304" pitchFamily="18" charset="0"/>
                                </a:rPr>
                              </m:ctrlPr>
                            </m:sSupPr>
                            <m:e>
                              <m:r>
                                <a:rPr lang="en-US" sz="2200" b="0" i="1" smtClean="0">
                                  <a:latin typeface="Cambria Math" panose="02040503050406030204" pitchFamily="18" charset="0"/>
                                  <a:cs typeface="Times New Roman" panose="02020603050405020304" pitchFamily="18" charset="0"/>
                                </a:rPr>
                                <m:t>𝛿</m:t>
                              </m:r>
                            </m:e>
                            <m:sup>
                              <m:r>
                                <a:rPr lang="en-US" sz="2200" b="0" i="1" smtClean="0">
                                  <a:latin typeface="Cambria Math" panose="02040503050406030204" pitchFamily="18" charset="0"/>
                                  <a:cs typeface="Times New Roman" panose="02020603050405020304" pitchFamily="18" charset="0"/>
                                </a:rPr>
                                <m:t>2</m:t>
                              </m:r>
                            </m:sup>
                          </m:sSup>
                        </m:den>
                      </m:f>
                      <m:sSub>
                        <m:sSubPr>
                          <m:ctrlPr>
                            <a:rPr lang="en-US" sz="2200" b="0" i="1" smtClean="0">
                              <a:latin typeface="Cambria Math" panose="02040503050406030204" pitchFamily="18" charset="0"/>
                              <a:cs typeface="Times New Roman" panose="02020603050405020304" pitchFamily="18" charset="0"/>
                            </a:rPr>
                          </m:ctrlPr>
                        </m:sSubPr>
                        <m:e>
                          <m:r>
                            <a:rPr lang="en-US" sz="2200" b="0" i="1" smtClean="0">
                              <a:latin typeface="Cambria Math" panose="02040503050406030204" pitchFamily="18" charset="0"/>
                              <a:cs typeface="Times New Roman" panose="02020603050405020304" pitchFamily="18" charset="0"/>
                            </a:rPr>
                            <m:t>𝑋</m:t>
                          </m:r>
                        </m:e>
                        <m:sub>
                          <m:r>
                            <a:rPr lang="en-US" sz="2200" b="0" i="1" smtClean="0">
                              <a:latin typeface="Cambria Math" panose="02040503050406030204" pitchFamily="18" charset="0"/>
                              <a:cs typeface="Times New Roman" panose="02020603050405020304" pitchFamily="18" charset="0"/>
                            </a:rPr>
                            <m:t>1</m:t>
                          </m:r>
                          <m:r>
                            <a:rPr lang="en-US" sz="2200" b="0" i="1" smtClean="0">
                              <a:latin typeface="Cambria Math" panose="02040503050406030204" pitchFamily="18" charset="0"/>
                              <a:cs typeface="Times New Roman" panose="02020603050405020304" pitchFamily="18" charset="0"/>
                            </a:rPr>
                            <m:t>𝑝</m:t>
                          </m:r>
                        </m:sub>
                      </m:sSub>
                      <m:r>
                        <a:rPr lang="en-US" sz="2200" i="1">
                          <a:latin typeface="Cambria Math" panose="02040503050406030204" pitchFamily="18" charset="0"/>
                          <a:cs typeface="Times New Roman" panose="02020603050405020304" pitchFamily="18" charset="0"/>
                        </a:rPr>
                        <m:t>+</m:t>
                      </m:r>
                      <m:f>
                        <m:fPr>
                          <m:ctrlPr>
                            <a:rPr lang="en-US" sz="2200" i="1">
                              <a:latin typeface="Cambria Math" panose="02040503050406030204" pitchFamily="18" charset="0"/>
                              <a:cs typeface="Times New Roman" panose="02020603050405020304" pitchFamily="18" charset="0"/>
                            </a:rPr>
                          </m:ctrlPr>
                        </m:fPr>
                        <m:num>
                          <m:sSubSup>
                            <m:sSubSupPr>
                              <m:ctrlPr>
                                <a:rPr lang="en-US" sz="2200" i="1">
                                  <a:latin typeface="Cambria Math" panose="02040503050406030204" pitchFamily="18" charset="0"/>
                                  <a:cs typeface="Times New Roman" panose="02020603050405020304" pitchFamily="18" charset="0"/>
                                </a:rPr>
                              </m:ctrlPr>
                            </m:sSubSupPr>
                            <m:e>
                              <m:r>
                                <a:rPr lang="en-US" sz="2200" b="0" i="1" smtClean="0">
                                  <a:latin typeface="Cambria Math" panose="02040503050406030204" pitchFamily="18" charset="0"/>
                                  <a:cs typeface="Times New Roman" panose="02020603050405020304" pitchFamily="18" charset="0"/>
                                </a:rPr>
                                <m:t>𝛿</m:t>
                              </m:r>
                              <m:r>
                                <a:rPr lang="en-US" sz="2200" i="1">
                                  <a:latin typeface="Cambria Math" panose="02040503050406030204" pitchFamily="18" charset="0"/>
                                  <a:cs typeface="Times New Roman" panose="02020603050405020304" pitchFamily="18" charset="0"/>
                                </a:rPr>
                                <m:t>𝛽</m:t>
                              </m:r>
                            </m:e>
                            <m:sub>
                              <m:r>
                                <a:rPr lang="en-US" sz="2200" i="1">
                                  <a:latin typeface="Cambria Math" panose="02040503050406030204" pitchFamily="18" charset="0"/>
                                  <a:cs typeface="Times New Roman" panose="02020603050405020304" pitchFamily="18" charset="0"/>
                                </a:rPr>
                                <m:t>1</m:t>
                              </m:r>
                            </m:sub>
                            <m:sup>
                              <m:r>
                                <a:rPr lang="en-US" sz="2200" i="1">
                                  <a:latin typeface="Cambria Math" panose="02040503050406030204" pitchFamily="18" charset="0"/>
                                  <a:cs typeface="Times New Roman" panose="02020603050405020304" pitchFamily="18" charset="0"/>
                                </a:rPr>
                                <m:t>′</m:t>
                              </m:r>
                            </m:sup>
                          </m:sSubSup>
                          <m:r>
                            <a:rPr lang="en-US" sz="2200" i="1">
                              <a:latin typeface="Cambria Math" panose="02040503050406030204" pitchFamily="18" charset="0"/>
                              <a:cs typeface="Times New Roman" panose="02020603050405020304" pitchFamily="18" charset="0"/>
                            </a:rPr>
                            <m:t>+</m:t>
                          </m:r>
                          <m:sSubSup>
                            <m:sSubSupPr>
                              <m:ctrlPr>
                                <a:rPr lang="en-US" sz="2200" i="1">
                                  <a:latin typeface="Cambria Math" panose="02040503050406030204" pitchFamily="18" charset="0"/>
                                  <a:cs typeface="Times New Roman" panose="02020603050405020304" pitchFamily="18" charset="0"/>
                                </a:rPr>
                              </m:ctrlPr>
                            </m:sSubSupPr>
                            <m:e>
                              <m:r>
                                <a:rPr lang="en-US" sz="2200" i="1">
                                  <a:latin typeface="Cambria Math" panose="02040503050406030204" pitchFamily="18" charset="0"/>
                                  <a:cs typeface="Times New Roman" panose="02020603050405020304" pitchFamily="18" charset="0"/>
                                </a:rPr>
                                <m:t>𝛽</m:t>
                              </m:r>
                            </m:e>
                            <m:sub>
                              <m:r>
                                <a:rPr lang="en-US" sz="2200" i="1">
                                  <a:latin typeface="Cambria Math" panose="02040503050406030204" pitchFamily="18" charset="0"/>
                                  <a:cs typeface="Times New Roman" panose="02020603050405020304" pitchFamily="18" charset="0"/>
                                </a:rPr>
                                <m:t>2</m:t>
                              </m:r>
                            </m:sub>
                            <m:sup>
                              <m:r>
                                <a:rPr lang="en-US" sz="2200" i="1">
                                  <a:latin typeface="Cambria Math" panose="02040503050406030204" pitchFamily="18" charset="0"/>
                                  <a:cs typeface="Times New Roman" panose="02020603050405020304" pitchFamily="18" charset="0"/>
                                </a:rPr>
                                <m:t>′</m:t>
                              </m:r>
                            </m:sup>
                          </m:sSubSup>
                        </m:num>
                        <m:den>
                          <m:r>
                            <a:rPr lang="en-US" sz="2200" i="1">
                              <a:latin typeface="Cambria Math" panose="02040503050406030204" pitchFamily="18" charset="0"/>
                              <a:cs typeface="Times New Roman" panose="02020603050405020304" pitchFamily="18" charset="0"/>
                            </a:rPr>
                            <m:t>1−</m:t>
                          </m:r>
                          <m:sSup>
                            <m:sSupPr>
                              <m:ctrlPr>
                                <a:rPr lang="en-US" sz="2200" i="1">
                                  <a:latin typeface="Cambria Math" panose="02040503050406030204" pitchFamily="18" charset="0"/>
                                  <a:cs typeface="Times New Roman" panose="02020603050405020304" pitchFamily="18" charset="0"/>
                                </a:rPr>
                              </m:ctrlPr>
                            </m:sSupPr>
                            <m:e>
                              <m:r>
                                <a:rPr lang="en-US" sz="2200" i="1">
                                  <a:latin typeface="Cambria Math" panose="02040503050406030204" pitchFamily="18" charset="0"/>
                                  <a:cs typeface="Times New Roman" panose="02020603050405020304" pitchFamily="18" charset="0"/>
                                </a:rPr>
                                <m:t>𝛿</m:t>
                              </m:r>
                            </m:e>
                            <m:sup>
                              <m:r>
                                <a:rPr lang="en-US" sz="2200" i="1">
                                  <a:latin typeface="Cambria Math" panose="02040503050406030204" pitchFamily="18" charset="0"/>
                                  <a:cs typeface="Times New Roman" panose="02020603050405020304" pitchFamily="18" charset="0"/>
                                </a:rPr>
                                <m:t>2</m:t>
                              </m:r>
                            </m:sup>
                          </m:sSup>
                        </m:den>
                      </m:f>
                      <m:sSub>
                        <m:sSubPr>
                          <m:ctrlPr>
                            <a:rPr lang="en-US" sz="2200" i="1">
                              <a:latin typeface="Cambria Math" panose="02040503050406030204" pitchFamily="18" charset="0"/>
                              <a:cs typeface="Times New Roman" panose="02020603050405020304" pitchFamily="18" charset="0"/>
                            </a:rPr>
                          </m:ctrlPr>
                        </m:sSubPr>
                        <m:e>
                          <m:r>
                            <a:rPr lang="en-US" sz="2200" i="1">
                              <a:latin typeface="Cambria Math" panose="02040503050406030204" pitchFamily="18" charset="0"/>
                              <a:cs typeface="Times New Roman" panose="02020603050405020304" pitchFamily="18" charset="0"/>
                            </a:rPr>
                            <m:t>𝑋</m:t>
                          </m:r>
                        </m:e>
                        <m:sub>
                          <m:r>
                            <a:rPr lang="en-US" sz="2200" b="0" i="1" smtClean="0">
                              <a:latin typeface="Cambria Math" panose="02040503050406030204" pitchFamily="18" charset="0"/>
                              <a:cs typeface="Times New Roman" panose="02020603050405020304" pitchFamily="18" charset="0"/>
                            </a:rPr>
                            <m:t>2</m:t>
                          </m:r>
                          <m:r>
                            <a:rPr lang="en-US" sz="2200" i="1">
                              <a:latin typeface="Cambria Math" panose="02040503050406030204" pitchFamily="18" charset="0"/>
                              <a:cs typeface="Times New Roman" panose="02020603050405020304" pitchFamily="18" charset="0"/>
                            </a:rPr>
                            <m:t>𝑝</m:t>
                          </m:r>
                        </m:sub>
                      </m:sSub>
                      <m:r>
                        <a:rPr lang="en-US" sz="2200" b="0" i="1" smtClean="0">
                          <a:latin typeface="Cambria Math" panose="02040503050406030204" pitchFamily="18" charset="0"/>
                          <a:cs typeface="Times New Roman" panose="02020603050405020304" pitchFamily="18" charset="0"/>
                        </a:rPr>
                        <m:t>+</m:t>
                      </m:r>
                      <m:acc>
                        <m:accPr>
                          <m:chr m:val="̃"/>
                          <m:ctrlPr>
                            <a:rPr lang="en-US" sz="2200" b="0" i="1" smtClean="0">
                              <a:latin typeface="Cambria Math" panose="02040503050406030204" pitchFamily="18" charset="0"/>
                              <a:cs typeface="Times New Roman" panose="02020603050405020304" pitchFamily="18" charset="0"/>
                            </a:rPr>
                          </m:ctrlPr>
                        </m:accPr>
                        <m:e>
                          <m:r>
                            <a:rPr lang="en-US" sz="2200" b="0" i="1" smtClean="0">
                              <a:latin typeface="Cambria Math" panose="02040503050406030204" pitchFamily="18" charset="0"/>
                              <a:cs typeface="Times New Roman" panose="02020603050405020304" pitchFamily="18" charset="0"/>
                            </a:rPr>
                            <m:t>𝜀</m:t>
                          </m:r>
                        </m:e>
                      </m:acc>
                    </m:oMath>
                  </m:oMathPara>
                </a14:m>
                <a:endParaRPr lang="en-US" sz="2200" b="0" dirty="0">
                  <a:cs typeface="Times New Roman" panose="02020603050405020304" pitchFamily="18" charset="0"/>
                </a:endParaRPr>
              </a:p>
              <a:p>
                <a:r>
                  <a:rPr lang="en-US" sz="2400" dirty="0">
                    <a:cs typeface="Times New Roman" panose="02020603050405020304" pitchFamily="18" charset="0"/>
                  </a:rPr>
                  <a:t>Estimated using </a:t>
                </a:r>
                <a:r>
                  <a:rPr lang="en-US" sz="2400" b="1" dirty="0">
                    <a:cs typeface="Times New Roman" panose="02020603050405020304" pitchFamily="18" charset="0"/>
                  </a:rPr>
                  <a:t>maximum likelihood </a:t>
                </a:r>
                <a:r>
                  <a:rPr lang="en-US" sz="2400" dirty="0">
                    <a:cs typeface="Times New Roman" panose="02020603050405020304" pitchFamily="18" charset="0"/>
                  </a:rPr>
                  <a:t>and assuming </a:t>
                </a:r>
                <a:r>
                  <a:rPr lang="en-US" sz="2400" b="1" dirty="0">
                    <a:cs typeface="Times New Roman" panose="02020603050405020304" pitchFamily="18" charset="0"/>
                  </a:rPr>
                  <a:t>joint </a:t>
                </a:r>
                <a:r>
                  <a:rPr lang="en-US" sz="2400" b="1" dirty="0" err="1">
                    <a:cs typeface="Times New Roman" panose="02020603050405020304" pitchFamily="18" charset="0"/>
                  </a:rPr>
                  <a:t>probit</a:t>
                </a:r>
                <a:r>
                  <a:rPr lang="en-US" sz="2400" b="1" dirty="0">
                    <a:cs typeface="Times New Roman" panose="02020603050405020304" pitchFamily="18" charset="0"/>
                  </a:rPr>
                  <a:t> distribution</a:t>
                </a:r>
              </a:p>
              <a:p>
                <a:pPr lvl="1"/>
                <a:r>
                  <a:rPr lang="en-US" sz="2400" dirty="0">
                    <a:cs typeface="Times New Roman" panose="02020603050405020304" pitchFamily="18" charset="0"/>
                  </a:rPr>
                  <a:t>Note that SEs are clustered at the pair level</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10287000" cy="5141388"/>
              </a:xfrm>
              <a:blipFill>
                <a:blip r:embed="rId3"/>
                <a:stretch>
                  <a:fillRect l="-415" t="-1305"/>
                </a:stretch>
              </a:blipFill>
            </p:spPr>
            <p:txBody>
              <a:bodyPr/>
              <a:lstStyle/>
              <a:p>
                <a:r>
                  <a:rPr lang="en-US">
                    <a:noFill/>
                  </a:rPr>
                  <a:t> </a:t>
                </a:r>
              </a:p>
            </p:txBody>
          </p:sp>
        </mc:Fallback>
      </mc:AlternateContent>
    </p:spTree>
    <p:extLst>
      <p:ext uri="{BB962C8B-B14F-4D97-AF65-F5344CB8AC3E}">
        <p14:creationId xmlns:p14="http://schemas.microsoft.com/office/powerpoint/2010/main" val="175214343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Research results: peer effects are strong! </a:t>
            </a:r>
            <a:endParaRPr lang="en-US" sz="36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C221EFF4-0EC5-87A1-DB45-0BD6F86EC6C6}"/>
              </a:ext>
            </a:extLst>
          </p:cNvPr>
          <p:cNvPicPr>
            <a:picLocks noGrp="1" noChangeAspect="1"/>
          </p:cNvPicPr>
          <p:nvPr>
            <p:ph idx="1"/>
          </p:nvPr>
        </p:nvPicPr>
        <p:blipFill>
          <a:blip r:embed="rId3"/>
          <a:stretch>
            <a:fillRect/>
          </a:stretch>
        </p:blipFill>
        <p:spPr>
          <a:xfrm>
            <a:off x="381000" y="1143000"/>
            <a:ext cx="10432637" cy="1752600"/>
          </a:xfrm>
        </p:spPr>
      </p:pic>
      <p:pic>
        <p:nvPicPr>
          <p:cNvPr id="7" name="Picture 6">
            <a:extLst>
              <a:ext uri="{FF2B5EF4-FFF2-40B4-BE49-F238E27FC236}">
                <a16:creationId xmlns:a16="http://schemas.microsoft.com/office/drawing/2014/main" id="{BCA575DE-E242-8009-78F1-1F1FA26CA2CF}"/>
              </a:ext>
            </a:extLst>
          </p:cNvPr>
          <p:cNvPicPr>
            <a:picLocks noChangeAspect="1"/>
          </p:cNvPicPr>
          <p:nvPr/>
        </p:nvPicPr>
        <p:blipFill>
          <a:blip r:embed="rId4"/>
          <a:stretch>
            <a:fillRect/>
          </a:stretch>
        </p:blipFill>
        <p:spPr>
          <a:xfrm>
            <a:off x="406078" y="2979704"/>
            <a:ext cx="10433304" cy="982696"/>
          </a:xfrm>
          <a:prstGeom prst="rect">
            <a:avLst/>
          </a:prstGeom>
        </p:spPr>
      </p:pic>
      <p:sp>
        <p:nvSpPr>
          <p:cNvPr id="8" name="TextBox 7">
            <a:extLst>
              <a:ext uri="{FF2B5EF4-FFF2-40B4-BE49-F238E27FC236}">
                <a16:creationId xmlns:a16="http://schemas.microsoft.com/office/drawing/2014/main" id="{7A9A553D-6308-71D8-A43F-10FE954FF1B4}"/>
              </a:ext>
            </a:extLst>
          </p:cNvPr>
          <p:cNvSpPr txBox="1"/>
          <p:nvPr/>
        </p:nvSpPr>
        <p:spPr>
          <a:xfrm>
            <a:off x="381000" y="4572000"/>
            <a:ext cx="10210800" cy="769441"/>
          </a:xfrm>
          <a:prstGeom prst="rect">
            <a:avLst/>
          </a:prstGeom>
          <a:noFill/>
        </p:spPr>
        <p:txBody>
          <a:bodyPr wrap="square" rtlCol="0">
            <a:spAutoFit/>
          </a:bodyPr>
          <a:lstStyle/>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What can we say from this table? </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What can’t we say? </a:t>
            </a:r>
          </a:p>
        </p:txBody>
      </p:sp>
    </p:spTree>
    <p:extLst>
      <p:ext uri="{BB962C8B-B14F-4D97-AF65-F5344CB8AC3E}">
        <p14:creationId xmlns:p14="http://schemas.microsoft.com/office/powerpoint/2010/main" val="236129605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Research results: peer effects are strong! </a:t>
            </a:r>
            <a:endParaRPr lang="en-US" sz="36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C221EFF4-0EC5-87A1-DB45-0BD6F86EC6C6}"/>
              </a:ext>
            </a:extLst>
          </p:cNvPr>
          <p:cNvPicPr>
            <a:picLocks noGrp="1" noChangeAspect="1"/>
          </p:cNvPicPr>
          <p:nvPr>
            <p:ph idx="1"/>
          </p:nvPr>
        </p:nvPicPr>
        <p:blipFill>
          <a:blip r:embed="rId3"/>
          <a:stretch>
            <a:fillRect/>
          </a:stretch>
        </p:blipFill>
        <p:spPr>
          <a:xfrm>
            <a:off x="381000" y="1143000"/>
            <a:ext cx="10432637" cy="1752600"/>
          </a:xfrm>
        </p:spPr>
      </p:pic>
      <p:pic>
        <p:nvPicPr>
          <p:cNvPr id="7" name="Picture 6">
            <a:extLst>
              <a:ext uri="{FF2B5EF4-FFF2-40B4-BE49-F238E27FC236}">
                <a16:creationId xmlns:a16="http://schemas.microsoft.com/office/drawing/2014/main" id="{BCA575DE-E242-8009-78F1-1F1FA26CA2CF}"/>
              </a:ext>
            </a:extLst>
          </p:cNvPr>
          <p:cNvPicPr>
            <a:picLocks noChangeAspect="1"/>
          </p:cNvPicPr>
          <p:nvPr/>
        </p:nvPicPr>
        <p:blipFill>
          <a:blip r:embed="rId4"/>
          <a:stretch>
            <a:fillRect/>
          </a:stretch>
        </p:blipFill>
        <p:spPr>
          <a:xfrm>
            <a:off x="406078" y="2979704"/>
            <a:ext cx="10433304" cy="982696"/>
          </a:xfrm>
          <a:prstGeom prst="rect">
            <a:avLst/>
          </a:prstGeom>
        </p:spPr>
      </p:pic>
      <p:sp>
        <p:nvSpPr>
          <p:cNvPr id="8" name="TextBox 7">
            <a:extLst>
              <a:ext uri="{FF2B5EF4-FFF2-40B4-BE49-F238E27FC236}">
                <a16:creationId xmlns:a16="http://schemas.microsoft.com/office/drawing/2014/main" id="{7A9A553D-6308-71D8-A43F-10FE954FF1B4}"/>
              </a:ext>
            </a:extLst>
          </p:cNvPr>
          <p:cNvSpPr txBox="1"/>
          <p:nvPr/>
        </p:nvSpPr>
        <p:spPr>
          <a:xfrm>
            <a:off x="381000" y="4572000"/>
            <a:ext cx="10210800" cy="769441"/>
          </a:xfrm>
          <a:prstGeom prst="rect">
            <a:avLst/>
          </a:prstGeom>
          <a:noFill/>
        </p:spPr>
        <p:txBody>
          <a:bodyPr wrap="square" rtlCol="0">
            <a:spAutoFit/>
          </a:bodyPr>
          <a:lstStyle/>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What can we say from this table? </a:t>
            </a: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What can’t we say? </a:t>
            </a:r>
          </a:p>
        </p:txBody>
      </p:sp>
      <p:sp>
        <p:nvSpPr>
          <p:cNvPr id="3" name="TextBox 2">
            <a:extLst>
              <a:ext uri="{FF2B5EF4-FFF2-40B4-BE49-F238E27FC236}">
                <a16:creationId xmlns:a16="http://schemas.microsoft.com/office/drawing/2014/main" id="{782E097D-27F6-B999-74FC-814893FE6BBA}"/>
              </a:ext>
            </a:extLst>
          </p:cNvPr>
          <p:cNvSpPr txBox="1"/>
          <p:nvPr/>
        </p:nvSpPr>
        <p:spPr>
          <a:xfrm>
            <a:off x="2362200" y="2185438"/>
            <a:ext cx="2209259" cy="338554"/>
          </a:xfrm>
          <a:prstGeom prst="rect">
            <a:avLst/>
          </a:prstGeom>
          <a:solidFill>
            <a:schemeClr val="accent2"/>
          </a:solidFill>
        </p:spPr>
        <p:txBody>
          <a:bodyPr wrap="none" rtlCol="0">
            <a:spAutoFit/>
          </a:bodyPr>
          <a:lstStyle/>
          <a:p>
            <a:r>
              <a:rPr lang="en-US" sz="1600" dirty="0">
                <a:solidFill>
                  <a:schemeClr val="bg1"/>
                </a:solidFill>
              </a:rPr>
              <a:t>8.7 percentage points</a:t>
            </a:r>
          </a:p>
        </p:txBody>
      </p:sp>
      <p:sp>
        <p:nvSpPr>
          <p:cNvPr id="4" name="TextBox 3">
            <a:extLst>
              <a:ext uri="{FF2B5EF4-FFF2-40B4-BE49-F238E27FC236}">
                <a16:creationId xmlns:a16="http://schemas.microsoft.com/office/drawing/2014/main" id="{52D5A10E-2165-B8A6-3C0A-0F63828A6CCA}"/>
              </a:ext>
            </a:extLst>
          </p:cNvPr>
          <p:cNvSpPr txBox="1"/>
          <p:nvPr/>
        </p:nvSpPr>
        <p:spPr>
          <a:xfrm>
            <a:off x="2286000" y="2743200"/>
            <a:ext cx="2731838" cy="584775"/>
          </a:xfrm>
          <a:prstGeom prst="rect">
            <a:avLst/>
          </a:prstGeom>
          <a:solidFill>
            <a:schemeClr val="accent3">
              <a:lumMod val="75000"/>
            </a:schemeClr>
          </a:solidFill>
        </p:spPr>
        <p:txBody>
          <a:bodyPr wrap="none" rtlCol="0">
            <a:spAutoFit/>
          </a:bodyPr>
          <a:lstStyle/>
          <a:p>
            <a:r>
              <a:rPr lang="en-US" sz="1600" dirty="0">
                <a:solidFill>
                  <a:schemeClr val="bg1"/>
                </a:solidFill>
              </a:rPr>
              <a:t>Already a marginal effect!</a:t>
            </a:r>
          </a:p>
          <a:p>
            <a:r>
              <a:rPr lang="en-US" sz="1600" dirty="0">
                <a:solidFill>
                  <a:schemeClr val="bg1"/>
                </a:solidFill>
              </a:rPr>
              <a:t>46% (not percentage point)</a:t>
            </a:r>
          </a:p>
        </p:txBody>
      </p:sp>
    </p:spTree>
    <p:extLst>
      <p:ext uri="{BB962C8B-B14F-4D97-AF65-F5344CB8AC3E}">
        <p14:creationId xmlns:p14="http://schemas.microsoft.com/office/powerpoint/2010/main" val="410625007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Other research results</a:t>
            </a: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Is this just a blood type issue (e.g., was the call informative to both)? </a:t>
            </a:r>
            <a:r>
              <a:rPr lang="en-US" sz="2400" b="1" dirty="0">
                <a:cs typeface="Times New Roman" panose="02020603050405020304" pitchFamily="18" charset="0"/>
              </a:rPr>
              <a:t>No!</a:t>
            </a:r>
            <a:endParaRPr lang="en-US" sz="2400" dirty="0">
              <a:cs typeface="Times New Roman" panose="02020603050405020304" pitchFamily="18" charset="0"/>
            </a:endParaRPr>
          </a:p>
          <a:p>
            <a:r>
              <a:rPr lang="en-US" sz="2400" dirty="0">
                <a:cs typeface="Times New Roman" panose="02020603050405020304" pitchFamily="18" charset="0"/>
              </a:rPr>
              <a:t>Was it simply a reminder? </a:t>
            </a:r>
            <a:r>
              <a:rPr lang="en-US" sz="2400" b="1" dirty="0">
                <a:cs typeface="Times New Roman" panose="02020603050405020304" pitchFamily="18" charset="0"/>
              </a:rPr>
              <a:t>No! </a:t>
            </a:r>
          </a:p>
          <a:p>
            <a:r>
              <a:rPr lang="en-US" sz="2400" b="1" dirty="0">
                <a:cs typeface="Times New Roman" panose="02020603050405020304" pitchFamily="18" charset="0"/>
              </a:rPr>
              <a:t>Estimate the social multiplier: 70-85% (big policy implications!) </a:t>
            </a:r>
          </a:p>
          <a:p>
            <a:r>
              <a:rPr lang="en-US" sz="2400" dirty="0">
                <a:cs typeface="Times New Roman" panose="02020603050405020304" pitchFamily="18" charset="0"/>
              </a:rPr>
              <a:t>Are people just giving blood sooner (intertemporal substitution)? </a:t>
            </a:r>
            <a:r>
              <a:rPr lang="en-US" sz="2400" b="1" dirty="0">
                <a:cs typeface="Times New Roman" panose="02020603050405020304" pitchFamily="18" charset="0"/>
              </a:rPr>
              <a:t>No!</a:t>
            </a:r>
            <a:endParaRPr lang="en-US" sz="2400" dirty="0">
              <a:cs typeface="Times New Roman" panose="02020603050405020304" pitchFamily="18" charset="0"/>
            </a:endParaRPr>
          </a:p>
          <a:p>
            <a:endParaRPr lang="en-US" sz="2400" dirty="0">
              <a:cs typeface="Times New Roman" panose="02020603050405020304" pitchFamily="18" charset="0"/>
            </a:endParaRPr>
          </a:p>
          <a:p>
            <a:pPr marL="0" indent="0">
              <a:buNone/>
            </a:pPr>
            <a:r>
              <a:rPr lang="en-US" sz="2400" b="1" u="sng" dirty="0">
                <a:solidFill>
                  <a:schemeClr val="accent2">
                    <a:lumMod val="75000"/>
                  </a:schemeClr>
                </a:solidFill>
                <a:cs typeface="Times New Roman" panose="02020603050405020304" pitchFamily="18" charset="0"/>
              </a:rPr>
              <a:t>What issues did you see with the paper? </a:t>
            </a:r>
          </a:p>
        </p:txBody>
      </p:sp>
    </p:spTree>
    <p:extLst>
      <p:ext uri="{BB962C8B-B14F-4D97-AF65-F5344CB8AC3E}">
        <p14:creationId xmlns:p14="http://schemas.microsoft.com/office/powerpoint/2010/main" val="350069980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Conclusion: Limited Dependent Variables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r>
              <a:rPr lang="en-US" sz="2400" b="1" dirty="0">
                <a:solidFill>
                  <a:schemeClr val="accent2">
                    <a:lumMod val="75000"/>
                  </a:schemeClr>
                </a:solidFill>
                <a:cs typeface="Times New Roman" panose="02020603050405020304" pitchFamily="18" charset="0"/>
              </a:rPr>
              <a:t>Binary</a:t>
            </a:r>
            <a:r>
              <a:rPr lang="en-US" sz="2400" dirty="0">
                <a:cs typeface="Times New Roman" panose="02020603050405020304" pitchFamily="18" charset="0"/>
              </a:rPr>
              <a:t>: LPM, Logit, </a:t>
            </a:r>
            <a:r>
              <a:rPr lang="en-US" sz="2400" dirty="0" err="1">
                <a:cs typeface="Times New Roman" panose="02020603050405020304" pitchFamily="18" charset="0"/>
              </a:rPr>
              <a:t>Probit</a:t>
            </a:r>
            <a:endParaRPr lang="en-US" sz="2400" dirty="0">
              <a:cs typeface="Times New Roman" panose="02020603050405020304" pitchFamily="18" charset="0"/>
            </a:endParaRPr>
          </a:p>
          <a:p>
            <a:r>
              <a:rPr lang="en-US" sz="2400" b="1" dirty="0">
                <a:solidFill>
                  <a:schemeClr val="accent2">
                    <a:lumMod val="75000"/>
                  </a:schemeClr>
                </a:solidFill>
                <a:cs typeface="Times New Roman" panose="02020603050405020304" pitchFamily="18" charset="0"/>
              </a:rPr>
              <a:t>Ordered</a:t>
            </a:r>
            <a:r>
              <a:rPr lang="en-US" sz="2400" dirty="0">
                <a:cs typeface="Times New Roman" panose="02020603050405020304" pitchFamily="18" charset="0"/>
              </a:rPr>
              <a:t>: Poisson, Negative Binomial, possibly truncated</a:t>
            </a:r>
          </a:p>
          <a:p>
            <a:r>
              <a:rPr lang="en-US" sz="2400" b="1" dirty="0">
                <a:solidFill>
                  <a:schemeClr val="accent2">
                    <a:lumMod val="75000"/>
                  </a:schemeClr>
                </a:solidFill>
                <a:cs typeface="Times New Roman" panose="02020603050405020304" pitchFamily="18" charset="0"/>
              </a:rPr>
              <a:t>Selection</a:t>
            </a:r>
            <a:r>
              <a:rPr lang="en-US" sz="2400" dirty="0">
                <a:cs typeface="Times New Roman" panose="02020603050405020304" pitchFamily="18" charset="0"/>
              </a:rPr>
              <a:t>: Hurdle Models, </a:t>
            </a:r>
            <a:r>
              <a:rPr lang="en-US" sz="2400" dirty="0" err="1">
                <a:cs typeface="Times New Roman" panose="02020603050405020304" pitchFamily="18" charset="0"/>
              </a:rPr>
              <a:t>Heckit</a:t>
            </a:r>
            <a:endParaRPr lang="en-US" sz="2400" dirty="0">
              <a:cs typeface="Times New Roman" panose="02020603050405020304" pitchFamily="18" charset="0"/>
            </a:endParaRPr>
          </a:p>
          <a:p>
            <a:r>
              <a:rPr lang="en-US" sz="2400" b="1" dirty="0">
                <a:solidFill>
                  <a:schemeClr val="accent2">
                    <a:lumMod val="75000"/>
                  </a:schemeClr>
                </a:solidFill>
                <a:cs typeface="Times New Roman" panose="02020603050405020304" pitchFamily="18" charset="0"/>
              </a:rPr>
              <a:t>Choices</a:t>
            </a:r>
            <a:r>
              <a:rPr lang="en-US" sz="2400" dirty="0">
                <a:cs typeface="Times New Roman" panose="02020603050405020304" pitchFamily="18" charset="0"/>
              </a:rPr>
              <a:t>: Multinomial Logit models</a:t>
            </a:r>
          </a:p>
        </p:txBody>
      </p:sp>
    </p:spTree>
    <p:extLst>
      <p:ext uri="{BB962C8B-B14F-4D97-AF65-F5344CB8AC3E}">
        <p14:creationId xmlns:p14="http://schemas.microsoft.com/office/powerpoint/2010/main" val="128567032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261872" y="758952"/>
            <a:ext cx="10549128" cy="4041648"/>
          </a:xfrm>
        </p:spPr>
        <p:txBody>
          <a:bodyPr/>
          <a:lstStyle/>
          <a:p>
            <a:r>
              <a:rPr lang="en-US" dirty="0"/>
              <a:t>Count Data: </a:t>
            </a:r>
            <a:br>
              <a:rPr lang="en-US" dirty="0"/>
            </a:br>
            <a:r>
              <a:rPr lang="en-US" dirty="0"/>
              <a:t>Poisson Regression</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4459329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Examples of Count Data in Health Policy</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Number of visits</a:t>
                </a:r>
              </a:p>
              <a:p>
                <a:r>
                  <a:rPr lang="en-US" sz="2400" dirty="0">
                    <a:cs typeface="Times New Roman" panose="02020603050405020304" pitchFamily="18" charset="0"/>
                  </a:rPr>
                  <a:t>Number of prescriptions filled</a:t>
                </a:r>
              </a:p>
              <a:p>
                <a:r>
                  <a:rPr lang="en-US" sz="2400" dirty="0">
                    <a:cs typeface="Times New Roman" panose="02020603050405020304" pitchFamily="18" charset="0"/>
                  </a:rPr>
                  <a:t>Number of hospital mergers, closures, etc. </a:t>
                </a:r>
              </a:p>
              <a:p>
                <a:pPr marL="0" indent="0">
                  <a:buNone/>
                </a:pPr>
                <a:r>
                  <a:rPr lang="en-US" sz="2800" b="1" dirty="0">
                    <a:solidFill>
                      <a:schemeClr val="accent2">
                        <a:lumMod val="75000"/>
                      </a:schemeClr>
                    </a:solidFill>
                    <a:cs typeface="Times New Roman" panose="02020603050405020304" pitchFamily="18" charset="0"/>
                  </a:rPr>
                  <a:t>There’s a lot</a:t>
                </a:r>
              </a:p>
              <a:p>
                <a:r>
                  <a:rPr lang="en-US" sz="2400" dirty="0">
                    <a:cs typeface="Times New Roman" panose="02020603050405020304" pitchFamily="18" charset="0"/>
                  </a:rPr>
                  <a:t>Same problems exist for count data as for </a:t>
                </a:r>
                <a:r>
                  <a:rPr lang="en-US" sz="2400" i="1" dirty="0">
                    <a:cs typeface="Times New Roman" panose="02020603050405020304" pitchFamily="18" charset="0"/>
                  </a:rPr>
                  <a:t>linear probability models</a:t>
                </a:r>
              </a:p>
              <a:p>
                <a:r>
                  <a:rPr lang="en-US" sz="2400" dirty="0">
                    <a:cs typeface="Times New Roman" panose="02020603050405020304" pitchFamily="18" charset="0"/>
                  </a:rPr>
                  <a:t>Can’t assume </a:t>
                </a:r>
                <a14:m>
                  <m:oMath xmlns:m="http://schemas.openxmlformats.org/officeDocument/2006/math">
                    <m:r>
                      <a:rPr lang="en-CA" sz="2400" b="0" i="1" smtClean="0">
                        <a:latin typeface="Cambria Math" panose="02040503050406030204" pitchFamily="18" charset="0"/>
                        <a:cs typeface="Times New Roman" panose="02020603050405020304" pitchFamily="18" charset="0"/>
                      </a:rPr>
                      <m:t>𝔼</m:t>
                    </m:r>
                    <m:d>
                      <m:dPr>
                        <m:begChr m:val="["/>
                        <m:endChr m:val="]"/>
                        <m:ctrlPr>
                          <a:rPr lang="en-CA" sz="2400" b="0" i="1" smtClean="0">
                            <a:latin typeface="Cambria Math" panose="02040503050406030204" pitchFamily="18" charset="0"/>
                            <a:cs typeface="Times New Roman" panose="02020603050405020304" pitchFamily="18" charset="0"/>
                          </a:rPr>
                        </m:ctrlPr>
                      </m:dPr>
                      <m:e>
                        <m:r>
                          <a:rPr lang="en-CA" sz="2400" b="0" i="1" smtClean="0">
                            <a:latin typeface="Cambria Math" panose="02040503050406030204" pitchFamily="18" charset="0"/>
                            <a:cs typeface="Times New Roman" panose="02020603050405020304" pitchFamily="18" charset="0"/>
                          </a:rPr>
                          <m:t>𝑦</m:t>
                        </m:r>
                      </m:e>
                      <m:e>
                        <m:r>
                          <a:rPr lang="en-CA" sz="2400" b="0" i="1" smtClean="0">
                            <a:latin typeface="Cambria Math" panose="02040503050406030204" pitchFamily="18" charset="0"/>
                            <a:cs typeface="Times New Roman" panose="02020603050405020304" pitchFamily="18" charset="0"/>
                          </a:rPr>
                          <m:t>𝑥</m:t>
                        </m:r>
                      </m:e>
                    </m:d>
                  </m:oMath>
                </a14:m>
                <a:r>
                  <a:rPr lang="en-US" sz="2400" dirty="0">
                    <a:cs typeface="Times New Roman" panose="02020603050405020304" pitchFamily="18" charset="0"/>
                  </a:rPr>
                  <a:t> is constant/linear over a wide range</a:t>
                </a:r>
              </a:p>
              <a:p>
                <a:pPr marL="0" indent="0">
                  <a:buNone/>
                </a:pPr>
                <a:endParaRPr lang="en-US" sz="2400" b="1" dirty="0">
                  <a:solidFill>
                    <a:schemeClr val="accent2">
                      <a:lumMod val="75000"/>
                    </a:schemeClr>
                  </a:solidFill>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1221" t="-1305"/>
                </a:stretch>
              </a:blipFill>
            </p:spPr>
            <p:txBody>
              <a:bodyPr/>
              <a:lstStyle/>
              <a:p>
                <a:r>
                  <a:rPr lang="en-CA">
                    <a:noFill/>
                  </a:rPr>
                  <a:t> </a:t>
                </a:r>
              </a:p>
            </p:txBody>
          </p:sp>
        </mc:Fallback>
      </mc:AlternateContent>
    </p:spTree>
    <p:extLst>
      <p:ext uri="{BB962C8B-B14F-4D97-AF65-F5344CB8AC3E}">
        <p14:creationId xmlns:p14="http://schemas.microsoft.com/office/powerpoint/2010/main" val="411687945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Examples of Count Data in Health Policy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Number of visits</a:t>
            </a:r>
          </a:p>
          <a:p>
            <a:r>
              <a:rPr lang="en-US" sz="2400" dirty="0">
                <a:cs typeface="Times New Roman" panose="02020603050405020304" pitchFamily="18" charset="0"/>
              </a:rPr>
              <a:t>Number of prescriptions filled</a:t>
            </a:r>
          </a:p>
          <a:p>
            <a:r>
              <a:rPr lang="en-US" sz="2400" dirty="0">
                <a:cs typeface="Times New Roman" panose="02020603050405020304" pitchFamily="18" charset="0"/>
              </a:rPr>
              <a:t>Number of hospital mergers, closures, etc. </a:t>
            </a:r>
          </a:p>
          <a:p>
            <a:pPr marL="0" indent="0">
              <a:buNone/>
            </a:pPr>
            <a:r>
              <a:rPr lang="en-US" sz="3200" b="1" dirty="0">
                <a:solidFill>
                  <a:schemeClr val="accent2">
                    <a:lumMod val="75000"/>
                  </a:schemeClr>
                </a:solidFill>
                <a:cs typeface="Times New Roman" panose="02020603050405020304" pitchFamily="18" charset="0"/>
              </a:rPr>
              <a:t>There’s a lot</a:t>
            </a:r>
          </a:p>
          <a:p>
            <a:r>
              <a:rPr lang="en-US" sz="2400" dirty="0">
                <a:cs typeface="Times New Roman" panose="02020603050405020304" pitchFamily="18" charset="0"/>
              </a:rPr>
              <a:t>When an event is relatively rare (counts are small), data tend to be far from </a:t>
            </a:r>
            <a:r>
              <a:rPr lang="en-US" sz="2400" u="sng" dirty="0">
                <a:cs typeface="Times New Roman" panose="02020603050405020304" pitchFamily="18" charset="0"/>
              </a:rPr>
              <a:t>normally distributed</a:t>
            </a:r>
          </a:p>
          <a:p>
            <a:pPr lvl="1"/>
            <a:r>
              <a:rPr lang="en-US" sz="2400" dirty="0">
                <a:cs typeface="Times New Roman" panose="02020603050405020304" pitchFamily="18" charset="0"/>
              </a:rPr>
              <a:t>We use </a:t>
            </a:r>
            <a:r>
              <a:rPr lang="en-US" sz="2400" b="1" dirty="0">
                <a:solidFill>
                  <a:schemeClr val="accent2">
                    <a:lumMod val="75000"/>
                  </a:schemeClr>
                </a:solidFill>
                <a:cs typeface="Times New Roman" panose="02020603050405020304" pitchFamily="18" charset="0"/>
              </a:rPr>
              <a:t>Poisson regression </a:t>
            </a:r>
            <a:r>
              <a:rPr lang="en-US" sz="2400" dirty="0">
                <a:cs typeface="Times New Roman" panose="02020603050405020304" pitchFamily="18" charset="0"/>
              </a:rPr>
              <a:t>to handle this</a:t>
            </a:r>
          </a:p>
        </p:txBody>
      </p:sp>
    </p:spTree>
    <p:extLst>
      <p:ext uri="{BB962C8B-B14F-4D97-AF65-F5344CB8AC3E}">
        <p14:creationId xmlns:p14="http://schemas.microsoft.com/office/powerpoint/2010/main" val="353384217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Examples of Count Data: Job Changes</a:t>
            </a:r>
            <a:endParaRPr lang="en-US" sz="36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351B982D-3109-50AC-7B64-32C959187547}"/>
              </a:ext>
            </a:extLst>
          </p:cNvPr>
          <p:cNvPicPr>
            <a:picLocks noGrp="1" noChangeAspect="1"/>
          </p:cNvPicPr>
          <p:nvPr>
            <p:ph idx="1"/>
          </p:nvPr>
        </p:nvPicPr>
        <p:blipFill>
          <a:blip r:embed="rId3"/>
          <a:stretch>
            <a:fillRect/>
          </a:stretch>
        </p:blipFill>
        <p:spPr>
          <a:xfrm>
            <a:off x="1447800" y="1447800"/>
            <a:ext cx="8229600" cy="4849585"/>
          </a:xfrm>
        </p:spPr>
      </p:pic>
    </p:spTree>
    <p:extLst>
      <p:ext uri="{BB962C8B-B14F-4D97-AF65-F5344CB8AC3E}">
        <p14:creationId xmlns:p14="http://schemas.microsoft.com/office/powerpoint/2010/main" val="248223657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The Poisson Distribution</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We can use </a:t>
            </a:r>
            <a:r>
              <a:rPr lang="en-US" sz="2400" b="1" dirty="0">
                <a:cs typeface="Times New Roman" panose="02020603050405020304" pitchFamily="18" charset="0"/>
              </a:rPr>
              <a:t>GLM </a:t>
            </a:r>
            <a:r>
              <a:rPr lang="en-US" sz="2400" dirty="0">
                <a:cs typeface="Times New Roman" panose="02020603050405020304" pitchFamily="18" charset="0"/>
              </a:rPr>
              <a:t>again to handle this non-normality</a:t>
            </a:r>
          </a:p>
          <a:p>
            <a:r>
              <a:rPr lang="en-US" sz="2400" dirty="0">
                <a:cs typeface="Times New Roman" panose="02020603050405020304" pitchFamily="18" charset="0"/>
              </a:rPr>
              <a:t>We just need a link function that approximates shape of data</a:t>
            </a:r>
          </a:p>
          <a:p>
            <a:endParaRPr lang="en-US" sz="2400" dirty="0">
              <a:cs typeface="Times New Roman" panose="02020603050405020304" pitchFamily="18" charset="0"/>
            </a:endParaRPr>
          </a:p>
        </p:txBody>
      </p:sp>
      <p:pic>
        <p:nvPicPr>
          <p:cNvPr id="4" name="Content Placeholder 4">
            <a:extLst>
              <a:ext uri="{FF2B5EF4-FFF2-40B4-BE49-F238E27FC236}">
                <a16:creationId xmlns:a16="http://schemas.microsoft.com/office/drawing/2014/main" id="{9FABAB00-0F1A-5442-84F7-35BD8A3EE1E4}"/>
              </a:ext>
            </a:extLst>
          </p:cNvPr>
          <p:cNvPicPr>
            <a:picLocks noChangeAspect="1"/>
          </p:cNvPicPr>
          <p:nvPr/>
        </p:nvPicPr>
        <p:blipFill>
          <a:blip r:embed="rId3"/>
          <a:stretch>
            <a:fillRect/>
          </a:stretch>
        </p:blipFill>
        <p:spPr>
          <a:xfrm>
            <a:off x="1828800" y="2209800"/>
            <a:ext cx="7772400" cy="4580165"/>
          </a:xfrm>
          <a:prstGeom prst="rect">
            <a:avLst/>
          </a:prstGeom>
        </p:spPr>
      </p:pic>
    </p:spTree>
    <p:extLst>
      <p:ext uri="{BB962C8B-B14F-4D97-AF65-F5344CB8AC3E}">
        <p14:creationId xmlns:p14="http://schemas.microsoft.com/office/powerpoint/2010/main" val="83537474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The Poisson Distribution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We can use </a:t>
                </a:r>
                <a:r>
                  <a:rPr lang="en-US" sz="2400" b="1" dirty="0">
                    <a:cs typeface="Times New Roman" panose="02020603050405020304" pitchFamily="18" charset="0"/>
                  </a:rPr>
                  <a:t>GLM </a:t>
                </a:r>
                <a:r>
                  <a:rPr lang="en-US" sz="2400" dirty="0">
                    <a:cs typeface="Times New Roman" panose="02020603050405020304" pitchFamily="18" charset="0"/>
                  </a:rPr>
                  <a:t>again to handle this non-normality</a:t>
                </a:r>
              </a:p>
              <a:p>
                <a:r>
                  <a:rPr lang="en-US" sz="2400" dirty="0">
                    <a:cs typeface="Times New Roman" panose="02020603050405020304" pitchFamily="18" charset="0"/>
                  </a:rPr>
                  <a:t>We just need a link function that approximates shape of data</a:t>
                </a:r>
              </a:p>
              <a:p>
                <a:r>
                  <a:rPr lang="en-US" sz="2400" dirty="0">
                    <a:cs typeface="Times New Roman" panose="02020603050405020304" pitchFamily="18" charset="0"/>
                  </a:rPr>
                  <a:t>Poisson distribution: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𝜆</m:t>
                              </m:r>
                            </m:e>
                            <m:sup>
                              <m:r>
                                <a:rPr lang="en-US" sz="2400" b="0" i="1" smtClean="0">
                                  <a:latin typeface="Cambria Math" panose="02040503050406030204" pitchFamily="18" charset="0"/>
                                  <a:cs typeface="Times New Roman" panose="02020603050405020304" pitchFamily="18" charset="0"/>
                                </a:rPr>
                                <m:t>𝑥</m:t>
                              </m:r>
                            </m:sup>
                          </m:sSup>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𝑒</m:t>
                              </m:r>
                            </m:e>
                            <m:sup>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𝜆</m:t>
                              </m:r>
                            </m:sup>
                          </m:sSup>
                        </m:num>
                        <m:den>
                          <m:r>
                            <a:rPr lang="en-US" sz="2400" b="0" i="1" smtClean="0">
                              <a:latin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cs typeface="Times New Roman" panose="02020603050405020304" pitchFamily="18" charset="0"/>
                            </a:rPr>
                            <m:t>!</m:t>
                          </m:r>
                        </m:den>
                      </m:f>
                    </m:oMath>
                  </m:oMathPara>
                </a14:m>
                <a:endParaRPr lang="en-US" sz="2400" dirty="0">
                  <a:cs typeface="Times New Roman" panose="02020603050405020304" pitchFamily="18" charset="0"/>
                </a:endParaRPr>
              </a:p>
              <a:p>
                <a:r>
                  <a:rPr lang="en-US" sz="2400" dirty="0">
                    <a:cs typeface="Times New Roman" panose="02020603050405020304" pitchFamily="18" charset="0"/>
                  </a:rPr>
                  <a:t>Note: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𝜆</m:t>
                    </m:r>
                  </m:oMath>
                </a14:m>
                <a:r>
                  <a:rPr lang="en-US" sz="2400" dirty="0">
                    <a:cs typeface="Times New Roman" panose="02020603050405020304" pitchFamily="18" charset="0"/>
                  </a:rPr>
                  <a:t> is the “intensity parameter” and is equivalent to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𝑎𝑛𝑑</m:t>
                    </m:r>
                    <m:r>
                      <a:rPr lang="en-US" sz="2400" b="0" i="0"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𝕍</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𝑥</m:t>
                        </m:r>
                      </m:e>
                    </m:d>
                  </m:oMath>
                </a14:m>
                <a:endParaRPr lang="en-US" sz="2400" b="0" dirty="0">
                  <a:cs typeface="Times New Roman" panose="02020603050405020304" pitchFamily="18" charset="0"/>
                </a:endParaRPr>
              </a:p>
              <a:p>
                <a:r>
                  <a:rPr lang="en-US" sz="2400" b="0" dirty="0">
                    <a:cs typeface="Times New Roman" panose="02020603050405020304" pitchFamily="18" charset="0"/>
                  </a:rPr>
                  <a:t>Piece of cake to implement now! </a:t>
                </a:r>
              </a:p>
              <a:p>
                <a:r>
                  <a:rPr lang="en-US" sz="2400" dirty="0">
                    <a:cs typeface="Times New Roman" panose="02020603050405020304" pitchFamily="18" charset="0"/>
                  </a:rPr>
                  <a:t>The likelihood function is: </a:t>
                </a:r>
              </a:p>
              <a:p>
                <a:endParaRPr lang="en-US" sz="2400" b="0"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E3F0C935-CD1A-7345-E271-EB9C839A5B96}"/>
              </a:ext>
            </a:extLst>
          </p:cNvPr>
          <p:cNvPicPr>
            <a:picLocks noChangeAspect="1"/>
          </p:cNvPicPr>
          <p:nvPr/>
        </p:nvPicPr>
        <p:blipFill>
          <a:blip r:embed="rId4"/>
          <a:stretch>
            <a:fillRect/>
          </a:stretch>
        </p:blipFill>
        <p:spPr>
          <a:xfrm>
            <a:off x="1828800" y="5105400"/>
            <a:ext cx="7315200" cy="1032387"/>
          </a:xfrm>
          <a:prstGeom prst="rect">
            <a:avLst/>
          </a:prstGeom>
        </p:spPr>
      </p:pic>
    </p:spTree>
    <p:extLst>
      <p:ext uri="{BB962C8B-B14F-4D97-AF65-F5344CB8AC3E}">
        <p14:creationId xmlns:p14="http://schemas.microsoft.com/office/powerpoint/2010/main" val="402089254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The Poisson Distribution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We can use </a:t>
                </a:r>
                <a:r>
                  <a:rPr lang="en-US" sz="2400" b="1" dirty="0">
                    <a:cs typeface="Times New Roman" panose="02020603050405020304" pitchFamily="18" charset="0"/>
                  </a:rPr>
                  <a:t>GLM </a:t>
                </a:r>
                <a:r>
                  <a:rPr lang="en-US" sz="2400" dirty="0">
                    <a:cs typeface="Times New Roman" panose="02020603050405020304" pitchFamily="18" charset="0"/>
                  </a:rPr>
                  <a:t>again to handle this non-normality</a:t>
                </a:r>
              </a:p>
              <a:p>
                <a:r>
                  <a:rPr lang="en-US" sz="2400" dirty="0">
                    <a:cs typeface="Times New Roman" panose="02020603050405020304" pitchFamily="18" charset="0"/>
                  </a:rPr>
                  <a:t>We just need a link function that approximates shape of data</a:t>
                </a:r>
              </a:p>
              <a:p>
                <a:r>
                  <a:rPr lang="en-US" sz="2400" dirty="0">
                    <a:cs typeface="Times New Roman" panose="02020603050405020304" pitchFamily="18" charset="0"/>
                  </a:rPr>
                  <a:t>Poisson distribution: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𝑃</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𝜆</m:t>
                              </m:r>
                            </m:e>
                            <m:sup>
                              <m:r>
                                <a:rPr lang="en-US" sz="2400" b="0" i="1" smtClean="0">
                                  <a:latin typeface="Cambria Math" panose="02040503050406030204" pitchFamily="18" charset="0"/>
                                  <a:cs typeface="Times New Roman" panose="02020603050405020304" pitchFamily="18" charset="0"/>
                                </a:rPr>
                                <m:t>𝑥</m:t>
                              </m:r>
                            </m:sup>
                          </m:sSup>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𝑒</m:t>
                              </m:r>
                            </m:e>
                            <m:sup>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𝜆</m:t>
                              </m:r>
                            </m:sup>
                          </m:sSup>
                        </m:num>
                        <m:den>
                          <m:r>
                            <a:rPr lang="en-US" sz="2400" b="0" i="1" smtClean="0">
                              <a:latin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cs typeface="Times New Roman" panose="02020603050405020304" pitchFamily="18" charset="0"/>
                            </a:rPr>
                            <m:t>!</m:t>
                          </m:r>
                        </m:den>
                      </m:f>
                    </m:oMath>
                  </m:oMathPara>
                </a14:m>
                <a:endParaRPr lang="en-US" sz="2400" dirty="0">
                  <a:cs typeface="Times New Roman" panose="02020603050405020304" pitchFamily="18" charset="0"/>
                </a:endParaRPr>
              </a:p>
              <a:p>
                <a:r>
                  <a:rPr lang="en-US" sz="2400" dirty="0">
                    <a:cs typeface="Times New Roman" panose="02020603050405020304" pitchFamily="18" charset="0"/>
                  </a:rPr>
                  <a:t>Note: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𝜆</m:t>
                    </m:r>
                  </m:oMath>
                </a14:m>
                <a:r>
                  <a:rPr lang="en-US" sz="2400" dirty="0">
                    <a:cs typeface="Times New Roman" panose="02020603050405020304" pitchFamily="18" charset="0"/>
                  </a:rPr>
                  <a:t> is the “intensity parameter” and is equivalent to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𝑎𝑛𝑑</m:t>
                    </m:r>
                    <m:r>
                      <a:rPr lang="en-US" sz="2400" b="0" i="0"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𝕍</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𝑥</m:t>
                        </m:r>
                      </m:e>
                    </m:d>
                  </m:oMath>
                </a14:m>
                <a:endParaRPr lang="en-US" sz="2400" b="0" dirty="0">
                  <a:cs typeface="Times New Roman" panose="02020603050405020304" pitchFamily="18" charset="0"/>
                </a:endParaRPr>
              </a:p>
              <a:p>
                <a:r>
                  <a:rPr lang="en-US" sz="2400" b="0" dirty="0">
                    <a:cs typeface="Times New Roman" panose="02020603050405020304" pitchFamily="18" charset="0"/>
                  </a:rPr>
                  <a:t>Piece of cake to implement now! </a:t>
                </a:r>
              </a:p>
              <a:p>
                <a:r>
                  <a:rPr lang="en-US" sz="2400" dirty="0">
                    <a:cs typeface="Times New Roman" panose="02020603050405020304" pitchFamily="18" charset="0"/>
                  </a:rPr>
                  <a:t>We can take logs as our link function to get: </a:t>
                </a:r>
              </a:p>
              <a:p>
                <a:endParaRPr lang="en-US" sz="2400" b="0"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32154D0C-D52F-0700-B631-7A9945078F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1200" y="5181600"/>
            <a:ext cx="1371600" cy="13716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C8EEA72E-CAAF-DDB2-7226-52034B38A6A7}"/>
              </a:ext>
            </a:extLst>
          </p:cNvPr>
          <p:cNvPicPr>
            <a:picLocks noChangeAspect="1"/>
          </p:cNvPicPr>
          <p:nvPr/>
        </p:nvPicPr>
        <p:blipFill>
          <a:blip r:embed="rId5"/>
          <a:stretch>
            <a:fillRect/>
          </a:stretch>
        </p:blipFill>
        <p:spPr>
          <a:xfrm>
            <a:off x="2171700" y="5181600"/>
            <a:ext cx="7315200" cy="905692"/>
          </a:xfrm>
          <a:prstGeom prst="rect">
            <a:avLst/>
          </a:prstGeom>
        </p:spPr>
      </p:pic>
    </p:spTree>
    <p:extLst>
      <p:ext uri="{BB962C8B-B14F-4D97-AF65-F5344CB8AC3E}">
        <p14:creationId xmlns:p14="http://schemas.microsoft.com/office/powerpoint/2010/main" val="378827540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Poisson Regressions in Practice: Interpretation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The log likelihood can be portrayed as: </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ℓ</m:t>
                          </m:r>
                        </m:e>
                        <m:sub>
                          <m:r>
                            <a:rPr lang="en-US" sz="2400" b="0" i="1" smtClean="0">
                              <a:latin typeface="Cambria Math" panose="02040503050406030204" pitchFamily="18" charset="0"/>
                              <a:cs typeface="Times New Roman" panose="02020603050405020304" pitchFamily="18" charset="0"/>
                            </a:rPr>
                            <m:t>𝑖</m:t>
                          </m:r>
                        </m:sub>
                      </m:sSub>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𝛽</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𝑦𝑚</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𝛽</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𝑚</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𝛽</m:t>
                          </m:r>
                        </m:e>
                      </m:d>
                      <m:r>
                        <a:rPr lang="en-US" sz="2400" b="0" i="1" smtClean="0">
                          <a:latin typeface="Cambria Math" panose="02040503050406030204" pitchFamily="18" charset="0"/>
                          <a:cs typeface="Times New Roman" panose="02020603050405020304" pitchFamily="18" charset="0"/>
                        </a:rPr>
                        <m:t>,</m:t>
                      </m:r>
                    </m:oMath>
                  </m:oMathPara>
                </a14:m>
                <a:endParaRPr lang="en-US" sz="2400" b="0" dirty="0">
                  <a:cs typeface="Times New Roman" panose="02020603050405020304" pitchFamily="18" charset="0"/>
                </a:endParaRPr>
              </a:p>
              <a:p>
                <a:pPr marL="0" indent="0">
                  <a:buNone/>
                </a:pPr>
                <a:r>
                  <a:rPr lang="en-US" sz="2400" dirty="0">
                    <a:cs typeface="Times New Roman" panose="02020603050405020304" pitchFamily="18" charset="0"/>
                  </a:rPr>
                  <a:t>Where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𝑚</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𝛽</m:t>
                        </m:r>
                      </m:e>
                    </m:d>
                    <m:r>
                      <a:rPr lang="en-US" sz="2400" b="0" i="1" smtClean="0">
                        <a:latin typeface="Cambria Math" panose="02040503050406030204" pitchFamily="18" charset="0"/>
                        <a:cs typeface="Times New Roman" panose="02020603050405020304" pitchFamily="18" charset="0"/>
                      </a:rPr>
                      <m:t>=</m:t>
                    </m:r>
                    <m:func>
                      <m:funcPr>
                        <m:ctrlPr>
                          <a:rPr lang="en-US" sz="2400" b="0" i="1" smtClean="0">
                            <a:latin typeface="Cambria Math" panose="02040503050406030204" pitchFamily="18" charset="0"/>
                            <a:cs typeface="Times New Roman" panose="02020603050405020304" pitchFamily="18" charset="0"/>
                          </a:rPr>
                        </m:ctrlPr>
                      </m:funcPr>
                      <m:fName>
                        <m:r>
                          <m:rPr>
                            <m:sty m:val="p"/>
                          </m:rPr>
                          <a:rPr lang="en-US" sz="2400" b="0" i="0" smtClean="0">
                            <a:latin typeface="Cambria Math" panose="02040503050406030204" pitchFamily="18" charset="0"/>
                            <a:cs typeface="Times New Roman" panose="02020603050405020304" pitchFamily="18" charset="0"/>
                          </a:rPr>
                          <m:t>exp</m:t>
                        </m:r>
                      </m:fName>
                      <m:e>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𝛽</m:t>
                            </m:r>
                          </m:e>
                        </m:d>
                      </m:e>
                    </m:func>
                  </m:oMath>
                </a14:m>
                <a:r>
                  <a:rPr lang="en-US" sz="2400" dirty="0">
                    <a:cs typeface="Times New Roman" panose="02020603050405020304" pitchFamily="18" charset="0"/>
                  </a:rPr>
                  <a:t>. Hence, much easier to get marginal effects</a:t>
                </a:r>
              </a:p>
              <a:p>
                <a:pPr marL="0" indent="0">
                  <a:buNone/>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𝔼</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𝑦</m:t>
                              </m:r>
                            </m:e>
                            <m:e>
                              <m:r>
                                <a:rPr lang="en-US" sz="2400" b="0" i="1" smtClean="0">
                                  <a:latin typeface="Cambria Math" panose="02040503050406030204" pitchFamily="18" charset="0"/>
                                  <a:cs typeface="Times New Roman" panose="02020603050405020304" pitchFamily="18" charset="0"/>
                                </a:rPr>
                                <m:t>𝑥</m:t>
                              </m:r>
                            </m:e>
                          </m:d>
                        </m:num>
                        <m:den>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𝑗</m:t>
                              </m:r>
                            </m:sub>
                          </m:sSub>
                        </m:den>
                      </m:f>
                      <m:r>
                        <a:rPr lang="en-US" sz="2400" b="0" i="1" smtClean="0">
                          <a:latin typeface="Cambria Math" panose="02040503050406030204" pitchFamily="18" charset="0"/>
                          <a:cs typeface="Times New Roman" panose="02020603050405020304" pitchFamily="18" charset="0"/>
                        </a:rPr>
                        <m:t>=</m:t>
                      </m:r>
                      <m:func>
                        <m:funcPr>
                          <m:ctrlPr>
                            <a:rPr lang="en-US" sz="2400" b="0" i="1" smtClean="0">
                              <a:latin typeface="Cambria Math" panose="02040503050406030204" pitchFamily="18" charset="0"/>
                              <a:cs typeface="Times New Roman" panose="02020603050405020304" pitchFamily="18" charset="0"/>
                            </a:rPr>
                          </m:ctrlPr>
                        </m:funcPr>
                        <m:fName>
                          <m:r>
                            <m:rPr>
                              <m:sty m:val="p"/>
                            </m:rPr>
                            <a:rPr lang="en-US" sz="2400" b="0" i="0" smtClean="0">
                              <a:latin typeface="Cambria Math" panose="02040503050406030204" pitchFamily="18" charset="0"/>
                              <a:cs typeface="Times New Roman" panose="02020603050405020304" pitchFamily="18" charset="0"/>
                            </a:rPr>
                            <m:t>exp</m:t>
                          </m:r>
                        </m:fName>
                        <m:e>
                          <m:d>
                            <m:dPr>
                              <m:ctrlPr>
                                <a:rPr lang="en-US" sz="2400" b="0" i="1" smtClean="0">
                                  <a:latin typeface="Cambria Math" panose="02040503050406030204" pitchFamily="18" charset="0"/>
                                  <a:cs typeface="Times New Roman" panose="02020603050405020304" pitchFamily="18" charset="0"/>
                                </a:rPr>
                              </m:ctrlPr>
                            </m:dPr>
                            <m:e>
                              <m:r>
                                <a:rPr lang="en-US" sz="2400" b="1" i="1" smtClean="0">
                                  <a:latin typeface="Cambria Math" panose="02040503050406030204" pitchFamily="18" charset="0"/>
                                  <a:cs typeface="Times New Roman" panose="02020603050405020304" pitchFamily="18" charset="0"/>
                                </a:rPr>
                                <m:t>𝒙</m:t>
                              </m:r>
                              <m:r>
                                <a:rPr lang="en-US" sz="2400" b="0" i="1" smtClean="0">
                                  <a:latin typeface="Cambria Math" panose="02040503050406030204" pitchFamily="18" charset="0"/>
                                  <a:cs typeface="Times New Roman" panose="02020603050405020304" pitchFamily="18" charset="0"/>
                                </a:rPr>
                                <m:t>𝛽</m:t>
                              </m:r>
                            </m:e>
                          </m:d>
                        </m:e>
                      </m:func>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𝑗</m:t>
                          </m:r>
                        </m:sub>
                      </m:sSub>
                    </m:oMath>
                  </m:oMathPara>
                </a14:m>
                <a:endParaRPr lang="en-US" sz="2400" b="0" dirty="0">
                  <a:cs typeface="Times New Roman" panose="02020603050405020304" pitchFamily="18" charset="0"/>
                </a:endParaRPr>
              </a:p>
              <a:p>
                <a:pPr marL="0" indent="0">
                  <a:buNone/>
                </a:pPr>
                <a:r>
                  <a:rPr lang="en-US" sz="2400" dirty="0">
                    <a:cs typeface="Times New Roman" panose="02020603050405020304" pitchFamily="18" charset="0"/>
                  </a:rPr>
                  <a:t>So partial effects </a:t>
                </a:r>
                <a:r>
                  <a:rPr lang="en-US" sz="2400" b="1" dirty="0">
                    <a:cs typeface="Times New Roman" panose="02020603050405020304" pitchFamily="18" charset="0"/>
                  </a:rPr>
                  <a:t>still depend on x</a:t>
                </a:r>
                <a:r>
                  <a:rPr lang="en-US" sz="2400" dirty="0">
                    <a:cs typeface="Times New Roman" panose="02020603050405020304" pitchFamily="18" charset="0"/>
                  </a:rPr>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916" t="-1305"/>
                </a:stretch>
              </a:blipFill>
            </p:spPr>
            <p:txBody>
              <a:bodyPr/>
              <a:lstStyle/>
              <a:p>
                <a:r>
                  <a:rPr lang="en-CA">
                    <a:noFill/>
                  </a:rPr>
                  <a:t> </a:t>
                </a:r>
              </a:p>
            </p:txBody>
          </p:sp>
        </mc:Fallback>
      </mc:AlternateContent>
    </p:spTree>
    <p:extLst>
      <p:ext uri="{BB962C8B-B14F-4D97-AF65-F5344CB8AC3E}">
        <p14:creationId xmlns:p14="http://schemas.microsoft.com/office/powerpoint/2010/main" val="423941845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Poisson Regressions in Practice: Interpretation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fontScale="92500" lnSpcReduction="10000"/>
              </a:bodyPr>
              <a:lstStyle/>
              <a:p>
                <a:r>
                  <a:rPr lang="en-US" sz="2400" dirty="0">
                    <a:cs typeface="Times New Roman" panose="02020603050405020304" pitchFamily="18" charset="0"/>
                  </a:rPr>
                  <a:t>The log likelihood can be portrayed as: </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ℓ</m:t>
                          </m:r>
                        </m:e>
                        <m:sub>
                          <m:r>
                            <a:rPr lang="en-US" sz="2400" b="0" i="1" smtClean="0">
                              <a:latin typeface="Cambria Math" panose="02040503050406030204" pitchFamily="18" charset="0"/>
                              <a:cs typeface="Times New Roman" panose="02020603050405020304" pitchFamily="18" charset="0"/>
                            </a:rPr>
                            <m:t>𝑖</m:t>
                          </m:r>
                        </m:sub>
                      </m:sSub>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𝛽</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𝑦𝑚</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𝛽</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𝑚</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𝛽</m:t>
                          </m:r>
                        </m:e>
                      </m:d>
                      <m:r>
                        <a:rPr lang="en-US" sz="2400" b="0" i="1" smtClean="0">
                          <a:latin typeface="Cambria Math" panose="02040503050406030204" pitchFamily="18" charset="0"/>
                          <a:cs typeface="Times New Roman" panose="02020603050405020304" pitchFamily="18" charset="0"/>
                        </a:rPr>
                        <m:t>,</m:t>
                      </m:r>
                    </m:oMath>
                  </m:oMathPara>
                </a14:m>
                <a:endParaRPr lang="en-US" sz="2400" b="0" dirty="0">
                  <a:cs typeface="Times New Roman" panose="02020603050405020304" pitchFamily="18" charset="0"/>
                </a:endParaRPr>
              </a:p>
              <a:p>
                <a:pPr marL="0" indent="0">
                  <a:buNone/>
                </a:pPr>
                <a:r>
                  <a:rPr lang="en-US" sz="2400" dirty="0">
                    <a:cs typeface="Times New Roman" panose="02020603050405020304" pitchFamily="18" charset="0"/>
                  </a:rPr>
                  <a:t>Where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𝑚</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𝛽</m:t>
                        </m:r>
                      </m:e>
                    </m:d>
                    <m:r>
                      <a:rPr lang="en-US" sz="2400" b="0" i="1" smtClean="0">
                        <a:latin typeface="Cambria Math" panose="02040503050406030204" pitchFamily="18" charset="0"/>
                        <a:cs typeface="Times New Roman" panose="02020603050405020304" pitchFamily="18" charset="0"/>
                      </a:rPr>
                      <m:t>=</m:t>
                    </m:r>
                    <m:func>
                      <m:funcPr>
                        <m:ctrlPr>
                          <a:rPr lang="en-US" sz="2400" b="0" i="1" smtClean="0">
                            <a:latin typeface="Cambria Math" panose="02040503050406030204" pitchFamily="18" charset="0"/>
                            <a:cs typeface="Times New Roman" panose="02020603050405020304" pitchFamily="18" charset="0"/>
                          </a:rPr>
                        </m:ctrlPr>
                      </m:funcPr>
                      <m:fName>
                        <m:r>
                          <m:rPr>
                            <m:sty m:val="p"/>
                          </m:rPr>
                          <a:rPr lang="en-US" sz="2400" b="0" i="0" smtClean="0">
                            <a:latin typeface="Cambria Math" panose="02040503050406030204" pitchFamily="18" charset="0"/>
                            <a:cs typeface="Times New Roman" panose="02020603050405020304" pitchFamily="18" charset="0"/>
                          </a:rPr>
                          <m:t>exp</m:t>
                        </m:r>
                      </m:fName>
                      <m:e>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𝛽</m:t>
                            </m:r>
                          </m:e>
                        </m:d>
                      </m:e>
                    </m:func>
                  </m:oMath>
                </a14:m>
                <a:r>
                  <a:rPr lang="en-US" sz="2400" dirty="0">
                    <a:cs typeface="Times New Roman" panose="02020603050405020304" pitchFamily="18" charset="0"/>
                  </a:rPr>
                  <a:t>. Hence, much easier to get marginal effects</a:t>
                </a:r>
              </a:p>
              <a:p>
                <a:pPr marL="0" indent="0">
                  <a:buNone/>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𝔼</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𝑦</m:t>
                              </m:r>
                            </m:e>
                            <m:e>
                              <m:r>
                                <a:rPr lang="en-US" sz="2400" b="0" i="1" smtClean="0">
                                  <a:latin typeface="Cambria Math" panose="02040503050406030204" pitchFamily="18" charset="0"/>
                                  <a:cs typeface="Times New Roman" panose="02020603050405020304" pitchFamily="18" charset="0"/>
                                </a:rPr>
                                <m:t>𝑥</m:t>
                              </m:r>
                            </m:e>
                          </m:d>
                        </m:num>
                        <m:den>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𝑗</m:t>
                              </m:r>
                            </m:sub>
                          </m:sSub>
                        </m:den>
                      </m:f>
                      <m:r>
                        <a:rPr lang="en-US" sz="2400" b="0" i="1" smtClean="0">
                          <a:latin typeface="Cambria Math" panose="02040503050406030204" pitchFamily="18" charset="0"/>
                          <a:cs typeface="Times New Roman" panose="02020603050405020304" pitchFamily="18" charset="0"/>
                        </a:rPr>
                        <m:t>=</m:t>
                      </m:r>
                      <m:func>
                        <m:funcPr>
                          <m:ctrlPr>
                            <a:rPr lang="en-US" sz="2400" b="0" i="1" smtClean="0">
                              <a:latin typeface="Cambria Math" panose="02040503050406030204" pitchFamily="18" charset="0"/>
                              <a:cs typeface="Times New Roman" panose="02020603050405020304" pitchFamily="18" charset="0"/>
                            </a:rPr>
                          </m:ctrlPr>
                        </m:funcPr>
                        <m:fName>
                          <m:r>
                            <m:rPr>
                              <m:sty m:val="p"/>
                            </m:rPr>
                            <a:rPr lang="en-US" sz="2400" b="0" i="0" smtClean="0">
                              <a:latin typeface="Cambria Math" panose="02040503050406030204" pitchFamily="18" charset="0"/>
                              <a:cs typeface="Times New Roman" panose="02020603050405020304" pitchFamily="18" charset="0"/>
                            </a:rPr>
                            <m:t>exp</m:t>
                          </m:r>
                        </m:fName>
                        <m:e>
                          <m:d>
                            <m:dPr>
                              <m:ctrlPr>
                                <a:rPr lang="en-US" sz="2400" b="0" i="1" smtClean="0">
                                  <a:latin typeface="Cambria Math" panose="02040503050406030204" pitchFamily="18" charset="0"/>
                                  <a:cs typeface="Times New Roman" panose="02020603050405020304" pitchFamily="18" charset="0"/>
                                </a:rPr>
                              </m:ctrlPr>
                            </m:dPr>
                            <m:e>
                              <m:r>
                                <a:rPr lang="en-US" sz="2400" b="1" i="1" smtClean="0">
                                  <a:latin typeface="Cambria Math" panose="02040503050406030204" pitchFamily="18" charset="0"/>
                                  <a:cs typeface="Times New Roman" panose="02020603050405020304" pitchFamily="18" charset="0"/>
                                </a:rPr>
                                <m:t>𝒙</m:t>
                              </m:r>
                              <m:r>
                                <a:rPr lang="en-US" sz="2400" b="0" i="1" smtClean="0">
                                  <a:latin typeface="Cambria Math" panose="02040503050406030204" pitchFamily="18" charset="0"/>
                                  <a:cs typeface="Times New Roman" panose="02020603050405020304" pitchFamily="18" charset="0"/>
                                </a:rPr>
                                <m:t>𝛽</m:t>
                              </m:r>
                            </m:e>
                          </m:d>
                        </m:e>
                      </m:func>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𝑗</m:t>
                          </m:r>
                        </m:sub>
                      </m:sSub>
                    </m:oMath>
                  </m:oMathPara>
                </a14:m>
                <a:endParaRPr lang="en-US" sz="2400" b="0" dirty="0">
                  <a:cs typeface="Times New Roman" panose="02020603050405020304" pitchFamily="18" charset="0"/>
                </a:endParaRPr>
              </a:p>
              <a:p>
                <a:pPr marL="0" indent="0">
                  <a:buNone/>
                </a:pPr>
                <a:r>
                  <a:rPr lang="en-US" sz="2400" dirty="0">
                    <a:cs typeface="Times New Roman" panose="02020603050405020304" pitchFamily="18" charset="0"/>
                  </a:rPr>
                  <a:t>So partial effects </a:t>
                </a:r>
                <a:r>
                  <a:rPr lang="en-US" sz="2400" b="1" dirty="0">
                    <a:cs typeface="Times New Roman" panose="02020603050405020304" pitchFamily="18" charset="0"/>
                  </a:rPr>
                  <a:t>still depend on x</a:t>
                </a:r>
                <a:r>
                  <a:rPr lang="en-US" sz="2400" dirty="0">
                    <a:cs typeface="Times New Roman" panose="02020603050405020304" pitchFamily="18" charset="0"/>
                  </a:rPr>
                  <a:t>. However,  also note:</a:t>
                </a:r>
              </a:p>
              <a:p>
                <a:pPr marL="0" indent="0">
                  <a:buNone/>
                </a:pPr>
                <a14:m>
                  <m:oMathPara xmlns:m="http://schemas.openxmlformats.org/officeDocument/2006/math">
                    <m:oMathParaPr>
                      <m:jc m:val="centerGroup"/>
                    </m:oMathParaPr>
                    <m:oMath xmlns:m="http://schemas.openxmlformats.org/officeDocument/2006/math">
                      <m:func>
                        <m:funcPr>
                          <m:ctrlPr>
                            <a:rPr lang="en-US" sz="2400" b="0" i="1" smtClean="0">
                              <a:latin typeface="Cambria Math" panose="02040503050406030204" pitchFamily="18" charset="0"/>
                              <a:cs typeface="Times New Roman" panose="02020603050405020304" pitchFamily="18" charset="0"/>
                            </a:rPr>
                          </m:ctrlPr>
                        </m:funcPr>
                        <m:fNa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m:rPr>
                                  <m:sty m:val="p"/>
                                </m:rPr>
                                <a:rPr lang="en-US" sz="2400" b="0" i="0" smtClean="0">
                                  <a:latin typeface="Cambria Math" panose="02040503050406030204" pitchFamily="18" charset="0"/>
                                  <a:cs typeface="Times New Roman" panose="02020603050405020304" pitchFamily="18" charset="0"/>
                                </a:rPr>
                                <m:t>j</m:t>
                              </m:r>
                            </m:sub>
                          </m:sSub>
                          <m:r>
                            <a:rPr lang="en-US" sz="2400" b="0" i="0" smtClean="0">
                              <a:latin typeface="Cambria Math" panose="02040503050406030204" pitchFamily="18" charset="0"/>
                              <a:cs typeface="Times New Roman" panose="02020603050405020304" pitchFamily="18" charset="0"/>
                            </a:rPr>
                            <m:t>=</m:t>
                          </m:r>
                          <m:f>
                            <m:fPr>
                              <m:ctrlPr>
                                <a:rPr lang="en-US" sz="2400" i="1">
                                  <a:latin typeface="Cambria Math" panose="02040503050406030204" pitchFamily="18" charset="0"/>
                                  <a:cs typeface="Times New Roman" panose="02020603050405020304" pitchFamily="18" charset="0"/>
                                </a:rPr>
                              </m:ctrlPr>
                            </m:fPr>
                            <m:num>
                              <m:r>
                                <a:rPr lang="en-US" sz="2400" i="1">
                                  <a:latin typeface="Cambria Math" panose="02040503050406030204" pitchFamily="18" charset="0"/>
                                  <a:cs typeface="Times New Roman" panose="02020603050405020304" pitchFamily="18" charset="0"/>
                                </a:rPr>
                                <m:t>𝜕</m:t>
                              </m:r>
                              <m:r>
                                <a:rPr lang="en-US" sz="2400" i="1">
                                  <a:latin typeface="Cambria Math" panose="02040503050406030204" pitchFamily="18" charset="0"/>
                                  <a:cs typeface="Times New Roman" panose="02020603050405020304" pitchFamily="18" charset="0"/>
                                </a:rPr>
                                <m:t>𝔼</m:t>
                              </m:r>
                              <m:d>
                                <m:dPr>
                                  <m:begChr m:val="["/>
                                  <m:endChr m:val="]"/>
                                  <m:ctrlPr>
                                    <a:rPr lang="en-US" sz="2400" i="1">
                                      <a:latin typeface="Cambria Math" panose="02040503050406030204" pitchFamily="18" charset="0"/>
                                      <a:cs typeface="Times New Roman" panose="02020603050405020304" pitchFamily="18" charset="0"/>
                                    </a:rPr>
                                  </m:ctrlPr>
                                </m:dPr>
                                <m:e>
                                  <m:r>
                                    <a:rPr lang="en-US" sz="2400" i="1">
                                      <a:latin typeface="Cambria Math" panose="02040503050406030204" pitchFamily="18" charset="0"/>
                                      <a:cs typeface="Times New Roman" panose="02020603050405020304" pitchFamily="18" charset="0"/>
                                    </a:rPr>
                                    <m:t>𝑦</m:t>
                                  </m:r>
                                </m:e>
                                <m:e>
                                  <m:r>
                                    <a:rPr lang="en-US" sz="2400" i="1">
                                      <a:latin typeface="Cambria Math" panose="02040503050406030204" pitchFamily="18" charset="0"/>
                                      <a:cs typeface="Times New Roman" panose="02020603050405020304" pitchFamily="18" charset="0"/>
                                    </a:rPr>
                                    <m:t>𝑥</m:t>
                                  </m:r>
                                </m:e>
                              </m:d>
                            </m:num>
                            <m:den>
                              <m:r>
                                <a:rPr lang="en-US" sz="2400" i="1">
                                  <a:latin typeface="Cambria Math" panose="02040503050406030204" pitchFamily="18" charset="0"/>
                                  <a:cs typeface="Times New Roman" panose="02020603050405020304" pitchFamily="18" charset="0"/>
                                </a:rPr>
                                <m:t>𝜕</m:t>
                              </m:r>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𝑥</m:t>
                                  </m:r>
                                </m:e>
                                <m:sub>
                                  <m:r>
                                    <a:rPr lang="en-US" sz="2400" i="1">
                                      <a:latin typeface="Cambria Math" panose="02040503050406030204" pitchFamily="18" charset="0"/>
                                      <a:cs typeface="Times New Roman" panose="02020603050405020304" pitchFamily="18" charset="0"/>
                                    </a:rPr>
                                    <m:t>𝑗</m:t>
                                  </m:r>
                                </m:sub>
                              </m:sSub>
                            </m:den>
                          </m:f>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1</m:t>
                              </m:r>
                            </m:num>
                            <m:den>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𝔼</m:t>
                              </m:r>
                              <m:d>
                                <m:dPr>
                                  <m:begChr m:val="["/>
                                  <m:endChr m:val="]"/>
                                  <m:ctrlPr>
                                    <a:rPr lang="en-US" sz="2400" b="0" i="1" smtClean="0">
                                      <a:latin typeface="Cambria Math" panose="02040503050406030204" pitchFamily="18" charset="0"/>
                                      <a:cs typeface="Times New Roman" panose="02020603050405020304" pitchFamily="18" charset="0"/>
                                    </a:rPr>
                                  </m:ctrlPr>
                                </m:dPr>
                                <m:e>
                                  <m:r>
                                    <m:rPr>
                                      <m:sty m:val="p"/>
                                    </m:rPr>
                                    <a:rPr lang="en-US" sz="2400" b="0" i="0" smtClean="0">
                                      <a:latin typeface="Cambria Math" panose="02040503050406030204" pitchFamily="18" charset="0"/>
                                      <a:cs typeface="Times New Roman" panose="02020603050405020304" pitchFamily="18" charset="0"/>
                                    </a:rPr>
                                    <m:t>y</m:t>
                                  </m:r>
                                </m:e>
                                <m:e>
                                  <m:r>
                                    <m:rPr>
                                      <m:sty m:val="p"/>
                                    </m:rPr>
                                    <a:rPr lang="en-US" sz="2400" b="0" i="0" smtClean="0">
                                      <a:latin typeface="Cambria Math" panose="02040503050406030204" pitchFamily="18" charset="0"/>
                                      <a:cs typeface="Times New Roman" panose="02020603050405020304" pitchFamily="18" charset="0"/>
                                    </a:rPr>
                                    <m:t>x</m:t>
                                  </m:r>
                                </m:e>
                              </m:d>
                            </m:den>
                          </m:f>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m:t>
                              </m:r>
                              <m:r>
                                <m:rPr>
                                  <m:sty m:val="p"/>
                                </m:rPr>
                                <a:rPr lang="en-US" sz="2400" b="0" i="0" smtClean="0">
                                  <a:latin typeface="Cambria Math" panose="02040503050406030204" pitchFamily="18" charset="0"/>
                                  <a:cs typeface="Times New Roman" panose="02020603050405020304" pitchFamily="18" charset="0"/>
                                </a:rPr>
                                <m:t>log</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𝔼</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𝑦</m:t>
                                      </m:r>
                                    </m:e>
                                    <m:e>
                                      <m:r>
                                        <a:rPr lang="en-US" sz="2400" b="0" i="1" smtClean="0">
                                          <a:latin typeface="Cambria Math" panose="02040503050406030204" pitchFamily="18" charset="0"/>
                                          <a:cs typeface="Times New Roman" panose="02020603050405020304" pitchFamily="18" charset="0"/>
                                        </a:rPr>
                                        <m:t>𝑥</m:t>
                                      </m:r>
                                    </m:e>
                                  </m:d>
                                </m:e>
                              </m:d>
                            </m:num>
                            <m:den>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𝑗</m:t>
                                  </m:r>
                                </m:sub>
                              </m:sSub>
                            </m:den>
                          </m:f>
                        </m:fName>
                        <m:e/>
                      </m:func>
                    </m:oMath>
                  </m:oMathPara>
                </a14:m>
                <a:endParaRPr lang="en-US" sz="2400" b="0" dirty="0">
                  <a:cs typeface="Times New Roman" panose="02020603050405020304" pitchFamily="18" charset="0"/>
                </a:endParaRPr>
              </a:p>
              <a:p>
                <a:pPr marL="0" indent="0">
                  <a:buNone/>
                </a:pPr>
                <a:r>
                  <a:rPr lang="en-US" sz="2400" b="0" dirty="0">
                    <a:cs typeface="Times New Roman" panose="02020603050405020304" pitchFamily="18" charset="0"/>
                  </a:rPr>
                  <a:t>For </a:t>
                </a:r>
                <a:r>
                  <a:rPr lang="en-US" sz="2400" b="1" dirty="0">
                    <a:cs typeface="Times New Roman" panose="02020603050405020304" pitchFamily="18" charset="0"/>
                  </a:rPr>
                  <a:t>dummy </a:t>
                </a:r>
                <a:r>
                  <a:rPr lang="en-US" sz="2400" dirty="0">
                    <a:cs typeface="Times New Roman" panose="02020603050405020304" pitchFamily="18" charset="0"/>
                  </a:rPr>
                  <a:t>variables, the change in expected value is simply </a:t>
                </a:r>
                <a14:m>
                  <m:oMath xmlns:m="http://schemas.openxmlformats.org/officeDocument/2006/math">
                    <m:func>
                      <m:funcPr>
                        <m:ctrlPr>
                          <a:rPr lang="en-US" sz="2400" b="0" i="1" smtClean="0">
                            <a:latin typeface="Cambria Math" panose="02040503050406030204" pitchFamily="18" charset="0"/>
                            <a:cs typeface="Times New Roman" panose="02020603050405020304" pitchFamily="18" charset="0"/>
                          </a:rPr>
                        </m:ctrlPr>
                      </m:funcPr>
                      <m:fName>
                        <m:r>
                          <m:rPr>
                            <m:sty m:val="p"/>
                          </m:rPr>
                          <a:rPr lang="en-US" sz="2400" b="0" i="0" smtClean="0">
                            <a:latin typeface="Cambria Math" panose="02040503050406030204" pitchFamily="18" charset="0"/>
                            <a:cs typeface="Times New Roman" panose="02020603050405020304" pitchFamily="18" charset="0"/>
                          </a:rPr>
                          <m:t>exp</m:t>
                        </m:r>
                      </m:fName>
                      <m:e>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𝛽</m:t>
                            </m:r>
                          </m:e>
                        </m:d>
                      </m:e>
                    </m:func>
                    <m:r>
                      <a:rPr lang="en-US" sz="2400" b="0" i="1" smtClean="0">
                        <a:latin typeface="Cambria Math" panose="02040503050406030204" pitchFamily="18" charset="0"/>
                        <a:cs typeface="Times New Roman" panose="02020603050405020304" pitchFamily="18" charset="0"/>
                      </a:rPr>
                      <m:t>−1</m:t>
                    </m:r>
                  </m:oMath>
                </a14:m>
                <a:r>
                  <a:rPr lang="en-US" sz="2400" b="1" dirty="0">
                    <a:cs typeface="Times New Roman" panose="02020603050405020304" pitchFamily="18" charset="0"/>
                  </a:rPr>
                  <a:t>:</a:t>
                </a:r>
              </a:p>
              <a:p>
                <a:pPr lvl="1"/>
                <a:r>
                  <a:rPr lang="en-US" sz="2400" dirty="0">
                    <a:cs typeface="Times New Roman" panose="02020603050405020304" pitchFamily="18" charset="0"/>
                  </a:rPr>
                  <a:t>If </a:t>
                </a:r>
                <a14:m>
                  <m:oMath xmlns:m="http://schemas.openxmlformats.org/officeDocument/2006/math">
                    <m:func>
                      <m:funcPr>
                        <m:ctrlPr>
                          <a:rPr lang="en-US" sz="2400" b="0" i="1" smtClean="0">
                            <a:latin typeface="Cambria Math" panose="02040503050406030204" pitchFamily="18" charset="0"/>
                            <a:cs typeface="Times New Roman" panose="02020603050405020304" pitchFamily="18" charset="0"/>
                          </a:rPr>
                        </m:ctrlPr>
                      </m:funcPr>
                      <m:fName>
                        <m:r>
                          <m:rPr>
                            <m:sty m:val="p"/>
                          </m:rPr>
                          <a:rPr lang="en-US" sz="2400" b="0" i="0" smtClean="0">
                            <a:latin typeface="Cambria Math" panose="02040503050406030204" pitchFamily="18" charset="0"/>
                            <a:cs typeface="Times New Roman" panose="02020603050405020304" pitchFamily="18" charset="0"/>
                          </a:rPr>
                          <m:t>exp</m:t>
                        </m:r>
                      </m:fName>
                      <m:e>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𝛽</m:t>
                            </m:r>
                          </m:e>
                        </m:d>
                        <m:r>
                          <a:rPr lang="en-US" sz="2400" b="0" i="1" smtClean="0">
                            <a:latin typeface="Cambria Math" panose="02040503050406030204" pitchFamily="18" charset="0"/>
                            <a:cs typeface="Times New Roman" panose="02020603050405020304" pitchFamily="18" charset="0"/>
                          </a:rPr>
                          <m:t>−1&lt;0</m:t>
                        </m:r>
                      </m:e>
                    </m:func>
                  </m:oMath>
                </a14:m>
                <a:r>
                  <a:rPr lang="en-US" sz="2400" dirty="0">
                    <a:cs typeface="Times New Roman" panose="02020603050405020304" pitchFamily="18" charset="0"/>
                  </a:rPr>
                  <a:t>, then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is </a:t>
                </a:r>
                <a:r>
                  <a:rPr lang="en-US" sz="2400" i="1" dirty="0">
                    <a:cs typeface="Times New Roman" panose="02020603050405020304" pitchFamily="18" charset="0"/>
                  </a:rPr>
                  <a:t>less likely </a:t>
                </a:r>
                <a:r>
                  <a:rPr lang="en-US" sz="2400" dirty="0">
                    <a:cs typeface="Times New Roman" panose="02020603050405020304" pitchFamily="18" charset="0"/>
                  </a:rPr>
                  <a:t>to happen when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increases</a:t>
                </a:r>
              </a:p>
              <a:p>
                <a:pPr lvl="1"/>
                <a:r>
                  <a:rPr lang="en-US" sz="2400" dirty="0">
                    <a:cs typeface="Times New Roman" panose="02020603050405020304" pitchFamily="18" charset="0"/>
                  </a:rPr>
                  <a:t>If </a:t>
                </a:r>
                <a14:m>
                  <m:oMath xmlns:m="http://schemas.openxmlformats.org/officeDocument/2006/math">
                    <m:func>
                      <m:funcPr>
                        <m:ctrlPr>
                          <a:rPr lang="en-US" sz="2400" b="0" i="1" smtClean="0">
                            <a:latin typeface="Cambria Math" panose="02040503050406030204" pitchFamily="18" charset="0"/>
                            <a:cs typeface="Times New Roman" panose="02020603050405020304" pitchFamily="18" charset="0"/>
                          </a:rPr>
                        </m:ctrlPr>
                      </m:funcPr>
                      <m:fName>
                        <m:r>
                          <m:rPr>
                            <m:sty m:val="p"/>
                          </m:rPr>
                          <a:rPr lang="en-US" sz="2400" b="0" i="0" smtClean="0">
                            <a:latin typeface="Cambria Math" panose="02040503050406030204" pitchFamily="18" charset="0"/>
                            <a:cs typeface="Times New Roman" panose="02020603050405020304" pitchFamily="18" charset="0"/>
                          </a:rPr>
                          <m:t>exp</m:t>
                        </m:r>
                      </m:fName>
                      <m:e>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𝛽</m:t>
                            </m:r>
                          </m:e>
                        </m:d>
                      </m:e>
                    </m:func>
                    <m:r>
                      <a:rPr lang="en-US" sz="2400" b="0" i="1" smtClean="0">
                        <a:latin typeface="Cambria Math" panose="02040503050406030204" pitchFamily="18" charset="0"/>
                        <a:cs typeface="Times New Roman" panose="02020603050405020304" pitchFamily="18" charset="0"/>
                      </a:rPr>
                      <m:t>−1</m:t>
                    </m:r>
                  </m:oMath>
                </a14:m>
                <a:r>
                  <a:rPr lang="en-US" sz="2400" dirty="0">
                    <a:cs typeface="Times New Roman" panose="02020603050405020304" pitchFamily="18" charset="0"/>
                  </a:rPr>
                  <a:t> &gt; 0, then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is </a:t>
                </a:r>
                <a:r>
                  <a:rPr lang="en-US" sz="2400" i="1" dirty="0">
                    <a:cs typeface="Times New Roman" panose="02020603050405020304" pitchFamily="18" charset="0"/>
                  </a:rPr>
                  <a:t>more likely </a:t>
                </a:r>
                <a:r>
                  <a:rPr lang="en-US" sz="2400" dirty="0">
                    <a:cs typeface="Times New Roman" panose="02020603050405020304" pitchFamily="18" charset="0"/>
                  </a:rPr>
                  <a:t>to happen when </a:t>
                </a:r>
                <a14:m>
                  <m:oMath xmlns:m="http://schemas.openxmlformats.org/officeDocument/2006/math">
                    <m:r>
                      <a:rPr lang="en-US" sz="2400" i="1" dirty="0"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increases</a:t>
                </a:r>
              </a:p>
              <a:p>
                <a:pPr lvl="1"/>
                <a:endParaRPr lang="en-US" sz="2400" dirty="0">
                  <a:cs typeface="Times New Roman" panose="02020603050405020304" pitchFamily="18" charset="0"/>
                </a:endParaRPr>
              </a:p>
              <a:p>
                <a:pPr lvl="1"/>
                <a:r>
                  <a:rPr lang="en-US" sz="2400" dirty="0">
                    <a:cs typeface="Times New Roman" panose="02020603050405020304" pitchFamily="18" charset="0"/>
                  </a:rPr>
                  <a:t> </a:t>
                </a: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794" t="-1779" b="-356"/>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32154D0C-D52F-0700-B631-7A9945078F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1200" y="5181600"/>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302585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Poisson Regressions in Practice: Advantages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Useful for count data, but also for</a:t>
            </a:r>
            <a:r>
              <a:rPr lang="en-US" sz="2400" i="1" dirty="0">
                <a:cs typeface="Times New Roman" panose="02020603050405020304" pitchFamily="18" charset="0"/>
              </a:rPr>
              <a:t> any</a:t>
            </a:r>
            <a:r>
              <a:rPr lang="en-US" sz="2400" dirty="0">
                <a:cs typeface="Times New Roman" panose="02020603050405020304" pitchFamily="18" charset="0"/>
              </a:rPr>
              <a:t> case with nonnegative data: </a:t>
            </a:r>
          </a:p>
          <a:p>
            <a:pPr lvl="1"/>
            <a:r>
              <a:rPr lang="en-US" sz="2200" dirty="0">
                <a:cs typeface="Times New Roman" panose="02020603050405020304" pitchFamily="18" charset="0"/>
              </a:rPr>
              <a:t>Don’t need additional assumptions about conditional mean (log-transformed data)</a:t>
            </a:r>
          </a:p>
          <a:p>
            <a:pPr lvl="1"/>
            <a:r>
              <a:rPr lang="en-US" sz="2200" dirty="0">
                <a:cs typeface="Times New Roman" panose="02020603050405020304" pitchFamily="18" charset="0"/>
              </a:rPr>
              <a:t>Natural way to deal with zeros</a:t>
            </a:r>
          </a:p>
          <a:p>
            <a:pPr lvl="1"/>
            <a:r>
              <a:rPr lang="en-US" sz="2200" dirty="0">
                <a:cs typeface="Times New Roman" panose="02020603050405020304" pitchFamily="18" charset="0"/>
              </a:rPr>
              <a:t>Avoids inconsistency when using log-transformed + heteroskedasticity</a:t>
            </a:r>
          </a:p>
          <a:p>
            <a:r>
              <a:rPr lang="en-US" sz="2400" dirty="0">
                <a:cs typeface="Times New Roman" panose="02020603050405020304" pitchFamily="18" charset="0"/>
              </a:rPr>
              <a:t>Not as computationally intensive anymore (</a:t>
            </a:r>
            <a:r>
              <a:rPr lang="en-US" sz="2400" dirty="0" err="1">
                <a:cs typeface="Times New Roman" panose="02020603050405020304" pitchFamily="18" charset="0"/>
              </a:rPr>
              <a:t>ppmlhdfe</a:t>
            </a:r>
            <a:r>
              <a:rPr lang="en-US" sz="2400" dirty="0">
                <a:cs typeface="Times New Roman" panose="02020603050405020304" pitchFamily="18" charset="0"/>
              </a:rPr>
              <a:t> in Stata, glm in R)</a:t>
            </a:r>
          </a:p>
          <a:p>
            <a:r>
              <a:rPr lang="en-US" sz="2400" dirty="0">
                <a:cs typeface="Times New Roman" panose="02020603050405020304" pitchFamily="18" charset="0"/>
              </a:rPr>
              <a:t>Can report marginal effects, or use levels of coefficients as </a:t>
            </a:r>
            <a:r>
              <a:rPr lang="en-US" sz="2400" b="1" dirty="0">
                <a:cs typeface="Times New Roman" panose="02020603050405020304" pitchFamily="18" charset="0"/>
              </a:rPr>
              <a:t>approximate percentage changes </a:t>
            </a:r>
            <a:r>
              <a:rPr lang="en-US" sz="2400" dirty="0">
                <a:cs typeface="Times New Roman" panose="02020603050405020304" pitchFamily="18" charset="0"/>
              </a:rPr>
              <a:t>(similar to a log model).</a:t>
            </a:r>
          </a:p>
          <a:p>
            <a:endParaRPr lang="en-US" sz="2400" dirty="0">
              <a:cs typeface="Times New Roman" panose="02020603050405020304" pitchFamily="18" charset="0"/>
            </a:endParaRPr>
          </a:p>
          <a:p>
            <a:endParaRPr lang="en-US" sz="2400" dirty="0">
              <a:cs typeface="Times New Roman" panose="02020603050405020304" pitchFamily="18" charset="0"/>
            </a:endParaRPr>
          </a:p>
        </p:txBody>
      </p:sp>
    </p:spTree>
    <p:extLst>
      <p:ext uri="{BB962C8B-B14F-4D97-AF65-F5344CB8AC3E}">
        <p14:creationId xmlns:p14="http://schemas.microsoft.com/office/powerpoint/2010/main" val="343690980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Poisson Regressions in Practice: Dispersion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One key assumption in a Poisson model is that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𝜆</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𝔼</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𝕍</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𝑥</m:t>
                        </m:r>
                      </m:e>
                    </m:d>
                  </m:oMath>
                </a14:m>
                <a:r>
                  <a:rPr lang="en-US" sz="2400" dirty="0">
                    <a:cs typeface="Times New Roman" panose="02020603050405020304" pitchFamily="18" charset="0"/>
                  </a:rPr>
                  <a:t> </a:t>
                </a:r>
              </a:p>
              <a:p>
                <a:r>
                  <a:rPr lang="en-US" sz="2400" dirty="0">
                    <a:cs typeface="Times New Roman" panose="02020603050405020304" pitchFamily="18" charset="0"/>
                  </a:rPr>
                  <a:t>Essentially, this tests if you chose the right </a:t>
                </a:r>
                <a:r>
                  <a:rPr lang="en-US" sz="2400" b="1" dirty="0">
                    <a:cs typeface="Times New Roman" panose="02020603050405020304" pitchFamily="18" charset="0"/>
                  </a:rPr>
                  <a:t>link function </a:t>
                </a:r>
              </a:p>
              <a:p>
                <a:r>
                  <a:rPr lang="en-US" sz="2400" dirty="0">
                    <a:cs typeface="Times New Roman" panose="02020603050405020304" pitchFamily="18" charset="0"/>
                  </a:rPr>
                  <a:t>It’s very possible (especially with lots of heterogeneity in your data) that you have </a:t>
                </a:r>
                <a:r>
                  <a:rPr lang="en-US" sz="2400" b="1" dirty="0">
                    <a:cs typeface="Times New Roman" panose="02020603050405020304" pitchFamily="18" charset="0"/>
                  </a:rPr>
                  <a:t>overdispersion</a:t>
                </a:r>
                <a:r>
                  <a:rPr lang="en-US" sz="2400" dirty="0">
                    <a:cs typeface="Times New Roman" panose="02020603050405020304" pitchFamily="18" charset="0"/>
                  </a:rPr>
                  <a: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𝕍</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cs typeface="Times New Roman" panose="02020603050405020304" pitchFamily="18" charset="0"/>
                      </a:rPr>
                      <m:t>&gt;</m:t>
                    </m:r>
                    <m:r>
                      <a:rPr lang="en-US" sz="2400" b="0" i="1" smtClean="0">
                        <a:latin typeface="Cambria Math" panose="02040503050406030204" pitchFamily="18" charset="0"/>
                        <a:cs typeface="Times New Roman" panose="02020603050405020304" pitchFamily="18" charset="0"/>
                      </a:rPr>
                      <m:t>𝔼</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cs typeface="Times New Roman" panose="02020603050405020304" pitchFamily="18" charset="0"/>
                      </a:rPr>
                      <m:t>)</m:t>
                    </m:r>
                  </m:oMath>
                </a14:m>
                <a:endParaRPr lang="en-US" sz="2400" dirty="0">
                  <a:cs typeface="Times New Roman" panose="02020603050405020304" pitchFamily="18" charset="0"/>
                </a:endParaRPr>
              </a:p>
              <a:p>
                <a:pPr lvl="1"/>
                <a:r>
                  <a:rPr lang="en-US" sz="2400" dirty="0">
                    <a:cs typeface="Times New Roman" panose="02020603050405020304" pitchFamily="18" charset="0"/>
                  </a:rPr>
                  <a:t>This doesn’t affect bias, but does lead to </a:t>
                </a:r>
                <a:r>
                  <a:rPr lang="en-US" sz="2400" b="1" dirty="0">
                    <a:cs typeface="Times New Roman" panose="02020603050405020304" pitchFamily="18" charset="0"/>
                  </a:rPr>
                  <a:t>imprecision </a:t>
                </a:r>
                <a:r>
                  <a:rPr lang="en-US" sz="2400" dirty="0">
                    <a:cs typeface="Times New Roman" panose="02020603050405020304" pitchFamily="18" charset="0"/>
                  </a:rPr>
                  <a:t>in your estimates</a:t>
                </a: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r="-183"/>
                </a:stretch>
              </a:blipFill>
            </p:spPr>
            <p:txBody>
              <a:bodyPr/>
              <a:lstStyle/>
              <a:p>
                <a:r>
                  <a:rPr lang="en-US">
                    <a:noFill/>
                  </a:rPr>
                  <a:t> </a:t>
                </a:r>
              </a:p>
            </p:txBody>
          </p:sp>
        </mc:Fallback>
      </mc:AlternateContent>
    </p:spTree>
    <p:extLst>
      <p:ext uri="{BB962C8B-B14F-4D97-AF65-F5344CB8AC3E}">
        <p14:creationId xmlns:p14="http://schemas.microsoft.com/office/powerpoint/2010/main" val="25422732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Poisson Regressions in Practice: Dispersion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One key assumption in a Poisson model is that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𝜆</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𝔼</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𝕍</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𝑥</m:t>
                        </m:r>
                      </m:e>
                    </m:d>
                  </m:oMath>
                </a14:m>
                <a:r>
                  <a:rPr lang="en-US" sz="2400" dirty="0">
                    <a:cs typeface="Times New Roman" panose="02020603050405020304" pitchFamily="18" charset="0"/>
                  </a:rPr>
                  <a:t> </a:t>
                </a:r>
              </a:p>
              <a:p>
                <a:r>
                  <a:rPr lang="en-US" sz="2400" dirty="0">
                    <a:cs typeface="Times New Roman" panose="02020603050405020304" pitchFamily="18" charset="0"/>
                  </a:rPr>
                  <a:t>Essentially, this tests if you chose the right </a:t>
                </a:r>
                <a:r>
                  <a:rPr lang="en-US" sz="2400" b="1" dirty="0">
                    <a:cs typeface="Times New Roman" panose="02020603050405020304" pitchFamily="18" charset="0"/>
                  </a:rPr>
                  <a:t>link function </a:t>
                </a:r>
              </a:p>
              <a:p>
                <a:r>
                  <a:rPr lang="en-US" sz="2400" dirty="0">
                    <a:cs typeface="Times New Roman" panose="02020603050405020304" pitchFamily="18" charset="0"/>
                  </a:rPr>
                  <a:t>It’s very possible (especially with lots of heterogeneity in your data) that you have </a:t>
                </a:r>
                <a:r>
                  <a:rPr lang="en-US" sz="2400" b="1" dirty="0">
                    <a:cs typeface="Times New Roman" panose="02020603050405020304" pitchFamily="18" charset="0"/>
                  </a:rPr>
                  <a:t>overdispersion</a:t>
                </a:r>
                <a:r>
                  <a:rPr lang="en-US" sz="2400" dirty="0">
                    <a:cs typeface="Times New Roman" panose="02020603050405020304" pitchFamily="18" charset="0"/>
                  </a:rPr>
                  <a: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𝕍</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𝑥</m:t>
                        </m:r>
                      </m:e>
                    </m:d>
                    <m:r>
                      <a:rPr lang="en-US" sz="2400" b="0" i="1" smtClean="0">
                        <a:latin typeface="Cambria Math" panose="02040503050406030204" pitchFamily="18" charset="0"/>
                        <a:cs typeface="Times New Roman" panose="02020603050405020304" pitchFamily="18" charset="0"/>
                      </a:rPr>
                      <m:t>&gt;</m:t>
                    </m:r>
                    <m:r>
                      <a:rPr lang="en-US" sz="2400" b="0" i="1" smtClean="0">
                        <a:latin typeface="Cambria Math" panose="02040503050406030204" pitchFamily="18" charset="0"/>
                        <a:cs typeface="Times New Roman" panose="02020603050405020304" pitchFamily="18" charset="0"/>
                      </a:rPr>
                      <m:t>𝔼</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cs typeface="Times New Roman" panose="02020603050405020304" pitchFamily="18" charset="0"/>
                      </a:rPr>
                      <m:t>)</m:t>
                    </m:r>
                  </m:oMath>
                </a14:m>
                <a:endParaRPr lang="en-US" sz="2400" dirty="0">
                  <a:cs typeface="Times New Roman" panose="02020603050405020304" pitchFamily="18" charset="0"/>
                </a:endParaRPr>
              </a:p>
              <a:p>
                <a:pPr lvl="1"/>
                <a:r>
                  <a:rPr lang="en-US" sz="2400" dirty="0">
                    <a:cs typeface="Times New Roman" panose="02020603050405020304" pitchFamily="18" charset="0"/>
                  </a:rPr>
                  <a:t>This doesn’t affect bias, but does lead to </a:t>
                </a:r>
                <a:r>
                  <a:rPr lang="en-US" sz="2400" b="1" dirty="0">
                    <a:cs typeface="Times New Roman" panose="02020603050405020304" pitchFamily="18" charset="0"/>
                  </a:rPr>
                  <a:t>imprecision </a:t>
                </a:r>
                <a:r>
                  <a:rPr lang="en-US" sz="2400" dirty="0">
                    <a:cs typeface="Times New Roman" panose="02020603050405020304" pitchFamily="18" charset="0"/>
                  </a:rPr>
                  <a:t>in your estimates</a:t>
                </a:r>
              </a:p>
              <a:p>
                <a:pPr lvl="1"/>
                <a:r>
                  <a:rPr lang="en-US" sz="2400" dirty="0">
                    <a:cs typeface="Times New Roman" panose="02020603050405020304" pitchFamily="18" charset="0"/>
                  </a:rPr>
                  <a:t>Good news: you can test for this in data! </a:t>
                </a:r>
              </a:p>
              <a:p>
                <a:pPr lvl="1"/>
                <a:r>
                  <a:rPr lang="en-US" sz="2400" dirty="0">
                    <a:cs typeface="Times New Roman" panose="02020603050405020304" pitchFamily="18" charset="0"/>
                  </a:rPr>
                  <a:t>Can also adjust your likelihood function with a new variance term</a:t>
                </a:r>
              </a:p>
              <a:p>
                <a:r>
                  <a:rPr lang="en-US" sz="2400" dirty="0">
                    <a:cs typeface="Times New Roman" panose="02020603050405020304" pitchFamily="18" charset="0"/>
                  </a:rPr>
                  <a:t>Most common way to deal with overdispersion: </a:t>
                </a:r>
                <a:r>
                  <a:rPr lang="en-US" sz="2400" b="1" dirty="0">
                    <a:cs typeface="Times New Roman" panose="02020603050405020304" pitchFamily="18" charset="0"/>
                  </a:rPr>
                  <a:t>negative binomial </a:t>
                </a:r>
                <a:r>
                  <a:rPr lang="en-US" sz="2400" dirty="0">
                    <a:cs typeface="Times New Roman" panose="02020603050405020304" pitchFamily="18" charset="0"/>
                  </a:rPr>
                  <a:t>link</a:t>
                </a:r>
              </a:p>
              <a:p>
                <a:pPr lvl="1"/>
                <a:r>
                  <a:rPr lang="en-US" sz="2400" dirty="0">
                    <a:cs typeface="Times New Roman" panose="02020603050405020304" pitchFamily="18" charset="0"/>
                  </a:rPr>
                  <a:t>Just changes link function slightly, can accommodate over/under dispersion</a:t>
                </a: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r="-183"/>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32154D0C-D52F-0700-B631-7A9945078F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1200" y="5181600"/>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662174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Poisson Regressions in Practice: Dispersion</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endParaRPr lang="en-US" sz="2400" dirty="0">
              <a:cs typeface="Times New Roman" panose="02020603050405020304" pitchFamily="18" charset="0"/>
            </a:endParaRPr>
          </a:p>
        </p:txBody>
      </p:sp>
      <p:pic>
        <p:nvPicPr>
          <p:cNvPr id="4" name="Picture 2" descr="RStudio - RStudio">
            <a:extLst>
              <a:ext uri="{FF2B5EF4-FFF2-40B4-BE49-F238E27FC236}">
                <a16:creationId xmlns:a16="http://schemas.microsoft.com/office/drawing/2014/main" id="{32154D0C-D52F-0700-B631-7A9945078F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01200" y="5181600"/>
            <a:ext cx="1371600" cy="13716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54C626BF-B5BE-4A42-CA68-E242EA6ED788}"/>
              </a:ext>
            </a:extLst>
          </p:cNvPr>
          <p:cNvPicPr>
            <a:picLocks noChangeAspect="1"/>
          </p:cNvPicPr>
          <p:nvPr/>
        </p:nvPicPr>
        <p:blipFill>
          <a:blip r:embed="rId4"/>
          <a:stretch>
            <a:fillRect/>
          </a:stretch>
        </p:blipFill>
        <p:spPr>
          <a:xfrm>
            <a:off x="642730" y="909166"/>
            <a:ext cx="6935221" cy="5796433"/>
          </a:xfrm>
          <a:prstGeom prst="rect">
            <a:avLst/>
          </a:prstGeom>
        </p:spPr>
      </p:pic>
    </p:spTree>
    <p:extLst>
      <p:ext uri="{BB962C8B-B14F-4D97-AF65-F5344CB8AC3E}">
        <p14:creationId xmlns:p14="http://schemas.microsoft.com/office/powerpoint/2010/main" val="128653211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Example: How do hospital closures affect access?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Context: Between 1997 and 2002, Los Angeles County lost roughly 10% of its initial 131 hospitals</a:t>
            </a:r>
          </a:p>
          <a:p>
            <a:pPr lvl="1"/>
            <a:r>
              <a:rPr lang="en-US" sz="2200" dirty="0">
                <a:cs typeface="Times New Roman" panose="02020603050405020304" pitchFamily="18" charset="0"/>
              </a:rPr>
              <a:t>9 other “general acute care” hospitals also closed</a:t>
            </a:r>
          </a:p>
        </p:txBody>
      </p:sp>
    </p:spTree>
    <p:extLst>
      <p:ext uri="{BB962C8B-B14F-4D97-AF65-F5344CB8AC3E}">
        <p14:creationId xmlns:p14="http://schemas.microsoft.com/office/powerpoint/2010/main" val="308114512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Example: How do hospital closures affect access?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Context: Between 1997 and 2002, Los Angeles County lost roughly 10% of its initial 131 hospitals</a:t>
            </a:r>
          </a:p>
          <a:p>
            <a:pPr lvl="1"/>
            <a:r>
              <a:rPr lang="en-US" sz="2200" dirty="0">
                <a:cs typeface="Times New Roman" panose="02020603050405020304" pitchFamily="18" charset="0"/>
              </a:rPr>
              <a:t>9 other “general acute care” hospitals also closed</a:t>
            </a:r>
          </a:p>
          <a:p>
            <a:r>
              <a:rPr lang="en-US" sz="2400" dirty="0">
                <a:cs typeface="Times New Roman" panose="02020603050405020304" pitchFamily="18" charset="0"/>
              </a:rPr>
              <a:t>Contribution: assessing the impact of hospital closures on: </a:t>
            </a:r>
          </a:p>
          <a:p>
            <a:pPr marL="731520" lvl="1" indent="-457200">
              <a:buAutoNum type="arabicPeriod"/>
            </a:pPr>
            <a:r>
              <a:rPr lang="en-US" sz="2200" dirty="0">
                <a:cs typeface="Times New Roman" panose="02020603050405020304" pitchFamily="18" charset="0"/>
              </a:rPr>
              <a:t>Perceived access to care</a:t>
            </a:r>
          </a:p>
          <a:p>
            <a:pPr marL="731520" lvl="1" indent="-457200">
              <a:buAutoNum type="arabicPeriod"/>
            </a:pPr>
            <a:r>
              <a:rPr lang="en-US" sz="2200" dirty="0">
                <a:cs typeface="Times New Roman" panose="02020603050405020304" pitchFamily="18" charset="0"/>
              </a:rPr>
              <a:t>Health care utilization</a:t>
            </a:r>
          </a:p>
          <a:p>
            <a:pPr marL="731520" lvl="1" indent="-457200">
              <a:buAutoNum type="arabicPeriod"/>
            </a:pPr>
            <a:r>
              <a:rPr lang="en-US" sz="2200" dirty="0">
                <a:cs typeface="Times New Roman" panose="02020603050405020304" pitchFamily="18" charset="0"/>
              </a:rPr>
              <a:t>Health outcomes</a:t>
            </a:r>
          </a:p>
          <a:p>
            <a:pPr lvl="1"/>
            <a:r>
              <a:rPr lang="en-US" sz="2200" dirty="0">
                <a:cs typeface="Times New Roman" panose="02020603050405020304" pitchFamily="18" charset="0"/>
              </a:rPr>
              <a:t>What do we think? Valid? Interesting? </a:t>
            </a:r>
          </a:p>
          <a:p>
            <a:pPr lvl="1"/>
            <a:r>
              <a:rPr lang="en-US" sz="2200" dirty="0">
                <a:cs typeface="Times New Roman" panose="02020603050405020304" pitchFamily="18" charset="0"/>
              </a:rPr>
              <a:t>What’s the main mechanism? What’s the hypothesis/hypotheses?</a:t>
            </a:r>
          </a:p>
        </p:txBody>
      </p:sp>
    </p:spTree>
    <p:extLst>
      <p:ext uri="{BB962C8B-B14F-4D97-AF65-F5344CB8AC3E}">
        <p14:creationId xmlns:p14="http://schemas.microsoft.com/office/powerpoint/2010/main" val="304138490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Example: How do hospital closures affect access?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Context: Between 1997 and 2002, Los Angeles County lost roughly 10% of its initial 131 hospitals</a:t>
            </a:r>
          </a:p>
          <a:p>
            <a:pPr lvl="1"/>
            <a:r>
              <a:rPr lang="en-US" sz="2200" dirty="0">
                <a:cs typeface="Times New Roman" panose="02020603050405020304" pitchFamily="18" charset="0"/>
              </a:rPr>
              <a:t>9 other “general acute care” hospitals also closed</a:t>
            </a:r>
          </a:p>
          <a:p>
            <a:r>
              <a:rPr lang="en-US" sz="2400" dirty="0">
                <a:cs typeface="Times New Roman" panose="02020603050405020304" pitchFamily="18" charset="0"/>
              </a:rPr>
              <a:t>Contribution: “assessing the impact of hospital closures on perceived access to care, health care utilization and health outcomes”</a:t>
            </a:r>
          </a:p>
          <a:p>
            <a:pPr lvl="1"/>
            <a:r>
              <a:rPr lang="en-US" sz="2200" dirty="0">
                <a:cs typeface="Times New Roman" panose="02020603050405020304" pitchFamily="18" charset="0"/>
              </a:rPr>
              <a:t>What do we think? Valid? Interesting? </a:t>
            </a:r>
          </a:p>
          <a:p>
            <a:pPr lvl="1"/>
            <a:r>
              <a:rPr lang="en-US" sz="2200" dirty="0">
                <a:cs typeface="Times New Roman" panose="02020603050405020304" pitchFamily="18" charset="0"/>
              </a:rPr>
              <a:t>What’s the main mechanism? What’s the hypothesis/hypotheses?</a:t>
            </a:r>
          </a:p>
          <a:p>
            <a:r>
              <a:rPr lang="en-US" sz="2400" dirty="0">
                <a:cs typeface="Times New Roman" panose="02020603050405020304" pitchFamily="18" charset="0"/>
              </a:rPr>
              <a:t>Data: household surveys + administrative zip code level mortality data</a:t>
            </a:r>
          </a:p>
          <a:p>
            <a:pPr lvl="1"/>
            <a:r>
              <a:rPr lang="en-US" sz="2200" dirty="0">
                <a:cs typeface="Times New Roman" panose="02020603050405020304" pitchFamily="18" charset="0"/>
              </a:rPr>
              <a:t>How useful is this? What would be better?</a:t>
            </a:r>
          </a:p>
        </p:txBody>
      </p:sp>
    </p:spTree>
    <p:extLst>
      <p:ext uri="{BB962C8B-B14F-4D97-AF65-F5344CB8AC3E}">
        <p14:creationId xmlns:p14="http://schemas.microsoft.com/office/powerpoint/2010/main" val="178355354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Example: How do hospital closures affect access?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Context: Between 1997 and 2002, Los Angeles County lost roughly 10% of its initial 131 hospitals</a:t>
            </a:r>
          </a:p>
          <a:p>
            <a:pPr lvl="1"/>
            <a:r>
              <a:rPr lang="en-US" sz="2200" dirty="0">
                <a:cs typeface="Times New Roman" panose="02020603050405020304" pitchFamily="18" charset="0"/>
              </a:rPr>
              <a:t>9 other “general acute care” hospitals also closed</a:t>
            </a:r>
          </a:p>
          <a:p>
            <a:r>
              <a:rPr lang="en-US" sz="2400" dirty="0">
                <a:cs typeface="Times New Roman" panose="02020603050405020304" pitchFamily="18" charset="0"/>
              </a:rPr>
              <a:t>Contribution: “assessing the impact of hospital closures on perceived access to care, health care utilization and health outcomes”</a:t>
            </a:r>
          </a:p>
          <a:p>
            <a:pPr lvl="1"/>
            <a:r>
              <a:rPr lang="en-US" sz="2200" dirty="0">
                <a:cs typeface="Times New Roman" panose="02020603050405020304" pitchFamily="18" charset="0"/>
              </a:rPr>
              <a:t>What do we think? Valid? Interesting? </a:t>
            </a:r>
          </a:p>
          <a:p>
            <a:pPr lvl="1"/>
            <a:r>
              <a:rPr lang="en-US" sz="2200" dirty="0">
                <a:cs typeface="Times New Roman" panose="02020603050405020304" pitchFamily="18" charset="0"/>
              </a:rPr>
              <a:t>What’s the main mechanism? What’s the hypothesis/hypotheses?</a:t>
            </a:r>
          </a:p>
          <a:p>
            <a:r>
              <a:rPr lang="en-US" sz="2400" dirty="0">
                <a:cs typeface="Times New Roman" panose="02020603050405020304" pitchFamily="18" charset="0"/>
              </a:rPr>
              <a:t>Data: household surveys + administrative zip code level mortality data</a:t>
            </a:r>
          </a:p>
          <a:p>
            <a:pPr lvl="1"/>
            <a:r>
              <a:rPr lang="en-US" sz="2200" dirty="0">
                <a:cs typeface="Times New Roman" panose="02020603050405020304" pitchFamily="18" charset="0"/>
              </a:rPr>
              <a:t>How useful is this? What would be better?</a:t>
            </a:r>
          </a:p>
          <a:p>
            <a:r>
              <a:rPr lang="en-US" sz="2400" dirty="0">
                <a:cs typeface="Times New Roman" panose="02020603050405020304" pitchFamily="18" charset="0"/>
              </a:rPr>
              <a:t>Methods: What exogeneity assumption are they resting on?</a:t>
            </a:r>
          </a:p>
          <a:p>
            <a:pPr lvl="1"/>
            <a:r>
              <a:rPr lang="en-US" sz="2200" dirty="0">
                <a:cs typeface="Times New Roman" panose="02020603050405020304" pitchFamily="18" charset="0"/>
              </a:rPr>
              <a:t>Do they have a control group? Who? </a:t>
            </a:r>
          </a:p>
        </p:txBody>
      </p:sp>
    </p:spTree>
    <p:extLst>
      <p:ext uri="{BB962C8B-B14F-4D97-AF65-F5344CB8AC3E}">
        <p14:creationId xmlns:p14="http://schemas.microsoft.com/office/powerpoint/2010/main" val="372833617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Data: What story are we telling here?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endParaRPr lang="en-US" sz="2400" dirty="0">
              <a:cs typeface="Times New Roman" panose="02020603050405020304" pitchFamily="18" charset="0"/>
            </a:endParaRPr>
          </a:p>
        </p:txBody>
      </p:sp>
      <p:pic>
        <p:nvPicPr>
          <p:cNvPr id="6" name="Picture 5">
            <a:extLst>
              <a:ext uri="{FF2B5EF4-FFF2-40B4-BE49-F238E27FC236}">
                <a16:creationId xmlns:a16="http://schemas.microsoft.com/office/drawing/2014/main" id="{60AEF109-A331-86E3-6C4E-58643AF7D8B4}"/>
              </a:ext>
            </a:extLst>
          </p:cNvPr>
          <p:cNvPicPr>
            <a:picLocks noChangeAspect="1"/>
          </p:cNvPicPr>
          <p:nvPr/>
        </p:nvPicPr>
        <p:blipFill>
          <a:blip r:embed="rId3"/>
          <a:stretch>
            <a:fillRect/>
          </a:stretch>
        </p:blipFill>
        <p:spPr>
          <a:xfrm>
            <a:off x="665686" y="1219200"/>
            <a:ext cx="10327228" cy="5141388"/>
          </a:xfrm>
          <a:prstGeom prst="rect">
            <a:avLst/>
          </a:prstGeom>
        </p:spPr>
      </p:pic>
    </p:spTree>
    <p:extLst>
      <p:ext uri="{BB962C8B-B14F-4D97-AF65-F5344CB8AC3E}">
        <p14:creationId xmlns:p14="http://schemas.microsoft.com/office/powerpoint/2010/main" val="281943837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Results: Linear Probability Models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D8A28756-B9C4-BEFA-CD3E-5102A04A4397}"/>
              </a:ext>
            </a:extLst>
          </p:cNvPr>
          <p:cNvPicPr>
            <a:picLocks noChangeAspect="1"/>
          </p:cNvPicPr>
          <p:nvPr/>
        </p:nvPicPr>
        <p:blipFill>
          <a:blip r:embed="rId3"/>
          <a:stretch>
            <a:fillRect/>
          </a:stretch>
        </p:blipFill>
        <p:spPr>
          <a:xfrm>
            <a:off x="609600" y="855525"/>
            <a:ext cx="9000000" cy="3264580"/>
          </a:xfrm>
          <a:prstGeom prst="rect">
            <a:avLst/>
          </a:prstGeom>
        </p:spPr>
      </p:pic>
      <p:pic>
        <p:nvPicPr>
          <p:cNvPr id="8" name="Picture 7">
            <a:extLst>
              <a:ext uri="{FF2B5EF4-FFF2-40B4-BE49-F238E27FC236}">
                <a16:creationId xmlns:a16="http://schemas.microsoft.com/office/drawing/2014/main" id="{5950D5DE-497B-034D-A43E-1FB0EB97852F}"/>
              </a:ext>
            </a:extLst>
          </p:cNvPr>
          <p:cNvPicPr>
            <a:picLocks noChangeAspect="1"/>
          </p:cNvPicPr>
          <p:nvPr/>
        </p:nvPicPr>
        <p:blipFill>
          <a:blip r:embed="rId4"/>
          <a:stretch>
            <a:fillRect/>
          </a:stretch>
        </p:blipFill>
        <p:spPr>
          <a:xfrm>
            <a:off x="601200" y="3649175"/>
            <a:ext cx="9000000" cy="3361225"/>
          </a:xfrm>
          <a:prstGeom prst="rect">
            <a:avLst/>
          </a:prstGeom>
        </p:spPr>
      </p:pic>
    </p:spTree>
    <p:extLst>
      <p:ext uri="{BB962C8B-B14F-4D97-AF65-F5344CB8AC3E}">
        <p14:creationId xmlns:p14="http://schemas.microsoft.com/office/powerpoint/2010/main" val="308871271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Poisson results: How do hospital closures affect access?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B46438B3-898A-A613-F9A4-8F4FEB51D09F}"/>
              </a:ext>
            </a:extLst>
          </p:cNvPr>
          <p:cNvPicPr>
            <a:picLocks noChangeAspect="1"/>
          </p:cNvPicPr>
          <p:nvPr/>
        </p:nvPicPr>
        <p:blipFill>
          <a:blip r:embed="rId3"/>
          <a:stretch>
            <a:fillRect/>
          </a:stretch>
        </p:blipFill>
        <p:spPr>
          <a:xfrm>
            <a:off x="228600" y="962230"/>
            <a:ext cx="11050351" cy="4295569"/>
          </a:xfrm>
          <a:prstGeom prst="rect">
            <a:avLst/>
          </a:prstGeom>
        </p:spPr>
      </p:pic>
    </p:spTree>
    <p:extLst>
      <p:ext uri="{BB962C8B-B14F-4D97-AF65-F5344CB8AC3E}">
        <p14:creationId xmlns:p14="http://schemas.microsoft.com/office/powerpoint/2010/main" val="170877198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Poisson results: How do hospital closures affect access?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endParaRPr lang="en-US" sz="2400" dirty="0">
              <a:cs typeface="Times New Roman" panose="02020603050405020304" pitchFamily="18" charset="0"/>
            </a:endParaRPr>
          </a:p>
        </p:txBody>
      </p:sp>
      <p:pic>
        <p:nvPicPr>
          <p:cNvPr id="6" name="Picture 5">
            <a:extLst>
              <a:ext uri="{FF2B5EF4-FFF2-40B4-BE49-F238E27FC236}">
                <a16:creationId xmlns:a16="http://schemas.microsoft.com/office/drawing/2014/main" id="{665FBAE5-6EBA-3BE8-1BB4-D93DDFCD848E}"/>
              </a:ext>
            </a:extLst>
          </p:cNvPr>
          <p:cNvPicPr>
            <a:picLocks noChangeAspect="1"/>
          </p:cNvPicPr>
          <p:nvPr/>
        </p:nvPicPr>
        <p:blipFill>
          <a:blip r:embed="rId3"/>
          <a:stretch>
            <a:fillRect/>
          </a:stretch>
        </p:blipFill>
        <p:spPr>
          <a:xfrm>
            <a:off x="228600" y="925788"/>
            <a:ext cx="10290643" cy="5703612"/>
          </a:xfrm>
          <a:prstGeom prst="rect">
            <a:avLst/>
          </a:prstGeom>
        </p:spPr>
      </p:pic>
    </p:spTree>
    <p:extLst>
      <p:ext uri="{BB962C8B-B14F-4D97-AF65-F5344CB8AC3E}">
        <p14:creationId xmlns:p14="http://schemas.microsoft.com/office/powerpoint/2010/main" val="96345448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Mini Referee Report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What do you think about this paper? Any concerns? Anything clever?</a:t>
            </a:r>
          </a:p>
        </p:txBody>
      </p:sp>
    </p:spTree>
    <p:extLst>
      <p:ext uri="{BB962C8B-B14F-4D97-AF65-F5344CB8AC3E}">
        <p14:creationId xmlns:p14="http://schemas.microsoft.com/office/powerpoint/2010/main" val="258567803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762000" y="758952"/>
            <a:ext cx="11353800" cy="4041648"/>
          </a:xfrm>
        </p:spPr>
        <p:txBody>
          <a:bodyPr>
            <a:normAutofit/>
          </a:bodyPr>
          <a:lstStyle/>
          <a:p>
            <a:r>
              <a:rPr lang="en-US" sz="6600" dirty="0"/>
              <a:t>Appendix: Estimation Methods</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9989007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Quick Note: MLE</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62001" y="1066801"/>
                <a:ext cx="9862990" cy="5141388"/>
              </a:xfrm>
            </p:spPr>
            <p:txBody>
              <a:bodyPr>
                <a:noAutofit/>
              </a:bodyPr>
              <a:lstStyle/>
              <a:p>
                <a:r>
                  <a:rPr lang="en-US" sz="2400" dirty="0">
                    <a:cs typeface="Times New Roman" panose="02020603050405020304" pitchFamily="18" charset="0"/>
                  </a:rPr>
                  <a:t>So far, we have been using the </a:t>
                </a:r>
                <a:r>
                  <a:rPr lang="en-US" sz="2400" b="1" dirty="0">
                    <a:solidFill>
                      <a:schemeClr val="accent3">
                        <a:lumMod val="75000"/>
                      </a:schemeClr>
                    </a:solidFill>
                    <a:cs typeface="Times New Roman" panose="02020603050405020304" pitchFamily="18" charset="0"/>
                  </a:rPr>
                  <a:t>method of moments </a:t>
                </a:r>
                <a:r>
                  <a:rPr lang="en-US" sz="2400" dirty="0">
                    <a:cs typeface="Times New Roman" panose="02020603050405020304" pitchFamily="18" charset="0"/>
                  </a:rPr>
                  <a:t>(like GMM) to (talk about) estimating our regressions</a:t>
                </a:r>
              </a:p>
              <a:p>
                <a:pPr lvl="1"/>
                <a:r>
                  <a:rPr lang="en-US" sz="2400" dirty="0">
                    <a:cs typeface="Times New Roman" panose="02020603050405020304" pitchFamily="18" charset="0"/>
                  </a:rPr>
                  <a:t>We have conditions (e.g.,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𝐶𝑜𝑣</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𝜀</m:t>
                        </m:r>
                      </m:e>
                    </m:d>
                    <m:r>
                      <a:rPr lang="en-US" sz="2400" b="0" i="1" smtClean="0">
                        <a:latin typeface="Cambria Math" panose="02040503050406030204" pitchFamily="18" charset="0"/>
                        <a:cs typeface="Times New Roman" panose="02020603050405020304" pitchFamily="18" charset="0"/>
                      </a:rPr>
                      <m:t>=0</m:t>
                    </m:r>
                  </m:oMath>
                </a14:m>
                <a:r>
                  <a:rPr lang="en-US" sz="2400" dirty="0">
                    <a:cs typeface="Times New Roman" panose="02020603050405020304" pitchFamily="18" charset="0"/>
                  </a:rPr>
                  <a:t>) that give us formulas for our parameters of interest</a:t>
                </a:r>
              </a:p>
              <a:p>
                <a:r>
                  <a:rPr lang="en-US" sz="2400" dirty="0">
                    <a:cs typeface="Times New Roman" panose="02020603050405020304" pitchFamily="18" charset="0"/>
                  </a:rPr>
                  <a:t>Another estimation technique is called </a:t>
                </a:r>
                <a:r>
                  <a:rPr lang="en-US" sz="2400" b="1" dirty="0">
                    <a:solidFill>
                      <a:schemeClr val="accent2">
                        <a:lumMod val="75000"/>
                      </a:schemeClr>
                    </a:solidFill>
                    <a:cs typeface="Times New Roman" panose="02020603050405020304" pitchFamily="18" charset="0"/>
                  </a:rPr>
                  <a:t>maximum likelihood estimation</a:t>
                </a:r>
              </a:p>
              <a:p>
                <a:pPr lvl="1"/>
                <a:r>
                  <a:rPr lang="en-US" sz="2400" dirty="0">
                    <a:cs typeface="Times New Roman" panose="02020603050405020304" pitchFamily="18" charset="0"/>
                  </a:rPr>
                  <a:t>Main idea: Given a model, you can calculate the probability of a given observation occurring (likelihood)</a:t>
                </a:r>
              </a:p>
              <a:p>
                <a:pPr lvl="1"/>
                <a:r>
                  <a:rPr lang="en-US" sz="2400" dirty="0">
                    <a:cs typeface="Times New Roman" panose="02020603050405020304" pitchFamily="18" charset="0"/>
                  </a:rPr>
                  <a:t>You can pick the model that makes your data </a:t>
                </a:r>
                <a:r>
                  <a:rPr lang="en-US" sz="2400" b="1" i="1" dirty="0">
                    <a:solidFill>
                      <a:schemeClr val="accent2">
                        <a:lumMod val="75000"/>
                      </a:schemeClr>
                    </a:solidFill>
                    <a:cs typeface="Times New Roman" panose="02020603050405020304" pitchFamily="18" charset="0"/>
                  </a:rPr>
                  <a:t>as likely as possible</a:t>
                </a:r>
                <a:r>
                  <a:rPr lang="en-US" sz="2400" dirty="0">
                    <a:cs typeface="Times New Roman" panose="02020603050405020304" pitchFamily="18" charset="0"/>
                  </a:rPr>
                  <a:t>. </a:t>
                </a:r>
              </a:p>
              <a:p>
                <a:r>
                  <a:rPr lang="en-US" sz="2400" dirty="0">
                    <a:cs typeface="Times New Roman" panose="02020603050405020304" pitchFamily="18" charset="0"/>
                  </a:rPr>
                  <a:t>Estimation of MLE requires specifying a </a:t>
                </a:r>
                <a:r>
                  <a:rPr lang="en-US" sz="2400" b="1" dirty="0">
                    <a:cs typeface="Times New Roman" panose="02020603050405020304" pitchFamily="18" charset="0"/>
                  </a:rPr>
                  <a:t>likelihood function </a:t>
                </a:r>
                <a:r>
                  <a:rPr lang="en-US" sz="2400" dirty="0">
                    <a:cs typeface="Times New Roman" panose="02020603050405020304" pitchFamily="18" charset="0"/>
                  </a:rPr>
                  <a:t>based on the DGP you think is involved</a:t>
                </a:r>
              </a:p>
              <a:p>
                <a:pPr lvl="1"/>
                <a:r>
                  <a:rPr lang="en-US" sz="2400" dirty="0">
                    <a:cs typeface="Times New Roman" panose="02020603050405020304" pitchFamily="18" charset="0"/>
                  </a:rPr>
                  <a:t>If events are independent, this is just the product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𝑁</m:t>
                    </m:r>
                  </m:oMath>
                </a14:m>
                <a:r>
                  <a:rPr lang="en-US" sz="2400" dirty="0">
                    <a:cs typeface="Times New Roman" panose="02020603050405020304" pitchFamily="18" charset="0"/>
                  </a:rPr>
                  <a:t> pdfs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62001" y="1066801"/>
                <a:ext cx="9862990" cy="5141388"/>
              </a:xfrm>
              <a:blipFill>
                <a:blip r:embed="rId3"/>
                <a:stretch>
                  <a:fillRect l="-433" t="-1305"/>
                </a:stretch>
              </a:blipFill>
            </p:spPr>
            <p:txBody>
              <a:bodyPr/>
              <a:lstStyle/>
              <a:p>
                <a:r>
                  <a:rPr lang="en-US">
                    <a:noFill/>
                  </a:rPr>
                  <a:t> </a:t>
                </a:r>
              </a:p>
            </p:txBody>
          </p:sp>
        </mc:Fallback>
      </mc:AlternateContent>
    </p:spTree>
    <p:extLst>
      <p:ext uri="{BB962C8B-B14F-4D97-AF65-F5344CB8AC3E}">
        <p14:creationId xmlns:p14="http://schemas.microsoft.com/office/powerpoint/2010/main" val="212957157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Method of Moments (Generally)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711AA682-8615-71E4-E042-828940B56DAF}"/>
              </a:ext>
            </a:extLst>
          </p:cNvPr>
          <p:cNvPicPr>
            <a:picLocks noChangeAspect="1"/>
          </p:cNvPicPr>
          <p:nvPr/>
        </p:nvPicPr>
        <p:blipFill>
          <a:blip r:embed="rId3"/>
          <a:stretch>
            <a:fillRect/>
          </a:stretch>
        </p:blipFill>
        <p:spPr>
          <a:xfrm>
            <a:off x="152400" y="223228"/>
            <a:ext cx="10472590" cy="6426143"/>
          </a:xfrm>
          <a:prstGeom prst="rect">
            <a:avLst/>
          </a:prstGeom>
        </p:spPr>
      </p:pic>
    </p:spTree>
    <p:extLst>
      <p:ext uri="{BB962C8B-B14F-4D97-AF65-F5344CB8AC3E}">
        <p14:creationId xmlns:p14="http://schemas.microsoft.com/office/powerpoint/2010/main" val="330788160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Method of Moments (Generally)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endParaRPr lang="en-US" sz="2400" dirty="0">
              <a:cs typeface="Times New Roman" panose="02020603050405020304" pitchFamily="18" charset="0"/>
            </a:endParaRPr>
          </a:p>
        </p:txBody>
      </p:sp>
      <p:pic>
        <p:nvPicPr>
          <p:cNvPr id="6" name="Picture 5">
            <a:extLst>
              <a:ext uri="{FF2B5EF4-FFF2-40B4-BE49-F238E27FC236}">
                <a16:creationId xmlns:a16="http://schemas.microsoft.com/office/drawing/2014/main" id="{5C32CBE0-FD33-9753-DDEB-94D6643B4F21}"/>
              </a:ext>
            </a:extLst>
          </p:cNvPr>
          <p:cNvPicPr>
            <a:picLocks noChangeAspect="1"/>
          </p:cNvPicPr>
          <p:nvPr/>
        </p:nvPicPr>
        <p:blipFill>
          <a:blip r:embed="rId3"/>
          <a:stretch>
            <a:fillRect/>
          </a:stretch>
        </p:blipFill>
        <p:spPr>
          <a:xfrm>
            <a:off x="37618" y="17362"/>
            <a:ext cx="9639782" cy="6813874"/>
          </a:xfrm>
          <a:prstGeom prst="rect">
            <a:avLst/>
          </a:prstGeom>
        </p:spPr>
      </p:pic>
    </p:spTree>
    <p:extLst>
      <p:ext uri="{BB962C8B-B14F-4D97-AF65-F5344CB8AC3E}">
        <p14:creationId xmlns:p14="http://schemas.microsoft.com/office/powerpoint/2010/main" val="5757807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Method of Moments (Generally)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6DC5AE8E-A65F-5605-D51C-DC5F4DDDB01B}"/>
              </a:ext>
            </a:extLst>
          </p:cNvPr>
          <p:cNvPicPr>
            <a:picLocks noChangeAspect="1"/>
          </p:cNvPicPr>
          <p:nvPr/>
        </p:nvPicPr>
        <p:blipFill>
          <a:blip r:embed="rId3"/>
          <a:stretch>
            <a:fillRect/>
          </a:stretch>
        </p:blipFill>
        <p:spPr>
          <a:xfrm>
            <a:off x="152400" y="228600"/>
            <a:ext cx="10101064" cy="6629400"/>
          </a:xfrm>
          <a:prstGeom prst="rect">
            <a:avLst/>
          </a:prstGeom>
        </p:spPr>
      </p:pic>
    </p:spTree>
    <p:extLst>
      <p:ext uri="{BB962C8B-B14F-4D97-AF65-F5344CB8AC3E}">
        <p14:creationId xmlns:p14="http://schemas.microsoft.com/office/powerpoint/2010/main" val="317204198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Method of Moments (Generally)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endParaRPr lang="en-US" sz="2400" dirty="0">
              <a:cs typeface="Times New Roman" panose="02020603050405020304" pitchFamily="18" charset="0"/>
            </a:endParaRPr>
          </a:p>
        </p:txBody>
      </p:sp>
      <p:pic>
        <p:nvPicPr>
          <p:cNvPr id="6" name="Picture 5">
            <a:extLst>
              <a:ext uri="{FF2B5EF4-FFF2-40B4-BE49-F238E27FC236}">
                <a16:creationId xmlns:a16="http://schemas.microsoft.com/office/drawing/2014/main" id="{A2AF3DBF-360B-9FEA-5A7D-CD48520EA4E8}"/>
              </a:ext>
            </a:extLst>
          </p:cNvPr>
          <p:cNvPicPr>
            <a:picLocks noChangeAspect="1"/>
          </p:cNvPicPr>
          <p:nvPr/>
        </p:nvPicPr>
        <p:blipFill>
          <a:blip r:embed="rId3"/>
          <a:stretch>
            <a:fillRect/>
          </a:stretch>
        </p:blipFill>
        <p:spPr>
          <a:xfrm>
            <a:off x="152399" y="15432"/>
            <a:ext cx="10308341" cy="6613967"/>
          </a:xfrm>
          <a:prstGeom prst="rect">
            <a:avLst/>
          </a:prstGeom>
        </p:spPr>
      </p:pic>
    </p:spTree>
    <p:extLst>
      <p:ext uri="{BB962C8B-B14F-4D97-AF65-F5344CB8AC3E}">
        <p14:creationId xmlns:p14="http://schemas.microsoft.com/office/powerpoint/2010/main" val="312311376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Method of Moments (Generally)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8F98407E-EA83-3871-B049-D2CC9CBE08CB}"/>
              </a:ext>
            </a:extLst>
          </p:cNvPr>
          <p:cNvPicPr>
            <a:picLocks noChangeAspect="1"/>
          </p:cNvPicPr>
          <p:nvPr/>
        </p:nvPicPr>
        <p:blipFill>
          <a:blip r:embed="rId3"/>
          <a:stretch>
            <a:fillRect/>
          </a:stretch>
        </p:blipFill>
        <p:spPr>
          <a:xfrm>
            <a:off x="6752" y="14468"/>
            <a:ext cx="9823048" cy="6735288"/>
          </a:xfrm>
          <a:prstGeom prst="rect">
            <a:avLst/>
          </a:prstGeom>
        </p:spPr>
      </p:pic>
    </p:spTree>
    <p:extLst>
      <p:ext uri="{BB962C8B-B14F-4D97-AF65-F5344CB8AC3E}">
        <p14:creationId xmlns:p14="http://schemas.microsoft.com/office/powerpoint/2010/main" val="422891335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Method of Moments (Generally)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endParaRPr lang="en-US" sz="2400" dirty="0">
              <a:cs typeface="Times New Roman" panose="02020603050405020304" pitchFamily="18" charset="0"/>
            </a:endParaRPr>
          </a:p>
        </p:txBody>
      </p:sp>
      <p:pic>
        <p:nvPicPr>
          <p:cNvPr id="6" name="Picture 5">
            <a:extLst>
              <a:ext uri="{FF2B5EF4-FFF2-40B4-BE49-F238E27FC236}">
                <a16:creationId xmlns:a16="http://schemas.microsoft.com/office/drawing/2014/main" id="{6345FEF1-EACC-6E43-10F1-1B626213F6B5}"/>
              </a:ext>
            </a:extLst>
          </p:cNvPr>
          <p:cNvPicPr>
            <a:picLocks noChangeAspect="1"/>
          </p:cNvPicPr>
          <p:nvPr/>
        </p:nvPicPr>
        <p:blipFill>
          <a:blip r:embed="rId3"/>
          <a:stretch>
            <a:fillRect/>
          </a:stretch>
        </p:blipFill>
        <p:spPr>
          <a:xfrm>
            <a:off x="32794" y="152400"/>
            <a:ext cx="10439399" cy="5058070"/>
          </a:xfrm>
          <a:prstGeom prst="rect">
            <a:avLst/>
          </a:prstGeom>
        </p:spPr>
      </p:pic>
    </p:spTree>
    <p:extLst>
      <p:ext uri="{BB962C8B-B14F-4D97-AF65-F5344CB8AC3E}">
        <p14:creationId xmlns:p14="http://schemas.microsoft.com/office/powerpoint/2010/main" val="366535182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Method of Moments (Generally)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86815261-7160-3084-A334-7CA9BEC3C513}"/>
              </a:ext>
            </a:extLst>
          </p:cNvPr>
          <p:cNvPicPr>
            <a:picLocks noChangeAspect="1"/>
          </p:cNvPicPr>
          <p:nvPr/>
        </p:nvPicPr>
        <p:blipFill>
          <a:blip r:embed="rId3"/>
          <a:stretch>
            <a:fillRect/>
          </a:stretch>
        </p:blipFill>
        <p:spPr>
          <a:xfrm>
            <a:off x="30866" y="152400"/>
            <a:ext cx="9574212" cy="6368208"/>
          </a:xfrm>
          <a:prstGeom prst="rect">
            <a:avLst/>
          </a:prstGeom>
        </p:spPr>
      </p:pic>
    </p:spTree>
    <p:extLst>
      <p:ext uri="{BB962C8B-B14F-4D97-AF65-F5344CB8AC3E}">
        <p14:creationId xmlns:p14="http://schemas.microsoft.com/office/powerpoint/2010/main" val="5487039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Method of Moments (Generally)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endParaRPr lang="en-US" sz="2400" dirty="0">
              <a:cs typeface="Times New Roman" panose="02020603050405020304" pitchFamily="18" charset="0"/>
            </a:endParaRPr>
          </a:p>
        </p:txBody>
      </p:sp>
      <p:pic>
        <p:nvPicPr>
          <p:cNvPr id="6" name="Picture 5">
            <a:extLst>
              <a:ext uri="{FF2B5EF4-FFF2-40B4-BE49-F238E27FC236}">
                <a16:creationId xmlns:a16="http://schemas.microsoft.com/office/drawing/2014/main" id="{9372B997-D6A5-9098-B577-E069D7484464}"/>
              </a:ext>
            </a:extLst>
          </p:cNvPr>
          <p:cNvPicPr>
            <a:picLocks noChangeAspect="1"/>
          </p:cNvPicPr>
          <p:nvPr/>
        </p:nvPicPr>
        <p:blipFill>
          <a:blip r:embed="rId3"/>
          <a:stretch>
            <a:fillRect/>
          </a:stretch>
        </p:blipFill>
        <p:spPr>
          <a:xfrm>
            <a:off x="76200" y="-1"/>
            <a:ext cx="10439400" cy="6691923"/>
          </a:xfrm>
          <a:prstGeom prst="rect">
            <a:avLst/>
          </a:prstGeom>
        </p:spPr>
      </p:pic>
    </p:spTree>
    <p:extLst>
      <p:ext uri="{BB962C8B-B14F-4D97-AF65-F5344CB8AC3E}">
        <p14:creationId xmlns:p14="http://schemas.microsoft.com/office/powerpoint/2010/main" val="3865707337"/>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View</Template>
  <TotalTime>6103</TotalTime>
  <Words>7233</Words>
  <Application>Microsoft Office PowerPoint</Application>
  <PresentationFormat>Widescreen</PresentationFormat>
  <Paragraphs>685</Paragraphs>
  <Slides>97</Slides>
  <Notes>91</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97</vt:i4>
      </vt:variant>
    </vt:vector>
  </HeadingPairs>
  <TitlesOfParts>
    <vt:vector size="106" baseType="lpstr">
      <vt:lpstr>Arial</vt:lpstr>
      <vt:lpstr>Calibri</vt:lpstr>
      <vt:lpstr>Cambria Math</vt:lpstr>
      <vt:lpstr>Century Schoolbook</vt:lpstr>
      <vt:lpstr>Source Sans Pro</vt:lpstr>
      <vt:lpstr>Symbol</vt:lpstr>
      <vt:lpstr>Times New Roman</vt:lpstr>
      <vt:lpstr>Wingdings 2</vt:lpstr>
      <vt:lpstr>View</vt:lpstr>
      <vt:lpstr>Quantitative Methods in HSR I </vt:lpstr>
      <vt:lpstr>But first…</vt:lpstr>
      <vt:lpstr>But first…</vt:lpstr>
      <vt:lpstr>PowerPoint Presentation</vt:lpstr>
      <vt:lpstr>Examples of Limited Dependent Variables</vt:lpstr>
      <vt:lpstr>Examples of Limited Dependent Variables</vt:lpstr>
      <vt:lpstr>Examples of Limited Dependent Variables</vt:lpstr>
      <vt:lpstr>Examples of Limited Dependent Variables</vt:lpstr>
      <vt:lpstr>Examples of Limited Dependent Variables</vt:lpstr>
      <vt:lpstr>Examples of Limited Dependent Variables</vt:lpstr>
      <vt:lpstr>Example Paper:  Bruhin et al., (2019)</vt:lpstr>
      <vt:lpstr>Research question: how do peer effects drive donations?</vt:lpstr>
      <vt:lpstr>Research design: identifying motivational complementarities</vt:lpstr>
      <vt:lpstr>Research design: identifying motivational complementarities</vt:lpstr>
      <vt:lpstr>Research design: identifying motivational complementarities</vt:lpstr>
      <vt:lpstr>Research design: identifying motivational complementarities</vt:lpstr>
      <vt:lpstr>Research design: identifying motivational complementarities</vt:lpstr>
      <vt:lpstr>Research methods: instrument relevance</vt:lpstr>
      <vt:lpstr>Binary Outcome Variables</vt:lpstr>
      <vt:lpstr>How does OLS work when Y is binary?</vt:lpstr>
      <vt:lpstr>How does OLS work when Y is binary?</vt:lpstr>
      <vt:lpstr>Advantages and disadvantages of LPM</vt:lpstr>
      <vt:lpstr>Advantages and disadvantages of LPM</vt:lpstr>
      <vt:lpstr>What does an LPM even predict?</vt:lpstr>
      <vt:lpstr>What does an LPM even predict?</vt:lpstr>
      <vt:lpstr>Estimating Probabilities: Linear Probability Models</vt:lpstr>
      <vt:lpstr>Estimating Probabilities: Linear Probability Models</vt:lpstr>
      <vt:lpstr>Estimating Probabilities: Odds</vt:lpstr>
      <vt:lpstr>Estimating Probabilities: Log(Odds)</vt:lpstr>
      <vt:lpstr>Alternatives: Nonlinear estimation</vt:lpstr>
      <vt:lpstr>Alternatives: Nonlinear estimation</vt:lpstr>
      <vt:lpstr>Alternatives: Nonlinear estimation</vt:lpstr>
      <vt:lpstr>Alternatives: Nonlinear estimation</vt:lpstr>
      <vt:lpstr>Binary Link Functions: Logit and Probit</vt:lpstr>
      <vt:lpstr>Binary Link Functions: Logit and Probit</vt:lpstr>
      <vt:lpstr>Binary Link Functions: Logit and Probit</vt:lpstr>
      <vt:lpstr>LPM vs. Logit vs. Probit</vt:lpstr>
      <vt:lpstr>Logit/Probit Best Practices </vt:lpstr>
      <vt:lpstr>Logit/Probit in Practice</vt:lpstr>
      <vt:lpstr>Logit/Probit in Practice</vt:lpstr>
      <vt:lpstr>How to interpret logit/probit results?</vt:lpstr>
      <vt:lpstr>How to interpret logit/probit results?</vt:lpstr>
      <vt:lpstr>How to interpret logit/probit results?</vt:lpstr>
      <vt:lpstr>How to interpret logit/probit results?</vt:lpstr>
      <vt:lpstr>A simple example: ORs and MEs</vt:lpstr>
      <vt:lpstr>A simple example: ORs and MEs</vt:lpstr>
      <vt:lpstr>How to interpret logit/probit results? Marginal effects</vt:lpstr>
      <vt:lpstr>How to interpret logit/probit results?</vt:lpstr>
      <vt:lpstr>Marginal Effects: 4 Options</vt:lpstr>
      <vt:lpstr>Some Logit/Probit Warnings</vt:lpstr>
      <vt:lpstr>Complications in GLM: Hypothesis Testing</vt:lpstr>
      <vt:lpstr>Complications in GLM: Interactions</vt:lpstr>
      <vt:lpstr>Complications in GLM: Nonlinear models and IV</vt:lpstr>
      <vt:lpstr>Complications in GLM: Nonlinear models and IV</vt:lpstr>
      <vt:lpstr>What can you do instead?</vt:lpstr>
      <vt:lpstr>What can you do instead?</vt:lpstr>
      <vt:lpstr>What can you do instead?</vt:lpstr>
      <vt:lpstr>Example Paper:  Bruhin et al., (2019)</vt:lpstr>
      <vt:lpstr>Research methods: bivariate probit</vt:lpstr>
      <vt:lpstr>Research methods: bivariate probit + IV</vt:lpstr>
      <vt:lpstr>Research methods: bivariate probit + IV</vt:lpstr>
      <vt:lpstr>Research results: peer effects are strong! </vt:lpstr>
      <vt:lpstr>Research results: peer effects are strong! </vt:lpstr>
      <vt:lpstr>Other research results</vt:lpstr>
      <vt:lpstr>Conclusion: Limited Dependent Variables</vt:lpstr>
      <vt:lpstr>Count Data:  Poisson Regression</vt:lpstr>
      <vt:lpstr>Examples of Count Data in Health Policy</vt:lpstr>
      <vt:lpstr>Examples of Count Data in Health Policy</vt:lpstr>
      <vt:lpstr>Examples of Count Data: Job Changes</vt:lpstr>
      <vt:lpstr>The Poisson Distribution</vt:lpstr>
      <vt:lpstr>The Poisson Distribution</vt:lpstr>
      <vt:lpstr>The Poisson Distribution</vt:lpstr>
      <vt:lpstr>Poisson Regressions in Practice: Interpretation</vt:lpstr>
      <vt:lpstr>Poisson Regressions in Practice: Interpretation</vt:lpstr>
      <vt:lpstr>Poisson Regressions in Practice: Advantages</vt:lpstr>
      <vt:lpstr>Poisson Regressions in Practice: Dispersion</vt:lpstr>
      <vt:lpstr>Poisson Regressions in Practice: Dispersion</vt:lpstr>
      <vt:lpstr>Poisson Regressions in Practice: Dispersion</vt:lpstr>
      <vt:lpstr>Example: How do hospital closures affect access?</vt:lpstr>
      <vt:lpstr>Example: How do hospital closures affect access?</vt:lpstr>
      <vt:lpstr>Example: How do hospital closures affect access?</vt:lpstr>
      <vt:lpstr>Example: How do hospital closures affect access?</vt:lpstr>
      <vt:lpstr>Data: What story are we telling here? </vt:lpstr>
      <vt:lpstr>Results: Linear Probability Models</vt:lpstr>
      <vt:lpstr>Poisson results: How do hospital closures affect access?</vt:lpstr>
      <vt:lpstr>Poisson results: How do hospital closures affect access?</vt:lpstr>
      <vt:lpstr>Mini Referee Report</vt:lpstr>
      <vt:lpstr>Appendix: Estimation Methods</vt:lpstr>
      <vt:lpstr>Quick Note: MLE</vt:lpstr>
      <vt:lpstr>Method of Moments (Generally)</vt:lpstr>
      <vt:lpstr>Method of Moments (Generally)</vt:lpstr>
      <vt:lpstr>Method of Moments (Generally)</vt:lpstr>
      <vt:lpstr>Method of Moments (Generally)</vt:lpstr>
      <vt:lpstr>Method of Moments (Generally)</vt:lpstr>
      <vt:lpstr>Method of Moments (Generally)</vt:lpstr>
      <vt:lpstr>Method of Moments (Generally)</vt:lpstr>
      <vt:lpstr>Method of Moments (Generally)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Econometrics I:</dc:title>
  <dc:creator>Audrey Laporte</dc:creator>
  <cp:lastModifiedBy>Alexander Hoagland</cp:lastModifiedBy>
  <cp:revision>577</cp:revision>
  <dcterms:created xsi:type="dcterms:W3CDTF">2011-01-10T00:42:42Z</dcterms:created>
  <dcterms:modified xsi:type="dcterms:W3CDTF">2026-03-23T13:46:36Z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34a106e-6316-442c-ad35-738afd673d2b_Enabled">
    <vt:lpwstr>True</vt:lpwstr>
  </property>
  <property fmtid="{D5CDD505-2E9C-101B-9397-08002B2CF9AE}" pid="3" name="MSIP_Label_034a106e-6316-442c-ad35-738afd673d2b_SiteId">
    <vt:lpwstr>cddc1229-ac2a-4b97-b78a-0e5cacb5865c</vt:lpwstr>
  </property>
  <property fmtid="{D5CDD505-2E9C-101B-9397-08002B2CF9AE}" pid="4" name="MSIP_Label_034a106e-6316-442c-ad35-738afd673d2b_Owner">
    <vt:lpwstr>Eric.Nauenberg@ontario.ca</vt:lpwstr>
  </property>
  <property fmtid="{D5CDD505-2E9C-101B-9397-08002B2CF9AE}" pid="5" name="MSIP_Label_034a106e-6316-442c-ad35-738afd673d2b_SetDate">
    <vt:lpwstr>2020-08-28T20:23:07.5369310Z</vt:lpwstr>
  </property>
  <property fmtid="{D5CDD505-2E9C-101B-9397-08002B2CF9AE}" pid="6" name="MSIP_Label_034a106e-6316-442c-ad35-738afd673d2b_Name">
    <vt:lpwstr>OPS - Unclassified Information</vt:lpwstr>
  </property>
  <property fmtid="{D5CDD505-2E9C-101B-9397-08002B2CF9AE}" pid="7" name="MSIP_Label_034a106e-6316-442c-ad35-738afd673d2b_Application">
    <vt:lpwstr>Microsoft Azure Information Protection</vt:lpwstr>
  </property>
  <property fmtid="{D5CDD505-2E9C-101B-9397-08002B2CF9AE}" pid="8" name="MSIP_Label_034a106e-6316-442c-ad35-738afd673d2b_ActionId">
    <vt:lpwstr>e0d92f5a-28a2-4725-917b-84a82b221364</vt:lpwstr>
  </property>
  <property fmtid="{D5CDD505-2E9C-101B-9397-08002B2CF9AE}" pid="9" name="MSIP_Label_034a106e-6316-442c-ad35-738afd673d2b_Extended_MSFT_Method">
    <vt:lpwstr>Automatic</vt:lpwstr>
  </property>
  <property fmtid="{D5CDD505-2E9C-101B-9397-08002B2CF9AE}" pid="10" name="Sensitivity">
    <vt:lpwstr>OPS - Unclassified Information</vt:lpwstr>
  </property>
</Properties>
</file>