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63"/>
  </p:notesMasterIdLst>
  <p:sldIdLst>
    <p:sldId id="256" r:id="rId2"/>
    <p:sldId id="520" r:id="rId3"/>
    <p:sldId id="587" r:id="rId4"/>
    <p:sldId id="588" r:id="rId5"/>
    <p:sldId id="625" r:id="rId6"/>
    <p:sldId id="589" r:id="rId7"/>
    <p:sldId id="590" r:id="rId8"/>
    <p:sldId id="635" r:id="rId9"/>
    <p:sldId id="591" r:id="rId10"/>
    <p:sldId id="592" r:id="rId11"/>
    <p:sldId id="593" r:id="rId12"/>
    <p:sldId id="626" r:id="rId13"/>
    <p:sldId id="594" r:id="rId14"/>
    <p:sldId id="398" r:id="rId15"/>
    <p:sldId id="595" r:id="rId16"/>
    <p:sldId id="619" r:id="rId17"/>
    <p:sldId id="636" r:id="rId18"/>
    <p:sldId id="521" r:id="rId19"/>
    <p:sldId id="596" r:id="rId20"/>
    <p:sldId id="637" r:id="rId21"/>
    <p:sldId id="597" r:id="rId22"/>
    <p:sldId id="620" r:id="rId23"/>
    <p:sldId id="606" r:id="rId24"/>
    <p:sldId id="607" r:id="rId25"/>
    <p:sldId id="632" r:id="rId26"/>
    <p:sldId id="633" r:id="rId27"/>
    <p:sldId id="603" r:id="rId28"/>
    <p:sldId id="628" r:id="rId29"/>
    <p:sldId id="629" r:id="rId30"/>
    <p:sldId id="630" r:id="rId31"/>
    <p:sldId id="609" r:id="rId32"/>
    <p:sldId id="613" r:id="rId33"/>
    <p:sldId id="604" r:id="rId34"/>
    <p:sldId id="610" r:id="rId35"/>
    <p:sldId id="605" r:id="rId36"/>
    <p:sldId id="522" r:id="rId37"/>
    <p:sldId id="647" r:id="rId38"/>
    <p:sldId id="611" r:id="rId39"/>
    <p:sldId id="612" r:id="rId40"/>
    <p:sldId id="639" r:id="rId41"/>
    <p:sldId id="649" r:id="rId42"/>
    <p:sldId id="673" r:id="rId43"/>
    <p:sldId id="614" r:id="rId44"/>
    <p:sldId id="631" r:id="rId45"/>
    <p:sldId id="648" r:id="rId46"/>
    <p:sldId id="615" r:id="rId47"/>
    <p:sldId id="616" r:id="rId48"/>
    <p:sldId id="643" r:id="rId49"/>
    <p:sldId id="644" r:id="rId50"/>
    <p:sldId id="645" r:id="rId51"/>
    <p:sldId id="617" r:id="rId52"/>
    <p:sldId id="618" r:id="rId53"/>
    <p:sldId id="653" r:id="rId54"/>
    <p:sldId id="650" r:id="rId55"/>
    <p:sldId id="651" r:id="rId56"/>
    <p:sldId id="642" r:id="rId57"/>
    <p:sldId id="640" r:id="rId58"/>
    <p:sldId id="663" r:id="rId59"/>
    <p:sldId id="675" r:id="rId60"/>
    <p:sldId id="586" r:id="rId61"/>
    <p:sldId id="660" r:id="rId62"/>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504" autoAdjust="0"/>
  </p:normalViewPr>
  <p:slideViewPr>
    <p:cSldViewPr>
      <p:cViewPr varScale="1">
        <p:scale>
          <a:sx n="53" d="100"/>
          <a:sy n="53" d="100"/>
        </p:scale>
        <p:origin x="1176"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7/22/2026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can01.safelinks.protection.outlook.com/?url=https%3A%2F%2Fforms.gle%2FEaLJ3q6VD6trH7Fz6&amp;data=05%7C02%7Calexander.hoagland%40utoronto.ca%7Cf015bf1dda114af8dcfd08de79525b81%7C78aac2262f034b4d9037b46d56c55210%7C0%7C0%7C639081591781112845%7CUnknown%7CTWFpbGZsb3d8eyJFbXB0eU1hcGkiOnRydWUsIlYiOiIwLjAuMDAwMCIsIlAiOiJXaW4zMiIsIkFOIjoiTWFpbCIsIldUIjoyfQ%3D%3D%7C0%7C%7C%7C&amp;sdata=lVpCog4iOMW3TH%2F065gduvCJJbOMjfO%2FrX6Mzqd0S94%3D&amp;reserved=0"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Submission link for Research &amp; </a:t>
            </a:r>
            <a:r>
              <a:rPr lang="en-US"/>
              <a:t>Impact Day: </a:t>
            </a:r>
            <a:r>
              <a:rPr lang="en-US" sz="1200" b="0" i="0" kern="1200">
                <a:solidFill>
                  <a:schemeClr val="tx1"/>
                </a:solidFill>
                <a:effectLst/>
                <a:latin typeface="+mn-lt"/>
                <a:ea typeface="+mn-ea"/>
                <a:cs typeface="+mn-cs"/>
                <a:hlinkClick r:id="rId3" tooltip="Original URL: https://forms.gle/EaLJ3q6VD6trH7Fz6. Click or tap if you trust this link."/>
              </a:rPr>
              <a:t>https://forms.gle/EaLJ3q6VD6trH7Fz6</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765826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continuing to examine research designs that approximate RCTs in the real world – this time, we are using real policy variation that has happened over time. </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3618682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going to add a second dimension – time. As we’ve already seen, this is extremely important!</a:t>
            </a:r>
          </a:p>
        </p:txBody>
      </p:sp>
      <p:sp>
        <p:nvSpPr>
          <p:cNvPr id="4" name="Slide Number Placeholder 3"/>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3166364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popular because it’s powerful – we’ve already seen examples of this. Our outline for this will be: </a:t>
            </a:r>
          </a:p>
          <a:p>
            <a:pPr marL="171450" indent="-171450">
              <a:buFontTx/>
              <a:buChar char="-"/>
            </a:pPr>
            <a:r>
              <a:rPr lang="en-US" dirty="0"/>
              <a:t>ITS</a:t>
            </a:r>
          </a:p>
          <a:p>
            <a:pPr marL="171450" indent="-171450">
              <a:buFontTx/>
              <a:buChar char="-"/>
            </a:pPr>
            <a:r>
              <a:rPr lang="en-US" dirty="0"/>
              <a:t>2x2 DD</a:t>
            </a:r>
          </a:p>
          <a:p>
            <a:pPr marL="171450" indent="-171450">
              <a:buFontTx/>
              <a:buChar char="-"/>
            </a:pPr>
            <a:r>
              <a:rPr lang="en-US" dirty="0"/>
              <a:t>Generalized DD (TWFE)</a:t>
            </a:r>
          </a:p>
          <a:p>
            <a:pPr marL="171450" indent="-171450">
              <a:buFontTx/>
              <a:buChar char="-"/>
            </a:pPr>
            <a:r>
              <a:rPr lang="en-US" dirty="0"/>
              <a:t>Event Studies (dynamic DD/dynamic TWFE)</a:t>
            </a:r>
          </a:p>
          <a:p>
            <a:pPr marL="171450" indent="-171450">
              <a:buFontTx/>
              <a:buChar char="-"/>
            </a:pPr>
            <a:r>
              <a:rPr lang="en-US" dirty="0"/>
              <a:t>DDD</a:t>
            </a:r>
          </a:p>
          <a:p>
            <a:pPr marL="171450" indent="-171450">
              <a:buFontTx/>
              <a:buChar char="-"/>
            </a:pPr>
            <a:r>
              <a:rPr lang="en-US" dirty="0"/>
              <a:t>Synthetic control + synthetic DD </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3552707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like to close this back door, but time and treatment are perfectly correlated – based on a certain time period, you are either treated or not. ITS designs used to be popular in the good </a:t>
            </a:r>
            <a:r>
              <a:rPr lang="en-US" dirty="0" err="1"/>
              <a:t>ol</a:t>
            </a:r>
            <a:r>
              <a:rPr lang="en-US" dirty="0"/>
              <a:t>’ days of the Wild West of research. </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1980289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like to close this back door, but time and treatment are perfectly correlated – based on a certain time period, you are either treated or not. ITS designs used to be popular in the good </a:t>
            </a:r>
            <a:r>
              <a:rPr lang="en-US" dirty="0" err="1"/>
              <a:t>ol</a:t>
            </a:r>
            <a:r>
              <a:rPr lang="en-US" dirty="0"/>
              <a:t>’ days of the Wild West of research. Nick HK also calls these “event studies” and has a whole chapter on them, but that’s not how we’re going to use the terminology here (nor will we focus on those; biostats calls them “statistical process control”)</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2602080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an ITS graph – did TS cause this? Why or why not? </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616893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there are two open back doors!</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1182238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the “differences” and step 2 is the “difference” of those differences</a:t>
            </a:r>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1387844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2950043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would be the example here for line 5? What is the control group? </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6209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664041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what a data set would look like in this context</a:t>
            </a:r>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2279660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cs typeface="Times New Roman" panose="02020603050405020304" pitchFamily="18" charset="0"/>
              </a:rPr>
              <a:t>DAGs become very complicated in this situation. So basically, you want to rely on (a) changes that you can control for that are invariant across one of the dimensions (those are fixed effects), or (b) use quasi-experimental approaches (or ideally both).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cs typeface="Times New Roman" panose="02020603050405020304" pitchFamily="18" charset="0"/>
              </a:rPr>
              <a:t>-  That’s it! You’ll talk more about panel data next semester.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3076359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https://kuan-liu.github.io/bayesmsm_presentation/#/longtiudinal-direct-acyclic-graph. This is why we are going to focus on </a:t>
            </a:r>
            <a:r>
              <a:rPr lang="en-US" b="1" dirty="0"/>
              <a:t>potential outcomes framework</a:t>
            </a:r>
            <a:r>
              <a:rPr lang="en-US" b="0" dirty="0"/>
              <a:t> and switch to focusing on the </a:t>
            </a:r>
            <a:r>
              <a:rPr lang="en-US" b="1" dirty="0"/>
              <a:t>estimating equation</a:t>
            </a:r>
            <a:r>
              <a:rPr lang="en-US" b="0" dirty="0"/>
              <a:t>.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1500928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36139383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writing quality – what do you think worked well in the Introduction? Anything that snagged your attention?</a:t>
            </a:r>
          </a:p>
          <a:p>
            <a:pPr marL="171450" indent="-171450">
              <a:buFontTx/>
              <a:buChar char="-"/>
            </a:pPr>
            <a:r>
              <a:rPr lang="en-US" dirty="0"/>
              <a:t>What are the contributions of this paper relative to other literature? Focusing on rural mergers</a:t>
            </a:r>
          </a:p>
          <a:p>
            <a:pPr marL="171450" indent="-171450">
              <a:buFontTx/>
              <a:buChar char="-"/>
            </a:pPr>
            <a:r>
              <a:rPr lang="en-US" dirty="0"/>
              <a:t>How are they going to approach outcomes? Do you like the focus on obstetrics? Do you like the focus on maternal and infant health? </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911801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helpful? What does this tell you? Could it be clearer?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3091522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 this on the board – you take the before/after change for the control group, and subtract it out from the treated line. The remaining before/after difference is the DD effect. </a:t>
            </a:r>
          </a:p>
          <a:p>
            <a:r>
              <a:rPr lang="en-US" dirty="0"/>
              <a:t>- Hence, delta can identify an ATT (we’ll circle back to this in a second). But it needs something to be true: what? We need differences pre and post to cancel out across treated and control units (next slide)</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2168914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cs typeface="Times New Roman" panose="02020603050405020304" pitchFamily="18" charset="0"/>
              </a:rPr>
              <a:t>Simple table of how DID works – start by just looking at treated row, then look at control row</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16651806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cs typeface="Times New Roman" panose="02020603050405020304" pitchFamily="18" charset="0"/>
              </a:rPr>
              <a:t>No treatment effect in the control group</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5125289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cs typeface="Times New Roman" panose="02020603050405020304" pitchFamily="18" charset="0"/>
              </a:rPr>
              <a:t>Hence, if no parallel trends assumption, we have a biased estimator.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3164813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cs typeface="Times New Roman" panose="02020603050405020304" pitchFamily="18" charset="0"/>
              </a:rPr>
              <a:t>Hence, if no parallel trends assumption, we have a biased estimator.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3707494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cs typeface="Times New Roman" panose="02020603050405020304" pitchFamily="18" charset="0"/>
              </a:rPr>
              <a:t>Our goal is to use variation in control group to represent all non-treatment changes in the treated group – hence, the variations need to match! You will have to defend the parallel trends assumption in your story, not by a statistical test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29537582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cs typeface="Times New Roman" panose="02020603050405020304" pitchFamily="18" charset="0"/>
              </a:rPr>
              <a:t>Here’s an example where it works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1513408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cs typeface="Times New Roman" panose="02020603050405020304" pitchFamily="18" charset="0"/>
              </a:rPr>
              <a:t>What effect is shown in red? What would the DID estimator return? What is the sign of the bias?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1171677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cs typeface="Times New Roman" panose="02020603050405020304" pitchFamily="18" charset="0"/>
              </a:rPr>
              <a:t>What effect is shown in red? What would the DID estimator return? What is the sign of the bias?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31945509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This is our </a:t>
            </a:r>
            <a:r>
              <a:rPr lang="en-US" b="1" dirty="0"/>
              <a:t>estimating equation. </a:t>
            </a:r>
            <a:r>
              <a:rPr lang="en-US" dirty="0"/>
              <a:t>Focus on the subscripts here. </a:t>
            </a:r>
          </a:p>
          <a:p>
            <a:pPr marL="171450" indent="-171450">
              <a:buFontTx/>
              <a:buChar char="-"/>
            </a:pPr>
            <a:r>
              <a:rPr lang="en-US" dirty="0"/>
              <a:t>Why is beta_3 a difference in differences? Because of the FWL! We have “</a:t>
            </a:r>
            <a:r>
              <a:rPr lang="en-US" dirty="0" err="1"/>
              <a:t>partialled</a:t>
            </a:r>
            <a:r>
              <a:rPr lang="en-US" dirty="0"/>
              <a:t> out” group and time-specific effects, and are left looking at variation across time/units for the demeaned variables. </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36921573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41574106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15600806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this can also be tested statistically – let’s talk about how to design the regression (two separate time trends – an interaction term!) </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35408280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to justify your parallel trends in the space you want to perform the regression (e.g., logs or levels). Hudson et al called “</a:t>
            </a:r>
            <a:r>
              <a:rPr lang="en-CA" b="0" i="0" dirty="0">
                <a:solidFill>
                  <a:srgbClr val="5D6879"/>
                </a:solidFill>
                <a:effectLst/>
                <a:latin typeface="Courier New" panose="02070309020205020404" pitchFamily="49" charset="0"/>
              </a:rPr>
              <a:t>{Interpreting instrumented difference-in-differences”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5161870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Pick up here next week. </a:t>
            </a:r>
            <a:r>
              <a:rPr lang="en-US" dirty="0"/>
              <a:t>So that was the 2x2 case, but what if you want to have multiple events being studied? How did the authors set this up in their case?</a:t>
            </a:r>
          </a:p>
          <a:p>
            <a:pPr marL="171450" indent="-171450">
              <a:buFontTx/>
              <a:buChar char="-"/>
            </a:pPr>
            <a:r>
              <a:rPr lang="en-US" dirty="0"/>
              <a:t>Start here next time. Conceptual questions: </a:t>
            </a:r>
          </a:p>
          <a:p>
            <a:pPr marL="628650" lvl="1" indent="-171450">
              <a:buFontTx/>
              <a:buChar char="-"/>
            </a:pPr>
            <a:r>
              <a:rPr lang="en-US" dirty="0"/>
              <a:t>Walk me through each part of the specification and what it’s doing</a:t>
            </a:r>
          </a:p>
          <a:p>
            <a:pPr marL="628650" lvl="1" indent="-171450">
              <a:buFontTx/>
              <a:buChar char="-"/>
            </a:pPr>
            <a:r>
              <a:rPr lang="en-US" dirty="0"/>
              <a:t>What is the interpretation of \beta_1?</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1718804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07C3F-F76F-95E0-6012-295F29FB0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6D222-6B2F-139A-CB6A-3BAAB85EC6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3C0C4-187C-E2EA-F1D0-1D5FB45CCF7B}"/>
              </a:ext>
            </a:extLst>
          </p:cNvPr>
          <p:cNvSpPr>
            <a:spLocks noGrp="1"/>
          </p:cNvSpPr>
          <p:nvPr>
            <p:ph type="body" idx="1"/>
          </p:nvPr>
        </p:nvSpPr>
        <p:spPr/>
        <p:txBody>
          <a:bodyPr/>
          <a:lstStyle/>
          <a:p>
            <a:r>
              <a:rPr lang="en-US" dirty="0"/>
              <a:t>Since DAGs are so difficult to interpret as your data gets large, we put a lot of work on two things: </a:t>
            </a:r>
          </a:p>
          <a:p>
            <a:pPr marL="171450" indent="-171450">
              <a:buFontTx/>
              <a:buChar char="-"/>
            </a:pPr>
            <a:r>
              <a:rPr lang="en-US" dirty="0"/>
              <a:t>The estimating equation</a:t>
            </a:r>
          </a:p>
          <a:p>
            <a:pPr marL="171450" indent="-171450">
              <a:buFontTx/>
              <a:buChar char="-"/>
            </a:pPr>
            <a:r>
              <a:rPr lang="en-US" dirty="0"/>
              <a:t>The associated identification assumptions (and how they’re stated/defended in the paper)</a:t>
            </a:r>
          </a:p>
        </p:txBody>
      </p:sp>
      <p:sp>
        <p:nvSpPr>
          <p:cNvPr id="4" name="Slide Number Placeholder 3">
            <a:extLst>
              <a:ext uri="{FF2B5EF4-FFF2-40B4-BE49-F238E27FC236}">
                <a16:creationId xmlns:a16="http://schemas.microsoft.com/office/drawing/2014/main" id="{BFCA9105-C0BC-DC70-1403-F4EA8AD69D8B}"/>
              </a:ext>
            </a:extLst>
          </p:cNvPr>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6841787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effects will get more in-depth treatment next semester, and we will return to TWFE later in the lecture/semester as well. For now, just think of them as a suite of dummy variables for all groups/time periods. </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34295535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you really think of adequate variables W? Most people don’t. </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6870974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13707387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75471-4830-7E30-41EE-6ECECE5B6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AF876-D158-B4C6-6659-F1088E4B6E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814D1-BF62-7595-EE8D-E04D43D3FD00}"/>
              </a:ext>
            </a:extLst>
          </p:cNvPr>
          <p:cNvSpPr>
            <a:spLocks noGrp="1"/>
          </p:cNvSpPr>
          <p:nvPr>
            <p:ph type="body" idx="1"/>
          </p:nvPr>
        </p:nvSpPr>
        <p:spPr/>
        <p:txBody>
          <a:bodyPr/>
          <a:lstStyle/>
          <a:p>
            <a:r>
              <a:rPr lang="en-US" dirty="0"/>
              <a:t>What do you think of this? </a:t>
            </a:r>
          </a:p>
        </p:txBody>
      </p:sp>
      <p:sp>
        <p:nvSpPr>
          <p:cNvPr id="4" name="Slide Number Placeholder 3">
            <a:extLst>
              <a:ext uri="{FF2B5EF4-FFF2-40B4-BE49-F238E27FC236}">
                <a16:creationId xmlns:a16="http://schemas.microsoft.com/office/drawing/2014/main" id="{CDD1506C-10F5-54F2-5B03-EC374BE71F71}"/>
              </a:ext>
            </a:extLst>
          </p:cNvPr>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15383972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EE4F0-9665-90A3-E920-57BB8C97F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3ED0E-6BEA-9A47-C33A-9851E0EF4D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369DB3-9BD3-E2F1-7FD4-73AB84E0A99D}"/>
              </a:ext>
            </a:extLst>
          </p:cNvPr>
          <p:cNvSpPr>
            <a:spLocks noGrp="1"/>
          </p:cNvSpPr>
          <p:nvPr>
            <p:ph type="body" idx="1"/>
          </p:nvPr>
        </p:nvSpPr>
        <p:spPr/>
        <p:txBody>
          <a:bodyPr/>
          <a:lstStyle/>
          <a:p>
            <a:r>
              <a:rPr lang="en-US" dirty="0"/>
              <a:t>Sometimes called event studies</a:t>
            </a:r>
          </a:p>
        </p:txBody>
      </p:sp>
      <p:sp>
        <p:nvSpPr>
          <p:cNvPr id="4" name="Slide Number Placeholder 3">
            <a:extLst>
              <a:ext uri="{FF2B5EF4-FFF2-40B4-BE49-F238E27FC236}">
                <a16:creationId xmlns:a16="http://schemas.microsoft.com/office/drawing/2014/main" id="{8DB3AE04-7BC1-E7DD-0757-1841CAA42EF9}"/>
              </a:ext>
            </a:extLst>
          </p:cNvPr>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29100182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41531594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38176397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42758-F3C3-B48C-0623-577C3D02E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F1D62-FAD5-008B-53BB-84139D758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04634-5717-9C57-69FD-7C5137FB1F41}"/>
              </a:ext>
            </a:extLst>
          </p:cNvPr>
          <p:cNvSpPr>
            <a:spLocks noGrp="1"/>
          </p:cNvSpPr>
          <p:nvPr>
            <p:ph type="body" idx="1"/>
          </p:nvPr>
        </p:nvSpPr>
        <p:spPr/>
        <p:txBody>
          <a:bodyPr/>
          <a:lstStyle/>
          <a:p>
            <a:r>
              <a:rPr lang="en-US" dirty="0"/>
              <a:t>These are very popular – will cover next semester for sure, and today we can at least look at some figures </a:t>
            </a:r>
          </a:p>
        </p:txBody>
      </p:sp>
      <p:sp>
        <p:nvSpPr>
          <p:cNvPr id="4" name="Slide Number Placeholder 3">
            <a:extLst>
              <a:ext uri="{FF2B5EF4-FFF2-40B4-BE49-F238E27FC236}">
                <a16:creationId xmlns:a16="http://schemas.microsoft.com/office/drawing/2014/main" id="{86F75223-1F94-B5B3-6C60-FCF8D5419D04}"/>
              </a:ext>
            </a:extLst>
          </p:cNvPr>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4327846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is reduced because we’re limiting variation to one period only. Note that these are also called event studies. </a:t>
            </a:r>
          </a:p>
        </p:txBody>
      </p:sp>
      <p:sp>
        <p:nvSpPr>
          <p:cNvPr id="4" name="Slide Number Placeholder 3"/>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27307301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is reduced because we’re limiting variation to one period only. This leads to low power for pre-trends tests! If time, can mention Jonathan Roth’s “draw a straight/curved line” test for </a:t>
            </a:r>
            <a:r>
              <a:rPr lang="en-US" dirty="0" err="1"/>
              <a:t>pretrends</a:t>
            </a:r>
            <a:r>
              <a:rPr lang="en-US" dirty="0"/>
              <a:t> (based on He and Wong </a:t>
            </a:r>
            <a:r>
              <a:rPr lang="en-US"/>
              <a:t>2017’s graph).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13498247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8D3DE-4E03-09D6-9BB6-6F3CF8213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10F315-CDD8-2D45-E759-735656CBF7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4750F-3313-8C3E-468E-66E7EF973BDF}"/>
              </a:ext>
            </a:extLst>
          </p:cNvPr>
          <p:cNvSpPr>
            <a:spLocks noGrp="1"/>
          </p:cNvSpPr>
          <p:nvPr>
            <p:ph type="body" idx="1"/>
          </p:nvPr>
        </p:nvSpPr>
        <p:spPr/>
        <p:txBody>
          <a:bodyPr/>
          <a:lstStyle/>
          <a:p>
            <a:r>
              <a:rPr lang="en-US" dirty="0"/>
              <a:t>Precision is reduced because we’re limiting variation to one period only. This leads to low power for pre-trends tests! If time, can mention Jonathan Roth’s “draw a straight/curved line” test for </a:t>
            </a:r>
            <a:r>
              <a:rPr lang="en-US" dirty="0" err="1"/>
              <a:t>pretrends</a:t>
            </a:r>
            <a:r>
              <a:rPr lang="en-US" dirty="0"/>
              <a:t> (based on He and Wong </a:t>
            </a:r>
            <a:r>
              <a:rPr lang="en-US"/>
              <a:t>2017’s graph). </a:t>
            </a:r>
            <a:endParaRPr lang="en-US" dirty="0"/>
          </a:p>
        </p:txBody>
      </p:sp>
      <p:sp>
        <p:nvSpPr>
          <p:cNvPr id="4" name="Slide Number Placeholder 3">
            <a:extLst>
              <a:ext uri="{FF2B5EF4-FFF2-40B4-BE49-F238E27FC236}">
                <a16:creationId xmlns:a16="http://schemas.microsoft.com/office/drawing/2014/main" id="{D3A1D220-6F55-EAE4-BA96-F360FD935A3A}"/>
              </a:ext>
            </a:extLst>
          </p:cNvPr>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10998878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76AC7-0665-B814-C369-F9A3E7B44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BB72C-A934-F91E-2C52-136BB5013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8C895-E4F6-AD10-11D3-3636BB3936E2}"/>
              </a:ext>
            </a:extLst>
          </p:cNvPr>
          <p:cNvSpPr>
            <a:spLocks noGrp="1"/>
          </p:cNvSpPr>
          <p:nvPr>
            <p:ph type="body" idx="1"/>
          </p:nvPr>
        </p:nvSpPr>
        <p:spPr/>
        <p:txBody>
          <a:bodyPr/>
          <a:lstStyle/>
          <a:p>
            <a:r>
              <a:rPr lang="en-US" dirty="0"/>
              <a:t>Precision is reduced because we’re limiting variation to one period only. This leads to low power for pre-trends tests! If time, can mention Jonathan Roth’s “draw a straight/curved line” test for </a:t>
            </a:r>
            <a:r>
              <a:rPr lang="en-US" dirty="0" err="1"/>
              <a:t>pretrends</a:t>
            </a:r>
            <a:r>
              <a:rPr lang="en-US" dirty="0"/>
              <a:t> (based on He and Wong </a:t>
            </a:r>
            <a:r>
              <a:rPr lang="en-US"/>
              <a:t>2017’s graph). </a:t>
            </a:r>
            <a:endParaRPr lang="en-US" dirty="0"/>
          </a:p>
        </p:txBody>
      </p:sp>
      <p:sp>
        <p:nvSpPr>
          <p:cNvPr id="4" name="Slide Number Placeholder 3">
            <a:extLst>
              <a:ext uri="{FF2B5EF4-FFF2-40B4-BE49-F238E27FC236}">
                <a16:creationId xmlns:a16="http://schemas.microsoft.com/office/drawing/2014/main" id="{66689A80-5F1D-F759-DF5B-3DCA21112950}"/>
              </a:ext>
            </a:extLst>
          </p:cNvPr>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8666017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84CB2-941A-70F3-F738-5E26C5905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24EA2-69C5-8896-A5B4-EC093C26E8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89714-4377-113B-1BA1-7248A8D4178C}"/>
              </a:ext>
            </a:extLst>
          </p:cNvPr>
          <p:cNvSpPr>
            <a:spLocks noGrp="1"/>
          </p:cNvSpPr>
          <p:nvPr>
            <p:ph type="body" idx="1"/>
          </p:nvPr>
        </p:nvSpPr>
        <p:spPr/>
        <p:txBody>
          <a:bodyPr/>
          <a:lstStyle/>
          <a:p>
            <a:r>
              <a:rPr lang="en-US" dirty="0"/>
              <a:t>Precision is reduced because we’re limiting variation to one period only. This leads to low power for pre-trends tests! If time, can mention Jonathan Roth’s “draw a straight/curved line” test for </a:t>
            </a:r>
            <a:r>
              <a:rPr lang="en-US" dirty="0" err="1"/>
              <a:t>pretrends</a:t>
            </a:r>
            <a:r>
              <a:rPr lang="en-US" dirty="0"/>
              <a:t> (based on He and Wong </a:t>
            </a:r>
            <a:r>
              <a:rPr lang="en-US"/>
              <a:t>2017’s graph). </a:t>
            </a:r>
            <a:endParaRPr lang="en-US" dirty="0"/>
          </a:p>
        </p:txBody>
      </p:sp>
      <p:sp>
        <p:nvSpPr>
          <p:cNvPr id="4" name="Slide Number Placeholder 3">
            <a:extLst>
              <a:ext uri="{FF2B5EF4-FFF2-40B4-BE49-F238E27FC236}">
                <a16:creationId xmlns:a16="http://schemas.microsoft.com/office/drawing/2014/main" id="{7EFF7552-C05F-B21E-8ACF-B434C8890537}"/>
              </a:ext>
            </a:extLst>
          </p:cNvPr>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27107453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that’s okay! The intuition for #2 comes from the group fixed effect -- </a:t>
            </a:r>
            <a:r>
              <a:rPr lang="en-US" b="0" i="0" dirty="0">
                <a:solidFill>
                  <a:srgbClr val="222222"/>
                </a:solidFill>
                <a:effectLst/>
                <a:latin typeface="Source Sans Pro" panose="020B0503030403020204" pitchFamily="34" charset="0"/>
              </a:rPr>
              <a:t>“no treatment last period, no treatment this period” is the same amount of within-group variation in treatment as “treatment last period, treatment this period.” But #2 is still okay </a:t>
            </a:r>
            <a:r>
              <a:rPr lang="en-US" b="0" i="1" dirty="0">
                <a:solidFill>
                  <a:srgbClr val="222222"/>
                </a:solidFill>
                <a:effectLst/>
                <a:latin typeface="Source Sans Pro" panose="020B0503030403020204" pitchFamily="34" charset="0"/>
              </a:rPr>
              <a:t>if treatment effects are constant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33658336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is called the problem of “heterogeneous treatment effects”. Covered next semester</a:t>
            </a:r>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17362938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AA76F-CF16-113C-F79D-458D0CD3C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48F58-F0CF-3F73-40CD-C00A2C4E13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205E2-3C04-AE30-BB4B-365DEF58ABEB}"/>
              </a:ext>
            </a:extLst>
          </p:cNvPr>
          <p:cNvSpPr>
            <a:spLocks noGrp="1"/>
          </p:cNvSpPr>
          <p:nvPr>
            <p:ph type="body" idx="1"/>
          </p:nvPr>
        </p:nvSpPr>
        <p:spPr/>
        <p:txBody>
          <a:bodyPr/>
          <a:lstStyle/>
          <a:p>
            <a:r>
              <a:rPr lang="en-US" dirty="0"/>
              <a:t>How should we interpret these figures? We won’t talk about their implementation, just their interpretation – I can help you implement these for the course project, though, if you want! [note that this is one of the robust estimators]</a:t>
            </a:r>
          </a:p>
        </p:txBody>
      </p:sp>
      <p:sp>
        <p:nvSpPr>
          <p:cNvPr id="4" name="Slide Number Placeholder 3">
            <a:extLst>
              <a:ext uri="{FF2B5EF4-FFF2-40B4-BE49-F238E27FC236}">
                <a16:creationId xmlns:a16="http://schemas.microsoft.com/office/drawing/2014/main" id="{919D0F86-D98E-7DE7-090B-7961A71A9676}"/>
              </a:ext>
            </a:extLst>
          </p:cNvPr>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3455311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16E56-93DA-FDE6-539D-875E7A5F5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595FB-7958-25B1-4754-0C0AF7995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DE2B5-61E1-28CC-8EB9-048A126A22FC}"/>
              </a:ext>
            </a:extLst>
          </p:cNvPr>
          <p:cNvSpPr>
            <a:spLocks noGrp="1"/>
          </p:cNvSpPr>
          <p:nvPr>
            <p:ph type="body" idx="1"/>
          </p:nvPr>
        </p:nvSpPr>
        <p:spPr/>
        <p:txBody>
          <a:bodyPr/>
          <a:lstStyle/>
          <a:p>
            <a:r>
              <a:rPr lang="en-US" dirty="0"/>
              <a:t>Do you believe this? They do “find higher patient utilization and more service offerings at acquired hospitals” – what does this mean for comparisons here? Does it violate the parallel trends assumption on it’s own? (To me, it signals a bit of endogeneity). </a:t>
            </a:r>
            <a:r>
              <a:rPr lang="en-US" b="1" dirty="0"/>
              <a:t>An important note: we never test or prove the PTA! Why?</a:t>
            </a:r>
          </a:p>
        </p:txBody>
      </p:sp>
      <p:sp>
        <p:nvSpPr>
          <p:cNvPr id="4" name="Slide Number Placeholder 3">
            <a:extLst>
              <a:ext uri="{FF2B5EF4-FFF2-40B4-BE49-F238E27FC236}">
                <a16:creationId xmlns:a16="http://schemas.microsoft.com/office/drawing/2014/main" id="{68851988-FBD5-F5AC-23E9-E78D62802DF6}"/>
              </a:ext>
            </a:extLst>
          </p:cNvPr>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35763612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E36E6-2CEC-2D1A-08BC-942AFB54D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A7AF2-C1B9-60C2-9DDB-1A6F840691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3B684-BAED-76D6-8344-0BDA392EA186}"/>
              </a:ext>
            </a:extLst>
          </p:cNvPr>
          <p:cNvSpPr>
            <a:spLocks noGrp="1"/>
          </p:cNvSpPr>
          <p:nvPr>
            <p:ph type="body" idx="1"/>
          </p:nvPr>
        </p:nvSpPr>
        <p:spPr/>
        <p:txBody>
          <a:bodyPr/>
          <a:lstStyle/>
          <a:p>
            <a:r>
              <a:rPr lang="en-US" dirty="0"/>
              <a:t>What do we see here? An important note: we never test or prove the PTA! Why?</a:t>
            </a:r>
          </a:p>
        </p:txBody>
      </p:sp>
      <p:sp>
        <p:nvSpPr>
          <p:cNvPr id="4" name="Slide Number Placeholder 3">
            <a:extLst>
              <a:ext uri="{FF2B5EF4-FFF2-40B4-BE49-F238E27FC236}">
                <a16:creationId xmlns:a16="http://schemas.microsoft.com/office/drawing/2014/main" id="{DB3458F1-BE08-0CC8-427E-E65A62B2A532}"/>
              </a:ext>
            </a:extLst>
          </p:cNvPr>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328677757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of these did you like? Can you explain them? (are people still doing the readings?)</a:t>
            </a:r>
          </a:p>
          <a:p>
            <a:r>
              <a:rPr lang="en-US" dirty="0"/>
              <a:t>- note: they did find changes in demographics, particularly among mother race and education. How should we think about this in the context of the DD? </a:t>
            </a:r>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32555007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0663A-1836-F38D-C9C4-24EFABDE7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A075C-D9B3-0FA1-E6D6-69BE42AE6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9F4348-6AC0-386A-59E9-D6967D599A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071D4A-D6A7-BDBD-ECDB-221CFFA8A115}"/>
              </a:ext>
            </a:extLst>
          </p:cNvPr>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33802303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2601-484B-40C2-02AD-FDA8B173B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292FAD-3041-A8AD-BAF6-F002901D7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8BD1C-9FE8-F545-91CE-06800A5E24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EF5846-14F9-DAD7-E72F-87C1E46602A9}"/>
              </a:ext>
            </a:extLst>
          </p:cNvPr>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37495253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the control group isn’t credible? Can combine with other approaches (briefly mention matching if you have time)</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37955335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C0A12-8AD7-5A14-0942-4B4D91285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502DD-2A7E-6E27-3310-6CDBCB4F38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06DB9-EE56-2007-673D-2284361913C8}"/>
              </a:ext>
            </a:extLst>
          </p:cNvPr>
          <p:cNvSpPr>
            <a:spLocks noGrp="1"/>
          </p:cNvSpPr>
          <p:nvPr>
            <p:ph type="body" idx="1"/>
          </p:nvPr>
        </p:nvSpPr>
        <p:spPr/>
        <p:txBody>
          <a:bodyPr/>
          <a:lstStyle/>
          <a:p>
            <a:r>
              <a:rPr lang="en-US" dirty="0"/>
              <a:t>Could also add in something about DDD here. </a:t>
            </a:r>
          </a:p>
        </p:txBody>
      </p:sp>
      <p:sp>
        <p:nvSpPr>
          <p:cNvPr id="4" name="Slide Number Placeholder 3">
            <a:extLst>
              <a:ext uri="{FF2B5EF4-FFF2-40B4-BE49-F238E27FC236}">
                <a16:creationId xmlns:a16="http://schemas.microsoft.com/office/drawing/2014/main" id="{EAD92CC8-3489-44F0-31F2-203A47E8BAA1}"/>
              </a:ext>
            </a:extLst>
          </p:cNvPr>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4023628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7/22/2026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09800"/>
            <a:ext cx="10668000" cy="1894362"/>
          </a:xfrm>
        </p:spPr>
        <p:txBody>
          <a:bodyPr>
            <a:normAutofit/>
          </a:bodyPr>
          <a:lstStyle/>
          <a:p>
            <a:r>
              <a:rPr lang="en-US" dirty="0"/>
              <a:t>Quant Methods in HSR I </a:t>
            </a:r>
          </a:p>
        </p:txBody>
      </p:sp>
      <p:sp>
        <p:nvSpPr>
          <p:cNvPr id="3" name="Subtitle 2"/>
          <p:cNvSpPr>
            <a:spLocks noGrp="1"/>
          </p:cNvSpPr>
          <p:nvPr>
            <p:ph type="subTitle" idx="1"/>
          </p:nvPr>
        </p:nvSpPr>
        <p:spPr>
          <a:xfrm>
            <a:off x="941832" y="4191000"/>
            <a:ext cx="10411968" cy="1981200"/>
          </a:xfrm>
        </p:spPr>
        <p:txBody>
          <a:bodyPr>
            <a:noAutofit/>
          </a:bodyPr>
          <a:lstStyle/>
          <a:p>
            <a:r>
              <a:rPr lang="en-US" sz="2400" dirty="0"/>
              <a:t>Lecture 10: Difference-in-Differences </a:t>
            </a:r>
          </a:p>
          <a:p>
            <a:r>
              <a:rPr lang="en-US" sz="2400" dirty="0"/>
              <a:t>November 23,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3400" dirty="0">
                <a:solidFill>
                  <a:srgbClr val="FFFFFF"/>
                </a:solidFill>
                <a:latin typeface="+mj-lt"/>
              </a:rPr>
              <a:t>Last Time: Instrumental Variables, Dependent Variables</a:t>
            </a:r>
          </a:p>
        </p:txBody>
      </p:sp>
      <p:sp useBgFill="1">
        <p:nvSpPr>
          <p:cNvPr id="17" name="Rectangle 16">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diagram of a triangle&#10;&#10;AI-generated content may be incorrect.">
            <a:extLst>
              <a:ext uri="{FF2B5EF4-FFF2-40B4-BE49-F238E27FC236}">
                <a16:creationId xmlns:a16="http://schemas.microsoft.com/office/drawing/2014/main" id="{CF54183C-C4C3-4CBC-251B-3DF61195F6AB}"/>
              </a:ext>
            </a:extLst>
          </p:cNvPr>
          <p:cNvPicPr>
            <a:picLocks noGrp="1" noChangeAspect="1"/>
          </p:cNvPicPr>
          <p:nvPr>
            <p:ph idx="1"/>
          </p:nvPr>
        </p:nvPicPr>
        <p:blipFill>
          <a:blip r:embed="rId3"/>
          <a:stretch>
            <a:fillRect/>
          </a:stretch>
        </p:blipFill>
        <p:spPr>
          <a:xfrm>
            <a:off x="924375" y="1680569"/>
            <a:ext cx="6616823" cy="3490373"/>
          </a:xfrm>
          <a:prstGeom prst="rect">
            <a:avLst/>
          </a:prstGeom>
        </p:spPr>
      </p:pic>
      <p:sp>
        <p:nvSpPr>
          <p:cNvPr id="19" name="Rectangle 18">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1944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This Time: Policy Evaluation Exploiting </a:t>
            </a:r>
            <a:r>
              <a:rPr lang="en-US" sz="3600" i="1" dirty="0">
                <a:cs typeface="Times New Roman" panose="02020603050405020304" pitchFamily="18" charset="0"/>
              </a:rPr>
              <a:t>Time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9862990" cy="5141388"/>
          </a:xfrm>
        </p:spPr>
        <p:txBody>
          <a:bodyPr>
            <a:noAutofit/>
          </a:bodyPr>
          <a:lstStyle/>
          <a:p>
            <a:r>
              <a:rPr lang="en-US" sz="2400" dirty="0">
                <a:cs typeface="Times New Roman" panose="02020603050405020304" pitchFamily="18" charset="0"/>
              </a:rPr>
              <a:t>We can frequently see a policy implemented, and want to know its effect</a:t>
            </a:r>
          </a:p>
          <a:p>
            <a:r>
              <a:rPr lang="en-US" sz="2400" dirty="0">
                <a:cs typeface="Times New Roman" panose="02020603050405020304" pitchFamily="18" charset="0"/>
              </a:rPr>
              <a:t> In the wild, we have two types of “quasi-random variation” we can use:</a:t>
            </a:r>
          </a:p>
          <a:p>
            <a:pPr marL="731520" lvl="1" indent="-457200">
              <a:buFont typeface="+mj-lt"/>
              <a:buAutoNum type="arabicPeriod"/>
            </a:pPr>
            <a:r>
              <a:rPr lang="en-US" sz="2400" b="1" dirty="0">
                <a:cs typeface="Times New Roman" panose="02020603050405020304" pitchFamily="18" charset="0"/>
              </a:rPr>
              <a:t>Cross-sectional variation</a:t>
            </a:r>
            <a:r>
              <a:rPr lang="en-US" sz="2400" dirty="0">
                <a:cs typeface="Times New Roman" panose="02020603050405020304" pitchFamily="18" charset="0"/>
              </a:rPr>
              <a:t>: differences across observed units attributable to differences in their characteristics</a:t>
            </a:r>
          </a:p>
        </p:txBody>
      </p:sp>
    </p:spTree>
    <p:extLst>
      <p:ext uri="{BB962C8B-B14F-4D97-AF65-F5344CB8AC3E}">
        <p14:creationId xmlns:p14="http://schemas.microsoft.com/office/powerpoint/2010/main" val="438085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This Time: Policy Evaluation Exploiting </a:t>
            </a:r>
            <a:r>
              <a:rPr lang="en-US" sz="3600" i="1" dirty="0">
                <a:cs typeface="Times New Roman" panose="02020603050405020304" pitchFamily="18" charset="0"/>
              </a:rPr>
              <a:t>Time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We can frequently see a policy implemented, and want to know its effect</a:t>
            </a:r>
          </a:p>
          <a:p>
            <a:r>
              <a:rPr lang="en-US" sz="2400" dirty="0">
                <a:cs typeface="Times New Roman" panose="02020603050405020304" pitchFamily="18" charset="0"/>
              </a:rPr>
              <a:t> In the wild, we have two types of “quasi-random variation” we can use:</a:t>
            </a:r>
          </a:p>
          <a:p>
            <a:pPr marL="731520" lvl="1" indent="-457200">
              <a:buFont typeface="+mj-lt"/>
              <a:buAutoNum type="arabicPeriod"/>
            </a:pPr>
            <a:r>
              <a:rPr lang="en-US" sz="2400" b="1" dirty="0">
                <a:cs typeface="Times New Roman" panose="02020603050405020304" pitchFamily="18" charset="0"/>
              </a:rPr>
              <a:t>Cross-sectional variation</a:t>
            </a:r>
            <a:r>
              <a:rPr lang="en-US" sz="2400" dirty="0">
                <a:cs typeface="Times New Roman" panose="02020603050405020304" pitchFamily="18" charset="0"/>
              </a:rPr>
              <a:t>: differences across observed units attributable to differences in their characteristics</a:t>
            </a:r>
          </a:p>
          <a:p>
            <a:pPr marL="731520" lvl="1" indent="-457200">
              <a:buFont typeface="+mj-lt"/>
              <a:buAutoNum type="arabicPeriod"/>
            </a:pPr>
            <a:r>
              <a:rPr lang="en-US" sz="2400" b="1" dirty="0">
                <a:cs typeface="Times New Roman" panose="02020603050405020304" pitchFamily="18" charset="0"/>
              </a:rPr>
              <a:t>Time variation</a:t>
            </a:r>
            <a:r>
              <a:rPr lang="en-US" sz="2400" dirty="0">
                <a:cs typeface="Times New Roman" panose="02020603050405020304" pitchFamily="18" charset="0"/>
              </a:rPr>
              <a:t>: how a particular event changed the trajectory </a:t>
            </a:r>
            <a:r>
              <a:rPr lang="en-US" sz="2400" i="1" dirty="0">
                <a:cs typeface="Times New Roman" panose="02020603050405020304" pitchFamily="18" charset="0"/>
              </a:rPr>
              <a:t>within a unit of observation</a:t>
            </a:r>
          </a:p>
          <a:p>
            <a:r>
              <a:rPr lang="en-US" sz="2400" dirty="0">
                <a:cs typeface="Times New Roman" panose="02020603050405020304" pitchFamily="18" charset="0"/>
              </a:rPr>
              <a:t>This requires a notion of </a:t>
            </a:r>
            <a:r>
              <a:rPr lang="en-US" sz="2400" b="1" dirty="0">
                <a:cs typeface="Times New Roman" panose="02020603050405020304" pitchFamily="18" charset="0"/>
              </a:rPr>
              <a:t>panel data</a:t>
            </a:r>
            <a:r>
              <a:rPr lang="en-US" sz="2400" dirty="0">
                <a:cs typeface="Times New Roman" panose="02020603050405020304" pitchFamily="18" charset="0"/>
              </a:rPr>
              <a:t> (repeated observations w/in a unit)</a:t>
            </a:r>
          </a:p>
          <a:p>
            <a:r>
              <a:rPr lang="en-US" sz="2400" b="1" dirty="0">
                <a:cs typeface="Times New Roman" panose="02020603050405020304" pitchFamily="18" charset="0"/>
              </a:rPr>
              <a:t>Difference-in-differences</a:t>
            </a:r>
            <a:r>
              <a:rPr lang="en-US" sz="2400" dirty="0">
                <a:cs typeface="Times New Roman" panose="02020603050405020304" pitchFamily="18" charset="0"/>
              </a:rPr>
              <a:t> is a method to exploit both types of variation simultaneously</a:t>
            </a:r>
          </a:p>
        </p:txBody>
      </p:sp>
    </p:spTree>
    <p:extLst>
      <p:ext uri="{BB962C8B-B14F-4D97-AF65-F5344CB8AC3E}">
        <p14:creationId xmlns:p14="http://schemas.microsoft.com/office/powerpoint/2010/main" val="1670717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This Time: Policy Evaluation Exploiting </a:t>
            </a:r>
            <a:r>
              <a:rPr lang="en-US" sz="3600" i="1" dirty="0">
                <a:cs typeface="Times New Roman" panose="02020603050405020304" pitchFamily="18" charset="0"/>
              </a:rPr>
              <a:t>Time</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5D3A29F-8876-ABA5-25FC-7E72E465BB7C}"/>
              </a:ext>
            </a:extLst>
          </p:cNvPr>
          <p:cNvPicPr>
            <a:picLocks noGrp="1" noChangeAspect="1"/>
          </p:cNvPicPr>
          <p:nvPr>
            <p:ph idx="1"/>
          </p:nvPr>
        </p:nvPicPr>
        <p:blipFill>
          <a:blip r:embed="rId3"/>
          <a:stretch>
            <a:fillRect/>
          </a:stretch>
        </p:blipFill>
        <p:spPr>
          <a:xfrm>
            <a:off x="800100" y="1219200"/>
            <a:ext cx="10058400" cy="4886324"/>
          </a:xfrm>
        </p:spPr>
      </p:pic>
    </p:spTree>
    <p:extLst>
      <p:ext uri="{BB962C8B-B14F-4D97-AF65-F5344CB8AC3E}">
        <p14:creationId xmlns:p14="http://schemas.microsoft.com/office/powerpoint/2010/main" val="321187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Policy Evaluation Exploiting </a:t>
            </a:r>
            <a:r>
              <a:rPr lang="en-US" sz="3600" i="1" dirty="0">
                <a:cs typeface="Times New Roman" panose="02020603050405020304" pitchFamily="18" charset="0"/>
              </a:rPr>
              <a:t>Time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14:m>
                  <m:oMath xmlns:m="http://schemas.openxmlformats.org/officeDocument/2006/math">
                    <m:r>
                      <a:rPr lang="en-CA" sz="2400" b="0" i="1" smtClean="0">
                        <a:latin typeface="Cambria Math" panose="02040503050406030204" pitchFamily="18" charset="0"/>
                        <a:cs typeface="Times New Roman" panose="02020603050405020304" pitchFamily="18" charset="0"/>
                      </a:rPr>
                      <m:t>𝑇𝑖𝑚𝑒</m:t>
                    </m:r>
                  </m:oMath>
                </a14:m>
                <a:r>
                  <a:rPr lang="en-US" sz="2400" dirty="0">
                    <a:cs typeface="Times New Roman" panose="02020603050405020304" pitchFamily="18" charset="0"/>
                  </a:rPr>
                  <a:t> is generally an open back-door </a:t>
                </a:r>
                <a:r>
                  <a:rPr lang="en-US" sz="2400" b="1" dirty="0">
                    <a:cs typeface="Times New Roman" panose="02020603050405020304" pitchFamily="18" charset="0"/>
                  </a:rPr>
                  <a:t>you can’t close</a:t>
                </a: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This is the problem of an </a:t>
                </a:r>
                <a:r>
                  <a:rPr lang="en-US" sz="2400" b="1" dirty="0">
                    <a:cs typeface="Times New Roman" panose="02020603050405020304" pitchFamily="18" charset="0"/>
                  </a:rPr>
                  <a:t>interrupted time series design.</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72EA6BE-A1F8-842B-6A24-E3792E4CFC1A}"/>
              </a:ext>
            </a:extLst>
          </p:cNvPr>
          <p:cNvPicPr>
            <a:picLocks noChangeAspect="1"/>
          </p:cNvPicPr>
          <p:nvPr/>
        </p:nvPicPr>
        <p:blipFill>
          <a:blip r:embed="rId4"/>
          <a:stretch>
            <a:fillRect/>
          </a:stretch>
        </p:blipFill>
        <p:spPr>
          <a:xfrm>
            <a:off x="2286000" y="1952366"/>
            <a:ext cx="6525536" cy="1857634"/>
          </a:xfrm>
          <a:prstGeom prst="rect">
            <a:avLst/>
          </a:prstGeom>
        </p:spPr>
      </p:pic>
    </p:spTree>
    <p:extLst>
      <p:ext uri="{BB962C8B-B14F-4D97-AF65-F5344CB8AC3E}">
        <p14:creationId xmlns:p14="http://schemas.microsoft.com/office/powerpoint/2010/main" val="121609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Policy Evaluation Exploiting </a:t>
            </a:r>
            <a:r>
              <a:rPr lang="en-US" sz="3600" i="1" dirty="0">
                <a:cs typeface="Times New Roman" panose="02020603050405020304" pitchFamily="18" charset="0"/>
              </a:rPr>
              <a:t>Time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dirty="0">
                    <a:cs typeface="Times New Roman" panose="02020603050405020304" pitchFamily="18" charset="0"/>
                  </a:rPr>
                  <a:t>The problem with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𝑇𝑖𝑚𝑒</m:t>
                    </m:r>
                  </m:oMath>
                </a14:m>
                <a:r>
                  <a:rPr lang="en-US" sz="2400" dirty="0">
                    <a:cs typeface="Times New Roman" panose="02020603050405020304" pitchFamily="18" charset="0"/>
                  </a:rPr>
                  <a:t> is that it generally is an </a:t>
                </a:r>
                <a:r>
                  <a:rPr lang="en-US" sz="2400" b="1" dirty="0">
                    <a:cs typeface="Times New Roman" panose="02020603050405020304" pitchFamily="18" charset="0"/>
                  </a:rPr>
                  <a:t>can’t</a:t>
                </a: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This is the problem of an </a:t>
                </a:r>
                <a:r>
                  <a:rPr lang="en-US" sz="2400" b="1" dirty="0">
                    <a:cs typeface="Times New Roman" panose="02020603050405020304" pitchFamily="18" charset="0"/>
                  </a:rPr>
                  <a:t>interrupted time series </a:t>
                </a:r>
                <a:r>
                  <a:rPr lang="en-US" sz="2400" b="1" dirty="0" err="1">
                    <a:cs typeface="Times New Roman" panose="02020603050405020304" pitchFamily="18" charset="0"/>
                  </a:rPr>
                  <a:t>desig</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a:stretch>
              </a:blipFill>
            </p:spPr>
            <p:txBody>
              <a:bodyPr/>
              <a:lstStyle/>
              <a:p>
                <a:r>
                  <a:rPr lang="en-CA">
                    <a:noFill/>
                  </a:rPr>
                  <a:t> </a:t>
                </a:r>
              </a:p>
            </p:txBody>
          </p:sp>
        </mc:Fallback>
      </mc:AlternateContent>
      <p:pic>
        <p:nvPicPr>
          <p:cNvPr id="7" name="Picture 6">
            <a:extLst>
              <a:ext uri="{FF2B5EF4-FFF2-40B4-BE49-F238E27FC236}">
                <a16:creationId xmlns:a16="http://schemas.microsoft.com/office/drawing/2014/main" id="{F722F15B-ED9B-6946-9D22-629661188824}"/>
              </a:ext>
            </a:extLst>
          </p:cNvPr>
          <p:cNvPicPr>
            <a:picLocks noChangeAspect="1"/>
          </p:cNvPicPr>
          <p:nvPr/>
        </p:nvPicPr>
        <p:blipFill>
          <a:blip r:embed="rId4"/>
          <a:stretch>
            <a:fillRect/>
          </a:stretch>
        </p:blipFill>
        <p:spPr>
          <a:xfrm>
            <a:off x="1066800" y="1066801"/>
            <a:ext cx="7315200" cy="5596568"/>
          </a:xfrm>
          <a:prstGeom prst="rect">
            <a:avLst/>
          </a:prstGeom>
        </p:spPr>
      </p:pic>
    </p:spTree>
    <p:extLst>
      <p:ext uri="{BB962C8B-B14F-4D97-AF65-F5344CB8AC3E}">
        <p14:creationId xmlns:p14="http://schemas.microsoft.com/office/powerpoint/2010/main" val="1479409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F1ACBE00-0221-433D-8EA5-D9D7B45F3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033" name="Rectangle 1032">
            <a:extLst>
              <a:ext uri="{FF2B5EF4-FFF2-40B4-BE49-F238E27FC236}">
                <a16:creationId xmlns:a16="http://schemas.microsoft.com/office/drawing/2014/main" id="{EFB0C39A-F8CA-4A79-AFFC-E9780FB19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gallereplay | Rush Hour Traffic on the Gardiner Expressway Toronto Canada">
            <a:extLst>
              <a:ext uri="{FF2B5EF4-FFF2-40B4-BE49-F238E27FC236}">
                <a16:creationId xmlns:a16="http://schemas.microsoft.com/office/drawing/2014/main" id="{0BE78496-7E04-C5A4-038F-EEA6651FC4A8}"/>
              </a:ext>
            </a:extLst>
          </p:cNvPr>
          <p:cNvPicPr>
            <a:picLocks noChangeAspect="1" noChangeArrowheads="1"/>
          </p:cNvPicPr>
          <p:nvPr/>
        </p:nvPicPr>
        <p:blipFill>
          <a:blip r:embed="rId3">
            <a:alphaModFix amt="40000"/>
            <a:extLst>
              <a:ext uri="{28A0092B-C50C-407E-A947-70E740481C1C}">
                <a14:useLocalDpi xmlns:a14="http://schemas.microsoft.com/office/drawing/2010/main" val="0"/>
              </a:ext>
            </a:extLst>
          </a:blip>
          <a:srcRect/>
          <a:stretch/>
        </p:blipFill>
        <p:spPr bwMode="auto">
          <a:xfrm>
            <a:off x="20" y="-2"/>
            <a:ext cx="1219198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954F3AF-B673-6F08-AF69-781022C5A17E}"/>
              </a:ext>
            </a:extLst>
          </p:cNvPr>
          <p:cNvSpPr>
            <a:spLocks noGrp="1"/>
          </p:cNvSpPr>
          <p:nvPr>
            <p:ph type="title"/>
          </p:nvPr>
        </p:nvSpPr>
        <p:spPr>
          <a:xfrm>
            <a:off x="1261872" y="758952"/>
            <a:ext cx="9418320" cy="4041648"/>
          </a:xfrm>
        </p:spPr>
        <p:txBody>
          <a:bodyPr vert="horz" lIns="91440" tIns="45720" rIns="91440" bIns="45720" rtlCol="0" anchor="b">
            <a:normAutofit fontScale="90000"/>
          </a:bodyPr>
          <a:lstStyle/>
          <a:p>
            <a:pPr>
              <a:lnSpc>
                <a:spcPct val="85000"/>
              </a:lnSpc>
            </a:pPr>
            <a:r>
              <a:rPr lang="en-US" sz="7200" dirty="0">
                <a:latin typeface="+mj-lt"/>
              </a:rPr>
              <a:t>Example: did the FIFA World Cup cause Toronto traffic to get better or worse?</a:t>
            </a:r>
          </a:p>
        </p:txBody>
      </p:sp>
      <p:sp>
        <p:nvSpPr>
          <p:cNvPr id="3" name="Content Placeholder 2">
            <a:extLst>
              <a:ext uri="{FF2B5EF4-FFF2-40B4-BE49-F238E27FC236}">
                <a16:creationId xmlns:a16="http://schemas.microsoft.com/office/drawing/2014/main" id="{9A8BD04A-D56E-8DB8-BFED-88F5403A41CC}"/>
              </a:ext>
            </a:extLst>
          </p:cNvPr>
          <p:cNvSpPr>
            <a:spLocks noGrp="1"/>
          </p:cNvSpPr>
          <p:nvPr>
            <p:ph idx="1"/>
          </p:nvPr>
        </p:nvSpPr>
        <p:spPr>
          <a:xfrm>
            <a:off x="1261872" y="4800600"/>
            <a:ext cx="9418320" cy="1691640"/>
          </a:xfrm>
        </p:spPr>
        <p:txBody>
          <a:bodyPr vert="horz" lIns="91440" tIns="45720" rIns="91440" bIns="45720" rtlCol="0">
            <a:normAutofit/>
          </a:bodyPr>
          <a:lstStyle/>
          <a:p>
            <a:pPr marL="0" indent="0">
              <a:buNone/>
            </a:pPr>
            <a:r>
              <a:rPr lang="en-US" sz="2200">
                <a:latin typeface="+mn-lt"/>
              </a:rPr>
              <a:t> </a:t>
            </a:r>
          </a:p>
        </p:txBody>
      </p:sp>
    </p:spTree>
    <p:extLst>
      <p:ext uri="{BB962C8B-B14F-4D97-AF65-F5344CB8AC3E}">
        <p14:creationId xmlns:p14="http://schemas.microsoft.com/office/powerpoint/2010/main" val="27456979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Strategy Behind Difference-in-Differences (DID)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r>
              <a:rPr lang="en-CA" sz="2400" dirty="0">
                <a:cs typeface="Times New Roman" panose="02020603050405020304" pitchFamily="18" charset="0"/>
              </a:rPr>
              <a:t>DID gets around this by bringing in new variation</a:t>
            </a:r>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But wait, shouldn’t this make things worse? </a:t>
            </a:r>
          </a:p>
        </p:txBody>
      </p:sp>
      <p:pic>
        <p:nvPicPr>
          <p:cNvPr id="6" name="Picture 5">
            <a:extLst>
              <a:ext uri="{FF2B5EF4-FFF2-40B4-BE49-F238E27FC236}">
                <a16:creationId xmlns:a16="http://schemas.microsoft.com/office/drawing/2014/main" id="{D46FEDD0-D98D-777B-C4C5-92EC9B58CDE2}"/>
              </a:ext>
            </a:extLst>
          </p:cNvPr>
          <p:cNvPicPr>
            <a:picLocks noChangeAspect="1"/>
          </p:cNvPicPr>
          <p:nvPr/>
        </p:nvPicPr>
        <p:blipFill>
          <a:blip r:embed="rId3"/>
          <a:stretch>
            <a:fillRect/>
          </a:stretch>
        </p:blipFill>
        <p:spPr>
          <a:xfrm>
            <a:off x="2857048" y="1600200"/>
            <a:ext cx="6477904" cy="2648320"/>
          </a:xfrm>
          <a:prstGeom prst="rect">
            <a:avLst/>
          </a:prstGeom>
        </p:spPr>
      </p:pic>
    </p:spTree>
    <p:extLst>
      <p:ext uri="{BB962C8B-B14F-4D97-AF65-F5344CB8AC3E}">
        <p14:creationId xmlns:p14="http://schemas.microsoft.com/office/powerpoint/2010/main" val="1544551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Strategy Behind Difference-in-Differences (DID)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CA" sz="2400" dirty="0">
                    <a:cs typeface="Times New Roman" panose="02020603050405020304" pitchFamily="18" charset="0"/>
                  </a:rPr>
                  <a:t>DID gets around this by bringing in new variation</a:t>
                </a:r>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Actually, we can now close both back doors: </a:t>
                </a:r>
              </a:p>
              <a:p>
                <a:pPr marL="731520" lvl="1" indent="-457200">
                  <a:buFont typeface="+mj-lt"/>
                  <a:buAutoNum type="arabicPeriod"/>
                </a:pPr>
                <a:r>
                  <a:rPr lang="en-US" sz="2400" dirty="0">
                    <a:cs typeface="Times New Roman" panose="02020603050405020304" pitchFamily="18" charset="0"/>
                  </a:rPr>
                  <a:t>Isolate the </a:t>
                </a:r>
                <a:r>
                  <a:rPr lang="en-US" sz="2400" b="1" dirty="0">
                    <a:cs typeface="Times New Roman" panose="02020603050405020304" pitchFamily="18" charset="0"/>
                  </a:rPr>
                  <a:t>within variation </a:t>
                </a:r>
                <a:r>
                  <a:rPr lang="en-US" sz="2400" dirty="0">
                    <a:cs typeface="Times New Roman" panose="02020603050405020304" pitchFamily="18" charset="0"/>
                  </a:rPr>
                  <a:t>for both the treated group and untreated group. This closes the back door through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𝐺𝑟𝑜𝑢𝑝</m:t>
                    </m:r>
                  </m:oMath>
                </a14:m>
                <a:endParaRPr lang="en-US" sz="2400" dirty="0">
                  <a:cs typeface="Times New Roman" panose="02020603050405020304" pitchFamily="18" charset="0"/>
                </a:endParaRPr>
              </a:p>
              <a:p>
                <a:pPr marL="731520" lvl="1" indent="-457200">
                  <a:buFont typeface="+mj-lt"/>
                  <a:buAutoNum type="arabicPeriod"/>
                </a:pPr>
                <a:r>
                  <a:rPr lang="en-US" sz="2400" dirty="0">
                    <a:cs typeface="Times New Roman" panose="02020603050405020304" pitchFamily="18" charset="0"/>
                  </a:rPr>
                  <a:t>Compare the within variation in the treated group to the within variation in the untreated group. Since both are affected by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𝑇𝑖𝑚𝑒</m:t>
                    </m:r>
                    <m:r>
                      <a:rPr lang="en-CA"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the second back door is closed!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r="-1102" b="-1032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D46FEDD0-D98D-777B-C4C5-92EC9B58CDE2}"/>
              </a:ext>
            </a:extLst>
          </p:cNvPr>
          <p:cNvPicPr>
            <a:picLocks noChangeAspect="1"/>
          </p:cNvPicPr>
          <p:nvPr/>
        </p:nvPicPr>
        <p:blipFill>
          <a:blip r:embed="rId4"/>
          <a:stretch>
            <a:fillRect/>
          </a:stretch>
        </p:blipFill>
        <p:spPr>
          <a:xfrm>
            <a:off x="2857048" y="1600200"/>
            <a:ext cx="6477904" cy="2648320"/>
          </a:xfrm>
          <a:prstGeom prst="rect">
            <a:avLst/>
          </a:prstGeom>
        </p:spPr>
      </p:pic>
    </p:spTree>
    <p:extLst>
      <p:ext uri="{BB962C8B-B14F-4D97-AF65-F5344CB8AC3E}">
        <p14:creationId xmlns:p14="http://schemas.microsoft.com/office/powerpoint/2010/main" val="3983285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Strategy Behind Difference-in-Differences (DID)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r>
              <a:rPr lang="en-CA" sz="2400" dirty="0">
                <a:cs typeface="Times New Roman" panose="02020603050405020304" pitchFamily="18" charset="0"/>
              </a:rPr>
              <a:t>DID gets around this by bringing in new variation</a:t>
            </a:r>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CA" sz="2400" dirty="0">
                <a:cs typeface="Times New Roman" panose="02020603050405020304" pitchFamily="18" charset="0"/>
              </a:rPr>
              <a:t>The basic intuition is simple: </a:t>
            </a:r>
          </a:p>
          <a:p>
            <a:pPr lvl="1"/>
            <a:r>
              <a:rPr lang="en-CA" sz="2400" u="sng" dirty="0">
                <a:solidFill>
                  <a:schemeClr val="accent2">
                    <a:lumMod val="75000"/>
                  </a:schemeClr>
                </a:solidFill>
                <a:cs typeface="Times New Roman" panose="02020603050405020304" pitchFamily="18" charset="0"/>
              </a:rPr>
              <a:t>How much </a:t>
            </a:r>
            <a:r>
              <a:rPr lang="en-CA" sz="2400" i="1" u="sng" dirty="0">
                <a:solidFill>
                  <a:schemeClr val="accent2">
                    <a:lumMod val="75000"/>
                  </a:schemeClr>
                </a:solidFill>
                <a:cs typeface="Times New Roman" panose="02020603050405020304" pitchFamily="18" charset="0"/>
              </a:rPr>
              <a:t>more/less </a:t>
            </a:r>
            <a:r>
              <a:rPr lang="en-CA" sz="2400" u="sng" dirty="0">
                <a:solidFill>
                  <a:schemeClr val="accent2">
                    <a:lumMod val="75000"/>
                  </a:schemeClr>
                </a:solidFill>
                <a:cs typeface="Times New Roman" panose="02020603050405020304" pitchFamily="18" charset="0"/>
              </a:rPr>
              <a:t>did the policy change the treated group’s trajectory compared to a control group’s similarly timed trajectory?</a:t>
            </a:r>
            <a:endParaRPr lang="en-US" sz="2400" u="sng" dirty="0">
              <a:solidFill>
                <a:schemeClr val="accent2">
                  <a:lumMod val="75000"/>
                </a:schemeClr>
              </a:solidFill>
              <a:cs typeface="Times New Roman" panose="02020603050405020304" pitchFamily="18" charset="0"/>
            </a:endParaRPr>
          </a:p>
        </p:txBody>
      </p:sp>
      <p:pic>
        <p:nvPicPr>
          <p:cNvPr id="6" name="Picture 5">
            <a:extLst>
              <a:ext uri="{FF2B5EF4-FFF2-40B4-BE49-F238E27FC236}">
                <a16:creationId xmlns:a16="http://schemas.microsoft.com/office/drawing/2014/main" id="{D46FEDD0-D98D-777B-C4C5-92EC9B58CDE2}"/>
              </a:ext>
            </a:extLst>
          </p:cNvPr>
          <p:cNvPicPr>
            <a:picLocks noChangeAspect="1"/>
          </p:cNvPicPr>
          <p:nvPr/>
        </p:nvPicPr>
        <p:blipFill>
          <a:blip r:embed="rId3"/>
          <a:stretch>
            <a:fillRect/>
          </a:stretch>
        </p:blipFill>
        <p:spPr>
          <a:xfrm>
            <a:off x="2857048" y="1600200"/>
            <a:ext cx="6477904" cy="2648320"/>
          </a:xfrm>
          <a:prstGeom prst="rect">
            <a:avLst/>
          </a:prstGeom>
        </p:spPr>
      </p:pic>
    </p:spTree>
    <p:extLst>
      <p:ext uri="{BB962C8B-B14F-4D97-AF65-F5344CB8AC3E}">
        <p14:creationId xmlns:p14="http://schemas.microsoft.com/office/powerpoint/2010/main" val="1213697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DID in Graph Form</a:t>
            </a:r>
            <a:endParaRPr lang="en-US" sz="3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46FEDD0-D98D-777B-C4C5-92EC9B58CDE2}"/>
              </a:ext>
            </a:extLst>
          </p:cNvPr>
          <p:cNvPicPr>
            <a:picLocks noChangeAspect="1"/>
          </p:cNvPicPr>
          <p:nvPr/>
        </p:nvPicPr>
        <p:blipFill>
          <a:blip r:embed="rId3"/>
          <a:stretch>
            <a:fillRect/>
          </a:stretch>
        </p:blipFill>
        <p:spPr>
          <a:xfrm>
            <a:off x="2857048" y="1600200"/>
            <a:ext cx="6477904" cy="2648320"/>
          </a:xfrm>
          <a:prstGeom prst="rect">
            <a:avLst/>
          </a:prstGeom>
        </p:spPr>
      </p:pic>
      <p:pic>
        <p:nvPicPr>
          <p:cNvPr id="5" name="Content Placeholder 4">
            <a:extLst>
              <a:ext uri="{FF2B5EF4-FFF2-40B4-BE49-F238E27FC236}">
                <a16:creationId xmlns:a16="http://schemas.microsoft.com/office/drawing/2014/main" id="{AC4CFA74-F6F4-07E0-B8D9-6C58B3369561}"/>
              </a:ext>
            </a:extLst>
          </p:cNvPr>
          <p:cNvPicPr>
            <a:picLocks noGrp="1" noChangeAspect="1"/>
          </p:cNvPicPr>
          <p:nvPr>
            <p:ph idx="1"/>
          </p:nvPr>
        </p:nvPicPr>
        <p:blipFill>
          <a:blip r:embed="rId4"/>
          <a:stretch>
            <a:fillRect/>
          </a:stretch>
        </p:blipFill>
        <p:spPr>
          <a:xfrm>
            <a:off x="588380" y="1143000"/>
            <a:ext cx="10058400" cy="4976420"/>
          </a:xfrm>
        </p:spPr>
      </p:pic>
    </p:spTree>
    <p:extLst>
      <p:ext uri="{BB962C8B-B14F-4D97-AF65-F5344CB8AC3E}">
        <p14:creationId xmlns:p14="http://schemas.microsoft.com/office/powerpoint/2010/main" val="1583254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Outline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pPr marL="457200" indent="-457200">
              <a:buFont typeface="+mj-lt"/>
              <a:buAutoNum type="arabicPeriod"/>
            </a:pPr>
            <a:r>
              <a:rPr lang="en-US" sz="2400" dirty="0">
                <a:cs typeface="Times New Roman" panose="02020603050405020304" pitchFamily="18" charset="0"/>
              </a:rPr>
              <a:t>Quick intro to panel data</a:t>
            </a:r>
          </a:p>
          <a:p>
            <a:pPr marL="457200" indent="-457200">
              <a:buFont typeface="+mj-lt"/>
              <a:buAutoNum type="arabicPeriod"/>
            </a:pPr>
            <a:r>
              <a:rPr lang="en-US" sz="2400" dirty="0">
                <a:cs typeface="Times New Roman" panose="02020603050405020304" pitchFamily="18" charset="0"/>
              </a:rPr>
              <a:t>Simple DID (2x2)</a:t>
            </a:r>
          </a:p>
          <a:p>
            <a:pPr marL="457200" indent="-457200">
              <a:buFont typeface="+mj-lt"/>
              <a:buAutoNum type="arabicPeriod"/>
            </a:pPr>
            <a:r>
              <a:rPr lang="en-US" sz="2400" dirty="0">
                <a:cs typeface="Times New Roman" panose="02020603050405020304" pitchFamily="18" charset="0"/>
              </a:rPr>
              <a:t>Generalized DID and Triple Differences</a:t>
            </a:r>
          </a:p>
          <a:p>
            <a:pPr marL="457200" indent="-457200">
              <a:buFont typeface="+mj-lt"/>
              <a:buAutoNum type="arabicPeriod"/>
            </a:pPr>
            <a:r>
              <a:rPr lang="en-US" sz="2400" dirty="0">
                <a:cs typeface="Times New Roman" panose="02020603050405020304" pitchFamily="18" charset="0"/>
              </a:rPr>
              <a:t>Event-Studies / Two-Way Fixed Effects (if time)</a:t>
            </a:r>
          </a:p>
        </p:txBody>
      </p:sp>
    </p:spTree>
    <p:extLst>
      <p:ext uri="{BB962C8B-B14F-4D97-AF65-F5344CB8AC3E}">
        <p14:creationId xmlns:p14="http://schemas.microsoft.com/office/powerpoint/2010/main" val="1357020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Panel Data</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normAutofit/>
          </a:bodyPr>
          <a:lstStyle/>
          <a:p>
            <a:r>
              <a:rPr lang="en-US" sz="3000" dirty="0"/>
              <a:t>A Brief Introduction</a:t>
            </a:r>
          </a:p>
        </p:txBody>
      </p:sp>
    </p:spTree>
    <p:extLst>
      <p:ext uri="{BB962C8B-B14F-4D97-AF65-F5344CB8AC3E}">
        <p14:creationId xmlns:p14="http://schemas.microsoft.com/office/powerpoint/2010/main" val="2953910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Panel Data?</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1" y="1066801"/>
                <a:ext cx="9862990" cy="5141388"/>
              </a:xfrm>
            </p:spPr>
            <p:txBody>
              <a:bodyPr>
                <a:noAutofit/>
              </a:bodyPr>
              <a:lstStyle/>
              <a:p>
                <a:r>
                  <a:rPr lang="en-US" sz="2400" dirty="0">
                    <a:cs typeface="Times New Roman" panose="02020603050405020304" pitchFamily="18" charset="0"/>
                  </a:rPr>
                  <a:t>Repeated observations of a unit (e.g., firms, countries, schools) over time</a:t>
                </a:r>
              </a:p>
              <a:p>
                <a:r>
                  <a:rPr lang="en-US" sz="2400" dirty="0">
                    <a:cs typeface="Times New Roman" panose="02020603050405020304" pitchFamily="18" charset="0"/>
                  </a:rPr>
                  <a:t>Generally, observations have two subscripts: </a:t>
                </a:r>
                <a14:m>
                  <m:oMath xmlns:m="http://schemas.openxmlformats.org/officeDocument/2006/math">
                    <m:r>
                      <m:rPr>
                        <m:lit/>
                      </m:rPr>
                      <a:rPr lang="en-CA" sz="2400" b="0" i="1" smtClean="0">
                        <a:latin typeface="Cambria Math" panose="02040503050406030204" pitchFamily="18" charset="0"/>
                        <a:cs typeface="Times New Roman" panose="02020603050405020304" pitchFamily="18" charset="0"/>
                      </a:rPr>
                      <m:t>{</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𝑌</m:t>
                        </m:r>
                      </m:e>
                      <m:sub>
                        <m:r>
                          <a:rPr lang="en-CA" sz="2400" b="0" i="1" smtClean="0">
                            <a:latin typeface="Cambria Math" panose="02040503050406030204" pitchFamily="18" charset="0"/>
                            <a:cs typeface="Times New Roman" panose="02020603050405020304" pitchFamily="18" charset="0"/>
                          </a:rPr>
                          <m:t>𝑖𝑡</m:t>
                        </m:r>
                      </m:sub>
                    </m:sSub>
                    <m:r>
                      <a:rPr lang="en-CA" sz="2400" b="0" i="1" smtClean="0">
                        <a:latin typeface="Cambria Math" panose="02040503050406030204" pitchFamily="18" charset="0"/>
                        <a:cs typeface="Times New Roman" panose="02020603050405020304" pitchFamily="18" charset="0"/>
                      </a:rPr>
                      <m:t>, </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𝑋</m:t>
                        </m:r>
                      </m:e>
                      <m:sub>
                        <m:r>
                          <a:rPr lang="en-CA" sz="2400" b="0" i="1" smtClean="0">
                            <a:latin typeface="Cambria Math" panose="02040503050406030204" pitchFamily="18" charset="0"/>
                            <a:cs typeface="Times New Roman" panose="02020603050405020304" pitchFamily="18" charset="0"/>
                          </a:rPr>
                          <m:t>𝑖𝑡</m:t>
                        </m:r>
                      </m:sub>
                    </m:sSub>
                    <m:r>
                      <a:rPr lang="en-CA"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Panels can be </a:t>
                </a:r>
                <a:r>
                  <a:rPr lang="en-US" sz="2400" b="1" dirty="0">
                    <a:cs typeface="Times New Roman" panose="02020603050405020304" pitchFamily="18" charset="0"/>
                  </a:rPr>
                  <a:t>balanced </a:t>
                </a:r>
                <a:r>
                  <a:rPr lang="en-US" sz="2400" dirty="0">
                    <a:cs typeface="Times New Roman" panose="02020603050405020304" pitchFamily="18" charset="0"/>
                  </a:rPr>
                  <a:t>or </a:t>
                </a:r>
                <a:r>
                  <a:rPr lang="en-US" sz="2400" b="1" dirty="0">
                    <a:cs typeface="Times New Roman" panose="02020603050405020304" pitchFamily="18" charset="0"/>
                  </a:rPr>
                  <a:t>unbalanced </a:t>
                </a:r>
                <a:r>
                  <a:rPr lang="en-US" sz="2400" dirty="0">
                    <a:cs typeface="Times New Roman" panose="02020603050405020304" pitchFamily="18" charset="0"/>
                  </a:rPr>
                  <a:t>(entry/attrition)</a:t>
                </a:r>
                <a:endParaRPr lang="en-US" sz="2400" b="1" dirty="0">
                  <a:cs typeface="Times New Roman" panose="02020603050405020304" pitchFamily="18" charset="0"/>
                </a:endParaRPr>
              </a:p>
              <a:p>
                <a:r>
                  <a:rPr lang="en-US" sz="2400" dirty="0">
                    <a:cs typeface="Times New Roman" panose="02020603050405020304" pitchFamily="18" charset="0"/>
                  </a:rPr>
                  <a:t>We’re adding variation here (along time dimension), so causal inference gets a little bit tricker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1" y="1066801"/>
                <a:ext cx="9862990" cy="5141388"/>
              </a:xfrm>
              <a:blipFill>
                <a:blip r:embed="rId3"/>
                <a:stretch>
                  <a:fillRect l="-433" t="-1305" r="-1174"/>
                </a:stretch>
              </a:blipFill>
            </p:spPr>
            <p:txBody>
              <a:bodyPr/>
              <a:lstStyle/>
              <a:p>
                <a:r>
                  <a:rPr lang="en-US">
                    <a:noFill/>
                  </a:rPr>
                  <a:t> </a:t>
                </a:r>
              </a:p>
            </p:txBody>
          </p:sp>
        </mc:Fallback>
      </mc:AlternateContent>
    </p:spTree>
    <p:extLst>
      <p:ext uri="{BB962C8B-B14F-4D97-AF65-F5344CB8AC3E}">
        <p14:creationId xmlns:p14="http://schemas.microsoft.com/office/powerpoint/2010/main" val="290896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29032" y="365760"/>
            <a:ext cx="5997678" cy="1325562"/>
          </a:xfrm>
        </p:spPr>
        <p:txBody>
          <a:bodyPr>
            <a:normAutofit/>
          </a:bodyPr>
          <a:lstStyle/>
          <a:p>
            <a:r>
              <a:rPr lang="en-US">
                <a:cs typeface="Times New Roman" panose="02020603050405020304" pitchFamily="18" charset="0"/>
              </a:rPr>
              <a:t>What is Panel Data?</a:t>
            </a:r>
            <a:endParaRPr lang="en-US">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60C2BF78-EE5B-49C7-ADD9-58CDBD13E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1139" y="1691322"/>
                <a:ext cx="6015571" cy="4488815"/>
              </a:xfrm>
            </p:spPr>
            <p:txBody>
              <a:bodyPr>
                <a:normAutofit/>
              </a:bodyPr>
              <a:lstStyle/>
              <a:p>
                <a:r>
                  <a:rPr lang="en-US" sz="2400" dirty="0">
                    <a:cs typeface="Times New Roman" panose="02020603050405020304" pitchFamily="18" charset="0"/>
                  </a:rPr>
                  <a:t>Repeated observations of a unit (e.g., firms, countries, schools) over time</a:t>
                </a:r>
              </a:p>
              <a:p>
                <a:r>
                  <a:rPr lang="en-US" sz="2400" dirty="0">
                    <a:cs typeface="Times New Roman" panose="02020603050405020304" pitchFamily="18" charset="0"/>
                  </a:rPr>
                  <a:t>Generally, observations have two subscripts: </a:t>
                </a:r>
                <a14:m>
                  <m:oMath xmlns:m="http://schemas.openxmlformats.org/officeDocument/2006/math">
                    <m:r>
                      <m:rPr>
                        <m:lit/>
                      </m:rPr>
                      <a:rPr lang="en-CA" sz="2400" b="0" i="1" smtClean="0">
                        <a:latin typeface="Cambria Math" panose="02040503050406030204" pitchFamily="18" charset="0"/>
                        <a:cs typeface="Times New Roman" panose="02020603050405020304" pitchFamily="18" charset="0"/>
                      </a:rPr>
                      <m:t>{</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𝑌</m:t>
                        </m:r>
                      </m:e>
                      <m:sub>
                        <m:r>
                          <a:rPr lang="en-CA" sz="2400" b="0" i="1" smtClean="0">
                            <a:latin typeface="Cambria Math" panose="02040503050406030204" pitchFamily="18" charset="0"/>
                            <a:cs typeface="Times New Roman" panose="02020603050405020304" pitchFamily="18" charset="0"/>
                          </a:rPr>
                          <m:t>𝑖𝑡</m:t>
                        </m:r>
                      </m:sub>
                    </m:sSub>
                    <m:r>
                      <a:rPr lang="en-CA" sz="2400" b="0" i="1" smtClean="0">
                        <a:latin typeface="Cambria Math" panose="02040503050406030204" pitchFamily="18" charset="0"/>
                        <a:cs typeface="Times New Roman" panose="02020603050405020304" pitchFamily="18" charset="0"/>
                      </a:rPr>
                      <m:t>, </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𝑋</m:t>
                        </m:r>
                      </m:e>
                      <m:sub>
                        <m:r>
                          <a:rPr lang="en-CA" sz="2400" b="0" i="1" smtClean="0">
                            <a:latin typeface="Cambria Math" panose="02040503050406030204" pitchFamily="18" charset="0"/>
                            <a:cs typeface="Times New Roman" panose="02020603050405020304" pitchFamily="18" charset="0"/>
                          </a:rPr>
                          <m:t>𝑖𝑡</m:t>
                        </m:r>
                      </m:sub>
                    </m:sSub>
                    <m:r>
                      <a:rPr lang="en-CA"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Panels can be </a:t>
                </a:r>
                <a:r>
                  <a:rPr lang="en-US" sz="2400" b="1" dirty="0">
                    <a:cs typeface="Times New Roman" panose="02020603050405020304" pitchFamily="18" charset="0"/>
                  </a:rPr>
                  <a:t>balanced </a:t>
                </a:r>
                <a:r>
                  <a:rPr lang="en-US" sz="2400" dirty="0">
                    <a:cs typeface="Times New Roman" panose="02020603050405020304" pitchFamily="18" charset="0"/>
                  </a:rPr>
                  <a:t>or </a:t>
                </a:r>
                <a:r>
                  <a:rPr lang="en-US" sz="2400" b="1" dirty="0">
                    <a:cs typeface="Times New Roman" panose="02020603050405020304" pitchFamily="18" charset="0"/>
                  </a:rPr>
                  <a:t>unbalanced</a:t>
                </a:r>
              </a:p>
              <a:p>
                <a:r>
                  <a:rPr lang="en-US" sz="2400" dirty="0">
                    <a:cs typeface="Times New Roman" panose="02020603050405020304" pitchFamily="18" charset="0"/>
                  </a:rPr>
                  <a:t>We’re adding variation here (along time dimension), so causal inference gets a little bit tricker</a:t>
                </a:r>
              </a:p>
              <a:p>
                <a:r>
                  <a:rPr lang="en-US" sz="2400" dirty="0">
                    <a:cs typeface="Times New Roman" panose="02020603050405020304" pitchFamily="18" charset="0"/>
                  </a:rPr>
                  <a:t>But with </a:t>
                </a:r>
                <a:r>
                  <a:rPr lang="en-US" sz="2400" b="1" dirty="0">
                    <a:cs typeface="Times New Roman" panose="02020603050405020304" pitchFamily="18" charset="0"/>
                  </a:rPr>
                  <a:t>new assumptions</a:t>
                </a:r>
                <a:r>
                  <a:rPr lang="en-US" sz="2400" dirty="0">
                    <a:cs typeface="Times New Roman" panose="02020603050405020304" pitchFamily="18" charset="0"/>
                  </a:rPr>
                  <a:t>, we can continue to make causal claims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1139" y="1691322"/>
                <a:ext cx="6015571" cy="4488815"/>
              </a:xfrm>
              <a:blipFill>
                <a:blip r:embed="rId3"/>
                <a:stretch>
                  <a:fillRect l="-811" t="-1493" r="-913" b="-67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7D62C74-93B1-CD5F-E543-7F05B483AC94}"/>
              </a:ext>
            </a:extLst>
          </p:cNvPr>
          <p:cNvPicPr>
            <a:picLocks noChangeAspect="1"/>
          </p:cNvPicPr>
          <p:nvPr/>
        </p:nvPicPr>
        <p:blipFill rotWithShape="1">
          <a:blip r:embed="rId4"/>
          <a:srcRect l="5102"/>
          <a:stretch/>
        </p:blipFill>
        <p:spPr>
          <a:xfrm>
            <a:off x="7538689" y="10"/>
            <a:ext cx="4653311" cy="6857990"/>
          </a:xfrm>
          <a:prstGeom prst="rect">
            <a:avLst/>
          </a:prstGeom>
        </p:spPr>
      </p:pic>
    </p:spTree>
    <p:extLst>
      <p:ext uri="{BB962C8B-B14F-4D97-AF65-F5344CB8AC3E}">
        <p14:creationId xmlns:p14="http://schemas.microsoft.com/office/powerpoint/2010/main" val="2779128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3FC6F-E21A-8260-D0EC-25318AF92DE7}"/>
              </a:ext>
            </a:extLst>
          </p:cNvPr>
          <p:cNvSpPr>
            <a:spLocks noGrp="1"/>
          </p:cNvSpPr>
          <p:nvPr>
            <p:ph type="title"/>
          </p:nvPr>
        </p:nvSpPr>
        <p:spPr>
          <a:xfrm>
            <a:off x="304800" y="365760"/>
            <a:ext cx="10649712" cy="1325562"/>
          </a:xfrm>
        </p:spPr>
        <p:txBody>
          <a:bodyPr/>
          <a:lstStyle/>
          <a:p>
            <a:r>
              <a:rPr lang="en-US" dirty="0"/>
              <a:t>Causal analysis with panel data typically requires design-based inference</a:t>
            </a:r>
          </a:p>
        </p:txBody>
      </p:sp>
      <p:pic>
        <p:nvPicPr>
          <p:cNvPr id="5" name="Content Placeholder 4">
            <a:extLst>
              <a:ext uri="{FF2B5EF4-FFF2-40B4-BE49-F238E27FC236}">
                <a16:creationId xmlns:a16="http://schemas.microsoft.com/office/drawing/2014/main" id="{F96C9240-A1C8-7D62-2B44-945B2A160F51}"/>
              </a:ext>
            </a:extLst>
          </p:cNvPr>
          <p:cNvPicPr>
            <a:picLocks noGrp="1" noChangeAspect="1"/>
          </p:cNvPicPr>
          <p:nvPr>
            <p:ph idx="1"/>
          </p:nvPr>
        </p:nvPicPr>
        <p:blipFill>
          <a:blip r:embed="rId3"/>
          <a:stretch>
            <a:fillRect/>
          </a:stretch>
        </p:blipFill>
        <p:spPr>
          <a:xfrm>
            <a:off x="381000" y="1712542"/>
            <a:ext cx="10287000" cy="4403360"/>
          </a:xfrm>
        </p:spPr>
      </p:pic>
    </p:spTree>
    <p:extLst>
      <p:ext uri="{BB962C8B-B14F-4D97-AF65-F5344CB8AC3E}">
        <p14:creationId xmlns:p14="http://schemas.microsoft.com/office/powerpoint/2010/main" val="4169443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Difference-in-Differences:</a:t>
            </a:r>
            <a:br>
              <a:rPr lang="en-US" dirty="0"/>
            </a:br>
            <a:r>
              <a:rPr lang="en-US" dirty="0"/>
              <a:t>2-by-2 Case</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42256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1"/>
            <a:ext cx="11734800" cy="838200"/>
          </a:xfrm>
        </p:spPr>
        <p:txBody>
          <a:bodyPr>
            <a:normAutofit fontScale="90000"/>
          </a:bodyPr>
          <a:lstStyle/>
          <a:p>
            <a:r>
              <a:rPr lang="en-US" dirty="0">
                <a:cs typeface="Times New Roman" panose="02020603050405020304" pitchFamily="18" charset="0"/>
              </a:rPr>
              <a:t>Case Study: </a:t>
            </a:r>
            <a:r>
              <a:rPr lang="en-US" dirty="0"/>
              <a:t>Children’s Mental Health during COVID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43000"/>
            <a:ext cx="10535265" cy="5175913"/>
          </a:xfrm>
        </p:spPr>
        <p:txBody>
          <a:bodyPr>
            <a:normAutofit/>
          </a:bodyPr>
          <a:lstStyle/>
          <a:p>
            <a:r>
              <a:rPr lang="en-US" sz="2200" dirty="0">
                <a:highlight>
                  <a:srgbClr val="FFFF00"/>
                </a:highlight>
                <a:cs typeface="Times New Roman" panose="02020603050405020304" pitchFamily="18" charset="0"/>
              </a:rPr>
              <a:t>Add material here – motivation, data, descriptive results? </a:t>
            </a:r>
          </a:p>
        </p:txBody>
      </p:sp>
    </p:spTree>
    <p:extLst>
      <p:ext uri="{BB962C8B-B14F-4D97-AF65-F5344CB8AC3E}">
        <p14:creationId xmlns:p14="http://schemas.microsoft.com/office/powerpoint/2010/main" val="673669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64C2B-732E-4338-2BDA-9D788100EB54}"/>
              </a:ext>
            </a:extLst>
          </p:cNvPr>
          <p:cNvSpPr>
            <a:spLocks noGrp="1"/>
          </p:cNvSpPr>
          <p:nvPr>
            <p:ph type="title"/>
          </p:nvPr>
        </p:nvSpPr>
        <p:spPr>
          <a:xfrm>
            <a:off x="228600" y="365760"/>
            <a:ext cx="10725912" cy="472440"/>
          </a:xfrm>
        </p:spPr>
        <p:txBody>
          <a:bodyPr>
            <a:normAutofit fontScale="90000"/>
          </a:bodyPr>
          <a:lstStyle/>
          <a:p>
            <a:r>
              <a:rPr lang="en-US" dirty="0"/>
              <a:t>Motivation</a:t>
            </a:r>
          </a:p>
        </p:txBody>
      </p:sp>
    </p:spTree>
    <p:extLst>
      <p:ext uri="{BB962C8B-B14F-4D97-AF65-F5344CB8AC3E}">
        <p14:creationId xmlns:p14="http://schemas.microsoft.com/office/powerpoint/2010/main" val="1313359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t>Motivating Evidence</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10D870C-9AFC-0AA1-41F6-41395B04E7F7}"/>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4205546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Basic DD Intuition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4343399"/>
                <a:ext cx="9405791" cy="1864789"/>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The 2x2 DID estimator can be written as</a:t>
                </a:r>
              </a:p>
              <a:p>
                <a:pPr marL="0" indent="0">
                  <a:buNone/>
                </a:pPr>
                <a14:m>
                  <m:oMathPara xmlns:m="http://schemas.openxmlformats.org/officeDocument/2006/math">
                    <m:oMathParaPr>
                      <m:jc m:val="centerGroup"/>
                    </m:oMathParaPr>
                    <m:oMath xmlns:m="http://schemas.openxmlformats.org/officeDocument/2006/math">
                      <m:sSup>
                        <m:sSupPr>
                          <m:ctrlPr>
                            <a:rPr lang="en-US" sz="2400" b="0" i="1" dirty="0" smtClean="0">
                              <a:latin typeface="Cambria Math" panose="02040503050406030204" pitchFamily="18" charset="0"/>
                              <a:cs typeface="Times New Roman" panose="02020603050405020304" pitchFamily="18" charset="0"/>
                            </a:rPr>
                          </m:ctrlPr>
                        </m:sSupPr>
                        <m:e>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𝛿</m:t>
                              </m:r>
                            </m:e>
                          </m:acc>
                        </m:e>
                        <m:sup>
                          <m:r>
                            <a:rPr lang="en-US" sz="2400" b="0" i="1" dirty="0" smtClean="0">
                              <a:latin typeface="Cambria Math" panose="02040503050406030204" pitchFamily="18" charset="0"/>
                              <a:cs typeface="Times New Roman" panose="02020603050405020304" pitchFamily="18" charset="0"/>
                            </a:rPr>
                            <m:t>2</m:t>
                          </m:r>
                          <m:r>
                            <a:rPr lang="en-US" sz="2400" b="0" i="1" dirty="0" smtClean="0">
                              <a:latin typeface="Cambria Math" panose="02040503050406030204" pitchFamily="18" charset="0"/>
                              <a:cs typeface="Times New Roman" panose="02020603050405020304" pitchFamily="18" charset="0"/>
                            </a:rPr>
                            <m:t>𝑥</m:t>
                          </m:r>
                          <m:r>
                            <a:rPr lang="en-US" sz="2400" b="0" i="1" dirty="0" smtClean="0">
                              <a:latin typeface="Cambria Math" panose="02040503050406030204" pitchFamily="18" charset="0"/>
                              <a:cs typeface="Times New Roman" panose="02020603050405020304" pitchFamily="18" charset="0"/>
                            </a:rPr>
                            <m:t>2</m:t>
                          </m:r>
                        </m:sup>
                      </m:sSup>
                      <m:r>
                        <a:rPr lang="en-US" sz="2400" b="0" i="1" dirty="0" smtClean="0">
                          <a:latin typeface="Cambria Math" panose="02040503050406030204" pitchFamily="18" charset="0"/>
                          <a:cs typeface="Times New Roman" panose="02020603050405020304" pitchFamily="18" charset="0"/>
                        </a:rPr>
                        <m:t>=</m:t>
                      </m:r>
                      <m:d>
                        <m:dPr>
                          <m:ctrlPr>
                            <a:rPr lang="en-US" sz="2400" b="0" i="1" dirty="0" smtClean="0">
                              <a:latin typeface="Cambria Math" panose="02040503050406030204" pitchFamily="18" charset="0"/>
                              <a:cs typeface="Times New Roman" panose="02020603050405020304" pitchFamily="18" charset="0"/>
                            </a:rPr>
                          </m:ctrlPr>
                        </m:dPr>
                        <m:e>
                          <m:sSup>
                            <m:sSupPr>
                              <m:ctrlPr>
                                <a:rPr lang="en-US" sz="2400" b="0" i="1" dirty="0" smtClean="0">
                                  <a:latin typeface="Cambria Math" panose="02040503050406030204" pitchFamily="18" charset="0"/>
                                  <a:cs typeface="Times New Roman" panose="02020603050405020304" pitchFamily="18" charset="0"/>
                                </a:rPr>
                              </m:ctrlPr>
                            </m:sSupPr>
                            <m:e>
                              <m:acc>
                                <m:accPr>
                                  <m:chr m:val="̅"/>
                                  <m:ctrlPr>
                                    <a:rPr lang="en-US" sz="2400" b="0" i="1" dirty="0" smtClean="0">
                                      <a:latin typeface="Cambria Math" panose="02040503050406030204" pitchFamily="18" charset="0"/>
                                      <a:cs typeface="Times New Roman" panose="02020603050405020304" pitchFamily="18" charset="0"/>
                                    </a:rPr>
                                  </m:ctrlPr>
                                </m:accPr>
                                <m:e>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𝑦</m:t>
                                      </m:r>
                                    </m:e>
                                    <m:sub>
                                      <m:r>
                                        <a:rPr lang="en-US" sz="2400" b="0" i="1" dirty="0" smtClean="0">
                                          <a:latin typeface="Cambria Math" panose="02040503050406030204" pitchFamily="18" charset="0"/>
                                          <a:cs typeface="Times New Roman" panose="02020603050405020304" pitchFamily="18" charset="0"/>
                                        </a:rPr>
                                        <m:t>𝑇</m:t>
                                      </m:r>
                                    </m:sub>
                                  </m:sSub>
                                </m:e>
                              </m:acc>
                            </m:e>
                            <m:sup>
                              <m:r>
                                <a:rPr lang="en-US" sz="2400" b="0" i="1" dirty="0" smtClean="0">
                                  <a:latin typeface="Cambria Math" panose="02040503050406030204" pitchFamily="18" charset="0"/>
                                  <a:cs typeface="Times New Roman" panose="02020603050405020304" pitchFamily="18" charset="0"/>
                                </a:rPr>
                                <m:t>𝑝𝑜𝑠𝑡</m:t>
                              </m:r>
                              <m:d>
                                <m:dPr>
                                  <m:ctrlPr>
                                    <a:rPr lang="en-US" sz="2400" b="0" i="1" dirty="0" smtClean="0">
                                      <a:latin typeface="Cambria Math" panose="02040503050406030204" pitchFamily="18" charset="0"/>
                                      <a:cs typeface="Times New Roman" panose="02020603050405020304" pitchFamily="18" charset="0"/>
                                    </a:rPr>
                                  </m:ctrlPr>
                                </m:dPr>
                                <m:e>
                                  <m:r>
                                    <a:rPr lang="en-US" sz="2400" b="0" i="1" dirty="0" smtClean="0">
                                      <a:latin typeface="Cambria Math" panose="02040503050406030204" pitchFamily="18" charset="0"/>
                                      <a:cs typeface="Times New Roman" panose="02020603050405020304" pitchFamily="18" charset="0"/>
                                    </a:rPr>
                                    <m:t>𝑇</m:t>
                                  </m:r>
                                </m:e>
                              </m:d>
                            </m:sup>
                          </m:sSup>
                          <m:r>
                            <a:rPr lang="en-US" sz="2400" b="0" i="1" dirty="0" smtClean="0">
                              <a:latin typeface="Cambria Math" panose="02040503050406030204" pitchFamily="18" charset="0"/>
                              <a:cs typeface="Times New Roman" panose="02020603050405020304" pitchFamily="18" charset="0"/>
                            </a:rPr>
                            <m:t>−</m:t>
                          </m:r>
                          <m:sSup>
                            <m:sSupPr>
                              <m:ctrlPr>
                                <a:rPr lang="en-US" sz="2400" b="0" i="1" dirty="0" smtClean="0">
                                  <a:latin typeface="Cambria Math" panose="02040503050406030204" pitchFamily="18" charset="0"/>
                                  <a:cs typeface="Times New Roman" panose="02020603050405020304" pitchFamily="18" charset="0"/>
                                </a:rPr>
                              </m:ctrlPr>
                            </m:sSupPr>
                            <m:e>
                              <m:acc>
                                <m:accPr>
                                  <m:chr m:val="̅"/>
                                  <m:ctrlPr>
                                    <a:rPr lang="en-US" sz="2400" b="0" i="1" dirty="0" smtClean="0">
                                      <a:latin typeface="Cambria Math" panose="02040503050406030204" pitchFamily="18" charset="0"/>
                                      <a:cs typeface="Times New Roman" panose="02020603050405020304" pitchFamily="18" charset="0"/>
                                    </a:rPr>
                                  </m:ctrlPr>
                                </m:accPr>
                                <m:e>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𝑦</m:t>
                                      </m:r>
                                    </m:e>
                                    <m:sub>
                                      <m:r>
                                        <a:rPr lang="en-US" sz="2400" b="0" i="1" dirty="0" smtClean="0">
                                          <a:latin typeface="Cambria Math" panose="02040503050406030204" pitchFamily="18" charset="0"/>
                                          <a:cs typeface="Times New Roman" panose="02020603050405020304" pitchFamily="18" charset="0"/>
                                        </a:rPr>
                                        <m:t>𝑇</m:t>
                                      </m:r>
                                    </m:sub>
                                  </m:sSub>
                                </m:e>
                              </m:acc>
                            </m:e>
                            <m:sup>
                              <m:r>
                                <a:rPr lang="en-US" sz="2400" b="0" i="1" dirty="0" smtClean="0">
                                  <a:latin typeface="Cambria Math" panose="02040503050406030204" pitchFamily="18" charset="0"/>
                                  <a:cs typeface="Times New Roman" panose="02020603050405020304" pitchFamily="18" charset="0"/>
                                </a:rPr>
                                <m:t>𝑝𝑟𝑒</m:t>
                              </m:r>
                              <m:d>
                                <m:dPr>
                                  <m:ctrlPr>
                                    <a:rPr lang="en-US" sz="2400" b="0" i="1" dirty="0" smtClean="0">
                                      <a:latin typeface="Cambria Math" panose="02040503050406030204" pitchFamily="18" charset="0"/>
                                      <a:cs typeface="Times New Roman" panose="02020603050405020304" pitchFamily="18" charset="0"/>
                                    </a:rPr>
                                  </m:ctrlPr>
                                </m:dPr>
                                <m:e>
                                  <m:r>
                                    <a:rPr lang="en-US" sz="2400" b="0" i="1" dirty="0" smtClean="0">
                                      <a:latin typeface="Cambria Math" panose="02040503050406030204" pitchFamily="18" charset="0"/>
                                      <a:cs typeface="Times New Roman" panose="02020603050405020304" pitchFamily="18" charset="0"/>
                                    </a:rPr>
                                    <m:t>𝑇</m:t>
                                  </m:r>
                                </m:e>
                              </m:d>
                            </m:sup>
                          </m:sSup>
                        </m:e>
                      </m:d>
                      <m:r>
                        <a:rPr lang="en-US" sz="2400" b="0" i="1" dirty="0" smtClean="0">
                          <a:latin typeface="Cambria Math" panose="02040503050406030204" pitchFamily="18" charset="0"/>
                          <a:cs typeface="Times New Roman" panose="02020603050405020304" pitchFamily="18" charset="0"/>
                        </a:rPr>
                        <m:t>−</m:t>
                      </m:r>
                      <m:d>
                        <m:dPr>
                          <m:ctrlPr>
                            <a:rPr lang="en-US" sz="2400" b="0" i="1" dirty="0" smtClean="0">
                              <a:latin typeface="Cambria Math" panose="02040503050406030204" pitchFamily="18" charset="0"/>
                              <a:cs typeface="Times New Roman" panose="02020603050405020304" pitchFamily="18" charset="0"/>
                            </a:rPr>
                          </m:ctrlPr>
                        </m:dPr>
                        <m:e>
                          <m:sSup>
                            <m:sSupPr>
                              <m:ctrlPr>
                                <a:rPr lang="en-US" sz="2400" b="0" i="1" dirty="0" smtClean="0">
                                  <a:latin typeface="Cambria Math" panose="02040503050406030204" pitchFamily="18" charset="0"/>
                                  <a:cs typeface="Times New Roman" panose="02020603050405020304" pitchFamily="18" charset="0"/>
                                </a:rPr>
                              </m:ctrlPr>
                            </m:sSupPr>
                            <m:e>
                              <m:acc>
                                <m:accPr>
                                  <m:chr m:val="̅"/>
                                  <m:ctrlPr>
                                    <a:rPr lang="en-US" sz="2400" b="0" i="1" dirty="0" smtClean="0">
                                      <a:latin typeface="Cambria Math" panose="02040503050406030204" pitchFamily="18" charset="0"/>
                                      <a:cs typeface="Times New Roman" panose="02020603050405020304" pitchFamily="18" charset="0"/>
                                    </a:rPr>
                                  </m:ctrlPr>
                                </m:accPr>
                                <m:e>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𝑦</m:t>
                                      </m:r>
                                    </m:e>
                                    <m:sub>
                                      <m:r>
                                        <a:rPr lang="en-US" sz="2400" b="0" i="1" dirty="0" smtClean="0">
                                          <a:latin typeface="Cambria Math" panose="02040503050406030204" pitchFamily="18" charset="0"/>
                                          <a:cs typeface="Times New Roman" panose="02020603050405020304" pitchFamily="18" charset="0"/>
                                        </a:rPr>
                                        <m:t>𝐶</m:t>
                                      </m:r>
                                    </m:sub>
                                  </m:sSub>
                                </m:e>
                              </m:acc>
                            </m:e>
                            <m:sup>
                              <m:r>
                                <a:rPr lang="en-US" sz="2400" b="0" i="1" dirty="0" smtClean="0">
                                  <a:latin typeface="Cambria Math" panose="02040503050406030204" pitchFamily="18" charset="0"/>
                                  <a:cs typeface="Times New Roman" panose="02020603050405020304" pitchFamily="18" charset="0"/>
                                </a:rPr>
                                <m:t>𝑝𝑜𝑠𝑡</m:t>
                              </m:r>
                              <m:d>
                                <m:dPr>
                                  <m:ctrlPr>
                                    <a:rPr lang="en-US" sz="2400" b="0" i="1" dirty="0" smtClean="0">
                                      <a:latin typeface="Cambria Math" panose="02040503050406030204" pitchFamily="18" charset="0"/>
                                      <a:cs typeface="Times New Roman" panose="02020603050405020304" pitchFamily="18" charset="0"/>
                                    </a:rPr>
                                  </m:ctrlPr>
                                </m:dPr>
                                <m:e>
                                  <m:r>
                                    <a:rPr lang="en-US" sz="2400" b="0" i="1" dirty="0" smtClean="0">
                                      <a:latin typeface="Cambria Math" panose="02040503050406030204" pitchFamily="18" charset="0"/>
                                      <a:cs typeface="Times New Roman" panose="02020603050405020304" pitchFamily="18" charset="0"/>
                                    </a:rPr>
                                    <m:t>𝑇</m:t>
                                  </m:r>
                                </m:e>
                              </m:d>
                            </m:sup>
                          </m:sSup>
                          <m:r>
                            <a:rPr lang="en-US" sz="2400" b="0" i="1" dirty="0" smtClean="0">
                              <a:latin typeface="Cambria Math" panose="02040503050406030204" pitchFamily="18" charset="0"/>
                              <a:cs typeface="Times New Roman" panose="02020603050405020304" pitchFamily="18" charset="0"/>
                            </a:rPr>
                            <m:t>−</m:t>
                          </m:r>
                          <m:sSup>
                            <m:sSupPr>
                              <m:ctrlPr>
                                <a:rPr lang="en-US" sz="2400" b="0" i="1" dirty="0" smtClean="0">
                                  <a:latin typeface="Cambria Math" panose="02040503050406030204" pitchFamily="18" charset="0"/>
                                  <a:cs typeface="Times New Roman" panose="02020603050405020304" pitchFamily="18" charset="0"/>
                                </a:rPr>
                              </m:ctrlPr>
                            </m:sSupPr>
                            <m:e>
                              <m:acc>
                                <m:accPr>
                                  <m:chr m:val="̅"/>
                                  <m:ctrlPr>
                                    <a:rPr lang="en-US" sz="2400" b="0" i="1" dirty="0" smtClean="0">
                                      <a:latin typeface="Cambria Math" panose="02040503050406030204" pitchFamily="18" charset="0"/>
                                      <a:cs typeface="Times New Roman" panose="02020603050405020304" pitchFamily="18" charset="0"/>
                                    </a:rPr>
                                  </m:ctrlPr>
                                </m:accPr>
                                <m:e>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𝑦</m:t>
                                      </m:r>
                                    </m:e>
                                    <m:sub>
                                      <m:r>
                                        <a:rPr lang="en-US" sz="2400" b="0" i="1" dirty="0" smtClean="0">
                                          <a:latin typeface="Cambria Math" panose="02040503050406030204" pitchFamily="18" charset="0"/>
                                          <a:cs typeface="Times New Roman" panose="02020603050405020304" pitchFamily="18" charset="0"/>
                                        </a:rPr>
                                        <m:t>𝐶</m:t>
                                      </m:r>
                                    </m:sub>
                                  </m:sSub>
                                </m:e>
                              </m:acc>
                            </m:e>
                            <m:sup>
                              <m:r>
                                <a:rPr lang="en-US" sz="2400" b="0" i="1" dirty="0" smtClean="0">
                                  <a:latin typeface="Cambria Math" panose="02040503050406030204" pitchFamily="18" charset="0"/>
                                  <a:cs typeface="Times New Roman" panose="02020603050405020304" pitchFamily="18" charset="0"/>
                                </a:rPr>
                                <m:t>𝑝𝑟𝑒</m:t>
                              </m:r>
                              <m:d>
                                <m:dPr>
                                  <m:ctrlPr>
                                    <a:rPr lang="en-US" sz="2400" b="0" i="1" dirty="0" smtClean="0">
                                      <a:latin typeface="Cambria Math" panose="02040503050406030204" pitchFamily="18" charset="0"/>
                                      <a:cs typeface="Times New Roman" panose="02020603050405020304" pitchFamily="18" charset="0"/>
                                    </a:rPr>
                                  </m:ctrlPr>
                                </m:dPr>
                                <m:e>
                                  <m:r>
                                    <a:rPr lang="en-US" sz="2400" b="0" i="1" dirty="0" smtClean="0">
                                      <a:latin typeface="Cambria Math" panose="02040503050406030204" pitchFamily="18" charset="0"/>
                                      <a:cs typeface="Times New Roman" panose="02020603050405020304" pitchFamily="18" charset="0"/>
                                    </a:rPr>
                                    <m:t>𝑇</m:t>
                                  </m:r>
                                </m:e>
                              </m:d>
                            </m:sup>
                          </m:sSup>
                        </m:e>
                      </m:d>
                      <m:r>
                        <a:rPr lang="en-US" sz="2400" b="0" i="1" dirty="0"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𝑇</m:t>
                    </m:r>
                  </m:oMath>
                </a14:m>
                <a:r>
                  <a:rPr lang="en-US" sz="2400" dirty="0">
                    <a:cs typeface="Times New Roman" panose="02020603050405020304" pitchFamily="18" charset="0"/>
                  </a:rPr>
                  <a:t> is treated group</a:t>
                </a: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𝐶</m:t>
                    </m:r>
                  </m:oMath>
                </a14:m>
                <a:r>
                  <a:rPr lang="en-US" sz="2400" dirty="0">
                    <a:cs typeface="Times New Roman" panose="02020603050405020304" pitchFamily="18" charset="0"/>
                  </a:rPr>
                  <a:t> is untreated/control group</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4343399"/>
                <a:ext cx="9405791" cy="1864789"/>
              </a:xfrm>
              <a:blipFill>
                <a:blip r:embed="rId3"/>
                <a:stretch>
                  <a:fillRect l="-972" t="-3268" b="-13725"/>
                </a:stretch>
              </a:blipFill>
            </p:spPr>
            <p:txBody>
              <a:bodyPr/>
              <a:lstStyle/>
              <a:p>
                <a:r>
                  <a:rPr lang="en-US">
                    <a:noFill/>
                  </a:rPr>
                  <a:t> </a:t>
                </a:r>
              </a:p>
            </p:txBody>
          </p:sp>
        </mc:Fallback>
      </mc:AlternateContent>
      <p:pic>
        <p:nvPicPr>
          <p:cNvPr id="1026" name="Picture 2" descr="Visualization of the intuition behind difference-in-differences estimations  | Download Scientific Diagram">
            <a:extLst>
              <a:ext uri="{FF2B5EF4-FFF2-40B4-BE49-F238E27FC236}">
                <a16:creationId xmlns:a16="http://schemas.microsoft.com/office/drawing/2014/main" id="{3B9BBDC1-9A3B-DB3C-A102-32C47615BA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42863"/>
            <a:ext cx="6102627" cy="4415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15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Simple </a:t>
            </a:r>
            <a:r>
              <a:rPr lang="en-US" sz="3600" dirty="0" err="1">
                <a:cs typeface="Times New Roman" panose="02020603050405020304" pitchFamily="18" charset="0"/>
              </a:rPr>
              <a:t>DiD</a:t>
            </a:r>
            <a:r>
              <a:rPr lang="en-US" sz="3600" dirty="0">
                <a:cs typeface="Times New Roman" panose="02020603050405020304" pitchFamily="18" charset="0"/>
              </a:rPr>
              <a:t> Calculation</a:t>
            </a:r>
            <a:endParaRPr lang="en-US" sz="3600"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640561D4-3FEE-FD66-F10C-078A21B5FA84}"/>
              </a:ext>
            </a:extLst>
          </p:cNvPr>
          <p:cNvGraphicFramePr>
            <a:graphicFrameLocks noGrp="1"/>
          </p:cNvGraphicFramePr>
          <p:nvPr>
            <p:extLst>
              <p:ext uri="{D42A27DB-BD31-4B8C-83A1-F6EECF244321}">
                <p14:modId xmlns:p14="http://schemas.microsoft.com/office/powerpoint/2010/main" val="1824150119"/>
              </p:ext>
            </p:extLst>
          </p:nvPr>
        </p:nvGraphicFramePr>
        <p:xfrm>
          <a:off x="1447800" y="1145049"/>
          <a:ext cx="8127999" cy="13716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716933922"/>
                    </a:ext>
                  </a:extLst>
                </a:gridCol>
                <a:gridCol w="2709333">
                  <a:extLst>
                    <a:ext uri="{9D8B030D-6E8A-4147-A177-3AD203B41FA5}">
                      <a16:colId xmlns:a16="http://schemas.microsoft.com/office/drawing/2014/main" val="2878382463"/>
                    </a:ext>
                  </a:extLst>
                </a:gridCol>
                <a:gridCol w="2709333">
                  <a:extLst>
                    <a:ext uri="{9D8B030D-6E8A-4147-A177-3AD203B41FA5}">
                      <a16:colId xmlns:a16="http://schemas.microsoft.com/office/drawing/2014/main" val="3292783135"/>
                    </a:ext>
                  </a:extLst>
                </a:gridCol>
              </a:tblGrid>
              <a:tr h="370840">
                <a:tc>
                  <a:txBody>
                    <a:bodyPr/>
                    <a:lstStyle/>
                    <a:p>
                      <a:pPr algn="r"/>
                      <a:r>
                        <a:rPr lang="en-CA" sz="2400" dirty="0"/>
                        <a:t>Y</a:t>
                      </a:r>
                    </a:p>
                  </a:txBody>
                  <a:tcPr/>
                </a:tc>
                <a:tc>
                  <a:txBody>
                    <a:bodyPr/>
                    <a:lstStyle/>
                    <a:p>
                      <a:r>
                        <a:rPr lang="en-CA" sz="2400" dirty="0"/>
                        <a:t>Pre</a:t>
                      </a:r>
                    </a:p>
                  </a:txBody>
                  <a:tcPr/>
                </a:tc>
                <a:tc>
                  <a:txBody>
                    <a:bodyPr/>
                    <a:lstStyle/>
                    <a:p>
                      <a:r>
                        <a:rPr lang="en-CA" sz="2400" dirty="0"/>
                        <a:t>Post</a:t>
                      </a:r>
                    </a:p>
                  </a:txBody>
                  <a:tcPr/>
                </a:tc>
                <a:extLst>
                  <a:ext uri="{0D108BD9-81ED-4DB2-BD59-A6C34878D82A}">
                    <a16:rowId xmlns:a16="http://schemas.microsoft.com/office/drawing/2014/main" val="1192502697"/>
                  </a:ext>
                </a:extLst>
              </a:tr>
              <a:tr h="370840">
                <a:tc>
                  <a:txBody>
                    <a:bodyPr/>
                    <a:lstStyle/>
                    <a:p>
                      <a:r>
                        <a:rPr lang="en-CA" sz="2400" dirty="0"/>
                        <a:t>Control</a:t>
                      </a:r>
                    </a:p>
                  </a:txBody>
                  <a:tcPr/>
                </a:tc>
                <a:tc>
                  <a:txBody>
                    <a:bodyPr/>
                    <a:lstStyle/>
                    <a:p>
                      <a:r>
                        <a:rPr lang="en-CA" sz="2400" dirty="0"/>
                        <a:t>40</a:t>
                      </a:r>
                    </a:p>
                  </a:txBody>
                  <a:tcPr/>
                </a:tc>
                <a:tc>
                  <a:txBody>
                    <a:bodyPr/>
                    <a:lstStyle/>
                    <a:p>
                      <a:r>
                        <a:rPr lang="en-CA" sz="2400" dirty="0"/>
                        <a:t>35</a:t>
                      </a:r>
                    </a:p>
                  </a:txBody>
                  <a:tcPr/>
                </a:tc>
                <a:extLst>
                  <a:ext uri="{0D108BD9-81ED-4DB2-BD59-A6C34878D82A}">
                    <a16:rowId xmlns:a16="http://schemas.microsoft.com/office/drawing/2014/main" val="1479634554"/>
                  </a:ext>
                </a:extLst>
              </a:tr>
              <a:tr h="370840">
                <a:tc>
                  <a:txBody>
                    <a:bodyPr/>
                    <a:lstStyle/>
                    <a:p>
                      <a:r>
                        <a:rPr lang="en-CA" sz="2400" dirty="0"/>
                        <a:t>Treated</a:t>
                      </a:r>
                    </a:p>
                  </a:txBody>
                  <a:tcPr/>
                </a:tc>
                <a:tc>
                  <a:txBody>
                    <a:bodyPr/>
                    <a:lstStyle/>
                    <a:p>
                      <a:r>
                        <a:rPr lang="en-CA" sz="2400" dirty="0"/>
                        <a:t>20</a:t>
                      </a:r>
                    </a:p>
                  </a:txBody>
                  <a:tcPr/>
                </a:tc>
                <a:tc>
                  <a:txBody>
                    <a:bodyPr/>
                    <a:lstStyle/>
                    <a:p>
                      <a:r>
                        <a:rPr lang="en-CA" sz="2400" dirty="0"/>
                        <a:t>10</a:t>
                      </a:r>
                    </a:p>
                  </a:txBody>
                  <a:tcPr/>
                </a:tc>
                <a:extLst>
                  <a:ext uri="{0D108BD9-81ED-4DB2-BD59-A6C34878D82A}">
                    <a16:rowId xmlns:a16="http://schemas.microsoft.com/office/drawing/2014/main" val="3009091282"/>
                  </a:ext>
                </a:extLst>
              </a:tr>
            </a:tbl>
          </a:graphicData>
        </a:graphic>
      </p:graphicFrame>
      <p:sp>
        <p:nvSpPr>
          <p:cNvPr id="12" name="Arrow: U-Turn 11">
            <a:extLst>
              <a:ext uri="{FF2B5EF4-FFF2-40B4-BE49-F238E27FC236}">
                <a16:creationId xmlns:a16="http://schemas.microsoft.com/office/drawing/2014/main" id="{C1BF476A-BAEB-9531-CC57-BCED523F4341}"/>
              </a:ext>
            </a:extLst>
          </p:cNvPr>
          <p:cNvSpPr/>
          <p:nvPr/>
        </p:nvSpPr>
        <p:spPr>
          <a:xfrm rot="10800000" flipH="1">
            <a:off x="4474294" y="2654739"/>
            <a:ext cx="2895600" cy="459312"/>
          </a:xfrm>
          <a:prstGeom prst="uturnArrow">
            <a:avLst>
              <a:gd name="adj1" fmla="val 25000"/>
              <a:gd name="adj2" fmla="val 25000"/>
              <a:gd name="adj3" fmla="val 25000"/>
              <a:gd name="adj4" fmla="val 43750"/>
              <a:gd name="adj5" fmla="val 100000"/>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3" name="TextBox 12">
            <a:extLst>
              <a:ext uri="{FF2B5EF4-FFF2-40B4-BE49-F238E27FC236}">
                <a16:creationId xmlns:a16="http://schemas.microsoft.com/office/drawing/2014/main" id="{62D94C57-EFC9-ED6B-A152-A7EDF060263B}"/>
              </a:ext>
            </a:extLst>
          </p:cNvPr>
          <p:cNvSpPr txBox="1"/>
          <p:nvPr/>
        </p:nvSpPr>
        <p:spPr>
          <a:xfrm>
            <a:off x="2592368" y="3308271"/>
            <a:ext cx="6659452" cy="461665"/>
          </a:xfrm>
          <a:prstGeom prst="rect">
            <a:avLst/>
          </a:prstGeom>
          <a:noFill/>
        </p:spPr>
        <p:txBody>
          <a:bodyPr wrap="none" rtlCol="0">
            <a:spAutoFit/>
          </a:bodyPr>
          <a:lstStyle/>
          <a:p>
            <a:r>
              <a:rPr lang="en-CA" sz="2400" dirty="0"/>
              <a:t>Treatment effect + Changes in Treated Group</a:t>
            </a:r>
          </a:p>
        </p:txBody>
      </p:sp>
    </p:spTree>
    <p:extLst>
      <p:ext uri="{BB962C8B-B14F-4D97-AF65-F5344CB8AC3E}">
        <p14:creationId xmlns:p14="http://schemas.microsoft.com/office/powerpoint/2010/main" val="2181653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Simple </a:t>
            </a:r>
            <a:r>
              <a:rPr lang="en-US" sz="3600" dirty="0" err="1">
                <a:cs typeface="Times New Roman" panose="02020603050405020304" pitchFamily="18" charset="0"/>
              </a:rPr>
              <a:t>DiD</a:t>
            </a:r>
            <a:r>
              <a:rPr lang="en-US" sz="3600" dirty="0">
                <a:cs typeface="Times New Roman" panose="02020603050405020304" pitchFamily="18" charset="0"/>
              </a:rPr>
              <a:t> Calculation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640561D4-3FEE-FD66-F10C-078A21B5FA84}"/>
              </a:ext>
            </a:extLst>
          </p:cNvPr>
          <p:cNvGraphicFramePr>
            <a:graphicFrameLocks noGrp="1"/>
          </p:cNvGraphicFramePr>
          <p:nvPr>
            <p:extLst>
              <p:ext uri="{D42A27DB-BD31-4B8C-83A1-F6EECF244321}">
                <p14:modId xmlns:p14="http://schemas.microsoft.com/office/powerpoint/2010/main" val="2010604349"/>
              </p:ext>
            </p:extLst>
          </p:nvPr>
        </p:nvGraphicFramePr>
        <p:xfrm>
          <a:off x="1447800" y="2167606"/>
          <a:ext cx="8127999" cy="13716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716933922"/>
                    </a:ext>
                  </a:extLst>
                </a:gridCol>
                <a:gridCol w="2709333">
                  <a:extLst>
                    <a:ext uri="{9D8B030D-6E8A-4147-A177-3AD203B41FA5}">
                      <a16:colId xmlns:a16="http://schemas.microsoft.com/office/drawing/2014/main" val="2878382463"/>
                    </a:ext>
                  </a:extLst>
                </a:gridCol>
                <a:gridCol w="2709333">
                  <a:extLst>
                    <a:ext uri="{9D8B030D-6E8A-4147-A177-3AD203B41FA5}">
                      <a16:colId xmlns:a16="http://schemas.microsoft.com/office/drawing/2014/main" val="3292783135"/>
                    </a:ext>
                  </a:extLst>
                </a:gridCol>
              </a:tblGrid>
              <a:tr h="370840">
                <a:tc>
                  <a:txBody>
                    <a:bodyPr/>
                    <a:lstStyle/>
                    <a:p>
                      <a:pPr algn="r"/>
                      <a:r>
                        <a:rPr lang="en-CA" sz="2400" dirty="0"/>
                        <a:t>Y</a:t>
                      </a:r>
                    </a:p>
                  </a:txBody>
                  <a:tcPr/>
                </a:tc>
                <a:tc>
                  <a:txBody>
                    <a:bodyPr/>
                    <a:lstStyle/>
                    <a:p>
                      <a:r>
                        <a:rPr lang="en-CA" sz="2400" dirty="0"/>
                        <a:t>Pre</a:t>
                      </a:r>
                    </a:p>
                  </a:txBody>
                  <a:tcPr/>
                </a:tc>
                <a:tc>
                  <a:txBody>
                    <a:bodyPr/>
                    <a:lstStyle/>
                    <a:p>
                      <a:r>
                        <a:rPr lang="en-CA" sz="2400" dirty="0"/>
                        <a:t>Post</a:t>
                      </a:r>
                    </a:p>
                  </a:txBody>
                  <a:tcPr/>
                </a:tc>
                <a:extLst>
                  <a:ext uri="{0D108BD9-81ED-4DB2-BD59-A6C34878D82A}">
                    <a16:rowId xmlns:a16="http://schemas.microsoft.com/office/drawing/2014/main" val="1192502697"/>
                  </a:ext>
                </a:extLst>
              </a:tr>
              <a:tr h="370840">
                <a:tc>
                  <a:txBody>
                    <a:bodyPr/>
                    <a:lstStyle/>
                    <a:p>
                      <a:r>
                        <a:rPr lang="en-CA" sz="2400" dirty="0"/>
                        <a:t>Control</a:t>
                      </a:r>
                    </a:p>
                  </a:txBody>
                  <a:tcPr/>
                </a:tc>
                <a:tc>
                  <a:txBody>
                    <a:bodyPr/>
                    <a:lstStyle/>
                    <a:p>
                      <a:r>
                        <a:rPr lang="en-CA" sz="2400" dirty="0"/>
                        <a:t>40</a:t>
                      </a:r>
                    </a:p>
                  </a:txBody>
                  <a:tcPr/>
                </a:tc>
                <a:tc>
                  <a:txBody>
                    <a:bodyPr/>
                    <a:lstStyle/>
                    <a:p>
                      <a:r>
                        <a:rPr lang="en-CA" sz="2400" dirty="0"/>
                        <a:t>35</a:t>
                      </a:r>
                    </a:p>
                  </a:txBody>
                  <a:tcPr/>
                </a:tc>
                <a:extLst>
                  <a:ext uri="{0D108BD9-81ED-4DB2-BD59-A6C34878D82A}">
                    <a16:rowId xmlns:a16="http://schemas.microsoft.com/office/drawing/2014/main" val="1479634554"/>
                  </a:ext>
                </a:extLst>
              </a:tr>
              <a:tr h="370840">
                <a:tc>
                  <a:txBody>
                    <a:bodyPr/>
                    <a:lstStyle/>
                    <a:p>
                      <a:r>
                        <a:rPr lang="en-CA" sz="2400" dirty="0"/>
                        <a:t>Treated</a:t>
                      </a:r>
                    </a:p>
                  </a:txBody>
                  <a:tcPr/>
                </a:tc>
                <a:tc>
                  <a:txBody>
                    <a:bodyPr/>
                    <a:lstStyle/>
                    <a:p>
                      <a:r>
                        <a:rPr lang="en-CA" sz="2400" dirty="0"/>
                        <a:t>20</a:t>
                      </a:r>
                    </a:p>
                  </a:txBody>
                  <a:tcPr/>
                </a:tc>
                <a:tc>
                  <a:txBody>
                    <a:bodyPr/>
                    <a:lstStyle/>
                    <a:p>
                      <a:r>
                        <a:rPr lang="en-CA" sz="2400" dirty="0"/>
                        <a:t>10</a:t>
                      </a:r>
                    </a:p>
                  </a:txBody>
                  <a:tcPr/>
                </a:tc>
                <a:extLst>
                  <a:ext uri="{0D108BD9-81ED-4DB2-BD59-A6C34878D82A}">
                    <a16:rowId xmlns:a16="http://schemas.microsoft.com/office/drawing/2014/main" val="3009091282"/>
                  </a:ext>
                </a:extLst>
              </a:tr>
            </a:tbl>
          </a:graphicData>
        </a:graphic>
      </p:graphicFrame>
      <p:sp>
        <p:nvSpPr>
          <p:cNvPr id="12" name="Arrow: U-Turn 11">
            <a:extLst>
              <a:ext uri="{FF2B5EF4-FFF2-40B4-BE49-F238E27FC236}">
                <a16:creationId xmlns:a16="http://schemas.microsoft.com/office/drawing/2014/main" id="{C1BF476A-BAEB-9531-CC57-BCED523F4341}"/>
              </a:ext>
            </a:extLst>
          </p:cNvPr>
          <p:cNvSpPr/>
          <p:nvPr/>
        </p:nvSpPr>
        <p:spPr>
          <a:xfrm rot="10800000" flipH="1">
            <a:off x="4343400" y="3603738"/>
            <a:ext cx="2895600" cy="459312"/>
          </a:xfrm>
          <a:prstGeom prst="uturnArrow">
            <a:avLst>
              <a:gd name="adj1" fmla="val 25000"/>
              <a:gd name="adj2" fmla="val 25000"/>
              <a:gd name="adj3" fmla="val 25000"/>
              <a:gd name="adj4" fmla="val 43750"/>
              <a:gd name="adj5" fmla="val 100000"/>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3" name="TextBox 12">
            <a:extLst>
              <a:ext uri="{FF2B5EF4-FFF2-40B4-BE49-F238E27FC236}">
                <a16:creationId xmlns:a16="http://schemas.microsoft.com/office/drawing/2014/main" id="{62D94C57-EFC9-ED6B-A152-A7EDF060263B}"/>
              </a:ext>
            </a:extLst>
          </p:cNvPr>
          <p:cNvSpPr txBox="1"/>
          <p:nvPr/>
        </p:nvSpPr>
        <p:spPr>
          <a:xfrm>
            <a:off x="3048000" y="4056473"/>
            <a:ext cx="6659452" cy="461665"/>
          </a:xfrm>
          <a:prstGeom prst="rect">
            <a:avLst/>
          </a:prstGeom>
          <a:noFill/>
        </p:spPr>
        <p:txBody>
          <a:bodyPr wrap="none" rtlCol="0">
            <a:spAutoFit/>
          </a:bodyPr>
          <a:lstStyle/>
          <a:p>
            <a:r>
              <a:rPr lang="en-CA" sz="2400" dirty="0"/>
              <a:t>Treatment effect + Changes in Treated Group</a:t>
            </a:r>
          </a:p>
        </p:txBody>
      </p:sp>
      <p:sp>
        <p:nvSpPr>
          <p:cNvPr id="7" name="Arrow: U-Turn 6">
            <a:extLst>
              <a:ext uri="{FF2B5EF4-FFF2-40B4-BE49-F238E27FC236}">
                <a16:creationId xmlns:a16="http://schemas.microsoft.com/office/drawing/2014/main" id="{615162D6-8775-5849-B28C-F1535925C27A}"/>
              </a:ext>
            </a:extLst>
          </p:cNvPr>
          <p:cNvSpPr/>
          <p:nvPr/>
        </p:nvSpPr>
        <p:spPr>
          <a:xfrm>
            <a:off x="4373287" y="1546338"/>
            <a:ext cx="2865713" cy="459312"/>
          </a:xfrm>
          <a:prstGeom prst="uturnArrow">
            <a:avLst>
              <a:gd name="adj1" fmla="val 25000"/>
              <a:gd name="adj2" fmla="val 25000"/>
              <a:gd name="adj3" fmla="val 25000"/>
              <a:gd name="adj4" fmla="val 43750"/>
              <a:gd name="adj5" fmla="val 100000"/>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8" name="TextBox 7">
            <a:extLst>
              <a:ext uri="{FF2B5EF4-FFF2-40B4-BE49-F238E27FC236}">
                <a16:creationId xmlns:a16="http://schemas.microsoft.com/office/drawing/2014/main" id="{0DFB80A9-975D-0780-0D4D-36FA97B835B3}"/>
              </a:ext>
            </a:extLst>
          </p:cNvPr>
          <p:cNvSpPr txBox="1"/>
          <p:nvPr/>
        </p:nvSpPr>
        <p:spPr>
          <a:xfrm>
            <a:off x="3886200" y="1066800"/>
            <a:ext cx="5073825" cy="461665"/>
          </a:xfrm>
          <a:prstGeom prst="rect">
            <a:avLst/>
          </a:prstGeom>
          <a:noFill/>
        </p:spPr>
        <p:txBody>
          <a:bodyPr wrap="square" rtlCol="0">
            <a:spAutoFit/>
          </a:bodyPr>
          <a:lstStyle/>
          <a:p>
            <a:r>
              <a:rPr lang="en-CA" sz="2400" dirty="0"/>
              <a:t>Changes in Untreated Group</a:t>
            </a:r>
          </a:p>
        </p:txBody>
      </p:sp>
    </p:spTree>
    <p:extLst>
      <p:ext uri="{BB962C8B-B14F-4D97-AF65-F5344CB8AC3E}">
        <p14:creationId xmlns:p14="http://schemas.microsoft.com/office/powerpoint/2010/main" val="3150481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Simple </a:t>
            </a:r>
            <a:r>
              <a:rPr lang="en-US" sz="3600" dirty="0" err="1">
                <a:cs typeface="Times New Roman" panose="02020603050405020304" pitchFamily="18" charset="0"/>
              </a:rPr>
              <a:t>DiD</a:t>
            </a:r>
            <a:r>
              <a:rPr lang="en-US" sz="3600" dirty="0">
                <a:cs typeface="Times New Roman" panose="02020603050405020304" pitchFamily="18" charset="0"/>
              </a:rPr>
              <a:t> Calculation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640561D4-3FEE-FD66-F10C-078A21B5FA84}"/>
                  </a:ext>
                </a:extLst>
              </p:cNvPr>
              <p:cNvGraphicFramePr>
                <a:graphicFrameLocks noGrp="1"/>
              </p:cNvGraphicFramePr>
              <p:nvPr>
                <p:extLst>
                  <p:ext uri="{D42A27DB-BD31-4B8C-83A1-F6EECF244321}">
                    <p14:modId xmlns:p14="http://schemas.microsoft.com/office/powerpoint/2010/main" val="1384738745"/>
                  </p:ext>
                </p:extLst>
              </p:nvPr>
            </p:nvGraphicFramePr>
            <p:xfrm>
              <a:off x="1295400" y="1089089"/>
              <a:ext cx="9601200" cy="1828800"/>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1716933922"/>
                        </a:ext>
                      </a:extLst>
                    </a:gridCol>
                    <a:gridCol w="2400300">
                      <a:extLst>
                        <a:ext uri="{9D8B030D-6E8A-4147-A177-3AD203B41FA5}">
                          <a16:colId xmlns:a16="http://schemas.microsoft.com/office/drawing/2014/main" val="2878382463"/>
                        </a:ext>
                      </a:extLst>
                    </a:gridCol>
                    <a:gridCol w="2400300">
                      <a:extLst>
                        <a:ext uri="{9D8B030D-6E8A-4147-A177-3AD203B41FA5}">
                          <a16:colId xmlns:a16="http://schemas.microsoft.com/office/drawing/2014/main" val="3292783135"/>
                        </a:ext>
                      </a:extLst>
                    </a:gridCol>
                    <a:gridCol w="2400300">
                      <a:extLst>
                        <a:ext uri="{9D8B030D-6E8A-4147-A177-3AD203B41FA5}">
                          <a16:colId xmlns:a16="http://schemas.microsoft.com/office/drawing/2014/main" val="991785352"/>
                        </a:ext>
                      </a:extLst>
                    </a:gridCol>
                  </a:tblGrid>
                  <a:tr h="304800">
                    <a:tc>
                      <a:txBody>
                        <a:bodyPr/>
                        <a:lstStyle/>
                        <a:p>
                          <a:pPr algn="r"/>
                          <a:r>
                            <a:rPr lang="en-CA" sz="2400" dirty="0"/>
                            <a:t>Y</a:t>
                          </a:r>
                        </a:p>
                      </a:txBody>
                      <a:tcPr/>
                    </a:tc>
                    <a:tc>
                      <a:txBody>
                        <a:bodyPr/>
                        <a:lstStyle/>
                        <a:p>
                          <a:r>
                            <a:rPr lang="en-CA" sz="2400" dirty="0"/>
                            <a:t>Pre</a:t>
                          </a:r>
                        </a:p>
                      </a:txBody>
                      <a:tcPr/>
                    </a:tc>
                    <a:tc>
                      <a:txBody>
                        <a:bodyPr/>
                        <a:lstStyle/>
                        <a:p>
                          <a:r>
                            <a:rPr lang="en-CA" sz="2400" dirty="0"/>
                            <a:t>Post</a:t>
                          </a:r>
                        </a:p>
                      </a:txBody>
                      <a:tcPr/>
                    </a:tc>
                    <a:tc>
                      <a:txBody>
                        <a:bodyPr/>
                        <a:lstStyle/>
                        <a:p>
                          <a:r>
                            <a:rPr lang="en-CA" sz="2400" dirty="0"/>
                            <a:t>Difference</a:t>
                          </a:r>
                        </a:p>
                      </a:txBody>
                      <a:tcPr/>
                    </a:tc>
                    <a:extLst>
                      <a:ext uri="{0D108BD9-81ED-4DB2-BD59-A6C34878D82A}">
                        <a16:rowId xmlns:a16="http://schemas.microsoft.com/office/drawing/2014/main" val="1192502697"/>
                      </a:ext>
                    </a:extLst>
                  </a:tr>
                  <a:tr h="304800">
                    <a:tc>
                      <a:txBody>
                        <a:bodyPr/>
                        <a:lstStyle/>
                        <a:p>
                          <a:r>
                            <a:rPr lang="en-CA" sz="2400" dirty="0"/>
                            <a:t>Control</a:t>
                          </a:r>
                        </a:p>
                      </a:txBody>
                      <a:tcPr/>
                    </a:tc>
                    <a:tc>
                      <a:txBody>
                        <a:bodyPr/>
                        <a:lstStyle/>
                        <a:p>
                          <a:r>
                            <a:rPr lang="en-CA" sz="2400" dirty="0"/>
                            <a:t>40</a:t>
                          </a:r>
                        </a:p>
                      </a:txBody>
                      <a:tcPr/>
                    </a:tc>
                    <a:tc>
                      <a:txBody>
                        <a:bodyPr/>
                        <a:lstStyle/>
                        <a:p>
                          <a:r>
                            <a:rPr lang="en-CA" sz="2400" dirty="0"/>
                            <a:t>35</a:t>
                          </a:r>
                        </a:p>
                      </a:txBody>
                      <a:tcPr/>
                    </a:tc>
                    <a:tc>
                      <a:txBody>
                        <a:bodyPr/>
                        <a:lstStyle/>
                        <a:p>
                          <a:r>
                            <a:rPr lang="en-CA" sz="2400" dirty="0"/>
                            <a:t>-5</a:t>
                          </a:r>
                        </a:p>
                      </a:txBody>
                      <a:tcPr/>
                    </a:tc>
                    <a:extLst>
                      <a:ext uri="{0D108BD9-81ED-4DB2-BD59-A6C34878D82A}">
                        <a16:rowId xmlns:a16="http://schemas.microsoft.com/office/drawing/2014/main" val="1479634554"/>
                      </a:ext>
                    </a:extLst>
                  </a:tr>
                  <a:tr h="304800">
                    <a:tc>
                      <a:txBody>
                        <a:bodyPr/>
                        <a:lstStyle/>
                        <a:p>
                          <a:r>
                            <a:rPr lang="en-CA" sz="2400" dirty="0"/>
                            <a:t>Treated</a:t>
                          </a:r>
                        </a:p>
                      </a:txBody>
                      <a:tcPr/>
                    </a:tc>
                    <a:tc>
                      <a:txBody>
                        <a:bodyPr/>
                        <a:lstStyle/>
                        <a:p>
                          <a:r>
                            <a:rPr lang="en-CA" sz="2400" dirty="0"/>
                            <a:t>20</a:t>
                          </a:r>
                        </a:p>
                      </a:txBody>
                      <a:tcPr/>
                    </a:tc>
                    <a:tc>
                      <a:txBody>
                        <a:bodyPr/>
                        <a:lstStyle/>
                        <a:p>
                          <a:r>
                            <a:rPr lang="en-CA" sz="2400" dirty="0"/>
                            <a:t>10</a:t>
                          </a:r>
                        </a:p>
                      </a:txBody>
                      <a:tcPr/>
                    </a:tc>
                    <a:tc>
                      <a:txBody>
                        <a:bodyPr/>
                        <a:lstStyle/>
                        <a:p>
                          <a:r>
                            <a:rPr lang="en-CA" sz="2400" dirty="0"/>
                            <a:t>-10</a:t>
                          </a:r>
                        </a:p>
                      </a:txBody>
                      <a:tcPr/>
                    </a:tc>
                    <a:extLst>
                      <a:ext uri="{0D108BD9-81ED-4DB2-BD59-A6C34878D82A}">
                        <a16:rowId xmlns:a16="http://schemas.microsoft.com/office/drawing/2014/main" val="3009091282"/>
                      </a:ext>
                    </a:extLst>
                  </a:tr>
                  <a:tr h="457200">
                    <a:tc>
                      <a:txBody>
                        <a:bodyPr/>
                        <a:lstStyle/>
                        <a:p>
                          <a:endParaRPr lang="en-CA" sz="2400" dirty="0"/>
                        </a:p>
                      </a:txBody>
                      <a:tcPr/>
                    </a:tc>
                    <a:tc>
                      <a:txBody>
                        <a:bodyPr/>
                        <a:lstStyle/>
                        <a:p>
                          <a:endParaRPr lang="en-CA" sz="2400" dirty="0"/>
                        </a:p>
                      </a:txBody>
                      <a:tcPr/>
                    </a:tc>
                    <a:tc>
                      <a:txBody>
                        <a:bodyPr/>
                        <a:lstStyle/>
                        <a:p>
                          <a:pPr algn="r"/>
                          <a:r>
                            <a:rPr lang="en-CA" sz="2400" b="1" dirty="0"/>
                            <a:t>DID Estimate</a:t>
                          </a:r>
                        </a:p>
                      </a:txBody>
                      <a:tcPr/>
                    </a:tc>
                    <a:tc>
                      <a:txBody>
                        <a:bodyPr/>
                        <a:lstStyle/>
                        <a:p>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rPr>
                                  <m:t>−10−−5=−5</m:t>
                                </m:r>
                              </m:oMath>
                            </m:oMathPara>
                          </a14:m>
                          <a:endParaRPr lang="en-CA" sz="2400" dirty="0"/>
                        </a:p>
                      </a:txBody>
                      <a:tcPr/>
                    </a:tc>
                    <a:extLst>
                      <a:ext uri="{0D108BD9-81ED-4DB2-BD59-A6C34878D82A}">
                        <a16:rowId xmlns:a16="http://schemas.microsoft.com/office/drawing/2014/main" val="1816111248"/>
                      </a:ext>
                    </a:extLst>
                  </a:tr>
                </a:tbl>
              </a:graphicData>
            </a:graphic>
          </p:graphicFrame>
        </mc:Choice>
        <mc:Fallback xmlns="">
          <p:graphicFrame>
            <p:nvGraphicFramePr>
              <p:cNvPr id="4" name="Table 4">
                <a:extLst>
                  <a:ext uri="{FF2B5EF4-FFF2-40B4-BE49-F238E27FC236}">
                    <a16:creationId xmlns:a16="http://schemas.microsoft.com/office/drawing/2014/main" id="{640561D4-3FEE-FD66-F10C-078A21B5FA84}"/>
                  </a:ext>
                </a:extLst>
              </p:cNvPr>
              <p:cNvGraphicFramePr>
                <a:graphicFrameLocks noGrp="1"/>
              </p:cNvGraphicFramePr>
              <p:nvPr>
                <p:extLst>
                  <p:ext uri="{D42A27DB-BD31-4B8C-83A1-F6EECF244321}">
                    <p14:modId xmlns:p14="http://schemas.microsoft.com/office/powerpoint/2010/main" val="1384738745"/>
                  </p:ext>
                </p:extLst>
              </p:nvPr>
            </p:nvGraphicFramePr>
            <p:xfrm>
              <a:off x="1295400" y="1089089"/>
              <a:ext cx="9601200" cy="1828800"/>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1716933922"/>
                        </a:ext>
                      </a:extLst>
                    </a:gridCol>
                    <a:gridCol w="2400300">
                      <a:extLst>
                        <a:ext uri="{9D8B030D-6E8A-4147-A177-3AD203B41FA5}">
                          <a16:colId xmlns:a16="http://schemas.microsoft.com/office/drawing/2014/main" val="2878382463"/>
                        </a:ext>
                      </a:extLst>
                    </a:gridCol>
                    <a:gridCol w="2400300">
                      <a:extLst>
                        <a:ext uri="{9D8B030D-6E8A-4147-A177-3AD203B41FA5}">
                          <a16:colId xmlns:a16="http://schemas.microsoft.com/office/drawing/2014/main" val="3292783135"/>
                        </a:ext>
                      </a:extLst>
                    </a:gridCol>
                    <a:gridCol w="2400300">
                      <a:extLst>
                        <a:ext uri="{9D8B030D-6E8A-4147-A177-3AD203B41FA5}">
                          <a16:colId xmlns:a16="http://schemas.microsoft.com/office/drawing/2014/main" val="991785352"/>
                        </a:ext>
                      </a:extLst>
                    </a:gridCol>
                  </a:tblGrid>
                  <a:tr h="457200">
                    <a:tc>
                      <a:txBody>
                        <a:bodyPr/>
                        <a:lstStyle/>
                        <a:p>
                          <a:pPr algn="r"/>
                          <a:r>
                            <a:rPr lang="en-CA" sz="2400" dirty="0"/>
                            <a:t>Y</a:t>
                          </a:r>
                        </a:p>
                      </a:txBody>
                      <a:tcPr/>
                    </a:tc>
                    <a:tc>
                      <a:txBody>
                        <a:bodyPr/>
                        <a:lstStyle/>
                        <a:p>
                          <a:r>
                            <a:rPr lang="en-CA" sz="2400" dirty="0"/>
                            <a:t>Pre</a:t>
                          </a:r>
                        </a:p>
                      </a:txBody>
                      <a:tcPr/>
                    </a:tc>
                    <a:tc>
                      <a:txBody>
                        <a:bodyPr/>
                        <a:lstStyle/>
                        <a:p>
                          <a:r>
                            <a:rPr lang="en-CA" sz="2400" dirty="0"/>
                            <a:t>Post</a:t>
                          </a:r>
                        </a:p>
                      </a:txBody>
                      <a:tcPr/>
                    </a:tc>
                    <a:tc>
                      <a:txBody>
                        <a:bodyPr/>
                        <a:lstStyle/>
                        <a:p>
                          <a:r>
                            <a:rPr lang="en-CA" sz="2400" dirty="0"/>
                            <a:t>Difference</a:t>
                          </a:r>
                        </a:p>
                      </a:txBody>
                      <a:tcPr/>
                    </a:tc>
                    <a:extLst>
                      <a:ext uri="{0D108BD9-81ED-4DB2-BD59-A6C34878D82A}">
                        <a16:rowId xmlns:a16="http://schemas.microsoft.com/office/drawing/2014/main" val="1192502697"/>
                      </a:ext>
                    </a:extLst>
                  </a:tr>
                  <a:tr h="457200">
                    <a:tc>
                      <a:txBody>
                        <a:bodyPr/>
                        <a:lstStyle/>
                        <a:p>
                          <a:r>
                            <a:rPr lang="en-CA" sz="2400" dirty="0"/>
                            <a:t>Control</a:t>
                          </a:r>
                        </a:p>
                      </a:txBody>
                      <a:tcPr/>
                    </a:tc>
                    <a:tc>
                      <a:txBody>
                        <a:bodyPr/>
                        <a:lstStyle/>
                        <a:p>
                          <a:r>
                            <a:rPr lang="en-CA" sz="2400" dirty="0"/>
                            <a:t>40</a:t>
                          </a:r>
                        </a:p>
                      </a:txBody>
                      <a:tcPr/>
                    </a:tc>
                    <a:tc>
                      <a:txBody>
                        <a:bodyPr/>
                        <a:lstStyle/>
                        <a:p>
                          <a:r>
                            <a:rPr lang="en-CA" sz="2400" dirty="0"/>
                            <a:t>35</a:t>
                          </a:r>
                        </a:p>
                      </a:txBody>
                      <a:tcPr/>
                    </a:tc>
                    <a:tc>
                      <a:txBody>
                        <a:bodyPr/>
                        <a:lstStyle/>
                        <a:p>
                          <a:r>
                            <a:rPr lang="en-CA" sz="2400" dirty="0"/>
                            <a:t>-5</a:t>
                          </a:r>
                        </a:p>
                      </a:txBody>
                      <a:tcPr/>
                    </a:tc>
                    <a:extLst>
                      <a:ext uri="{0D108BD9-81ED-4DB2-BD59-A6C34878D82A}">
                        <a16:rowId xmlns:a16="http://schemas.microsoft.com/office/drawing/2014/main" val="1479634554"/>
                      </a:ext>
                    </a:extLst>
                  </a:tr>
                  <a:tr h="457200">
                    <a:tc>
                      <a:txBody>
                        <a:bodyPr/>
                        <a:lstStyle/>
                        <a:p>
                          <a:r>
                            <a:rPr lang="en-CA" sz="2400" dirty="0"/>
                            <a:t>Treated</a:t>
                          </a:r>
                        </a:p>
                      </a:txBody>
                      <a:tcPr/>
                    </a:tc>
                    <a:tc>
                      <a:txBody>
                        <a:bodyPr/>
                        <a:lstStyle/>
                        <a:p>
                          <a:r>
                            <a:rPr lang="en-CA" sz="2400" dirty="0"/>
                            <a:t>20</a:t>
                          </a:r>
                        </a:p>
                      </a:txBody>
                      <a:tcPr/>
                    </a:tc>
                    <a:tc>
                      <a:txBody>
                        <a:bodyPr/>
                        <a:lstStyle/>
                        <a:p>
                          <a:r>
                            <a:rPr lang="en-CA" sz="2400" dirty="0"/>
                            <a:t>10</a:t>
                          </a:r>
                        </a:p>
                      </a:txBody>
                      <a:tcPr/>
                    </a:tc>
                    <a:tc>
                      <a:txBody>
                        <a:bodyPr/>
                        <a:lstStyle/>
                        <a:p>
                          <a:r>
                            <a:rPr lang="en-CA" sz="2400" dirty="0"/>
                            <a:t>-10</a:t>
                          </a:r>
                        </a:p>
                      </a:txBody>
                      <a:tcPr/>
                    </a:tc>
                    <a:extLst>
                      <a:ext uri="{0D108BD9-81ED-4DB2-BD59-A6C34878D82A}">
                        <a16:rowId xmlns:a16="http://schemas.microsoft.com/office/drawing/2014/main" val="3009091282"/>
                      </a:ext>
                    </a:extLst>
                  </a:tr>
                  <a:tr h="457200">
                    <a:tc>
                      <a:txBody>
                        <a:bodyPr/>
                        <a:lstStyle/>
                        <a:p>
                          <a:endParaRPr lang="en-CA" sz="2400" dirty="0"/>
                        </a:p>
                      </a:txBody>
                      <a:tcPr/>
                    </a:tc>
                    <a:tc>
                      <a:txBody>
                        <a:bodyPr/>
                        <a:lstStyle/>
                        <a:p>
                          <a:endParaRPr lang="en-CA" sz="2400" dirty="0"/>
                        </a:p>
                      </a:txBody>
                      <a:tcPr/>
                    </a:tc>
                    <a:tc>
                      <a:txBody>
                        <a:bodyPr/>
                        <a:lstStyle/>
                        <a:p>
                          <a:pPr algn="r"/>
                          <a:r>
                            <a:rPr lang="en-CA" sz="2400" b="1" dirty="0"/>
                            <a:t>DID Estimate</a:t>
                          </a:r>
                        </a:p>
                      </a:txBody>
                      <a:tcPr/>
                    </a:tc>
                    <a:tc>
                      <a:txBody>
                        <a:bodyPr/>
                        <a:lstStyle/>
                        <a:p>
                          <a:endParaRPr lang="en-US"/>
                        </a:p>
                      </a:txBody>
                      <a:tcPr>
                        <a:blipFill>
                          <a:blip r:embed="rId3"/>
                          <a:stretch>
                            <a:fillRect l="-300254" t="-310667" r="-1015" b="-30667"/>
                          </a:stretch>
                        </a:blipFill>
                      </a:tcPr>
                    </a:tc>
                    <a:extLst>
                      <a:ext uri="{0D108BD9-81ED-4DB2-BD59-A6C34878D82A}">
                        <a16:rowId xmlns:a16="http://schemas.microsoft.com/office/drawing/2014/main" val="1816111248"/>
                      </a:ext>
                    </a:extLst>
                  </a:tr>
                </a:tbl>
              </a:graphicData>
            </a:graphic>
          </p:graphicFrame>
        </mc:Fallback>
      </mc:AlternateContent>
      <p:sp>
        <p:nvSpPr>
          <p:cNvPr id="9" name="TextBox 8">
            <a:extLst>
              <a:ext uri="{FF2B5EF4-FFF2-40B4-BE49-F238E27FC236}">
                <a16:creationId xmlns:a16="http://schemas.microsoft.com/office/drawing/2014/main" id="{3EE9D18F-77E4-8AB7-20E8-D4E01BB43EF2}"/>
              </a:ext>
            </a:extLst>
          </p:cNvPr>
          <p:cNvSpPr txBox="1"/>
          <p:nvPr/>
        </p:nvSpPr>
        <p:spPr>
          <a:xfrm>
            <a:off x="3878783" y="3925958"/>
            <a:ext cx="6882012" cy="830997"/>
          </a:xfrm>
          <a:prstGeom prst="rect">
            <a:avLst/>
          </a:prstGeom>
          <a:noFill/>
        </p:spPr>
        <p:txBody>
          <a:bodyPr wrap="none" rtlCol="0">
            <a:spAutoFit/>
          </a:bodyPr>
          <a:lstStyle/>
          <a:p>
            <a:r>
              <a:rPr lang="en-CA" sz="2400" dirty="0"/>
              <a:t>Treatment effect + Changes in Treated Group </a:t>
            </a:r>
          </a:p>
          <a:p>
            <a:r>
              <a:rPr lang="en-CA" sz="2400" dirty="0"/>
              <a:t>					– Changes in Untreated Group</a:t>
            </a:r>
          </a:p>
        </p:txBody>
      </p:sp>
      <p:sp>
        <p:nvSpPr>
          <p:cNvPr id="6" name="Arrow: Down 5">
            <a:extLst>
              <a:ext uri="{FF2B5EF4-FFF2-40B4-BE49-F238E27FC236}">
                <a16:creationId xmlns:a16="http://schemas.microsoft.com/office/drawing/2014/main" id="{F25AD094-FA61-D6B7-A38B-9B9DA3CEA142}"/>
              </a:ext>
            </a:extLst>
          </p:cNvPr>
          <p:cNvSpPr/>
          <p:nvPr/>
        </p:nvSpPr>
        <p:spPr>
          <a:xfrm>
            <a:off x="6553200" y="3044746"/>
            <a:ext cx="1219200" cy="830997"/>
          </a:xfrm>
          <a:prstGeom prst="downArrow">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257422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Assumptions Needed for DID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DID rests on the comparison of two groups—what do we need for that comparison to be valid? </a:t>
            </a:r>
          </a:p>
          <a:p>
            <a:pPr marL="0" indent="0">
              <a:buNone/>
            </a:pPr>
            <a:r>
              <a:rPr lang="en-US" sz="2600" b="1" dirty="0">
                <a:solidFill>
                  <a:schemeClr val="accent2">
                    <a:lumMod val="75000"/>
                  </a:schemeClr>
                </a:solidFill>
                <a:cs typeface="Times New Roman" panose="02020603050405020304" pitchFamily="18" charset="0"/>
              </a:rPr>
              <a:t>Parallel trends! </a:t>
            </a:r>
            <a:r>
              <a:rPr lang="en-US" sz="2600" dirty="0">
                <a:cs typeface="Times New Roman" panose="02020603050405020304" pitchFamily="18" charset="0"/>
              </a:rPr>
              <a:t>What is this in math? </a:t>
            </a:r>
          </a:p>
          <a:p>
            <a:endParaRPr lang="en-US" sz="2400" dirty="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640561D4-3FEE-FD66-F10C-078A21B5FA84}"/>
                  </a:ext>
                </a:extLst>
              </p:cNvPr>
              <p:cNvGraphicFramePr>
                <a:graphicFrameLocks noGrp="1"/>
              </p:cNvGraphicFramePr>
              <p:nvPr/>
            </p:nvGraphicFramePr>
            <p:xfrm>
              <a:off x="1295400" y="1089089"/>
              <a:ext cx="9601200" cy="1828800"/>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1716933922"/>
                        </a:ext>
                      </a:extLst>
                    </a:gridCol>
                    <a:gridCol w="2400300">
                      <a:extLst>
                        <a:ext uri="{9D8B030D-6E8A-4147-A177-3AD203B41FA5}">
                          <a16:colId xmlns:a16="http://schemas.microsoft.com/office/drawing/2014/main" val="2878382463"/>
                        </a:ext>
                      </a:extLst>
                    </a:gridCol>
                    <a:gridCol w="2400300">
                      <a:extLst>
                        <a:ext uri="{9D8B030D-6E8A-4147-A177-3AD203B41FA5}">
                          <a16:colId xmlns:a16="http://schemas.microsoft.com/office/drawing/2014/main" val="3292783135"/>
                        </a:ext>
                      </a:extLst>
                    </a:gridCol>
                    <a:gridCol w="2400300">
                      <a:extLst>
                        <a:ext uri="{9D8B030D-6E8A-4147-A177-3AD203B41FA5}">
                          <a16:colId xmlns:a16="http://schemas.microsoft.com/office/drawing/2014/main" val="991785352"/>
                        </a:ext>
                      </a:extLst>
                    </a:gridCol>
                  </a:tblGrid>
                  <a:tr h="304800">
                    <a:tc>
                      <a:txBody>
                        <a:bodyPr/>
                        <a:lstStyle/>
                        <a:p>
                          <a:pPr algn="r"/>
                          <a:r>
                            <a:rPr lang="en-CA" sz="2400" dirty="0"/>
                            <a:t>Y</a:t>
                          </a:r>
                        </a:p>
                      </a:txBody>
                      <a:tcPr/>
                    </a:tc>
                    <a:tc>
                      <a:txBody>
                        <a:bodyPr/>
                        <a:lstStyle/>
                        <a:p>
                          <a:r>
                            <a:rPr lang="en-CA" sz="2400" dirty="0"/>
                            <a:t>Pre</a:t>
                          </a:r>
                        </a:p>
                      </a:txBody>
                      <a:tcPr/>
                    </a:tc>
                    <a:tc>
                      <a:txBody>
                        <a:bodyPr/>
                        <a:lstStyle/>
                        <a:p>
                          <a:r>
                            <a:rPr lang="en-CA" sz="2400" dirty="0"/>
                            <a:t>Post</a:t>
                          </a:r>
                        </a:p>
                      </a:txBody>
                      <a:tcPr/>
                    </a:tc>
                    <a:tc>
                      <a:txBody>
                        <a:bodyPr/>
                        <a:lstStyle/>
                        <a:p>
                          <a:r>
                            <a:rPr lang="en-CA" sz="2400" dirty="0"/>
                            <a:t>Difference</a:t>
                          </a:r>
                        </a:p>
                      </a:txBody>
                      <a:tcPr/>
                    </a:tc>
                    <a:extLst>
                      <a:ext uri="{0D108BD9-81ED-4DB2-BD59-A6C34878D82A}">
                        <a16:rowId xmlns:a16="http://schemas.microsoft.com/office/drawing/2014/main" val="1192502697"/>
                      </a:ext>
                    </a:extLst>
                  </a:tr>
                  <a:tr h="304800">
                    <a:tc>
                      <a:txBody>
                        <a:bodyPr/>
                        <a:lstStyle/>
                        <a:p>
                          <a:r>
                            <a:rPr lang="en-CA" sz="2400" dirty="0"/>
                            <a:t>Control</a:t>
                          </a:r>
                        </a:p>
                      </a:txBody>
                      <a:tcPr/>
                    </a:tc>
                    <a:tc>
                      <a:txBody>
                        <a:bodyPr/>
                        <a:lstStyle/>
                        <a:p>
                          <a:r>
                            <a:rPr lang="en-CA" sz="2400" dirty="0"/>
                            <a:t>40</a:t>
                          </a:r>
                        </a:p>
                      </a:txBody>
                      <a:tcPr/>
                    </a:tc>
                    <a:tc>
                      <a:txBody>
                        <a:bodyPr/>
                        <a:lstStyle/>
                        <a:p>
                          <a:r>
                            <a:rPr lang="en-CA" sz="2400" dirty="0"/>
                            <a:t>35</a:t>
                          </a:r>
                        </a:p>
                      </a:txBody>
                      <a:tcPr/>
                    </a:tc>
                    <a:tc>
                      <a:txBody>
                        <a:bodyPr/>
                        <a:lstStyle/>
                        <a:p>
                          <a:r>
                            <a:rPr lang="en-CA" sz="2400" dirty="0"/>
                            <a:t>-5</a:t>
                          </a:r>
                        </a:p>
                      </a:txBody>
                      <a:tcPr/>
                    </a:tc>
                    <a:extLst>
                      <a:ext uri="{0D108BD9-81ED-4DB2-BD59-A6C34878D82A}">
                        <a16:rowId xmlns:a16="http://schemas.microsoft.com/office/drawing/2014/main" val="1479634554"/>
                      </a:ext>
                    </a:extLst>
                  </a:tr>
                  <a:tr h="304800">
                    <a:tc>
                      <a:txBody>
                        <a:bodyPr/>
                        <a:lstStyle/>
                        <a:p>
                          <a:r>
                            <a:rPr lang="en-CA" sz="2400" dirty="0"/>
                            <a:t>Treated</a:t>
                          </a:r>
                        </a:p>
                      </a:txBody>
                      <a:tcPr/>
                    </a:tc>
                    <a:tc>
                      <a:txBody>
                        <a:bodyPr/>
                        <a:lstStyle/>
                        <a:p>
                          <a:r>
                            <a:rPr lang="en-CA" sz="2400" dirty="0"/>
                            <a:t>20</a:t>
                          </a:r>
                        </a:p>
                      </a:txBody>
                      <a:tcPr/>
                    </a:tc>
                    <a:tc>
                      <a:txBody>
                        <a:bodyPr/>
                        <a:lstStyle/>
                        <a:p>
                          <a:r>
                            <a:rPr lang="en-CA" sz="2400" dirty="0"/>
                            <a:t>10</a:t>
                          </a:r>
                        </a:p>
                      </a:txBody>
                      <a:tcPr/>
                    </a:tc>
                    <a:tc>
                      <a:txBody>
                        <a:bodyPr/>
                        <a:lstStyle/>
                        <a:p>
                          <a:r>
                            <a:rPr lang="en-CA" sz="2400" dirty="0"/>
                            <a:t>-10</a:t>
                          </a:r>
                        </a:p>
                      </a:txBody>
                      <a:tcPr/>
                    </a:tc>
                    <a:extLst>
                      <a:ext uri="{0D108BD9-81ED-4DB2-BD59-A6C34878D82A}">
                        <a16:rowId xmlns:a16="http://schemas.microsoft.com/office/drawing/2014/main" val="3009091282"/>
                      </a:ext>
                    </a:extLst>
                  </a:tr>
                  <a:tr h="457200">
                    <a:tc>
                      <a:txBody>
                        <a:bodyPr/>
                        <a:lstStyle/>
                        <a:p>
                          <a:endParaRPr lang="en-CA" sz="2400" dirty="0"/>
                        </a:p>
                      </a:txBody>
                      <a:tcPr/>
                    </a:tc>
                    <a:tc>
                      <a:txBody>
                        <a:bodyPr/>
                        <a:lstStyle/>
                        <a:p>
                          <a:endParaRPr lang="en-CA" sz="2400" dirty="0"/>
                        </a:p>
                      </a:txBody>
                      <a:tcPr/>
                    </a:tc>
                    <a:tc>
                      <a:txBody>
                        <a:bodyPr/>
                        <a:lstStyle/>
                        <a:p>
                          <a:pPr algn="r"/>
                          <a:r>
                            <a:rPr lang="en-CA" sz="2400" b="1" dirty="0"/>
                            <a:t>DID Estimate</a:t>
                          </a:r>
                        </a:p>
                      </a:txBody>
                      <a:tcPr/>
                    </a:tc>
                    <a:tc>
                      <a:txBody>
                        <a:bodyPr/>
                        <a:lstStyle/>
                        <a:p>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rPr>
                                  <m:t>−10−−5=−5</m:t>
                                </m:r>
                              </m:oMath>
                            </m:oMathPara>
                          </a14:m>
                          <a:endParaRPr lang="en-CA" sz="2400" dirty="0"/>
                        </a:p>
                      </a:txBody>
                      <a:tcPr/>
                    </a:tc>
                    <a:extLst>
                      <a:ext uri="{0D108BD9-81ED-4DB2-BD59-A6C34878D82A}">
                        <a16:rowId xmlns:a16="http://schemas.microsoft.com/office/drawing/2014/main" val="1816111248"/>
                      </a:ext>
                    </a:extLst>
                  </a:tr>
                </a:tbl>
              </a:graphicData>
            </a:graphic>
          </p:graphicFrame>
        </mc:Choice>
        <mc:Fallback xmlns="">
          <p:graphicFrame>
            <p:nvGraphicFramePr>
              <p:cNvPr id="4" name="Table 4">
                <a:extLst>
                  <a:ext uri="{FF2B5EF4-FFF2-40B4-BE49-F238E27FC236}">
                    <a16:creationId xmlns:a16="http://schemas.microsoft.com/office/drawing/2014/main" id="{640561D4-3FEE-FD66-F10C-078A21B5FA84}"/>
                  </a:ext>
                </a:extLst>
              </p:cNvPr>
              <p:cNvGraphicFramePr>
                <a:graphicFrameLocks noGrp="1"/>
              </p:cNvGraphicFramePr>
              <p:nvPr/>
            </p:nvGraphicFramePr>
            <p:xfrm>
              <a:off x="1295400" y="1089089"/>
              <a:ext cx="9601200" cy="1828800"/>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1716933922"/>
                        </a:ext>
                      </a:extLst>
                    </a:gridCol>
                    <a:gridCol w="2400300">
                      <a:extLst>
                        <a:ext uri="{9D8B030D-6E8A-4147-A177-3AD203B41FA5}">
                          <a16:colId xmlns:a16="http://schemas.microsoft.com/office/drawing/2014/main" val="2878382463"/>
                        </a:ext>
                      </a:extLst>
                    </a:gridCol>
                    <a:gridCol w="2400300">
                      <a:extLst>
                        <a:ext uri="{9D8B030D-6E8A-4147-A177-3AD203B41FA5}">
                          <a16:colId xmlns:a16="http://schemas.microsoft.com/office/drawing/2014/main" val="3292783135"/>
                        </a:ext>
                      </a:extLst>
                    </a:gridCol>
                    <a:gridCol w="2400300">
                      <a:extLst>
                        <a:ext uri="{9D8B030D-6E8A-4147-A177-3AD203B41FA5}">
                          <a16:colId xmlns:a16="http://schemas.microsoft.com/office/drawing/2014/main" val="991785352"/>
                        </a:ext>
                      </a:extLst>
                    </a:gridCol>
                  </a:tblGrid>
                  <a:tr h="457200">
                    <a:tc>
                      <a:txBody>
                        <a:bodyPr/>
                        <a:lstStyle/>
                        <a:p>
                          <a:pPr algn="r"/>
                          <a:r>
                            <a:rPr lang="en-CA" sz="2400" dirty="0"/>
                            <a:t>Y</a:t>
                          </a:r>
                        </a:p>
                      </a:txBody>
                      <a:tcPr/>
                    </a:tc>
                    <a:tc>
                      <a:txBody>
                        <a:bodyPr/>
                        <a:lstStyle/>
                        <a:p>
                          <a:r>
                            <a:rPr lang="en-CA" sz="2400" dirty="0"/>
                            <a:t>Pre</a:t>
                          </a:r>
                        </a:p>
                      </a:txBody>
                      <a:tcPr/>
                    </a:tc>
                    <a:tc>
                      <a:txBody>
                        <a:bodyPr/>
                        <a:lstStyle/>
                        <a:p>
                          <a:r>
                            <a:rPr lang="en-CA" sz="2400" dirty="0"/>
                            <a:t>Post</a:t>
                          </a:r>
                        </a:p>
                      </a:txBody>
                      <a:tcPr/>
                    </a:tc>
                    <a:tc>
                      <a:txBody>
                        <a:bodyPr/>
                        <a:lstStyle/>
                        <a:p>
                          <a:r>
                            <a:rPr lang="en-CA" sz="2400" dirty="0"/>
                            <a:t>Difference</a:t>
                          </a:r>
                        </a:p>
                      </a:txBody>
                      <a:tcPr/>
                    </a:tc>
                    <a:extLst>
                      <a:ext uri="{0D108BD9-81ED-4DB2-BD59-A6C34878D82A}">
                        <a16:rowId xmlns:a16="http://schemas.microsoft.com/office/drawing/2014/main" val="1192502697"/>
                      </a:ext>
                    </a:extLst>
                  </a:tr>
                  <a:tr h="457200">
                    <a:tc>
                      <a:txBody>
                        <a:bodyPr/>
                        <a:lstStyle/>
                        <a:p>
                          <a:r>
                            <a:rPr lang="en-CA" sz="2400" dirty="0"/>
                            <a:t>Control</a:t>
                          </a:r>
                        </a:p>
                      </a:txBody>
                      <a:tcPr/>
                    </a:tc>
                    <a:tc>
                      <a:txBody>
                        <a:bodyPr/>
                        <a:lstStyle/>
                        <a:p>
                          <a:r>
                            <a:rPr lang="en-CA" sz="2400" dirty="0"/>
                            <a:t>40</a:t>
                          </a:r>
                        </a:p>
                      </a:txBody>
                      <a:tcPr/>
                    </a:tc>
                    <a:tc>
                      <a:txBody>
                        <a:bodyPr/>
                        <a:lstStyle/>
                        <a:p>
                          <a:r>
                            <a:rPr lang="en-CA" sz="2400" dirty="0"/>
                            <a:t>35</a:t>
                          </a:r>
                        </a:p>
                      </a:txBody>
                      <a:tcPr/>
                    </a:tc>
                    <a:tc>
                      <a:txBody>
                        <a:bodyPr/>
                        <a:lstStyle/>
                        <a:p>
                          <a:r>
                            <a:rPr lang="en-CA" sz="2400" dirty="0"/>
                            <a:t>-5</a:t>
                          </a:r>
                        </a:p>
                      </a:txBody>
                      <a:tcPr/>
                    </a:tc>
                    <a:extLst>
                      <a:ext uri="{0D108BD9-81ED-4DB2-BD59-A6C34878D82A}">
                        <a16:rowId xmlns:a16="http://schemas.microsoft.com/office/drawing/2014/main" val="1479634554"/>
                      </a:ext>
                    </a:extLst>
                  </a:tr>
                  <a:tr h="457200">
                    <a:tc>
                      <a:txBody>
                        <a:bodyPr/>
                        <a:lstStyle/>
                        <a:p>
                          <a:r>
                            <a:rPr lang="en-CA" sz="2400" dirty="0"/>
                            <a:t>Treated</a:t>
                          </a:r>
                        </a:p>
                      </a:txBody>
                      <a:tcPr/>
                    </a:tc>
                    <a:tc>
                      <a:txBody>
                        <a:bodyPr/>
                        <a:lstStyle/>
                        <a:p>
                          <a:r>
                            <a:rPr lang="en-CA" sz="2400" dirty="0"/>
                            <a:t>20</a:t>
                          </a:r>
                        </a:p>
                      </a:txBody>
                      <a:tcPr/>
                    </a:tc>
                    <a:tc>
                      <a:txBody>
                        <a:bodyPr/>
                        <a:lstStyle/>
                        <a:p>
                          <a:r>
                            <a:rPr lang="en-CA" sz="2400" dirty="0"/>
                            <a:t>10</a:t>
                          </a:r>
                        </a:p>
                      </a:txBody>
                      <a:tcPr/>
                    </a:tc>
                    <a:tc>
                      <a:txBody>
                        <a:bodyPr/>
                        <a:lstStyle/>
                        <a:p>
                          <a:r>
                            <a:rPr lang="en-CA" sz="2400" dirty="0"/>
                            <a:t>-10</a:t>
                          </a:r>
                        </a:p>
                      </a:txBody>
                      <a:tcPr/>
                    </a:tc>
                    <a:extLst>
                      <a:ext uri="{0D108BD9-81ED-4DB2-BD59-A6C34878D82A}">
                        <a16:rowId xmlns:a16="http://schemas.microsoft.com/office/drawing/2014/main" val="3009091282"/>
                      </a:ext>
                    </a:extLst>
                  </a:tr>
                  <a:tr h="457200">
                    <a:tc>
                      <a:txBody>
                        <a:bodyPr/>
                        <a:lstStyle/>
                        <a:p>
                          <a:endParaRPr lang="en-CA" sz="2400" dirty="0"/>
                        </a:p>
                      </a:txBody>
                      <a:tcPr/>
                    </a:tc>
                    <a:tc>
                      <a:txBody>
                        <a:bodyPr/>
                        <a:lstStyle/>
                        <a:p>
                          <a:endParaRPr lang="en-CA" sz="2400" dirty="0"/>
                        </a:p>
                      </a:txBody>
                      <a:tcPr/>
                    </a:tc>
                    <a:tc>
                      <a:txBody>
                        <a:bodyPr/>
                        <a:lstStyle/>
                        <a:p>
                          <a:pPr algn="r"/>
                          <a:r>
                            <a:rPr lang="en-CA" sz="2400" b="1" dirty="0"/>
                            <a:t>DID Estimate</a:t>
                          </a:r>
                        </a:p>
                      </a:txBody>
                      <a:tcPr/>
                    </a:tc>
                    <a:tc>
                      <a:txBody>
                        <a:bodyPr/>
                        <a:lstStyle/>
                        <a:p>
                          <a:endParaRPr lang="en-US"/>
                        </a:p>
                      </a:txBody>
                      <a:tcPr>
                        <a:blipFill>
                          <a:blip r:embed="rId3"/>
                          <a:stretch>
                            <a:fillRect l="-300254" t="-310667" r="-1015" b="-30667"/>
                          </a:stretch>
                        </a:blipFill>
                      </a:tcPr>
                    </a:tc>
                    <a:extLst>
                      <a:ext uri="{0D108BD9-81ED-4DB2-BD59-A6C34878D82A}">
                        <a16:rowId xmlns:a16="http://schemas.microsoft.com/office/drawing/2014/main" val="1816111248"/>
                      </a:ext>
                    </a:extLst>
                  </a:tr>
                </a:tbl>
              </a:graphicData>
            </a:graphic>
          </p:graphicFrame>
        </mc:Fallback>
      </mc:AlternateContent>
      <p:sp>
        <p:nvSpPr>
          <p:cNvPr id="9" name="TextBox 8">
            <a:extLst>
              <a:ext uri="{FF2B5EF4-FFF2-40B4-BE49-F238E27FC236}">
                <a16:creationId xmlns:a16="http://schemas.microsoft.com/office/drawing/2014/main" id="{3EE9D18F-77E4-8AB7-20E8-D4E01BB43EF2}"/>
              </a:ext>
            </a:extLst>
          </p:cNvPr>
          <p:cNvSpPr txBox="1"/>
          <p:nvPr/>
        </p:nvSpPr>
        <p:spPr>
          <a:xfrm>
            <a:off x="4014588" y="2940177"/>
            <a:ext cx="6882012" cy="830997"/>
          </a:xfrm>
          <a:prstGeom prst="rect">
            <a:avLst/>
          </a:prstGeom>
          <a:noFill/>
        </p:spPr>
        <p:txBody>
          <a:bodyPr wrap="none" rtlCol="0">
            <a:spAutoFit/>
          </a:bodyPr>
          <a:lstStyle/>
          <a:p>
            <a:r>
              <a:rPr lang="en-CA" sz="2400" dirty="0"/>
              <a:t>Treatment effect + Changes in Treated Group </a:t>
            </a:r>
          </a:p>
          <a:p>
            <a:r>
              <a:rPr lang="en-CA" sz="2400" dirty="0"/>
              <a:t>					– Changes in Untreated Group</a:t>
            </a:r>
          </a:p>
        </p:txBody>
      </p:sp>
    </p:spTree>
    <p:extLst>
      <p:ext uri="{BB962C8B-B14F-4D97-AF65-F5344CB8AC3E}">
        <p14:creationId xmlns:p14="http://schemas.microsoft.com/office/powerpoint/2010/main" val="2275322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Assumptions Needed for DID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r>
              <a:rPr lang="en-US" sz="2400" dirty="0">
                <a:cs typeface="Times New Roman" panose="02020603050405020304" pitchFamily="18" charset="0"/>
              </a:rPr>
              <a:t>DID rests on the comparison of two groups</a:t>
            </a:r>
          </a:p>
          <a:p>
            <a:r>
              <a:rPr lang="en-US" sz="2400" dirty="0">
                <a:cs typeface="Times New Roman" panose="02020603050405020304" pitchFamily="18" charset="0"/>
              </a:rPr>
              <a:t>What do we need for that comparison to be valid? </a:t>
            </a:r>
          </a:p>
          <a:p>
            <a:pPr lvl="1"/>
            <a:r>
              <a:rPr lang="en-US" sz="2400" dirty="0">
                <a:cs typeface="Times New Roman" panose="02020603050405020304" pitchFamily="18" charset="0"/>
              </a:rPr>
              <a:t>In general, groups need to be similar</a:t>
            </a:r>
          </a:p>
          <a:p>
            <a:pPr lvl="1"/>
            <a:r>
              <a:rPr lang="en-US" sz="2400" dirty="0">
                <a:cs typeface="Times New Roman" panose="02020603050405020304" pitchFamily="18" charset="0"/>
              </a:rPr>
              <a:t>Of critical importance to DID is the </a:t>
            </a:r>
            <a:r>
              <a:rPr lang="en-US" sz="2400" b="1" dirty="0">
                <a:cs typeface="Times New Roman" panose="02020603050405020304" pitchFamily="18" charset="0"/>
              </a:rPr>
              <a:t>parallel trends </a:t>
            </a:r>
            <a:r>
              <a:rPr lang="en-US" sz="2400" dirty="0">
                <a:cs typeface="Times New Roman" panose="02020603050405020304" pitchFamily="18" charset="0"/>
              </a:rPr>
              <a:t>assumption: </a:t>
            </a:r>
          </a:p>
          <a:p>
            <a:pPr marL="0" indent="0">
              <a:buNone/>
            </a:pPr>
            <a:r>
              <a:rPr lang="en-US" sz="2800" b="1" u="sng" dirty="0">
                <a:solidFill>
                  <a:schemeClr val="accent2">
                    <a:lumMod val="75000"/>
                  </a:schemeClr>
                </a:solidFill>
                <a:cs typeface="Times New Roman" panose="02020603050405020304" pitchFamily="18" charset="0"/>
              </a:rPr>
              <a:t>If no treatment had occurred, the difference between the treated group and the untreated group would have stayed the same across periods</a:t>
            </a:r>
          </a:p>
          <a:p>
            <a:r>
              <a:rPr lang="en-US" sz="2400" dirty="0">
                <a:cs typeface="Times New Roman" panose="02020603050405020304" pitchFamily="18" charset="0"/>
              </a:rPr>
              <a:t>Of course, this is completely unobservable (it’s a </a:t>
            </a:r>
            <a:r>
              <a:rPr lang="en-US" sz="2400" i="1" dirty="0">
                <a:cs typeface="Times New Roman" panose="02020603050405020304" pitchFamily="18" charset="0"/>
              </a:rPr>
              <a:t>potential outcome</a:t>
            </a:r>
            <a:r>
              <a:rPr lang="en-US" sz="2400" dirty="0">
                <a:cs typeface="Times New Roman" panose="02020603050405020304" pitchFamily="18" charset="0"/>
              </a:rPr>
              <a:t>)</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spTree>
    <p:extLst>
      <p:ext uri="{BB962C8B-B14F-4D97-AF65-F5344CB8AC3E}">
        <p14:creationId xmlns:p14="http://schemas.microsoft.com/office/powerpoint/2010/main" val="2420241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Visualizing the Parallel Trends Assumption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949A57F1-2C8A-882C-E4C7-77FCCB38A51D}"/>
              </a:ext>
            </a:extLst>
          </p:cNvPr>
          <p:cNvPicPr>
            <a:picLocks noGrp="1" noChangeAspect="1"/>
          </p:cNvPicPr>
          <p:nvPr>
            <p:ph idx="1"/>
          </p:nvPr>
        </p:nvPicPr>
        <p:blipFill>
          <a:blip r:embed="rId3"/>
          <a:stretch>
            <a:fillRect/>
          </a:stretch>
        </p:blipFill>
        <p:spPr>
          <a:xfrm>
            <a:off x="800100" y="1371600"/>
            <a:ext cx="10058400" cy="4980153"/>
          </a:xfrm>
        </p:spPr>
      </p:pic>
    </p:spTree>
    <p:extLst>
      <p:ext uri="{BB962C8B-B14F-4D97-AF65-F5344CB8AC3E}">
        <p14:creationId xmlns:p14="http://schemas.microsoft.com/office/powerpoint/2010/main" val="924980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happens if we don’t have parallel trends?</a:t>
            </a: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7" name="Picture 6">
            <a:extLst>
              <a:ext uri="{FF2B5EF4-FFF2-40B4-BE49-F238E27FC236}">
                <a16:creationId xmlns:a16="http://schemas.microsoft.com/office/drawing/2014/main" id="{D1BA3DC1-298C-4709-52B3-E5FF42EA65F7}"/>
              </a:ext>
            </a:extLst>
          </p:cNvPr>
          <p:cNvPicPr>
            <a:picLocks noChangeAspect="1"/>
          </p:cNvPicPr>
          <p:nvPr/>
        </p:nvPicPr>
        <p:blipFill>
          <a:blip r:embed="rId3"/>
          <a:stretch>
            <a:fillRect/>
          </a:stretch>
        </p:blipFill>
        <p:spPr>
          <a:xfrm>
            <a:off x="800100" y="982488"/>
            <a:ext cx="10058400" cy="5055890"/>
          </a:xfrm>
          <a:prstGeom prst="rect">
            <a:avLst/>
          </a:prstGeom>
        </p:spPr>
      </p:pic>
    </p:spTree>
    <p:extLst>
      <p:ext uri="{BB962C8B-B14F-4D97-AF65-F5344CB8AC3E}">
        <p14:creationId xmlns:p14="http://schemas.microsoft.com/office/powerpoint/2010/main" val="2471875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happens if we don’t have parallel trends?</a:t>
            </a: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7" name="Picture 6">
            <a:extLst>
              <a:ext uri="{FF2B5EF4-FFF2-40B4-BE49-F238E27FC236}">
                <a16:creationId xmlns:a16="http://schemas.microsoft.com/office/drawing/2014/main" id="{D1BA3DC1-298C-4709-52B3-E5FF42EA65F7}"/>
              </a:ext>
            </a:extLst>
          </p:cNvPr>
          <p:cNvPicPr>
            <a:picLocks noChangeAspect="1"/>
          </p:cNvPicPr>
          <p:nvPr/>
        </p:nvPicPr>
        <p:blipFill>
          <a:blip r:embed="rId3"/>
          <a:stretch>
            <a:fillRect/>
          </a:stretch>
        </p:blipFill>
        <p:spPr>
          <a:xfrm>
            <a:off x="800100" y="982488"/>
            <a:ext cx="10058400" cy="5055890"/>
          </a:xfrm>
          <a:prstGeom prst="rect">
            <a:avLst/>
          </a:prstGeom>
        </p:spPr>
      </p:pic>
      <p:pic>
        <p:nvPicPr>
          <p:cNvPr id="5" name="Picture 4">
            <a:extLst>
              <a:ext uri="{FF2B5EF4-FFF2-40B4-BE49-F238E27FC236}">
                <a16:creationId xmlns:a16="http://schemas.microsoft.com/office/drawing/2014/main" id="{4C97E8AE-7C9D-E83E-A6DE-AADBA6AD6617}"/>
              </a:ext>
            </a:extLst>
          </p:cNvPr>
          <p:cNvPicPr>
            <a:picLocks noChangeAspect="1"/>
          </p:cNvPicPr>
          <p:nvPr/>
        </p:nvPicPr>
        <p:blipFill>
          <a:blip r:embed="rId4"/>
          <a:stretch>
            <a:fillRect/>
          </a:stretch>
        </p:blipFill>
        <p:spPr>
          <a:xfrm>
            <a:off x="798171" y="1074431"/>
            <a:ext cx="10058400" cy="5021569"/>
          </a:xfrm>
          <a:prstGeom prst="rect">
            <a:avLst/>
          </a:prstGeom>
        </p:spPr>
      </p:pic>
    </p:spTree>
    <p:extLst>
      <p:ext uri="{BB962C8B-B14F-4D97-AF65-F5344CB8AC3E}">
        <p14:creationId xmlns:p14="http://schemas.microsoft.com/office/powerpoint/2010/main" val="1923071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25818"/>
            <a:ext cx="10439400" cy="624840"/>
          </a:xfrm>
        </p:spPr>
        <p:txBody>
          <a:bodyPr>
            <a:noAutofit/>
          </a:bodyPr>
          <a:lstStyle/>
          <a:p>
            <a:r>
              <a:rPr lang="en-US" sz="3600" dirty="0">
                <a:cs typeface="Times New Roman" panose="02020603050405020304" pitchFamily="18" charset="0"/>
              </a:rPr>
              <a:t>DID: Estimation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dirty="0">
                    <a:cs typeface="Times New Roman" panose="02020603050405020304" pitchFamily="18" charset="0"/>
                  </a:rPr>
                  <a:t>In a 2-by-2 case, the intuition leads straight to the regression</a:t>
                </a:r>
              </a:p>
              <a:p>
                <a:pPr marL="0" indent="0">
                  <a:buNone/>
                </a:pPr>
                <a14:m>
                  <m:oMathPara xmlns:m="http://schemas.openxmlformats.org/officeDocument/2006/math">
                    <m:oMathParaPr>
                      <m:jc m:val="centerGroup"/>
                    </m:oMathParaPr>
                    <m:oMath xmlns:m="http://schemas.openxmlformats.org/officeDocument/2006/math">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𝑦</m:t>
                          </m:r>
                        </m:e>
                        <m:sub>
                          <m:r>
                            <a:rPr lang="en-CA" sz="2400" b="0" i="1" smtClean="0">
                              <a:latin typeface="Cambria Math" panose="02040503050406030204" pitchFamily="18" charset="0"/>
                              <a:cs typeface="Times New Roman" panose="02020603050405020304" pitchFamily="18" charset="0"/>
                            </a:rPr>
                            <m:t>𝑖𝑡</m:t>
                          </m:r>
                        </m:sub>
                      </m:sSub>
                      <m:r>
                        <a:rPr lang="en-CA" sz="2400" b="0" i="1" smtClean="0">
                          <a:latin typeface="Cambria Math" panose="02040503050406030204" pitchFamily="18" charset="0"/>
                          <a:cs typeface="Times New Roman" panose="02020603050405020304" pitchFamily="18" charset="0"/>
                        </a:rPr>
                        <m:t>=</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𝛽</m:t>
                          </m:r>
                        </m:e>
                        <m:sub>
                          <m:r>
                            <a:rPr lang="en-CA" sz="2400" b="0" i="1" smtClean="0">
                              <a:latin typeface="Cambria Math" panose="02040503050406030204" pitchFamily="18" charset="0"/>
                              <a:cs typeface="Times New Roman" panose="02020603050405020304" pitchFamily="18" charset="0"/>
                            </a:rPr>
                            <m:t>0</m:t>
                          </m:r>
                        </m:sub>
                      </m:sSub>
                      <m:r>
                        <a:rPr lang="en-CA" sz="2400" b="0" i="1" smtClean="0">
                          <a:latin typeface="Cambria Math" panose="02040503050406030204" pitchFamily="18" charset="0"/>
                          <a:cs typeface="Times New Roman" panose="02020603050405020304" pitchFamily="18" charset="0"/>
                        </a:rPr>
                        <m:t>+</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𝛽</m:t>
                          </m:r>
                        </m:e>
                        <m:sub>
                          <m:r>
                            <a:rPr lang="en-CA" sz="2400" b="0" i="1" smtClean="0">
                              <a:latin typeface="Cambria Math" panose="02040503050406030204" pitchFamily="18" charset="0"/>
                              <a:cs typeface="Times New Roman" panose="02020603050405020304" pitchFamily="18" charset="0"/>
                            </a:rPr>
                            <m:t>1</m:t>
                          </m:r>
                        </m:sub>
                      </m:sSub>
                      <m:r>
                        <a:rPr lang="en-CA" sz="2400" b="0" i="1" smtClean="0">
                          <a:latin typeface="Cambria Math" panose="02040503050406030204" pitchFamily="18" charset="0"/>
                          <a:cs typeface="Times New Roman" panose="02020603050405020304" pitchFamily="18" charset="0"/>
                        </a:rPr>
                        <m:t>𝐺𝑟𝑜𝑢</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𝑝</m:t>
                          </m:r>
                        </m:e>
                        <m:sub>
                          <m:r>
                            <a:rPr lang="en-CA" sz="2400" b="0" i="1" smtClean="0">
                              <a:latin typeface="Cambria Math" panose="02040503050406030204" pitchFamily="18" charset="0"/>
                              <a:cs typeface="Times New Roman" panose="02020603050405020304" pitchFamily="18" charset="0"/>
                            </a:rPr>
                            <m:t>𝑖</m:t>
                          </m:r>
                        </m:sub>
                      </m:sSub>
                      <m:r>
                        <a:rPr lang="en-CA" sz="2400" b="0" i="1" smtClean="0">
                          <a:latin typeface="Cambria Math" panose="02040503050406030204" pitchFamily="18" charset="0"/>
                          <a:cs typeface="Times New Roman" panose="02020603050405020304" pitchFamily="18" charset="0"/>
                        </a:rPr>
                        <m:t>+</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𝛽</m:t>
                          </m:r>
                        </m:e>
                        <m:sub>
                          <m:r>
                            <a:rPr lang="en-CA" sz="2400" b="0" i="1" smtClean="0">
                              <a:latin typeface="Cambria Math" panose="02040503050406030204" pitchFamily="18" charset="0"/>
                              <a:cs typeface="Times New Roman" panose="02020603050405020304" pitchFamily="18" charset="0"/>
                            </a:rPr>
                            <m:t>2</m:t>
                          </m:r>
                        </m:sub>
                      </m:sSub>
                      <m:r>
                        <a:rPr lang="en-CA" sz="2400" b="0" i="1" smtClean="0">
                          <a:latin typeface="Cambria Math" panose="02040503050406030204" pitchFamily="18" charset="0"/>
                          <a:cs typeface="Times New Roman" panose="02020603050405020304" pitchFamily="18" charset="0"/>
                        </a:rPr>
                        <m:t>𝑇𝑖𝑚</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𝑒</m:t>
                          </m:r>
                        </m:e>
                        <m:sub>
                          <m:r>
                            <a:rPr lang="en-CA" sz="2400" b="0" i="1" smtClean="0">
                              <a:latin typeface="Cambria Math" panose="02040503050406030204" pitchFamily="18" charset="0"/>
                              <a:cs typeface="Times New Roman" panose="02020603050405020304" pitchFamily="18" charset="0"/>
                            </a:rPr>
                            <m:t>𝑡</m:t>
                          </m:r>
                        </m:sub>
                      </m:sSub>
                      <m:r>
                        <a:rPr lang="en-CA" sz="2400" b="0" i="1" smtClean="0">
                          <a:latin typeface="Cambria Math" panose="02040503050406030204" pitchFamily="18" charset="0"/>
                          <a:cs typeface="Times New Roman" panose="02020603050405020304" pitchFamily="18" charset="0"/>
                        </a:rPr>
                        <m:t>+</m:t>
                      </m:r>
                      <m:sSub>
                        <m:sSubPr>
                          <m:ctrlPr>
                            <a:rPr lang="en-CA"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CA"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CA" sz="2400" b="1" i="1" smtClean="0">
                              <a:solidFill>
                                <a:schemeClr val="accent2">
                                  <a:lumMod val="75000"/>
                                </a:schemeClr>
                              </a:solidFill>
                              <a:latin typeface="Cambria Math" panose="02040503050406030204" pitchFamily="18" charset="0"/>
                              <a:cs typeface="Times New Roman" panose="02020603050405020304" pitchFamily="18" charset="0"/>
                            </a:rPr>
                            <m:t>𝟑</m:t>
                          </m:r>
                        </m:sub>
                      </m:sSub>
                      <m:sSub>
                        <m:sSubPr>
                          <m:ctrlPr>
                            <a:rPr lang="en-CA" sz="2400" b="1" i="1" smtClean="0">
                              <a:solidFill>
                                <a:schemeClr val="accent2">
                                  <a:lumMod val="75000"/>
                                </a:schemeClr>
                              </a:solidFill>
                              <a:latin typeface="Cambria Math" panose="02040503050406030204" pitchFamily="18" charset="0"/>
                              <a:cs typeface="Times New Roman" panose="02020603050405020304" pitchFamily="18" charset="0"/>
                            </a:rPr>
                          </m:ctrlPr>
                        </m:sSubPr>
                        <m:e>
                          <m:d>
                            <m:dPr>
                              <m:ctrlPr>
                                <a:rPr lang="en-CA" sz="2400" b="1" i="1" smtClean="0">
                                  <a:solidFill>
                                    <a:schemeClr val="accent2">
                                      <a:lumMod val="75000"/>
                                    </a:schemeClr>
                                  </a:solidFill>
                                  <a:latin typeface="Cambria Math" panose="02040503050406030204" pitchFamily="18" charset="0"/>
                                  <a:cs typeface="Times New Roman" panose="02020603050405020304" pitchFamily="18" charset="0"/>
                                </a:rPr>
                              </m:ctrlPr>
                            </m:dPr>
                            <m:e>
                              <m:r>
                                <a:rPr lang="en-CA" sz="2400" b="1" i="1" smtClean="0">
                                  <a:solidFill>
                                    <a:schemeClr val="accent2">
                                      <a:lumMod val="75000"/>
                                    </a:schemeClr>
                                  </a:solidFill>
                                  <a:latin typeface="Cambria Math" panose="02040503050406030204" pitchFamily="18" charset="0"/>
                                  <a:cs typeface="Times New Roman" panose="02020603050405020304" pitchFamily="18" charset="0"/>
                                </a:rPr>
                                <m:t>𝑮𝒓𝒐𝒖𝒑</m:t>
                              </m:r>
                              <m:r>
                                <a:rPr lang="en-CA" sz="2400" b="1" i="1" smtClean="0">
                                  <a:solidFill>
                                    <a:schemeClr val="accent2">
                                      <a:lumMod val="75000"/>
                                    </a:schemeClr>
                                  </a:solidFill>
                                  <a:latin typeface="Cambria Math" panose="02040503050406030204" pitchFamily="18" charset="0"/>
                                  <a:cs typeface="Times New Roman" panose="02020603050405020304" pitchFamily="18" charset="0"/>
                                </a:rPr>
                                <m:t>×</m:t>
                              </m:r>
                              <m:r>
                                <a:rPr lang="en-CA" sz="2400" b="1" i="1" smtClean="0">
                                  <a:solidFill>
                                    <a:schemeClr val="accent2">
                                      <a:lumMod val="75000"/>
                                    </a:schemeClr>
                                  </a:solidFill>
                                  <a:latin typeface="Cambria Math" panose="02040503050406030204" pitchFamily="18" charset="0"/>
                                  <a:cs typeface="Times New Roman" panose="02020603050405020304" pitchFamily="18" charset="0"/>
                                </a:rPr>
                                <m:t>𝑻𝒊𝒎𝒆</m:t>
                              </m:r>
                            </m:e>
                          </m:d>
                        </m:e>
                        <m:sub>
                          <m:r>
                            <a:rPr lang="en-CA" sz="2400" b="1" i="1" smtClean="0">
                              <a:solidFill>
                                <a:schemeClr val="accent2">
                                  <a:lumMod val="75000"/>
                                </a:schemeClr>
                              </a:solidFill>
                              <a:latin typeface="Cambria Math" panose="02040503050406030204" pitchFamily="18" charset="0"/>
                              <a:cs typeface="Times New Roman" panose="02020603050405020304" pitchFamily="18" charset="0"/>
                            </a:rPr>
                            <m:t>𝒊𝒕</m:t>
                          </m:r>
                        </m:sub>
                      </m:sSub>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𝛾</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𝑊</m:t>
                          </m:r>
                        </m:e>
                        <m:sub>
                          <m:r>
                            <a:rPr lang="en-CA" sz="2400" b="0" i="1" smtClean="0">
                              <a:latin typeface="Cambria Math" panose="02040503050406030204" pitchFamily="18" charset="0"/>
                              <a:cs typeface="Times New Roman" panose="02020603050405020304" pitchFamily="18" charset="0"/>
                            </a:rPr>
                            <m:t>𝑖𝑡</m:t>
                          </m:r>
                        </m:sub>
                      </m:sSub>
                      <m:r>
                        <a:rPr lang="en-CA" sz="2400" b="0" i="1" smtClean="0">
                          <a:latin typeface="Cambria Math" panose="02040503050406030204" pitchFamily="18" charset="0"/>
                          <a:cs typeface="Times New Roman" panose="02020603050405020304" pitchFamily="18" charset="0"/>
                        </a:rPr>
                        <m:t>+</m:t>
                      </m:r>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𝜀</m:t>
                          </m:r>
                        </m:e>
                        <m:sub>
                          <m:r>
                            <a:rPr lang="en-CA" sz="2400" b="0" i="1" smtClean="0">
                              <a:latin typeface="Cambria Math" panose="02040503050406030204" pitchFamily="18" charset="0"/>
                              <a:cs typeface="Times New Roman" panose="02020603050405020304" pitchFamily="18" charset="0"/>
                            </a:rPr>
                            <m:t>𝑖𝑡</m:t>
                          </m:r>
                        </m:sub>
                      </m:sSub>
                    </m:oMath>
                  </m:oMathPara>
                </a14:m>
                <a:endParaRPr lang="en-US" sz="2400" dirty="0">
                  <a:cs typeface="Times New Roman" panose="02020603050405020304" pitchFamily="18" charset="0"/>
                </a:endParaRPr>
              </a:p>
              <a:p>
                <a:r>
                  <a:rPr lang="en-US" sz="2400" dirty="0">
                    <a:cs typeface="Times New Roman" panose="02020603050405020304" pitchFamily="18" charset="0"/>
                  </a:rPr>
                  <a:t>The coefficient of interest is </a:t>
                </a:r>
                <a14:m>
                  <m:oMath xmlns:m="http://schemas.openxmlformats.org/officeDocument/2006/math">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𝛽</m:t>
                        </m:r>
                      </m:e>
                      <m:sub>
                        <m:r>
                          <a:rPr lang="en-CA" sz="2400" b="0" i="1" smtClean="0">
                            <a:latin typeface="Cambria Math" panose="02040503050406030204" pitchFamily="18" charset="0"/>
                            <a:cs typeface="Times New Roman" panose="02020603050405020304" pitchFamily="18" charset="0"/>
                          </a:rPr>
                          <m:t>3</m:t>
                        </m:r>
                      </m:sub>
                    </m:sSub>
                  </m:oMath>
                </a14:m>
                <a:r>
                  <a:rPr lang="en-US" sz="2400" dirty="0">
                    <a:cs typeface="Times New Roman" panose="02020603050405020304" pitchFamily="18" charset="0"/>
                  </a:rPr>
                  <a:t>. What do the others tell us?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9EDCB0C5-F560-3E02-7232-BD92286C9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5955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Interpreting Results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9862990" cy="5141388"/>
          </a:xfrm>
        </p:spPr>
        <p:txBody>
          <a:bodyPr>
            <a:noAutofit/>
          </a:bodyPr>
          <a:lstStyle/>
          <a:p>
            <a:r>
              <a:rPr lang="en-US" sz="2400" dirty="0">
                <a:cs typeface="Times New Roman" panose="02020603050405020304" pitchFamily="18" charset="0"/>
              </a:rPr>
              <a:t>We are interested in a policy’s </a:t>
            </a:r>
            <a:r>
              <a:rPr lang="en-US" sz="2400" b="1" dirty="0">
                <a:cs typeface="Times New Roman" panose="02020603050405020304" pitchFamily="18" charset="0"/>
              </a:rPr>
              <a:t>treatment effect</a:t>
            </a:r>
            <a:r>
              <a:rPr lang="en-US" sz="2400" dirty="0">
                <a:cs typeface="Times New Roman" panose="02020603050405020304" pitchFamily="18" charset="0"/>
              </a:rPr>
              <a:t>—is that what we get?</a:t>
            </a:r>
          </a:p>
          <a:p>
            <a:r>
              <a:rPr lang="en-US" sz="2400" dirty="0">
                <a:cs typeface="Times New Roman" panose="02020603050405020304" pitchFamily="18" charset="0"/>
              </a:rPr>
              <a:t>Our DAG shows us that we are getting an </a:t>
            </a:r>
            <a:r>
              <a:rPr lang="en-US" sz="2400" u="sng" dirty="0">
                <a:cs typeface="Times New Roman" panose="02020603050405020304" pitchFamily="18" charset="0"/>
              </a:rPr>
              <a:t>ATT: </a:t>
            </a:r>
          </a:p>
          <a:p>
            <a:pPr lvl="1"/>
            <a:r>
              <a:rPr lang="en-US" sz="2400" dirty="0">
                <a:cs typeface="Times New Roman" panose="02020603050405020304" pitchFamily="18" charset="0"/>
              </a:rPr>
              <a:t>We isolated differences in variation </a:t>
            </a:r>
            <a:r>
              <a:rPr lang="en-US" sz="2400" i="1" dirty="0">
                <a:cs typeface="Times New Roman" panose="02020603050405020304" pitchFamily="18" charset="0"/>
              </a:rPr>
              <a:t>specifically for </a:t>
            </a:r>
            <a:r>
              <a:rPr lang="en-US" sz="2400" dirty="0">
                <a:cs typeface="Times New Roman" panose="02020603050405020304" pitchFamily="18" charset="0"/>
              </a:rPr>
              <a:t>the treated group</a:t>
            </a:r>
          </a:p>
          <a:p>
            <a:pPr lvl="1"/>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457EF35C-D572-D70B-EBDD-08BF7DBE7A8C}"/>
              </a:ext>
            </a:extLst>
          </p:cNvPr>
          <p:cNvPicPr>
            <a:picLocks noChangeAspect="1"/>
          </p:cNvPicPr>
          <p:nvPr/>
        </p:nvPicPr>
        <p:blipFill>
          <a:blip r:embed="rId3"/>
          <a:stretch>
            <a:fillRect/>
          </a:stretch>
        </p:blipFill>
        <p:spPr>
          <a:xfrm>
            <a:off x="2275036" y="2819400"/>
            <a:ext cx="7641927" cy="3124200"/>
          </a:xfrm>
          <a:prstGeom prst="rect">
            <a:avLst/>
          </a:prstGeom>
        </p:spPr>
      </p:pic>
    </p:spTree>
    <p:extLst>
      <p:ext uri="{BB962C8B-B14F-4D97-AF65-F5344CB8AC3E}">
        <p14:creationId xmlns:p14="http://schemas.microsoft.com/office/powerpoint/2010/main" val="1026416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b="1" dirty="0">
                <a:cs typeface="Times New Roman" panose="02020603050405020304" pitchFamily="18" charset="0"/>
              </a:rPr>
              <a:t>Suggestive </a:t>
            </a:r>
            <a:r>
              <a:rPr lang="en-US" sz="3600" dirty="0">
                <a:cs typeface="Times New Roman" panose="02020603050405020304" pitchFamily="18" charset="0"/>
              </a:rPr>
              <a:t>Evidence for Parallel Trends</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Your treatment and control group should satisfy the following: </a:t>
            </a:r>
          </a:p>
          <a:p>
            <a:pPr marL="617220" lvl="1" indent="-342900">
              <a:buFont typeface="+mj-lt"/>
              <a:buAutoNum type="arabicPeriod"/>
            </a:pPr>
            <a:r>
              <a:rPr lang="en-US" sz="2400" dirty="0">
                <a:cs typeface="Times New Roman" panose="02020603050405020304" pitchFamily="18" charset="0"/>
              </a:rPr>
              <a:t>Treatment should not have affected untreated group (no spillovers)</a:t>
            </a:r>
          </a:p>
          <a:p>
            <a:pPr marL="617220" lvl="1" indent="-342900">
              <a:buFont typeface="+mj-lt"/>
              <a:buAutoNum type="arabicPeriod"/>
            </a:pPr>
            <a:r>
              <a:rPr lang="en-US" sz="2400" dirty="0">
                <a:cs typeface="Times New Roman" panose="02020603050405020304" pitchFamily="18" charset="0"/>
              </a:rPr>
              <a:t>Balance across the treated and untreated groups</a:t>
            </a:r>
          </a:p>
          <a:p>
            <a:pPr marL="617220" lvl="1" indent="-342900">
              <a:buFont typeface="+mj-lt"/>
              <a:buAutoNum type="arabicPeriod"/>
            </a:pPr>
            <a:r>
              <a:rPr lang="en-US" sz="2400" dirty="0">
                <a:cs typeface="Times New Roman" panose="02020603050405020304" pitchFamily="18" charset="0"/>
              </a:rPr>
              <a:t>Similar trajectories for dependent variable before treatment</a:t>
            </a:r>
          </a:p>
        </p:txBody>
      </p:sp>
    </p:spTree>
    <p:extLst>
      <p:ext uri="{BB962C8B-B14F-4D97-AF65-F5344CB8AC3E}">
        <p14:creationId xmlns:p14="http://schemas.microsoft.com/office/powerpoint/2010/main" val="38763821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b="1" dirty="0">
                <a:cs typeface="Times New Roman" panose="02020603050405020304" pitchFamily="18" charset="0"/>
              </a:rPr>
              <a:t>Suggestive </a:t>
            </a:r>
            <a:r>
              <a:rPr lang="en-US" sz="3600" dirty="0">
                <a:cs typeface="Times New Roman" panose="02020603050405020304" pitchFamily="18" charset="0"/>
              </a:rPr>
              <a:t>Evidence for Parallel Trends</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r>
              <a:rPr lang="en-US" sz="2400" dirty="0">
                <a:cs typeface="Times New Roman" panose="02020603050405020304" pitchFamily="18" charset="0"/>
              </a:rPr>
              <a:t>Your treatment and control group should satisfy the following: </a:t>
            </a:r>
          </a:p>
          <a:p>
            <a:pPr marL="617220" lvl="1" indent="-342900">
              <a:buFont typeface="+mj-lt"/>
              <a:buAutoNum type="arabicPeriod"/>
            </a:pPr>
            <a:r>
              <a:rPr lang="en-US" sz="2400" dirty="0">
                <a:cs typeface="Times New Roman" panose="02020603050405020304" pitchFamily="18" charset="0"/>
              </a:rPr>
              <a:t>Treatment should not have affected untreated group (no spillovers)</a:t>
            </a:r>
          </a:p>
          <a:p>
            <a:pPr marL="617220" lvl="1" indent="-342900">
              <a:buFont typeface="+mj-lt"/>
              <a:buAutoNum type="arabicPeriod"/>
            </a:pPr>
            <a:r>
              <a:rPr lang="en-US" sz="2400" dirty="0">
                <a:cs typeface="Times New Roman" panose="02020603050405020304" pitchFamily="18" charset="0"/>
              </a:rPr>
              <a:t>Balance across the treated and untreated groups</a:t>
            </a:r>
          </a:p>
          <a:p>
            <a:pPr marL="617220" lvl="1" indent="-342900">
              <a:buFont typeface="+mj-lt"/>
              <a:buAutoNum type="arabicPeriod"/>
            </a:pPr>
            <a:r>
              <a:rPr lang="en-US" sz="2400" b="1" dirty="0">
                <a:cs typeface="Times New Roman" panose="02020603050405020304" pitchFamily="18" charset="0"/>
              </a:rPr>
              <a:t>Similar trajectories for dependent variable before treatment</a:t>
            </a:r>
          </a:p>
        </p:txBody>
      </p:sp>
      <p:pic>
        <p:nvPicPr>
          <p:cNvPr id="5" name="Picture 4">
            <a:extLst>
              <a:ext uri="{FF2B5EF4-FFF2-40B4-BE49-F238E27FC236}">
                <a16:creationId xmlns:a16="http://schemas.microsoft.com/office/drawing/2014/main" id="{FDDB63C4-AD3C-E1EC-8DC0-2E74D4E37C6B}"/>
              </a:ext>
            </a:extLst>
          </p:cNvPr>
          <p:cNvPicPr>
            <a:picLocks noChangeAspect="1"/>
          </p:cNvPicPr>
          <p:nvPr/>
        </p:nvPicPr>
        <p:blipFill>
          <a:blip r:embed="rId3"/>
          <a:stretch>
            <a:fillRect/>
          </a:stretch>
        </p:blipFill>
        <p:spPr>
          <a:xfrm>
            <a:off x="1567010" y="2780695"/>
            <a:ext cx="7750723" cy="3600000"/>
          </a:xfrm>
          <a:prstGeom prst="rect">
            <a:avLst/>
          </a:prstGeom>
        </p:spPr>
      </p:pic>
      <p:pic>
        <p:nvPicPr>
          <p:cNvPr id="6" name="Picture 2" descr="RStudio - RStudio">
            <a:extLst>
              <a:ext uri="{FF2B5EF4-FFF2-40B4-BE49-F238E27FC236}">
                <a16:creationId xmlns:a16="http://schemas.microsoft.com/office/drawing/2014/main" id="{2EAB0927-EDFE-66D5-3F31-5DBC1C98E1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57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DID: Best Practices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1"/>
                <a:ext cx="9939190" cy="5141388"/>
              </a:xfrm>
            </p:spPr>
            <p:txBody>
              <a:bodyPr>
                <a:noAutofit/>
              </a:bodyPr>
              <a:lstStyle/>
              <a:p>
                <a:pPr marL="457200" indent="-457200">
                  <a:buFont typeface="+mj-lt"/>
                  <a:buAutoNum type="arabicPeriod"/>
                </a:pPr>
                <a:r>
                  <a:rPr lang="en-US" sz="2400" dirty="0">
                    <a:cs typeface="Times New Roman" panose="02020603050405020304" pitchFamily="18" charset="0"/>
                  </a:rPr>
                  <a:t>Placebo tests – pick a fake treatment date, treated group, etc.</a:t>
                </a:r>
              </a:p>
              <a:p>
                <a:pPr lvl="1"/>
                <a:r>
                  <a:rPr lang="en-US" sz="2400" dirty="0">
                    <a:cs typeface="Times New Roman" panose="02020603050405020304" pitchFamily="18" charset="0"/>
                  </a:rPr>
                  <a:t>If you keep getting significance, probably a violation of the PTA</a:t>
                </a:r>
              </a:p>
              <a:p>
                <a:pPr lvl="1"/>
                <a:r>
                  <a:rPr lang="en-US" sz="2400" dirty="0">
                    <a:cs typeface="Times New Roman" panose="02020603050405020304" pitchFamily="18" charset="0"/>
                  </a:rPr>
                  <a:t>Use only the pre-treatment data (don’t want real ATTs in there)</a:t>
                </a:r>
              </a:p>
              <a:p>
                <a:pPr marL="457200" indent="-457200">
                  <a:buFont typeface="+mj-lt"/>
                  <a:buAutoNum type="arabicPeriod"/>
                </a:pPr>
                <a:r>
                  <a:rPr lang="en-US" sz="2400" dirty="0">
                    <a:cs typeface="Times New Roman" panose="02020603050405020304" pitchFamily="18" charset="0"/>
                  </a:rPr>
                  <a:t>Parallel trends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must </a:t>
                </a:r>
                <a:r>
                  <a:rPr lang="en-US" sz="2400" b="1" dirty="0">
                    <a:cs typeface="Times New Roman" panose="02020603050405020304" pitchFamily="18" charset="0"/>
                  </a:rPr>
                  <a:t>think carefully </a:t>
                </a:r>
                <a:r>
                  <a:rPr lang="en-US" sz="2400" dirty="0">
                    <a:cs typeface="Times New Roman" panose="02020603050405020304" pitchFamily="18" charset="0"/>
                  </a:rPr>
                  <a:t>about how your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is measured: </a:t>
                </a:r>
              </a:p>
              <a:p>
                <a:pPr lvl="1"/>
                <a:r>
                  <a:rPr lang="en-US" sz="2400" dirty="0">
                    <a:cs typeface="Times New Roman" panose="02020603050405020304" pitchFamily="18" charset="0"/>
                  </a:rPr>
                  <a:t>Parallel trends is an assumption about </a:t>
                </a:r>
                <a:r>
                  <a:rPr lang="en-US" sz="2400" u="sng" dirty="0">
                    <a:cs typeface="Times New Roman" panose="02020603050405020304" pitchFamily="18" charset="0"/>
                  </a:rPr>
                  <a:t>the size of a gap </a:t>
                </a:r>
                <a:endParaRPr lang="en-US" sz="2400" dirty="0">
                  <a:cs typeface="Times New Roman" panose="02020603050405020304" pitchFamily="18" charset="0"/>
                </a:endParaRPr>
              </a:p>
              <a:p>
                <a:pPr lvl="1"/>
                <a:r>
                  <a:rPr lang="en-US" sz="2400" dirty="0">
                    <a:cs typeface="Times New Roman" panose="02020603050405020304" pitchFamily="18" charset="0"/>
                  </a:rPr>
                  <a:t>Hence, measurement matters! </a:t>
                </a:r>
              </a:p>
              <a:p>
                <a:pPr lvl="1"/>
                <a:r>
                  <a:rPr lang="en-US" sz="2400" dirty="0">
                    <a:cs typeface="Times New Roman" panose="02020603050405020304" pitchFamily="18" charset="0"/>
                  </a:rPr>
                  <a:t>Parallel trends holds for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they </a:t>
                </a:r>
                <a:r>
                  <a:rPr lang="en-US" sz="2400" b="1" dirty="0">
                    <a:cs typeface="Times New Roman" panose="02020603050405020304" pitchFamily="18" charset="0"/>
                  </a:rPr>
                  <a:t>do not </a:t>
                </a:r>
                <a:r>
                  <a:rPr lang="en-US" sz="2400" dirty="0">
                    <a:cs typeface="Times New Roman" panose="02020603050405020304" pitchFamily="18" charset="0"/>
                  </a:rPr>
                  <a:t>hold for </a:t>
                </a:r>
                <a14:m>
                  <m:oMath xmlns:m="http://schemas.openxmlformats.org/officeDocument/2006/math">
                    <m:r>
                      <m:rPr>
                        <m:sty m:val="p"/>
                      </m:rPr>
                      <a:rPr lang="en-CA" sz="2400" b="0" i="0" smtClean="0">
                        <a:latin typeface="Cambria Math" panose="02040503050406030204" pitchFamily="18" charset="0"/>
                        <a:cs typeface="Times New Roman" panose="02020603050405020304" pitchFamily="18" charset="0"/>
                      </a:rPr>
                      <m:t>log</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marL="457200" indent="-457200">
                  <a:buFont typeface="+mj-lt"/>
                  <a:buAutoNum type="arabicPeriod"/>
                </a:pPr>
                <a:r>
                  <a:rPr lang="en-US" sz="2400" dirty="0">
                    <a:cs typeface="Times New Roman" panose="02020603050405020304" pitchFamily="18" charset="0"/>
                  </a:rPr>
                  <a:t>There are resources to combine this with IV. See Hoagland (2022) and Hudson et al., 2017 for a discussion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1"/>
                <a:ext cx="9939190" cy="5141388"/>
              </a:xfrm>
              <a:blipFill>
                <a:blip r:embed="rId3"/>
                <a:stretch>
                  <a:fillRect l="-491" t="-1305"/>
                </a:stretch>
              </a:blipFill>
            </p:spPr>
            <p:txBody>
              <a:bodyPr/>
              <a:lstStyle/>
              <a:p>
                <a:r>
                  <a:rPr lang="en-US">
                    <a:noFill/>
                  </a:rPr>
                  <a:t> </a:t>
                </a:r>
              </a:p>
            </p:txBody>
          </p:sp>
        </mc:Fallback>
      </mc:AlternateContent>
      <p:pic>
        <p:nvPicPr>
          <p:cNvPr id="6" name="Picture 2" descr="RStudio - RStudio">
            <a:extLst>
              <a:ext uri="{FF2B5EF4-FFF2-40B4-BE49-F238E27FC236}">
                <a16:creationId xmlns:a16="http://schemas.microsoft.com/office/drawing/2014/main" id="{6F714E19-D046-D28D-1107-0F263E7ADD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464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Generalized </a:t>
            </a:r>
            <a:br>
              <a:rPr lang="en-US" dirty="0"/>
            </a:br>
            <a:r>
              <a:rPr lang="en-US" dirty="0"/>
              <a:t>Differences-in-Differences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91805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764AB-7C86-6CCC-FF64-A9B821D07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DCEEA-8707-2CE3-7B5D-F7542CDE76A2}"/>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Estimating Equations</a:t>
            </a:r>
            <a:endParaRPr lang="en-US" sz="3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35D2E7A-AE8C-FEE1-ABC0-AB94D901C19B}"/>
              </a:ext>
            </a:extLst>
          </p:cNvPr>
          <p:cNvPicPr>
            <a:picLocks noChangeAspect="1"/>
          </p:cNvPicPr>
          <p:nvPr/>
        </p:nvPicPr>
        <p:blipFill>
          <a:blip r:embed="rId3"/>
          <a:stretch>
            <a:fillRect/>
          </a:stretch>
        </p:blipFill>
        <p:spPr>
          <a:xfrm>
            <a:off x="0" y="988736"/>
            <a:ext cx="11559435" cy="3082516"/>
          </a:xfrm>
          <a:prstGeom prst="rect">
            <a:avLst/>
          </a:prstGeom>
        </p:spPr>
      </p:pic>
      <p:sp>
        <p:nvSpPr>
          <p:cNvPr id="6" name="TextBox 5">
            <a:extLst>
              <a:ext uri="{FF2B5EF4-FFF2-40B4-BE49-F238E27FC236}">
                <a16:creationId xmlns:a16="http://schemas.microsoft.com/office/drawing/2014/main" id="{3930FE73-21AB-6425-7440-4AB19025E9E7}"/>
              </a:ext>
            </a:extLst>
          </p:cNvPr>
          <p:cNvSpPr txBox="1"/>
          <p:nvPr/>
        </p:nvSpPr>
        <p:spPr>
          <a:xfrm>
            <a:off x="457201" y="4343400"/>
            <a:ext cx="9829799"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Aptos" panose="020B0004020202020204" pitchFamily="34" charset="0"/>
              </a:rPr>
              <a:t>Let’s talk about fixed effects</a:t>
            </a:r>
          </a:p>
          <a:p>
            <a:pPr marL="285750" indent="-285750">
              <a:buFont typeface="Arial" panose="020B0604020202020204" pitchFamily="34" charset="0"/>
              <a:buChar char="•"/>
            </a:pPr>
            <a:r>
              <a:rPr lang="en-US" sz="2400" dirty="0">
                <a:latin typeface="Aptos" panose="020B0004020202020204" pitchFamily="34" charset="0"/>
              </a:rPr>
              <a:t>The equation identifies a </a:t>
            </a:r>
            <a:r>
              <a:rPr lang="en-US" sz="2400" b="1" dirty="0">
                <a:latin typeface="Aptos" panose="020B0004020202020204" pitchFamily="34" charset="0"/>
              </a:rPr>
              <a:t>parameter of interest</a:t>
            </a:r>
            <a:endParaRPr lang="en-US" sz="2400" dirty="0">
              <a:latin typeface="Aptos" panose="020B0004020202020204" pitchFamily="34" charset="0"/>
            </a:endParaRPr>
          </a:p>
          <a:p>
            <a:pPr marL="285750" indent="-285750">
              <a:buFont typeface="Arial" panose="020B0604020202020204" pitchFamily="34" charset="0"/>
              <a:buChar char="•"/>
            </a:pPr>
            <a:r>
              <a:rPr lang="en-US" sz="2400" dirty="0">
                <a:latin typeface="Aptos" panose="020B0004020202020204" pitchFamily="34" charset="0"/>
              </a:rPr>
              <a:t>How does this evolve to capture </a:t>
            </a:r>
            <a:r>
              <a:rPr lang="en-US" sz="2400" b="1" dirty="0">
                <a:latin typeface="Aptos" panose="020B0004020202020204" pitchFamily="34" charset="0"/>
              </a:rPr>
              <a:t>static vs. dynamic treatment effects? </a:t>
            </a:r>
            <a:r>
              <a:rPr lang="en-US" sz="2400" dirty="0">
                <a:latin typeface="Aptos" panose="020B0004020202020204" pitchFamily="34" charset="0"/>
              </a:rPr>
              <a:t>(in a few slides)</a:t>
            </a:r>
          </a:p>
        </p:txBody>
      </p:sp>
    </p:spTree>
    <p:extLst>
      <p:ext uri="{BB962C8B-B14F-4D97-AF65-F5344CB8AC3E}">
        <p14:creationId xmlns:p14="http://schemas.microsoft.com/office/powerpoint/2010/main" val="16462328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Moving beyond the 2x2 case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If you have multiple groups/time-periods, you can still do </a:t>
                </a:r>
                <a:r>
                  <a:rPr lang="en-US" sz="2400" dirty="0" err="1">
                    <a:cs typeface="Times New Roman" panose="02020603050405020304" pitchFamily="18" charset="0"/>
                  </a:rPr>
                  <a:t>DiD</a:t>
                </a:r>
                <a:r>
                  <a:rPr lang="en-US" sz="2400" dirty="0">
                    <a:cs typeface="Times New Roman" panose="02020603050405020304" pitchFamily="18" charset="0"/>
                  </a:rPr>
                  <a:t>!</a:t>
                </a:r>
              </a:p>
              <a:p>
                <a:r>
                  <a:rPr lang="en-US" sz="2400" dirty="0">
                    <a:cs typeface="Times New Roman" panose="02020603050405020304" pitchFamily="18" charset="0"/>
                  </a:rPr>
                  <a:t>We can exploit that many </a:t>
                </a:r>
                <a:r>
                  <a:rPr lang="en-US" sz="2400" b="1" dirty="0">
                    <a:solidFill>
                      <a:schemeClr val="accent2">
                        <a:lumMod val="75000"/>
                      </a:schemeClr>
                    </a:solidFill>
                    <a:cs typeface="Times New Roman" panose="02020603050405020304" pitchFamily="18" charset="0"/>
                  </a:rPr>
                  <a:t>group</a:t>
                </a:r>
                <a:r>
                  <a:rPr lang="en-US" sz="2400" b="1" dirty="0">
                    <a:cs typeface="Times New Roman" panose="02020603050405020304" pitchFamily="18" charset="0"/>
                  </a:rPr>
                  <a:t> </a:t>
                </a:r>
                <a:r>
                  <a:rPr lang="en-US" sz="2400" dirty="0">
                    <a:cs typeface="Times New Roman" panose="02020603050405020304" pitchFamily="18" charset="0"/>
                  </a:rPr>
                  <a:t>and </a:t>
                </a:r>
                <a:r>
                  <a:rPr lang="en-US" sz="2400" b="1" dirty="0">
                    <a:solidFill>
                      <a:schemeClr val="accent3">
                        <a:lumMod val="75000"/>
                      </a:schemeClr>
                    </a:solidFill>
                    <a:cs typeface="Times New Roman" panose="02020603050405020304" pitchFamily="18" charset="0"/>
                  </a:rPr>
                  <a:t>time</a:t>
                </a:r>
                <a:r>
                  <a:rPr lang="en-US" sz="2400" b="1" dirty="0">
                    <a:cs typeface="Times New Roman" panose="02020603050405020304" pitchFamily="18" charset="0"/>
                  </a:rPr>
                  <a:t> </a:t>
                </a:r>
                <a:r>
                  <a:rPr lang="en-US" sz="2400" dirty="0">
                    <a:cs typeface="Times New Roman" panose="02020603050405020304" pitchFamily="18" charset="0"/>
                  </a:rPr>
                  <a:t>characteristics only vary in one dimension: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𝛼</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𝑔</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3">
                                  <a:lumMod val="75000"/>
                                </a:schemeClr>
                              </a:solidFill>
                              <a:latin typeface="Cambria Math" panose="02040503050406030204" pitchFamily="18" charset="0"/>
                              <a:cs typeface="Times New Roman" panose="02020603050405020304" pitchFamily="18" charset="0"/>
                            </a:rPr>
                            <m:t>𝜏</m:t>
                          </m:r>
                        </m:e>
                        <m:sub>
                          <m:r>
                            <a:rPr lang="en-US" sz="2400" b="0" i="1" smtClean="0">
                              <a:solidFill>
                                <a:schemeClr val="accent3">
                                  <a:lumMod val="75000"/>
                                </a:schemeClr>
                              </a:solidFill>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𝑇𝑟𝑒𝑎𝑡𝑒</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𝑔</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𝑃𝑜𝑠</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𝑖𝑡</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Where: </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𝑔</m:t>
                        </m:r>
                      </m:sub>
                    </m:sSub>
                  </m:oMath>
                </a14:m>
                <a:r>
                  <a:rPr lang="en-US" sz="2400" dirty="0">
                    <a:cs typeface="Times New Roman" panose="02020603050405020304" pitchFamily="18" charset="0"/>
                  </a:rPr>
                  <a:t> is a group “fixed effect” </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𝜏</m:t>
                        </m:r>
                      </m:e>
                      <m:sub>
                        <m:r>
                          <a:rPr lang="en-US" sz="2400" b="0" i="1" smtClean="0">
                            <a:latin typeface="Cambria Math" panose="02040503050406030204" pitchFamily="18" charset="0"/>
                            <a:cs typeface="Times New Roman" panose="02020603050405020304" pitchFamily="18" charset="0"/>
                          </a:rPr>
                          <m:t>𝑡</m:t>
                        </m:r>
                      </m:sub>
                    </m:sSub>
                  </m:oMath>
                </a14:m>
                <a:r>
                  <a:rPr lang="en-US" sz="2400" dirty="0">
                    <a:cs typeface="Times New Roman" panose="02020603050405020304" pitchFamily="18" charset="0"/>
                  </a:rPr>
                  <a:t> is a time “fixed effect”</a:t>
                </a:r>
              </a:p>
              <a:p>
                <a:pPr lvl="1"/>
                <a:r>
                  <a:rPr lang="en-US" sz="2400" dirty="0">
                    <a:cs typeface="Times New Roman" panose="02020603050405020304" pitchFamily="18" charset="0"/>
                  </a:rPr>
                  <a:t>Hence, this is called a </a:t>
                </a:r>
                <a:r>
                  <a:rPr lang="en-US" sz="2400" u="sng" dirty="0">
                    <a:cs typeface="Times New Roman" panose="02020603050405020304" pitchFamily="18" charset="0"/>
                  </a:rPr>
                  <a:t>“two-way fixed-effects” estimator (TWFE)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913" t="-1305"/>
                </a:stretch>
              </a:blipFill>
            </p:spPr>
            <p:txBody>
              <a:bodyPr/>
              <a:lstStyle/>
              <a:p>
                <a:r>
                  <a:rPr lang="en-US">
                    <a:noFill/>
                  </a:rPr>
                  <a:t> </a:t>
                </a:r>
              </a:p>
            </p:txBody>
          </p:sp>
        </mc:Fallback>
      </mc:AlternateContent>
    </p:spTree>
    <p:extLst>
      <p:ext uri="{BB962C8B-B14F-4D97-AF65-F5344CB8AC3E}">
        <p14:creationId xmlns:p14="http://schemas.microsoft.com/office/powerpoint/2010/main" val="36514606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Moving beyond the 2x2 case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If you have multiple groups/time-periods, you can still do </a:t>
                </a:r>
                <a:r>
                  <a:rPr lang="en-US" sz="2400" dirty="0" err="1">
                    <a:cs typeface="Times New Roman" panose="02020603050405020304" pitchFamily="18" charset="0"/>
                  </a:rPr>
                  <a:t>DiD</a:t>
                </a:r>
                <a:r>
                  <a:rPr lang="en-US" sz="2400" dirty="0">
                    <a:cs typeface="Times New Roman" panose="02020603050405020304" pitchFamily="18" charset="0"/>
                  </a:rPr>
                  <a:t>!</a:t>
                </a:r>
              </a:p>
              <a:p>
                <a:r>
                  <a:rPr lang="en-US" sz="2400" dirty="0">
                    <a:cs typeface="Times New Roman" panose="02020603050405020304" pitchFamily="18" charset="0"/>
                  </a:rPr>
                  <a:t>We can exploit that many </a:t>
                </a:r>
                <a:r>
                  <a:rPr lang="en-US" sz="2400" b="1" dirty="0">
                    <a:solidFill>
                      <a:schemeClr val="accent2">
                        <a:lumMod val="75000"/>
                      </a:schemeClr>
                    </a:solidFill>
                    <a:cs typeface="Times New Roman" panose="02020603050405020304" pitchFamily="18" charset="0"/>
                  </a:rPr>
                  <a:t>group</a:t>
                </a:r>
                <a:r>
                  <a:rPr lang="en-US" sz="2400" b="1" dirty="0">
                    <a:cs typeface="Times New Roman" panose="02020603050405020304" pitchFamily="18" charset="0"/>
                  </a:rPr>
                  <a:t> </a:t>
                </a:r>
                <a:r>
                  <a:rPr lang="en-US" sz="2400" dirty="0">
                    <a:cs typeface="Times New Roman" panose="02020603050405020304" pitchFamily="18" charset="0"/>
                  </a:rPr>
                  <a:t>and </a:t>
                </a:r>
                <a:r>
                  <a:rPr lang="en-US" sz="2400" b="1" dirty="0">
                    <a:solidFill>
                      <a:schemeClr val="accent3">
                        <a:lumMod val="75000"/>
                      </a:schemeClr>
                    </a:solidFill>
                    <a:cs typeface="Times New Roman" panose="02020603050405020304" pitchFamily="18" charset="0"/>
                  </a:rPr>
                  <a:t>time</a:t>
                </a:r>
                <a:r>
                  <a:rPr lang="en-US" sz="2400" b="1" dirty="0">
                    <a:cs typeface="Times New Roman" panose="02020603050405020304" pitchFamily="18" charset="0"/>
                  </a:rPr>
                  <a:t> </a:t>
                </a:r>
                <a:r>
                  <a:rPr lang="en-US" sz="2400" dirty="0">
                    <a:cs typeface="Times New Roman" panose="02020603050405020304" pitchFamily="18" charset="0"/>
                  </a:rPr>
                  <a:t>characteristics only vary in one dimension: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𝛼</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𝑔</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3">
                                  <a:lumMod val="75000"/>
                                </a:schemeClr>
                              </a:solidFill>
                              <a:latin typeface="Cambria Math" panose="02040503050406030204" pitchFamily="18" charset="0"/>
                              <a:cs typeface="Times New Roman" panose="02020603050405020304" pitchFamily="18" charset="0"/>
                            </a:rPr>
                            <m:t>𝜏</m:t>
                          </m:r>
                        </m:e>
                        <m:sub>
                          <m:r>
                            <a:rPr lang="en-US" sz="2400" b="0" i="1" smtClean="0">
                              <a:solidFill>
                                <a:schemeClr val="accent3">
                                  <a:lumMod val="75000"/>
                                </a:schemeClr>
                              </a:solidFill>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𝑇𝑟𝑒𝑎𝑡𝑒</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𝑔</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𝑃𝑜𝑠</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𝑖𝑡</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Where: </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𝑔</m:t>
                        </m:r>
                      </m:sub>
                    </m:sSub>
                  </m:oMath>
                </a14:m>
                <a:r>
                  <a:rPr lang="en-US" sz="2400" dirty="0">
                    <a:cs typeface="Times New Roman" panose="02020603050405020304" pitchFamily="18" charset="0"/>
                  </a:rPr>
                  <a:t> is a group “fixed effect” </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𝜏</m:t>
                        </m:r>
                      </m:e>
                      <m:sub>
                        <m:r>
                          <a:rPr lang="en-US" sz="2400" b="0" i="1" smtClean="0">
                            <a:latin typeface="Cambria Math" panose="02040503050406030204" pitchFamily="18" charset="0"/>
                            <a:cs typeface="Times New Roman" panose="02020603050405020304" pitchFamily="18" charset="0"/>
                          </a:rPr>
                          <m:t>𝑡</m:t>
                        </m:r>
                      </m:sub>
                    </m:sSub>
                  </m:oMath>
                </a14:m>
                <a:r>
                  <a:rPr lang="en-US" sz="2400" dirty="0">
                    <a:cs typeface="Times New Roman" panose="02020603050405020304" pitchFamily="18" charset="0"/>
                  </a:rPr>
                  <a:t> is a time “fixed effect”</a:t>
                </a:r>
              </a:p>
              <a:p>
                <a:pPr lvl="1"/>
                <a:r>
                  <a:rPr lang="en-US" sz="2400" dirty="0">
                    <a:cs typeface="Times New Roman" panose="02020603050405020304" pitchFamily="18" charset="0"/>
                  </a:rPr>
                  <a:t>Hence, this is called a </a:t>
                </a:r>
                <a:r>
                  <a:rPr lang="en-US" sz="2400" u="sng" dirty="0">
                    <a:cs typeface="Times New Roman" panose="02020603050405020304" pitchFamily="18" charset="0"/>
                  </a:rPr>
                  <a:t>“two-way fixed-effects” estimator (TWFE)</a:t>
                </a:r>
              </a:p>
              <a:p>
                <a:r>
                  <a:rPr lang="en-US" sz="2400" dirty="0">
                    <a:cs typeface="Times New Roman" panose="02020603050405020304" pitchFamily="18" charset="0"/>
                  </a:rPr>
                  <a:t>Then </a:t>
                </a:r>
                <a:r>
                  <a:rPr lang="en-US" sz="2400" b="1" dirty="0">
                    <a:cs typeface="Times New Roman" panose="02020603050405020304" pitchFamily="18" charset="0"/>
                  </a:rPr>
                  <a:t>all time- and group-varying covariates </a:t>
                </a:r>
                <a:r>
                  <a:rPr lang="en-US" sz="2400" dirty="0">
                    <a:cs typeface="Times New Roman" panose="02020603050405020304" pitchFamily="18" charset="0"/>
                  </a:rPr>
                  <a:t>are absorbed in these effects!</a:t>
                </a:r>
              </a:p>
              <a:p>
                <a:pPr lvl="1"/>
                <a:r>
                  <a:rPr lang="en-US" sz="2400" dirty="0">
                    <a:cs typeface="Times New Roman" panose="02020603050405020304" pitchFamily="18" charset="0"/>
                  </a:rPr>
                  <a:t>Note that this means only control variables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r>
                  <a:rPr lang="en-US" sz="2400" dirty="0">
                    <a:cs typeface="Times New Roman" panose="02020603050405020304" pitchFamily="18" charset="0"/>
                  </a:rPr>
                  <a:t> you might include are </a:t>
                </a:r>
              </a:p>
              <a:p>
                <a:pPr lvl="1"/>
                <a:r>
                  <a:rPr lang="en-US" sz="2400" dirty="0">
                    <a:cs typeface="Times New Roman" panose="02020603050405020304" pitchFamily="18" charset="0"/>
                  </a:rPr>
                  <a:t>group-time varying. What does this mean in practice?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913" t="-1305"/>
                </a:stretch>
              </a:blipFill>
            </p:spPr>
            <p:txBody>
              <a:bodyPr/>
              <a:lstStyle/>
              <a:p>
                <a:r>
                  <a:rPr lang="en-US">
                    <a:noFill/>
                  </a:rPr>
                  <a:t> </a:t>
                </a:r>
              </a:p>
            </p:txBody>
          </p:sp>
        </mc:Fallback>
      </mc:AlternateContent>
    </p:spTree>
    <p:extLst>
      <p:ext uri="{BB962C8B-B14F-4D97-AF65-F5344CB8AC3E}">
        <p14:creationId xmlns:p14="http://schemas.microsoft.com/office/powerpoint/2010/main" val="1128128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80B2B-F8ED-85AD-9D83-66AEB8A0697A}"/>
              </a:ext>
            </a:extLst>
          </p:cNvPr>
          <p:cNvSpPr>
            <a:spLocks noGrp="1"/>
          </p:cNvSpPr>
          <p:nvPr>
            <p:ph type="title"/>
          </p:nvPr>
        </p:nvSpPr>
        <p:spPr>
          <a:xfrm>
            <a:off x="152400" y="365760"/>
            <a:ext cx="10802112" cy="548640"/>
          </a:xfrm>
        </p:spPr>
        <p:txBody>
          <a:bodyPr>
            <a:normAutofit fontScale="90000"/>
          </a:bodyPr>
          <a:lstStyle/>
          <a:p>
            <a:r>
              <a:rPr lang="en-US" dirty="0"/>
              <a:t>Case Study Results: Specification</a:t>
            </a:r>
          </a:p>
        </p:txBody>
      </p:sp>
      <p:sp>
        <p:nvSpPr>
          <p:cNvPr id="3" name="Content Placeholder 2">
            <a:extLst>
              <a:ext uri="{FF2B5EF4-FFF2-40B4-BE49-F238E27FC236}">
                <a16:creationId xmlns:a16="http://schemas.microsoft.com/office/drawing/2014/main" id="{1873A5D2-B6FF-BD27-9F6E-4014509F9DA7}"/>
              </a:ext>
            </a:extLst>
          </p:cNvPr>
          <p:cNvSpPr>
            <a:spLocks noGrp="1"/>
          </p:cNvSpPr>
          <p:nvPr>
            <p:ph idx="1"/>
          </p:nvPr>
        </p:nvSpPr>
        <p:spPr>
          <a:xfrm>
            <a:off x="381000" y="914400"/>
            <a:ext cx="10573512" cy="5486400"/>
          </a:xfrm>
        </p:spPr>
        <p:txBody>
          <a:bodyPr>
            <a:normAutofit/>
          </a:bodyPr>
          <a:lstStyle/>
          <a:p>
            <a:r>
              <a:rPr lang="en-US" sz="2400" dirty="0"/>
              <a:t>What’s the estimating equation? </a:t>
            </a:r>
          </a:p>
          <a:p>
            <a:r>
              <a:rPr lang="en-US" sz="2400" dirty="0"/>
              <a:t>How did the authors handle this? Did you like it? Did you believe their robustness checks?</a:t>
            </a:r>
          </a:p>
        </p:txBody>
      </p:sp>
    </p:spTree>
    <p:extLst>
      <p:ext uri="{BB962C8B-B14F-4D97-AF65-F5344CB8AC3E}">
        <p14:creationId xmlns:p14="http://schemas.microsoft.com/office/powerpoint/2010/main" val="9812900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695AE-B21A-2895-41CF-4E28F6CEEB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16384-4982-6CE9-49DD-7EBE26575C7D}"/>
              </a:ext>
            </a:extLst>
          </p:cNvPr>
          <p:cNvSpPr>
            <a:spLocks noGrp="1"/>
          </p:cNvSpPr>
          <p:nvPr>
            <p:ph type="title"/>
          </p:nvPr>
        </p:nvSpPr>
        <p:spPr>
          <a:xfrm>
            <a:off x="152400" y="365760"/>
            <a:ext cx="10802112" cy="548640"/>
          </a:xfrm>
        </p:spPr>
        <p:txBody>
          <a:bodyPr>
            <a:normAutofit fontScale="90000"/>
          </a:bodyPr>
          <a:lstStyle/>
          <a:p>
            <a:r>
              <a:rPr lang="en-US" dirty="0"/>
              <a:t>Case Study Results</a:t>
            </a:r>
          </a:p>
        </p:txBody>
      </p:sp>
      <p:sp>
        <p:nvSpPr>
          <p:cNvPr id="3" name="Content Placeholder 2">
            <a:extLst>
              <a:ext uri="{FF2B5EF4-FFF2-40B4-BE49-F238E27FC236}">
                <a16:creationId xmlns:a16="http://schemas.microsoft.com/office/drawing/2014/main" id="{C3A4D6B5-5353-F80A-82D3-B64F8173856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863855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208DD-46B2-8032-49D3-BC5CD2CED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ACCF5A-A4B6-9FE3-819A-BDC9B6331215}"/>
              </a:ext>
            </a:extLst>
          </p:cNvPr>
          <p:cNvSpPr>
            <a:spLocks noGrp="1"/>
          </p:cNvSpPr>
          <p:nvPr>
            <p:ph type="ctrTitle"/>
          </p:nvPr>
        </p:nvSpPr>
        <p:spPr>
          <a:xfrm>
            <a:off x="1261872" y="758952"/>
            <a:ext cx="10549128" cy="4041648"/>
          </a:xfrm>
        </p:spPr>
        <p:txBody>
          <a:bodyPr/>
          <a:lstStyle/>
          <a:p>
            <a:r>
              <a:rPr lang="en-US" dirty="0"/>
              <a:t>Dynamic </a:t>
            </a:r>
            <a:br>
              <a:rPr lang="en-US" dirty="0"/>
            </a:br>
            <a:r>
              <a:rPr lang="en-US" dirty="0"/>
              <a:t>Differences-in-Differences</a:t>
            </a:r>
          </a:p>
        </p:txBody>
      </p:sp>
      <p:sp>
        <p:nvSpPr>
          <p:cNvPr id="3" name="Subtitle 2">
            <a:extLst>
              <a:ext uri="{FF2B5EF4-FFF2-40B4-BE49-F238E27FC236}">
                <a16:creationId xmlns:a16="http://schemas.microsoft.com/office/drawing/2014/main" id="{3DE6F141-EF9B-6817-1F2D-1BFF4AF7AD4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881355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Dynamic Treatment Effects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r>
              <a:rPr lang="en-US" sz="2400" dirty="0">
                <a:cs typeface="Times New Roman" panose="02020603050405020304" pitchFamily="18" charset="0"/>
              </a:rPr>
              <a:t>In the 2x2 case, we had a clear before/after</a:t>
            </a:r>
          </a:p>
          <a:p>
            <a:r>
              <a:rPr lang="en-US" sz="2400" dirty="0">
                <a:cs typeface="Times New Roman" panose="02020603050405020304" pitchFamily="18" charset="0"/>
              </a:rPr>
              <a:t>But do we really expect policy to have the same effects: 	</a:t>
            </a:r>
          </a:p>
          <a:p>
            <a:pPr lvl="1"/>
            <a:r>
              <a:rPr lang="en-US" sz="2400" dirty="0">
                <a:cs typeface="Times New Roman" panose="02020603050405020304" pitchFamily="18" charset="0"/>
              </a:rPr>
              <a:t>One month after implementation? </a:t>
            </a:r>
          </a:p>
          <a:p>
            <a:pPr lvl="1"/>
            <a:r>
              <a:rPr lang="en-US" sz="2400" dirty="0">
                <a:cs typeface="Times New Roman" panose="02020603050405020304" pitchFamily="18" charset="0"/>
              </a:rPr>
              <a:t>One year after implementation? </a:t>
            </a:r>
          </a:p>
          <a:p>
            <a:pPr lvl="1"/>
            <a:r>
              <a:rPr lang="en-US" sz="2400" dirty="0">
                <a:cs typeface="Times New Roman" panose="02020603050405020304" pitchFamily="18" charset="0"/>
              </a:rPr>
              <a:t>Ten years after implementation? </a:t>
            </a:r>
          </a:p>
          <a:p>
            <a:pPr lvl="1"/>
            <a:endParaRPr lang="en-US" sz="2400" dirty="0">
              <a:cs typeface="Times New Roman" panose="02020603050405020304" pitchFamily="18" charset="0"/>
            </a:endParaRPr>
          </a:p>
        </p:txBody>
      </p:sp>
    </p:spTree>
    <p:extLst>
      <p:ext uri="{BB962C8B-B14F-4D97-AF65-F5344CB8AC3E}">
        <p14:creationId xmlns:p14="http://schemas.microsoft.com/office/powerpoint/2010/main" val="23422717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Dynamic Treatment Effects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Autofit/>
              </a:bodyPr>
              <a:lstStyle/>
              <a:p>
                <a:r>
                  <a:rPr lang="en-US" sz="2400" dirty="0">
                    <a:cs typeface="Times New Roman" panose="02020603050405020304" pitchFamily="18" charset="0"/>
                  </a:rPr>
                  <a:t>In the 2x2 case, we had a clear before/after</a:t>
                </a:r>
              </a:p>
              <a:p>
                <a:r>
                  <a:rPr lang="en-US" sz="2400" dirty="0">
                    <a:cs typeface="Times New Roman" panose="02020603050405020304" pitchFamily="18" charset="0"/>
                  </a:rPr>
                  <a:t>But do we really expect policy to have the same effects over time?</a:t>
                </a:r>
              </a:p>
              <a:p>
                <a:r>
                  <a:rPr lang="en-US" sz="2400" dirty="0">
                    <a:cs typeface="Times New Roman" panose="02020603050405020304" pitchFamily="18" charset="0"/>
                  </a:rPr>
                  <a:t>Sometimes we want to recover </a:t>
                </a:r>
                <a:r>
                  <a:rPr lang="en-US" sz="2400" b="1" dirty="0">
                    <a:cs typeface="Times New Roman" panose="02020603050405020304" pitchFamily="18" charset="0"/>
                  </a:rPr>
                  <a:t>how treatment effect varies with time</a:t>
                </a:r>
              </a:p>
              <a:p>
                <a:pPr lvl="1"/>
                <a:r>
                  <a:rPr lang="en-US" sz="2400" dirty="0">
                    <a:cs typeface="Times New Roman" panose="02020603050405020304" pitchFamily="18" charset="0"/>
                  </a:rPr>
                  <a:t>This is a </a:t>
                </a:r>
                <a:r>
                  <a:rPr lang="en-US" sz="2400" b="1" dirty="0">
                    <a:solidFill>
                      <a:schemeClr val="accent2">
                        <a:lumMod val="75000"/>
                      </a:schemeClr>
                    </a:solidFill>
                    <a:cs typeface="Times New Roman" panose="02020603050405020304" pitchFamily="18" charset="0"/>
                  </a:rPr>
                  <a:t>dynamic treatment effect</a:t>
                </a:r>
              </a:p>
              <a:p>
                <a:pPr lvl="1"/>
                <a:r>
                  <a:rPr lang="en-US" sz="2400" dirty="0">
                    <a:cs typeface="Times New Roman" panose="02020603050405020304" pitchFamily="18" charset="0"/>
                  </a:rPr>
                  <a:t>We can do this (kind of) with difference-in-differences!</a:t>
                </a:r>
              </a:p>
              <a:p>
                <a:r>
                  <a:rPr lang="en-US" sz="2400" dirty="0">
                    <a:cs typeface="Times New Roman" panose="02020603050405020304" pitchFamily="18" charset="0"/>
                  </a:rPr>
                  <a:t>We can estimate period-specific effects in a </a:t>
                </a:r>
                <a:r>
                  <a:rPr lang="en-US" sz="2400" b="1" dirty="0">
                    <a:cs typeface="Times New Roman" panose="02020603050405020304" pitchFamily="18" charset="0"/>
                  </a:rPr>
                  <a:t>recentered time series: </a:t>
                </a:r>
                <a:endParaRPr lang="en-US" sz="2400" dirty="0">
                  <a:cs typeface="Times New Roman" panose="02020603050405020304" pitchFamily="18" charset="0"/>
                </a:endParaRPr>
              </a:p>
              <a:p>
                <a:pPr marL="731520" lvl="1" indent="-457200">
                  <a:buFont typeface="+mj-lt"/>
                  <a:buAutoNum type="arabicPeriod"/>
                </a:pPr>
                <a:r>
                  <a:rPr lang="en-US" sz="2400" dirty="0">
                    <a:cs typeface="Times New Roman" panose="02020603050405020304" pitchFamily="18" charset="0"/>
                  </a:rPr>
                  <a:t>Recenter time variable so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𝑃𝑒𝑟𝑖𝑜𝑑</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𝑖𝑚𝑝𝑙𝑒𝑚𝑒𝑛𝑡𝑎𝑡𝑖𝑜𝑛</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a:t>
                </a:r>
              </a:p>
              <a:p>
                <a:pPr marL="731520" lvl="1" indent="-457200">
                  <a:buFont typeface="+mj-lt"/>
                  <a:buAutoNum type="arabicPeriod"/>
                </a:pPr>
                <a:r>
                  <a:rPr lang="en-US" sz="2400" dirty="0">
                    <a:cs typeface="Times New Roman" panose="02020603050405020304" pitchFamily="18" charset="0"/>
                  </a:rPr>
                  <a:t>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𝑇</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𝑁</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𝑁</m:t>
                    </m:r>
                    <m:r>
                      <a:rPr lang="en-US" sz="2400" b="0" i="1" smtClean="0">
                        <a:latin typeface="Cambria Math" panose="02040503050406030204" pitchFamily="18" charset="0"/>
                        <a:cs typeface="Times New Roman" panose="02020603050405020304" pitchFamily="18" charset="0"/>
                      </a:rPr>
                      <m:t>+1, …, −1, 0, 1, …, </m:t>
                    </m:r>
                    <m:r>
                      <a:rPr lang="en-US" sz="2400" b="0" i="1" smtClean="0">
                        <a:latin typeface="Cambria Math" panose="02040503050406030204" pitchFamily="18" charset="0"/>
                        <a:cs typeface="Times New Roman" panose="02020603050405020304" pitchFamily="18" charset="0"/>
                      </a:rPr>
                      <m:t>𝑁</m:t>
                    </m:r>
                    <m:r>
                      <m:rPr>
                        <m:lit/>
                      </m:rP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marL="731520" lvl="1" indent="-457200">
                  <a:buFont typeface="+mj-lt"/>
                  <a:buAutoNum type="arabicPeriod"/>
                </a:pPr>
                <a:r>
                  <a:rPr lang="en-US" sz="2400" dirty="0">
                    <a:cs typeface="Times New Roman" panose="02020603050405020304" pitchFamily="18" charset="0"/>
                  </a:rPr>
                  <a:t>Run a TWFE specification 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𝑇𝑟𝑒𝑎𝑡𝑒𝑑</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𝑃𝑜𝑠𝑡</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is replaced with </a:t>
                </a:r>
                <a14:m>
                  <m:oMath xmlns:m="http://schemas.openxmlformats.org/officeDocument/2006/math">
                    <m:nary>
                      <m:naryPr>
                        <m:chr m:val="∑"/>
                        <m:supHide m:val="on"/>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𝑡</m:t>
                        </m:r>
                      </m:sub>
                      <m:sup/>
                      <m:e>
                        <m:r>
                          <a:rPr lang="en-US" sz="2400" b="0" i="1" smtClean="0">
                            <a:latin typeface="Cambria Math" panose="02040503050406030204" pitchFamily="18" charset="0"/>
                            <a:cs typeface="Times New Roman" panose="02020603050405020304" pitchFamily="18" charset="0"/>
                          </a:rPr>
                          <m:t>𝑇𝑟𝑒𝑎𝑡𝑒𝑑</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𝐸</m:t>
                            </m:r>
                          </m:e>
                          <m:sub>
                            <m:r>
                              <a:rPr lang="en-US" sz="2400" b="0" i="1" smtClean="0">
                                <a:latin typeface="Cambria Math" panose="02040503050406030204" pitchFamily="18" charset="0"/>
                                <a:cs typeface="Times New Roman" panose="02020603050405020304" pitchFamily="18" charset="0"/>
                              </a:rPr>
                              <m:t>𝑡</m:t>
                            </m:r>
                          </m:sub>
                        </m:sSub>
                      </m:e>
                    </m:nary>
                  </m:oMath>
                </a14:m>
                <a:endParaRPr lang="en-US" sz="2400" dirty="0">
                  <a:cs typeface="Times New Roman" panose="02020603050405020304" pitchFamily="18" charset="0"/>
                </a:endParaRP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b="-4152"/>
                </a:stretch>
              </a:blipFill>
            </p:spPr>
            <p:txBody>
              <a:bodyPr/>
              <a:lstStyle/>
              <a:p>
                <a:r>
                  <a:rPr lang="en-US">
                    <a:noFill/>
                  </a:rPr>
                  <a:t> </a:t>
                </a:r>
              </a:p>
            </p:txBody>
          </p:sp>
        </mc:Fallback>
      </mc:AlternateContent>
    </p:spTree>
    <p:extLst>
      <p:ext uri="{BB962C8B-B14F-4D97-AF65-F5344CB8AC3E}">
        <p14:creationId xmlns:p14="http://schemas.microsoft.com/office/powerpoint/2010/main" val="343718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6262A-E8A8-38D3-1028-BD06B032D7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CC341-956E-0F62-932F-2B316E6706B5}"/>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Estimating Equations</a:t>
            </a:r>
            <a:endParaRPr lang="en-US" sz="3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E1763F0-02A2-F9A2-EB99-41A5D5CFC4D9}"/>
              </a:ext>
            </a:extLst>
          </p:cNvPr>
          <p:cNvSpPr txBox="1"/>
          <p:nvPr/>
        </p:nvSpPr>
        <p:spPr>
          <a:xfrm>
            <a:off x="457200" y="4343400"/>
            <a:ext cx="9922332"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latin typeface="Aptos" panose="020B0004020202020204" pitchFamily="34" charset="0"/>
              </a:rPr>
              <a:t>Let’s talk about fixed effects</a:t>
            </a:r>
          </a:p>
          <a:p>
            <a:pPr marL="285750" indent="-285750">
              <a:buFont typeface="Arial" panose="020B0604020202020204" pitchFamily="34" charset="0"/>
              <a:buChar char="•"/>
            </a:pPr>
            <a:r>
              <a:rPr lang="en-US" sz="2400" dirty="0">
                <a:latin typeface="Aptos" panose="020B0004020202020204" pitchFamily="34" charset="0"/>
              </a:rPr>
              <a:t>The equation identifies a </a:t>
            </a:r>
            <a:r>
              <a:rPr lang="en-US" sz="2400" b="1" dirty="0">
                <a:latin typeface="Aptos" panose="020B0004020202020204" pitchFamily="34" charset="0"/>
              </a:rPr>
              <a:t>parameter of interest</a:t>
            </a:r>
            <a:endParaRPr lang="en-US" sz="2400" dirty="0">
              <a:latin typeface="Aptos" panose="020B0004020202020204" pitchFamily="34" charset="0"/>
            </a:endParaRPr>
          </a:p>
          <a:p>
            <a:pPr marL="285750" indent="-285750">
              <a:buFont typeface="Arial" panose="020B0604020202020204" pitchFamily="34" charset="0"/>
              <a:buChar char="•"/>
            </a:pPr>
            <a:r>
              <a:rPr lang="en-US" sz="2400" dirty="0">
                <a:latin typeface="Aptos" panose="020B0004020202020204" pitchFamily="34" charset="0"/>
              </a:rPr>
              <a:t>How does this evolve to capture </a:t>
            </a:r>
            <a:r>
              <a:rPr lang="en-US" sz="2400" b="1" dirty="0">
                <a:latin typeface="Aptos" panose="020B0004020202020204" pitchFamily="34" charset="0"/>
              </a:rPr>
              <a:t>static vs. dynamic treatment effects?</a:t>
            </a:r>
            <a:endParaRPr lang="en-US" sz="2400" dirty="0">
              <a:latin typeface="Aptos" panose="020B0004020202020204" pitchFamily="34" charset="0"/>
            </a:endParaRPr>
          </a:p>
        </p:txBody>
      </p:sp>
      <p:pic>
        <p:nvPicPr>
          <p:cNvPr id="4" name="Picture 3">
            <a:extLst>
              <a:ext uri="{FF2B5EF4-FFF2-40B4-BE49-F238E27FC236}">
                <a16:creationId xmlns:a16="http://schemas.microsoft.com/office/drawing/2014/main" id="{5D6D8457-0898-8955-50CC-E1350500A22D}"/>
              </a:ext>
            </a:extLst>
          </p:cNvPr>
          <p:cNvPicPr>
            <a:picLocks noChangeAspect="1"/>
          </p:cNvPicPr>
          <p:nvPr/>
        </p:nvPicPr>
        <p:blipFill>
          <a:blip r:embed="rId3"/>
          <a:stretch>
            <a:fillRect/>
          </a:stretch>
        </p:blipFill>
        <p:spPr>
          <a:xfrm>
            <a:off x="304800" y="905881"/>
            <a:ext cx="11854070" cy="3313250"/>
          </a:xfrm>
          <a:prstGeom prst="rect">
            <a:avLst/>
          </a:prstGeom>
        </p:spPr>
      </p:pic>
    </p:spTree>
    <p:extLst>
      <p:ext uri="{BB962C8B-B14F-4D97-AF65-F5344CB8AC3E}">
        <p14:creationId xmlns:p14="http://schemas.microsoft.com/office/powerpoint/2010/main" val="20765163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Dynamic Treatment Effects in TWFE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𝑔𝑡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𝑔</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𝜏</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nary>
                            <m:naryPr>
                              <m:chr m:val="∑"/>
                              <m:supHide m:val="on"/>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𝑡</m:t>
                              </m:r>
                            </m:sub>
                            <m:sup/>
                            <m:e>
                              <m:r>
                                <a:rPr lang="en-US" sz="2400" b="0" i="1" smtClean="0">
                                  <a:latin typeface="Cambria Math" panose="02040503050406030204" pitchFamily="18" charset="0"/>
                                  <a:cs typeface="Times New Roman" panose="02020603050405020304" pitchFamily="18" charset="0"/>
                                </a:rPr>
                                <m:t>𝑇𝑟𝑒𝑎𝑡𝑒</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𝑔</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𝐸</m:t>
                                  </m:r>
                                </m:e>
                                <m:sub>
                                  <m:r>
                                    <a:rPr lang="en-US" sz="2400" b="0" i="1" smtClean="0">
                                      <a:latin typeface="Cambria Math" panose="02040503050406030204" pitchFamily="18" charset="0"/>
                                      <a:cs typeface="Times New Roman" panose="02020603050405020304" pitchFamily="18" charset="0"/>
                                    </a:rPr>
                                    <m:t>𝑡</m:t>
                                  </m:r>
                                </m:sub>
                              </m:sSub>
                            </m:e>
                          </m:nary>
                        </m:e>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𝑔𝑡</m:t>
                          </m:r>
                        </m:sub>
                      </m:sSub>
                    </m:oMath>
                  </m:oMathPara>
                </a14:m>
                <a:endParaRPr lang="en-US" sz="2400" dirty="0">
                  <a:cs typeface="Times New Roman" panose="02020603050405020304" pitchFamily="18" charset="0"/>
                </a:endParaRPr>
              </a:p>
              <a:p>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𝐸</m:t>
                        </m:r>
                      </m:e>
                      <m:sub>
                        <m:r>
                          <a:rPr lang="en-US" sz="2400" b="0" i="1" smtClean="0">
                            <a:latin typeface="Cambria Math" panose="02040503050406030204" pitchFamily="18" charset="0"/>
                            <a:cs typeface="Times New Roman" panose="02020603050405020304" pitchFamily="18" charset="0"/>
                          </a:rPr>
                          <m:t>𝑡</m:t>
                        </m:r>
                      </m:sub>
                    </m:sSub>
                  </m:oMath>
                </a14:m>
                <a:r>
                  <a:rPr lang="en-US" sz="2400" dirty="0">
                    <a:cs typeface="Times New Roman" panose="02020603050405020304" pitchFamily="18" charset="0"/>
                  </a:rPr>
                  <a:t> is a dummy variable for each (relative) time dummy</a:t>
                </a:r>
              </a:p>
              <a:p>
                <a:r>
                  <a:rPr lang="en-US" sz="2400" dirty="0">
                    <a:cs typeface="Times New Roman" panose="02020603050405020304" pitchFamily="18" charset="0"/>
                  </a:rPr>
                  <a:t>Dummy variable trap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leave out one dummy (usually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𝑇</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a:t>
                </a:r>
              </a:p>
              <a:p>
                <a:pPr lvl="1"/>
                <a:r>
                  <a:rPr lang="en-US" sz="2400" dirty="0">
                    <a:cs typeface="Times New Roman" panose="02020603050405020304" pitchFamily="18" charset="0"/>
                  </a:rPr>
                  <a:t>This changes the interpretation of our results (do you remember how?)</a:t>
                </a:r>
              </a:p>
              <a:p>
                <a:r>
                  <a:rPr lang="en-US" sz="2400" dirty="0">
                    <a:cs typeface="Times New Roman" panose="02020603050405020304" pitchFamily="18" charset="0"/>
                  </a:rPr>
                  <a:t>Estimates will be less precise (can you see why?)</a:t>
                </a:r>
              </a:p>
              <a:p>
                <a:pPr marL="0" indent="0">
                  <a:buNone/>
                </a:pPr>
                <a:r>
                  <a:rPr lang="en-US" sz="2400" b="1" dirty="0">
                    <a:solidFill>
                      <a:schemeClr val="accent3">
                        <a:lumMod val="75000"/>
                      </a:schemeClr>
                    </a:solidFill>
                    <a:cs typeface="Times New Roman" panose="02020603050405020304" pitchFamily="18" charset="0"/>
                  </a:rPr>
                  <a:t>What should we expect about our results?</a:t>
                </a:r>
              </a:p>
              <a:p>
                <a:r>
                  <a:rPr lang="en-US" sz="2400" dirty="0">
                    <a:solidFill>
                      <a:schemeClr val="tx1"/>
                    </a:solidFill>
                    <a:cs typeface="Times New Roman" panose="02020603050405020304" pitchFamily="18" charset="0"/>
                  </a:rPr>
                  <a:t>Before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𝑇</m:t>
                    </m:r>
                    <m:r>
                      <a:rPr lang="en-US" sz="2400" b="0" i="1" smtClean="0">
                        <a:solidFill>
                          <a:schemeClr val="tx1"/>
                        </a:solidFill>
                        <a:latin typeface="Cambria Math" panose="02040503050406030204" pitchFamily="18" charset="0"/>
                        <a:cs typeface="Times New Roman" panose="02020603050405020304" pitchFamily="18" charset="0"/>
                      </a:rPr>
                      <m:t>=0</m:t>
                    </m:r>
                  </m:oMath>
                </a14:m>
                <a:r>
                  <a:rPr lang="en-US" sz="2400" dirty="0">
                    <a:solidFill>
                      <a:schemeClr val="tx1"/>
                    </a:solidFill>
                    <a:cs typeface="Times New Roman" panose="02020603050405020304" pitchFamily="18" charset="0"/>
                  </a:rPr>
                  <a:t>?</a:t>
                </a:r>
              </a:p>
              <a:p>
                <a:r>
                  <a:rPr lang="en-US" sz="2400" dirty="0">
                    <a:solidFill>
                      <a:schemeClr val="tx1"/>
                    </a:solidFill>
                    <a:cs typeface="Times New Roman" panose="02020603050405020304" pitchFamily="18" charset="0"/>
                  </a:rPr>
                  <a:t>After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𝑇</m:t>
                    </m:r>
                    <m:r>
                      <a:rPr lang="en-US" sz="2400" b="0" i="1" smtClean="0">
                        <a:solidFill>
                          <a:schemeClr val="tx1"/>
                        </a:solidFill>
                        <a:latin typeface="Cambria Math" panose="02040503050406030204" pitchFamily="18" charset="0"/>
                        <a:cs typeface="Times New Roman" panose="02020603050405020304" pitchFamily="18" charset="0"/>
                      </a:rPr>
                      <m:t>=0</m:t>
                    </m:r>
                  </m:oMath>
                </a14:m>
                <a:r>
                  <a:rPr lang="en-US" sz="2400" dirty="0">
                    <a:solidFill>
                      <a:schemeClr val="tx1"/>
                    </a:solidFill>
                    <a:cs typeface="Times New Roman" panose="02020603050405020304" pitchFamily="18" charset="0"/>
                  </a:rPr>
                  <a:t>?</a:t>
                </a:r>
              </a:p>
              <a:p>
                <a:r>
                  <a:rPr lang="en-US" sz="2400" dirty="0">
                    <a:solidFill>
                      <a:schemeClr val="tx1"/>
                    </a:solidFill>
                    <a:cs typeface="Times New Roman" panose="02020603050405020304" pitchFamily="18" charset="0"/>
                  </a:rPr>
                  <a:t>As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𝑇</m:t>
                    </m:r>
                    <m:r>
                      <a:rPr lang="en-US"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a:t>
                </a:r>
                <a:endParaRPr lang="en-US" sz="2400" dirty="0">
                  <a:solidFill>
                    <a:schemeClr val="accent3">
                      <a:lumMod val="75000"/>
                    </a:schemeClr>
                  </a:solidFill>
                  <a:cs typeface="Times New Roman" panose="02020603050405020304" pitchFamily="18" charset="0"/>
                </a:endParaRP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972" b="-474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8E235F05-06F1-16AA-6E42-DDEA7C1B85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6718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Dynamic Treatment Effects in TWFE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pPr marL="274320" lvl="1" indent="0">
              <a:buNone/>
            </a:pPr>
            <a:r>
              <a:rPr lang="en-US" sz="2400" dirty="0">
                <a:cs typeface="Times New Roman" panose="02020603050405020304" pitchFamily="18" charset="0"/>
              </a:rPr>
              <a:t>What do we </a:t>
            </a:r>
            <a:r>
              <a:rPr lang="en-US" sz="2400" i="1" dirty="0">
                <a:cs typeface="Times New Roman" panose="02020603050405020304" pitchFamily="18" charset="0"/>
              </a:rPr>
              <a:t>hope </a:t>
            </a:r>
            <a:r>
              <a:rPr lang="en-US" sz="2400" dirty="0">
                <a:cs typeface="Times New Roman" panose="02020603050405020304" pitchFamily="18" charset="0"/>
              </a:rPr>
              <a:t>to find an a TWFE plot? </a:t>
            </a:r>
          </a:p>
        </p:txBody>
      </p:sp>
      <p:pic>
        <p:nvPicPr>
          <p:cNvPr id="5" name="Picture 4">
            <a:extLst>
              <a:ext uri="{FF2B5EF4-FFF2-40B4-BE49-F238E27FC236}">
                <a16:creationId xmlns:a16="http://schemas.microsoft.com/office/drawing/2014/main" id="{CED26A1D-DF14-3C88-8B26-04D499516E03}"/>
              </a:ext>
            </a:extLst>
          </p:cNvPr>
          <p:cNvPicPr>
            <a:picLocks noChangeAspect="1"/>
          </p:cNvPicPr>
          <p:nvPr/>
        </p:nvPicPr>
        <p:blipFill>
          <a:blip r:embed="rId3"/>
          <a:stretch>
            <a:fillRect/>
          </a:stretch>
        </p:blipFill>
        <p:spPr>
          <a:xfrm>
            <a:off x="1676400" y="1524000"/>
            <a:ext cx="7315200" cy="5209047"/>
          </a:xfrm>
          <a:prstGeom prst="rect">
            <a:avLst/>
          </a:prstGeom>
        </p:spPr>
      </p:pic>
      <p:cxnSp>
        <p:nvCxnSpPr>
          <p:cNvPr id="8" name="Straight Arrow Connector 7">
            <a:extLst>
              <a:ext uri="{FF2B5EF4-FFF2-40B4-BE49-F238E27FC236}">
                <a16:creationId xmlns:a16="http://schemas.microsoft.com/office/drawing/2014/main" id="{33370568-FFCA-F228-083B-E76A69AD6AF1}"/>
              </a:ext>
            </a:extLst>
          </p:cNvPr>
          <p:cNvCxnSpPr/>
          <p:nvPr/>
        </p:nvCxnSpPr>
        <p:spPr>
          <a:xfrm flipH="1" flipV="1">
            <a:off x="3124200" y="3810000"/>
            <a:ext cx="304800" cy="685800"/>
          </a:xfrm>
          <a:prstGeom prst="straightConnector1">
            <a:avLst/>
          </a:prstGeom>
          <a:ln w="381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AEA1055-1DB9-C030-0AAA-269F3763B2FD}"/>
              </a:ext>
            </a:extLst>
          </p:cNvPr>
          <p:cNvSpPr txBox="1"/>
          <p:nvPr/>
        </p:nvSpPr>
        <p:spPr>
          <a:xfrm>
            <a:off x="2895600" y="4572000"/>
            <a:ext cx="2236510" cy="646331"/>
          </a:xfrm>
          <a:prstGeom prst="rect">
            <a:avLst/>
          </a:prstGeom>
          <a:solidFill>
            <a:schemeClr val="accent3">
              <a:lumMod val="20000"/>
              <a:lumOff val="80000"/>
            </a:schemeClr>
          </a:solidFill>
        </p:spPr>
        <p:txBody>
          <a:bodyPr wrap="none" rtlCol="0">
            <a:spAutoFit/>
          </a:bodyPr>
          <a:lstStyle/>
          <a:p>
            <a:r>
              <a:rPr lang="en-US" dirty="0"/>
              <a:t>Treated dummy * </a:t>
            </a:r>
          </a:p>
          <a:p>
            <a:r>
              <a:rPr lang="en-US" dirty="0"/>
              <a:t>dummy for Q42010</a:t>
            </a:r>
          </a:p>
        </p:txBody>
      </p:sp>
    </p:spTree>
    <p:extLst>
      <p:ext uri="{BB962C8B-B14F-4D97-AF65-F5344CB8AC3E}">
        <p14:creationId xmlns:p14="http://schemas.microsoft.com/office/powerpoint/2010/main" val="24998913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2FCD9-5439-5769-AC8B-252790BFD1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ABFB3-19F4-82B3-3DAB-4DA512A78D11}"/>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Dynamic Treatment Effects in TWFE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501BA0-B9FA-62C6-0059-6D4BB6AA3CFD}"/>
              </a:ext>
            </a:extLst>
          </p:cNvPr>
          <p:cNvSpPr>
            <a:spLocks noGrp="1"/>
          </p:cNvSpPr>
          <p:nvPr>
            <p:ph idx="1"/>
          </p:nvPr>
        </p:nvSpPr>
        <p:spPr>
          <a:xfrm>
            <a:off x="1219199" y="1066801"/>
            <a:ext cx="9405791" cy="5141388"/>
          </a:xfrm>
        </p:spPr>
        <p:txBody>
          <a:bodyPr>
            <a:noAutofit/>
          </a:bodyPr>
          <a:lstStyle/>
          <a:p>
            <a:pPr marL="274320" lvl="1" indent="0">
              <a:buNone/>
            </a:pPr>
            <a:r>
              <a:rPr lang="en-US" sz="2400" dirty="0">
                <a:cs typeface="Times New Roman" panose="02020603050405020304" pitchFamily="18" charset="0"/>
              </a:rPr>
              <a:t>What do we </a:t>
            </a:r>
            <a:r>
              <a:rPr lang="en-US" sz="2400" i="1" dirty="0">
                <a:cs typeface="Times New Roman" panose="02020603050405020304" pitchFamily="18" charset="0"/>
              </a:rPr>
              <a:t>hope </a:t>
            </a:r>
            <a:r>
              <a:rPr lang="en-US" sz="2400" dirty="0">
                <a:cs typeface="Times New Roman" panose="02020603050405020304" pitchFamily="18" charset="0"/>
              </a:rPr>
              <a:t>to find an a TWFE plot? </a:t>
            </a:r>
          </a:p>
        </p:txBody>
      </p:sp>
      <p:pic>
        <p:nvPicPr>
          <p:cNvPr id="5" name="Picture 4">
            <a:extLst>
              <a:ext uri="{FF2B5EF4-FFF2-40B4-BE49-F238E27FC236}">
                <a16:creationId xmlns:a16="http://schemas.microsoft.com/office/drawing/2014/main" id="{215FCE70-99EB-830D-7074-7A595046E420}"/>
              </a:ext>
            </a:extLst>
          </p:cNvPr>
          <p:cNvPicPr>
            <a:picLocks noChangeAspect="1"/>
          </p:cNvPicPr>
          <p:nvPr/>
        </p:nvPicPr>
        <p:blipFill>
          <a:blip r:embed="rId3"/>
          <a:stretch>
            <a:fillRect/>
          </a:stretch>
        </p:blipFill>
        <p:spPr>
          <a:xfrm>
            <a:off x="1676400" y="1524000"/>
            <a:ext cx="7315200" cy="5209047"/>
          </a:xfrm>
          <a:prstGeom prst="rect">
            <a:avLst/>
          </a:prstGeom>
        </p:spPr>
      </p:pic>
      <p:cxnSp>
        <p:nvCxnSpPr>
          <p:cNvPr id="8" name="Straight Arrow Connector 7">
            <a:extLst>
              <a:ext uri="{FF2B5EF4-FFF2-40B4-BE49-F238E27FC236}">
                <a16:creationId xmlns:a16="http://schemas.microsoft.com/office/drawing/2014/main" id="{DB48F489-21DE-EF3A-25F4-12E1F456D213}"/>
              </a:ext>
            </a:extLst>
          </p:cNvPr>
          <p:cNvCxnSpPr>
            <a:cxnSpLocks/>
          </p:cNvCxnSpPr>
          <p:nvPr/>
        </p:nvCxnSpPr>
        <p:spPr>
          <a:xfrm flipV="1">
            <a:off x="3429000" y="2895600"/>
            <a:ext cx="609600" cy="1600200"/>
          </a:xfrm>
          <a:prstGeom prst="straightConnector1">
            <a:avLst/>
          </a:prstGeom>
          <a:ln w="381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E91DB0E-8FC7-0D37-7A5E-686748C8552B}"/>
              </a:ext>
            </a:extLst>
          </p:cNvPr>
          <p:cNvSpPr txBox="1"/>
          <p:nvPr/>
        </p:nvSpPr>
        <p:spPr>
          <a:xfrm>
            <a:off x="2895600" y="4572000"/>
            <a:ext cx="2223750" cy="646331"/>
          </a:xfrm>
          <a:prstGeom prst="rect">
            <a:avLst/>
          </a:prstGeom>
          <a:solidFill>
            <a:schemeClr val="accent3">
              <a:lumMod val="20000"/>
              <a:lumOff val="80000"/>
            </a:schemeClr>
          </a:solidFill>
        </p:spPr>
        <p:txBody>
          <a:bodyPr wrap="none" rtlCol="0">
            <a:spAutoFit/>
          </a:bodyPr>
          <a:lstStyle/>
          <a:p>
            <a:r>
              <a:rPr lang="en-US" dirty="0"/>
              <a:t>Treated dummy * </a:t>
            </a:r>
          </a:p>
          <a:p>
            <a:r>
              <a:rPr lang="en-US" dirty="0"/>
              <a:t>dummy for Q12011</a:t>
            </a:r>
          </a:p>
        </p:txBody>
      </p:sp>
    </p:spTree>
    <p:extLst>
      <p:ext uri="{BB962C8B-B14F-4D97-AF65-F5344CB8AC3E}">
        <p14:creationId xmlns:p14="http://schemas.microsoft.com/office/powerpoint/2010/main" val="2284653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FC23B-2B74-BE99-527C-0B004B213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556BA-5CE8-610F-2F85-3F49470F649D}"/>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Dynamic Treatment Effects in TWFE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2DF693-E4D1-7B3C-35C4-082649D95B02}"/>
              </a:ext>
            </a:extLst>
          </p:cNvPr>
          <p:cNvSpPr>
            <a:spLocks noGrp="1"/>
          </p:cNvSpPr>
          <p:nvPr>
            <p:ph idx="1"/>
          </p:nvPr>
        </p:nvSpPr>
        <p:spPr>
          <a:xfrm>
            <a:off x="1219199" y="1066801"/>
            <a:ext cx="9405791" cy="5141388"/>
          </a:xfrm>
        </p:spPr>
        <p:txBody>
          <a:bodyPr>
            <a:noAutofit/>
          </a:bodyPr>
          <a:lstStyle/>
          <a:p>
            <a:pPr marL="274320" lvl="1" indent="0">
              <a:buNone/>
            </a:pPr>
            <a:r>
              <a:rPr lang="en-US" sz="2400" dirty="0">
                <a:cs typeface="Times New Roman" panose="02020603050405020304" pitchFamily="18" charset="0"/>
              </a:rPr>
              <a:t>What do we </a:t>
            </a:r>
            <a:r>
              <a:rPr lang="en-US" sz="2400" i="1" dirty="0">
                <a:cs typeface="Times New Roman" panose="02020603050405020304" pitchFamily="18" charset="0"/>
              </a:rPr>
              <a:t>hope </a:t>
            </a:r>
            <a:r>
              <a:rPr lang="en-US" sz="2400" dirty="0">
                <a:cs typeface="Times New Roman" panose="02020603050405020304" pitchFamily="18" charset="0"/>
              </a:rPr>
              <a:t>to find an a TWFE plot? </a:t>
            </a:r>
          </a:p>
        </p:txBody>
      </p:sp>
      <p:pic>
        <p:nvPicPr>
          <p:cNvPr id="5" name="Picture 4">
            <a:extLst>
              <a:ext uri="{FF2B5EF4-FFF2-40B4-BE49-F238E27FC236}">
                <a16:creationId xmlns:a16="http://schemas.microsoft.com/office/drawing/2014/main" id="{23B1C4DF-7F5E-E82F-ACEE-D818B3DAAED2}"/>
              </a:ext>
            </a:extLst>
          </p:cNvPr>
          <p:cNvPicPr>
            <a:picLocks noChangeAspect="1"/>
          </p:cNvPicPr>
          <p:nvPr/>
        </p:nvPicPr>
        <p:blipFill>
          <a:blip r:embed="rId3"/>
          <a:stretch>
            <a:fillRect/>
          </a:stretch>
        </p:blipFill>
        <p:spPr>
          <a:xfrm>
            <a:off x="1676400" y="1524000"/>
            <a:ext cx="7315200" cy="5209047"/>
          </a:xfrm>
          <a:prstGeom prst="rect">
            <a:avLst/>
          </a:prstGeom>
        </p:spPr>
      </p:pic>
      <p:cxnSp>
        <p:nvCxnSpPr>
          <p:cNvPr id="8" name="Straight Arrow Connector 7">
            <a:extLst>
              <a:ext uri="{FF2B5EF4-FFF2-40B4-BE49-F238E27FC236}">
                <a16:creationId xmlns:a16="http://schemas.microsoft.com/office/drawing/2014/main" id="{FE45A650-C595-4EDC-765D-FFB4989BD174}"/>
              </a:ext>
            </a:extLst>
          </p:cNvPr>
          <p:cNvCxnSpPr>
            <a:cxnSpLocks/>
          </p:cNvCxnSpPr>
          <p:nvPr/>
        </p:nvCxnSpPr>
        <p:spPr>
          <a:xfrm flipV="1">
            <a:off x="3429000" y="2819400"/>
            <a:ext cx="1524000" cy="1676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608A44-267E-F2BD-BFCE-B6F3213A8551}"/>
              </a:ext>
            </a:extLst>
          </p:cNvPr>
          <p:cNvSpPr txBox="1"/>
          <p:nvPr/>
        </p:nvSpPr>
        <p:spPr>
          <a:xfrm>
            <a:off x="2895600" y="4572000"/>
            <a:ext cx="2869696" cy="369332"/>
          </a:xfrm>
          <a:prstGeom prst="rect">
            <a:avLst/>
          </a:prstGeom>
          <a:solidFill>
            <a:srgbClr val="FF0000"/>
          </a:solidFill>
        </p:spPr>
        <p:txBody>
          <a:bodyPr wrap="none" rtlCol="0">
            <a:spAutoFit/>
          </a:bodyPr>
          <a:lstStyle/>
          <a:p>
            <a:r>
              <a:rPr lang="en-US" dirty="0"/>
              <a:t>Omitted reference group!</a:t>
            </a:r>
          </a:p>
        </p:txBody>
      </p:sp>
    </p:spTree>
    <p:extLst>
      <p:ext uri="{BB962C8B-B14F-4D97-AF65-F5344CB8AC3E}">
        <p14:creationId xmlns:p14="http://schemas.microsoft.com/office/powerpoint/2010/main" val="36905371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6C761-8C4D-88DD-DFAF-99DF7D762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C5B74-43CD-896C-6B19-A845266B935F}"/>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Dynamic Treatment Effects in TWFE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7ED6F2-8BE1-E376-DF86-12EA9AA9745F}"/>
              </a:ext>
            </a:extLst>
          </p:cNvPr>
          <p:cNvSpPr>
            <a:spLocks noGrp="1"/>
          </p:cNvSpPr>
          <p:nvPr>
            <p:ph idx="1"/>
          </p:nvPr>
        </p:nvSpPr>
        <p:spPr>
          <a:xfrm>
            <a:off x="1219199" y="1066801"/>
            <a:ext cx="9405791" cy="5141388"/>
          </a:xfrm>
        </p:spPr>
        <p:txBody>
          <a:bodyPr>
            <a:noAutofit/>
          </a:bodyPr>
          <a:lstStyle/>
          <a:p>
            <a:pPr marL="274320" lvl="1" indent="0">
              <a:buNone/>
            </a:pPr>
            <a:r>
              <a:rPr lang="en-US" sz="2400" dirty="0">
                <a:cs typeface="Times New Roman" panose="02020603050405020304" pitchFamily="18" charset="0"/>
              </a:rPr>
              <a:t>What do we </a:t>
            </a:r>
            <a:r>
              <a:rPr lang="en-US" sz="2400" i="1" dirty="0">
                <a:cs typeface="Times New Roman" panose="02020603050405020304" pitchFamily="18" charset="0"/>
              </a:rPr>
              <a:t>hope </a:t>
            </a:r>
            <a:r>
              <a:rPr lang="en-US" sz="2400" dirty="0">
                <a:cs typeface="Times New Roman" panose="02020603050405020304" pitchFamily="18" charset="0"/>
              </a:rPr>
              <a:t>to find an a TWFE plot? </a:t>
            </a:r>
          </a:p>
        </p:txBody>
      </p:sp>
      <p:pic>
        <p:nvPicPr>
          <p:cNvPr id="5" name="Picture 4">
            <a:extLst>
              <a:ext uri="{FF2B5EF4-FFF2-40B4-BE49-F238E27FC236}">
                <a16:creationId xmlns:a16="http://schemas.microsoft.com/office/drawing/2014/main" id="{82FD6325-56EA-48A1-1284-AE64A11F81AF}"/>
              </a:ext>
            </a:extLst>
          </p:cNvPr>
          <p:cNvPicPr>
            <a:picLocks noChangeAspect="1"/>
          </p:cNvPicPr>
          <p:nvPr/>
        </p:nvPicPr>
        <p:blipFill>
          <a:blip r:embed="rId3"/>
          <a:stretch>
            <a:fillRect/>
          </a:stretch>
        </p:blipFill>
        <p:spPr>
          <a:xfrm>
            <a:off x="1676400" y="1524000"/>
            <a:ext cx="7315200" cy="5209047"/>
          </a:xfrm>
          <a:prstGeom prst="rect">
            <a:avLst/>
          </a:prstGeom>
        </p:spPr>
      </p:pic>
      <p:cxnSp>
        <p:nvCxnSpPr>
          <p:cNvPr id="8" name="Straight Arrow Connector 7">
            <a:extLst>
              <a:ext uri="{FF2B5EF4-FFF2-40B4-BE49-F238E27FC236}">
                <a16:creationId xmlns:a16="http://schemas.microsoft.com/office/drawing/2014/main" id="{3E198D51-2628-5C90-E934-4C8AF5F7DE3D}"/>
              </a:ext>
            </a:extLst>
          </p:cNvPr>
          <p:cNvCxnSpPr>
            <a:cxnSpLocks/>
          </p:cNvCxnSpPr>
          <p:nvPr/>
        </p:nvCxnSpPr>
        <p:spPr>
          <a:xfrm flipV="1">
            <a:off x="3429000" y="4343400"/>
            <a:ext cx="2493094" cy="152400"/>
          </a:xfrm>
          <a:prstGeom prst="straightConnector1">
            <a:avLst/>
          </a:prstGeom>
          <a:ln w="381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3C759EE-E025-017E-275F-06E2F285BE55}"/>
              </a:ext>
            </a:extLst>
          </p:cNvPr>
          <p:cNvSpPr txBox="1"/>
          <p:nvPr/>
        </p:nvSpPr>
        <p:spPr>
          <a:xfrm>
            <a:off x="2895600" y="4572000"/>
            <a:ext cx="2172454" cy="646331"/>
          </a:xfrm>
          <a:prstGeom prst="rect">
            <a:avLst/>
          </a:prstGeom>
          <a:solidFill>
            <a:schemeClr val="accent3">
              <a:lumMod val="20000"/>
              <a:lumOff val="80000"/>
            </a:schemeClr>
          </a:solidFill>
        </p:spPr>
        <p:txBody>
          <a:bodyPr wrap="none" rtlCol="0">
            <a:spAutoFit/>
          </a:bodyPr>
          <a:lstStyle/>
          <a:p>
            <a:r>
              <a:rPr lang="en-US" dirty="0"/>
              <a:t>Treated dummy * </a:t>
            </a:r>
          </a:p>
          <a:p>
            <a:r>
              <a:rPr lang="en-US" dirty="0"/>
              <a:t>dummy for 312011</a:t>
            </a:r>
          </a:p>
        </p:txBody>
      </p:sp>
    </p:spTree>
    <p:extLst>
      <p:ext uri="{BB962C8B-B14F-4D97-AF65-F5344CB8AC3E}">
        <p14:creationId xmlns:p14="http://schemas.microsoft.com/office/powerpoint/2010/main" val="35959720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TWFE with Staggered Timing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lvl="1"/>
            <a:r>
              <a:rPr lang="en-US" sz="2400" dirty="0">
                <a:cs typeface="Times New Roman" panose="02020603050405020304" pitchFamily="18" charset="0"/>
              </a:rPr>
              <a:t>This approach can also be used when </a:t>
            </a:r>
            <a:r>
              <a:rPr lang="en-US" sz="2400" b="1" dirty="0">
                <a:cs typeface="Times New Roman" panose="02020603050405020304" pitchFamily="18" charset="0"/>
              </a:rPr>
              <a:t>there are multiple treatment groups</a:t>
            </a:r>
          </a:p>
          <a:p>
            <a:pPr lvl="2"/>
            <a:r>
              <a:rPr lang="en-US" sz="2400" dirty="0">
                <a:cs typeface="Times New Roman" panose="02020603050405020304" pitchFamily="18" charset="0"/>
              </a:rPr>
              <a:t>E.g., more than one type of vaccine lottery</a:t>
            </a:r>
          </a:p>
          <a:p>
            <a:pPr lvl="2"/>
            <a:r>
              <a:rPr lang="en-US" sz="2400" dirty="0">
                <a:cs typeface="Times New Roman" panose="02020603050405020304" pitchFamily="18" charset="0"/>
              </a:rPr>
              <a:t>Can estimate even if timing is non-uniform (e.g., </a:t>
            </a:r>
            <a:r>
              <a:rPr lang="en-US" sz="2400" b="1" dirty="0">
                <a:cs typeface="Times New Roman" panose="02020603050405020304" pitchFamily="18" charset="0"/>
              </a:rPr>
              <a:t>staggered adoption</a:t>
            </a:r>
            <a:r>
              <a:rPr lang="en-US" sz="2400" dirty="0">
                <a:cs typeface="Times New Roman" panose="02020603050405020304" pitchFamily="18" charset="0"/>
              </a:rPr>
              <a:t>) </a:t>
            </a:r>
          </a:p>
          <a:p>
            <a:pPr marL="548640" lvl="2" indent="0">
              <a:buNone/>
            </a:pPr>
            <a:endParaRPr lang="en-US" sz="2400" dirty="0">
              <a:cs typeface="Times New Roman" panose="02020603050405020304" pitchFamily="18" charset="0"/>
            </a:endParaRPr>
          </a:p>
          <a:p>
            <a:pPr lvl="1"/>
            <a:r>
              <a:rPr lang="en-US" sz="2400" dirty="0">
                <a:cs typeface="Times New Roman" panose="02020603050405020304" pitchFamily="18" charset="0"/>
              </a:rPr>
              <a:t>This is really common in literature, but has several problems: </a:t>
            </a:r>
          </a:p>
          <a:p>
            <a:pPr marL="731520" lvl="1" indent="-457200">
              <a:buFont typeface="+mj-lt"/>
              <a:buAutoNum type="arabicPeriod"/>
            </a:pPr>
            <a:r>
              <a:rPr lang="en-US" sz="2400" dirty="0">
                <a:cs typeface="Times New Roman" panose="02020603050405020304" pitchFamily="18" charset="0"/>
              </a:rPr>
              <a:t>With multiple treated groups, you basically estimate many 2x2 DIDs </a:t>
            </a:r>
          </a:p>
          <a:p>
            <a:pPr marL="731520" lvl="1" indent="-457200">
              <a:buFont typeface="+mj-lt"/>
              <a:buAutoNum type="arabicPeriod"/>
            </a:pPr>
            <a:r>
              <a:rPr lang="en-US" sz="2400" dirty="0">
                <a:cs typeface="Times New Roman" panose="02020603050405020304" pitchFamily="18" charset="0"/>
              </a:rPr>
              <a:t>When timing is staggered, sometimes treated groups are used as untreated comparisons </a:t>
            </a:r>
          </a:p>
          <a:p>
            <a:pPr marL="731520" lvl="1" indent="-457200">
              <a:buFont typeface="+mj-lt"/>
              <a:buAutoNum type="arabicPeriod"/>
            </a:pPr>
            <a:r>
              <a:rPr lang="en-US" sz="2400" dirty="0">
                <a:cs typeface="Times New Roman" panose="02020603050405020304" pitchFamily="18" charset="0"/>
              </a:rPr>
              <a:t>If there’s variation in treatment effect across groups/time, then #1 and #2 imply that parallel trends are violated! </a:t>
            </a:r>
          </a:p>
          <a:p>
            <a:pPr lvl="1"/>
            <a:endParaRPr lang="en-US" sz="2400" dirty="0">
              <a:cs typeface="Times New Roman" panose="02020603050405020304" pitchFamily="18" charset="0"/>
            </a:endParaRPr>
          </a:p>
          <a:p>
            <a:pPr marL="731520" lvl="1" indent="-457200">
              <a:buFont typeface="+mj-lt"/>
              <a:buAutoNum type="arabicPeriod"/>
            </a:pPr>
            <a:endParaRPr lang="en-US" sz="2400" dirty="0">
              <a:cs typeface="Times New Roman" panose="02020603050405020304" pitchFamily="18" charset="0"/>
            </a:endParaRPr>
          </a:p>
        </p:txBody>
      </p:sp>
    </p:spTree>
    <p:extLst>
      <p:ext uri="{BB962C8B-B14F-4D97-AF65-F5344CB8AC3E}">
        <p14:creationId xmlns:p14="http://schemas.microsoft.com/office/powerpoint/2010/main" val="3850701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TWFE with Staggered Timing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1" y="1066800"/>
            <a:ext cx="10515600" cy="5141388"/>
          </a:xfrm>
        </p:spPr>
        <p:txBody>
          <a:bodyPr>
            <a:noAutofit/>
          </a:bodyPr>
          <a:lstStyle/>
          <a:p>
            <a:pPr lvl="1"/>
            <a:r>
              <a:rPr lang="en-US" sz="2400" dirty="0">
                <a:cs typeface="Times New Roman" panose="02020603050405020304" pitchFamily="18" charset="0"/>
              </a:rPr>
              <a:t>This approach can also be used when </a:t>
            </a:r>
            <a:r>
              <a:rPr lang="en-US" sz="2400" b="1" dirty="0">
                <a:cs typeface="Times New Roman" panose="02020603050405020304" pitchFamily="18" charset="0"/>
              </a:rPr>
              <a:t>there are multiple treatment groups</a:t>
            </a:r>
          </a:p>
          <a:p>
            <a:pPr marL="274320" lvl="1" indent="0">
              <a:buNone/>
            </a:pPr>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This is really common in literature, but has several problems: </a:t>
            </a:r>
          </a:p>
          <a:p>
            <a:pPr marL="731520" lvl="1" indent="-457200">
              <a:buFont typeface="+mj-lt"/>
              <a:buAutoNum type="arabicPeriod"/>
            </a:pPr>
            <a:r>
              <a:rPr lang="en-US" sz="2400" dirty="0">
                <a:cs typeface="Times New Roman" panose="02020603050405020304" pitchFamily="18" charset="0"/>
              </a:rPr>
              <a:t>With multiple treated groups, you basically estimate many 2x2 DIDs </a:t>
            </a:r>
          </a:p>
          <a:p>
            <a:pPr marL="731520" lvl="1" indent="-457200">
              <a:buFont typeface="+mj-lt"/>
              <a:buAutoNum type="arabicPeriod"/>
            </a:pPr>
            <a:r>
              <a:rPr lang="en-US" sz="2400" dirty="0">
                <a:cs typeface="Times New Roman" panose="02020603050405020304" pitchFamily="18" charset="0"/>
              </a:rPr>
              <a:t>When timing is staggered, treated groups are used as comparisons </a:t>
            </a:r>
          </a:p>
          <a:p>
            <a:pPr marL="731520" lvl="1" indent="-457200">
              <a:buFont typeface="+mj-lt"/>
              <a:buAutoNum type="arabicPeriod"/>
            </a:pPr>
            <a:r>
              <a:rPr lang="en-US" sz="2400" dirty="0">
                <a:cs typeface="Times New Roman" panose="02020603050405020304" pitchFamily="18" charset="0"/>
              </a:rPr>
              <a:t>If there’s variation in treatment effect across groups/time, then #1 and #2 imply that parallel trends are violated! </a:t>
            </a:r>
          </a:p>
          <a:p>
            <a:pPr marL="274320" lvl="1" indent="0">
              <a:buNone/>
            </a:pPr>
            <a:endParaRPr lang="en-US" sz="2400" dirty="0">
              <a:cs typeface="Times New Roman" panose="02020603050405020304" pitchFamily="18" charset="0"/>
            </a:endParaRPr>
          </a:p>
          <a:p>
            <a:pPr marL="274320" lvl="1" indent="0">
              <a:buNone/>
            </a:pPr>
            <a:r>
              <a:rPr lang="en-US" sz="2400" dirty="0">
                <a:solidFill>
                  <a:schemeClr val="accent2">
                    <a:lumMod val="75000"/>
                  </a:schemeClr>
                </a:solidFill>
                <a:cs typeface="Times New Roman" panose="02020603050405020304" pitchFamily="18" charset="0"/>
              </a:rPr>
              <a:t>This “contamination” ends up assigning sometimes </a:t>
            </a:r>
            <a:r>
              <a:rPr lang="en-US" sz="2400" b="1" dirty="0">
                <a:solidFill>
                  <a:schemeClr val="accent2">
                    <a:lumMod val="75000"/>
                  </a:schemeClr>
                </a:solidFill>
                <a:cs typeface="Times New Roman" panose="02020603050405020304" pitchFamily="18" charset="0"/>
              </a:rPr>
              <a:t>negative weights </a:t>
            </a:r>
            <a:r>
              <a:rPr lang="en-US" sz="2400" dirty="0">
                <a:solidFill>
                  <a:schemeClr val="accent2">
                    <a:lumMod val="75000"/>
                  </a:schemeClr>
                </a:solidFill>
                <a:cs typeface="Times New Roman" panose="02020603050405020304" pitchFamily="18" charset="0"/>
              </a:rPr>
              <a:t>to some of the DIDs in your estimation – what does a negative weight mean? </a:t>
            </a:r>
          </a:p>
          <a:p>
            <a:pPr marL="274320" lvl="1" indent="0">
              <a:buNone/>
            </a:pPr>
            <a:endParaRPr lang="en-US" sz="2400" b="1" dirty="0">
              <a:solidFill>
                <a:schemeClr val="accent2">
                  <a:lumMod val="75000"/>
                </a:schemeClr>
              </a:solidFill>
              <a:cs typeface="Times New Roman" panose="02020603050405020304" pitchFamily="18" charset="0"/>
            </a:endParaRPr>
          </a:p>
          <a:p>
            <a:pPr marL="274320" lvl="1" indent="0">
              <a:buNone/>
            </a:pPr>
            <a:r>
              <a:rPr lang="en-US" sz="2400" b="1" dirty="0">
                <a:solidFill>
                  <a:schemeClr val="accent2">
                    <a:lumMod val="75000"/>
                  </a:schemeClr>
                </a:solidFill>
                <a:cs typeface="Times New Roman" panose="02020603050405020304" pitchFamily="18" charset="0"/>
              </a:rPr>
              <a:t>The good news: there are LOTS of new estimators you can use</a:t>
            </a:r>
          </a:p>
        </p:txBody>
      </p:sp>
      <p:pic>
        <p:nvPicPr>
          <p:cNvPr id="4" name="Picture 2" descr="RStudio - RStudio">
            <a:extLst>
              <a:ext uri="{FF2B5EF4-FFF2-40B4-BE49-F238E27FC236}">
                <a16:creationId xmlns:a16="http://schemas.microsoft.com/office/drawing/2014/main" id="{8E235F05-06F1-16AA-6E42-DDEA7C1B85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98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1812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E6A0D-9794-BE20-1E44-55000CEA66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BE0D4-F7AD-2F95-D254-22A2C94626E6}"/>
              </a:ext>
            </a:extLst>
          </p:cNvPr>
          <p:cNvSpPr>
            <a:spLocks noGrp="1"/>
          </p:cNvSpPr>
          <p:nvPr>
            <p:ph type="title"/>
          </p:nvPr>
        </p:nvSpPr>
        <p:spPr>
          <a:xfrm>
            <a:off x="152400" y="365760"/>
            <a:ext cx="10802112" cy="548640"/>
          </a:xfrm>
        </p:spPr>
        <p:txBody>
          <a:bodyPr>
            <a:normAutofit fontScale="90000"/>
          </a:bodyPr>
          <a:lstStyle/>
          <a:p>
            <a:r>
              <a:rPr lang="en-US" dirty="0"/>
              <a:t>Case Study Results </a:t>
            </a:r>
          </a:p>
        </p:txBody>
      </p:sp>
      <p:sp>
        <p:nvSpPr>
          <p:cNvPr id="3" name="Content Placeholder 2">
            <a:extLst>
              <a:ext uri="{FF2B5EF4-FFF2-40B4-BE49-F238E27FC236}">
                <a16:creationId xmlns:a16="http://schemas.microsoft.com/office/drawing/2014/main" id="{737FE455-E350-A7D5-4099-1ACC07D0CA4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442035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A266B-1B38-268A-6C0E-1CAD18816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73C5A-FFD7-2269-3378-92481904D5B4}"/>
              </a:ext>
            </a:extLst>
          </p:cNvPr>
          <p:cNvSpPr>
            <a:spLocks noGrp="1"/>
          </p:cNvSpPr>
          <p:nvPr>
            <p:ph type="title"/>
          </p:nvPr>
        </p:nvSpPr>
        <p:spPr>
          <a:xfrm>
            <a:off x="152400" y="365760"/>
            <a:ext cx="10802112" cy="548640"/>
          </a:xfrm>
        </p:spPr>
        <p:txBody>
          <a:bodyPr>
            <a:normAutofit fontScale="90000"/>
          </a:bodyPr>
          <a:lstStyle/>
          <a:p>
            <a:r>
              <a:rPr lang="en-US" dirty="0"/>
              <a:t>Case Study Results: Parallel Trends</a:t>
            </a:r>
          </a:p>
        </p:txBody>
      </p:sp>
      <p:sp>
        <p:nvSpPr>
          <p:cNvPr id="3" name="Content Placeholder 2">
            <a:extLst>
              <a:ext uri="{FF2B5EF4-FFF2-40B4-BE49-F238E27FC236}">
                <a16:creationId xmlns:a16="http://schemas.microsoft.com/office/drawing/2014/main" id="{940D9EFF-8384-1588-5B25-B7F42CBE0559}"/>
              </a:ext>
            </a:extLst>
          </p:cNvPr>
          <p:cNvSpPr>
            <a:spLocks noGrp="1"/>
          </p:cNvSpPr>
          <p:nvPr>
            <p:ph idx="1"/>
          </p:nvPr>
        </p:nvSpPr>
        <p:spPr>
          <a:xfrm>
            <a:off x="381000" y="914400"/>
            <a:ext cx="10573512" cy="5486400"/>
          </a:xfrm>
        </p:spPr>
        <p:txBody>
          <a:bodyPr>
            <a:normAutofit/>
          </a:bodyPr>
          <a:lstStyle/>
          <a:p>
            <a:pPr marL="0" indent="0">
              <a:buNone/>
            </a:pPr>
            <a:r>
              <a:rPr lang="en-US" sz="2400" dirty="0"/>
              <a:t>Two ways to “test” parallel trends here: </a:t>
            </a:r>
          </a:p>
          <a:p>
            <a:pPr marL="457200" indent="-457200">
              <a:buAutoNum type="arabicPeriod"/>
            </a:pPr>
            <a:r>
              <a:rPr lang="en-US" sz="2400" dirty="0"/>
              <a:t>Testing for “selection on observables” effects: this is like a balance table in a matching estimation!</a:t>
            </a:r>
          </a:p>
          <a:p>
            <a:pPr lvl="1"/>
            <a:r>
              <a:rPr lang="en-US" sz="2400" dirty="0"/>
              <a:t>What did they do to account for the fact that differences might have been taking place at a community/county level?</a:t>
            </a:r>
          </a:p>
        </p:txBody>
      </p:sp>
      <p:pic>
        <p:nvPicPr>
          <p:cNvPr id="5" name="Picture 4">
            <a:extLst>
              <a:ext uri="{FF2B5EF4-FFF2-40B4-BE49-F238E27FC236}">
                <a16:creationId xmlns:a16="http://schemas.microsoft.com/office/drawing/2014/main" id="{09625612-A9B8-EB42-D4B9-0E5D11B31900}"/>
              </a:ext>
            </a:extLst>
          </p:cNvPr>
          <p:cNvPicPr>
            <a:picLocks noChangeAspect="1"/>
          </p:cNvPicPr>
          <p:nvPr/>
        </p:nvPicPr>
        <p:blipFill>
          <a:blip r:embed="rId3"/>
          <a:stretch>
            <a:fillRect/>
          </a:stretch>
        </p:blipFill>
        <p:spPr>
          <a:xfrm>
            <a:off x="5715000" y="2743200"/>
            <a:ext cx="4824062" cy="3886200"/>
          </a:xfrm>
          <a:prstGeom prst="rect">
            <a:avLst/>
          </a:prstGeom>
        </p:spPr>
      </p:pic>
    </p:spTree>
    <p:extLst>
      <p:ext uri="{BB962C8B-B14F-4D97-AF65-F5344CB8AC3E}">
        <p14:creationId xmlns:p14="http://schemas.microsoft.com/office/powerpoint/2010/main" val="28620354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47FDA-69B2-3F62-5DC9-A8D396201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382FD-E4C2-F87B-906B-641EAB0EDBDB}"/>
              </a:ext>
            </a:extLst>
          </p:cNvPr>
          <p:cNvSpPr>
            <a:spLocks noGrp="1"/>
          </p:cNvSpPr>
          <p:nvPr>
            <p:ph type="title"/>
          </p:nvPr>
        </p:nvSpPr>
        <p:spPr>
          <a:xfrm>
            <a:off x="152400" y="365760"/>
            <a:ext cx="10802112" cy="548640"/>
          </a:xfrm>
        </p:spPr>
        <p:txBody>
          <a:bodyPr>
            <a:normAutofit fontScale="90000"/>
          </a:bodyPr>
          <a:lstStyle/>
          <a:p>
            <a:r>
              <a:rPr lang="en-US" dirty="0"/>
              <a:t>Case Study Results: Parallel Trends</a:t>
            </a:r>
          </a:p>
        </p:txBody>
      </p:sp>
      <p:sp>
        <p:nvSpPr>
          <p:cNvPr id="3" name="Content Placeholder 2">
            <a:extLst>
              <a:ext uri="{FF2B5EF4-FFF2-40B4-BE49-F238E27FC236}">
                <a16:creationId xmlns:a16="http://schemas.microsoft.com/office/drawing/2014/main" id="{70E7927B-040C-F94B-34A6-93462006768B}"/>
              </a:ext>
            </a:extLst>
          </p:cNvPr>
          <p:cNvSpPr>
            <a:spLocks noGrp="1"/>
          </p:cNvSpPr>
          <p:nvPr>
            <p:ph idx="1"/>
          </p:nvPr>
        </p:nvSpPr>
        <p:spPr>
          <a:xfrm>
            <a:off x="381000" y="914400"/>
            <a:ext cx="10573512" cy="5486400"/>
          </a:xfrm>
        </p:spPr>
        <p:txBody>
          <a:bodyPr>
            <a:normAutofit/>
          </a:bodyPr>
          <a:lstStyle/>
          <a:p>
            <a:pPr marL="0" indent="0">
              <a:buNone/>
            </a:pPr>
            <a:r>
              <a:rPr lang="en-US" sz="2400" dirty="0"/>
              <a:t>Two ways to “test” parallel trends here: </a:t>
            </a:r>
          </a:p>
          <a:p>
            <a:pPr marL="457200" indent="-457200">
              <a:buAutoNum type="arabicPeriod"/>
            </a:pPr>
            <a:r>
              <a:rPr lang="en-US" sz="2400" dirty="0"/>
              <a:t>Testing for “selection on observables” effects: this is like a balance table in a matching estimation!</a:t>
            </a:r>
          </a:p>
          <a:p>
            <a:pPr lvl="1"/>
            <a:r>
              <a:rPr lang="en-US" sz="2400" dirty="0"/>
              <a:t>What did they do to account for the fact that differences might have been taking place at a community/county level?</a:t>
            </a:r>
          </a:p>
          <a:p>
            <a:pPr marL="0" indent="0">
              <a:buNone/>
            </a:pPr>
            <a:r>
              <a:rPr lang="en-US" sz="2400" dirty="0"/>
              <a:t>2. Dynamic treatment effects – look for pre-event effects/differences</a:t>
            </a:r>
          </a:p>
        </p:txBody>
      </p:sp>
      <p:pic>
        <p:nvPicPr>
          <p:cNvPr id="5" name="Picture 4">
            <a:extLst>
              <a:ext uri="{FF2B5EF4-FFF2-40B4-BE49-F238E27FC236}">
                <a16:creationId xmlns:a16="http://schemas.microsoft.com/office/drawing/2014/main" id="{978A1FB4-266A-D33F-EB66-59E489907486}"/>
              </a:ext>
            </a:extLst>
          </p:cNvPr>
          <p:cNvPicPr>
            <a:picLocks noChangeAspect="1"/>
          </p:cNvPicPr>
          <p:nvPr/>
        </p:nvPicPr>
        <p:blipFill>
          <a:blip r:embed="rId3"/>
          <a:stretch>
            <a:fillRect/>
          </a:stretch>
        </p:blipFill>
        <p:spPr>
          <a:xfrm>
            <a:off x="3379092" y="3456863"/>
            <a:ext cx="5231508" cy="3469186"/>
          </a:xfrm>
          <a:prstGeom prst="rect">
            <a:avLst/>
          </a:prstGeom>
        </p:spPr>
      </p:pic>
      <p:sp>
        <p:nvSpPr>
          <p:cNvPr id="7" name="Rectangle 6">
            <a:extLst>
              <a:ext uri="{FF2B5EF4-FFF2-40B4-BE49-F238E27FC236}">
                <a16:creationId xmlns:a16="http://schemas.microsoft.com/office/drawing/2014/main" id="{7BEBED71-71B7-0A08-F250-F28BA01C1DBC}"/>
              </a:ext>
            </a:extLst>
          </p:cNvPr>
          <p:cNvSpPr/>
          <p:nvPr/>
        </p:nvSpPr>
        <p:spPr>
          <a:xfrm>
            <a:off x="6019800" y="4572000"/>
            <a:ext cx="3276600" cy="1752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86198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CB228-014A-F2DF-2CE1-8444CCF18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23E22-EF87-695C-168D-B67BC61A7E32}"/>
              </a:ext>
            </a:extLst>
          </p:cNvPr>
          <p:cNvSpPr>
            <a:spLocks noGrp="1"/>
          </p:cNvSpPr>
          <p:nvPr>
            <p:ph type="title"/>
          </p:nvPr>
        </p:nvSpPr>
        <p:spPr>
          <a:xfrm>
            <a:off x="381000" y="131799"/>
            <a:ext cx="9692640" cy="858801"/>
          </a:xfrm>
        </p:spPr>
        <p:txBody>
          <a:bodyPr/>
          <a:lstStyle/>
          <a:p>
            <a:r>
              <a:rPr lang="en-US" dirty="0"/>
              <a:t>Robustness checks/other results</a:t>
            </a:r>
          </a:p>
        </p:txBody>
      </p:sp>
    </p:spTree>
    <p:extLst>
      <p:ext uri="{BB962C8B-B14F-4D97-AF65-F5344CB8AC3E}">
        <p14:creationId xmlns:p14="http://schemas.microsoft.com/office/powerpoint/2010/main" val="37942738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A16BF-43C7-2669-A83C-537A3280FBB3}"/>
              </a:ext>
            </a:extLst>
          </p:cNvPr>
          <p:cNvSpPr>
            <a:spLocks noGrp="1"/>
          </p:cNvSpPr>
          <p:nvPr>
            <p:ph type="title"/>
          </p:nvPr>
        </p:nvSpPr>
        <p:spPr/>
        <p:txBody>
          <a:bodyPr/>
          <a:lstStyle/>
          <a:p>
            <a:r>
              <a:rPr lang="en-US" dirty="0">
                <a:latin typeface="Aptos" panose="020B0004020202020204" pitchFamily="34" charset="0"/>
              </a:rPr>
              <a:t>Mini Referee Report	</a:t>
            </a:r>
          </a:p>
        </p:txBody>
      </p:sp>
      <p:sp>
        <p:nvSpPr>
          <p:cNvPr id="3" name="Content Placeholder 2">
            <a:extLst>
              <a:ext uri="{FF2B5EF4-FFF2-40B4-BE49-F238E27FC236}">
                <a16:creationId xmlns:a16="http://schemas.microsoft.com/office/drawing/2014/main" id="{0F7900C9-79D5-0726-E388-4308BE77BA59}"/>
              </a:ext>
            </a:extLst>
          </p:cNvPr>
          <p:cNvSpPr>
            <a:spLocks noGrp="1"/>
          </p:cNvSpPr>
          <p:nvPr>
            <p:ph idx="1"/>
          </p:nvPr>
        </p:nvSpPr>
        <p:spPr/>
        <p:txBody>
          <a:bodyPr>
            <a:normAutofit/>
          </a:bodyPr>
          <a:lstStyle/>
          <a:p>
            <a:r>
              <a:rPr lang="en-US" sz="2400" dirty="0">
                <a:latin typeface="Aptos" panose="020B0004020202020204" pitchFamily="34" charset="0"/>
                <a:cs typeface="Aparajita" panose="02020603050405020304" pitchFamily="18" charset="0"/>
              </a:rPr>
              <a:t>What do you like about the paper? </a:t>
            </a:r>
          </a:p>
          <a:p>
            <a:r>
              <a:rPr lang="en-US" sz="2400" dirty="0">
                <a:latin typeface="Aptos" panose="020B0004020202020204" pitchFamily="34" charset="0"/>
                <a:cs typeface="Aparajita" panose="02020603050405020304" pitchFamily="18" charset="0"/>
              </a:rPr>
              <a:t>What about the field experiments? Value added? </a:t>
            </a:r>
          </a:p>
          <a:p>
            <a:r>
              <a:rPr lang="en-US" sz="2400" dirty="0">
                <a:latin typeface="Aptos" panose="020B0004020202020204" pitchFamily="34" charset="0"/>
                <a:cs typeface="Aparajita" panose="02020603050405020304" pitchFamily="18" charset="0"/>
              </a:rPr>
              <a:t>Major concerns, etc.?</a:t>
            </a:r>
          </a:p>
          <a:p>
            <a:r>
              <a:rPr lang="en-US" sz="2400" dirty="0">
                <a:latin typeface="Aptos" panose="020B0004020202020204" pitchFamily="34" charset="0"/>
                <a:cs typeface="Aparajita" panose="02020603050405020304" pitchFamily="18" charset="0"/>
              </a:rPr>
              <a:t>This hasn’t been published – why do you think that is? </a:t>
            </a:r>
          </a:p>
        </p:txBody>
      </p:sp>
    </p:spTree>
    <p:extLst>
      <p:ext uri="{BB962C8B-B14F-4D97-AF65-F5344CB8AC3E}">
        <p14:creationId xmlns:p14="http://schemas.microsoft.com/office/powerpoint/2010/main" val="7405289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9513-C125-3774-C80A-59116390D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95922-362A-144D-2F35-B9EA9E201FC3}"/>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DID: Best Practices (Again)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56F1C5-76A9-312C-3676-8481549EF245}"/>
                  </a:ext>
                </a:extLst>
              </p:cNvPr>
              <p:cNvSpPr>
                <a:spLocks noGrp="1"/>
              </p:cNvSpPr>
              <p:nvPr>
                <p:ph idx="1"/>
              </p:nvPr>
            </p:nvSpPr>
            <p:spPr>
              <a:xfrm>
                <a:off x="1219199" y="1066800"/>
                <a:ext cx="9829801" cy="5453807"/>
              </a:xfrm>
            </p:spPr>
            <p:txBody>
              <a:bodyPr>
                <a:noAutofit/>
              </a:bodyPr>
              <a:lstStyle/>
              <a:p>
                <a:pPr marL="457200" indent="-457200">
                  <a:buFont typeface="+mj-lt"/>
                  <a:buAutoNum type="arabicPeriod"/>
                </a:pPr>
                <a:r>
                  <a:rPr lang="en-US" sz="2500" dirty="0">
                    <a:cs typeface="Times New Roman" panose="02020603050405020304" pitchFamily="18" charset="0"/>
                  </a:rPr>
                  <a:t>Generally, standard errors need to correct for </a:t>
                </a:r>
                <a:r>
                  <a:rPr lang="en-US" sz="2500" b="1" dirty="0">
                    <a:cs typeface="Times New Roman" panose="02020603050405020304" pitchFamily="18" charset="0"/>
                  </a:rPr>
                  <a:t>within-unit time variation</a:t>
                </a:r>
                <a:endParaRPr lang="en-US" sz="2500" dirty="0">
                  <a:cs typeface="Times New Roman" panose="02020603050405020304" pitchFamily="18" charset="0"/>
                </a:endParaRPr>
              </a:p>
              <a:p>
                <a:pPr lvl="1"/>
                <a:r>
                  <a:rPr lang="en-US" sz="2500" dirty="0">
                    <a:cs typeface="Times New Roman" panose="02020603050405020304" pitchFamily="18" charset="0"/>
                  </a:rPr>
                  <a:t>Usually, you can cluster your standard errors at the level of the treatment</a:t>
                </a:r>
              </a:p>
              <a:p>
                <a:pPr marL="457200" indent="-457200">
                  <a:buFont typeface="+mj-lt"/>
                  <a:buAutoNum type="arabicPeriod"/>
                </a:pPr>
                <a:r>
                  <a:rPr lang="en-US" sz="2500" dirty="0">
                    <a:cs typeface="Times New Roman" panose="02020603050405020304" pitchFamily="18" charset="0"/>
                  </a:rPr>
                  <a:t>Keep in mind your </a:t>
                </a:r>
                <a:r>
                  <a:rPr lang="en-US" sz="2500" i="1" dirty="0">
                    <a:cs typeface="Times New Roman" panose="02020603050405020304" pitchFamily="18" charset="0"/>
                  </a:rPr>
                  <a:t>essential sample size</a:t>
                </a:r>
                <a:endParaRPr lang="en-US" sz="2500" dirty="0">
                  <a:cs typeface="Times New Roman" panose="02020603050405020304" pitchFamily="18" charset="0"/>
                </a:endParaRPr>
              </a:p>
              <a:p>
                <a:pPr lvl="1"/>
                <a:r>
                  <a:rPr lang="en-US" sz="2500" dirty="0">
                    <a:cs typeface="Times New Roman" panose="02020603050405020304" pitchFamily="18" charset="0"/>
                  </a:rPr>
                  <a:t>We may have a “big data” set, but DID aggregates to unit/time</a:t>
                </a:r>
              </a:p>
              <a:p>
                <a:pPr lvl="1"/>
                <a:r>
                  <a:rPr lang="en-US" sz="2500" dirty="0">
                    <a:cs typeface="Times New Roman" panose="02020603050405020304" pitchFamily="18" charset="0"/>
                  </a:rPr>
                  <a:t>How does that affect your inference (e.g., if </a:t>
                </a:r>
                <a14:m>
                  <m:oMath xmlns:m="http://schemas.openxmlformats.org/officeDocument/2006/math">
                    <m:sSub>
                      <m:sSubPr>
                        <m:ctrlPr>
                          <a:rPr lang="en-US" sz="2500" b="0" i="1" smtClean="0">
                            <a:latin typeface="Cambria Math" panose="02040503050406030204" pitchFamily="18" charset="0"/>
                            <a:cs typeface="Times New Roman" panose="02020603050405020304" pitchFamily="18" charset="0"/>
                          </a:rPr>
                        </m:ctrlPr>
                      </m:sSubPr>
                      <m:e>
                        <m:r>
                          <a:rPr lang="en-US" sz="2500" b="0" i="1" smtClean="0">
                            <a:latin typeface="Cambria Math" panose="02040503050406030204" pitchFamily="18" charset="0"/>
                            <a:cs typeface="Times New Roman" panose="02020603050405020304" pitchFamily="18" charset="0"/>
                          </a:rPr>
                          <m:t>𝑁</m:t>
                        </m:r>
                      </m:e>
                      <m:sub>
                        <m:r>
                          <a:rPr lang="en-US" sz="2500" b="0" i="1" smtClean="0">
                            <a:latin typeface="Cambria Math" panose="02040503050406030204" pitchFamily="18" charset="0"/>
                            <a:cs typeface="Times New Roman" panose="02020603050405020304" pitchFamily="18" charset="0"/>
                          </a:rPr>
                          <m:t>𝑟𝑒𝑎𝑙</m:t>
                        </m:r>
                      </m:sub>
                    </m:sSub>
                    <m:r>
                      <a:rPr lang="en-US" sz="2500" b="0" i="1" smtClean="0">
                        <a:latin typeface="Cambria Math" panose="02040503050406030204" pitchFamily="18" charset="0"/>
                        <a:cs typeface="Times New Roman" panose="02020603050405020304" pitchFamily="18" charset="0"/>
                      </a:rPr>
                      <m:t>&lt;30</m:t>
                    </m:r>
                  </m:oMath>
                </a14:m>
                <a:r>
                  <a:rPr lang="en-US" sz="2500" dirty="0">
                    <a:cs typeface="Times New Roman" panose="02020603050405020304" pitchFamily="18" charset="0"/>
                  </a:rPr>
                  <a:t>)?</a:t>
                </a:r>
              </a:p>
              <a:p>
                <a:pPr marL="457200" indent="-457200">
                  <a:buFont typeface="+mj-lt"/>
                  <a:buAutoNum type="arabicPeriod"/>
                </a:pPr>
                <a:r>
                  <a:rPr lang="en-US" sz="2500" dirty="0">
                    <a:cs typeface="Times New Roman" panose="02020603050405020304" pitchFamily="18" charset="0"/>
                  </a:rPr>
                  <a:t>You never actually test/prove the parallel trends assumption! </a:t>
                </a:r>
              </a:p>
              <a:p>
                <a:pPr marL="514350" indent="-514350">
                  <a:buFont typeface="+mj-lt"/>
                  <a:buAutoNum type="arabicPeriod"/>
                </a:pPr>
                <a:r>
                  <a:rPr lang="en-US" sz="2500" b="1" dirty="0">
                    <a:cs typeface="Times New Roman" panose="02020603050405020304" pitchFamily="18" charset="0"/>
                  </a:rPr>
                  <a:t>Parallel trends holds either in levels or in logs – not both!</a:t>
                </a:r>
              </a:p>
              <a:p>
                <a:pPr marL="457200" indent="-457200">
                  <a:buFont typeface="+mj-lt"/>
                  <a:buAutoNum type="arabicPeriod"/>
                </a:pPr>
                <a:r>
                  <a:rPr lang="en-US" sz="2500" dirty="0">
                    <a:cs typeface="Times New Roman" panose="02020603050405020304" pitchFamily="18" charset="0"/>
                  </a:rPr>
                  <a:t>DD methods recover </a:t>
                </a:r>
                <a:r>
                  <a:rPr lang="en-US" sz="2500" b="1" dirty="0">
                    <a:cs typeface="Times New Roman" panose="02020603050405020304" pitchFamily="18" charset="0"/>
                  </a:rPr>
                  <a:t>average treatment effects on the treated (ATTs)</a:t>
                </a:r>
                <a:r>
                  <a:rPr lang="en-US" sz="2500" dirty="0">
                    <a:cs typeface="Times New Roman" panose="02020603050405020304" pitchFamily="18" charset="0"/>
                  </a:rPr>
                  <a:t>. What does this imply for generalizability?</a:t>
                </a:r>
              </a:p>
            </p:txBody>
          </p:sp>
        </mc:Choice>
        <mc:Fallback xmlns="">
          <p:sp>
            <p:nvSpPr>
              <p:cNvPr id="3" name="Content Placeholder 2">
                <a:extLst>
                  <a:ext uri="{FF2B5EF4-FFF2-40B4-BE49-F238E27FC236}">
                    <a16:creationId xmlns:a16="http://schemas.microsoft.com/office/drawing/2014/main" id="{9A56F1C5-76A9-312C-3676-8481549EF245}"/>
                  </a:ext>
                </a:extLst>
              </p:cNvPr>
              <p:cNvSpPr>
                <a:spLocks noGrp="1" noRot="1" noChangeAspect="1" noMove="1" noResize="1" noEditPoints="1" noAdjustHandles="1" noChangeArrowheads="1" noChangeShapeType="1" noTextEdit="1"/>
              </p:cNvSpPr>
              <p:nvPr>
                <p:ph idx="1"/>
              </p:nvPr>
            </p:nvSpPr>
            <p:spPr>
              <a:xfrm>
                <a:off x="1219199" y="1066800"/>
                <a:ext cx="9829801" cy="5453807"/>
              </a:xfrm>
              <a:blipFill>
                <a:blip r:embed="rId3"/>
                <a:stretch>
                  <a:fillRect l="-496" t="-1229"/>
                </a:stretch>
              </a:blipFill>
            </p:spPr>
            <p:txBody>
              <a:bodyPr/>
              <a:lstStyle/>
              <a:p>
                <a:r>
                  <a:rPr lang="en-US">
                    <a:noFill/>
                  </a:rPr>
                  <a:t> </a:t>
                </a:r>
              </a:p>
            </p:txBody>
          </p:sp>
        </mc:Fallback>
      </mc:AlternateContent>
    </p:spTree>
    <p:extLst>
      <p:ext uri="{BB962C8B-B14F-4D97-AF65-F5344CB8AC3E}">
        <p14:creationId xmlns:p14="http://schemas.microsoft.com/office/powerpoint/2010/main" val="9196863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43644-78AC-7F9C-D2E8-F5CB01963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1474EF-657D-7481-493F-88C77DB6F116}"/>
              </a:ext>
            </a:extLst>
          </p:cNvPr>
          <p:cNvSpPr>
            <a:spLocks noGrp="1"/>
          </p:cNvSpPr>
          <p:nvPr>
            <p:ph type="ctrTitle"/>
          </p:nvPr>
        </p:nvSpPr>
        <p:spPr>
          <a:xfrm>
            <a:off x="1054768" y="2286000"/>
            <a:ext cx="10549128" cy="2819400"/>
          </a:xfrm>
        </p:spPr>
        <p:txBody>
          <a:bodyPr>
            <a:normAutofit/>
          </a:bodyPr>
          <a:lstStyle/>
          <a:p>
            <a:r>
              <a:rPr lang="en-US" dirty="0"/>
              <a:t>Conclusion</a:t>
            </a:r>
          </a:p>
        </p:txBody>
      </p:sp>
    </p:spTree>
    <p:extLst>
      <p:ext uri="{BB962C8B-B14F-4D97-AF65-F5344CB8AC3E}">
        <p14:creationId xmlns:p14="http://schemas.microsoft.com/office/powerpoint/2010/main" val="14950291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Conclusion: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A good DD paper: </a:t>
            </a:r>
          </a:p>
          <a:p>
            <a:pPr marL="457200" indent="-457200">
              <a:buAutoNum type="arabicPeriod"/>
            </a:pPr>
            <a:r>
              <a:rPr lang="en-US" sz="2400" dirty="0">
                <a:cs typeface="Times New Roman" panose="02020603050405020304" pitchFamily="18" charset="0"/>
              </a:rPr>
              <a:t>Lays out the causal question directly</a:t>
            </a:r>
          </a:p>
          <a:p>
            <a:pPr marL="457200" indent="-457200">
              <a:buAutoNum type="arabicPeriod"/>
            </a:pPr>
            <a:r>
              <a:rPr lang="en-US" sz="2400" dirty="0">
                <a:cs typeface="Times New Roman" panose="02020603050405020304" pitchFamily="18" charset="0"/>
              </a:rPr>
              <a:t>Has a clean estimating equation, identifying assumption statement, and discussion of the relevant control group (and why it’s credible!)</a:t>
            </a:r>
          </a:p>
          <a:p>
            <a:pPr marL="457200" indent="-457200">
              <a:buAutoNum type="arabicPeriod"/>
            </a:pPr>
            <a:r>
              <a:rPr lang="en-US" sz="2400" dirty="0">
                <a:cs typeface="Times New Roman" panose="02020603050405020304" pitchFamily="18" charset="0"/>
              </a:rPr>
              <a:t>Discuss and test potential threats to identification, robustness checks, placebos, etc. </a:t>
            </a:r>
          </a:p>
          <a:p>
            <a:pPr marL="457200" indent="-457200">
              <a:buAutoNum type="arabicPeriod"/>
            </a:pPr>
            <a:r>
              <a:rPr lang="en-US" sz="2400" dirty="0">
                <a:cs typeface="Times New Roman" panose="02020603050405020304" pitchFamily="18" charset="0"/>
              </a:rPr>
              <a:t>When presenting results, think about meaningful heterogeneity, dynamics, and ways to test/provide support for possible mechanisms</a:t>
            </a:r>
          </a:p>
          <a:p>
            <a:pPr marL="457200" indent="-457200">
              <a:buAutoNum type="arabicPeriod"/>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2438244-E57A-F358-024C-D5697CD2C5EC}"/>
              </a:ext>
            </a:extLst>
          </p:cNvPr>
          <p:cNvPicPr>
            <a:picLocks noChangeAspect="1"/>
          </p:cNvPicPr>
          <p:nvPr/>
        </p:nvPicPr>
        <p:blipFill>
          <a:blip r:embed="rId3"/>
          <a:stretch>
            <a:fillRect/>
          </a:stretch>
        </p:blipFill>
        <p:spPr>
          <a:xfrm>
            <a:off x="2971800" y="126705"/>
            <a:ext cx="7963952" cy="2387895"/>
          </a:xfrm>
          <a:prstGeom prst="rect">
            <a:avLst/>
          </a:prstGeom>
        </p:spPr>
      </p:pic>
    </p:spTree>
    <p:extLst>
      <p:ext uri="{BB962C8B-B14F-4D97-AF65-F5344CB8AC3E}">
        <p14:creationId xmlns:p14="http://schemas.microsoft.com/office/powerpoint/2010/main" val="5558518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147AD-73E1-460D-F12A-B32DC3F7F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93EF5-D81F-F9F8-EA80-B18BC3A2DD74}"/>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Conclusion:</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DAC66C-18C9-819C-1E49-9CAD0C43A205}"/>
              </a:ext>
            </a:extLst>
          </p:cNvPr>
          <p:cNvSpPr>
            <a:spLocks noGrp="1"/>
          </p:cNvSpPr>
          <p:nvPr>
            <p:ph idx="1"/>
          </p:nvPr>
        </p:nvSpPr>
        <p:spPr>
          <a:xfrm>
            <a:off x="609601" y="1066801"/>
            <a:ext cx="10015390" cy="5141388"/>
          </a:xfrm>
        </p:spPr>
        <p:txBody>
          <a:bodyPr>
            <a:no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There are </a:t>
            </a:r>
            <a:r>
              <a:rPr lang="en-US" sz="2400" b="1" dirty="0">
                <a:cs typeface="Times New Roman" panose="02020603050405020304" pitchFamily="18" charset="0"/>
              </a:rPr>
              <a:t>so many </a:t>
            </a:r>
            <a:r>
              <a:rPr lang="en-US" sz="2400" dirty="0">
                <a:cs typeface="Times New Roman" panose="02020603050405020304" pitchFamily="18" charset="0"/>
              </a:rPr>
              <a:t>quasi-experiments to explore! </a:t>
            </a:r>
          </a:p>
          <a:p>
            <a:r>
              <a:rPr lang="en-US" sz="2400" dirty="0">
                <a:cs typeface="Times New Roman" panose="02020603050405020304" pitchFamily="18" charset="0"/>
              </a:rPr>
              <a:t>DID is flexible, and its assumptions aren’t too strong: </a:t>
            </a:r>
          </a:p>
          <a:p>
            <a:pPr lvl="1"/>
            <a:r>
              <a:rPr lang="en-US" sz="2400" dirty="0">
                <a:cs typeface="Times New Roman" panose="02020603050405020304" pitchFamily="18" charset="0"/>
              </a:rPr>
              <a:t>Parallel trends</a:t>
            </a:r>
          </a:p>
          <a:p>
            <a:pPr lvl="1"/>
            <a:r>
              <a:rPr lang="en-US" sz="2400" dirty="0">
                <a:cs typeface="Times New Roman" panose="02020603050405020304" pitchFamily="18" charset="0"/>
              </a:rPr>
              <a:t>Homogeneous treatment effects (in at least one dimension) </a:t>
            </a:r>
          </a:p>
          <a:p>
            <a:r>
              <a:rPr lang="en-US" sz="2400" dirty="0">
                <a:cs typeface="Times New Roman" panose="02020603050405020304" pitchFamily="18" charset="0"/>
              </a:rPr>
              <a:t>Can puts lots of bells and whistles on it (with caveats)</a:t>
            </a:r>
          </a:p>
          <a:p>
            <a:r>
              <a:rPr lang="en-US" sz="2400" dirty="0">
                <a:cs typeface="Times New Roman" panose="02020603050405020304" pitchFamily="18" charset="0"/>
              </a:rPr>
              <a:t>Next time: </a:t>
            </a:r>
          </a:p>
          <a:p>
            <a:pPr lvl="1"/>
            <a:r>
              <a:rPr lang="en-US" sz="2400" dirty="0">
                <a:cs typeface="Times New Roman" panose="02020603050405020304" pitchFamily="18" charset="0"/>
              </a:rPr>
              <a:t>Can we build our own control group? (</a:t>
            </a:r>
            <a:r>
              <a:rPr lang="en-US" sz="2400" b="1" dirty="0">
                <a:cs typeface="Times New Roman" panose="02020603050405020304" pitchFamily="18" charset="0"/>
              </a:rPr>
              <a:t>Synthetic controls</a:t>
            </a:r>
            <a:r>
              <a:rPr lang="en-US" sz="2400" dirty="0">
                <a:cs typeface="Times New Roman" panose="02020603050405020304" pitchFamily="18" charset="0"/>
              </a:rPr>
              <a:t>)</a:t>
            </a:r>
          </a:p>
          <a:p>
            <a:pPr lvl="1"/>
            <a:r>
              <a:rPr lang="en-US" sz="2400" dirty="0">
                <a:cs typeface="Times New Roman" panose="02020603050405020304" pitchFamily="18" charset="0"/>
              </a:rPr>
              <a:t>Can we recover heterogeneous treatment effects? (</a:t>
            </a:r>
            <a:r>
              <a:rPr lang="en-US" sz="2400" b="1" dirty="0">
                <a:cs typeface="Times New Roman" panose="02020603050405020304" pitchFamily="18" charset="0"/>
              </a:rPr>
              <a:t>Quantile regression</a:t>
            </a:r>
            <a:r>
              <a:rPr lang="en-US" sz="2400" dirty="0">
                <a:cs typeface="Times New Roman" panose="02020603050405020304" pitchFamily="18" charset="0"/>
              </a:rPr>
              <a:t>)</a:t>
            </a:r>
          </a:p>
        </p:txBody>
      </p:sp>
      <p:pic>
        <p:nvPicPr>
          <p:cNvPr id="5" name="Picture 4">
            <a:extLst>
              <a:ext uri="{FF2B5EF4-FFF2-40B4-BE49-F238E27FC236}">
                <a16:creationId xmlns:a16="http://schemas.microsoft.com/office/drawing/2014/main" id="{2C7D94E9-69B5-CE04-C579-9293C0D3BC02}"/>
              </a:ext>
            </a:extLst>
          </p:cNvPr>
          <p:cNvPicPr>
            <a:picLocks noChangeAspect="1"/>
          </p:cNvPicPr>
          <p:nvPr/>
        </p:nvPicPr>
        <p:blipFill>
          <a:blip r:embed="rId3"/>
          <a:stretch>
            <a:fillRect/>
          </a:stretch>
        </p:blipFill>
        <p:spPr>
          <a:xfrm>
            <a:off x="2971800" y="126705"/>
            <a:ext cx="7963952" cy="2387895"/>
          </a:xfrm>
          <a:prstGeom prst="rect">
            <a:avLst/>
          </a:prstGeom>
        </p:spPr>
      </p:pic>
    </p:spTree>
    <p:extLst>
      <p:ext uri="{BB962C8B-B14F-4D97-AF65-F5344CB8AC3E}">
        <p14:creationId xmlns:p14="http://schemas.microsoft.com/office/powerpoint/2010/main" val="1834948115"/>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6462</TotalTime>
  <Words>4042</Words>
  <Application>Microsoft Office PowerPoint</Application>
  <PresentationFormat>Widescreen</PresentationFormat>
  <Paragraphs>461</Paragraphs>
  <Slides>61</Slides>
  <Notes>58</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61</vt:i4>
      </vt:variant>
    </vt:vector>
  </HeadingPairs>
  <TitlesOfParts>
    <vt:vector size="72" baseType="lpstr">
      <vt:lpstr>Aptos</vt:lpstr>
      <vt:lpstr>Arial</vt:lpstr>
      <vt:lpstr>Calibri</vt:lpstr>
      <vt:lpstr>Cambria Math</vt:lpstr>
      <vt:lpstr>Century Schoolbook</vt:lpstr>
      <vt:lpstr>Courier New</vt:lpstr>
      <vt:lpstr>Source Sans Pro</vt:lpstr>
      <vt:lpstr>Symbol</vt:lpstr>
      <vt:lpstr>Times New Roman</vt:lpstr>
      <vt:lpstr>Wingdings 2</vt:lpstr>
      <vt:lpstr>View</vt:lpstr>
      <vt:lpstr>Quant Methods in HSR I </vt:lpstr>
      <vt:lpstr>Last Time: Instrumental Variables, Dependent Variables</vt:lpstr>
      <vt:lpstr>This Time: Policy Evaluation Exploiting Time</vt:lpstr>
      <vt:lpstr>This Time: Policy Evaluation Exploiting Time</vt:lpstr>
      <vt:lpstr>This Time: Policy Evaluation Exploiting Time</vt:lpstr>
      <vt:lpstr>Policy Evaluation Exploiting Time</vt:lpstr>
      <vt:lpstr>Policy Evaluation Exploiting Time</vt:lpstr>
      <vt:lpstr>Example: did the FIFA World Cup cause Toronto traffic to get better or worse?</vt:lpstr>
      <vt:lpstr>The Strategy Behind Difference-in-Differences (DID)</vt:lpstr>
      <vt:lpstr>The Strategy Behind Difference-in-Differences (DID)</vt:lpstr>
      <vt:lpstr>The Strategy Behind Difference-in-Differences (DID)</vt:lpstr>
      <vt:lpstr>DID in Graph Form</vt:lpstr>
      <vt:lpstr>Outline</vt:lpstr>
      <vt:lpstr>Panel Data</vt:lpstr>
      <vt:lpstr>What is Panel Data?</vt:lpstr>
      <vt:lpstr>What is Panel Data?</vt:lpstr>
      <vt:lpstr>Causal analysis with panel data typically requires design-based inference</vt:lpstr>
      <vt:lpstr>Difference-in-Differences: 2-by-2 Case</vt:lpstr>
      <vt:lpstr>Case Study: Children’s Mental Health during COVID</vt:lpstr>
      <vt:lpstr>Motivation</vt:lpstr>
      <vt:lpstr>Motivating Evidence</vt:lpstr>
      <vt:lpstr>The Basic DD Intuition</vt:lpstr>
      <vt:lpstr>Simple DiD Calculation</vt:lpstr>
      <vt:lpstr>Simple DiD Calculation</vt:lpstr>
      <vt:lpstr>Simple DiD Calculation</vt:lpstr>
      <vt:lpstr>Assumptions Needed for DID</vt:lpstr>
      <vt:lpstr>Assumptions Needed for DID</vt:lpstr>
      <vt:lpstr>Visualizing the Parallel Trends Assumption </vt:lpstr>
      <vt:lpstr>What happens if we don’t have parallel trends?</vt:lpstr>
      <vt:lpstr>What happens if we don’t have parallel trends?</vt:lpstr>
      <vt:lpstr>DID: Estimation</vt:lpstr>
      <vt:lpstr>Interpreting Results</vt:lpstr>
      <vt:lpstr>Suggestive Evidence for Parallel Trends</vt:lpstr>
      <vt:lpstr>Suggestive Evidence for Parallel Trends</vt:lpstr>
      <vt:lpstr>DID: Best Practices </vt:lpstr>
      <vt:lpstr>Generalized  Differences-in-Differences</vt:lpstr>
      <vt:lpstr>Estimating Equations</vt:lpstr>
      <vt:lpstr>Moving beyond the 2x2 case</vt:lpstr>
      <vt:lpstr>Moving beyond the 2x2 case</vt:lpstr>
      <vt:lpstr>Case Study Results: Specification</vt:lpstr>
      <vt:lpstr>Case Study Results</vt:lpstr>
      <vt:lpstr>Dynamic  Differences-in-Differences</vt:lpstr>
      <vt:lpstr>Dynamic Treatment Effects</vt:lpstr>
      <vt:lpstr>Dynamic Treatment Effects</vt:lpstr>
      <vt:lpstr>Estimating Equations</vt:lpstr>
      <vt:lpstr>Dynamic Treatment Effects in TWFE</vt:lpstr>
      <vt:lpstr>Dynamic Treatment Effects in TWFE</vt:lpstr>
      <vt:lpstr>Dynamic Treatment Effects in TWFE</vt:lpstr>
      <vt:lpstr>Dynamic Treatment Effects in TWFE</vt:lpstr>
      <vt:lpstr>Dynamic Treatment Effects in TWFE</vt:lpstr>
      <vt:lpstr>TWFE with Staggered Timing</vt:lpstr>
      <vt:lpstr>TWFE with Staggered Timing</vt:lpstr>
      <vt:lpstr>Case Study Results </vt:lpstr>
      <vt:lpstr>Case Study Results: Parallel Trends</vt:lpstr>
      <vt:lpstr>Case Study Results: Parallel Trends</vt:lpstr>
      <vt:lpstr>Robustness checks/other results</vt:lpstr>
      <vt:lpstr>Mini Referee Report </vt:lpstr>
      <vt:lpstr>DID: Best Practices (Again) </vt:lpstr>
      <vt:lpstr>Conclusion</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603</cp:revision>
  <dcterms:created xsi:type="dcterms:W3CDTF">2011-01-10T00:42:42Z</dcterms:created>
  <dcterms:modified xsi:type="dcterms:W3CDTF">2026-07-22T17:32:02Z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