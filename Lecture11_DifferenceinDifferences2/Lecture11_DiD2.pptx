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50"/>
  </p:notesMasterIdLst>
  <p:sldIdLst>
    <p:sldId id="256" r:id="rId2"/>
    <p:sldId id="665" r:id="rId3"/>
    <p:sldId id="666" r:id="rId4"/>
    <p:sldId id="588" r:id="rId5"/>
    <p:sldId id="626" r:id="rId6"/>
    <p:sldId id="528" r:id="rId7"/>
    <p:sldId id="657" r:id="rId8"/>
    <p:sldId id="658" r:id="rId9"/>
    <p:sldId id="661" r:id="rId10"/>
    <p:sldId id="662" r:id="rId11"/>
    <p:sldId id="659" r:id="rId12"/>
    <p:sldId id="674" r:id="rId13"/>
    <p:sldId id="676" r:id="rId14"/>
    <p:sldId id="677" r:id="rId15"/>
    <p:sldId id="678" r:id="rId16"/>
    <p:sldId id="707" r:id="rId17"/>
    <p:sldId id="675" r:id="rId18"/>
    <p:sldId id="586" r:id="rId19"/>
    <p:sldId id="660" r:id="rId20"/>
    <p:sldId id="679" r:id="rId21"/>
    <p:sldId id="680" r:id="rId22"/>
    <p:sldId id="681" r:id="rId23"/>
    <p:sldId id="682" r:id="rId24"/>
    <p:sldId id="683" r:id="rId25"/>
    <p:sldId id="684" r:id="rId26"/>
    <p:sldId id="685" r:id="rId27"/>
    <p:sldId id="686" r:id="rId28"/>
    <p:sldId id="687" r:id="rId29"/>
    <p:sldId id="656" r:id="rId30"/>
    <p:sldId id="688" r:id="rId31"/>
    <p:sldId id="689" r:id="rId32"/>
    <p:sldId id="690" r:id="rId33"/>
    <p:sldId id="691" r:id="rId34"/>
    <p:sldId id="692" r:id="rId35"/>
    <p:sldId id="693" r:id="rId36"/>
    <p:sldId id="694" r:id="rId37"/>
    <p:sldId id="695" r:id="rId38"/>
    <p:sldId id="696" r:id="rId39"/>
    <p:sldId id="697" r:id="rId40"/>
    <p:sldId id="698" r:id="rId41"/>
    <p:sldId id="699" r:id="rId42"/>
    <p:sldId id="700" r:id="rId43"/>
    <p:sldId id="701" r:id="rId44"/>
    <p:sldId id="702" r:id="rId45"/>
    <p:sldId id="703" r:id="rId46"/>
    <p:sldId id="704" r:id="rId47"/>
    <p:sldId id="705" r:id="rId48"/>
    <p:sldId id="706" r:id="rId49"/>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504" autoAdjust="0"/>
  </p:normalViewPr>
  <p:slideViewPr>
    <p:cSldViewPr>
      <p:cViewPr varScale="1">
        <p:scale>
          <a:sx n="53" d="100"/>
          <a:sy n="53" d="100"/>
        </p:scale>
        <p:origin x="1176"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8T18:21:03.42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1 335,'3182'0,"-3114"3,76 14,53 2,92 6,-226-18,161 27,-124-15,-55-10,1-1,56 1,-60-8,14-1,79 12,4 19,-32-5,-48-13,-22-4,1-2,45 4,68-12,29 2,-74 15,-69-8,48 2,110 9,-95-8,39-4,-25-4,-4 12,6 0,368-9,-273-8,582 2,-741-3,1-2,102-24,-55 8,94 1,-57 8,-34-2,188-53,56-7,-251 64,0 4,111 7,-89 1,1955 0,-1083-3,-921-2,75-13,-59 5,342-37,-205 20,163-12,90 36,-316 5,-79-4,96-16,-101 9,31-6,53-6,-112 17,0-2,-1-3,60-19,-74 21,1 2,-1 1,1 2,54 1,2-1,-66 0,1-1,-1-1,44-16,-39 12,51-11,51 7,-4 0,34-4,14-2,-86 7,102-1,90 14,-102 2,352-3,-485 2,80 14,14 2,-81-15,-12-2,71 12,140 32,-196-38,-1-3,83-4,40 2,-74 16,-74-11,45 4,42-10,11 0,-111 2,0 2,0 0,0 1,23 10,-23-7,1-2,-1 0,35 4,-6-7,54-4,20 0,-89 6,-8 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8T18:21:05.20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5408 298,'-1009'0,"635"-18,132 4,-32-7,-46-1,136 4,22 1,21 16,-27 0,47-15,-18-2,18 18,75 2,-1-3,-61-8,75 2,1-2,-43-17,-34-11,49 26,-96-7,27 5,-175-9,-3 22,115 2,-255-2,445 0,-3 0,-1-1,0 1,0 0,0 1,1 0,-1-1,0 2,1-1,-1 1,1 0,-1 0,1 0,0 1,-7 4,-3 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8T18:21:08.91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14089 481,'-1915'0,"1582"-17,67 0,64 13,-226-11,363 11,-303-33,15-13,280 43,-359-24,-128-15,333 23,103 10,-235-15,-504-40,526 35,303 30,-695-44,618 45,-286-10,-137-11,-3 23,203 2,285 1,-81 14,73-8,-30 5,0 4,2 4,-89 35,131-42,-86 16,0-1,-29 15,-63 19,177-51,-1-3,-1-1,0-2,-62 1,-145 24,-8 2,43-29,-96 8,-45 10,1-23,158-1,162 3,-1 2,-57 14,63-12,-86 19,-85 15,147-32,-95 2,-16-12,167 3,4 1,12 7,19 8,4-2,0-2,1-2,52 9,122 8,-102-16,60 9,227-1,-165-31,63-19,828-111,-488 61,-194 16,-387 56,452-42,317 41,-491 11,1195-2,-1049 37,-104-3,337-29,-382-8,-113 5,252-4,-276-14,-20 1,46-6,48-1,-253 21,1 0,0-1,0-1,-1 0,1-1,-1 0,27-14,-11 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7/22/2026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You won’t be able to cover all 3 of these this semester, will need to pick (DDD</a:t>
            </a:r>
            <a:r>
              <a:rPr lang="en-US"/>
              <a:t>, Fadlon Nielsen, SC)</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F8318-F4A9-C9D5-8149-FE29316FA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06748-1018-863E-3B26-98D7817E1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D13B58-AA16-9B77-5022-D4F2DC71A055}"/>
              </a:ext>
            </a:extLst>
          </p:cNvPr>
          <p:cNvSpPr>
            <a:spLocks noGrp="1"/>
          </p:cNvSpPr>
          <p:nvPr>
            <p:ph type="body" idx="1"/>
          </p:nvPr>
        </p:nvSpPr>
        <p:spPr/>
        <p:txBody>
          <a:bodyPr/>
          <a:lstStyle/>
          <a:p>
            <a:r>
              <a:rPr lang="en-US" dirty="0"/>
              <a:t>Let’s start with all the applied micro papers that did </a:t>
            </a:r>
            <a:r>
              <a:rPr lang="en-US" i="1" dirty="0"/>
              <a:t>not </a:t>
            </a:r>
            <a:r>
              <a:rPr lang="en-US" i="0" dirty="0"/>
              <a:t>use difference in differences (you’ve covered almost all of these!) Where are the matching papers? What kinds of questions are these?</a:t>
            </a:r>
          </a:p>
          <a:p>
            <a:pPr marL="171450" indent="-171450">
              <a:buFontTx/>
              <a:buChar char="-"/>
            </a:pPr>
            <a:r>
              <a:rPr lang="en-US" i="0" dirty="0"/>
              <a:t>Full table is on </a:t>
            </a:r>
            <a:r>
              <a:rPr lang="en-US" i="0" dirty="0" err="1"/>
              <a:t>Github</a:t>
            </a:r>
            <a:endParaRPr lang="en-US" i="0" dirty="0"/>
          </a:p>
          <a:p>
            <a:pPr marL="171450" indent="-171450">
              <a:buFontTx/>
              <a:buChar char="-"/>
            </a:pPr>
            <a:endParaRPr lang="en-US" dirty="0"/>
          </a:p>
        </p:txBody>
      </p:sp>
      <p:sp>
        <p:nvSpPr>
          <p:cNvPr id="4" name="Slide Number Placeholder 3">
            <a:extLst>
              <a:ext uri="{FF2B5EF4-FFF2-40B4-BE49-F238E27FC236}">
                <a16:creationId xmlns:a16="http://schemas.microsoft.com/office/drawing/2014/main" id="{43533C1B-5F30-5334-A1C0-D5D6860E6EB7}"/>
              </a:ext>
            </a:extLst>
          </p:cNvPr>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172197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41B23-9769-9918-C41C-C2927D9DF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A3F98B-AB98-D208-0455-720FC463FF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9DDF89-2418-7664-DC7F-645B7CC20775}"/>
              </a:ext>
            </a:extLst>
          </p:cNvPr>
          <p:cNvSpPr>
            <a:spLocks noGrp="1"/>
          </p:cNvSpPr>
          <p:nvPr>
            <p:ph type="body" idx="1"/>
          </p:nvPr>
        </p:nvSpPr>
        <p:spPr/>
        <p:txBody>
          <a:bodyPr/>
          <a:lstStyle/>
          <a:p>
            <a:r>
              <a:rPr lang="en-US" dirty="0"/>
              <a:t>Now look at all the difference in differences papers! Roughly ½ of today’s papers used this design. Talk about what kind of quasi-experiments can exist! </a:t>
            </a:r>
          </a:p>
          <a:p>
            <a:pPr marL="171450" indent="-171450">
              <a:buFontTx/>
              <a:buChar char="-"/>
            </a:pPr>
            <a:r>
              <a:rPr lang="en-US" dirty="0"/>
              <a:t>Formal polices</a:t>
            </a:r>
          </a:p>
          <a:p>
            <a:pPr marL="171450" indent="-171450">
              <a:buFontTx/>
              <a:buChar char="-"/>
            </a:pPr>
            <a:r>
              <a:rPr lang="en-US" dirty="0"/>
              <a:t>Shocks happening at “random” times (what does random mean?)</a:t>
            </a:r>
          </a:p>
          <a:p>
            <a:pPr marL="171450" indent="-171450">
              <a:buFontTx/>
              <a:buChar char="-"/>
            </a:pPr>
            <a:r>
              <a:rPr lang="en-US" dirty="0"/>
              <a:t>Randomized rollout within a province, etc. </a:t>
            </a:r>
          </a:p>
          <a:p>
            <a:pPr marL="171450" indent="-171450">
              <a:buFontTx/>
              <a:buChar char="-"/>
            </a:pPr>
            <a:r>
              <a:rPr lang="en-US" dirty="0"/>
              <a:t>Others?</a:t>
            </a:r>
          </a:p>
        </p:txBody>
      </p:sp>
      <p:sp>
        <p:nvSpPr>
          <p:cNvPr id="4" name="Slide Number Placeholder 3">
            <a:extLst>
              <a:ext uri="{FF2B5EF4-FFF2-40B4-BE49-F238E27FC236}">
                <a16:creationId xmlns:a16="http://schemas.microsoft.com/office/drawing/2014/main" id="{9115D296-36F3-1969-390D-6E819B9317E2}"/>
              </a:ext>
            </a:extLst>
          </p:cNvPr>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433751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3166364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would be the example here for line 5? What is the control group? </a:t>
            </a:r>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62097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section only if you’re good on time. It’s only 5 slides. </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4243328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6C58F-060D-3A73-3BD5-D84262131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F367-3249-D223-941C-DD4D8AED30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52461C-D8DE-012D-BF4B-EED597842CEA}"/>
              </a:ext>
            </a:extLst>
          </p:cNvPr>
          <p:cNvSpPr>
            <a:spLocks noGrp="1"/>
          </p:cNvSpPr>
          <p:nvPr>
            <p:ph type="body" idx="1"/>
          </p:nvPr>
        </p:nvSpPr>
        <p:spPr/>
        <p:txBody>
          <a:bodyPr/>
          <a:lstStyle/>
          <a:p>
            <a:r>
              <a:rPr lang="en-US" dirty="0"/>
              <a:t>Why all of the interaction terms? What is the </a:t>
            </a:r>
            <a:r>
              <a:rPr lang="en-US" b="1" dirty="0"/>
              <a:t>parameter of interest</a:t>
            </a:r>
            <a:r>
              <a:rPr lang="en-US" b="0" dirty="0"/>
              <a:t>? What do we learn from the others (for example, what do we learn from \beta_1)?</a:t>
            </a:r>
            <a:endParaRPr lang="en-US" dirty="0"/>
          </a:p>
        </p:txBody>
      </p:sp>
      <p:sp>
        <p:nvSpPr>
          <p:cNvPr id="4" name="Slide Number Placeholder 3">
            <a:extLst>
              <a:ext uri="{FF2B5EF4-FFF2-40B4-BE49-F238E27FC236}">
                <a16:creationId xmlns:a16="http://schemas.microsoft.com/office/drawing/2014/main" id="{EC636319-2F3A-45D8-252B-D671555E7A23}"/>
              </a:ext>
            </a:extLst>
          </p:cNvPr>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2400703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1B37F-E7CB-083B-A9F0-12B201B57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B230D9-F518-604B-4C82-082BD324E6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1AE80-8CA7-8416-5C06-049C2270AC5A}"/>
              </a:ext>
            </a:extLst>
          </p:cNvPr>
          <p:cNvSpPr>
            <a:spLocks noGrp="1"/>
          </p:cNvSpPr>
          <p:nvPr>
            <p:ph type="body" idx="1"/>
          </p:nvPr>
        </p:nvSpPr>
        <p:spPr/>
        <p:txBody>
          <a:bodyPr/>
          <a:lstStyle/>
          <a:p>
            <a:r>
              <a:rPr lang="en-US" dirty="0"/>
              <a:t>So we have a DD (what is the effect of the policy?) and then a triple DDD to explore heterogeneity among targeted groups </a:t>
            </a:r>
          </a:p>
        </p:txBody>
      </p:sp>
      <p:sp>
        <p:nvSpPr>
          <p:cNvPr id="4" name="Slide Number Placeholder 3">
            <a:extLst>
              <a:ext uri="{FF2B5EF4-FFF2-40B4-BE49-F238E27FC236}">
                <a16:creationId xmlns:a16="http://schemas.microsoft.com/office/drawing/2014/main" id="{07354405-D9CD-430E-4D58-04E8708DD66D}"/>
              </a:ext>
            </a:extLst>
          </p:cNvPr>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1463111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9AF53-598C-423C-E8B1-47D42C0273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55BE2-B48D-29D8-C542-68DE4935D4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11486-1251-7556-ADD6-1BF5F572DD81}"/>
              </a:ext>
            </a:extLst>
          </p:cNvPr>
          <p:cNvSpPr>
            <a:spLocks noGrp="1"/>
          </p:cNvSpPr>
          <p:nvPr>
            <p:ph type="body" idx="1"/>
          </p:nvPr>
        </p:nvSpPr>
        <p:spPr/>
        <p:txBody>
          <a:bodyPr/>
          <a:lstStyle/>
          <a:p>
            <a:r>
              <a:rPr lang="en-US" dirty="0"/>
              <a:t>Can’t go into detail, obviously, but recommend reading this paper</a:t>
            </a:r>
          </a:p>
        </p:txBody>
      </p:sp>
      <p:sp>
        <p:nvSpPr>
          <p:cNvPr id="4" name="Slide Number Placeholder 3">
            <a:extLst>
              <a:ext uri="{FF2B5EF4-FFF2-40B4-BE49-F238E27FC236}">
                <a16:creationId xmlns:a16="http://schemas.microsoft.com/office/drawing/2014/main" id="{1B28AC89-A556-106F-10DA-DC7C25935670}"/>
              </a:ext>
            </a:extLst>
          </p:cNvPr>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2394523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89EE0-EB7C-098A-5324-25D833266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28F26-E343-CD6B-F464-1BA6B32F40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CCDD1-C3FA-EB85-AD1F-A6F3A0FDE36B}"/>
              </a:ext>
            </a:extLst>
          </p:cNvPr>
          <p:cNvSpPr>
            <a:spLocks noGrp="1"/>
          </p:cNvSpPr>
          <p:nvPr>
            <p:ph type="body" idx="1"/>
          </p:nvPr>
        </p:nvSpPr>
        <p:spPr/>
        <p:txBody>
          <a:bodyPr/>
          <a:lstStyle/>
          <a:p>
            <a:r>
              <a:rPr lang="en-US" dirty="0"/>
              <a:t>Now stratified by quartile of unpaid leave (Table 9 shows how the impact of the reform on mothers’ and </a:t>
            </a:r>
            <a:r>
              <a:rPr lang="en-US" dirty="0" err="1"/>
              <a:t>children’soutcomes</a:t>
            </a:r>
            <a:r>
              <a:rPr lang="en-US" dirty="0"/>
              <a:t> varies according to the quartiles of unpaid leave taken by </a:t>
            </a:r>
            <a:r>
              <a:rPr lang="en-US" dirty="0" err="1"/>
              <a:t>themother</a:t>
            </a:r>
            <a:r>
              <a:rPr lang="en-US" dirty="0"/>
              <a:t>. In principle, this variable should be affected by the reform, </a:t>
            </a:r>
            <a:r>
              <a:rPr lang="en-US" dirty="0" err="1"/>
              <a:t>andtherefore</a:t>
            </a:r>
            <a:r>
              <a:rPr lang="en-US" dirty="0"/>
              <a:t>, we should not condition on it. In practice, we see that </a:t>
            </a:r>
            <a:r>
              <a:rPr lang="en-US" dirty="0" err="1"/>
              <a:t>thereform</a:t>
            </a:r>
            <a:r>
              <a:rPr lang="en-US" dirty="0"/>
              <a:t> had no effect on unpaid leave. If the ranking of mothers in </a:t>
            </a:r>
            <a:r>
              <a:rPr lang="en-US" dirty="0" err="1"/>
              <a:t>termsof</a:t>
            </a:r>
            <a:r>
              <a:rPr lang="en-US" dirty="0"/>
              <a:t> unpaid leave does not depend on the reform, we can interpret </a:t>
            </a:r>
            <a:r>
              <a:rPr lang="en-US" dirty="0" err="1"/>
              <a:t>theseestimates</a:t>
            </a:r>
            <a:r>
              <a:rPr lang="en-US" dirty="0"/>
              <a:t> as the effects of the reform on mothers who would have </a:t>
            </a:r>
            <a:r>
              <a:rPr lang="en-US" dirty="0" err="1"/>
              <a:t>takendifferent</a:t>
            </a:r>
            <a:r>
              <a:rPr lang="en-US" dirty="0"/>
              <a:t> levels of unpaid leave in the absence of the reform and on </a:t>
            </a:r>
            <a:r>
              <a:rPr lang="en-US" dirty="0" err="1"/>
              <a:t>theirchildren</a:t>
            </a:r>
            <a:r>
              <a:rPr lang="en-US" dirty="0"/>
              <a:t>.)</a:t>
            </a:r>
          </a:p>
        </p:txBody>
      </p:sp>
      <p:sp>
        <p:nvSpPr>
          <p:cNvPr id="4" name="Slide Number Placeholder 3">
            <a:extLst>
              <a:ext uri="{FF2B5EF4-FFF2-40B4-BE49-F238E27FC236}">
                <a16:creationId xmlns:a16="http://schemas.microsoft.com/office/drawing/2014/main" id="{25A89518-8594-76B1-054A-67B6D774CA71}"/>
              </a:ext>
            </a:extLst>
          </p:cNvPr>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2909741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73569-2D39-CD03-513F-9F3A023BC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C0226-A06A-B947-3B99-AFAF1336A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64303-9A9F-9523-AF7A-76BA6E6C9EC1}"/>
              </a:ext>
            </a:extLst>
          </p:cNvPr>
          <p:cNvSpPr>
            <a:spLocks noGrp="1"/>
          </p:cNvSpPr>
          <p:nvPr>
            <p:ph type="body" idx="1"/>
          </p:nvPr>
        </p:nvSpPr>
        <p:spPr/>
        <p:txBody>
          <a:bodyPr/>
          <a:lstStyle/>
          <a:p>
            <a:r>
              <a:rPr lang="en-US" dirty="0"/>
              <a:t>Not so scary, is it?</a:t>
            </a:r>
          </a:p>
        </p:txBody>
      </p:sp>
      <p:sp>
        <p:nvSpPr>
          <p:cNvPr id="4" name="Slide Number Placeholder 3">
            <a:extLst>
              <a:ext uri="{FF2B5EF4-FFF2-40B4-BE49-F238E27FC236}">
                <a16:creationId xmlns:a16="http://schemas.microsoft.com/office/drawing/2014/main" id="{76954DB9-670B-F6F0-0173-FAA263484D1A}"/>
              </a:ext>
            </a:extLst>
          </p:cNvPr>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4111557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8C61D-040A-7F30-17D6-624579830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875FC-921A-7A27-BAF9-5014EA747F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A9B046-CA70-559E-AF72-DC8808B5FB52}"/>
              </a:ext>
            </a:extLst>
          </p:cNvPr>
          <p:cNvSpPr>
            <a:spLocks noGrp="1"/>
          </p:cNvSpPr>
          <p:nvPr>
            <p:ph type="body" idx="1"/>
          </p:nvPr>
        </p:nvSpPr>
        <p:spPr/>
        <p:txBody>
          <a:bodyPr/>
          <a:lstStyle/>
          <a:p>
            <a:r>
              <a:rPr lang="en-US" dirty="0"/>
              <a:t>Cover only if you have time. Walk through how to generate placebo control groups </a:t>
            </a:r>
          </a:p>
        </p:txBody>
      </p:sp>
      <p:sp>
        <p:nvSpPr>
          <p:cNvPr id="4" name="Slide Number Placeholder 3">
            <a:extLst>
              <a:ext uri="{FF2B5EF4-FFF2-40B4-BE49-F238E27FC236}">
                <a16:creationId xmlns:a16="http://schemas.microsoft.com/office/drawing/2014/main" id="{051439A7-30A2-B980-7C28-BBF66C04B9CB}"/>
              </a:ext>
            </a:extLst>
          </p:cNvPr>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2740782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9EBAD-DE52-6626-BA15-232563D1E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8D036B-ADA2-D6E7-697C-F40E4BA1CA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B92D5-FAB2-E75B-F2DE-B94D2A51E051}"/>
              </a:ext>
            </a:extLst>
          </p:cNvPr>
          <p:cNvSpPr>
            <a:spLocks noGrp="1"/>
          </p:cNvSpPr>
          <p:nvPr>
            <p:ph type="body" idx="1"/>
          </p:nvPr>
        </p:nvSpPr>
        <p:spPr/>
        <p:txBody>
          <a:bodyPr/>
          <a:lstStyle/>
          <a:p>
            <a:r>
              <a:rPr lang="en-US" dirty="0"/>
              <a:t>Here, the variation in event timing that plagued staggered adoption designs is actually a good thing for us! </a:t>
            </a:r>
          </a:p>
        </p:txBody>
      </p:sp>
      <p:sp>
        <p:nvSpPr>
          <p:cNvPr id="4" name="Slide Number Placeholder 3">
            <a:extLst>
              <a:ext uri="{FF2B5EF4-FFF2-40B4-BE49-F238E27FC236}">
                <a16:creationId xmlns:a16="http://schemas.microsoft.com/office/drawing/2014/main" id="{E978B10A-A742-8888-E450-F08A453BD715}"/>
              </a:ext>
            </a:extLst>
          </p:cNvPr>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32876547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EB2C6-7860-AC93-D69C-DDF5060A4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5A978-0F60-4E36-1E7F-5D5EA49A0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E20FAF-B045-5216-F174-798CBF2A0A7E}"/>
              </a:ext>
            </a:extLst>
          </p:cNvPr>
          <p:cNvSpPr>
            <a:spLocks noGrp="1"/>
          </p:cNvSpPr>
          <p:nvPr>
            <p:ph type="body" idx="1"/>
          </p:nvPr>
        </p:nvSpPr>
        <p:spPr/>
        <p:txBody>
          <a:bodyPr/>
          <a:lstStyle/>
          <a:p>
            <a:r>
              <a:rPr lang="en-US" dirty="0"/>
              <a:t>Here, the variation in event timing that plagued staggered adoption designs is actually a good thing for us! Suppose you can make this assumption, what do you get? When would this be a good assumption, and when would it be a bad one?</a:t>
            </a:r>
          </a:p>
        </p:txBody>
      </p:sp>
      <p:sp>
        <p:nvSpPr>
          <p:cNvPr id="4" name="Slide Number Placeholder 3">
            <a:extLst>
              <a:ext uri="{FF2B5EF4-FFF2-40B4-BE49-F238E27FC236}">
                <a16:creationId xmlns:a16="http://schemas.microsoft.com/office/drawing/2014/main" id="{72CAE5E1-59DF-6728-4353-03E068A7D32A}"/>
              </a:ext>
            </a:extLst>
          </p:cNvPr>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1797905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EA712-3668-593B-0725-E0FACB144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D5541-8711-05D6-6782-D7ED1302B4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522BAA-DAD0-84E9-F215-55B2F07A09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C4C68D-2D98-008B-FC59-2F1ACACFE8D3}"/>
              </a:ext>
            </a:extLst>
          </p:cNvPr>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575410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04087-9663-8B8B-70AD-BAD0E9FDB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B184E4-49E7-7607-2601-B0C395BC9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9B1BF3-4717-A6EE-CAAD-5D710C168965}"/>
              </a:ext>
            </a:extLst>
          </p:cNvPr>
          <p:cNvSpPr>
            <a:spLocks noGrp="1"/>
          </p:cNvSpPr>
          <p:nvPr>
            <p:ph type="body" idx="1"/>
          </p:nvPr>
        </p:nvSpPr>
        <p:spPr/>
        <p:txBody>
          <a:bodyPr/>
          <a:lstStyle/>
          <a:p>
            <a:r>
              <a:rPr lang="en-US" dirty="0"/>
              <a:t>Talk through design here</a:t>
            </a:r>
          </a:p>
        </p:txBody>
      </p:sp>
      <p:sp>
        <p:nvSpPr>
          <p:cNvPr id="4" name="Slide Number Placeholder 3">
            <a:extLst>
              <a:ext uri="{FF2B5EF4-FFF2-40B4-BE49-F238E27FC236}">
                <a16:creationId xmlns:a16="http://schemas.microsoft.com/office/drawing/2014/main" id="{847B6ED2-704C-CD5F-41D9-602FF67DDFE4}"/>
              </a:ext>
            </a:extLst>
          </p:cNvPr>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4733810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2601-484B-40C2-02AD-FDA8B173B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292FAD-3041-A8AD-BAF6-F002901D7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8BD1C-9FE8-F545-91CE-06800A5E24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EF5846-14F9-DAD7-E72F-87C1E46602A9}"/>
              </a:ext>
            </a:extLst>
          </p:cNvPr>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37495253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the control group isn’t credible? Can combine with other approaches (briefly mention matching if you have time)</a:t>
            </a:r>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37955335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C0A12-8AD7-5A14-0942-4B4D91285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E502DD-2A7E-6E27-3310-6CDBCB4F38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E06DB9-EE56-2007-673D-2284361913C8}"/>
              </a:ext>
            </a:extLst>
          </p:cNvPr>
          <p:cNvSpPr>
            <a:spLocks noGrp="1"/>
          </p:cNvSpPr>
          <p:nvPr>
            <p:ph type="body" idx="1"/>
          </p:nvPr>
        </p:nvSpPr>
        <p:spPr/>
        <p:txBody>
          <a:bodyPr/>
          <a:lstStyle/>
          <a:p>
            <a:r>
              <a:rPr lang="en-US" dirty="0"/>
              <a:t>Could also add in something about DDD here. </a:t>
            </a:r>
          </a:p>
        </p:txBody>
      </p:sp>
      <p:sp>
        <p:nvSpPr>
          <p:cNvPr id="4" name="Slide Number Placeholder 3">
            <a:extLst>
              <a:ext uri="{FF2B5EF4-FFF2-40B4-BE49-F238E27FC236}">
                <a16:creationId xmlns:a16="http://schemas.microsoft.com/office/drawing/2014/main" id="{EAD92CC8-3489-44F0-31F2-203A47E8BAA1}"/>
              </a:ext>
            </a:extLst>
          </p:cNvPr>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40236283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people say synthetic control, but I like the plural – reminds me of the construction of the control group</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33660952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Lots of reason to assume that other control regions might not be satisfactory (what do you think?)</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20517931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matching on any covariates and on pre-trends (so that the parallel trends assumption is satisfied). If the weighted average were just one unit, it would be simple DID. What would it have to be for synthetic control to mimic generalized DID? </a:t>
            </a:r>
          </a:p>
          <a:p>
            <a:r>
              <a:rPr lang="en-US" dirty="0"/>
              <a:t>Note also: the method is different from matching because we are trying to </a:t>
            </a:r>
            <a:r>
              <a:rPr lang="en-US" i="1" dirty="0"/>
              <a:t>close </a:t>
            </a:r>
            <a:r>
              <a:rPr lang="en-US" i="0" dirty="0"/>
              <a:t>gaps, not account for propensity of treatment! Explicitly more involved than matching</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21609606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39970835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85786-1CA5-1770-D6BB-3A8B51356C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D0A09-DAF0-D53B-0C20-A13B5F5F9B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E9822C-40E2-E2D6-149D-777715395E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E4EAEB-08E5-4626-9C89-D6C378EFC9F9}"/>
              </a:ext>
            </a:extLst>
          </p:cNvPr>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18097735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8D3E8-1060-2D25-5F45-3D3ED082CC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68F32-79E3-072F-3413-3DF2D7119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7603CA-9B93-A727-8ABA-5A11C6EF1947}"/>
              </a:ext>
            </a:extLst>
          </p:cNvPr>
          <p:cNvSpPr>
            <a:spLocks noGrp="1"/>
          </p:cNvSpPr>
          <p:nvPr>
            <p:ph type="body" idx="1"/>
          </p:nvPr>
        </p:nvSpPr>
        <p:spPr/>
        <p:txBody>
          <a:bodyPr/>
          <a:lstStyle/>
          <a:p>
            <a:r>
              <a:rPr lang="en-US" dirty="0"/>
              <a:t>We want to go from this to this. How? </a:t>
            </a:r>
          </a:p>
        </p:txBody>
      </p:sp>
      <p:sp>
        <p:nvSpPr>
          <p:cNvPr id="4" name="Slide Number Placeholder 3">
            <a:extLst>
              <a:ext uri="{FF2B5EF4-FFF2-40B4-BE49-F238E27FC236}">
                <a16:creationId xmlns:a16="http://schemas.microsoft.com/office/drawing/2014/main" id="{20CFB2C2-B045-77F4-9AAD-64D0BDCBB7E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F79E1B-2C51-4B9B-8EA4-26DE9E345AF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4398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our question here? </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11473072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this tell us about our ideal control group? </a:t>
            </a:r>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18066875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C228B-CDBD-75D7-ECBA-F6F358069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FC253-9D7C-7EF0-5E29-FA5B160C6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72E33-ADBF-6EF6-AC21-2B423DDAD27B}"/>
              </a:ext>
            </a:extLst>
          </p:cNvPr>
          <p:cNvSpPr>
            <a:spLocks noGrp="1"/>
          </p:cNvSpPr>
          <p:nvPr>
            <p:ph type="body" idx="1"/>
          </p:nvPr>
        </p:nvSpPr>
        <p:spPr/>
        <p:txBody>
          <a:bodyPr/>
          <a:lstStyle/>
          <a:p>
            <a:r>
              <a:rPr lang="en-US" dirty="0"/>
              <a:t>What does this tell us about our ideal control group? </a:t>
            </a:r>
          </a:p>
        </p:txBody>
      </p:sp>
      <p:sp>
        <p:nvSpPr>
          <p:cNvPr id="4" name="Slide Number Placeholder 3">
            <a:extLst>
              <a:ext uri="{FF2B5EF4-FFF2-40B4-BE49-F238E27FC236}">
                <a16:creationId xmlns:a16="http://schemas.microsoft.com/office/drawing/2014/main" id="{8589C585-0249-6EEC-B6D2-3541C3FF42B5}"/>
              </a:ext>
            </a:extLst>
          </p:cNvPr>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33227785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9B134-C44C-545A-ECFE-A0D40E5793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D5BBC1-738D-17EC-58AC-239590CFC2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A6FC71-EED3-0A79-1037-9D92CABE66C1}"/>
              </a:ext>
            </a:extLst>
          </p:cNvPr>
          <p:cNvSpPr>
            <a:spLocks noGrp="1"/>
          </p:cNvSpPr>
          <p:nvPr>
            <p:ph type="body" idx="1"/>
          </p:nvPr>
        </p:nvSpPr>
        <p:spPr/>
        <p:txBody>
          <a:bodyPr/>
          <a:lstStyle/>
          <a:p>
            <a:r>
              <a:rPr lang="en-US" dirty="0"/>
              <a:t>What does this tell us about our ideal control group? </a:t>
            </a:r>
          </a:p>
        </p:txBody>
      </p:sp>
      <p:sp>
        <p:nvSpPr>
          <p:cNvPr id="4" name="Slide Number Placeholder 3">
            <a:extLst>
              <a:ext uri="{FF2B5EF4-FFF2-40B4-BE49-F238E27FC236}">
                <a16:creationId xmlns:a16="http://schemas.microsoft.com/office/drawing/2014/main" id="{D0C12CCA-EE68-90CE-6336-64E5D31C3580}"/>
              </a:ext>
            </a:extLst>
          </p:cNvPr>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28843018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A9ED-FB9C-5EDE-335B-31D527486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A2828-F1F2-EA22-F91C-6C9A1FDDFA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7EE2A-57AF-839E-7F83-A138A2A7B183}"/>
              </a:ext>
            </a:extLst>
          </p:cNvPr>
          <p:cNvSpPr>
            <a:spLocks noGrp="1"/>
          </p:cNvSpPr>
          <p:nvPr>
            <p:ph type="body" idx="1"/>
          </p:nvPr>
        </p:nvSpPr>
        <p:spPr/>
        <p:txBody>
          <a:bodyPr/>
          <a:lstStyle/>
          <a:p>
            <a:r>
              <a:rPr lang="en-US" dirty="0"/>
              <a:t>What does this tell us about our ideal control group? </a:t>
            </a:r>
          </a:p>
        </p:txBody>
      </p:sp>
      <p:sp>
        <p:nvSpPr>
          <p:cNvPr id="4" name="Slide Number Placeholder 3">
            <a:extLst>
              <a:ext uri="{FF2B5EF4-FFF2-40B4-BE49-F238E27FC236}">
                <a16:creationId xmlns:a16="http://schemas.microsoft.com/office/drawing/2014/main" id="{627D3EDC-06C0-04AF-B45F-3532547CFC58}"/>
              </a:ext>
            </a:extLst>
          </p:cNvPr>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22296438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 guide to synthetic controls to papers in folder (McClelland and Gault). In machine learning, this is called the “training” of the synthetic control. Note that training the model takes a minute to run so start it and come back to subsequent slides. </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3177662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the donor pool here? What variables: </a:t>
            </a:r>
            <a:r>
              <a:rPr lang="en-US" dirty="0" err="1"/>
              <a:t>GDPper</a:t>
            </a:r>
            <a:r>
              <a:rPr lang="en-US" dirty="0"/>
              <a:t> capita, education, and urbanization (and lagged infant mortality)</a:t>
            </a:r>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16615261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F6F3C-63F6-5271-A1FB-09EA18128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77D88-85B1-7C66-8ABA-753716F3DF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AE040-B671-CA82-5F4A-B78F4BD19ECE}"/>
              </a:ext>
            </a:extLst>
          </p:cNvPr>
          <p:cNvSpPr>
            <a:spLocks noGrp="1"/>
          </p:cNvSpPr>
          <p:nvPr>
            <p:ph type="body" idx="1"/>
          </p:nvPr>
        </p:nvSpPr>
        <p:spPr/>
        <p:txBody>
          <a:bodyPr/>
          <a:lstStyle/>
          <a:p>
            <a:r>
              <a:rPr lang="en-US" dirty="0"/>
              <a:t>Who’s the donor pool here? What variables: </a:t>
            </a:r>
            <a:r>
              <a:rPr lang="en-US" dirty="0" err="1"/>
              <a:t>GDPper</a:t>
            </a:r>
            <a:r>
              <a:rPr lang="en-US" dirty="0"/>
              <a:t> capita, education, and urbanization (and lagged infant mortality)</a:t>
            </a:r>
          </a:p>
        </p:txBody>
      </p:sp>
      <p:sp>
        <p:nvSpPr>
          <p:cNvPr id="4" name="Slide Number Placeholder 3">
            <a:extLst>
              <a:ext uri="{FF2B5EF4-FFF2-40B4-BE49-F238E27FC236}">
                <a16:creationId xmlns:a16="http://schemas.microsoft.com/office/drawing/2014/main" id="{7846A36D-DEBF-EEFE-C2B7-1741503ED22A}"/>
              </a:ext>
            </a:extLst>
          </p:cNvPr>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29981850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3A3C"/>
                </a:solidFill>
                <a:effectLst/>
                <a:latin typeface="Lato" panose="020F0502020204030203" pitchFamily="34" charset="0"/>
              </a:rPr>
              <a:t>Synthetic controls precludes extrapolation by using </a:t>
            </a:r>
            <a:r>
              <a:rPr lang="en-US" b="0" i="1" dirty="0">
                <a:solidFill>
                  <a:srgbClr val="373A3C"/>
                </a:solidFill>
                <a:effectLst/>
                <a:latin typeface="Lato" panose="020F0502020204030203" pitchFamily="34" charset="0"/>
              </a:rPr>
              <a:t>interpolation </a:t>
            </a:r>
            <a:r>
              <a:rPr lang="en-US" b="0" i="0" dirty="0">
                <a:solidFill>
                  <a:srgbClr val="373A3C"/>
                </a:solidFill>
                <a:effectLst/>
                <a:latin typeface="Lato" panose="020F0502020204030203" pitchFamily="34" charset="0"/>
              </a:rPr>
              <a:t>instead: the estimated effect is based on a comparison between some outcome in a given year and a counterfactual in the same year. Use the next slide for intuition here</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33496822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7FF70-4688-E3F6-380A-ACB48FBFC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1906B-1611-4476-0696-E02C02781C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D6AA5-DC4D-8B9F-D55B-A05EC115A1A6}"/>
              </a:ext>
            </a:extLst>
          </p:cNvPr>
          <p:cNvSpPr>
            <a:spLocks noGrp="1"/>
          </p:cNvSpPr>
          <p:nvPr>
            <p:ph type="body" idx="1"/>
          </p:nvPr>
        </p:nvSpPr>
        <p:spPr/>
        <p:txBody>
          <a:bodyPr/>
          <a:lstStyle/>
          <a:p>
            <a:r>
              <a:rPr lang="en-US" dirty="0"/>
              <a:t>What is the convex hull? We are going to assign weights to our control units – these weights have to sum to 1, and the weighted average should be “close” to the true treatment group. </a:t>
            </a:r>
          </a:p>
          <a:p>
            <a:pPr marL="171450" indent="-171450">
              <a:buFontTx/>
              <a:buChar char="-"/>
            </a:pPr>
            <a:r>
              <a:rPr lang="en-US" dirty="0"/>
              <a:t>Blue dots are the donor pool – notice the outer envelope is the convex hull</a:t>
            </a:r>
          </a:p>
          <a:p>
            <a:pPr marL="171450" indent="-171450">
              <a:buFontTx/>
              <a:buChar char="-"/>
            </a:pPr>
            <a:r>
              <a:rPr lang="en-US" dirty="0"/>
              <a:t>When is SCM useful? When is it not? Note that it is *most* useful (this is a bit technical) when the treated units aren’t always perfectly within the convex hull (then you’re sort of back to a diff-in-diff state).</a:t>
            </a:r>
          </a:p>
        </p:txBody>
      </p:sp>
      <p:sp>
        <p:nvSpPr>
          <p:cNvPr id="4" name="Slide Number Placeholder 3">
            <a:extLst>
              <a:ext uri="{FF2B5EF4-FFF2-40B4-BE49-F238E27FC236}">
                <a16:creationId xmlns:a16="http://schemas.microsoft.com/office/drawing/2014/main" id="{A19996D5-CD15-6A6B-AB7B-7CBC0002E4A5}"/>
              </a:ext>
            </a:extLst>
          </p:cNvPr>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36132668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3A3C"/>
                </a:solidFill>
                <a:effectLst/>
                <a:latin typeface="Lato" panose="020F0502020204030203" pitchFamily="34" charset="0"/>
              </a:rPr>
              <a:t>Weight constraints: nonnegative weights and sum to 1. What does this mean? The pictures tell the whole story!</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26885871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the differences between the 0s and the dashes? Talk about the RMSPE here – how can we do inference on this? “To gauge the meaningfulness of our results, we use these reported RMSPE against those that emerge from placebo tests. These tests repeat the synthetic exercise for each country in our donor pools using 1959 as the treatment year. We then calculate the ratio of post-treatment RMSPE to pretreatment RMSPE and expecting it to be smaller for donor countries than for Cuba given that these other countries experience no treatment”</a:t>
            </a:r>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15962685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like in matching, want to show balance in covariates as well – especially for the lagged DV outcomes (see McClelland and Gault)</a:t>
            </a:r>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615667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pre-trends, then differences following policy enforcement. </a:t>
            </a:r>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36632322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pre-trends, then differences following policy enforcement. What’s the treatment effect here? How do we interpret it?</a:t>
            </a:r>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42554915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RBI is a whole topic, happy to explore that in more detail with students who are interested (see Nick/Scott’s textbooks). It’s like bootstrapping. </a:t>
            </a:r>
          </a:p>
        </p:txBody>
      </p:sp>
      <p:sp>
        <p:nvSpPr>
          <p:cNvPr id="4" name="Slide Number Placeholder 3"/>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5687651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(1), you drop your actually treated observation and work only with the other donor pool states. Construct a new synthetic OR, WV, DC, etc. Then check what percentile your actual effect is in the “null distribution” you have created. Obviously, these work better if you have many units in the donor pool. </a:t>
            </a:r>
          </a:p>
        </p:txBody>
      </p:sp>
      <p:sp>
        <p:nvSpPr>
          <p:cNvPr id="4" name="Slide Number Placeholder 3"/>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32757952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this is why the code before took a while – other placebos are mentioned in the code. How do we interpret this figure? </a:t>
            </a:r>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10070135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essence of randomization inference – no code, can you figure this out yourself? Basically, how much does the post-treatment stand out from the pre-treatment fit?</a:t>
            </a:r>
          </a:p>
        </p:txBody>
      </p:sp>
      <p:sp>
        <p:nvSpPr>
          <p:cNvPr id="4" name="Slide Number Placeholder 3"/>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24398107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note on matching on outcome: </a:t>
            </a:r>
            <a:r>
              <a:rPr lang="en-US" sz="1200" b="0" i="0" dirty="0">
                <a:solidFill>
                  <a:srgbClr val="222222"/>
                </a:solidFill>
                <a:effectLst/>
                <a:latin typeface="Source Sans Pro" panose="020B0503030403020204" pitchFamily="34" charset="0"/>
              </a:rPr>
              <a:t>Plus, other methods like difference-in-differences also use information about pre-treatment outcomes to produce their estimate. They just do so in less obvious ways.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5413946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1475033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7/22/2026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4.png"/><Relationship Id="rId7"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customXml" Target="../ink/ink1.xml"/><Relationship Id="rId11" Type="http://schemas.openxmlformats.org/officeDocument/2006/relationships/image" Target="../media/image50.png"/><Relationship Id="rId5" Type="http://schemas.openxmlformats.org/officeDocument/2006/relationships/image" Target="../media/image6.png"/><Relationship Id="rId10" Type="http://schemas.openxmlformats.org/officeDocument/2006/relationships/customXml" Target="../ink/ink3.xml"/><Relationship Id="rId4" Type="http://schemas.openxmlformats.org/officeDocument/2006/relationships/image" Target="../media/image5.png"/><Relationship Id="rId9" Type="http://schemas.openxmlformats.org/officeDocument/2006/relationships/image" Target="../media/image4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hyperlink" Target="https://www.youtube.com/watch?v=nKzNp-qpE-I&amp;ab_channel=BradyNeal-CausalInference"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209800"/>
            <a:ext cx="10668000" cy="1894362"/>
          </a:xfrm>
        </p:spPr>
        <p:txBody>
          <a:bodyPr>
            <a:normAutofit/>
          </a:bodyPr>
          <a:lstStyle/>
          <a:p>
            <a:r>
              <a:rPr lang="en-US" dirty="0"/>
              <a:t>Quant Methods in HSR I </a:t>
            </a:r>
          </a:p>
        </p:txBody>
      </p:sp>
      <p:sp>
        <p:nvSpPr>
          <p:cNvPr id="3" name="Subtitle 2"/>
          <p:cNvSpPr>
            <a:spLocks noGrp="1"/>
          </p:cNvSpPr>
          <p:nvPr>
            <p:ph type="subTitle" idx="1"/>
          </p:nvPr>
        </p:nvSpPr>
        <p:spPr>
          <a:xfrm>
            <a:off x="941832" y="4191000"/>
            <a:ext cx="10411968" cy="1981200"/>
          </a:xfrm>
        </p:spPr>
        <p:txBody>
          <a:bodyPr>
            <a:noAutofit/>
          </a:bodyPr>
          <a:lstStyle/>
          <a:p>
            <a:r>
              <a:rPr lang="en-US" sz="2400" dirty="0"/>
              <a:t>Lecture 11: Difference-in-Differences 2</a:t>
            </a:r>
          </a:p>
          <a:p>
            <a:r>
              <a:rPr lang="en-US" sz="2400" dirty="0"/>
              <a:t>November 30,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58724-D6FC-FD9E-C721-70877238790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1F12713-42D4-F3E8-BB91-C9F45F36DA20}"/>
              </a:ext>
            </a:extLst>
          </p:cNvPr>
          <p:cNvSpPr>
            <a:spLocks noGrp="1"/>
          </p:cNvSpPr>
          <p:nvPr>
            <p:ph type="title"/>
          </p:nvPr>
        </p:nvSpPr>
        <p:spPr>
          <a:xfrm>
            <a:off x="148389" y="76200"/>
            <a:ext cx="10439400" cy="624840"/>
          </a:xfrm>
        </p:spPr>
        <p:txBody>
          <a:bodyPr>
            <a:noAutofit/>
          </a:bodyPr>
          <a:lstStyle/>
          <a:p>
            <a:r>
              <a:rPr lang="en-US" sz="3600" dirty="0">
                <a:cs typeface="Times New Roman" panose="02020603050405020304" pitchFamily="18" charset="0"/>
              </a:rPr>
              <a:t>Latest Research Designs Used in Working Papers</a:t>
            </a:r>
            <a:endParaRPr lang="en-US" sz="3600" dirty="0">
              <a:latin typeface="Times New Roman" panose="02020603050405020304" pitchFamily="18" charset="0"/>
              <a:cs typeface="Times New Roman" panose="02020603050405020304" pitchFamily="18" charset="0"/>
            </a:endParaRPr>
          </a:p>
        </p:txBody>
      </p:sp>
      <p:graphicFrame>
        <p:nvGraphicFramePr>
          <p:cNvPr id="12" name="Content Placeholder 11">
            <a:extLst>
              <a:ext uri="{FF2B5EF4-FFF2-40B4-BE49-F238E27FC236}">
                <a16:creationId xmlns:a16="http://schemas.microsoft.com/office/drawing/2014/main" id="{17A16196-3DDE-A6A6-77D7-0D2FA729EE85}"/>
              </a:ext>
            </a:extLst>
          </p:cNvPr>
          <p:cNvGraphicFramePr>
            <a:graphicFrameLocks noGrp="1"/>
          </p:cNvGraphicFramePr>
          <p:nvPr>
            <p:ph idx="1"/>
            <p:extLst>
              <p:ext uri="{D42A27DB-BD31-4B8C-83A1-F6EECF244321}">
                <p14:modId xmlns:p14="http://schemas.microsoft.com/office/powerpoint/2010/main" val="801427784"/>
              </p:ext>
            </p:extLst>
          </p:nvPr>
        </p:nvGraphicFramePr>
        <p:xfrm>
          <a:off x="152400" y="701041"/>
          <a:ext cx="12039600" cy="6100912"/>
        </p:xfrm>
        <a:graphic>
          <a:graphicData uri="http://schemas.openxmlformats.org/drawingml/2006/table">
            <a:tbl>
              <a:tblPr>
                <a:tableStyleId>{5C22544A-7EE6-4342-B048-85BDC9FD1C3A}</a:tableStyleId>
              </a:tblPr>
              <a:tblGrid>
                <a:gridCol w="2819400">
                  <a:extLst>
                    <a:ext uri="{9D8B030D-6E8A-4147-A177-3AD203B41FA5}">
                      <a16:colId xmlns:a16="http://schemas.microsoft.com/office/drawing/2014/main" val="1425351175"/>
                    </a:ext>
                  </a:extLst>
                </a:gridCol>
                <a:gridCol w="1952247">
                  <a:extLst>
                    <a:ext uri="{9D8B030D-6E8A-4147-A177-3AD203B41FA5}">
                      <a16:colId xmlns:a16="http://schemas.microsoft.com/office/drawing/2014/main" val="3831726991"/>
                    </a:ext>
                  </a:extLst>
                </a:gridCol>
                <a:gridCol w="4910978">
                  <a:extLst>
                    <a:ext uri="{9D8B030D-6E8A-4147-A177-3AD203B41FA5}">
                      <a16:colId xmlns:a16="http://schemas.microsoft.com/office/drawing/2014/main" val="3960183827"/>
                    </a:ext>
                  </a:extLst>
                </a:gridCol>
                <a:gridCol w="2356975">
                  <a:extLst>
                    <a:ext uri="{9D8B030D-6E8A-4147-A177-3AD203B41FA5}">
                      <a16:colId xmlns:a16="http://schemas.microsoft.com/office/drawing/2014/main" val="2680932756"/>
                    </a:ext>
                  </a:extLst>
                </a:gridCol>
              </a:tblGrid>
              <a:tr h="217031">
                <a:tc>
                  <a:txBody>
                    <a:bodyPr/>
                    <a:lstStyle/>
                    <a:p>
                      <a:pPr algn="l" fontAlgn="b">
                        <a:buNone/>
                      </a:pPr>
                      <a:r>
                        <a:rPr lang="en-CA" sz="1400" b="1" u="none" strike="noStrike" dirty="0">
                          <a:effectLst/>
                          <a:latin typeface="Aptos Narrow" panose="020B0004020202020204" pitchFamily="34" charset="0"/>
                        </a:rPr>
                        <a:t>Title</a:t>
                      </a:r>
                      <a:endParaRPr lang="en-CA" sz="1400" b="1" i="0" u="none" strike="noStrike" dirty="0">
                        <a:solidFill>
                          <a:srgbClr val="FFFFFF"/>
                        </a:solidFill>
                        <a:effectLst/>
                        <a:latin typeface="Aptos Narrow" panose="020B0004020202020204" pitchFamily="34" charset="0"/>
                      </a:endParaRPr>
                    </a:p>
                  </a:txBody>
                  <a:tcPr marL="6236" marR="6236" marT="6236" marB="0" anchor="b"/>
                </a:tc>
                <a:tc>
                  <a:txBody>
                    <a:bodyPr/>
                    <a:lstStyle/>
                    <a:p>
                      <a:pPr algn="l" fontAlgn="b">
                        <a:buNone/>
                      </a:pPr>
                      <a:r>
                        <a:rPr lang="en-CA" sz="1400" b="1" u="none" strike="noStrike">
                          <a:effectLst/>
                          <a:latin typeface="Aptos Narrow" panose="020B0004020202020204" pitchFamily="34" charset="0"/>
                        </a:rPr>
                        <a:t>Authors</a:t>
                      </a:r>
                      <a:endParaRPr lang="en-CA" sz="1400" b="1" i="0" u="none" strike="noStrike">
                        <a:solidFill>
                          <a:srgbClr val="FFFFFF"/>
                        </a:solidFill>
                        <a:effectLst/>
                        <a:latin typeface="Aptos Narrow" panose="020B0004020202020204" pitchFamily="34" charset="0"/>
                      </a:endParaRPr>
                    </a:p>
                  </a:txBody>
                  <a:tcPr marL="6236" marR="6236" marT="6236" marB="0" anchor="b"/>
                </a:tc>
                <a:tc>
                  <a:txBody>
                    <a:bodyPr/>
                    <a:lstStyle/>
                    <a:p>
                      <a:pPr algn="l" fontAlgn="b">
                        <a:buNone/>
                      </a:pPr>
                      <a:r>
                        <a:rPr lang="en-CA" sz="1400" b="1" u="none" strike="noStrike" dirty="0">
                          <a:effectLst/>
                          <a:latin typeface="Aptos Narrow" panose="020B0004020202020204" pitchFamily="34" charset="0"/>
                        </a:rPr>
                        <a:t>Research Question</a:t>
                      </a:r>
                      <a:endParaRPr lang="en-CA" sz="1400" b="1" i="0" u="none" strike="noStrike" dirty="0">
                        <a:solidFill>
                          <a:srgbClr val="FFFFFF"/>
                        </a:solidFill>
                        <a:effectLst/>
                        <a:latin typeface="Aptos Narrow" panose="020B0004020202020204" pitchFamily="34" charset="0"/>
                      </a:endParaRPr>
                    </a:p>
                  </a:txBody>
                  <a:tcPr marL="6236" marR="6236" marT="6236" marB="0" anchor="b"/>
                </a:tc>
                <a:tc>
                  <a:txBody>
                    <a:bodyPr/>
                    <a:lstStyle/>
                    <a:p>
                      <a:pPr algn="l" fontAlgn="b">
                        <a:buNone/>
                      </a:pPr>
                      <a:r>
                        <a:rPr lang="en-CA" sz="1400" b="1" u="none" strike="noStrike" dirty="0">
                          <a:effectLst/>
                          <a:latin typeface="Aptos Narrow" panose="020B0004020202020204" pitchFamily="34" charset="0"/>
                        </a:rPr>
                        <a:t>Research design</a:t>
                      </a:r>
                      <a:endParaRPr lang="en-CA" sz="1400" b="1" i="0" u="none" strike="noStrike" dirty="0">
                        <a:solidFill>
                          <a:srgbClr val="FFFFFF"/>
                        </a:solidFill>
                        <a:effectLst/>
                        <a:latin typeface="Aptos Narrow" panose="020B0004020202020204" pitchFamily="34" charset="0"/>
                      </a:endParaRPr>
                    </a:p>
                  </a:txBody>
                  <a:tcPr marL="6236" marR="6236" marT="6236" marB="0" anchor="b"/>
                </a:tc>
                <a:extLst>
                  <a:ext uri="{0D108BD9-81ED-4DB2-BD59-A6C34878D82A}">
                    <a16:rowId xmlns:a16="http://schemas.microsoft.com/office/drawing/2014/main" val="4162762390"/>
                  </a:ext>
                </a:extLst>
              </a:tr>
              <a:tr h="862814">
                <a:tc>
                  <a:txBody>
                    <a:bodyPr/>
                    <a:lstStyle/>
                    <a:p>
                      <a:pPr algn="l" fontAlgn="b">
                        <a:buNone/>
                      </a:pPr>
                      <a:r>
                        <a:rPr lang="en-US" sz="1400" u="none" strike="noStrike" dirty="0">
                          <a:effectLst/>
                          <a:latin typeface="Aptos Narrow" panose="020B0004020202020204" pitchFamily="34" charset="0"/>
                        </a:rPr>
                        <a:t>Who gets what in education: can school matching improve student achievement?</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CA" sz="1400" u="none" strike="noStrike" dirty="0">
                          <a:effectLst/>
                          <a:latin typeface="Aptos Narrow" panose="020B0004020202020204" pitchFamily="34" charset="0"/>
                        </a:rPr>
                        <a:t>Atila </a:t>
                      </a:r>
                      <a:r>
                        <a:rPr lang="en-CA" sz="1400" u="none" strike="noStrike" dirty="0" err="1">
                          <a:effectLst/>
                          <a:latin typeface="Aptos Narrow" panose="020B0004020202020204" pitchFamily="34" charset="0"/>
                        </a:rPr>
                        <a:t>Abdulkadiroglu</a:t>
                      </a:r>
                      <a:r>
                        <a:rPr lang="en-CA" sz="1400" u="none" strike="noStrike" dirty="0">
                          <a:effectLst/>
                          <a:latin typeface="Aptos Narrow" panose="020B0004020202020204" pitchFamily="34" charset="0"/>
                        </a:rPr>
                        <a:t>, Parag A. Pathak, and Christopher R. Walters</a:t>
                      </a:r>
                      <a:endParaRPr lang="en-CA"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What affects student achievement: changing who gets to go to existing schools or closures/reconstitution?</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OLS + selection on observables (with a lot of theory)</a:t>
                      </a:r>
                      <a:endParaRPr lang="en-US" sz="1400" b="0" i="0" u="none" strike="noStrike" dirty="0">
                        <a:solidFill>
                          <a:srgbClr val="000000"/>
                        </a:solidFill>
                        <a:effectLst/>
                        <a:latin typeface="Aptos Narrow" panose="020B0004020202020204" pitchFamily="34" charset="0"/>
                      </a:endParaRPr>
                    </a:p>
                  </a:txBody>
                  <a:tcPr marL="6236" marR="6236" marT="6236" marB="0" anchor="ctr"/>
                </a:tc>
                <a:extLst>
                  <a:ext uri="{0D108BD9-81ED-4DB2-BD59-A6C34878D82A}">
                    <a16:rowId xmlns:a16="http://schemas.microsoft.com/office/drawing/2014/main" val="2278021168"/>
                  </a:ext>
                </a:extLst>
              </a:tr>
              <a:tr h="862814">
                <a:tc>
                  <a:txBody>
                    <a:bodyPr/>
                    <a:lstStyle/>
                    <a:p>
                      <a:pPr algn="l" fontAlgn="b">
                        <a:buNone/>
                      </a:pPr>
                      <a:r>
                        <a:rPr lang="en-US" sz="1400" u="none" strike="noStrike" dirty="0">
                          <a:effectLst/>
                          <a:latin typeface="Aptos Narrow" panose="020B0004020202020204" pitchFamily="34" charset="0"/>
                        </a:rPr>
                        <a:t>When Incentives Aren't Enough: Evidence on Inattention and Imperfect Memory from HIV Medication Adherence</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CA" sz="1400" u="none" strike="noStrike" dirty="0">
                          <a:effectLst/>
                          <a:latin typeface="Aptos Narrow" panose="020B0004020202020204" pitchFamily="34" charset="0"/>
                        </a:rPr>
                        <a:t>Hang Yu ⓡ Jared </a:t>
                      </a:r>
                      <a:r>
                        <a:rPr lang="en-CA" sz="1400" u="none" strike="noStrike" dirty="0" err="1">
                          <a:effectLst/>
                          <a:latin typeface="Aptos Narrow" panose="020B0004020202020204" pitchFamily="34" charset="0"/>
                        </a:rPr>
                        <a:t>Stolove</a:t>
                      </a:r>
                      <a:r>
                        <a:rPr lang="en-CA" sz="1400" u="none" strike="noStrike" dirty="0">
                          <a:effectLst/>
                          <a:latin typeface="Aptos Narrow" panose="020B0004020202020204" pitchFamily="34" charset="0"/>
                        </a:rPr>
                        <a:t> ⓡ Dean Yang ⓡ James Riddell IV ⓡ Arlete </a:t>
                      </a:r>
                      <a:r>
                        <a:rPr lang="en-CA" sz="1400" u="none" strike="noStrike" dirty="0" err="1">
                          <a:effectLst/>
                          <a:latin typeface="Aptos Narrow" panose="020B0004020202020204" pitchFamily="34" charset="0"/>
                        </a:rPr>
                        <a:t>Mahumane</a:t>
                      </a:r>
                      <a:endParaRPr lang="en-CA"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Are financial incentives effective in encouraging positive health behaviors? </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Lab experiment (RCT) of price effects + reminder effects</a:t>
                      </a:r>
                      <a:endParaRPr lang="en-US" sz="1400" b="0" i="0" u="none" strike="noStrike" dirty="0">
                        <a:solidFill>
                          <a:srgbClr val="000000"/>
                        </a:solidFill>
                        <a:effectLst/>
                        <a:latin typeface="Aptos Narrow" panose="020B0004020202020204" pitchFamily="34" charset="0"/>
                      </a:endParaRPr>
                    </a:p>
                  </a:txBody>
                  <a:tcPr marL="6236" marR="6236" marT="6236" marB="0" anchor="ctr"/>
                </a:tc>
                <a:extLst>
                  <a:ext uri="{0D108BD9-81ED-4DB2-BD59-A6C34878D82A}">
                    <a16:rowId xmlns:a16="http://schemas.microsoft.com/office/drawing/2014/main" val="2724334550"/>
                  </a:ext>
                </a:extLst>
              </a:tr>
              <a:tr h="739555">
                <a:tc>
                  <a:txBody>
                    <a:bodyPr/>
                    <a:lstStyle/>
                    <a:p>
                      <a:pPr algn="l" fontAlgn="b">
                        <a:buNone/>
                      </a:pPr>
                      <a:r>
                        <a:rPr lang="en-US" sz="1400" u="none" strike="noStrike" dirty="0">
                          <a:effectLst/>
                          <a:latin typeface="Aptos Narrow" panose="020B0004020202020204" pitchFamily="34" charset="0"/>
                        </a:rPr>
                        <a:t>"Feel" as a Determinant of College Choice: Evidence from Campus Tour Weather</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CA" sz="1400" u="none" strike="noStrike">
                          <a:effectLst/>
                          <a:latin typeface="Aptos Narrow" panose="020B0004020202020204" pitchFamily="34" charset="0"/>
                        </a:rPr>
                        <a:t>Olivia Feldman, Joshua M. Hyman, and Matthew L. McGann</a:t>
                      </a:r>
                      <a:endParaRPr lang="en-CA" sz="1400" b="0" i="0" u="none" strike="noStrike">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Is the impression that students get about a particular college an important determinant of their applications?</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IV using weather on tour day!</a:t>
                      </a:r>
                      <a:endParaRPr lang="en-US" sz="1400" b="0" i="0" u="none" strike="noStrike" dirty="0">
                        <a:solidFill>
                          <a:srgbClr val="000000"/>
                        </a:solidFill>
                        <a:effectLst/>
                        <a:latin typeface="Aptos Narrow" panose="020B0004020202020204" pitchFamily="34" charset="0"/>
                      </a:endParaRPr>
                    </a:p>
                  </a:txBody>
                  <a:tcPr marL="6236" marR="6236" marT="6236" marB="0" anchor="ctr"/>
                </a:tc>
                <a:extLst>
                  <a:ext uri="{0D108BD9-81ED-4DB2-BD59-A6C34878D82A}">
                    <a16:rowId xmlns:a16="http://schemas.microsoft.com/office/drawing/2014/main" val="396029245"/>
                  </a:ext>
                </a:extLst>
              </a:tr>
              <a:tr h="849636">
                <a:tc>
                  <a:txBody>
                    <a:bodyPr/>
                    <a:lstStyle/>
                    <a:p>
                      <a:pPr algn="l" fontAlgn="b">
                        <a:buNone/>
                      </a:pPr>
                      <a:r>
                        <a:rPr lang="en-US" sz="1400" u="none" strike="noStrike" dirty="0">
                          <a:effectLst/>
                          <a:latin typeface="Aptos Narrow" panose="020B0004020202020204" pitchFamily="34" charset="0"/>
                        </a:rPr>
                        <a:t>The Micro-Geography of Persuasion: Randomized Peer Exposure and Legislative Outcomes</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a:effectLst/>
                          <a:latin typeface="Aptos Narrow" panose="020B0004020202020204" pitchFamily="34" charset="0"/>
                        </a:rPr>
                        <a:t>Lauren Cohen and Bo Li</a:t>
                      </a:r>
                      <a:endParaRPr lang="en-US" sz="1400" b="0" i="0" u="none" strike="noStrike">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How do your neighbors and face-to-face interactions with other senators affect your own voting? </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Simple probit with quasi-experiment + ML</a:t>
                      </a:r>
                      <a:endParaRPr lang="en-US" sz="1400" b="0" i="0" u="none" strike="noStrike" dirty="0">
                        <a:solidFill>
                          <a:srgbClr val="000000"/>
                        </a:solidFill>
                        <a:effectLst/>
                        <a:latin typeface="Aptos Narrow" panose="020B0004020202020204" pitchFamily="34" charset="0"/>
                      </a:endParaRPr>
                    </a:p>
                  </a:txBody>
                  <a:tcPr marL="6236" marR="6236" marT="6236" marB="0" anchor="ctr"/>
                </a:tc>
                <a:extLst>
                  <a:ext uri="{0D108BD9-81ED-4DB2-BD59-A6C34878D82A}">
                    <a16:rowId xmlns:a16="http://schemas.microsoft.com/office/drawing/2014/main" val="1905457929"/>
                  </a:ext>
                </a:extLst>
              </a:tr>
              <a:tr h="1060505">
                <a:tc>
                  <a:txBody>
                    <a:bodyPr/>
                    <a:lstStyle/>
                    <a:p>
                      <a:pPr algn="l" fontAlgn="b">
                        <a:buNone/>
                      </a:pPr>
                      <a:r>
                        <a:rPr lang="en-US" sz="1400" u="none" strike="noStrike" dirty="0">
                          <a:effectLst/>
                          <a:latin typeface="Aptos Narrow" panose="020B0004020202020204" pitchFamily="34" charset="0"/>
                        </a:rPr>
                        <a:t>The heterogeneous earnings impact of job loss across workers, establishments, and markets</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CA" sz="1400" u="none" strike="noStrike">
                          <a:effectLst/>
                          <a:latin typeface="Aptos Narrow" panose="020B0004020202020204" pitchFamily="34" charset="0"/>
                        </a:rPr>
                        <a:t>Susan Athey Lisa K. Simon Oskar Nordström Skans Johan Vikström Yaroslav Yakymovych</a:t>
                      </a:r>
                      <a:endParaRPr lang="en-CA" sz="1400" b="0" i="0" u="none" strike="noStrike">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How do earnings losses after job displacement vary with observable characteristics that may be relevant for targeting policy interventions for workers?</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Causal machine learning for heterogeneous effects</a:t>
                      </a:r>
                      <a:endParaRPr lang="en-US" sz="1400" b="0" i="0" u="none" strike="noStrike" dirty="0">
                        <a:solidFill>
                          <a:srgbClr val="000000"/>
                        </a:solidFill>
                        <a:effectLst/>
                        <a:latin typeface="Aptos Narrow" panose="020B0004020202020204" pitchFamily="34" charset="0"/>
                      </a:endParaRPr>
                    </a:p>
                  </a:txBody>
                  <a:tcPr marL="6236" marR="6236" marT="6236" marB="0" anchor="ctr"/>
                </a:tc>
                <a:extLst>
                  <a:ext uri="{0D108BD9-81ED-4DB2-BD59-A6C34878D82A}">
                    <a16:rowId xmlns:a16="http://schemas.microsoft.com/office/drawing/2014/main" val="2538901753"/>
                  </a:ext>
                </a:extLst>
              </a:tr>
              <a:tr h="638769">
                <a:tc>
                  <a:txBody>
                    <a:bodyPr/>
                    <a:lstStyle/>
                    <a:p>
                      <a:pPr algn="l" fontAlgn="b">
                        <a:buNone/>
                      </a:pPr>
                      <a:r>
                        <a:rPr lang="en-US" sz="1400" u="none" strike="noStrike" dirty="0">
                          <a:effectLst/>
                          <a:latin typeface="Aptos Narrow" panose="020B0004020202020204" pitchFamily="34" charset="0"/>
                        </a:rPr>
                        <a:t>Market feedback about emerging technologies</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CA" sz="1400" u="none" strike="noStrike">
                          <a:effectLst/>
                          <a:latin typeface="Aptos Narrow" panose="020B0004020202020204" pitchFamily="34" charset="0"/>
                        </a:rPr>
                        <a:t>Sean S. Cao Itay Goldstein Jie He Yabo Zhao</a:t>
                      </a:r>
                      <a:endParaRPr lang="en-CA" sz="1400" b="0" i="0" u="none" strike="noStrike">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Do firms adjust AI/green investments in response to market reactions to announcements of other investment plans? </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Lagged specification + fixed effects (using high-frequency financial data)</a:t>
                      </a:r>
                      <a:endParaRPr lang="en-US" sz="1400" b="0" i="0" u="none" strike="noStrike" dirty="0">
                        <a:solidFill>
                          <a:srgbClr val="000000"/>
                        </a:solidFill>
                        <a:effectLst/>
                        <a:latin typeface="Aptos Narrow" panose="020B0004020202020204" pitchFamily="34" charset="0"/>
                      </a:endParaRPr>
                    </a:p>
                  </a:txBody>
                  <a:tcPr marL="6236" marR="6236" marT="6236" marB="0" anchor="ctr"/>
                </a:tc>
                <a:extLst>
                  <a:ext uri="{0D108BD9-81ED-4DB2-BD59-A6C34878D82A}">
                    <a16:rowId xmlns:a16="http://schemas.microsoft.com/office/drawing/2014/main" val="861292017"/>
                  </a:ext>
                </a:extLst>
              </a:tr>
              <a:tr h="849636">
                <a:tc>
                  <a:txBody>
                    <a:bodyPr/>
                    <a:lstStyle/>
                    <a:p>
                      <a:pPr algn="l" fontAlgn="b">
                        <a:buNone/>
                      </a:pPr>
                      <a:r>
                        <a:rPr lang="en-US" sz="1400" u="none" strike="noStrike" dirty="0">
                          <a:effectLst/>
                          <a:latin typeface="Aptos Narrow" panose="020B0004020202020204" pitchFamily="34" charset="0"/>
                        </a:rPr>
                        <a:t>When Teachers Break the Rules: Imitation, Reciprocity, and Community Structure in the Transmission of Ethical Behavior</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a:effectLst/>
                          <a:latin typeface="Aptos Narrow" panose="020B0004020202020204" pitchFamily="34" charset="0"/>
                        </a:rPr>
                        <a:t>Victor Lavy and Moses Shayo</a:t>
                      </a:r>
                      <a:endParaRPr lang="en-US" sz="1400" b="0" i="0" u="none" strike="noStrike">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US" sz="1400" u="none" strike="noStrike" dirty="0">
                          <a:effectLst/>
                          <a:latin typeface="Aptos Narrow" panose="020B0004020202020204" pitchFamily="34" charset="0"/>
                        </a:rPr>
                        <a:t>Does teacher cheating affect student cheating? </a:t>
                      </a:r>
                      <a:endParaRPr lang="en-US" sz="1400" b="0" i="0" u="none" strike="noStrike" dirty="0">
                        <a:solidFill>
                          <a:srgbClr val="000000"/>
                        </a:solidFill>
                        <a:effectLst/>
                        <a:latin typeface="Aptos Narrow" panose="020B0004020202020204" pitchFamily="34" charset="0"/>
                      </a:endParaRPr>
                    </a:p>
                  </a:txBody>
                  <a:tcPr marL="6236" marR="6236" marT="6236" marB="0" anchor="ctr"/>
                </a:tc>
                <a:tc>
                  <a:txBody>
                    <a:bodyPr/>
                    <a:lstStyle/>
                    <a:p>
                      <a:pPr algn="l" fontAlgn="b">
                        <a:buNone/>
                      </a:pPr>
                      <a:r>
                        <a:rPr lang="en-CA" sz="1400" u="none" strike="noStrike" dirty="0">
                          <a:effectLst/>
                          <a:latin typeface="Aptos Narrow" panose="020B0004020202020204" pitchFamily="34" charset="0"/>
                        </a:rPr>
                        <a:t>Fixed effects regression</a:t>
                      </a:r>
                      <a:endParaRPr lang="en-CA" sz="1400" b="0" i="0" u="none" strike="noStrike" dirty="0">
                        <a:solidFill>
                          <a:srgbClr val="000000"/>
                        </a:solidFill>
                        <a:effectLst/>
                        <a:latin typeface="Aptos Narrow" panose="020B0004020202020204" pitchFamily="34" charset="0"/>
                      </a:endParaRPr>
                    </a:p>
                  </a:txBody>
                  <a:tcPr marL="6236" marR="6236" marT="6236" marB="0" anchor="ctr"/>
                </a:tc>
                <a:extLst>
                  <a:ext uri="{0D108BD9-81ED-4DB2-BD59-A6C34878D82A}">
                    <a16:rowId xmlns:a16="http://schemas.microsoft.com/office/drawing/2014/main" val="1816889970"/>
                  </a:ext>
                </a:extLst>
              </a:tr>
            </a:tbl>
          </a:graphicData>
        </a:graphic>
      </p:graphicFrame>
    </p:spTree>
    <p:extLst>
      <p:ext uri="{BB962C8B-B14F-4D97-AF65-F5344CB8AC3E}">
        <p14:creationId xmlns:p14="http://schemas.microsoft.com/office/powerpoint/2010/main" val="3570618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CB058-1F02-689C-2493-F9FF2CB13A4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110C528-7E30-5BF8-A7D4-8E7DFCDEC695}"/>
              </a:ext>
            </a:extLst>
          </p:cNvPr>
          <p:cNvSpPr>
            <a:spLocks noGrp="1"/>
          </p:cNvSpPr>
          <p:nvPr>
            <p:ph type="title"/>
          </p:nvPr>
        </p:nvSpPr>
        <p:spPr>
          <a:xfrm>
            <a:off x="148389" y="76200"/>
            <a:ext cx="10439400" cy="624840"/>
          </a:xfrm>
        </p:spPr>
        <p:txBody>
          <a:bodyPr>
            <a:noAutofit/>
          </a:bodyPr>
          <a:lstStyle/>
          <a:p>
            <a:r>
              <a:rPr lang="en-US" sz="3600" dirty="0">
                <a:cs typeface="Times New Roman" panose="02020603050405020304" pitchFamily="18" charset="0"/>
              </a:rPr>
              <a:t>Latest Research Designs Used in Working Papers</a:t>
            </a:r>
            <a:endParaRPr lang="en-US" sz="3600" dirty="0">
              <a:latin typeface="Times New Roman" panose="02020603050405020304" pitchFamily="18" charset="0"/>
              <a:cs typeface="Times New Roman" panose="02020603050405020304" pitchFamily="18" charset="0"/>
            </a:endParaRPr>
          </a:p>
        </p:txBody>
      </p:sp>
      <p:graphicFrame>
        <p:nvGraphicFramePr>
          <p:cNvPr id="12" name="Content Placeholder 11">
            <a:extLst>
              <a:ext uri="{FF2B5EF4-FFF2-40B4-BE49-F238E27FC236}">
                <a16:creationId xmlns:a16="http://schemas.microsoft.com/office/drawing/2014/main" id="{B4BCCCE7-FC98-E3F8-A659-A5FA816ADBD0}"/>
              </a:ext>
            </a:extLst>
          </p:cNvPr>
          <p:cNvGraphicFramePr>
            <a:graphicFrameLocks noGrp="1"/>
          </p:cNvGraphicFramePr>
          <p:nvPr>
            <p:ph idx="1"/>
            <p:extLst>
              <p:ext uri="{D42A27DB-BD31-4B8C-83A1-F6EECF244321}">
                <p14:modId xmlns:p14="http://schemas.microsoft.com/office/powerpoint/2010/main" val="379216069"/>
              </p:ext>
            </p:extLst>
          </p:nvPr>
        </p:nvGraphicFramePr>
        <p:xfrm>
          <a:off x="152400" y="701040"/>
          <a:ext cx="12039600" cy="6049085"/>
        </p:xfrm>
        <a:graphic>
          <a:graphicData uri="http://schemas.openxmlformats.org/drawingml/2006/table">
            <a:tbl>
              <a:tblPr>
                <a:tableStyleId>{5C22544A-7EE6-4342-B048-85BDC9FD1C3A}</a:tableStyleId>
              </a:tblPr>
              <a:tblGrid>
                <a:gridCol w="2819400">
                  <a:extLst>
                    <a:ext uri="{9D8B030D-6E8A-4147-A177-3AD203B41FA5}">
                      <a16:colId xmlns:a16="http://schemas.microsoft.com/office/drawing/2014/main" val="1425351175"/>
                    </a:ext>
                  </a:extLst>
                </a:gridCol>
                <a:gridCol w="1952247">
                  <a:extLst>
                    <a:ext uri="{9D8B030D-6E8A-4147-A177-3AD203B41FA5}">
                      <a16:colId xmlns:a16="http://schemas.microsoft.com/office/drawing/2014/main" val="3831726991"/>
                    </a:ext>
                  </a:extLst>
                </a:gridCol>
                <a:gridCol w="4910978">
                  <a:extLst>
                    <a:ext uri="{9D8B030D-6E8A-4147-A177-3AD203B41FA5}">
                      <a16:colId xmlns:a16="http://schemas.microsoft.com/office/drawing/2014/main" val="3960183827"/>
                    </a:ext>
                  </a:extLst>
                </a:gridCol>
                <a:gridCol w="2356975">
                  <a:extLst>
                    <a:ext uri="{9D8B030D-6E8A-4147-A177-3AD203B41FA5}">
                      <a16:colId xmlns:a16="http://schemas.microsoft.com/office/drawing/2014/main" val="2680932756"/>
                    </a:ext>
                  </a:extLst>
                </a:gridCol>
              </a:tblGrid>
              <a:tr h="178901">
                <a:tc>
                  <a:txBody>
                    <a:bodyPr/>
                    <a:lstStyle/>
                    <a:p>
                      <a:pPr algn="l" fontAlgn="b">
                        <a:buNone/>
                      </a:pPr>
                      <a:r>
                        <a:rPr lang="en-CA" sz="1400" b="1" i="0" u="none" strike="noStrike" dirty="0">
                          <a:solidFill>
                            <a:schemeClr val="tx1"/>
                          </a:solidFill>
                          <a:effectLst/>
                          <a:latin typeface="Aptos Narrow" panose="020B0004020202020204" pitchFamily="34" charset="0"/>
                        </a:rPr>
                        <a:t>Title</a:t>
                      </a:r>
                    </a:p>
                  </a:txBody>
                  <a:tcPr marL="9525" marR="9525" marT="9525" marB="0" anchor="b"/>
                </a:tc>
                <a:tc>
                  <a:txBody>
                    <a:bodyPr/>
                    <a:lstStyle/>
                    <a:p>
                      <a:pPr algn="l" fontAlgn="b">
                        <a:buNone/>
                      </a:pPr>
                      <a:r>
                        <a:rPr lang="en-CA" sz="1400" b="1" i="0" u="none" strike="noStrike" dirty="0">
                          <a:solidFill>
                            <a:schemeClr val="tx1"/>
                          </a:solidFill>
                          <a:effectLst/>
                          <a:latin typeface="Aptos Narrow" panose="020B0004020202020204" pitchFamily="34" charset="0"/>
                        </a:rPr>
                        <a:t>Authors</a:t>
                      </a:r>
                    </a:p>
                  </a:txBody>
                  <a:tcPr marL="9525" marR="9525" marT="9525" marB="0" anchor="b"/>
                </a:tc>
                <a:tc>
                  <a:txBody>
                    <a:bodyPr/>
                    <a:lstStyle/>
                    <a:p>
                      <a:pPr algn="l" fontAlgn="b">
                        <a:buNone/>
                      </a:pPr>
                      <a:r>
                        <a:rPr lang="en-CA" sz="1400" b="1" i="0" u="none" strike="noStrike" dirty="0">
                          <a:solidFill>
                            <a:schemeClr val="tx1"/>
                          </a:solidFill>
                          <a:effectLst/>
                          <a:latin typeface="Aptos Narrow" panose="020B0004020202020204" pitchFamily="34" charset="0"/>
                        </a:rPr>
                        <a:t>Research question</a:t>
                      </a:r>
                    </a:p>
                  </a:txBody>
                  <a:tcPr marL="9525" marR="9525" marT="9525" marB="0" anchor="b"/>
                </a:tc>
                <a:tc>
                  <a:txBody>
                    <a:bodyPr/>
                    <a:lstStyle/>
                    <a:p>
                      <a:pPr algn="l" fontAlgn="b">
                        <a:buNone/>
                      </a:pPr>
                      <a:r>
                        <a:rPr lang="en-CA" sz="1400" b="1" i="0" u="none" strike="noStrike" dirty="0">
                          <a:solidFill>
                            <a:schemeClr val="tx1"/>
                          </a:solidFill>
                          <a:effectLst/>
                          <a:latin typeface="Aptos Narrow" panose="020B0004020202020204" pitchFamily="34" charset="0"/>
                        </a:rPr>
                        <a:t>Research design</a:t>
                      </a:r>
                    </a:p>
                  </a:txBody>
                  <a:tcPr marL="9525" marR="9525" marT="9525" marB="0" anchor="b"/>
                </a:tc>
                <a:extLst>
                  <a:ext uri="{0D108BD9-81ED-4DB2-BD59-A6C34878D82A}">
                    <a16:rowId xmlns:a16="http://schemas.microsoft.com/office/drawing/2014/main" val="4162762390"/>
                  </a:ext>
                </a:extLst>
              </a:tr>
              <a:tr h="523875">
                <a:tc>
                  <a:txBody>
                    <a:bodyPr/>
                    <a:lstStyle/>
                    <a:p>
                      <a:pPr algn="l" fontAlgn="b">
                        <a:buNone/>
                      </a:pPr>
                      <a:r>
                        <a:rPr lang="en-US" sz="1400" b="0" i="0" u="none" strike="noStrike" dirty="0">
                          <a:solidFill>
                            <a:srgbClr val="000000"/>
                          </a:solidFill>
                          <a:effectLst/>
                          <a:latin typeface="Aptos Narrow" panose="020B0004020202020204" pitchFamily="34" charset="0"/>
                        </a:rPr>
                        <a:t>Mergers and Non-contractible Benefits: The Employees' Perspective</a:t>
                      </a:r>
                    </a:p>
                  </a:txBody>
                  <a:tcPr marL="9525" marR="9525" marT="9525" marB="0" anchor="b"/>
                </a:tc>
                <a:tc>
                  <a:txBody>
                    <a:bodyPr/>
                    <a:lstStyle/>
                    <a:p>
                      <a:pPr algn="l" fontAlgn="b">
                        <a:buNone/>
                      </a:pPr>
                      <a:r>
                        <a:rPr lang="en-CA" sz="1400" b="0" i="0" u="none" strike="noStrike">
                          <a:solidFill>
                            <a:srgbClr val="000000"/>
                          </a:solidFill>
                          <a:effectLst/>
                          <a:latin typeface="Aptos Narrow" panose="020B0004020202020204" pitchFamily="34" charset="0"/>
                        </a:rPr>
                        <a:t>Wei Cai, Andrea Prat, and Jiehang Yu</a:t>
                      </a:r>
                    </a:p>
                  </a:txBody>
                  <a:tcPr marL="9525" marR="9525" marT="9525" marB="0" anchor="b"/>
                </a:tc>
                <a:tc>
                  <a:txBody>
                    <a:bodyPr/>
                    <a:lstStyle/>
                    <a:p>
                      <a:pPr algn="l" fontAlgn="b">
                        <a:buNone/>
                      </a:pPr>
                      <a:r>
                        <a:rPr lang="en-US" sz="1400" b="0" i="0" u="none" strike="noStrike">
                          <a:solidFill>
                            <a:srgbClr val="000000"/>
                          </a:solidFill>
                          <a:effectLst/>
                          <a:latin typeface="Aptos Narrow" panose="020B0004020202020204" pitchFamily="34" charset="0"/>
                        </a:rPr>
                        <a:t>If your firm is acquired, are your workers affected in non-contractible experiences (satisfaction, etc.)</a:t>
                      </a:r>
                    </a:p>
                  </a:txBody>
                  <a:tcPr marL="9525" marR="9525" marT="9525" marB="0" anchor="b"/>
                </a:tc>
                <a:tc>
                  <a:txBody>
                    <a:bodyPr/>
                    <a:lstStyle/>
                    <a:p>
                      <a:pPr algn="l" fontAlgn="b">
                        <a:buNone/>
                      </a:pPr>
                      <a:r>
                        <a:rPr lang="en-CA" sz="1400" b="0" i="0" u="none" strike="noStrike">
                          <a:solidFill>
                            <a:srgbClr val="000000"/>
                          </a:solidFill>
                          <a:effectLst/>
                          <a:latin typeface="Aptos Narrow" panose="020B0004020202020204" pitchFamily="34" charset="0"/>
                        </a:rPr>
                        <a:t>Quasi-random acquisitions</a:t>
                      </a:r>
                    </a:p>
                  </a:txBody>
                  <a:tcPr marL="9525" marR="9525" marT="9525" marB="0" anchor="b"/>
                </a:tc>
                <a:extLst>
                  <a:ext uri="{0D108BD9-81ED-4DB2-BD59-A6C34878D82A}">
                    <a16:rowId xmlns:a16="http://schemas.microsoft.com/office/drawing/2014/main" val="2278021168"/>
                  </a:ext>
                </a:extLst>
              </a:tr>
              <a:tr h="871267">
                <a:tc>
                  <a:txBody>
                    <a:bodyPr/>
                    <a:lstStyle/>
                    <a:p>
                      <a:pPr algn="l" fontAlgn="b">
                        <a:buNone/>
                      </a:pPr>
                      <a:r>
                        <a:rPr lang="en-US" sz="1400" b="0" i="0" u="none" strike="noStrike" dirty="0">
                          <a:solidFill>
                            <a:srgbClr val="000000"/>
                          </a:solidFill>
                          <a:effectLst/>
                          <a:latin typeface="Aptos Narrow" panose="020B0004020202020204" pitchFamily="34" charset="0"/>
                        </a:rPr>
                        <a:t>Reducing Waste through Anti-Fraud Enforcement: Evidence from Hospital Admission Cases</a:t>
                      </a: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David H. Howard and Jetson Leder-Luis</a:t>
                      </a: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Do anti-fraud laws actually control waste or do they impose unfair limits on providers? </a:t>
                      </a:r>
                    </a:p>
                  </a:txBody>
                  <a:tcPr marL="9525" marR="9525" marT="9525" marB="0" anchor="b"/>
                </a:tc>
                <a:tc>
                  <a:txBody>
                    <a:bodyPr/>
                    <a:lstStyle/>
                    <a:p>
                      <a:pPr algn="l" fontAlgn="b">
                        <a:buNone/>
                      </a:pPr>
                      <a:r>
                        <a:rPr lang="en-US" sz="1400" b="0" i="0" u="none" strike="noStrike">
                          <a:solidFill>
                            <a:srgbClr val="000000"/>
                          </a:solidFill>
                          <a:effectLst/>
                          <a:latin typeface="Aptos Narrow" panose="020B0004020202020204" pitchFamily="34" charset="0"/>
                        </a:rPr>
                        <a:t>Staggered "rollout" of anti-fraud litigation against hospitals</a:t>
                      </a:r>
                    </a:p>
                  </a:txBody>
                  <a:tcPr marL="9525" marR="9525" marT="9525" marB="0" anchor="b"/>
                </a:tc>
                <a:extLst>
                  <a:ext uri="{0D108BD9-81ED-4DB2-BD59-A6C34878D82A}">
                    <a16:rowId xmlns:a16="http://schemas.microsoft.com/office/drawing/2014/main" val="2724334550"/>
                  </a:ext>
                </a:extLst>
              </a:tr>
              <a:tr h="957533">
                <a:tc>
                  <a:txBody>
                    <a:bodyPr/>
                    <a:lstStyle/>
                    <a:p>
                      <a:pPr algn="l" fontAlgn="b">
                        <a:buNone/>
                      </a:pPr>
                      <a:r>
                        <a:rPr lang="en-US" sz="1400" b="0" i="0" u="none" strike="noStrike" dirty="0">
                          <a:solidFill>
                            <a:srgbClr val="000000"/>
                          </a:solidFill>
                          <a:effectLst/>
                          <a:latin typeface="Aptos Narrow" panose="020B0004020202020204" pitchFamily="34" charset="0"/>
                        </a:rPr>
                        <a:t>Pricing Protection: Credit Scores, Disaster Risk, and Home Insurance Affordability</a:t>
                      </a:r>
                    </a:p>
                  </a:txBody>
                  <a:tcPr marL="9525" marR="9525" marT="9525" marB="0" anchor="b"/>
                </a:tc>
                <a:tc>
                  <a:txBody>
                    <a:bodyPr/>
                    <a:lstStyle/>
                    <a:p>
                      <a:pPr algn="l" fontAlgn="b">
                        <a:buNone/>
                      </a:pPr>
                      <a:r>
                        <a:rPr lang="en-CA" sz="1400" b="0" i="0" u="none" strike="noStrike">
                          <a:solidFill>
                            <a:srgbClr val="000000"/>
                          </a:solidFill>
                          <a:effectLst/>
                          <a:latin typeface="Aptos Narrow" panose="020B0004020202020204" pitchFamily="34" charset="0"/>
                        </a:rPr>
                        <a:t>Joshua Blonz, Mallick Hossain, Benjamin J. Keys, Philip Mulder &amp; Joakim A. Weill</a:t>
                      </a: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credit scores impact homeowners insurance premiums as much as disaster risk. Homeowners with low credit pay 24% more for identical coverage than high–credit score homeowners.</a:t>
                      </a: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Natural experiment using a temporary ban on the use of credit scores to set insurance prices</a:t>
                      </a:r>
                    </a:p>
                  </a:txBody>
                  <a:tcPr marL="9525" marR="9525" marT="9525" marB="0" anchor="b"/>
                </a:tc>
                <a:extLst>
                  <a:ext uri="{0D108BD9-81ED-4DB2-BD59-A6C34878D82A}">
                    <a16:rowId xmlns:a16="http://schemas.microsoft.com/office/drawing/2014/main" val="396029245"/>
                  </a:ext>
                </a:extLst>
              </a:tr>
              <a:tr h="762000">
                <a:tc>
                  <a:txBody>
                    <a:bodyPr/>
                    <a:lstStyle/>
                    <a:p>
                      <a:pPr algn="l" fontAlgn="b">
                        <a:buNone/>
                      </a:pPr>
                      <a:r>
                        <a:rPr lang="en-US" sz="1400" b="0" i="0" u="none" strike="noStrike" dirty="0">
                          <a:solidFill>
                            <a:srgbClr val="000000"/>
                          </a:solidFill>
                          <a:effectLst/>
                          <a:latin typeface="Aptos Narrow" panose="020B0004020202020204" pitchFamily="34" charset="0"/>
                        </a:rPr>
                        <a:t>From Complaint to Action: Technology-Enabled Quality Improvement from Consumer Reviews </a:t>
                      </a:r>
                    </a:p>
                  </a:txBody>
                  <a:tcPr marL="9525" marR="9525" marT="9525" marB="0" anchor="b"/>
                </a:tc>
                <a:tc>
                  <a:txBody>
                    <a:bodyPr/>
                    <a:lstStyle/>
                    <a:p>
                      <a:pPr algn="l" fontAlgn="b">
                        <a:buNone/>
                      </a:pPr>
                      <a:r>
                        <a:rPr lang="en-US" sz="1400" b="0" i="0" u="none" strike="noStrike">
                          <a:solidFill>
                            <a:srgbClr val="000000"/>
                          </a:solidFill>
                          <a:effectLst/>
                          <a:latin typeface="Aptos Narrow" panose="020B0004020202020204" pitchFamily="34" charset="0"/>
                        </a:rPr>
                        <a:t>Guangyu Cao, Shenghao He, and Ginger Zhe Jin</a:t>
                      </a: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how adopting an automated review monitoring system (ARMS) allows restaurants to translate consumer feedback into operational quality improvements. </a:t>
                      </a:r>
                    </a:p>
                  </a:txBody>
                  <a:tcPr marL="9525" marR="9525" marT="9525" marB="0" anchor="b"/>
                </a:tc>
                <a:tc>
                  <a:txBody>
                    <a:bodyPr/>
                    <a:lstStyle/>
                    <a:p>
                      <a:pPr algn="l" fontAlgn="b">
                        <a:buNone/>
                      </a:pPr>
                      <a:r>
                        <a:rPr lang="en-CA" sz="1400" b="0" i="0" u="none" strike="noStrike">
                          <a:solidFill>
                            <a:srgbClr val="000000"/>
                          </a:solidFill>
                          <a:effectLst/>
                          <a:latin typeface="Aptos Narrow" panose="020B0004020202020204" pitchFamily="34" charset="0"/>
                        </a:rPr>
                        <a:t>Staggered rollout of ARMS</a:t>
                      </a:r>
                    </a:p>
                  </a:txBody>
                  <a:tcPr marL="9525" marR="9525" marT="9525" marB="0" anchor="b"/>
                </a:tc>
                <a:extLst>
                  <a:ext uri="{0D108BD9-81ED-4DB2-BD59-A6C34878D82A}">
                    <a16:rowId xmlns:a16="http://schemas.microsoft.com/office/drawing/2014/main" val="1905457929"/>
                  </a:ext>
                </a:extLst>
              </a:tr>
              <a:tr h="990600">
                <a:tc>
                  <a:txBody>
                    <a:bodyPr/>
                    <a:lstStyle/>
                    <a:p>
                      <a:pPr algn="l" fontAlgn="b">
                        <a:buNone/>
                      </a:pPr>
                      <a:r>
                        <a:rPr lang="en-US" sz="1400" b="0" i="0" u="none" strike="noStrike" dirty="0">
                          <a:solidFill>
                            <a:srgbClr val="000000"/>
                          </a:solidFill>
                          <a:effectLst/>
                          <a:latin typeface="Aptos Narrow" panose="020B0004020202020204" pitchFamily="34" charset="0"/>
                        </a:rPr>
                        <a:t>RESTORING NATURE, CREATING WEALTH: EVIDENCE FROM RURAL HOUSEHOLDS IN AFRICA</a:t>
                      </a:r>
                    </a:p>
                  </a:txBody>
                  <a:tcPr marL="9525" marR="9525" marT="9525" marB="0" anchor="b"/>
                </a:tc>
                <a:tc>
                  <a:txBody>
                    <a:bodyPr/>
                    <a:lstStyle/>
                    <a:p>
                      <a:pPr algn="l" fontAlgn="b">
                        <a:buNone/>
                      </a:pPr>
                      <a:r>
                        <a:rPr lang="it-IT" sz="1400" b="0" i="0" u="none" strike="noStrike">
                          <a:solidFill>
                            <a:srgbClr val="000000"/>
                          </a:solidFill>
                          <a:effectLst/>
                          <a:latin typeface="Aptos Narrow" panose="020B0004020202020204" pitchFamily="34" charset="0"/>
                        </a:rPr>
                        <a:t>Geoffrey Heal Claudio Rizzi Simon Xu</a:t>
                      </a: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What are the economic returns to restoring nature? </a:t>
                      </a: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Staggered rollout of TREES program incentivizing improved ecological practices in </a:t>
                      </a:r>
                      <a:r>
                        <a:rPr lang="en-US" sz="1400" b="0" i="0" u="none" strike="noStrike" dirty="0" err="1">
                          <a:solidFill>
                            <a:srgbClr val="000000"/>
                          </a:solidFill>
                          <a:effectLst/>
                          <a:latin typeface="Aptos Narrow" panose="020B0004020202020204" pitchFamily="34" charset="0"/>
                        </a:rPr>
                        <a:t>sub-saharan</a:t>
                      </a:r>
                      <a:r>
                        <a:rPr lang="en-US" sz="1400" b="0" i="0" u="none" strike="noStrike" dirty="0">
                          <a:solidFill>
                            <a:srgbClr val="000000"/>
                          </a:solidFill>
                          <a:effectLst/>
                          <a:latin typeface="Aptos Narrow" panose="020B0004020202020204" pitchFamily="34" charset="0"/>
                        </a:rPr>
                        <a:t> Africa</a:t>
                      </a:r>
                    </a:p>
                  </a:txBody>
                  <a:tcPr marL="9525" marR="9525" marT="9525" marB="0" anchor="b"/>
                </a:tc>
                <a:extLst>
                  <a:ext uri="{0D108BD9-81ED-4DB2-BD59-A6C34878D82A}">
                    <a16:rowId xmlns:a16="http://schemas.microsoft.com/office/drawing/2014/main" val="2538901753"/>
                  </a:ext>
                </a:extLst>
              </a:tr>
              <a:tr h="645027">
                <a:tc>
                  <a:txBody>
                    <a:bodyPr/>
                    <a:lstStyle/>
                    <a:p>
                      <a:pPr algn="l" fontAlgn="b">
                        <a:buNone/>
                      </a:pPr>
                      <a:r>
                        <a:rPr lang="en-US" sz="1400" b="0" i="0" u="none" strike="noStrike" dirty="0">
                          <a:solidFill>
                            <a:srgbClr val="000000"/>
                          </a:solidFill>
                          <a:effectLst/>
                          <a:latin typeface="Aptos Narrow" panose="020B0004020202020204" pitchFamily="34" charset="0"/>
                        </a:rPr>
                        <a:t>THE EFFECTS OF A SUDDEN STOP IN LOW-SKILLED IMMIGRATION: EVIDENCE FROM KOREA’S GUEST WORKER PROGRAM</a:t>
                      </a:r>
                    </a:p>
                  </a:txBody>
                  <a:tcPr marL="9525" marR="9525" marT="9525" marB="0" anchor="b"/>
                </a:tc>
                <a:tc>
                  <a:txBody>
                    <a:bodyPr/>
                    <a:lstStyle/>
                    <a:p>
                      <a:pPr algn="l" fontAlgn="b">
                        <a:buNone/>
                      </a:pPr>
                      <a:r>
                        <a:rPr lang="en-CA" sz="1400" b="0" i="0" u="none" strike="noStrike">
                          <a:solidFill>
                            <a:srgbClr val="000000"/>
                          </a:solidFill>
                          <a:effectLst/>
                          <a:latin typeface="Aptos Narrow" panose="020B0004020202020204" pitchFamily="34" charset="0"/>
                        </a:rPr>
                        <a:t>Jongkwan Lee Giovanni Peri Hee-Seung Yang</a:t>
                      </a:r>
                    </a:p>
                  </a:txBody>
                  <a:tcPr marL="9525" marR="9525" marT="9525" marB="0" anchor="b"/>
                </a:tc>
                <a:tc>
                  <a:txBody>
                    <a:bodyPr/>
                    <a:lstStyle/>
                    <a:p>
                      <a:pPr algn="l" fontAlgn="b">
                        <a:buNone/>
                      </a:pPr>
                      <a:r>
                        <a:rPr lang="en-US" sz="1400" b="0" i="0" u="none" strike="noStrike">
                          <a:solidFill>
                            <a:srgbClr val="000000"/>
                          </a:solidFill>
                          <a:effectLst/>
                          <a:latin typeface="Aptos Narrow" panose="020B0004020202020204" pitchFamily="34" charset="0"/>
                        </a:rPr>
                        <a:t>We examine what happens when low-skill labor supply is abruptly reduced, exploiting South Korea’s sudden suspension of its low-skilled guest worker program following the 2020 COVID-19 border closure.</a:t>
                      </a: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Regional variation in employment shares of EPS workers based on quotas * post-January 2020 shock</a:t>
                      </a:r>
                    </a:p>
                  </a:txBody>
                  <a:tcPr marL="9525" marR="9525" marT="9525" marB="0" anchor="b"/>
                </a:tc>
                <a:extLst>
                  <a:ext uri="{0D108BD9-81ED-4DB2-BD59-A6C34878D82A}">
                    <a16:rowId xmlns:a16="http://schemas.microsoft.com/office/drawing/2014/main" val="861292017"/>
                  </a:ext>
                </a:extLst>
              </a:tr>
              <a:tr h="857960">
                <a:tc>
                  <a:txBody>
                    <a:bodyPr/>
                    <a:lstStyle/>
                    <a:p>
                      <a:pPr algn="l" fontAlgn="b">
                        <a:buNone/>
                      </a:pPr>
                      <a:r>
                        <a:rPr lang="en-US" sz="1400" b="0" i="0" u="none" strike="noStrike" dirty="0">
                          <a:solidFill>
                            <a:srgbClr val="000000"/>
                          </a:solidFill>
                          <a:effectLst/>
                          <a:latin typeface="Aptos Narrow" panose="020B0004020202020204" pitchFamily="34" charset="0"/>
                        </a:rPr>
                        <a:t>The Market Value of Reproductive Rights: Evidence from U.S. Housing Markets</a:t>
                      </a:r>
                    </a:p>
                  </a:txBody>
                  <a:tcPr marL="9525" marR="9525" marT="9525" marB="0" anchor="b"/>
                </a:tc>
                <a:tc>
                  <a:txBody>
                    <a:bodyPr/>
                    <a:lstStyle/>
                    <a:p>
                      <a:pPr algn="l" fontAlgn="b">
                        <a:buNone/>
                      </a:pPr>
                      <a:r>
                        <a:rPr lang="en-US" sz="1400" b="0" i="0" u="none" strike="noStrike">
                          <a:solidFill>
                            <a:srgbClr val="000000"/>
                          </a:solidFill>
                          <a:effectLst/>
                          <a:latin typeface="Aptos Narrow" panose="020B0004020202020204" pitchFamily="34" charset="0"/>
                        </a:rPr>
                        <a:t>Daniel L. Dench, Kelly Lifchez, Jason M. Lindo, and Jancy Ling Liu</a:t>
                      </a:r>
                    </a:p>
                  </a:txBody>
                  <a:tcPr marL="9525" marR="9525" marT="9525" marB="0" anchor="b"/>
                </a:tc>
                <a:tc>
                  <a:txBody>
                    <a:bodyPr/>
                    <a:lstStyle/>
                    <a:p>
                      <a:pPr algn="l" fontAlgn="b">
                        <a:buNone/>
                      </a:pPr>
                      <a:r>
                        <a:rPr lang="en-US" sz="1400" b="0" i="0" u="none" strike="noStrike">
                          <a:solidFill>
                            <a:srgbClr val="000000"/>
                          </a:solidFill>
                          <a:effectLst/>
                          <a:latin typeface="Aptos Narrow" panose="020B0004020202020204" pitchFamily="34" charset="0"/>
                        </a:rPr>
                        <a:t>How do US housing markets "capitalize" the value of reproductive rights? </a:t>
                      </a:r>
                    </a:p>
                  </a:txBody>
                  <a:tcPr marL="9525" marR="9525" marT="9525" marB="0" anchor="b"/>
                </a:tc>
                <a:tc>
                  <a:txBody>
                    <a:bodyPr/>
                    <a:lstStyle/>
                    <a:p>
                      <a:pPr algn="l" fontAlgn="b">
                        <a:buNone/>
                      </a:pPr>
                      <a:r>
                        <a:rPr lang="en-US" sz="1400" b="0" i="0" u="none" strike="noStrike" dirty="0">
                          <a:solidFill>
                            <a:srgbClr val="000000"/>
                          </a:solidFill>
                          <a:effectLst/>
                          <a:latin typeface="Aptos Narrow" panose="020B0004020202020204" pitchFamily="34" charset="0"/>
                        </a:rPr>
                        <a:t>Synthetic DD based on Dobbs decision</a:t>
                      </a:r>
                    </a:p>
                  </a:txBody>
                  <a:tcPr marL="9525" marR="9525" marT="9525" marB="0" anchor="b"/>
                </a:tc>
                <a:extLst>
                  <a:ext uri="{0D108BD9-81ED-4DB2-BD59-A6C34878D82A}">
                    <a16:rowId xmlns:a16="http://schemas.microsoft.com/office/drawing/2014/main" val="1816889970"/>
                  </a:ext>
                </a:extLst>
              </a:tr>
            </a:tbl>
          </a:graphicData>
        </a:graphic>
      </p:graphicFrame>
    </p:spTree>
    <p:extLst>
      <p:ext uri="{BB962C8B-B14F-4D97-AF65-F5344CB8AC3E}">
        <p14:creationId xmlns:p14="http://schemas.microsoft.com/office/powerpoint/2010/main" val="3700406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1" y="1066801"/>
            <a:ext cx="10015390" cy="5141388"/>
          </a:xfrm>
        </p:spPr>
        <p:txBody>
          <a:bodyPr>
            <a:noAutofit/>
          </a:bodyPr>
          <a:lstStyle/>
          <a:p>
            <a:r>
              <a:rPr lang="en-US" sz="2400" dirty="0">
                <a:cs typeface="Times New Roman" panose="02020603050405020304" pitchFamily="18" charset="0"/>
              </a:rPr>
              <a:t>We can frequently see a policy implemented, and want to know its effect</a:t>
            </a:r>
          </a:p>
          <a:p>
            <a:r>
              <a:rPr lang="en-US" sz="2400" dirty="0">
                <a:cs typeface="Times New Roman" panose="02020603050405020304" pitchFamily="18" charset="0"/>
              </a:rPr>
              <a:t> In the wild, we have two types of “quasi-random variation” we can use:</a:t>
            </a:r>
          </a:p>
          <a:p>
            <a:pPr marL="731520" lvl="1" indent="-457200">
              <a:buFont typeface="+mj-lt"/>
              <a:buAutoNum type="arabicPeriod"/>
            </a:pPr>
            <a:r>
              <a:rPr lang="en-US" sz="2400" b="1" dirty="0">
                <a:cs typeface="Times New Roman" panose="02020603050405020304" pitchFamily="18" charset="0"/>
              </a:rPr>
              <a:t>Cross-sectional variation</a:t>
            </a:r>
            <a:r>
              <a:rPr lang="en-US" sz="2400" dirty="0">
                <a:cs typeface="Times New Roman" panose="02020603050405020304" pitchFamily="18" charset="0"/>
              </a:rPr>
              <a:t>: differences across observed units attributable to differences in their characteristics</a:t>
            </a:r>
          </a:p>
          <a:p>
            <a:pPr marL="731520" lvl="1" indent="-457200">
              <a:buFont typeface="+mj-lt"/>
              <a:buAutoNum type="arabicPeriod"/>
            </a:pPr>
            <a:r>
              <a:rPr lang="en-US" sz="2400" b="1" dirty="0">
                <a:cs typeface="Times New Roman" panose="02020603050405020304" pitchFamily="18" charset="0"/>
              </a:rPr>
              <a:t>Time variation</a:t>
            </a:r>
            <a:r>
              <a:rPr lang="en-US" sz="2400" dirty="0">
                <a:cs typeface="Times New Roman" panose="02020603050405020304" pitchFamily="18" charset="0"/>
              </a:rPr>
              <a:t>: how a particular event changed the trajectory </a:t>
            </a:r>
            <a:r>
              <a:rPr lang="en-US" sz="2400" i="1" dirty="0">
                <a:cs typeface="Times New Roman" panose="02020603050405020304" pitchFamily="18" charset="0"/>
              </a:rPr>
              <a:t>within a unit of observation</a:t>
            </a:r>
          </a:p>
          <a:p>
            <a:r>
              <a:rPr lang="en-US" sz="2400" dirty="0">
                <a:cs typeface="Times New Roman" panose="02020603050405020304" pitchFamily="18" charset="0"/>
              </a:rPr>
              <a:t>This requires a notion of </a:t>
            </a:r>
            <a:r>
              <a:rPr lang="en-US" sz="2400" b="1" dirty="0">
                <a:cs typeface="Times New Roman" panose="02020603050405020304" pitchFamily="18" charset="0"/>
              </a:rPr>
              <a:t>panel data</a:t>
            </a:r>
            <a:r>
              <a:rPr lang="en-US" sz="2400" dirty="0">
                <a:cs typeface="Times New Roman" panose="02020603050405020304" pitchFamily="18" charset="0"/>
              </a:rPr>
              <a:t> (repeated observations w/in a unit)</a:t>
            </a:r>
          </a:p>
          <a:p>
            <a:r>
              <a:rPr lang="en-US" sz="2400" b="1" dirty="0">
                <a:cs typeface="Times New Roman" panose="02020603050405020304" pitchFamily="18" charset="0"/>
              </a:rPr>
              <a:t>Difference-in-differences</a:t>
            </a:r>
            <a:r>
              <a:rPr lang="en-US" sz="2400" dirty="0">
                <a:cs typeface="Times New Roman" panose="02020603050405020304" pitchFamily="18" charset="0"/>
              </a:rPr>
              <a:t> is a method to exploit both types of variation simultaneously</a:t>
            </a:r>
          </a:p>
          <a:p>
            <a:endParaRPr lang="en-US" sz="2400" dirty="0">
              <a:cs typeface="Times New Roman" panose="02020603050405020304" pitchFamily="18" charset="0"/>
            </a:endParaRPr>
          </a:p>
          <a:p>
            <a:pPr marL="0" indent="0">
              <a:buNone/>
            </a:pPr>
            <a:r>
              <a:rPr lang="en-US" sz="2400" b="1" u="sng" dirty="0">
                <a:cs typeface="Times New Roman" panose="02020603050405020304" pitchFamily="18" charset="0"/>
              </a:rPr>
              <a:t>This time: variations on a theme</a:t>
            </a:r>
          </a:p>
        </p:txBody>
      </p:sp>
      <p:sp>
        <p:nvSpPr>
          <p:cNvPr id="5" name="Title 1">
            <a:extLst>
              <a:ext uri="{FF2B5EF4-FFF2-40B4-BE49-F238E27FC236}">
                <a16:creationId xmlns:a16="http://schemas.microsoft.com/office/drawing/2014/main" id="{9B199B0D-23C9-4582-028A-87DE1C2E8AB3}"/>
              </a:ext>
            </a:extLst>
          </p:cNvPr>
          <p:cNvSpPr>
            <a:spLocks noGrp="1"/>
          </p:cNvSpPr>
          <p:nvPr>
            <p:ph type="title"/>
          </p:nvPr>
        </p:nvSpPr>
        <p:spPr>
          <a:xfrm>
            <a:off x="609600" y="365760"/>
            <a:ext cx="10439400" cy="624840"/>
          </a:xfrm>
        </p:spPr>
        <p:txBody>
          <a:bodyPr>
            <a:noAutofit/>
          </a:bodyPr>
          <a:lstStyle/>
          <a:p>
            <a:r>
              <a:rPr lang="en-US" sz="3600" dirty="0">
                <a:cs typeface="Times New Roman" panose="02020603050405020304" pitchFamily="18" charset="0"/>
              </a:rPr>
              <a:t>Last Time: Differences-in-differences </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0717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DID in Graph Form</a:t>
            </a:r>
            <a:endParaRPr lang="en-US" sz="3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46FEDD0-D98D-777B-C4C5-92EC9B58CDE2}"/>
              </a:ext>
            </a:extLst>
          </p:cNvPr>
          <p:cNvPicPr>
            <a:picLocks noChangeAspect="1"/>
          </p:cNvPicPr>
          <p:nvPr/>
        </p:nvPicPr>
        <p:blipFill>
          <a:blip r:embed="rId3"/>
          <a:stretch>
            <a:fillRect/>
          </a:stretch>
        </p:blipFill>
        <p:spPr>
          <a:xfrm>
            <a:off x="2857048" y="1600200"/>
            <a:ext cx="6477904" cy="2648320"/>
          </a:xfrm>
          <a:prstGeom prst="rect">
            <a:avLst/>
          </a:prstGeom>
        </p:spPr>
      </p:pic>
      <p:pic>
        <p:nvPicPr>
          <p:cNvPr id="5" name="Content Placeholder 4">
            <a:extLst>
              <a:ext uri="{FF2B5EF4-FFF2-40B4-BE49-F238E27FC236}">
                <a16:creationId xmlns:a16="http://schemas.microsoft.com/office/drawing/2014/main" id="{AC4CFA74-F6F4-07E0-B8D9-6C58B3369561}"/>
              </a:ext>
            </a:extLst>
          </p:cNvPr>
          <p:cNvPicPr>
            <a:picLocks noGrp="1" noChangeAspect="1"/>
          </p:cNvPicPr>
          <p:nvPr>
            <p:ph idx="1"/>
          </p:nvPr>
        </p:nvPicPr>
        <p:blipFill>
          <a:blip r:embed="rId4"/>
          <a:stretch>
            <a:fillRect/>
          </a:stretch>
        </p:blipFill>
        <p:spPr>
          <a:xfrm>
            <a:off x="588380" y="1143000"/>
            <a:ext cx="10058400" cy="4976420"/>
          </a:xfrm>
        </p:spPr>
      </p:pic>
    </p:spTree>
    <p:extLst>
      <p:ext uri="{BB962C8B-B14F-4D97-AF65-F5344CB8AC3E}">
        <p14:creationId xmlns:p14="http://schemas.microsoft.com/office/powerpoint/2010/main" val="1583254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066800" y="2286000"/>
            <a:ext cx="10549128" cy="4041648"/>
          </a:xfrm>
        </p:spPr>
        <p:txBody>
          <a:bodyPr>
            <a:normAutofit fontScale="90000"/>
          </a:bodyPr>
          <a:lstStyle/>
          <a:p>
            <a:r>
              <a:rPr lang="en-US" dirty="0"/>
              <a:t>Differences-</a:t>
            </a:r>
            <a:br>
              <a:rPr lang="en-US" dirty="0"/>
            </a:br>
            <a:r>
              <a:rPr lang="en-US" dirty="0"/>
              <a:t>in-</a:t>
            </a:r>
            <a:br>
              <a:rPr lang="en-US" dirty="0"/>
            </a:br>
            <a:r>
              <a:rPr lang="en-US" dirty="0"/>
              <a:t>Differences-</a:t>
            </a:r>
            <a:br>
              <a:rPr lang="en-US" dirty="0"/>
            </a:br>
            <a:r>
              <a:rPr lang="en-US" dirty="0"/>
              <a:t>in-</a:t>
            </a:r>
            <a:br>
              <a:rPr lang="en-US" dirty="0"/>
            </a:br>
            <a:r>
              <a:rPr lang="en-US" dirty="0"/>
              <a:t>Differences </a:t>
            </a:r>
            <a:br>
              <a:rPr lang="en-US" dirty="0"/>
            </a:br>
            <a:br>
              <a:rPr lang="en-US" dirty="0"/>
            </a:br>
            <a:r>
              <a:rPr lang="en-US" dirty="0"/>
              <a:t>(oh my!)</a:t>
            </a:r>
          </a:p>
        </p:txBody>
      </p:sp>
    </p:spTree>
    <p:extLst>
      <p:ext uri="{BB962C8B-B14F-4D97-AF65-F5344CB8AC3E}">
        <p14:creationId xmlns:p14="http://schemas.microsoft.com/office/powerpoint/2010/main" val="674843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11F8-5013-EF60-B56C-0DFA21DB9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49BFB-4078-F520-1B50-61D49349B1A4}"/>
              </a:ext>
            </a:extLst>
          </p:cNvPr>
          <p:cNvSpPr>
            <a:spLocks noGrp="1"/>
          </p:cNvSpPr>
          <p:nvPr>
            <p:ph type="title"/>
          </p:nvPr>
        </p:nvSpPr>
        <p:spPr>
          <a:xfrm>
            <a:off x="609600" y="337392"/>
            <a:ext cx="10439400" cy="624840"/>
          </a:xfrm>
        </p:spPr>
        <p:txBody>
          <a:bodyPr>
            <a:noAutofit/>
          </a:bodyPr>
          <a:lstStyle/>
          <a:p>
            <a:r>
              <a:rPr lang="en-US" sz="3200" dirty="0">
                <a:cs typeface="Times New Roman" panose="02020603050405020304" pitchFamily="18" charset="0"/>
              </a:rPr>
              <a:t>Leveraging Policy Characteristics Can Improve your Estimates</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0A34CC-AB9B-B67C-E0BB-4984A33FDF39}"/>
                  </a:ext>
                </a:extLst>
              </p:cNvPr>
              <p:cNvSpPr>
                <a:spLocks noGrp="1"/>
              </p:cNvSpPr>
              <p:nvPr>
                <p:ph idx="1"/>
              </p:nvPr>
            </p:nvSpPr>
            <p:spPr>
              <a:xfrm>
                <a:off x="609601" y="1066801"/>
                <a:ext cx="10015390" cy="5141388"/>
              </a:xfrm>
            </p:spPr>
            <p:txBody>
              <a:bodyPr>
                <a:noAutofit/>
              </a:bodyPr>
              <a:lstStyle/>
              <a:p>
                <a:r>
                  <a:rPr lang="en-US" sz="2400" dirty="0">
                    <a:cs typeface="Times New Roman" panose="02020603050405020304" pitchFamily="18" charset="0"/>
                  </a:rPr>
                  <a:t>Suppose you know that a treatment only affects a </a:t>
                </a:r>
                <a:r>
                  <a:rPr lang="en-US" sz="2400" b="1" dirty="0">
                    <a:cs typeface="Times New Roman" panose="02020603050405020304" pitchFamily="18" charset="0"/>
                  </a:rPr>
                  <a:t>subgroup</a:t>
                </a:r>
                <a:r>
                  <a:rPr lang="en-US" sz="2400" dirty="0">
                    <a:cs typeface="Times New Roman" panose="02020603050405020304" pitchFamily="18" charset="0"/>
                  </a:rPr>
                  <a:t> of a unit/period</a:t>
                </a:r>
              </a:p>
              <a:p>
                <a:r>
                  <a:rPr lang="en-US" sz="2400" dirty="0">
                    <a:cs typeface="Times New Roman" panose="02020603050405020304" pitchFamily="18" charset="0"/>
                  </a:rPr>
                  <a:t>For example, only those in a certain income group qualify for a subsidy</a:t>
                </a:r>
              </a:p>
              <a:p>
                <a:r>
                  <a:rPr lang="en-US" sz="2400" dirty="0">
                    <a:cs typeface="Times New Roman" panose="02020603050405020304" pitchFamily="18" charset="0"/>
                  </a:rPr>
                  <a:t>Then, you actually have 3 types of “comparisons” </a:t>
                </a:r>
              </a:p>
              <a:p>
                <a:pPr marL="731520" lvl="1" indent="-457200">
                  <a:buFont typeface="+mj-lt"/>
                  <a:buAutoNum type="arabicPeriod"/>
                </a:pPr>
                <a:r>
                  <a:rPr lang="en-US" sz="2200" dirty="0">
                    <a:cs typeface="Times New Roman" panose="02020603050405020304" pitchFamily="18" charset="0"/>
                  </a:rPr>
                  <a:t>Before vs after</a:t>
                </a:r>
              </a:p>
              <a:p>
                <a:pPr marL="731520" lvl="1" indent="-457200">
                  <a:buFont typeface="+mj-lt"/>
                  <a:buAutoNum type="arabicPeriod"/>
                </a:pPr>
                <a:r>
                  <a:rPr lang="en-US" sz="2200" dirty="0">
                    <a:cs typeface="Times New Roman" panose="02020603050405020304" pitchFamily="18" charset="0"/>
                  </a:rPr>
                  <a:t>Treated vs untreated</a:t>
                </a:r>
              </a:p>
              <a:p>
                <a:pPr marL="731520" lvl="1" indent="-457200">
                  <a:buFont typeface="+mj-lt"/>
                  <a:buAutoNum type="arabicPeriod"/>
                </a:pPr>
                <a:r>
                  <a:rPr lang="en-US" sz="2200" b="1" u="sng" dirty="0">
                    <a:cs typeface="Times New Roman" panose="02020603050405020304" pitchFamily="18" charset="0"/>
                  </a:rPr>
                  <a:t>Within the treated-post units: qualifying vs not qualifying</a:t>
                </a:r>
              </a:p>
              <a:p>
                <a:r>
                  <a:rPr lang="en-US" sz="2400" dirty="0">
                    <a:cs typeface="Times New Roman" panose="02020603050405020304" pitchFamily="18" charset="0"/>
                  </a:rPr>
                  <a:t>This is formalized in a DDD regression: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𝑖𝑔𝑡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𝜏</m:t>
                          </m:r>
                        </m:e>
                        <m:sub>
                          <m:r>
                            <a:rPr lang="en-US" sz="2400" b="0" i="1" smtClean="0">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𝜈</m:t>
                          </m:r>
                        </m:e>
                        <m:sub>
                          <m:r>
                            <a:rPr lang="en-US" sz="2400" b="0" i="1" smtClean="0">
                              <a:latin typeface="Cambria Math" panose="02040503050406030204" pitchFamily="18" charset="0"/>
                              <a:cs typeface="Times New Roman" panose="02020603050405020304" pitchFamily="18" charset="0"/>
                            </a:rPr>
                            <m:t>𝑔</m:t>
                          </m:r>
                        </m:sub>
                      </m:sSub>
                      <m:r>
                        <a:rPr lang="en-US" sz="2400" b="0" i="1" smtClean="0">
                          <a:latin typeface="Cambria Math" panose="02040503050406030204" pitchFamily="18" charset="0"/>
                          <a:cs typeface="Times New Roman" panose="02020603050405020304" pitchFamily="18" charset="0"/>
                        </a:rPr>
                        <m:t>+</m:t>
                      </m:r>
                    </m:oMath>
                  </m:oMathPara>
                </a14:m>
                <a:endParaRPr lang="en-US"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𝑇𝑟𝑒𝑎𝑡𝑒</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𝑃𝑜𝑠</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𝑡</m:t>
                              </m:r>
                            </m:e>
                            <m:sub>
                              <m:r>
                                <a:rPr lang="en-US" sz="2400" b="0" i="1" smtClean="0">
                                  <a:latin typeface="Cambria Math" panose="02040503050406030204" pitchFamily="18" charset="0"/>
                                  <a:cs typeface="Times New Roman" panose="02020603050405020304" pitchFamily="18" charset="0"/>
                                </a:rPr>
                                <m:t>𝑡</m:t>
                              </m:r>
                            </m:sub>
                          </m:sSub>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𝑇𝑟𝑒𝑎𝑡𝑒</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𝐺𝑟𝑜𝑢</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𝑝</m:t>
                              </m:r>
                            </m:e>
                            <m:sub>
                              <m:r>
                                <a:rPr lang="en-US" sz="2400" b="0" i="1" smtClean="0">
                                  <a:latin typeface="Cambria Math" panose="02040503050406030204" pitchFamily="18" charset="0"/>
                                  <a:cs typeface="Times New Roman" panose="02020603050405020304" pitchFamily="18" charset="0"/>
                                </a:rPr>
                                <m:t>𝑔</m:t>
                              </m:r>
                            </m:sub>
                          </m:sSub>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3</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𝐺𝑟𝑜𝑢</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𝑝</m:t>
                              </m:r>
                            </m:e>
                            <m:sub>
                              <m:r>
                                <a:rPr lang="en-US" sz="2400" b="0" i="1" smtClean="0">
                                  <a:latin typeface="Cambria Math" panose="02040503050406030204" pitchFamily="18" charset="0"/>
                                  <a:cs typeface="Times New Roman" panose="02020603050405020304" pitchFamily="18" charset="0"/>
                                </a:rPr>
                                <m:t>𝑔</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𝑃𝑜𝑠</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𝑡</m:t>
                              </m:r>
                            </m:e>
                            <m:sub>
                              <m:r>
                                <a:rPr lang="en-US" sz="2400" b="0" i="1" smtClean="0">
                                  <a:latin typeface="Cambria Math" panose="02040503050406030204" pitchFamily="18" charset="0"/>
                                  <a:cs typeface="Times New Roman" panose="02020603050405020304" pitchFamily="18" charset="0"/>
                                </a:rPr>
                                <m:t>𝑡</m:t>
                              </m:r>
                            </m:sub>
                          </m:sSub>
                        </m:e>
                      </m:d>
                      <m:r>
                        <a:rPr lang="en-US" sz="2400" b="0" i="1" smtClean="0">
                          <a:latin typeface="Cambria Math" panose="02040503050406030204" pitchFamily="18" charset="0"/>
                          <a:cs typeface="Times New Roman" panose="02020603050405020304" pitchFamily="18" charset="0"/>
                        </a:rPr>
                        <m:t>+</m:t>
                      </m:r>
                    </m:oMath>
                  </m:oMathPara>
                </a14:m>
                <a:endParaRPr lang="en-US"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𝛾</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𝑇𝑟𝑒𝑎𝑡𝑒</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𝑃𝑜𝑠</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𝑡</m:t>
                              </m:r>
                            </m:e>
                            <m:sub>
                              <m:r>
                                <a:rPr lang="en-US" sz="2400" b="0" i="1" smtClean="0">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𝐺𝑟𝑜𝑢</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𝑝</m:t>
                              </m:r>
                            </m:e>
                            <m:sub>
                              <m:r>
                                <a:rPr lang="en-US" sz="2400" b="0" i="1" smtClean="0">
                                  <a:latin typeface="Cambria Math" panose="02040503050406030204" pitchFamily="18" charset="0"/>
                                  <a:cs typeface="Times New Roman" panose="02020603050405020304" pitchFamily="18" charset="0"/>
                                </a:rPr>
                                <m:t>𝑔</m:t>
                              </m:r>
                            </m:sub>
                          </m:sSub>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E40A34CC-AB9B-B67C-E0BB-4984A33FDF39}"/>
                  </a:ext>
                </a:extLst>
              </p:cNvPr>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426" t="-1305"/>
                </a:stretch>
              </a:blipFill>
            </p:spPr>
            <p:txBody>
              <a:bodyPr/>
              <a:lstStyle/>
              <a:p>
                <a:r>
                  <a:rPr lang="en-US">
                    <a:noFill/>
                  </a:rPr>
                  <a:t> </a:t>
                </a:r>
              </a:p>
            </p:txBody>
          </p:sp>
        </mc:Fallback>
      </mc:AlternateContent>
      <p:pic>
        <p:nvPicPr>
          <p:cNvPr id="6" name="Picture 2" descr="RStudio - RStudio">
            <a:extLst>
              <a:ext uri="{FF2B5EF4-FFF2-40B4-BE49-F238E27FC236}">
                <a16:creationId xmlns:a16="http://schemas.microsoft.com/office/drawing/2014/main" id="{92CAA60F-BBC3-8F4E-49F5-DBC0DD66D4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0492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2909E-2AF2-5F51-CBDF-34AD1F784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30F65-7BD8-963B-9764-FEDFF6820DBF}"/>
              </a:ext>
            </a:extLst>
          </p:cNvPr>
          <p:cNvSpPr>
            <a:spLocks noGrp="1"/>
          </p:cNvSpPr>
          <p:nvPr>
            <p:ph type="title"/>
          </p:nvPr>
        </p:nvSpPr>
        <p:spPr>
          <a:xfrm>
            <a:off x="609600" y="337392"/>
            <a:ext cx="10439400" cy="624840"/>
          </a:xfrm>
        </p:spPr>
        <p:txBody>
          <a:bodyPr>
            <a:noAutofit/>
          </a:bodyPr>
          <a:lstStyle/>
          <a:p>
            <a:r>
              <a:rPr lang="en-US" sz="3200" dirty="0">
                <a:cs typeface="Times New Roman" panose="02020603050405020304" pitchFamily="18" charset="0"/>
              </a:rPr>
              <a:t>What does a DDD look like in practice?</a:t>
            </a:r>
            <a:endParaRPr lang="en-US" sz="3200" dirty="0">
              <a:latin typeface="Times New Roman" panose="02020603050405020304" pitchFamily="18" charset="0"/>
              <a:cs typeface="Times New Roman" panose="02020603050405020304" pitchFamily="18" charset="0"/>
            </a:endParaRPr>
          </a:p>
        </p:txBody>
      </p:sp>
      <p:pic>
        <p:nvPicPr>
          <p:cNvPr id="12" name="Content Placeholder 11">
            <a:extLst>
              <a:ext uri="{FF2B5EF4-FFF2-40B4-BE49-F238E27FC236}">
                <a16:creationId xmlns:a16="http://schemas.microsoft.com/office/drawing/2014/main" id="{79075E03-8ED5-38EE-07C3-C5DD11877C9C}"/>
              </a:ext>
            </a:extLst>
          </p:cNvPr>
          <p:cNvPicPr>
            <a:picLocks noGrp="1" noChangeAspect="1"/>
          </p:cNvPicPr>
          <p:nvPr>
            <p:ph idx="1"/>
          </p:nvPr>
        </p:nvPicPr>
        <p:blipFill>
          <a:blip r:embed="rId3"/>
          <a:stretch>
            <a:fillRect/>
          </a:stretch>
        </p:blipFill>
        <p:spPr>
          <a:xfrm>
            <a:off x="330553" y="4114800"/>
            <a:ext cx="7714998" cy="2476920"/>
          </a:xfrm>
          <a:prstGeom prst="rect">
            <a:avLst/>
          </a:prstGeom>
        </p:spPr>
      </p:pic>
      <p:pic>
        <p:nvPicPr>
          <p:cNvPr id="8" name="Picture 7">
            <a:extLst>
              <a:ext uri="{FF2B5EF4-FFF2-40B4-BE49-F238E27FC236}">
                <a16:creationId xmlns:a16="http://schemas.microsoft.com/office/drawing/2014/main" id="{392ECAC8-D75C-DAC2-9421-BD4C7B22FCD2}"/>
              </a:ext>
            </a:extLst>
          </p:cNvPr>
          <p:cNvPicPr>
            <a:picLocks noChangeAspect="1"/>
          </p:cNvPicPr>
          <p:nvPr/>
        </p:nvPicPr>
        <p:blipFill>
          <a:blip r:embed="rId4"/>
          <a:stretch>
            <a:fillRect/>
          </a:stretch>
        </p:blipFill>
        <p:spPr>
          <a:xfrm>
            <a:off x="381000" y="935728"/>
            <a:ext cx="5601482" cy="800212"/>
          </a:xfrm>
          <a:prstGeom prst="rect">
            <a:avLst/>
          </a:prstGeom>
        </p:spPr>
      </p:pic>
      <p:pic>
        <p:nvPicPr>
          <p:cNvPr id="10" name="Picture 9">
            <a:extLst>
              <a:ext uri="{FF2B5EF4-FFF2-40B4-BE49-F238E27FC236}">
                <a16:creationId xmlns:a16="http://schemas.microsoft.com/office/drawing/2014/main" id="{541A8879-2E72-A89C-9701-530C1D6FFF4F}"/>
              </a:ext>
            </a:extLst>
          </p:cNvPr>
          <p:cNvPicPr>
            <a:picLocks noChangeAspect="1"/>
          </p:cNvPicPr>
          <p:nvPr/>
        </p:nvPicPr>
        <p:blipFill>
          <a:blip r:embed="rId5"/>
          <a:stretch>
            <a:fillRect/>
          </a:stretch>
        </p:blipFill>
        <p:spPr>
          <a:xfrm>
            <a:off x="381001" y="1637880"/>
            <a:ext cx="5157638" cy="2476920"/>
          </a:xfrm>
          <a:prstGeom prst="rect">
            <a:avLst/>
          </a:prstGeom>
        </p:spPr>
      </p:pic>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B652DCD3-CB65-E5A1-56A0-ABB94BDC47C4}"/>
                  </a:ext>
                </a:extLst>
              </p14:cNvPr>
              <p14:cNvContentPartPr/>
              <p14:nvPr/>
            </p14:nvContentPartPr>
            <p14:xfrm>
              <a:off x="463409" y="5895746"/>
              <a:ext cx="7387200" cy="253800"/>
            </p14:xfrm>
          </p:contentPart>
        </mc:Choice>
        <mc:Fallback xmlns="">
          <p:pic>
            <p:nvPicPr>
              <p:cNvPr id="13" name="Ink 12">
                <a:extLst>
                  <a:ext uri="{FF2B5EF4-FFF2-40B4-BE49-F238E27FC236}">
                    <a16:creationId xmlns:a16="http://schemas.microsoft.com/office/drawing/2014/main" id="{B652DCD3-CB65-E5A1-56A0-ABB94BDC47C4}"/>
                  </a:ext>
                </a:extLst>
              </p:cNvPr>
              <p:cNvPicPr/>
              <p:nvPr/>
            </p:nvPicPr>
            <p:blipFill>
              <a:blip r:embed="rId7"/>
              <a:stretch>
                <a:fillRect/>
              </a:stretch>
            </p:blipFill>
            <p:spPr>
              <a:xfrm>
                <a:off x="409769" y="5787746"/>
                <a:ext cx="7494840" cy="469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DE87E341-2DB2-0788-481D-37A249563964}"/>
                  </a:ext>
                </a:extLst>
              </p14:cNvPr>
              <p14:cNvContentPartPr/>
              <p14:nvPr/>
            </p14:nvContentPartPr>
            <p14:xfrm>
              <a:off x="5951249" y="5644106"/>
              <a:ext cx="1946880" cy="107280"/>
            </p14:xfrm>
          </p:contentPart>
        </mc:Choice>
        <mc:Fallback xmlns="">
          <p:pic>
            <p:nvPicPr>
              <p:cNvPr id="14" name="Ink 13">
                <a:extLst>
                  <a:ext uri="{FF2B5EF4-FFF2-40B4-BE49-F238E27FC236}">
                    <a16:creationId xmlns:a16="http://schemas.microsoft.com/office/drawing/2014/main" id="{DE87E341-2DB2-0788-481D-37A249563964}"/>
                  </a:ext>
                </a:extLst>
              </p:cNvPr>
              <p:cNvPicPr/>
              <p:nvPr/>
            </p:nvPicPr>
            <p:blipFill>
              <a:blip r:embed="rId9"/>
              <a:stretch>
                <a:fillRect/>
              </a:stretch>
            </p:blipFill>
            <p:spPr>
              <a:xfrm>
                <a:off x="5897609" y="5536466"/>
                <a:ext cx="205452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5917D3FD-5DE9-0005-12C1-3CBA92270B83}"/>
                  </a:ext>
                </a:extLst>
              </p14:cNvPr>
              <p14:cNvContentPartPr/>
              <p14:nvPr/>
            </p14:nvContentPartPr>
            <p14:xfrm>
              <a:off x="547289" y="6134786"/>
              <a:ext cx="5072400" cy="273960"/>
            </p14:xfrm>
          </p:contentPart>
        </mc:Choice>
        <mc:Fallback xmlns="">
          <p:pic>
            <p:nvPicPr>
              <p:cNvPr id="15" name="Ink 14">
                <a:extLst>
                  <a:ext uri="{FF2B5EF4-FFF2-40B4-BE49-F238E27FC236}">
                    <a16:creationId xmlns:a16="http://schemas.microsoft.com/office/drawing/2014/main" id="{5917D3FD-5DE9-0005-12C1-3CBA92270B83}"/>
                  </a:ext>
                </a:extLst>
              </p:cNvPr>
              <p:cNvPicPr/>
              <p:nvPr/>
            </p:nvPicPr>
            <p:blipFill>
              <a:blip r:embed="rId11"/>
              <a:stretch>
                <a:fillRect/>
              </a:stretch>
            </p:blipFill>
            <p:spPr>
              <a:xfrm>
                <a:off x="493289" y="6027146"/>
                <a:ext cx="5180040" cy="489600"/>
              </a:xfrm>
              <a:prstGeom prst="rect">
                <a:avLst/>
              </a:prstGeom>
            </p:spPr>
          </p:pic>
        </mc:Fallback>
      </mc:AlternateContent>
    </p:spTree>
    <p:extLst>
      <p:ext uri="{BB962C8B-B14F-4D97-AF65-F5344CB8AC3E}">
        <p14:creationId xmlns:p14="http://schemas.microsoft.com/office/powerpoint/2010/main" val="3949631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4AB1C-6A58-F36A-CB1D-3A4971C80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BDFBE-AF99-5D19-842D-2AD190440A3B}"/>
              </a:ext>
            </a:extLst>
          </p:cNvPr>
          <p:cNvSpPr>
            <a:spLocks noGrp="1"/>
          </p:cNvSpPr>
          <p:nvPr>
            <p:ph type="title"/>
          </p:nvPr>
        </p:nvSpPr>
        <p:spPr>
          <a:xfrm>
            <a:off x="609600" y="337392"/>
            <a:ext cx="10439400" cy="624840"/>
          </a:xfrm>
        </p:spPr>
        <p:txBody>
          <a:bodyPr>
            <a:noAutofit/>
          </a:bodyPr>
          <a:lstStyle/>
          <a:p>
            <a:r>
              <a:rPr lang="en-US" sz="3200" dirty="0">
                <a:cs typeface="Times New Roman" panose="02020603050405020304" pitchFamily="18" charset="0"/>
              </a:rPr>
              <a:t>What does a DDD look like in practice?</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E1BA900-F3FC-12CB-3234-C7F9AF43523F}"/>
              </a:ext>
            </a:extLst>
          </p:cNvPr>
          <p:cNvSpPr>
            <a:spLocks noGrp="1"/>
          </p:cNvSpPr>
          <p:nvPr>
            <p:ph idx="1"/>
          </p:nvPr>
        </p:nvSpPr>
        <p:spPr>
          <a:xfrm>
            <a:off x="609601" y="1066801"/>
            <a:ext cx="10015390" cy="5141388"/>
          </a:xfrm>
        </p:spPr>
        <p:txBody>
          <a:bodyPr>
            <a:noAutofit/>
          </a:bodyPr>
          <a:lstStyle/>
          <a:p>
            <a:r>
              <a:rPr lang="en-US" sz="2400" dirty="0">
                <a:cs typeface="Times New Roman" panose="02020603050405020304" pitchFamily="18" charset="0"/>
              </a:rPr>
              <a:t>Effects of policy change on children’s outcomes (DD)</a:t>
            </a:r>
          </a:p>
        </p:txBody>
      </p:sp>
      <p:pic>
        <p:nvPicPr>
          <p:cNvPr id="8" name="Picture 7">
            <a:extLst>
              <a:ext uri="{FF2B5EF4-FFF2-40B4-BE49-F238E27FC236}">
                <a16:creationId xmlns:a16="http://schemas.microsoft.com/office/drawing/2014/main" id="{339D9876-ED44-7E31-7D76-9CE9A3029146}"/>
              </a:ext>
            </a:extLst>
          </p:cNvPr>
          <p:cNvPicPr>
            <a:picLocks noChangeAspect="1"/>
          </p:cNvPicPr>
          <p:nvPr/>
        </p:nvPicPr>
        <p:blipFill>
          <a:blip r:embed="rId3"/>
          <a:stretch>
            <a:fillRect/>
          </a:stretch>
        </p:blipFill>
        <p:spPr>
          <a:xfrm>
            <a:off x="228600" y="1455838"/>
            <a:ext cx="9942443" cy="4363313"/>
          </a:xfrm>
          <a:prstGeom prst="rect">
            <a:avLst/>
          </a:prstGeom>
        </p:spPr>
      </p:pic>
    </p:spTree>
    <p:extLst>
      <p:ext uri="{BB962C8B-B14F-4D97-AF65-F5344CB8AC3E}">
        <p14:creationId xmlns:p14="http://schemas.microsoft.com/office/powerpoint/2010/main" val="1236898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EE6F0-28A4-EE1D-80BF-B85BBD866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5B9C4E-EE32-3530-B296-A8ED8ADFDF3F}"/>
              </a:ext>
            </a:extLst>
          </p:cNvPr>
          <p:cNvSpPr>
            <a:spLocks noGrp="1"/>
          </p:cNvSpPr>
          <p:nvPr>
            <p:ph type="title"/>
          </p:nvPr>
        </p:nvSpPr>
        <p:spPr>
          <a:xfrm>
            <a:off x="609600" y="337392"/>
            <a:ext cx="10439400" cy="624840"/>
          </a:xfrm>
        </p:spPr>
        <p:txBody>
          <a:bodyPr>
            <a:noAutofit/>
          </a:bodyPr>
          <a:lstStyle/>
          <a:p>
            <a:r>
              <a:rPr lang="en-US" sz="3200" dirty="0">
                <a:cs typeface="Times New Roman" panose="02020603050405020304" pitchFamily="18" charset="0"/>
              </a:rPr>
              <a:t>What does a DDD look like in practice?</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B99F9AD-48F5-3169-1045-A3909D768F9F}"/>
              </a:ext>
            </a:extLst>
          </p:cNvPr>
          <p:cNvSpPr>
            <a:spLocks noGrp="1"/>
          </p:cNvSpPr>
          <p:nvPr>
            <p:ph idx="1"/>
          </p:nvPr>
        </p:nvSpPr>
        <p:spPr>
          <a:xfrm>
            <a:off x="609601" y="1066801"/>
            <a:ext cx="10015390"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80DBF268-AF8C-5B5A-EF94-C9D18CD93227}"/>
              </a:ext>
            </a:extLst>
          </p:cNvPr>
          <p:cNvPicPr>
            <a:picLocks noChangeAspect="1"/>
          </p:cNvPicPr>
          <p:nvPr/>
        </p:nvPicPr>
        <p:blipFill>
          <a:blip r:embed="rId3"/>
          <a:stretch>
            <a:fillRect/>
          </a:stretch>
        </p:blipFill>
        <p:spPr>
          <a:xfrm>
            <a:off x="251801" y="990600"/>
            <a:ext cx="9958999" cy="5407562"/>
          </a:xfrm>
          <a:prstGeom prst="rect">
            <a:avLst/>
          </a:prstGeom>
        </p:spPr>
      </p:pic>
    </p:spTree>
    <p:extLst>
      <p:ext uri="{BB962C8B-B14F-4D97-AF65-F5344CB8AC3E}">
        <p14:creationId xmlns:p14="http://schemas.microsoft.com/office/powerpoint/2010/main" val="1884319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42764-E473-09DE-11C8-C340F4458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4112E-7132-5C70-D558-E6D7787AF829}"/>
              </a:ext>
            </a:extLst>
          </p:cNvPr>
          <p:cNvSpPr>
            <a:spLocks noGrp="1"/>
          </p:cNvSpPr>
          <p:nvPr>
            <p:ph type="title"/>
          </p:nvPr>
        </p:nvSpPr>
        <p:spPr>
          <a:xfrm>
            <a:off x="609600" y="337392"/>
            <a:ext cx="10439400" cy="624840"/>
          </a:xfrm>
        </p:spPr>
        <p:txBody>
          <a:bodyPr>
            <a:noAutofit/>
          </a:bodyPr>
          <a:lstStyle/>
          <a:p>
            <a:r>
              <a:rPr lang="en-US" sz="3200" dirty="0">
                <a:cs typeface="Times New Roman" panose="02020603050405020304" pitchFamily="18" charset="0"/>
              </a:rPr>
              <a:t>What to Know When Implementing a DDD</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BDAAAB-A830-9B88-A510-45B076134AAD}"/>
              </a:ext>
            </a:extLst>
          </p:cNvPr>
          <p:cNvSpPr>
            <a:spLocks noGrp="1"/>
          </p:cNvSpPr>
          <p:nvPr>
            <p:ph idx="1"/>
          </p:nvPr>
        </p:nvSpPr>
        <p:spPr>
          <a:xfrm>
            <a:off x="609601" y="1066801"/>
            <a:ext cx="10015390" cy="5141388"/>
          </a:xfrm>
        </p:spPr>
        <p:txBody>
          <a:bodyPr>
            <a:noAutofit/>
          </a:bodyPr>
          <a:lstStyle/>
          <a:p>
            <a:r>
              <a:rPr lang="en-US" sz="2400" dirty="0">
                <a:cs typeface="Times New Roman" panose="02020603050405020304" pitchFamily="18" charset="0"/>
              </a:rPr>
              <a:t>Has the identifying assumption changed? Yes and no! </a:t>
            </a:r>
          </a:p>
          <a:p>
            <a:pPr lvl="1"/>
            <a:r>
              <a:rPr lang="en-US" sz="2200" dirty="0">
                <a:cs typeface="Times New Roman" panose="02020603050405020304" pitchFamily="18" charset="0"/>
              </a:rPr>
              <a:t>Formally, the identifying assumption is that “the differential in the outcomes of group A and group B in the treatment state trend similarly to the differential in the outcomes of group A and group B in the control state, in the absence of treatment.”</a:t>
            </a:r>
          </a:p>
          <a:p>
            <a:pPr lvl="1"/>
            <a:r>
              <a:rPr lang="en-US" sz="2200" dirty="0">
                <a:cs typeface="Times New Roman" panose="02020603050405020304" pitchFamily="18" charset="0"/>
              </a:rPr>
              <a:t>See Olden and Moen (2022) for a helpful review of DDD theory/practice </a:t>
            </a:r>
          </a:p>
          <a:p>
            <a:r>
              <a:rPr lang="en-US" sz="2400" dirty="0">
                <a:cs typeface="Times New Roman" panose="02020603050405020304" pitchFamily="18" charset="0"/>
              </a:rPr>
              <a:t>How is this different than heterogeneity? </a:t>
            </a:r>
          </a:p>
          <a:p>
            <a:pPr lvl="1"/>
            <a:r>
              <a:rPr lang="en-US" sz="2400" dirty="0"/>
              <a:t>This should typically be a treatment/control split, not a “intensity” measure</a:t>
            </a:r>
          </a:p>
          <a:p>
            <a:pPr lvl="1"/>
            <a:r>
              <a:rPr lang="en-US" sz="2400" dirty="0"/>
              <a:t>Be explicit: what is the third margin of variation and why is it </a:t>
            </a:r>
            <a:r>
              <a:rPr lang="en-US" sz="2400" i="1" dirty="0"/>
              <a:t>exogenous</a:t>
            </a:r>
            <a:r>
              <a:rPr lang="en-US" sz="2400" dirty="0"/>
              <a:t> or </a:t>
            </a:r>
            <a:r>
              <a:rPr lang="en-US" sz="2400" i="1" dirty="0"/>
              <a:t>economically meaningful</a:t>
            </a:r>
            <a:r>
              <a:rPr lang="en-US" sz="2400" dirty="0"/>
              <a:t>? (Subpopulations should experience the same policy shock except for one extra feature)</a:t>
            </a:r>
          </a:p>
          <a:p>
            <a:r>
              <a:rPr lang="en-US" sz="2400" dirty="0">
                <a:cs typeface="Times New Roman" panose="02020603050405020304" pitchFamily="18" charset="0"/>
              </a:rPr>
              <a:t>This one can be more difficult to present dynamic treatment effects for (unless one of the two groups shouldn’t have an effect at all)</a:t>
            </a:r>
          </a:p>
          <a:p>
            <a:r>
              <a:rPr lang="en-US" sz="2400" dirty="0">
                <a:cs typeface="Times New Roman" panose="02020603050405020304" pitchFamily="18" charset="0"/>
              </a:rPr>
              <a:t>Can be a useful way to test for spurious effects/run placebo tests!</a:t>
            </a:r>
          </a:p>
        </p:txBody>
      </p:sp>
    </p:spTree>
    <p:extLst>
      <p:ext uri="{BB962C8B-B14F-4D97-AF65-F5344CB8AC3E}">
        <p14:creationId xmlns:p14="http://schemas.microsoft.com/office/powerpoint/2010/main" val="870083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ADA57-FEE0-6592-D8B3-7E84F34683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75A963-2D1D-DB46-BC45-68DAD45D5AE4}"/>
              </a:ext>
            </a:extLst>
          </p:cNvPr>
          <p:cNvSpPr>
            <a:spLocks noGrp="1"/>
          </p:cNvSpPr>
          <p:nvPr>
            <p:ph type="ctrTitle"/>
          </p:nvPr>
        </p:nvSpPr>
        <p:spPr>
          <a:xfrm>
            <a:off x="1054768" y="2286000"/>
            <a:ext cx="10549128" cy="2819400"/>
          </a:xfrm>
        </p:spPr>
        <p:txBody>
          <a:bodyPr>
            <a:normAutofit/>
          </a:bodyPr>
          <a:lstStyle/>
          <a:p>
            <a:r>
              <a:rPr lang="en-US" dirty="0"/>
              <a:t>Alternative Approaches</a:t>
            </a:r>
          </a:p>
        </p:txBody>
      </p:sp>
    </p:spTree>
    <p:extLst>
      <p:ext uri="{BB962C8B-B14F-4D97-AF65-F5344CB8AC3E}">
        <p14:creationId xmlns:p14="http://schemas.microsoft.com/office/powerpoint/2010/main" val="3545645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91F65-D065-6139-69F8-002914ECD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2B603-4424-3539-EB96-057543E6D761}"/>
              </a:ext>
            </a:extLst>
          </p:cNvPr>
          <p:cNvSpPr>
            <a:spLocks noGrp="1"/>
          </p:cNvSpPr>
          <p:nvPr>
            <p:ph type="title"/>
          </p:nvPr>
        </p:nvSpPr>
        <p:spPr>
          <a:xfrm>
            <a:off x="609600" y="337392"/>
            <a:ext cx="10439400" cy="624840"/>
          </a:xfrm>
        </p:spPr>
        <p:txBody>
          <a:bodyPr>
            <a:noAutofit/>
          </a:bodyPr>
          <a:lstStyle/>
          <a:p>
            <a:r>
              <a:rPr lang="en-US" sz="3200" dirty="0">
                <a:cs typeface="Times New Roman" panose="02020603050405020304" pitchFamily="18" charset="0"/>
              </a:rPr>
              <a:t>What if I don’t have a good control group (part 1)?</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0E6147-7574-3CDF-3B2F-E9B83907CCE9}"/>
              </a:ext>
            </a:extLst>
          </p:cNvPr>
          <p:cNvSpPr>
            <a:spLocks noGrp="1"/>
          </p:cNvSpPr>
          <p:nvPr>
            <p:ph idx="1"/>
          </p:nvPr>
        </p:nvSpPr>
        <p:spPr>
          <a:xfrm>
            <a:off x="609601" y="1066801"/>
            <a:ext cx="10015390" cy="5141388"/>
          </a:xfrm>
        </p:spPr>
        <p:txBody>
          <a:bodyPr>
            <a:noAutofit/>
          </a:bodyPr>
          <a:lstStyle/>
          <a:p>
            <a:pPr marL="0" indent="0">
              <a:buNone/>
            </a:pPr>
            <a:r>
              <a:rPr lang="en-US" sz="2400" dirty="0">
                <a:cs typeface="Times New Roman" panose="02020603050405020304" pitchFamily="18" charset="0"/>
              </a:rPr>
              <a:t>Suppose that we want to assess a treatment effect, but we don’t think that the “untreated” group looks the same as the “treated” group: </a:t>
            </a:r>
          </a:p>
          <a:p>
            <a:pPr lvl="1"/>
            <a:r>
              <a:rPr lang="en-US" sz="2200" dirty="0">
                <a:cs typeface="Times New Roman" panose="02020603050405020304" pitchFamily="18" charset="0"/>
              </a:rPr>
              <a:t>The impact of health shocks on health outcomes</a:t>
            </a:r>
          </a:p>
          <a:p>
            <a:pPr lvl="1"/>
            <a:r>
              <a:rPr lang="en-US" sz="2200" dirty="0">
                <a:cs typeface="Times New Roman" panose="02020603050405020304" pitchFamily="18" charset="0"/>
              </a:rPr>
              <a:t>The impact of continuing medical education on health providers’ behaviors. </a:t>
            </a:r>
          </a:p>
          <a:p>
            <a:pPr marL="0" indent="0">
              <a:buNone/>
            </a:pPr>
            <a:r>
              <a:rPr lang="en-US" sz="2400" b="1" u="sng" dirty="0">
                <a:cs typeface="Times New Roman" panose="02020603050405020304" pitchFamily="18" charset="0"/>
              </a:rPr>
              <a:t>What can we do? </a:t>
            </a:r>
          </a:p>
        </p:txBody>
      </p:sp>
    </p:spTree>
    <p:extLst>
      <p:ext uri="{BB962C8B-B14F-4D97-AF65-F5344CB8AC3E}">
        <p14:creationId xmlns:p14="http://schemas.microsoft.com/office/powerpoint/2010/main" val="2230231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092DD-9DBE-393E-0FA3-6DF0B7710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7C7666-5382-C89A-96BF-F242BA323D85}"/>
              </a:ext>
            </a:extLst>
          </p:cNvPr>
          <p:cNvSpPr>
            <a:spLocks noGrp="1"/>
          </p:cNvSpPr>
          <p:nvPr>
            <p:ph type="title"/>
          </p:nvPr>
        </p:nvSpPr>
        <p:spPr>
          <a:xfrm>
            <a:off x="609600" y="337392"/>
            <a:ext cx="10439400" cy="624840"/>
          </a:xfrm>
        </p:spPr>
        <p:txBody>
          <a:bodyPr>
            <a:noAutofit/>
          </a:bodyPr>
          <a:lstStyle/>
          <a:p>
            <a:r>
              <a:rPr lang="en-US" sz="3200" dirty="0">
                <a:cs typeface="Times New Roman" panose="02020603050405020304" pitchFamily="18" charset="0"/>
              </a:rPr>
              <a:t>What if I don’t have a good control group (part 1)?</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F9C264-971A-2178-3122-65D1FDAF66D8}"/>
                  </a:ext>
                </a:extLst>
              </p:cNvPr>
              <p:cNvSpPr>
                <a:spLocks noGrp="1"/>
              </p:cNvSpPr>
              <p:nvPr>
                <p:ph idx="1"/>
              </p:nvPr>
            </p:nvSpPr>
            <p:spPr>
              <a:xfrm>
                <a:off x="609600" y="1066800"/>
                <a:ext cx="10363199" cy="5453807"/>
              </a:xfrm>
            </p:spPr>
            <p:txBody>
              <a:bodyPr>
                <a:noAutofit/>
              </a:bodyPr>
              <a:lstStyle/>
              <a:p>
                <a:pPr marL="0" indent="0">
                  <a:buNone/>
                </a:pPr>
                <a:r>
                  <a:rPr lang="en-US" sz="2400" dirty="0">
                    <a:cs typeface="Times New Roman" panose="02020603050405020304" pitchFamily="18" charset="0"/>
                  </a:rPr>
                  <a:t>Suppose that we want to assess a treatment effect, but we don’t think that the “untreated” group looks the same as the “treated” group: </a:t>
                </a:r>
              </a:p>
              <a:p>
                <a:pPr lvl="1"/>
                <a:r>
                  <a:rPr lang="en-US" sz="2200" dirty="0">
                    <a:cs typeface="Times New Roman" panose="02020603050405020304" pitchFamily="18" charset="0"/>
                  </a:rPr>
                  <a:t>The impact of health shocks on health outcomes</a:t>
                </a:r>
              </a:p>
              <a:p>
                <a:pPr lvl="1"/>
                <a:r>
                  <a:rPr lang="en-US" sz="2200" dirty="0">
                    <a:cs typeface="Times New Roman" panose="02020603050405020304" pitchFamily="18" charset="0"/>
                  </a:rPr>
                  <a:t>The impact of continuing medical education on health providers’ behaviors. </a:t>
                </a:r>
              </a:p>
              <a:p>
                <a:pPr marL="0" indent="0">
                  <a:buNone/>
                </a:pPr>
                <a:r>
                  <a:rPr lang="en-US" sz="2400" b="1" u="sng" dirty="0">
                    <a:cs typeface="Times New Roman" panose="02020603050405020304" pitchFamily="18" charset="0"/>
                  </a:rPr>
                  <a:t>What can we do? </a:t>
                </a:r>
              </a:p>
              <a:p>
                <a:pPr marL="0" indent="0">
                  <a:buNone/>
                </a:pPr>
                <a:r>
                  <a:rPr lang="en-US" sz="2400" dirty="0">
                    <a:cs typeface="Times New Roman" panose="02020603050405020304" pitchFamily="18" charset="0"/>
                  </a:rPr>
                  <a:t>A common new approach is to leverage </a:t>
                </a:r>
                <a:r>
                  <a:rPr lang="en-US" sz="2400" b="1" dirty="0">
                    <a:cs typeface="Times New Roman" panose="02020603050405020304" pitchFamily="18" charset="0"/>
                  </a:rPr>
                  <a:t>short-run variation in event timing</a:t>
                </a:r>
              </a:p>
              <a:p>
                <a:pPr marL="0" indent="0">
                  <a:buNone/>
                </a:pPr>
                <a:endParaRPr lang="en-US" sz="2400" b="1" dirty="0">
                  <a:cs typeface="Times New Roman" panose="02020603050405020304" pitchFamily="18" charset="0"/>
                </a:endParaRPr>
              </a:p>
              <a:p>
                <a:pPr marL="0" indent="0">
                  <a:buNone/>
                </a:pPr>
                <a:endParaRPr lang="en-US" sz="2400" b="1" dirty="0">
                  <a:cs typeface="Times New Roman" panose="02020603050405020304" pitchFamily="18" charset="0"/>
                </a:endParaRPr>
              </a:p>
              <a:p>
                <a:pPr marL="457200" indent="-457200">
                  <a:buAutoNum type="arabicPeriod"/>
                </a:pPr>
                <a:r>
                  <a:rPr lang="en-US" sz="2400" dirty="0">
                    <a:cs typeface="Times New Roman" panose="02020603050405020304" pitchFamily="18" charset="0"/>
                  </a:rPr>
                  <a:t>Compare those who are treated in time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𝑡</m:t>
                    </m:r>
                  </m:oMath>
                </a14:m>
                <a:r>
                  <a:rPr lang="en-US" sz="2400" dirty="0">
                    <a:cs typeface="Times New Roman" panose="02020603050405020304" pitchFamily="18" charset="0"/>
                  </a:rPr>
                  <a:t> to those who will be treated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Δ</m:t>
                    </m:r>
                  </m:oMath>
                </a14:m>
                <a:endParaRPr lang="en-US" sz="2400" b="0" dirty="0">
                  <a:cs typeface="Times New Roman" panose="02020603050405020304" pitchFamily="18" charset="0"/>
                </a:endParaRPr>
              </a:p>
              <a:p>
                <a:pPr marL="457200" indent="-457200">
                  <a:buAutoNum type="arabicPeriod"/>
                </a:pPr>
                <a:r>
                  <a:rPr lang="en-US" sz="2400" dirty="0">
                    <a:cs typeface="Times New Roman" panose="02020603050405020304" pitchFamily="18" charset="0"/>
                  </a:rPr>
                  <a:t>Recovers dynamic DD effects for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Δ</m:t>
                    </m:r>
                  </m:oMath>
                </a14:m>
                <a:r>
                  <a:rPr lang="en-US" sz="2400" dirty="0">
                    <a:cs typeface="Times New Roman" panose="02020603050405020304" pitchFamily="18" charset="0"/>
                  </a:rPr>
                  <a:t> periods</a:t>
                </a:r>
              </a:p>
              <a:p>
                <a:pPr marL="457200" indent="-457200">
                  <a:buAutoNum type="arabicPeriod"/>
                </a:pPr>
                <a:r>
                  <a:rPr lang="en-US" sz="2400" dirty="0">
                    <a:cs typeface="Times New Roman" panose="02020603050405020304" pitchFamily="18" charset="0"/>
                  </a:rPr>
                  <a:t>Discuss the additional assumption above + PTA, and the tradeoff inherent in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Δ</m:t>
                    </m:r>
                  </m:oMath>
                </a14:m>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B1F9C264-971A-2178-3122-65D1FDAF66D8}"/>
                  </a:ext>
                </a:extLst>
              </p:cNvPr>
              <p:cNvSpPr>
                <a:spLocks noGrp="1" noRot="1" noChangeAspect="1" noMove="1" noResize="1" noEditPoints="1" noAdjustHandles="1" noChangeArrowheads="1" noChangeShapeType="1" noTextEdit="1"/>
              </p:cNvSpPr>
              <p:nvPr>
                <p:ph idx="1"/>
              </p:nvPr>
            </p:nvSpPr>
            <p:spPr>
              <a:xfrm>
                <a:off x="609600" y="1066800"/>
                <a:ext cx="10363199" cy="5453807"/>
              </a:xfrm>
              <a:blipFill>
                <a:blip r:embed="rId3"/>
                <a:stretch>
                  <a:fillRect l="-882" t="-1229" b="-1564"/>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8DC4983-14C5-FB5B-A7E7-97F010A8DCF9}"/>
              </a:ext>
            </a:extLst>
          </p:cNvPr>
          <p:cNvSpPr txBox="1"/>
          <p:nvPr/>
        </p:nvSpPr>
        <p:spPr>
          <a:xfrm>
            <a:off x="2226396" y="3886200"/>
            <a:ext cx="6781800" cy="707886"/>
          </a:xfrm>
          <a:prstGeom prst="rect">
            <a:avLst/>
          </a:prstGeom>
          <a:solidFill>
            <a:schemeClr val="accent3">
              <a:lumMod val="75000"/>
            </a:schemeClr>
          </a:solidFill>
        </p:spPr>
        <p:txBody>
          <a:bodyPr wrap="square" rtlCol="0">
            <a:spAutoFit/>
          </a:bodyPr>
          <a:lstStyle/>
          <a:p>
            <a:pPr algn="ctr"/>
            <a:r>
              <a:rPr lang="en-US" sz="2000" dirty="0">
                <a:solidFill>
                  <a:schemeClr val="bg1"/>
                </a:solidFill>
                <a:latin typeface="Aptos" panose="020B0004020202020204" pitchFamily="34" charset="0"/>
              </a:rPr>
              <a:t>Conditional on having a treatment, the exact timing of the treatment is random in the short-run, not endogenous</a:t>
            </a:r>
          </a:p>
        </p:txBody>
      </p:sp>
    </p:spTree>
    <p:extLst>
      <p:ext uri="{BB962C8B-B14F-4D97-AF65-F5344CB8AC3E}">
        <p14:creationId xmlns:p14="http://schemas.microsoft.com/office/powerpoint/2010/main" val="487464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74536-E7F5-5637-44FC-F590EBD05D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865C8-EC3A-72B5-36BD-F1310CE1B048}"/>
              </a:ext>
            </a:extLst>
          </p:cNvPr>
          <p:cNvSpPr>
            <a:spLocks noGrp="1"/>
          </p:cNvSpPr>
          <p:nvPr>
            <p:ph type="title"/>
          </p:nvPr>
        </p:nvSpPr>
        <p:spPr>
          <a:xfrm>
            <a:off x="609600" y="337392"/>
            <a:ext cx="10439400" cy="624840"/>
          </a:xfrm>
        </p:spPr>
        <p:txBody>
          <a:bodyPr>
            <a:noAutofit/>
          </a:bodyPr>
          <a:lstStyle/>
          <a:p>
            <a:r>
              <a:rPr lang="en-US" sz="3200" dirty="0">
                <a:cs typeface="Times New Roman" panose="02020603050405020304" pitchFamily="18" charset="0"/>
              </a:rPr>
              <a:t>Placebo control groups </a:t>
            </a:r>
            <a:r>
              <a:rPr lang="en-US" sz="3200" dirty="0">
                <a:highlight>
                  <a:srgbClr val="FFFF00"/>
                </a:highlight>
                <a:cs typeface="Times New Roman" panose="02020603050405020304" pitchFamily="18" charset="0"/>
              </a:rPr>
              <a:t>[add Fadlon and Nielsen here]</a:t>
            </a:r>
            <a:endParaRPr lang="en-US" sz="32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9071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2BA04-4B3D-32C5-488B-36BFEF3FE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BC62AA-2333-FECA-7413-1EC66C0F2665}"/>
              </a:ext>
            </a:extLst>
          </p:cNvPr>
          <p:cNvSpPr>
            <a:spLocks noGrp="1"/>
          </p:cNvSpPr>
          <p:nvPr>
            <p:ph type="title"/>
          </p:nvPr>
        </p:nvSpPr>
        <p:spPr>
          <a:xfrm>
            <a:off x="609600" y="337392"/>
            <a:ext cx="10439400" cy="624840"/>
          </a:xfrm>
        </p:spPr>
        <p:txBody>
          <a:bodyPr>
            <a:noAutofit/>
          </a:bodyPr>
          <a:lstStyle/>
          <a:p>
            <a:r>
              <a:rPr lang="en-US" sz="3200" dirty="0">
                <a:cs typeface="Times New Roman" panose="02020603050405020304" pitchFamily="18" charset="0"/>
              </a:rPr>
              <a:t>What if I don’t have a good control group (part 1)?</a:t>
            </a:r>
            <a:endParaRPr lang="en-US"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F317FB7-4F84-57A1-5F3A-9D8F5D3B5844}"/>
              </a:ext>
            </a:extLst>
          </p:cNvPr>
          <p:cNvSpPr txBox="1"/>
          <p:nvPr/>
        </p:nvSpPr>
        <p:spPr>
          <a:xfrm>
            <a:off x="629653" y="5791200"/>
            <a:ext cx="6781800" cy="707886"/>
          </a:xfrm>
          <a:prstGeom prst="rect">
            <a:avLst/>
          </a:prstGeom>
          <a:solidFill>
            <a:schemeClr val="accent3">
              <a:lumMod val="75000"/>
            </a:schemeClr>
          </a:solidFill>
        </p:spPr>
        <p:txBody>
          <a:bodyPr wrap="square" rtlCol="0">
            <a:spAutoFit/>
          </a:bodyPr>
          <a:lstStyle/>
          <a:p>
            <a:pPr algn="ctr"/>
            <a:r>
              <a:rPr lang="en-US" sz="2000" dirty="0">
                <a:solidFill>
                  <a:schemeClr val="bg1"/>
                </a:solidFill>
                <a:latin typeface="Aptos" panose="020B0004020202020204" pitchFamily="34" charset="0"/>
              </a:rPr>
              <a:t>Conditional on having a treatment, the exact timing of the treatment is random in the short-run, not endogenous</a:t>
            </a:r>
          </a:p>
        </p:txBody>
      </p:sp>
      <p:pic>
        <p:nvPicPr>
          <p:cNvPr id="5" name="Picture 4">
            <a:extLst>
              <a:ext uri="{FF2B5EF4-FFF2-40B4-BE49-F238E27FC236}">
                <a16:creationId xmlns:a16="http://schemas.microsoft.com/office/drawing/2014/main" id="{097DC8D0-3F12-E2F9-3993-3C9497B3C3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9652" y="1066799"/>
            <a:ext cx="6990347" cy="4660231"/>
          </a:xfrm>
          <a:prstGeom prst="rect">
            <a:avLst/>
          </a:prstGeom>
        </p:spPr>
      </p:pic>
    </p:spTree>
    <p:extLst>
      <p:ext uri="{BB962C8B-B14F-4D97-AF65-F5344CB8AC3E}">
        <p14:creationId xmlns:p14="http://schemas.microsoft.com/office/powerpoint/2010/main" val="3930272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43644-78AC-7F9C-D2E8-F5CB01963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1474EF-657D-7481-493F-88C77DB6F116}"/>
              </a:ext>
            </a:extLst>
          </p:cNvPr>
          <p:cNvSpPr>
            <a:spLocks noGrp="1"/>
          </p:cNvSpPr>
          <p:nvPr>
            <p:ph type="ctrTitle"/>
          </p:nvPr>
        </p:nvSpPr>
        <p:spPr>
          <a:xfrm>
            <a:off x="1054768" y="2286000"/>
            <a:ext cx="10549128" cy="2819400"/>
          </a:xfrm>
        </p:spPr>
        <p:txBody>
          <a:bodyPr>
            <a:normAutofit/>
          </a:bodyPr>
          <a:lstStyle/>
          <a:p>
            <a:r>
              <a:rPr lang="en-US" dirty="0"/>
              <a:t>Conclusion</a:t>
            </a:r>
          </a:p>
        </p:txBody>
      </p:sp>
    </p:spTree>
    <p:extLst>
      <p:ext uri="{BB962C8B-B14F-4D97-AF65-F5344CB8AC3E}">
        <p14:creationId xmlns:p14="http://schemas.microsoft.com/office/powerpoint/2010/main" val="1495029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Conclusion: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A good DD paper: </a:t>
            </a:r>
          </a:p>
          <a:p>
            <a:pPr marL="457200" indent="-457200">
              <a:buAutoNum type="arabicPeriod"/>
            </a:pPr>
            <a:r>
              <a:rPr lang="en-US" sz="2400" dirty="0">
                <a:cs typeface="Times New Roman" panose="02020603050405020304" pitchFamily="18" charset="0"/>
              </a:rPr>
              <a:t>Lays out the causal question directly</a:t>
            </a:r>
          </a:p>
          <a:p>
            <a:pPr marL="457200" indent="-457200">
              <a:buAutoNum type="arabicPeriod"/>
            </a:pPr>
            <a:r>
              <a:rPr lang="en-US" sz="2400" dirty="0">
                <a:cs typeface="Times New Roman" panose="02020603050405020304" pitchFamily="18" charset="0"/>
              </a:rPr>
              <a:t>Has a clean estimating equation, identifying assumption statement, and discussion of the relevant control group (and why it’s credible!)</a:t>
            </a:r>
          </a:p>
          <a:p>
            <a:pPr marL="457200" indent="-457200">
              <a:buAutoNum type="arabicPeriod"/>
            </a:pPr>
            <a:r>
              <a:rPr lang="en-US" sz="2400" dirty="0">
                <a:cs typeface="Times New Roman" panose="02020603050405020304" pitchFamily="18" charset="0"/>
              </a:rPr>
              <a:t>Discuss and test potential threats to identification, robustness checks, placebos, etc. </a:t>
            </a:r>
          </a:p>
          <a:p>
            <a:pPr marL="457200" indent="-457200">
              <a:buAutoNum type="arabicPeriod"/>
            </a:pPr>
            <a:r>
              <a:rPr lang="en-US" sz="2400" dirty="0">
                <a:cs typeface="Times New Roman" panose="02020603050405020304" pitchFamily="18" charset="0"/>
              </a:rPr>
              <a:t>When presenting results, think about meaningful heterogeneity, dynamics, and ways to test/provide support for possible mechanisms</a:t>
            </a:r>
          </a:p>
          <a:p>
            <a:pPr marL="457200" indent="-457200">
              <a:buAutoNum type="arabicPeriod"/>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82438244-E57A-F358-024C-D5697CD2C5EC}"/>
              </a:ext>
            </a:extLst>
          </p:cNvPr>
          <p:cNvPicPr>
            <a:picLocks noChangeAspect="1"/>
          </p:cNvPicPr>
          <p:nvPr/>
        </p:nvPicPr>
        <p:blipFill>
          <a:blip r:embed="rId3"/>
          <a:stretch>
            <a:fillRect/>
          </a:stretch>
        </p:blipFill>
        <p:spPr>
          <a:xfrm>
            <a:off x="2971800" y="126705"/>
            <a:ext cx="7963952" cy="2387895"/>
          </a:xfrm>
          <a:prstGeom prst="rect">
            <a:avLst/>
          </a:prstGeom>
        </p:spPr>
      </p:pic>
    </p:spTree>
    <p:extLst>
      <p:ext uri="{BB962C8B-B14F-4D97-AF65-F5344CB8AC3E}">
        <p14:creationId xmlns:p14="http://schemas.microsoft.com/office/powerpoint/2010/main" val="555851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147AD-73E1-460D-F12A-B32DC3F7F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93EF5-D81F-F9F8-EA80-B18BC3A2DD74}"/>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Conclusion:</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DAC66C-18C9-819C-1E49-9CAD0C43A205}"/>
              </a:ext>
            </a:extLst>
          </p:cNvPr>
          <p:cNvSpPr>
            <a:spLocks noGrp="1"/>
          </p:cNvSpPr>
          <p:nvPr>
            <p:ph idx="1"/>
          </p:nvPr>
        </p:nvSpPr>
        <p:spPr>
          <a:xfrm>
            <a:off x="609601" y="1066801"/>
            <a:ext cx="10015390" cy="5141388"/>
          </a:xfrm>
        </p:spPr>
        <p:txBody>
          <a:bodyPr>
            <a:no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There are </a:t>
            </a:r>
            <a:r>
              <a:rPr lang="en-US" sz="2400" b="1" dirty="0">
                <a:cs typeface="Times New Roman" panose="02020603050405020304" pitchFamily="18" charset="0"/>
              </a:rPr>
              <a:t>so many </a:t>
            </a:r>
            <a:r>
              <a:rPr lang="en-US" sz="2400" dirty="0">
                <a:cs typeface="Times New Roman" panose="02020603050405020304" pitchFamily="18" charset="0"/>
              </a:rPr>
              <a:t>quasi-experiments to explore! </a:t>
            </a:r>
          </a:p>
          <a:p>
            <a:r>
              <a:rPr lang="en-US" sz="2400" dirty="0">
                <a:cs typeface="Times New Roman" panose="02020603050405020304" pitchFamily="18" charset="0"/>
              </a:rPr>
              <a:t>DID is flexible, and its assumptions aren’t too strong: </a:t>
            </a:r>
          </a:p>
          <a:p>
            <a:pPr lvl="1"/>
            <a:r>
              <a:rPr lang="en-US" sz="2400" dirty="0">
                <a:cs typeface="Times New Roman" panose="02020603050405020304" pitchFamily="18" charset="0"/>
              </a:rPr>
              <a:t>Parallel trends</a:t>
            </a:r>
          </a:p>
          <a:p>
            <a:pPr lvl="1"/>
            <a:r>
              <a:rPr lang="en-US" sz="2400" dirty="0">
                <a:cs typeface="Times New Roman" panose="02020603050405020304" pitchFamily="18" charset="0"/>
              </a:rPr>
              <a:t>Homogeneous treatment effects (in at least one dimension) </a:t>
            </a:r>
          </a:p>
          <a:p>
            <a:r>
              <a:rPr lang="en-US" sz="2400" dirty="0">
                <a:cs typeface="Times New Roman" panose="02020603050405020304" pitchFamily="18" charset="0"/>
              </a:rPr>
              <a:t>Can puts lots of bells and whistles on it (with caveats)</a:t>
            </a:r>
          </a:p>
          <a:p>
            <a:r>
              <a:rPr lang="en-US" sz="2400" dirty="0">
                <a:cs typeface="Times New Roman" panose="02020603050405020304" pitchFamily="18" charset="0"/>
              </a:rPr>
              <a:t>Next time: </a:t>
            </a:r>
          </a:p>
          <a:p>
            <a:pPr lvl="1"/>
            <a:r>
              <a:rPr lang="en-US" sz="2400" dirty="0">
                <a:cs typeface="Times New Roman" panose="02020603050405020304" pitchFamily="18" charset="0"/>
              </a:rPr>
              <a:t>Can we build our own control group? (</a:t>
            </a:r>
            <a:r>
              <a:rPr lang="en-US" sz="2400" b="1" dirty="0">
                <a:cs typeface="Times New Roman" panose="02020603050405020304" pitchFamily="18" charset="0"/>
              </a:rPr>
              <a:t>Synthetic controls</a:t>
            </a:r>
            <a:r>
              <a:rPr lang="en-US" sz="2400" dirty="0">
                <a:cs typeface="Times New Roman" panose="02020603050405020304" pitchFamily="18" charset="0"/>
              </a:rPr>
              <a:t>)</a:t>
            </a:r>
          </a:p>
          <a:p>
            <a:pPr lvl="1"/>
            <a:r>
              <a:rPr lang="en-US" sz="2400" dirty="0">
                <a:cs typeface="Times New Roman" panose="02020603050405020304" pitchFamily="18" charset="0"/>
              </a:rPr>
              <a:t>Can we recover heterogeneous treatment effects? (</a:t>
            </a:r>
            <a:r>
              <a:rPr lang="en-US" sz="2400" b="1" dirty="0">
                <a:cs typeface="Times New Roman" panose="02020603050405020304" pitchFamily="18" charset="0"/>
              </a:rPr>
              <a:t>Quantile regression</a:t>
            </a:r>
            <a:r>
              <a:rPr lang="en-US" sz="2400" dirty="0">
                <a:cs typeface="Times New Roman" panose="02020603050405020304" pitchFamily="18" charset="0"/>
              </a:rPr>
              <a:t>)</a:t>
            </a:r>
          </a:p>
        </p:txBody>
      </p:sp>
      <p:pic>
        <p:nvPicPr>
          <p:cNvPr id="5" name="Picture 4">
            <a:extLst>
              <a:ext uri="{FF2B5EF4-FFF2-40B4-BE49-F238E27FC236}">
                <a16:creationId xmlns:a16="http://schemas.microsoft.com/office/drawing/2014/main" id="{2C7D94E9-69B5-CE04-C579-9293C0D3BC02}"/>
              </a:ext>
            </a:extLst>
          </p:cNvPr>
          <p:cNvPicPr>
            <a:picLocks noChangeAspect="1"/>
          </p:cNvPicPr>
          <p:nvPr/>
        </p:nvPicPr>
        <p:blipFill>
          <a:blip r:embed="rId3"/>
          <a:stretch>
            <a:fillRect/>
          </a:stretch>
        </p:blipFill>
        <p:spPr>
          <a:xfrm>
            <a:off x="2971800" y="126705"/>
            <a:ext cx="7963952" cy="2387895"/>
          </a:xfrm>
          <a:prstGeom prst="rect">
            <a:avLst/>
          </a:prstGeom>
        </p:spPr>
      </p:pic>
    </p:spTree>
    <p:extLst>
      <p:ext uri="{BB962C8B-B14F-4D97-AF65-F5344CB8AC3E}">
        <p14:creationId xmlns:p14="http://schemas.microsoft.com/office/powerpoint/2010/main" val="1834948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Synthetic Controls </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normAutofit/>
          </a:bodyPr>
          <a:lstStyle/>
          <a:p>
            <a:endParaRPr lang="en-US" sz="4400" dirty="0"/>
          </a:p>
        </p:txBody>
      </p:sp>
    </p:spTree>
    <p:extLst>
      <p:ext uri="{BB962C8B-B14F-4D97-AF65-F5344CB8AC3E}">
        <p14:creationId xmlns:p14="http://schemas.microsoft.com/office/powerpoint/2010/main" val="1305953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are we </a:t>
            </a:r>
            <a:r>
              <a:rPr lang="en-US" sz="3600" dirty="0" err="1">
                <a:cs typeface="Times New Roman" panose="02020603050405020304" pitchFamily="18" charset="0"/>
              </a:rPr>
              <a:t>DIDing</a:t>
            </a:r>
            <a:r>
              <a:rPr lang="en-US" sz="3600" dirty="0">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1" y="1066801"/>
                <a:ext cx="9939190" cy="5141388"/>
              </a:xfrm>
            </p:spPr>
            <p:txBody>
              <a:bodyPr>
                <a:noAutofit/>
              </a:bodyPr>
              <a:lstStyle/>
              <a:p>
                <a:r>
                  <a:rPr lang="en-US" sz="2400" dirty="0">
                    <a:cs typeface="Times New Roman" panose="02020603050405020304" pitchFamily="18" charset="0"/>
                  </a:rPr>
                  <a:t>Typical DID framework is a way to use </a:t>
                </a:r>
                <a:r>
                  <a:rPr lang="en-US" sz="2400" b="1" dirty="0">
                    <a:solidFill>
                      <a:schemeClr val="accent2">
                        <a:lumMod val="75000"/>
                      </a:schemeClr>
                    </a:solidFill>
                    <a:cs typeface="Times New Roman" panose="02020603050405020304" pitchFamily="18" charset="0"/>
                  </a:rPr>
                  <a:t>observational data </a:t>
                </a:r>
                <a:r>
                  <a:rPr lang="en-US" sz="2400" dirty="0">
                    <a:cs typeface="Times New Roman" panose="02020603050405020304" pitchFamily="18" charset="0"/>
                  </a:rPr>
                  <a:t>to examine </a:t>
                </a:r>
                <a:r>
                  <a:rPr lang="en-US" sz="2400" b="1" dirty="0">
                    <a:solidFill>
                      <a:schemeClr val="accent3">
                        <a:lumMod val="75000"/>
                      </a:schemeClr>
                    </a:solidFill>
                    <a:cs typeface="Times New Roman" panose="02020603050405020304" pitchFamily="18" charset="0"/>
                  </a:rPr>
                  <a:t>potential outcomes</a:t>
                </a:r>
              </a:p>
              <a:p>
                <a:r>
                  <a:rPr lang="en-US" sz="2400" dirty="0">
                    <a:cs typeface="Times New Roman" panose="02020603050405020304" pitchFamily="18" charset="0"/>
                  </a:rPr>
                  <a:t>We would like to have: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𝛿</m:t>
                          </m:r>
                        </m:e>
                        <m:sub>
                          <m:r>
                            <a:rPr lang="en-US" sz="2400" b="0" i="1" smtClean="0">
                              <a:latin typeface="Cambria Math" panose="02040503050406030204" pitchFamily="18" charset="0"/>
                              <a:cs typeface="Times New Roman" panose="02020603050405020304" pitchFamily="18" charset="0"/>
                            </a:rPr>
                            <m:t>𝑖𝑡</m:t>
                          </m:r>
                        </m:sub>
                      </m:sSub>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𝑖𝑡</m:t>
                          </m:r>
                        </m:sub>
                        <m:sup>
                          <m:r>
                            <a:rPr lang="en-US" sz="2400" b="0" i="1" smtClean="0">
                              <a:latin typeface="Cambria Math" panose="02040503050406030204" pitchFamily="18" charset="0"/>
                              <a:cs typeface="Times New Roman" panose="02020603050405020304" pitchFamily="18" charset="0"/>
                            </a:rPr>
                            <m:t>1</m:t>
                          </m:r>
                        </m:sup>
                      </m:sSubSup>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𝑖𝑡</m:t>
                          </m:r>
                        </m:sub>
                        <m:sup>
                          <m:r>
                            <a:rPr lang="en-US" sz="2400" b="0" i="1" smtClean="0">
                              <a:latin typeface="Cambria Math" panose="02040503050406030204" pitchFamily="18" charset="0"/>
                              <a:cs typeface="Times New Roman" panose="02020603050405020304" pitchFamily="18" charset="0"/>
                            </a:rPr>
                            <m:t>0</m:t>
                          </m:r>
                        </m:sup>
                      </m:sSubSup>
                    </m:oMath>
                  </m:oMathPara>
                </a14:m>
                <a:endParaRPr lang="en-US" sz="2400" dirty="0">
                  <a:cs typeface="Times New Roman" panose="02020603050405020304" pitchFamily="18" charset="0"/>
                </a:endParaRPr>
              </a:p>
              <a:p>
                <a:r>
                  <a:rPr lang="en-US" sz="2400" dirty="0">
                    <a:cs typeface="Times New Roman" panose="02020603050405020304" pitchFamily="18" charset="0"/>
                  </a:rPr>
                  <a:t>When </a:t>
                </a:r>
                <a14:m>
                  <m:oMath xmlns:m="http://schemas.openxmlformats.org/officeDocument/2006/math">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𝑖𝑡</m:t>
                        </m:r>
                      </m:sub>
                      <m:sup>
                        <m:r>
                          <a:rPr lang="en-US" sz="2400" b="0" i="1" smtClean="0">
                            <a:latin typeface="Cambria Math" panose="02040503050406030204" pitchFamily="18" charset="0"/>
                            <a:cs typeface="Times New Roman" panose="02020603050405020304" pitchFamily="18" charset="0"/>
                          </a:rPr>
                          <m:t>0</m:t>
                        </m:r>
                      </m:sup>
                    </m:sSubSup>
                  </m:oMath>
                </a14:m>
                <a:r>
                  <a:rPr lang="en-US" sz="2400" dirty="0">
                    <a:cs typeface="Times New Roman" panose="02020603050405020304" pitchFamily="18" charset="0"/>
                  </a:rPr>
                  <a:t> is unobserved, we </a:t>
                </a:r>
                <a:r>
                  <a:rPr lang="en-US" sz="2400" u="sng" dirty="0">
                    <a:cs typeface="Times New Roman" panose="02020603050405020304" pitchFamily="18" charset="0"/>
                  </a:rPr>
                  <a:t>proxy it</a:t>
                </a:r>
                <a:r>
                  <a:rPr lang="en-US" sz="2400" b="1" dirty="0">
                    <a:cs typeface="Times New Roman" panose="02020603050405020304" pitchFamily="18" charset="0"/>
                  </a:rPr>
                  <a:t> </a:t>
                </a:r>
                <a:r>
                  <a:rPr lang="en-US" sz="2400" dirty="0">
                    <a:cs typeface="Times New Roman" panose="02020603050405020304" pitchFamily="18" charset="0"/>
                  </a:rPr>
                  <a:t>with a </a:t>
                </a:r>
                <a:r>
                  <a:rPr lang="en-US" sz="2400" dirty="0">
                    <a:solidFill>
                      <a:schemeClr val="accent2">
                        <a:lumMod val="75000"/>
                      </a:schemeClr>
                    </a:solidFill>
                    <a:cs typeface="Times New Roman" panose="02020603050405020304" pitchFamily="18" charset="0"/>
                  </a:rPr>
                  <a:t>control group </a:t>
                </a:r>
              </a:p>
              <a:p>
                <a:r>
                  <a:rPr lang="en-US" sz="2400" dirty="0">
                    <a:cs typeface="Times New Roman" panose="02020603050405020304" pitchFamily="18" charset="0"/>
                  </a:rPr>
                  <a:t>But are we limited to the control groups we observe?</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1" y="1066801"/>
                <a:ext cx="9939190" cy="5141388"/>
              </a:xfrm>
              <a:blipFill>
                <a:blip r:embed="rId3"/>
                <a:stretch>
                  <a:fillRect l="-491" t="-1305"/>
                </a:stretch>
              </a:blipFill>
            </p:spPr>
            <p:txBody>
              <a:bodyPr/>
              <a:lstStyle/>
              <a:p>
                <a:r>
                  <a:rPr lang="en-US">
                    <a:noFill/>
                  </a:rPr>
                  <a:t> </a:t>
                </a:r>
              </a:p>
            </p:txBody>
          </p:sp>
        </mc:Fallback>
      </mc:AlternateContent>
    </p:spTree>
    <p:extLst>
      <p:ext uri="{BB962C8B-B14F-4D97-AF65-F5344CB8AC3E}">
        <p14:creationId xmlns:p14="http://schemas.microsoft.com/office/powerpoint/2010/main" val="3368403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are we </a:t>
            </a:r>
            <a:r>
              <a:rPr lang="en-US" sz="3600" dirty="0" err="1">
                <a:cs typeface="Times New Roman" panose="02020603050405020304" pitchFamily="18" charset="0"/>
              </a:rPr>
              <a:t>DIDing</a:t>
            </a:r>
            <a:r>
              <a:rPr lang="en-US" sz="3600" dirty="0">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210800" cy="5141388"/>
              </a:xfrm>
            </p:spPr>
            <p:txBody>
              <a:bodyPr>
                <a:noAutofit/>
              </a:bodyPr>
              <a:lstStyle/>
              <a:p>
                <a:r>
                  <a:rPr lang="en-US" sz="2400" dirty="0">
                    <a:cs typeface="Times New Roman" panose="02020603050405020304" pitchFamily="18" charset="0"/>
                  </a:rPr>
                  <a:t>Typical DID framework is a way to use </a:t>
                </a:r>
                <a:r>
                  <a:rPr lang="en-US" sz="2400" b="1" dirty="0">
                    <a:solidFill>
                      <a:schemeClr val="accent2">
                        <a:lumMod val="75000"/>
                      </a:schemeClr>
                    </a:solidFill>
                    <a:cs typeface="Times New Roman" panose="02020603050405020304" pitchFamily="18" charset="0"/>
                  </a:rPr>
                  <a:t>observational data </a:t>
                </a:r>
                <a:r>
                  <a:rPr lang="en-US" sz="2400" dirty="0">
                    <a:cs typeface="Times New Roman" panose="02020603050405020304" pitchFamily="18" charset="0"/>
                  </a:rPr>
                  <a:t>to examine </a:t>
                </a:r>
                <a:r>
                  <a:rPr lang="en-US" sz="2400" b="1" dirty="0">
                    <a:solidFill>
                      <a:schemeClr val="accent3">
                        <a:lumMod val="75000"/>
                      </a:schemeClr>
                    </a:solidFill>
                    <a:cs typeface="Times New Roman" panose="02020603050405020304" pitchFamily="18" charset="0"/>
                  </a:rPr>
                  <a:t>potential outcomes</a:t>
                </a:r>
              </a:p>
              <a:p>
                <a:r>
                  <a:rPr lang="en-US" sz="2400" dirty="0">
                    <a:cs typeface="Times New Roman" panose="02020603050405020304" pitchFamily="18" charset="0"/>
                  </a:rPr>
                  <a:t>We would like to have: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𝛿</m:t>
                          </m:r>
                        </m:e>
                        <m:sub>
                          <m:r>
                            <a:rPr lang="en-US" sz="2400" b="0" i="1" smtClean="0">
                              <a:latin typeface="Cambria Math" panose="02040503050406030204" pitchFamily="18" charset="0"/>
                              <a:cs typeface="Times New Roman" panose="02020603050405020304" pitchFamily="18" charset="0"/>
                            </a:rPr>
                            <m:t>𝑖𝑡</m:t>
                          </m:r>
                        </m:sub>
                      </m:sSub>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𝑖𝑡</m:t>
                          </m:r>
                        </m:sub>
                        <m:sup>
                          <m:r>
                            <a:rPr lang="en-US" sz="2400" b="0" i="1" smtClean="0">
                              <a:latin typeface="Cambria Math" panose="02040503050406030204" pitchFamily="18" charset="0"/>
                              <a:cs typeface="Times New Roman" panose="02020603050405020304" pitchFamily="18" charset="0"/>
                            </a:rPr>
                            <m:t>1</m:t>
                          </m:r>
                        </m:sup>
                      </m:sSubSup>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𝑖𝑡</m:t>
                          </m:r>
                        </m:sub>
                        <m:sup>
                          <m:r>
                            <a:rPr lang="en-US" sz="2400" b="0" i="1" smtClean="0">
                              <a:latin typeface="Cambria Math" panose="02040503050406030204" pitchFamily="18" charset="0"/>
                              <a:cs typeface="Times New Roman" panose="02020603050405020304" pitchFamily="18" charset="0"/>
                            </a:rPr>
                            <m:t>0</m:t>
                          </m:r>
                        </m:sup>
                      </m:sSubSup>
                    </m:oMath>
                  </m:oMathPara>
                </a14:m>
                <a:endParaRPr lang="en-US" sz="2400" dirty="0">
                  <a:cs typeface="Times New Roman" panose="02020603050405020304" pitchFamily="18" charset="0"/>
                </a:endParaRPr>
              </a:p>
              <a:p>
                <a:r>
                  <a:rPr lang="en-US" sz="2400" dirty="0">
                    <a:cs typeface="Times New Roman" panose="02020603050405020304" pitchFamily="18" charset="0"/>
                  </a:rPr>
                  <a:t>When </a:t>
                </a:r>
                <a14:m>
                  <m:oMath xmlns:m="http://schemas.openxmlformats.org/officeDocument/2006/math">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𝑖𝑡</m:t>
                        </m:r>
                      </m:sub>
                      <m:sup>
                        <m:r>
                          <a:rPr lang="en-US" sz="2400" b="0" i="1" smtClean="0">
                            <a:latin typeface="Cambria Math" panose="02040503050406030204" pitchFamily="18" charset="0"/>
                            <a:cs typeface="Times New Roman" panose="02020603050405020304" pitchFamily="18" charset="0"/>
                          </a:rPr>
                          <m:t>0</m:t>
                        </m:r>
                      </m:sup>
                    </m:sSubSup>
                  </m:oMath>
                </a14:m>
                <a:r>
                  <a:rPr lang="en-US" sz="2400" dirty="0">
                    <a:cs typeface="Times New Roman" panose="02020603050405020304" pitchFamily="18" charset="0"/>
                  </a:rPr>
                  <a:t> is unobserved, we </a:t>
                </a:r>
                <a:r>
                  <a:rPr lang="en-US" sz="2400" u="sng" dirty="0">
                    <a:cs typeface="Times New Roman" panose="02020603050405020304" pitchFamily="18" charset="0"/>
                  </a:rPr>
                  <a:t>proxy it</a:t>
                </a:r>
                <a:r>
                  <a:rPr lang="en-US" sz="2400" b="1" dirty="0">
                    <a:cs typeface="Times New Roman" panose="02020603050405020304" pitchFamily="18" charset="0"/>
                  </a:rPr>
                  <a:t> </a:t>
                </a:r>
                <a:r>
                  <a:rPr lang="en-US" sz="2400" dirty="0">
                    <a:cs typeface="Times New Roman" panose="02020603050405020304" pitchFamily="18" charset="0"/>
                  </a:rPr>
                  <a:t>with a </a:t>
                </a:r>
                <a:r>
                  <a:rPr lang="en-US" sz="2400" dirty="0">
                    <a:solidFill>
                      <a:schemeClr val="accent2">
                        <a:lumMod val="75000"/>
                      </a:schemeClr>
                    </a:solidFill>
                    <a:cs typeface="Times New Roman" panose="02020603050405020304" pitchFamily="18" charset="0"/>
                  </a:rPr>
                  <a:t>control group </a:t>
                </a:r>
              </a:p>
              <a:p>
                <a:r>
                  <a:rPr lang="en-US" sz="2400" dirty="0">
                    <a:cs typeface="Times New Roman" panose="02020603050405020304" pitchFamily="18" charset="0"/>
                  </a:rPr>
                  <a:t>But are we limited to the control groups we observe?</a:t>
                </a:r>
              </a:p>
              <a:p>
                <a:pPr marL="0" indent="0">
                  <a:buNone/>
                </a:pPr>
                <a:r>
                  <a:rPr lang="en-US" sz="2400" dirty="0">
                    <a:cs typeface="Times New Roman" panose="02020603050405020304" pitchFamily="18" charset="0"/>
                  </a:rPr>
                  <a:t>Synthetic controls uses </a:t>
                </a:r>
                <a:r>
                  <a:rPr lang="en-US" sz="2400" b="1" dirty="0">
                    <a:cs typeface="Times New Roman" panose="02020603050405020304" pitchFamily="18" charset="0"/>
                  </a:rPr>
                  <a:t>weighted averages of units </a:t>
                </a:r>
                <a:r>
                  <a:rPr lang="en-US" sz="2400" dirty="0">
                    <a:cs typeface="Times New Roman" panose="02020603050405020304" pitchFamily="18" charset="0"/>
                  </a:rPr>
                  <a:t>to construct: </a:t>
                </a:r>
              </a:p>
              <a:p>
                <a:r>
                  <a:rPr lang="en-US" sz="2400" dirty="0">
                    <a:cs typeface="Times New Roman" panose="02020603050405020304" pitchFamily="18" charset="0"/>
                  </a:rPr>
                  <a:t>A suitable counterfactual to treated group</a:t>
                </a:r>
              </a:p>
              <a:p>
                <a:r>
                  <a:rPr lang="en-US" sz="2400" dirty="0">
                    <a:cs typeface="Times New Roman" panose="02020603050405020304" pitchFamily="18" charset="0"/>
                  </a:rPr>
                  <a:t>Think of this as matching + parallel trends assumption </a:t>
                </a:r>
              </a:p>
              <a:p>
                <a:r>
                  <a:rPr lang="en-US" sz="2400" dirty="0">
                    <a:cs typeface="Times New Roman" panose="02020603050405020304" pitchFamily="18" charset="0"/>
                  </a:rPr>
                  <a:t>The weighted average may be a </a:t>
                </a:r>
                <a:r>
                  <a:rPr lang="en-US" sz="2400" b="1" dirty="0">
                    <a:cs typeface="Times New Roman" panose="02020603050405020304" pitchFamily="18" charset="0"/>
                  </a:rPr>
                  <a:t>superior control group </a:t>
                </a:r>
                <a:r>
                  <a:rPr lang="en-US" sz="2400" dirty="0">
                    <a:cs typeface="Times New Roman" panose="02020603050405020304" pitchFamily="18" charset="0"/>
                  </a:rPr>
                  <a:t>than any one unit</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210800" cy="5141388"/>
              </a:xfrm>
              <a:blipFill>
                <a:blip r:embed="rId3"/>
                <a:stretch>
                  <a:fillRect l="-896" t="-1305" b="-1186"/>
                </a:stretch>
              </a:blipFill>
            </p:spPr>
            <p:txBody>
              <a:bodyPr/>
              <a:lstStyle/>
              <a:p>
                <a:r>
                  <a:rPr lang="en-US">
                    <a:noFill/>
                  </a:rPr>
                  <a:t> </a:t>
                </a:r>
              </a:p>
            </p:txBody>
          </p:sp>
        </mc:Fallback>
      </mc:AlternateContent>
    </p:spTree>
    <p:extLst>
      <p:ext uri="{BB962C8B-B14F-4D97-AF65-F5344CB8AC3E}">
        <p14:creationId xmlns:p14="http://schemas.microsoft.com/office/powerpoint/2010/main" val="36636139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831" y="640080"/>
            <a:ext cx="3690425" cy="1363344"/>
          </a:xfrm>
        </p:spPr>
        <p:txBody>
          <a:bodyPr>
            <a:normAutofit/>
          </a:bodyPr>
          <a:lstStyle/>
          <a:p>
            <a:r>
              <a:rPr lang="en-US" sz="3200">
                <a:cs typeface="Times New Roman" panose="02020603050405020304" pitchFamily="18" charset="0"/>
              </a:rPr>
              <a:t>Example: Organ Donation Rates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43831" y="2325157"/>
            <a:ext cx="3690425" cy="3854979"/>
          </a:xfrm>
        </p:spPr>
        <p:txBody>
          <a:bodyPr>
            <a:noAutofit/>
          </a:bodyPr>
          <a:lstStyle/>
          <a:p>
            <a:r>
              <a:rPr lang="en-US" sz="2200" dirty="0">
                <a:cs typeface="Times New Roman" panose="02020603050405020304" pitchFamily="18" charset="0"/>
              </a:rPr>
              <a:t>Main question: </a:t>
            </a:r>
            <a:r>
              <a:rPr lang="en-US" sz="2200" b="1" dirty="0">
                <a:cs typeface="Times New Roman" panose="02020603050405020304" pitchFamily="18" charset="0"/>
              </a:rPr>
              <a:t>what is the effect of active choice on organ donation rates? </a:t>
            </a:r>
            <a:r>
              <a:rPr lang="en-US" sz="2200" dirty="0">
                <a:cs typeface="Times New Roman" panose="02020603050405020304" pitchFamily="18" charset="0"/>
              </a:rPr>
              <a:t>Uses CA as the treatment group</a:t>
            </a:r>
            <a:endParaRPr lang="en-US" sz="2200" b="1" dirty="0">
              <a:cs typeface="Times New Roman" panose="02020603050405020304" pitchFamily="18" charset="0"/>
            </a:endParaRPr>
          </a:p>
          <a:p>
            <a:r>
              <a:rPr lang="en-US" sz="2200" dirty="0">
                <a:cs typeface="Times New Roman" panose="02020603050405020304" pitchFamily="18" charset="0"/>
              </a:rPr>
              <a:t>How would you go about setting up a DD here?</a:t>
            </a:r>
          </a:p>
          <a:p>
            <a:r>
              <a:rPr lang="en-US" sz="2200" dirty="0">
                <a:cs typeface="Times New Roman" panose="02020603050405020304" pitchFamily="18" charset="0"/>
              </a:rPr>
              <a:t>Which states are the right control group?</a:t>
            </a:r>
          </a:p>
          <a:p>
            <a:r>
              <a:rPr lang="en-US" sz="2200" dirty="0">
                <a:cs typeface="Times New Roman" panose="02020603050405020304" pitchFamily="18" charset="0"/>
              </a:rPr>
              <a:t>Are your results robust to choosing different control groups? </a:t>
            </a:r>
          </a:p>
        </p:txBody>
      </p:sp>
      <p:pic>
        <p:nvPicPr>
          <p:cNvPr id="4" name="Picture 3">
            <a:extLst>
              <a:ext uri="{FF2B5EF4-FFF2-40B4-BE49-F238E27FC236}">
                <a16:creationId xmlns:a16="http://schemas.microsoft.com/office/drawing/2014/main" id="{7921413A-151B-1A10-A603-8F18A7035904}"/>
              </a:ext>
            </a:extLst>
          </p:cNvPr>
          <p:cNvPicPr>
            <a:picLocks noChangeAspect="1"/>
          </p:cNvPicPr>
          <p:nvPr/>
        </p:nvPicPr>
        <p:blipFill>
          <a:blip r:embed="rId3"/>
          <a:stretch>
            <a:fillRect/>
          </a:stretch>
        </p:blipFill>
        <p:spPr>
          <a:xfrm>
            <a:off x="4654296" y="1125729"/>
            <a:ext cx="6155736" cy="4616802"/>
          </a:xfrm>
          <a:prstGeom prst="rect">
            <a:avLst/>
          </a:prstGeom>
        </p:spPr>
      </p:pic>
    </p:spTree>
    <p:extLst>
      <p:ext uri="{BB962C8B-B14F-4D97-AF65-F5344CB8AC3E}">
        <p14:creationId xmlns:p14="http://schemas.microsoft.com/office/powerpoint/2010/main" val="599397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87137-1C15-B18A-017D-862000273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3A9B34-28B7-92F7-936F-2239F20EE19B}"/>
              </a:ext>
            </a:extLst>
          </p:cNvPr>
          <p:cNvSpPr>
            <a:spLocks noGrp="1"/>
          </p:cNvSpPr>
          <p:nvPr>
            <p:ph type="title"/>
          </p:nvPr>
        </p:nvSpPr>
        <p:spPr>
          <a:xfrm>
            <a:off x="643831" y="640080"/>
            <a:ext cx="3690425" cy="1363344"/>
          </a:xfrm>
        </p:spPr>
        <p:txBody>
          <a:bodyPr>
            <a:normAutofit/>
          </a:bodyPr>
          <a:lstStyle/>
          <a:p>
            <a:r>
              <a:rPr lang="en-US" sz="3200" dirty="0">
                <a:cs typeface="Times New Roman" panose="02020603050405020304" pitchFamily="18" charset="0"/>
              </a:rPr>
              <a:t>Intuition: Building a Synthetic CA</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7664B5-2F11-4D22-E14D-32A7985AA234}"/>
              </a:ext>
            </a:extLst>
          </p:cNvPr>
          <p:cNvSpPr>
            <a:spLocks noGrp="1"/>
          </p:cNvSpPr>
          <p:nvPr>
            <p:ph idx="1"/>
          </p:nvPr>
        </p:nvSpPr>
        <p:spPr>
          <a:xfrm>
            <a:off x="643831" y="2325157"/>
            <a:ext cx="3690425" cy="3854979"/>
          </a:xfrm>
        </p:spPr>
        <p:txBody>
          <a:bodyPr>
            <a:noAutofit/>
          </a:bodyPr>
          <a:lstStyle/>
          <a:p>
            <a:r>
              <a:rPr lang="en-US" sz="2200" dirty="0">
                <a:cs typeface="Times New Roman" panose="02020603050405020304" pitchFamily="18" charset="0"/>
              </a:rPr>
              <a:t>None of the other states look like CA does here</a:t>
            </a:r>
            <a:endParaRPr lang="en-US" sz="2200" b="1" dirty="0">
              <a:cs typeface="Times New Roman" panose="02020603050405020304" pitchFamily="18" charset="0"/>
            </a:endParaRPr>
          </a:p>
          <a:p>
            <a:r>
              <a:rPr lang="en-US" sz="2200" dirty="0">
                <a:cs typeface="Times New Roman" panose="02020603050405020304" pitchFamily="18" charset="0"/>
              </a:rPr>
              <a:t>But some look closer than others (active choice) </a:t>
            </a:r>
          </a:p>
          <a:p>
            <a:r>
              <a:rPr lang="en-US" sz="2200" dirty="0">
                <a:cs typeface="Times New Roman" panose="02020603050405020304" pitchFamily="18" charset="0"/>
              </a:rPr>
              <a:t>Can we build a weighted average of these other states that (1) satisfy the pre-trends assumption and (2) don’t have their own treatments?</a:t>
            </a:r>
          </a:p>
        </p:txBody>
      </p:sp>
      <p:pic>
        <p:nvPicPr>
          <p:cNvPr id="4" name="Picture 3">
            <a:extLst>
              <a:ext uri="{FF2B5EF4-FFF2-40B4-BE49-F238E27FC236}">
                <a16:creationId xmlns:a16="http://schemas.microsoft.com/office/drawing/2014/main" id="{9E3F410B-6DBB-F6E3-3054-EB626B79DE59}"/>
              </a:ext>
            </a:extLst>
          </p:cNvPr>
          <p:cNvPicPr>
            <a:picLocks noChangeAspect="1"/>
          </p:cNvPicPr>
          <p:nvPr/>
        </p:nvPicPr>
        <p:blipFill>
          <a:blip r:embed="rId3"/>
          <a:stretch>
            <a:fillRect/>
          </a:stretch>
        </p:blipFill>
        <p:spPr>
          <a:xfrm>
            <a:off x="4654296" y="1125729"/>
            <a:ext cx="6155736" cy="4616802"/>
          </a:xfrm>
          <a:prstGeom prst="rect">
            <a:avLst/>
          </a:prstGeom>
        </p:spPr>
      </p:pic>
    </p:spTree>
    <p:extLst>
      <p:ext uri="{BB962C8B-B14F-4D97-AF65-F5344CB8AC3E}">
        <p14:creationId xmlns:p14="http://schemas.microsoft.com/office/powerpoint/2010/main" val="711391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301DE-18B6-D8C1-CCC0-CC4D1FD11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484D2-76F5-65EF-6B30-B3E49ADC109A}"/>
              </a:ext>
            </a:extLst>
          </p:cNvPr>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5400">
                <a:solidFill>
                  <a:srgbClr val="FFFFFF"/>
                </a:solidFill>
                <a:latin typeface="+mj-lt"/>
              </a:rPr>
              <a:t>Synthetic Control </a:t>
            </a:r>
          </a:p>
        </p:txBody>
      </p:sp>
      <p:sp>
        <p:nvSpPr>
          <p:cNvPr id="4" name="Content Placeholder 3">
            <a:extLst>
              <a:ext uri="{FF2B5EF4-FFF2-40B4-BE49-F238E27FC236}">
                <a16:creationId xmlns:a16="http://schemas.microsoft.com/office/drawing/2014/main" id="{02CF3896-E222-0F2D-ECE7-D78801B37DE5}"/>
              </a:ext>
            </a:extLst>
          </p:cNvPr>
          <p:cNvSpPr>
            <a:spLocks noGrp="1"/>
          </p:cNvSpPr>
          <p:nvPr>
            <p:ph idx="1"/>
          </p:nvPr>
        </p:nvSpPr>
        <p:spPr/>
        <p:txBody>
          <a:bodyPr/>
          <a:lstStyle/>
          <a:p>
            <a:endParaRPr lang="en-US" dirty="0"/>
          </a:p>
        </p:txBody>
      </p:sp>
      <p:pic>
        <p:nvPicPr>
          <p:cNvPr id="1028" name="Picture 4">
            <a:extLst>
              <a:ext uri="{FF2B5EF4-FFF2-40B4-BE49-F238E27FC236}">
                <a16:creationId xmlns:a16="http://schemas.microsoft.com/office/drawing/2014/main" id="{08830473-0CDF-439F-5E38-F21E498AAF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449626"/>
            <a:ext cx="5832348" cy="388823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0896F590-5CF4-8756-C7F3-9D6E5ED603E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60216" y="302768"/>
            <a:ext cx="5832348" cy="3888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47219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69B48-B1CD-9750-FAEB-16270FE7AC5B}"/>
              </a:ext>
            </a:extLst>
          </p:cNvPr>
          <p:cNvSpPr>
            <a:spLocks noGrp="1"/>
          </p:cNvSpPr>
          <p:nvPr>
            <p:ph type="title"/>
          </p:nvPr>
        </p:nvSpPr>
        <p:spPr/>
        <p:txBody>
          <a:bodyPr/>
          <a:lstStyle/>
          <a:p>
            <a:r>
              <a:rPr lang="en-US" dirty="0"/>
              <a:t>Case Study </a:t>
            </a:r>
          </a:p>
        </p:txBody>
      </p:sp>
      <p:sp>
        <p:nvSpPr>
          <p:cNvPr id="3" name="Content Placeholder 2">
            <a:extLst>
              <a:ext uri="{FF2B5EF4-FFF2-40B4-BE49-F238E27FC236}">
                <a16:creationId xmlns:a16="http://schemas.microsoft.com/office/drawing/2014/main" id="{73698BAD-9F12-2F30-2FA2-AEAFF1CA72E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E6A491C-EFFA-1EDF-37A5-AF17A2AA7393}"/>
              </a:ext>
            </a:extLst>
          </p:cNvPr>
          <p:cNvPicPr>
            <a:picLocks noChangeAspect="1"/>
          </p:cNvPicPr>
          <p:nvPr/>
        </p:nvPicPr>
        <p:blipFill>
          <a:blip r:embed="rId3"/>
          <a:stretch>
            <a:fillRect/>
          </a:stretch>
        </p:blipFill>
        <p:spPr>
          <a:xfrm>
            <a:off x="168525" y="1668462"/>
            <a:ext cx="11879333" cy="5353797"/>
          </a:xfrm>
          <a:prstGeom prst="rect">
            <a:avLst/>
          </a:prstGeom>
        </p:spPr>
      </p:pic>
    </p:spTree>
    <p:extLst>
      <p:ext uri="{BB962C8B-B14F-4D97-AF65-F5344CB8AC3E}">
        <p14:creationId xmlns:p14="http://schemas.microsoft.com/office/powerpoint/2010/main" val="9929045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32FF9-4B0B-4093-9AB1-C06163498DD4}"/>
              </a:ext>
            </a:extLst>
          </p:cNvPr>
          <p:cNvSpPr>
            <a:spLocks noGrp="1"/>
          </p:cNvSpPr>
          <p:nvPr>
            <p:ph type="title"/>
          </p:nvPr>
        </p:nvSpPr>
        <p:spPr>
          <a:xfrm>
            <a:off x="286512" y="365760"/>
            <a:ext cx="10668000" cy="1325562"/>
          </a:xfrm>
        </p:spPr>
        <p:txBody>
          <a:bodyPr/>
          <a:lstStyle/>
          <a:p>
            <a:r>
              <a:rPr lang="en-US" dirty="0"/>
              <a:t>What’s the research question? What’s the identification?</a:t>
            </a:r>
          </a:p>
        </p:txBody>
      </p:sp>
      <p:sp>
        <p:nvSpPr>
          <p:cNvPr id="3" name="Content Placeholder 2">
            <a:extLst>
              <a:ext uri="{FF2B5EF4-FFF2-40B4-BE49-F238E27FC236}">
                <a16:creationId xmlns:a16="http://schemas.microsoft.com/office/drawing/2014/main" id="{0417DC18-CD50-654F-432C-775E2748D64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4CAB16B-7DBC-B10F-BABA-84B3A26F71D4}"/>
              </a:ext>
            </a:extLst>
          </p:cNvPr>
          <p:cNvPicPr>
            <a:picLocks noChangeAspect="1"/>
          </p:cNvPicPr>
          <p:nvPr/>
        </p:nvPicPr>
        <p:blipFill>
          <a:blip r:embed="rId2"/>
          <a:stretch>
            <a:fillRect/>
          </a:stretch>
        </p:blipFill>
        <p:spPr>
          <a:xfrm>
            <a:off x="76200" y="1828799"/>
            <a:ext cx="10668000" cy="4786597"/>
          </a:xfrm>
          <a:prstGeom prst="rect">
            <a:avLst/>
          </a:prstGeom>
        </p:spPr>
      </p:pic>
    </p:spTree>
    <p:extLst>
      <p:ext uri="{BB962C8B-B14F-4D97-AF65-F5344CB8AC3E}">
        <p14:creationId xmlns:p14="http://schemas.microsoft.com/office/powerpoint/2010/main" val="3382517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 Infant Mortality in Central America/</a:t>
            </a:r>
            <a:r>
              <a:rPr lang="en-US" sz="3600" dirty="0" err="1">
                <a:cs typeface="Times New Roman" panose="02020603050405020304" pitchFamily="18" charset="0"/>
              </a:rPr>
              <a:t>Carribean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000" dirty="0">
              <a:cs typeface="Times New Roman" panose="02020603050405020304" pitchFamily="18" charset="0"/>
            </a:endParaRPr>
          </a:p>
        </p:txBody>
      </p:sp>
      <p:pic>
        <p:nvPicPr>
          <p:cNvPr id="5" name="Picture 4">
            <a:extLst>
              <a:ext uri="{FF2B5EF4-FFF2-40B4-BE49-F238E27FC236}">
                <a16:creationId xmlns:a16="http://schemas.microsoft.com/office/drawing/2014/main" id="{FB92C28C-C406-773C-C56E-345C20FD9C4B}"/>
              </a:ext>
            </a:extLst>
          </p:cNvPr>
          <p:cNvPicPr>
            <a:picLocks noChangeAspect="1"/>
          </p:cNvPicPr>
          <p:nvPr/>
        </p:nvPicPr>
        <p:blipFill>
          <a:blip r:embed="rId3"/>
          <a:stretch>
            <a:fillRect/>
          </a:stretch>
        </p:blipFill>
        <p:spPr>
          <a:xfrm>
            <a:off x="609600" y="854343"/>
            <a:ext cx="8316486" cy="5696745"/>
          </a:xfrm>
          <a:prstGeom prst="rect">
            <a:avLst/>
          </a:prstGeom>
        </p:spPr>
      </p:pic>
    </p:spTree>
    <p:extLst>
      <p:ext uri="{BB962C8B-B14F-4D97-AF65-F5344CB8AC3E}">
        <p14:creationId xmlns:p14="http://schemas.microsoft.com/office/powerpoint/2010/main" val="4484740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9866-DA65-7FFD-B715-1BF4255BD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A84B49-0823-0FD0-7EC6-C94B39CF2085}"/>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 Infant Mortality in Central America/Caribbean</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DCB85C-0C68-F203-E620-3C43E79BE82C}"/>
              </a:ext>
            </a:extLst>
          </p:cNvPr>
          <p:cNvSpPr>
            <a:spLocks noGrp="1"/>
          </p:cNvSpPr>
          <p:nvPr>
            <p:ph idx="1"/>
          </p:nvPr>
        </p:nvSpPr>
        <p:spPr>
          <a:xfrm>
            <a:off x="1219199" y="1066801"/>
            <a:ext cx="9405791" cy="5141388"/>
          </a:xfrm>
        </p:spPr>
        <p:txBody>
          <a:bodyPr>
            <a:noAutofit/>
          </a:bodyPr>
          <a:lstStyle/>
          <a:p>
            <a:endParaRPr lang="en-US" sz="2000" dirty="0">
              <a:cs typeface="Times New Roman" panose="02020603050405020304" pitchFamily="18" charset="0"/>
            </a:endParaRPr>
          </a:p>
        </p:txBody>
      </p:sp>
      <p:pic>
        <p:nvPicPr>
          <p:cNvPr id="5" name="Picture 4">
            <a:extLst>
              <a:ext uri="{FF2B5EF4-FFF2-40B4-BE49-F238E27FC236}">
                <a16:creationId xmlns:a16="http://schemas.microsoft.com/office/drawing/2014/main" id="{11D45BC1-AEC7-5169-86B2-E4ABBF2CB4DC}"/>
              </a:ext>
            </a:extLst>
          </p:cNvPr>
          <p:cNvPicPr>
            <a:picLocks noChangeAspect="1"/>
          </p:cNvPicPr>
          <p:nvPr/>
        </p:nvPicPr>
        <p:blipFill>
          <a:blip r:embed="rId3"/>
          <a:stretch>
            <a:fillRect/>
          </a:stretch>
        </p:blipFill>
        <p:spPr>
          <a:xfrm>
            <a:off x="609600" y="854343"/>
            <a:ext cx="8316486" cy="5696745"/>
          </a:xfrm>
          <a:prstGeom prst="rect">
            <a:avLst/>
          </a:prstGeom>
        </p:spPr>
      </p:pic>
      <p:sp>
        <p:nvSpPr>
          <p:cNvPr id="4" name="TextBox 3">
            <a:extLst>
              <a:ext uri="{FF2B5EF4-FFF2-40B4-BE49-F238E27FC236}">
                <a16:creationId xmlns:a16="http://schemas.microsoft.com/office/drawing/2014/main" id="{C6819282-B155-F202-2A5A-079CC6BCB7CC}"/>
              </a:ext>
            </a:extLst>
          </p:cNvPr>
          <p:cNvSpPr txBox="1"/>
          <p:nvPr/>
        </p:nvSpPr>
        <p:spPr>
          <a:xfrm>
            <a:off x="8205081" y="4489283"/>
            <a:ext cx="3581400" cy="2031325"/>
          </a:xfrm>
          <a:prstGeom prst="rect">
            <a:avLst/>
          </a:prstGeom>
          <a:solidFill>
            <a:schemeClr val="accent2"/>
          </a:solidFill>
        </p:spPr>
        <p:txBody>
          <a:bodyPr wrap="square" rtlCol="0">
            <a:spAutoFit/>
          </a:bodyPr>
          <a:lstStyle/>
          <a:p>
            <a:r>
              <a:rPr lang="en-US" dirty="0"/>
              <a:t>2 big questions: </a:t>
            </a:r>
          </a:p>
          <a:p>
            <a:pPr marL="342900" indent="-342900">
              <a:buAutoNum type="arabicPeriod"/>
            </a:pPr>
            <a:r>
              <a:rPr lang="en-US" dirty="0"/>
              <a:t>Should the government of Cuba get credit for this? </a:t>
            </a:r>
          </a:p>
          <a:p>
            <a:pPr marL="342900" indent="-342900">
              <a:buAutoNum type="arabicPeriod"/>
            </a:pPr>
            <a:r>
              <a:rPr lang="en-US" dirty="0"/>
              <a:t>How can we answer that question from an empirical perspective? Who do we compare Cuba to?</a:t>
            </a:r>
          </a:p>
        </p:txBody>
      </p:sp>
    </p:spTree>
    <p:extLst>
      <p:ext uri="{BB962C8B-B14F-4D97-AF65-F5344CB8AC3E}">
        <p14:creationId xmlns:p14="http://schemas.microsoft.com/office/powerpoint/2010/main" val="2345652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D78B0-7914-A10C-935B-A7896D5D6E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871F11-E4E9-1004-AE0B-20939A0E90FD}"/>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So how do we construct Synthetic Cuba?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EF91AE-D8B0-C225-8CCD-9780517BB031}"/>
              </a:ext>
            </a:extLst>
          </p:cNvPr>
          <p:cNvSpPr>
            <a:spLocks noGrp="1"/>
          </p:cNvSpPr>
          <p:nvPr>
            <p:ph idx="1"/>
          </p:nvPr>
        </p:nvSpPr>
        <p:spPr>
          <a:xfrm>
            <a:off x="609601" y="1066801"/>
            <a:ext cx="10015390" cy="5141388"/>
          </a:xfrm>
        </p:spPr>
        <p:txBody>
          <a:bodyPr>
            <a:noAutofit/>
          </a:bodyPr>
          <a:lstStyle/>
          <a:p>
            <a:pPr marL="457200" indent="-457200">
              <a:buAutoNum type="arabicPeriod"/>
            </a:pPr>
            <a:r>
              <a:rPr lang="en-US" sz="2200" dirty="0">
                <a:cs typeface="Times New Roman" panose="02020603050405020304" pitchFamily="18" charset="0"/>
              </a:rPr>
              <a:t>Choose a donor pool – which observation units (e.g., countries) are </a:t>
            </a:r>
            <a:r>
              <a:rPr lang="en-US" sz="2200" b="1" dirty="0">
                <a:cs typeface="Times New Roman" panose="02020603050405020304" pitchFamily="18" charset="0"/>
              </a:rPr>
              <a:t>minimally acceptable </a:t>
            </a:r>
            <a:r>
              <a:rPr lang="en-US" sz="2200" dirty="0">
                <a:cs typeface="Times New Roman" panose="02020603050405020304" pitchFamily="18" charset="0"/>
              </a:rPr>
              <a:t>as a comparator to Cuba? </a:t>
            </a:r>
          </a:p>
          <a:p>
            <a:pPr lvl="1"/>
            <a:r>
              <a:rPr lang="en-US" sz="2200" dirty="0">
                <a:cs typeface="Times New Roman" panose="02020603050405020304" pitchFamily="18" charset="0"/>
              </a:rPr>
              <a:t>Who would work well here? Who wouldn’t? </a:t>
            </a:r>
          </a:p>
          <a:p>
            <a:pPr marL="457200" indent="-457200">
              <a:buFont typeface="+mj-lt"/>
              <a:buAutoNum type="arabicPeriod"/>
            </a:pPr>
            <a:r>
              <a:rPr lang="en-US" sz="2200" dirty="0">
                <a:cs typeface="Times New Roman" panose="02020603050405020304" pitchFamily="18" charset="0"/>
              </a:rPr>
              <a:t>Our goal is to </a:t>
            </a:r>
            <a:r>
              <a:rPr lang="en-US" sz="2200" b="1" dirty="0">
                <a:cs typeface="Times New Roman" panose="02020603050405020304" pitchFamily="18" charset="0"/>
              </a:rPr>
              <a:t>“force” the parallel trends assumption </a:t>
            </a:r>
            <a:r>
              <a:rPr lang="en-US" sz="2200" dirty="0">
                <a:cs typeface="Times New Roman" panose="02020603050405020304" pitchFamily="18" charset="0"/>
              </a:rPr>
              <a:t>through weighting these observations</a:t>
            </a:r>
          </a:p>
          <a:p>
            <a:pPr lvl="1"/>
            <a:r>
              <a:rPr lang="en-US" sz="2200" dirty="0">
                <a:cs typeface="Times New Roman" panose="02020603050405020304" pitchFamily="18" charset="0"/>
              </a:rPr>
              <a:t>So we choose variables to match on</a:t>
            </a:r>
          </a:p>
          <a:p>
            <a:pPr lvl="1"/>
            <a:r>
              <a:rPr lang="en-US" sz="2200" dirty="0">
                <a:cs typeface="Times New Roman" panose="02020603050405020304" pitchFamily="18" charset="0"/>
              </a:rPr>
              <a:t>These include pre-trends themselves! And also other covariates.</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26191071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C6185-5F94-AB2F-C767-AA235D261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A64BA-BFBA-0D29-E557-674F31016211}"/>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So how do we construct Synthetic Cuba?</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9A4769-9FDD-BBB1-59B1-06D2A2DC4214}"/>
              </a:ext>
            </a:extLst>
          </p:cNvPr>
          <p:cNvSpPr>
            <a:spLocks noGrp="1"/>
          </p:cNvSpPr>
          <p:nvPr>
            <p:ph idx="1"/>
          </p:nvPr>
        </p:nvSpPr>
        <p:spPr>
          <a:xfrm>
            <a:off x="609600" y="1066801"/>
            <a:ext cx="10515599" cy="5141388"/>
          </a:xfrm>
        </p:spPr>
        <p:txBody>
          <a:bodyPr>
            <a:noAutofit/>
          </a:bodyPr>
          <a:lstStyle/>
          <a:p>
            <a:pPr marL="457200" indent="-457200">
              <a:buAutoNum type="arabicPeriod"/>
            </a:pPr>
            <a:r>
              <a:rPr lang="en-US" sz="2200" dirty="0">
                <a:cs typeface="Times New Roman" panose="02020603050405020304" pitchFamily="18" charset="0"/>
              </a:rPr>
              <a:t>Choose a donor pool – which observation units (e.g., countries) are </a:t>
            </a:r>
            <a:r>
              <a:rPr lang="en-US" sz="2200" b="1" dirty="0">
                <a:cs typeface="Times New Roman" panose="02020603050405020304" pitchFamily="18" charset="0"/>
              </a:rPr>
              <a:t>minimally acceptable </a:t>
            </a:r>
            <a:r>
              <a:rPr lang="en-US" sz="2200" dirty="0">
                <a:cs typeface="Times New Roman" panose="02020603050405020304" pitchFamily="18" charset="0"/>
              </a:rPr>
              <a:t>as a comparator to Cuba? </a:t>
            </a:r>
          </a:p>
          <a:p>
            <a:pPr lvl="1"/>
            <a:r>
              <a:rPr lang="en-US" sz="2200" dirty="0">
                <a:cs typeface="Times New Roman" panose="02020603050405020304" pitchFamily="18" charset="0"/>
              </a:rPr>
              <a:t>Who would work well here? Who wouldn’t? </a:t>
            </a:r>
          </a:p>
          <a:p>
            <a:pPr marL="457200" indent="-457200">
              <a:buFont typeface="+mj-lt"/>
              <a:buAutoNum type="arabicPeriod"/>
            </a:pPr>
            <a:r>
              <a:rPr lang="en-US" sz="2200" dirty="0">
                <a:cs typeface="Times New Roman" panose="02020603050405020304" pitchFamily="18" charset="0"/>
              </a:rPr>
              <a:t>Our goal is to </a:t>
            </a:r>
            <a:r>
              <a:rPr lang="en-US" sz="2200" b="1" dirty="0">
                <a:cs typeface="Times New Roman" panose="02020603050405020304" pitchFamily="18" charset="0"/>
              </a:rPr>
              <a:t>“force” the parallel trends assumption </a:t>
            </a:r>
            <a:r>
              <a:rPr lang="en-US" sz="2200" dirty="0">
                <a:cs typeface="Times New Roman" panose="02020603050405020304" pitchFamily="18" charset="0"/>
              </a:rPr>
              <a:t>through weighting these observations</a:t>
            </a:r>
          </a:p>
          <a:p>
            <a:pPr lvl="1"/>
            <a:r>
              <a:rPr lang="en-US" sz="2200" dirty="0">
                <a:cs typeface="Times New Roman" panose="02020603050405020304" pitchFamily="18" charset="0"/>
              </a:rPr>
              <a:t>So we choose variables to match on</a:t>
            </a:r>
          </a:p>
          <a:p>
            <a:pPr lvl="1"/>
            <a:r>
              <a:rPr lang="en-US" sz="2200" dirty="0">
                <a:cs typeface="Times New Roman" panose="02020603050405020304" pitchFamily="18" charset="0"/>
              </a:rPr>
              <a:t>These include pre-trends themselves! And also other covariates.</a:t>
            </a:r>
          </a:p>
          <a:p>
            <a:pPr marL="0" indent="0">
              <a:buNone/>
            </a:pPr>
            <a:r>
              <a:rPr lang="en-US" sz="2200" b="1" dirty="0">
                <a:cs typeface="Times New Roman" panose="02020603050405020304" pitchFamily="18" charset="0"/>
              </a:rPr>
              <a:t>When can you use SCM?</a:t>
            </a:r>
          </a:p>
          <a:p>
            <a:pPr marL="0" indent="0">
              <a:buNone/>
            </a:pPr>
            <a:r>
              <a:rPr lang="en-US" sz="2200" b="1" dirty="0">
                <a:cs typeface="Times New Roman" panose="02020603050405020304" pitchFamily="18" charset="0"/>
              </a:rPr>
              <a:t>1. </a:t>
            </a:r>
            <a:r>
              <a:rPr lang="en-US" sz="2200" dirty="0">
                <a:cs typeface="Times New Roman" panose="02020603050405020304" pitchFamily="18" charset="0"/>
              </a:rPr>
              <a:t>No unit in the donor pool can have a similar policy change (single treatment) </a:t>
            </a:r>
          </a:p>
          <a:p>
            <a:pPr marL="0" indent="0">
              <a:buNone/>
            </a:pPr>
            <a:r>
              <a:rPr lang="en-US" sz="2200" dirty="0">
                <a:cs typeface="Times New Roman" panose="02020603050405020304" pitchFamily="18" charset="0"/>
              </a:rPr>
              <a:t>2. The treatment cannot affect the outcome in donor pool (SUTVA)</a:t>
            </a:r>
          </a:p>
          <a:p>
            <a:pPr marL="0" indent="0">
              <a:buNone/>
            </a:pPr>
            <a:r>
              <a:rPr lang="en-US" sz="2200" dirty="0">
                <a:cs typeface="Times New Roman" panose="02020603050405020304" pitchFamily="18" charset="0"/>
              </a:rPr>
              <a:t>3. No anticipation effects! (Why?)</a:t>
            </a:r>
          </a:p>
          <a:p>
            <a:pPr marL="0" indent="0">
              <a:buNone/>
            </a:pPr>
            <a:r>
              <a:rPr lang="en-US" sz="2200" dirty="0">
                <a:cs typeface="Times New Roman" panose="02020603050405020304" pitchFamily="18" charset="0"/>
              </a:rPr>
              <a:t>4. The values of the predictors for the treated unit should be near or inside the </a:t>
            </a:r>
            <a:r>
              <a:rPr lang="en-US" sz="2200" b="1" dirty="0">
                <a:cs typeface="Times New Roman" panose="02020603050405020304" pitchFamily="18" charset="0"/>
              </a:rPr>
              <a:t>convex hull </a:t>
            </a:r>
            <a:r>
              <a:rPr lang="en-US" sz="2200" dirty="0">
                <a:cs typeface="Times New Roman" panose="02020603050405020304" pitchFamily="18" charset="0"/>
              </a:rPr>
              <a:t>of the values for the donor pool (more on this in a couple of slides).</a:t>
            </a:r>
          </a:p>
        </p:txBody>
      </p:sp>
    </p:spTree>
    <p:extLst>
      <p:ext uri="{BB962C8B-B14F-4D97-AF65-F5344CB8AC3E}">
        <p14:creationId xmlns:p14="http://schemas.microsoft.com/office/powerpoint/2010/main" val="35012605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Step 1: Selection of “Donor Pool” &amp; Matching Variables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210800" cy="5141388"/>
          </a:xfrm>
        </p:spPr>
        <p:txBody>
          <a:bodyPr>
            <a:noAutofit/>
          </a:bodyPr>
          <a:lstStyle/>
          <a:p>
            <a:pPr marL="0" indent="0">
              <a:buNone/>
            </a:pPr>
            <a:r>
              <a:rPr lang="en-US" sz="2400" dirty="0">
                <a:cs typeface="Times New Roman" panose="02020603050405020304" pitchFamily="18" charset="0"/>
              </a:rPr>
              <a:t>To get around the problem: </a:t>
            </a:r>
            <a:r>
              <a:rPr lang="en-US" sz="2400" b="1" dirty="0">
                <a:solidFill>
                  <a:schemeClr val="accent2">
                    <a:lumMod val="75000"/>
                  </a:schemeClr>
                </a:solidFill>
                <a:cs typeface="Times New Roman" panose="02020603050405020304" pitchFamily="18" charset="0"/>
              </a:rPr>
              <a:t>throw in the kitchen sink! (this time it’s okay)</a:t>
            </a:r>
          </a:p>
          <a:p>
            <a:r>
              <a:rPr lang="en-US" sz="2400" dirty="0">
                <a:cs typeface="Times New Roman" panose="02020603050405020304" pitchFamily="18" charset="0"/>
              </a:rPr>
              <a:t>Main advantage: data-driven way to construct weighted average </a:t>
            </a:r>
          </a:p>
          <a:p>
            <a:pPr lvl="1"/>
            <a:r>
              <a:rPr lang="en-US" sz="2400" dirty="0">
                <a:cs typeface="Times New Roman" panose="02020603050405020304" pitchFamily="18" charset="0"/>
              </a:rPr>
              <a:t>Researcher doesn’t choose weights</a:t>
            </a:r>
          </a:p>
          <a:p>
            <a:r>
              <a:rPr lang="en-US" sz="2400" dirty="0">
                <a:cs typeface="Times New Roman" panose="02020603050405020304" pitchFamily="18" charset="0"/>
              </a:rPr>
              <a:t>Researcher chooses: </a:t>
            </a:r>
          </a:p>
          <a:p>
            <a:pPr marL="731520" lvl="1" indent="-457200">
              <a:buFont typeface="+mj-lt"/>
              <a:buAutoNum type="arabicPeriod"/>
            </a:pPr>
            <a:r>
              <a:rPr lang="en-US" sz="2400" b="1" dirty="0">
                <a:cs typeface="Times New Roman" panose="02020603050405020304" pitchFamily="18" charset="0"/>
              </a:rPr>
              <a:t>Donor pool</a:t>
            </a:r>
            <a:r>
              <a:rPr lang="en-US" sz="2400" dirty="0">
                <a:cs typeface="Times New Roman" panose="02020603050405020304" pitchFamily="18" charset="0"/>
              </a:rPr>
              <a:t>: possible states for control group                                   (algorithm may assign weight 0)</a:t>
            </a:r>
          </a:p>
          <a:p>
            <a:pPr marL="731520" lvl="1" indent="-457200">
              <a:buFont typeface="+mj-lt"/>
              <a:buAutoNum type="arabicPeriod"/>
            </a:pPr>
            <a:r>
              <a:rPr lang="en-US" sz="2400" b="1" dirty="0">
                <a:cs typeface="Times New Roman" panose="02020603050405020304" pitchFamily="18" charset="0"/>
              </a:rPr>
              <a:t>Matching variables: </a:t>
            </a:r>
            <a:r>
              <a:rPr lang="en-US" sz="2400" dirty="0">
                <a:cs typeface="Times New Roman" panose="02020603050405020304" pitchFamily="18" charset="0"/>
              </a:rPr>
              <a:t>should include pre-treatment trends + any other covariates</a:t>
            </a:r>
          </a:p>
          <a:p>
            <a:pPr marL="731520" lvl="1" indent="-457200">
              <a:buFont typeface="+mj-lt"/>
              <a:buAutoNum type="arabicPeriod"/>
            </a:pPr>
            <a:r>
              <a:rPr lang="en-US" sz="2400" dirty="0">
                <a:cs typeface="Times New Roman" panose="02020603050405020304" pitchFamily="18" charset="0"/>
              </a:rPr>
              <a:t>McClelland and Gault has a nice guide to how to implement this</a:t>
            </a:r>
          </a:p>
          <a:p>
            <a:pPr marL="731520" lvl="1" indent="-457200">
              <a:buFont typeface="+mj-lt"/>
              <a:buAutoNum type="arabicPeriod"/>
            </a:pPr>
            <a:endParaRPr lang="en-US" sz="2400" dirty="0">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A70FB6BD-0680-C292-FC29-B23BC31D43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8921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BAD82-A8E4-2001-755D-0C3747F37308}"/>
              </a:ext>
            </a:extLst>
          </p:cNvPr>
          <p:cNvSpPr>
            <a:spLocks noGrp="1"/>
          </p:cNvSpPr>
          <p:nvPr>
            <p:ph type="title"/>
          </p:nvPr>
        </p:nvSpPr>
        <p:spPr>
          <a:xfrm>
            <a:off x="381000" y="365760"/>
            <a:ext cx="10573512" cy="548640"/>
          </a:xfrm>
        </p:spPr>
        <p:txBody>
          <a:bodyPr>
            <a:normAutofit fontScale="90000"/>
          </a:bodyPr>
          <a:lstStyle/>
          <a:p>
            <a:r>
              <a:rPr lang="en-US" dirty="0"/>
              <a:t>Step 1 Example: Case Study </a:t>
            </a:r>
          </a:p>
        </p:txBody>
      </p:sp>
      <p:sp>
        <p:nvSpPr>
          <p:cNvPr id="3" name="Content Placeholder 2">
            <a:extLst>
              <a:ext uri="{FF2B5EF4-FFF2-40B4-BE49-F238E27FC236}">
                <a16:creationId xmlns:a16="http://schemas.microsoft.com/office/drawing/2014/main" id="{6BEA7A6E-58AB-0B48-5157-19BABCC61202}"/>
              </a:ext>
            </a:extLst>
          </p:cNvPr>
          <p:cNvSpPr>
            <a:spLocks noGrp="1"/>
          </p:cNvSpPr>
          <p:nvPr>
            <p:ph idx="1"/>
          </p:nvPr>
        </p:nvSpPr>
        <p:spPr>
          <a:xfrm>
            <a:off x="457200" y="914400"/>
            <a:ext cx="10497312" cy="5265737"/>
          </a:xfrm>
        </p:spPr>
        <p:txBody>
          <a:bodyPr>
            <a:normAutofit/>
          </a:bodyPr>
          <a:lstStyle/>
          <a:p>
            <a:r>
              <a:rPr lang="en-US" sz="2200" dirty="0"/>
              <a:t>Unit of observation: Measure at the country-year level (panel data!) </a:t>
            </a:r>
          </a:p>
          <a:p>
            <a:r>
              <a:rPr lang="en-US" sz="2200" dirty="0"/>
              <a:t>Match from 1946 (first year of data) to 1958 (last year pre-treatment) </a:t>
            </a:r>
          </a:p>
          <a:p>
            <a:r>
              <a:rPr lang="en-US" sz="2200" dirty="0"/>
              <a:t>Exclude countries without “similar economic processes” to Cuba (what does this mean? What do you think about how they handle it?) </a:t>
            </a:r>
          </a:p>
          <a:p>
            <a:pPr lvl="1"/>
            <a:r>
              <a:rPr lang="en-US" sz="2000" dirty="0"/>
              <a:t>Two sets of controls: Latin American countries and all Western countries (why?) </a:t>
            </a:r>
          </a:p>
          <a:p>
            <a:r>
              <a:rPr lang="en-US" sz="2200" dirty="0"/>
              <a:t>What variables are included? </a:t>
            </a:r>
          </a:p>
        </p:txBody>
      </p:sp>
    </p:spTree>
    <p:extLst>
      <p:ext uri="{BB962C8B-B14F-4D97-AF65-F5344CB8AC3E}">
        <p14:creationId xmlns:p14="http://schemas.microsoft.com/office/powerpoint/2010/main" val="3422624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1A6DC-3B7C-303C-B24E-7BA78D33D5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1BE010-7FCC-307F-E337-BB96CEA91AA5}"/>
              </a:ext>
            </a:extLst>
          </p:cNvPr>
          <p:cNvSpPr>
            <a:spLocks noGrp="1"/>
          </p:cNvSpPr>
          <p:nvPr>
            <p:ph type="title"/>
          </p:nvPr>
        </p:nvSpPr>
        <p:spPr>
          <a:xfrm>
            <a:off x="381000" y="365760"/>
            <a:ext cx="10573512" cy="548640"/>
          </a:xfrm>
        </p:spPr>
        <p:txBody>
          <a:bodyPr>
            <a:normAutofit fontScale="90000"/>
          </a:bodyPr>
          <a:lstStyle/>
          <a:p>
            <a:r>
              <a:rPr lang="en-US" dirty="0"/>
              <a:t>Step 1 Example: Case Study </a:t>
            </a:r>
          </a:p>
        </p:txBody>
      </p:sp>
      <p:sp>
        <p:nvSpPr>
          <p:cNvPr id="3" name="Content Placeholder 2">
            <a:extLst>
              <a:ext uri="{FF2B5EF4-FFF2-40B4-BE49-F238E27FC236}">
                <a16:creationId xmlns:a16="http://schemas.microsoft.com/office/drawing/2014/main" id="{8096427C-70C2-F546-1460-D4C449C34075}"/>
              </a:ext>
            </a:extLst>
          </p:cNvPr>
          <p:cNvSpPr>
            <a:spLocks noGrp="1"/>
          </p:cNvSpPr>
          <p:nvPr>
            <p:ph idx="1"/>
          </p:nvPr>
        </p:nvSpPr>
        <p:spPr>
          <a:xfrm>
            <a:off x="457200" y="914400"/>
            <a:ext cx="10497312" cy="5265737"/>
          </a:xfrm>
        </p:spPr>
        <p:txBody>
          <a:bodyPr>
            <a:normAutofit/>
          </a:bodyPr>
          <a:lstStyle/>
          <a:p>
            <a:r>
              <a:rPr lang="en-US" sz="2200" dirty="0"/>
              <a:t>Unit of observation: Measure at the country-year level (panel data!) </a:t>
            </a:r>
          </a:p>
          <a:p>
            <a:r>
              <a:rPr lang="en-US" sz="2200" dirty="0"/>
              <a:t>Match from 1946 (first year of data) to 1958 (last year pre-treatment) </a:t>
            </a:r>
          </a:p>
          <a:p>
            <a:r>
              <a:rPr lang="en-US" sz="2200" dirty="0"/>
              <a:t>Exclude countries without “similar economic processes” to Cuba (what does this mean? What do you think about how they handle it?) </a:t>
            </a:r>
          </a:p>
          <a:p>
            <a:pPr lvl="1"/>
            <a:r>
              <a:rPr lang="en-US" sz="2000" dirty="0"/>
              <a:t>Two sets of controls: Latin American countries and all Western countries (why?) </a:t>
            </a:r>
          </a:p>
          <a:p>
            <a:r>
              <a:rPr lang="en-US" sz="2200" dirty="0"/>
              <a:t>What variables are included? </a:t>
            </a:r>
          </a:p>
        </p:txBody>
      </p:sp>
      <p:pic>
        <p:nvPicPr>
          <p:cNvPr id="5" name="Picture 4">
            <a:extLst>
              <a:ext uri="{FF2B5EF4-FFF2-40B4-BE49-F238E27FC236}">
                <a16:creationId xmlns:a16="http://schemas.microsoft.com/office/drawing/2014/main" id="{F8A063B5-500E-82FE-5BBC-416A0F2F66D7}"/>
              </a:ext>
            </a:extLst>
          </p:cNvPr>
          <p:cNvPicPr>
            <a:picLocks noChangeAspect="1"/>
          </p:cNvPicPr>
          <p:nvPr/>
        </p:nvPicPr>
        <p:blipFill>
          <a:blip r:embed="rId3"/>
          <a:stretch>
            <a:fillRect/>
          </a:stretch>
        </p:blipFill>
        <p:spPr>
          <a:xfrm>
            <a:off x="2971800" y="3476153"/>
            <a:ext cx="8249801" cy="3381847"/>
          </a:xfrm>
          <a:prstGeom prst="rect">
            <a:avLst/>
          </a:prstGeom>
        </p:spPr>
      </p:pic>
    </p:spTree>
    <p:extLst>
      <p:ext uri="{BB962C8B-B14F-4D97-AF65-F5344CB8AC3E}">
        <p14:creationId xmlns:p14="http://schemas.microsoft.com/office/powerpoint/2010/main" val="41978832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Step 2: Construction of Synthetic Cuba</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r>
              <a:rPr lang="en-US" sz="2400" dirty="0">
                <a:cs typeface="Times New Roman" panose="02020603050405020304" pitchFamily="18" charset="0"/>
              </a:rPr>
              <a:t>Synthetic Cuba is generated from </a:t>
            </a:r>
            <a:r>
              <a:rPr lang="en-US" sz="2400" b="1" dirty="0">
                <a:cs typeface="Times New Roman" panose="02020603050405020304" pitchFamily="18" charset="0"/>
              </a:rPr>
              <a:t>a convex hull </a:t>
            </a:r>
            <a:r>
              <a:rPr lang="en-US" sz="2400" dirty="0">
                <a:cs typeface="Times New Roman" panose="02020603050405020304" pitchFamily="18" charset="0"/>
              </a:rPr>
              <a:t>of control states</a:t>
            </a:r>
          </a:p>
          <a:p>
            <a:pPr lvl="1"/>
            <a:r>
              <a:rPr lang="en-US" sz="2400" dirty="0">
                <a:cs typeface="Times New Roman" panose="02020603050405020304" pitchFamily="18" charset="0"/>
              </a:rPr>
              <a:t>Requires some amount of comparability (can’t compare Cuba to Mars)</a:t>
            </a:r>
          </a:p>
          <a:p>
            <a:pPr lvl="1"/>
            <a:r>
              <a:rPr lang="en-US" sz="2400" u="sng" dirty="0">
                <a:solidFill>
                  <a:schemeClr val="accent3">
                    <a:lumMod val="75000"/>
                  </a:schemeClr>
                </a:solidFill>
                <a:cs typeface="Times New Roman" panose="02020603050405020304" pitchFamily="18" charset="0"/>
              </a:rPr>
              <a:t>Weighted average of bad controls will still be…bad controls</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30318121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39940-58DD-1CF6-252A-490BB24B5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3067B-418F-C8B5-B678-A1FC05FA56A3}"/>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Convex Hull</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66CA4A7-830E-9769-F68B-185E867BB596}"/>
              </a:ext>
            </a:extLst>
          </p:cNvPr>
          <p:cNvPicPr>
            <a:picLocks noGrp="1" noChangeAspect="1"/>
          </p:cNvPicPr>
          <p:nvPr>
            <p:ph idx="1"/>
          </p:nvPr>
        </p:nvPicPr>
        <p:blipFill>
          <a:blip r:embed="rId3"/>
          <a:stretch>
            <a:fillRect/>
          </a:stretch>
        </p:blipFill>
        <p:spPr>
          <a:xfrm>
            <a:off x="609600" y="1066800"/>
            <a:ext cx="6078353" cy="5141913"/>
          </a:xfrm>
          <a:prstGeom prst="rect">
            <a:avLst/>
          </a:prstGeom>
        </p:spPr>
      </p:pic>
    </p:spTree>
    <p:extLst>
      <p:ext uri="{BB962C8B-B14F-4D97-AF65-F5344CB8AC3E}">
        <p14:creationId xmlns:p14="http://schemas.microsoft.com/office/powerpoint/2010/main" val="25297562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Step 2: Construction of Synthetic Cuba</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1" y="1066801"/>
                <a:ext cx="9939190" cy="5141388"/>
              </a:xfrm>
            </p:spPr>
            <p:txBody>
              <a:bodyPr>
                <a:noAutofit/>
              </a:bodyPr>
              <a:lstStyle/>
              <a:p>
                <a:r>
                  <a:rPr lang="en-US" sz="2400" dirty="0">
                    <a:cs typeface="Times New Roman" panose="02020603050405020304" pitchFamily="18" charset="0"/>
                  </a:rPr>
                  <a:t>Synthetic Cuba is generated from </a:t>
                </a:r>
                <a:r>
                  <a:rPr lang="en-US" sz="2400" b="1" dirty="0">
                    <a:cs typeface="Times New Roman" panose="02020603050405020304" pitchFamily="18" charset="0"/>
                  </a:rPr>
                  <a:t>a convex hull </a:t>
                </a:r>
                <a:r>
                  <a:rPr lang="en-US" sz="2400" dirty="0">
                    <a:cs typeface="Times New Roman" panose="02020603050405020304" pitchFamily="18" charset="0"/>
                  </a:rPr>
                  <a:t>of control states</a:t>
                </a:r>
              </a:p>
              <a:p>
                <a:pPr lvl="1"/>
                <a:r>
                  <a:rPr lang="en-US" sz="2400" dirty="0">
                    <a:cs typeface="Times New Roman" panose="02020603050405020304" pitchFamily="18" charset="0"/>
                  </a:rPr>
                  <a:t>Requires some amount of comparability (can’t compare Cuba to Mars)</a:t>
                </a:r>
              </a:p>
              <a:p>
                <a:r>
                  <a:rPr lang="en-US" sz="2400" dirty="0">
                    <a:cs typeface="Times New Roman" panose="02020603050405020304" pitchFamily="18" charset="0"/>
                  </a:rPr>
                  <a:t>Goal of model: choose weights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d>
                          <m:dPr>
                            <m:begChr m:val="{"/>
                            <m:endChr m:val="}"/>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𝑗</m:t>
                                </m:r>
                              </m:sub>
                            </m:sSub>
                          </m:e>
                        </m:d>
                      </m:e>
                      <m:sub>
                        <m:r>
                          <a:rPr lang="en-US" sz="2400" b="0" i="1" smtClean="0">
                            <a:latin typeface="Cambria Math" panose="02040503050406030204" pitchFamily="18" charset="0"/>
                            <a:cs typeface="Times New Roman" panose="02020603050405020304" pitchFamily="18" charset="0"/>
                          </a:rPr>
                          <m:t>𝑗</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𝐽</m:t>
                        </m:r>
                      </m:sub>
                    </m:sSub>
                  </m:oMath>
                </a14:m>
                <a:r>
                  <a:rPr lang="en-US" sz="2400" dirty="0">
                    <a:cs typeface="Times New Roman" panose="02020603050405020304" pitchFamily="18" charset="0"/>
                  </a:rPr>
                  <a:t>for comparison states/variables</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sSubSup>
                            <m:sSubSupPr>
                              <m:ctrlPr>
                                <a:rPr lang="en-US" sz="2400" b="0" i="1" smtClean="0">
                                  <a:latin typeface="Cambria Math" panose="02040503050406030204" pitchFamily="18" charset="0"/>
                                  <a:cs typeface="Times New Roman" panose="02020603050405020304" pitchFamily="18" charset="0"/>
                                </a:rPr>
                              </m:ctrlPr>
                            </m:sSubSupPr>
                            <m:e>
                              <m:r>
                                <m:rPr>
                                  <m:sty m:val="p"/>
                                </m:rPr>
                                <a:rPr lang="en-US" sz="2400" b="0" i="0" smtClean="0">
                                  <a:latin typeface="Cambria Math" panose="02040503050406030204" pitchFamily="18" charset="0"/>
                                  <a:cs typeface="Times New Roman" panose="02020603050405020304" pitchFamily="18" charset="0"/>
                                </a:rPr>
                                <m:t>w</m:t>
                              </m:r>
                            </m:e>
                            <m:sub>
                              <m:r>
                                <m:rPr>
                                  <m:sty m:val="p"/>
                                </m:rPr>
                                <a:rPr lang="en-US" sz="2400" b="0" i="0" smtClean="0">
                                  <a:latin typeface="Cambria Math" panose="02040503050406030204" pitchFamily="18" charset="0"/>
                                  <a:cs typeface="Times New Roman" panose="02020603050405020304" pitchFamily="18" charset="0"/>
                                </a:rPr>
                                <m:t>j</m:t>
                              </m:r>
                            </m:sub>
                            <m:sup>
                              <m:r>
                                <a:rPr lang="en-US" sz="2400" b="0" i="0" smtClean="0">
                                  <a:latin typeface="Cambria Math" panose="02040503050406030204" pitchFamily="18" charset="0"/>
                                  <a:cs typeface="Times New Roman" panose="02020603050405020304" pitchFamily="18" charset="0"/>
                                </a:rPr>
                                <m:t>∗</m:t>
                              </m:r>
                            </m:sup>
                          </m:sSubSup>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argmin</m:t>
                          </m:r>
                        </m:fName>
                        <m:e>
                          <m:d>
                            <m:dPr>
                              <m:begChr m:val="|"/>
                              <m:endChr m:val="|"/>
                              <m:ctrlPr>
                                <a:rPr lang="en-US" sz="2400" b="0" i="1" smtClean="0">
                                  <a:latin typeface="Cambria Math" panose="02040503050406030204" pitchFamily="18" charset="0"/>
                                  <a:cs typeface="Times New Roman" panose="02020603050405020304" pitchFamily="18" charset="0"/>
                                </a:rPr>
                              </m:ctrlPr>
                            </m:dPr>
                            <m:e>
                              <m:d>
                                <m:dPr>
                                  <m:begChr m:val="|"/>
                                  <m:endChr m:val="|"/>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𝑊</m:t>
                                  </m:r>
                                </m:e>
                              </m:d>
                            </m:e>
                          </m:d>
                        </m:e>
                      </m:func>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s</m:t>
                      </m:r>
                      <m:r>
                        <a:rPr lang="en-US" sz="2400" b="0" i="0"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t</m:t>
                      </m:r>
                      <m:r>
                        <a:rPr lang="en-US" sz="2400" b="0" i="0"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cs typeface="Times New Roman" panose="02020603050405020304" pitchFamily="18" charset="0"/>
                            </a:rPr>
                            <m:t>w</m:t>
                          </m:r>
                        </m:e>
                        <m:sub>
                          <m:r>
                            <m:rPr>
                              <m:sty m:val="p"/>
                            </m:rPr>
                            <a:rPr lang="en-US" sz="2400" b="0" i="0" smtClean="0">
                              <a:latin typeface="Cambria Math" panose="02040503050406030204" pitchFamily="18" charset="0"/>
                              <a:cs typeface="Times New Roman" panose="02020603050405020304" pitchFamily="18" charset="0"/>
                            </a:rPr>
                            <m:t>j</m:t>
                          </m:r>
                        </m:sub>
                      </m:sSub>
                      <m:r>
                        <a:rPr lang="en-US" sz="2400" b="0" i="1" smtClean="0">
                          <a:latin typeface="Cambria Math" panose="02040503050406030204" pitchFamily="18" charset="0"/>
                          <a:cs typeface="Times New Roman" panose="02020603050405020304" pitchFamily="18" charset="0"/>
                        </a:rPr>
                        <m:t>≥0, </m:t>
                      </m:r>
                      <m:nary>
                        <m:naryPr>
                          <m:chr m:val="∑"/>
                          <m:supHide m:val="on"/>
                          <m:ctrlPr>
                            <a:rPr lang="en-US" sz="2400" b="0" i="1" smtClean="0">
                              <a:latin typeface="Cambria Math" panose="02040503050406030204" pitchFamily="18" charset="0"/>
                              <a:cs typeface="Times New Roman" panose="02020603050405020304" pitchFamily="18" charset="0"/>
                            </a:rPr>
                          </m:ctrlPr>
                        </m:naryPr>
                        <m:sub>
                          <m:r>
                            <a:rPr lang="en-US" sz="2400" b="0" i="1" smtClean="0">
                              <a:latin typeface="Cambria Math" panose="02040503050406030204" pitchFamily="18" charset="0"/>
                              <a:cs typeface="Times New Roman" panose="02020603050405020304" pitchFamily="18" charset="0"/>
                            </a:rPr>
                            <m:t>𝑗</m:t>
                          </m:r>
                        </m:sub>
                        <m:sup/>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=1</m:t>
                          </m:r>
                        </m:e>
                      </m:nary>
                    </m:oMath>
                  </m:oMathPara>
                </a14:m>
                <a:endParaRPr lang="en-US" sz="2400" dirty="0">
                  <a:cs typeface="Times New Roman" panose="02020603050405020304" pitchFamily="18" charset="0"/>
                </a:endParaRPr>
              </a:p>
              <a:p>
                <a:r>
                  <a:rPr lang="en-US" sz="2400" dirty="0">
                    <a:cs typeface="Times New Roman" panose="02020603050405020304" pitchFamily="18" charset="0"/>
                  </a:rPr>
                  <a:t>Then, model causal effect as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nary>
                        <m:naryPr>
                          <m:chr m:val="∑"/>
                          <m:supHide m:val="on"/>
                          <m:ctrlPr>
                            <a:rPr lang="en-US" sz="2400" b="0" i="1" smtClean="0">
                              <a:latin typeface="Cambria Math" panose="02040503050406030204" pitchFamily="18" charset="0"/>
                              <a:cs typeface="Times New Roman" panose="02020603050405020304" pitchFamily="18" charset="0"/>
                            </a:rPr>
                          </m:ctrlPr>
                        </m:naryPr>
                        <m:sub>
                          <m:r>
                            <a:rPr lang="en-US" sz="2400" b="0" i="1" smtClean="0">
                              <a:latin typeface="Cambria Math" panose="02040503050406030204" pitchFamily="18" charset="0"/>
                              <a:cs typeface="Times New Roman" panose="02020603050405020304" pitchFamily="18" charset="0"/>
                            </a:rPr>
                            <m:t>𝑗</m:t>
                          </m:r>
                        </m:sub>
                        <m:sup/>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𝑗</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𝑗𝑡</m:t>
                              </m:r>
                            </m:sub>
                          </m:sSub>
                        </m:e>
                      </m:nary>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Based on weights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1" y="1066801"/>
                <a:ext cx="9939190" cy="5141388"/>
              </a:xfrm>
              <a:blipFill>
                <a:blip r:embed="rId3"/>
                <a:stretch>
                  <a:fillRect l="-982" t="-1305"/>
                </a:stretch>
              </a:blipFill>
            </p:spPr>
            <p:txBody>
              <a:bodyPr/>
              <a:lstStyle/>
              <a:p>
                <a:r>
                  <a:rPr lang="en-US">
                    <a:noFill/>
                  </a:rPr>
                  <a:t> </a:t>
                </a:r>
              </a:p>
            </p:txBody>
          </p:sp>
        </mc:Fallback>
      </mc:AlternateContent>
    </p:spTree>
    <p:extLst>
      <p:ext uri="{BB962C8B-B14F-4D97-AF65-F5344CB8AC3E}">
        <p14:creationId xmlns:p14="http://schemas.microsoft.com/office/powerpoint/2010/main" val="13093339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197" y="609600"/>
            <a:ext cx="10439400" cy="624840"/>
          </a:xfrm>
        </p:spPr>
        <p:txBody>
          <a:bodyPr>
            <a:noAutofit/>
          </a:bodyPr>
          <a:lstStyle/>
          <a:p>
            <a:r>
              <a:rPr lang="en-US" sz="3600" dirty="0">
                <a:cs typeface="Times New Roman" panose="02020603050405020304" pitchFamily="18" charset="0"/>
              </a:rPr>
              <a:t>Step 2: Construction of </a:t>
            </a:r>
            <a:br>
              <a:rPr lang="en-US" sz="3600" dirty="0">
                <a:cs typeface="Times New Roman" panose="02020603050405020304" pitchFamily="18" charset="0"/>
              </a:rPr>
            </a:br>
            <a:r>
              <a:rPr lang="en-US" sz="3600" dirty="0">
                <a:cs typeface="Times New Roman" panose="02020603050405020304" pitchFamily="18" charset="0"/>
              </a:rPr>
              <a:t>Synthetic Cuba</a:t>
            </a:r>
            <a:endParaRPr lang="en-US" sz="36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7C47BF1E-146E-2F85-0F4B-1200B915DA27}"/>
              </a:ext>
            </a:extLst>
          </p:cNvPr>
          <p:cNvPicPr>
            <a:picLocks noGrp="1" noChangeAspect="1"/>
          </p:cNvPicPr>
          <p:nvPr>
            <p:ph idx="1"/>
          </p:nvPr>
        </p:nvPicPr>
        <p:blipFill>
          <a:blip r:embed="rId3"/>
          <a:stretch>
            <a:fillRect/>
          </a:stretch>
        </p:blipFill>
        <p:spPr>
          <a:xfrm>
            <a:off x="7314603" y="75545"/>
            <a:ext cx="3734397" cy="6630055"/>
          </a:xfrm>
        </p:spPr>
      </p:pic>
    </p:spTree>
    <p:extLst>
      <p:ext uri="{BB962C8B-B14F-4D97-AF65-F5344CB8AC3E}">
        <p14:creationId xmlns:p14="http://schemas.microsoft.com/office/powerpoint/2010/main" val="14236153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Step 2: Construction of Synthetic Cuba</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4343399"/>
            <a:ext cx="9405791" cy="1864789"/>
          </a:xfrm>
        </p:spPr>
        <p:txBody>
          <a:bodyPr>
            <a:noAutofit/>
          </a:bodyPr>
          <a:lstStyle/>
          <a:p>
            <a:r>
              <a:rPr lang="en-US" sz="2200" dirty="0">
                <a:cs typeface="Times New Roman" panose="02020603050405020304" pitchFamily="18" charset="0"/>
              </a:rPr>
              <a:t>Balance table! Compare with before. Where are the matches the best/worst?</a:t>
            </a:r>
          </a:p>
        </p:txBody>
      </p:sp>
      <p:pic>
        <p:nvPicPr>
          <p:cNvPr id="7" name="Picture 6">
            <a:extLst>
              <a:ext uri="{FF2B5EF4-FFF2-40B4-BE49-F238E27FC236}">
                <a16:creationId xmlns:a16="http://schemas.microsoft.com/office/drawing/2014/main" id="{427BFD41-3D26-E718-84E6-0E062D3BD654}"/>
              </a:ext>
            </a:extLst>
          </p:cNvPr>
          <p:cNvPicPr>
            <a:picLocks noChangeAspect="1"/>
          </p:cNvPicPr>
          <p:nvPr/>
        </p:nvPicPr>
        <p:blipFill>
          <a:blip r:embed="rId3"/>
          <a:stretch>
            <a:fillRect/>
          </a:stretch>
        </p:blipFill>
        <p:spPr>
          <a:xfrm>
            <a:off x="0" y="982827"/>
            <a:ext cx="11060068" cy="3096057"/>
          </a:xfrm>
          <a:prstGeom prst="rect">
            <a:avLst/>
          </a:prstGeom>
        </p:spPr>
      </p:pic>
    </p:spTree>
    <p:extLst>
      <p:ext uri="{BB962C8B-B14F-4D97-AF65-F5344CB8AC3E}">
        <p14:creationId xmlns:p14="http://schemas.microsoft.com/office/powerpoint/2010/main" val="16825611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Results: OH vs. Synthetic OH</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000" dirty="0">
              <a:cs typeface="Times New Roman" panose="02020603050405020304" pitchFamily="18" charset="0"/>
            </a:endParaRPr>
          </a:p>
        </p:txBody>
      </p:sp>
      <p:pic>
        <p:nvPicPr>
          <p:cNvPr id="5" name="Picture 4">
            <a:extLst>
              <a:ext uri="{FF2B5EF4-FFF2-40B4-BE49-F238E27FC236}">
                <a16:creationId xmlns:a16="http://schemas.microsoft.com/office/drawing/2014/main" id="{85552748-0453-CEF0-FFDD-DF0800368E18}"/>
              </a:ext>
            </a:extLst>
          </p:cNvPr>
          <p:cNvPicPr>
            <a:picLocks noChangeAspect="1"/>
          </p:cNvPicPr>
          <p:nvPr/>
        </p:nvPicPr>
        <p:blipFill>
          <a:blip r:embed="rId3"/>
          <a:stretch>
            <a:fillRect/>
          </a:stretch>
        </p:blipFill>
        <p:spPr>
          <a:xfrm>
            <a:off x="2133600" y="233231"/>
            <a:ext cx="6973273" cy="6287377"/>
          </a:xfrm>
          <a:prstGeom prst="rect">
            <a:avLst/>
          </a:prstGeom>
        </p:spPr>
      </p:pic>
      <p:pic>
        <p:nvPicPr>
          <p:cNvPr id="7" name="Picture 2" descr="RStudio - RStudio">
            <a:extLst>
              <a:ext uri="{FF2B5EF4-FFF2-40B4-BE49-F238E27FC236}">
                <a16:creationId xmlns:a16="http://schemas.microsoft.com/office/drawing/2014/main" id="{4A071FE8-ADBE-02FF-D711-A06ADF3A88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71780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Results: OH vs. Synthetic OH</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000" dirty="0">
              <a:cs typeface="Times New Roman" panose="02020603050405020304" pitchFamily="18" charset="0"/>
            </a:endParaRPr>
          </a:p>
        </p:txBody>
      </p:sp>
      <p:pic>
        <p:nvPicPr>
          <p:cNvPr id="7" name="Picture 2" descr="RStudio - RStudio">
            <a:extLst>
              <a:ext uri="{FF2B5EF4-FFF2-40B4-BE49-F238E27FC236}">
                <a16:creationId xmlns:a16="http://schemas.microsoft.com/office/drawing/2014/main" id="{315FB1F3-1A47-6A1E-B2D2-2A254BD9A8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12B12D6-330B-3AA8-E75C-4F6C36891A50}"/>
              </a:ext>
            </a:extLst>
          </p:cNvPr>
          <p:cNvPicPr>
            <a:picLocks noChangeAspect="1"/>
          </p:cNvPicPr>
          <p:nvPr/>
        </p:nvPicPr>
        <p:blipFill>
          <a:blip r:embed="rId4"/>
          <a:stretch>
            <a:fillRect/>
          </a:stretch>
        </p:blipFill>
        <p:spPr>
          <a:xfrm>
            <a:off x="2141638" y="337392"/>
            <a:ext cx="6773762" cy="6673557"/>
          </a:xfrm>
          <a:prstGeom prst="rect">
            <a:avLst/>
          </a:prstGeom>
        </p:spPr>
      </p:pic>
      <p:sp>
        <p:nvSpPr>
          <p:cNvPr id="8" name="TextBox 7">
            <a:extLst>
              <a:ext uri="{FF2B5EF4-FFF2-40B4-BE49-F238E27FC236}">
                <a16:creationId xmlns:a16="http://schemas.microsoft.com/office/drawing/2014/main" id="{846BF8A5-99CE-1DFA-62D2-4457736EC7D5}"/>
              </a:ext>
            </a:extLst>
          </p:cNvPr>
          <p:cNvSpPr txBox="1"/>
          <p:nvPr/>
        </p:nvSpPr>
        <p:spPr>
          <a:xfrm>
            <a:off x="8429123" y="2492053"/>
            <a:ext cx="2682145" cy="646331"/>
          </a:xfrm>
          <a:prstGeom prst="rect">
            <a:avLst/>
          </a:prstGeom>
          <a:noFill/>
        </p:spPr>
        <p:txBody>
          <a:bodyPr wrap="none" rtlCol="0">
            <a:spAutoFit/>
          </a:bodyPr>
          <a:lstStyle/>
          <a:p>
            <a:r>
              <a:rPr lang="en-US" b="1" dirty="0">
                <a:solidFill>
                  <a:srgbClr val="FF0000"/>
                </a:solidFill>
              </a:rPr>
              <a:t>Estimated (dynamic)</a:t>
            </a:r>
          </a:p>
          <a:p>
            <a:r>
              <a:rPr lang="en-US" b="1" dirty="0">
                <a:solidFill>
                  <a:srgbClr val="FF0000"/>
                </a:solidFill>
              </a:rPr>
              <a:t> treatment effect</a:t>
            </a:r>
          </a:p>
        </p:txBody>
      </p:sp>
      <p:cxnSp>
        <p:nvCxnSpPr>
          <p:cNvPr id="9" name="Straight Arrow Connector 8">
            <a:extLst>
              <a:ext uri="{FF2B5EF4-FFF2-40B4-BE49-F238E27FC236}">
                <a16:creationId xmlns:a16="http://schemas.microsoft.com/office/drawing/2014/main" id="{3722BC1A-8133-77F2-3B35-274B413263C9}"/>
              </a:ext>
            </a:extLst>
          </p:cNvPr>
          <p:cNvCxnSpPr>
            <a:cxnSpLocks/>
          </p:cNvCxnSpPr>
          <p:nvPr/>
        </p:nvCxnSpPr>
        <p:spPr>
          <a:xfrm>
            <a:off x="6156918" y="2418666"/>
            <a:ext cx="0" cy="99060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6264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Inference: Are these results significant?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r>
              <a:rPr lang="en-US" sz="2400" dirty="0">
                <a:cs typeface="Times New Roman" panose="02020603050405020304" pitchFamily="18" charset="0"/>
              </a:rPr>
              <a:t>These results aren’t like others we’ve been focusing on</a:t>
            </a:r>
          </a:p>
          <a:p>
            <a:pPr lvl="1"/>
            <a:r>
              <a:rPr lang="en-US" sz="2400" dirty="0">
                <a:cs typeface="Times New Roman" panose="02020603050405020304" pitchFamily="18" charset="0"/>
              </a:rPr>
              <a:t>Where are the stars? </a:t>
            </a:r>
          </a:p>
          <a:p>
            <a:r>
              <a:rPr lang="en-US" sz="2400" dirty="0">
                <a:cs typeface="Times New Roman" panose="02020603050405020304" pitchFamily="18" charset="0"/>
              </a:rPr>
              <a:t>We can still do inference! Using </a:t>
            </a:r>
            <a:r>
              <a:rPr lang="en-US" sz="2400" b="1" dirty="0">
                <a:cs typeface="Times New Roman" panose="02020603050405020304" pitchFamily="18" charset="0"/>
              </a:rPr>
              <a:t>randomization-based inference</a:t>
            </a:r>
          </a:p>
          <a:p>
            <a:pPr lvl="1"/>
            <a:r>
              <a:rPr lang="en-US" sz="2400" dirty="0">
                <a:cs typeface="Times New Roman" panose="02020603050405020304" pitchFamily="18" charset="0"/>
              </a:rPr>
              <a:t>Relies heavily on </a:t>
            </a:r>
            <a:r>
              <a:rPr lang="en-US" sz="2400" b="1" dirty="0">
                <a:cs typeface="Times New Roman" panose="02020603050405020304" pitchFamily="18" charset="0"/>
              </a:rPr>
              <a:t>placebo tests: </a:t>
            </a:r>
            <a:r>
              <a:rPr lang="en-US" sz="2400" dirty="0">
                <a:cs typeface="Times New Roman" panose="02020603050405020304" pitchFamily="18" charset="0"/>
              </a:rPr>
              <a:t>how does estimate change if </a:t>
            </a:r>
            <a:r>
              <a:rPr lang="en-US" sz="2400" i="1" dirty="0">
                <a:cs typeface="Times New Roman" panose="02020603050405020304" pitchFamily="18" charset="0"/>
              </a:rPr>
              <a:t>I</a:t>
            </a:r>
            <a:r>
              <a:rPr lang="en-US" sz="2400" dirty="0">
                <a:cs typeface="Times New Roman" panose="02020603050405020304" pitchFamily="18" charset="0"/>
              </a:rPr>
              <a:t> introduce sampling variation?</a:t>
            </a:r>
          </a:p>
        </p:txBody>
      </p:sp>
    </p:spTree>
    <p:extLst>
      <p:ext uri="{BB962C8B-B14F-4D97-AF65-F5344CB8AC3E}">
        <p14:creationId xmlns:p14="http://schemas.microsoft.com/office/powerpoint/2010/main" val="1179963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Inference: Are these results significant?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107012"/>
            <a:ext cx="10015390" cy="5141388"/>
          </a:xfrm>
        </p:spPr>
        <p:txBody>
          <a:bodyPr>
            <a:noAutofit/>
          </a:bodyPr>
          <a:lstStyle/>
          <a:p>
            <a:r>
              <a:rPr lang="en-US" sz="2400" dirty="0">
                <a:cs typeface="Times New Roman" panose="02020603050405020304" pitchFamily="18" charset="0"/>
              </a:rPr>
              <a:t>These results aren’t like others we’ve been focusing on</a:t>
            </a:r>
          </a:p>
          <a:p>
            <a:pPr lvl="1"/>
            <a:r>
              <a:rPr lang="en-US" sz="2400" dirty="0">
                <a:cs typeface="Times New Roman" panose="02020603050405020304" pitchFamily="18" charset="0"/>
              </a:rPr>
              <a:t>Where are the stars? </a:t>
            </a:r>
          </a:p>
          <a:p>
            <a:r>
              <a:rPr lang="en-US" sz="2400" dirty="0">
                <a:cs typeface="Times New Roman" panose="02020603050405020304" pitchFamily="18" charset="0"/>
              </a:rPr>
              <a:t>We can still do inference! Using </a:t>
            </a:r>
            <a:r>
              <a:rPr lang="en-US" sz="2400" b="1" dirty="0">
                <a:cs typeface="Times New Roman" panose="02020603050405020304" pitchFamily="18" charset="0"/>
              </a:rPr>
              <a:t>randomization-based inference</a:t>
            </a:r>
          </a:p>
          <a:p>
            <a:pPr lvl="1"/>
            <a:r>
              <a:rPr lang="en-US" sz="2400" dirty="0">
                <a:cs typeface="Times New Roman" panose="02020603050405020304" pitchFamily="18" charset="0"/>
              </a:rPr>
              <a:t>Relies heavily on </a:t>
            </a:r>
            <a:r>
              <a:rPr lang="en-US" sz="2400" b="1" dirty="0">
                <a:cs typeface="Times New Roman" panose="02020603050405020304" pitchFamily="18" charset="0"/>
              </a:rPr>
              <a:t>placebo tests</a:t>
            </a:r>
            <a:r>
              <a:rPr lang="en-US" sz="2400" dirty="0">
                <a:cs typeface="Times New Roman" panose="02020603050405020304" pitchFamily="18" charset="0"/>
              </a:rPr>
              <a:t> – how does my estimate change if I introduce sampling variation? </a:t>
            </a:r>
          </a:p>
          <a:p>
            <a:pPr marL="0" indent="0">
              <a:buNone/>
            </a:pPr>
            <a:r>
              <a:rPr lang="en-US" sz="2600" dirty="0">
                <a:cs typeface="Times New Roman" panose="02020603050405020304" pitchFamily="18" charset="0"/>
              </a:rPr>
              <a:t>In the context of synthetic control: </a:t>
            </a:r>
          </a:p>
          <a:p>
            <a:pPr marL="457200" indent="-457200">
              <a:buFont typeface="+mj-lt"/>
              <a:buAutoNum type="arabicPeriod"/>
            </a:pPr>
            <a:r>
              <a:rPr lang="en-US" sz="2400" dirty="0">
                <a:cs typeface="Times New Roman" panose="02020603050405020304" pitchFamily="18" charset="0"/>
              </a:rPr>
              <a:t>Pretend that each unit in the “donor pool” is treated, compare effects</a:t>
            </a:r>
          </a:p>
          <a:p>
            <a:pPr marL="457200" indent="-457200">
              <a:buFont typeface="+mj-lt"/>
              <a:buAutoNum type="arabicPeriod"/>
            </a:pPr>
            <a:r>
              <a:rPr lang="en-US" sz="2400" dirty="0">
                <a:cs typeface="Times New Roman" panose="02020603050405020304" pitchFamily="18" charset="0"/>
              </a:rPr>
              <a:t>Vary the timing of treatment, compare effects</a:t>
            </a:r>
          </a:p>
        </p:txBody>
      </p:sp>
    </p:spTree>
    <p:extLst>
      <p:ext uri="{BB962C8B-B14F-4D97-AF65-F5344CB8AC3E}">
        <p14:creationId xmlns:p14="http://schemas.microsoft.com/office/powerpoint/2010/main" val="4260630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521ADE-0748-AF9B-C09F-DC3798152949}"/>
              </a:ext>
            </a:extLst>
          </p:cNvPr>
          <p:cNvPicPr>
            <a:picLocks noChangeAspect="1"/>
          </p:cNvPicPr>
          <p:nvPr/>
        </p:nvPicPr>
        <p:blipFill>
          <a:blip r:embed="rId3"/>
          <a:stretch>
            <a:fillRect/>
          </a:stretch>
        </p:blipFill>
        <p:spPr>
          <a:xfrm>
            <a:off x="0" y="809283"/>
            <a:ext cx="6139540" cy="6048717"/>
          </a:xfrm>
          <a:prstGeom prst="rect">
            <a:avLst/>
          </a:prstGeom>
        </p:spPr>
      </p:pic>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Inference: Are these results significant?</a:t>
            </a:r>
            <a:endParaRPr lang="en-US" sz="3600"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52ABD71A-1F86-1120-6D45-CC95CA363F36}"/>
              </a:ext>
            </a:extLst>
          </p:cNvPr>
          <p:cNvPicPr>
            <a:picLocks noGrp="1" noChangeAspect="1"/>
          </p:cNvPicPr>
          <p:nvPr>
            <p:ph idx="1"/>
          </p:nvPr>
        </p:nvPicPr>
        <p:blipFill>
          <a:blip r:embed="rId4"/>
          <a:stretch>
            <a:fillRect/>
          </a:stretch>
        </p:blipFill>
        <p:spPr>
          <a:xfrm>
            <a:off x="5896236" y="1066800"/>
            <a:ext cx="5990964" cy="5141913"/>
          </a:xfrm>
        </p:spPr>
      </p:pic>
      <p:pic>
        <p:nvPicPr>
          <p:cNvPr id="9" name="Picture 2" descr="RStudio - RStudio">
            <a:extLst>
              <a:ext uri="{FF2B5EF4-FFF2-40B4-BE49-F238E27FC236}">
                <a16:creationId xmlns:a16="http://schemas.microsoft.com/office/drawing/2014/main" id="{15685E45-71B4-4D09-1705-513E3B5FE6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88454" y="5791199"/>
            <a:ext cx="1103313" cy="1103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9853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From Figure to Test Statistic: Are the results significant?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57EBE800-37EC-4DFA-D8BB-6600B99ACEBC}"/>
              </a:ext>
            </a:extLst>
          </p:cNvPr>
          <p:cNvPicPr>
            <a:picLocks noChangeAspect="1"/>
          </p:cNvPicPr>
          <p:nvPr/>
        </p:nvPicPr>
        <p:blipFill>
          <a:blip r:embed="rId3"/>
          <a:stretch>
            <a:fillRect/>
          </a:stretch>
        </p:blipFill>
        <p:spPr>
          <a:xfrm>
            <a:off x="640466" y="962232"/>
            <a:ext cx="7863840" cy="5904381"/>
          </a:xfrm>
          <a:prstGeom prst="rect">
            <a:avLst/>
          </a:prstGeom>
        </p:spPr>
      </p:pic>
    </p:spTree>
    <p:extLst>
      <p:ext uri="{BB962C8B-B14F-4D97-AF65-F5344CB8AC3E}">
        <p14:creationId xmlns:p14="http://schemas.microsoft.com/office/powerpoint/2010/main" val="19397991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Synthetic Control in Practice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r>
              <a:rPr lang="en-US" sz="2400" dirty="0">
                <a:cs typeface="Times New Roman" panose="02020603050405020304" pitchFamily="18" charset="0"/>
              </a:rPr>
              <a:t>Relies on a </a:t>
            </a:r>
            <a:r>
              <a:rPr lang="en-US" sz="2400" b="1" dirty="0">
                <a:cs typeface="Times New Roman" panose="02020603050405020304" pitchFamily="18" charset="0"/>
              </a:rPr>
              <a:t>long pre-treatment time series </a:t>
            </a:r>
            <a:r>
              <a:rPr lang="en-US" sz="2400" dirty="0">
                <a:cs typeface="Times New Roman" panose="02020603050405020304" pitchFamily="18" charset="0"/>
              </a:rPr>
              <a:t>to establish good control</a:t>
            </a:r>
          </a:p>
          <a:p>
            <a:r>
              <a:rPr lang="en-US" sz="2400" dirty="0">
                <a:cs typeface="Times New Roman" panose="02020603050405020304" pitchFamily="18" charset="0"/>
              </a:rPr>
              <a:t>Follow guidelines in McClelland and Gault (2017)</a:t>
            </a:r>
          </a:p>
          <a:p>
            <a:r>
              <a:rPr lang="en-US" sz="2400" dirty="0">
                <a:cs typeface="Times New Roman" panose="02020603050405020304" pitchFamily="18" charset="0"/>
              </a:rPr>
              <a:t>Want solid economic argument for which donor states you include</a:t>
            </a:r>
          </a:p>
          <a:p>
            <a:pPr lvl="1"/>
            <a:r>
              <a:rPr lang="en-US" sz="2200" dirty="0">
                <a:cs typeface="Times New Roman" panose="02020603050405020304" pitchFamily="18" charset="0"/>
              </a:rPr>
              <a:t>At the least, your results should be robust to slight changes in donor pool</a:t>
            </a:r>
          </a:p>
          <a:p>
            <a:r>
              <a:rPr lang="en-US" sz="2400" dirty="0">
                <a:cs typeface="Times New Roman" panose="02020603050405020304" pitchFamily="18" charset="0"/>
              </a:rPr>
              <a:t>Current developments (augmented SC, etc.) deal with some strict requirements (fit on pre-treatment trends, etc.) </a:t>
            </a:r>
          </a:p>
          <a:p>
            <a:endParaRPr lang="en-US" sz="1050" dirty="0">
              <a:cs typeface="Times New Roman" panose="02020603050405020304" pitchFamily="18" charset="0"/>
            </a:endParaRPr>
          </a:p>
          <a:p>
            <a:pPr marL="0" indent="0">
              <a:buNone/>
            </a:pPr>
            <a:r>
              <a:rPr lang="en-US" sz="2800" dirty="0">
                <a:solidFill>
                  <a:schemeClr val="accent2">
                    <a:lumMod val="75000"/>
                  </a:schemeClr>
                </a:solidFill>
                <a:cs typeface="Times New Roman" panose="02020603050405020304" pitchFamily="18" charset="0"/>
              </a:rPr>
              <a:t>Some drawbacks of the method: </a:t>
            </a:r>
          </a:p>
          <a:p>
            <a:r>
              <a:rPr lang="en-US" sz="2400" b="0" i="0" dirty="0">
                <a:solidFill>
                  <a:srgbClr val="222222"/>
                </a:solidFill>
                <a:effectLst/>
                <a:cs typeface="Times New Roman" panose="02020603050405020304" pitchFamily="18" charset="0"/>
              </a:rPr>
              <a:t>Tends to overfit any noise in the outcome variable </a:t>
            </a:r>
          </a:p>
          <a:p>
            <a:r>
              <a:rPr lang="en-US" sz="2400" dirty="0">
                <a:solidFill>
                  <a:srgbClr val="222222"/>
                </a:solidFill>
                <a:cs typeface="Times New Roman" panose="02020603050405020304" pitchFamily="18" charset="0"/>
              </a:rPr>
              <a:t>Matching on the outcome variable – is that allowed? </a:t>
            </a:r>
          </a:p>
        </p:txBody>
      </p:sp>
    </p:spTree>
    <p:extLst>
      <p:ext uri="{BB962C8B-B14F-4D97-AF65-F5344CB8AC3E}">
        <p14:creationId xmlns:p14="http://schemas.microsoft.com/office/powerpoint/2010/main" val="39126862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91399" y="645106"/>
            <a:ext cx="3563112" cy="650294"/>
          </a:xfrm>
        </p:spPr>
        <p:txBody>
          <a:bodyPr>
            <a:normAutofit fontScale="90000"/>
          </a:bodyPr>
          <a:lstStyle/>
          <a:p>
            <a:r>
              <a:rPr lang="en-US" dirty="0">
                <a:cs typeface="Times New Roman" panose="02020603050405020304" pitchFamily="18" charset="0"/>
              </a:rPr>
              <a:t>Additional Help</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C592E84-F181-A1A0-FF67-389261A36400}"/>
              </a:ext>
            </a:extLst>
          </p:cNvPr>
          <p:cNvPicPr>
            <a:picLocks noChangeAspect="1"/>
          </p:cNvPicPr>
          <p:nvPr/>
        </p:nvPicPr>
        <p:blipFill rotWithShape="1">
          <a:blip r:embed="rId3"/>
          <a:srcRect l="2240" r="4619" b="1"/>
          <a:stretch/>
        </p:blipFill>
        <p:spPr>
          <a:xfrm>
            <a:off x="266846" y="645106"/>
            <a:ext cx="7086600" cy="5535031"/>
          </a:xfrm>
          <a:prstGeom prst="rect">
            <a:avLst/>
          </a:prstGeom>
        </p:spPr>
      </p:pic>
      <p:sp>
        <p:nvSpPr>
          <p:cNvPr id="3" name="Content Placeholder 2"/>
          <p:cNvSpPr>
            <a:spLocks noGrp="1"/>
          </p:cNvSpPr>
          <p:nvPr>
            <p:ph idx="1"/>
          </p:nvPr>
        </p:nvSpPr>
        <p:spPr>
          <a:xfrm>
            <a:off x="7391399" y="1295400"/>
            <a:ext cx="3601065" cy="4884737"/>
          </a:xfrm>
        </p:spPr>
        <p:txBody>
          <a:bodyPr>
            <a:normAutofit/>
          </a:bodyPr>
          <a:lstStyle/>
          <a:p>
            <a:r>
              <a:rPr lang="en-US" sz="2400" b="0" i="0" dirty="0">
                <a:effectLst/>
                <a:cs typeface="Times New Roman" panose="02020603050405020304" pitchFamily="18" charset="0"/>
              </a:rPr>
              <a:t>Nice </a:t>
            </a:r>
            <a:r>
              <a:rPr lang="en-US" sz="2400" b="0" i="1" dirty="0">
                <a:effectLst/>
                <a:cs typeface="Times New Roman" panose="02020603050405020304" pitchFamily="18" charset="0"/>
              </a:rPr>
              <a:t>Journal of Economic Literature </a:t>
            </a:r>
            <a:r>
              <a:rPr lang="en-US" sz="2400" b="0" dirty="0">
                <a:effectLst/>
                <a:cs typeface="Times New Roman" panose="02020603050405020304" pitchFamily="18" charset="0"/>
              </a:rPr>
              <a:t>guide</a:t>
            </a:r>
            <a:endParaRPr lang="en-US" sz="2400" b="0" i="0" dirty="0">
              <a:effectLst/>
              <a:cs typeface="Times New Roman" panose="02020603050405020304" pitchFamily="18" charset="0"/>
            </a:endParaRPr>
          </a:p>
          <a:p>
            <a:r>
              <a:rPr lang="en-US" sz="2400" dirty="0">
                <a:cs typeface="Times New Roman" panose="02020603050405020304" pitchFamily="18" charset="0"/>
              </a:rPr>
              <a:t>Video presentation: </a:t>
            </a:r>
            <a:r>
              <a:rPr lang="en-US" sz="2400" dirty="0">
                <a:cs typeface="Times New Roman" panose="02020603050405020304" pitchFamily="18" charset="0"/>
                <a:hlinkClick r:id="rId4"/>
              </a:rPr>
              <a:t>https://www.youtube.com/watch?v=nKzNp-qpE-I&amp;ab_channel=BradyNeal-CausalInference</a:t>
            </a:r>
            <a:r>
              <a:rPr lang="en-US" sz="2400" dirty="0">
                <a:cs typeface="Times New Roman" panose="02020603050405020304" pitchFamily="18" charset="0"/>
              </a:rPr>
              <a:t> </a:t>
            </a:r>
            <a:endParaRPr lang="en-US" sz="2400" b="0" i="0" dirty="0">
              <a:effectLst/>
              <a:cs typeface="Times New Roman" panose="02020603050405020304" pitchFamily="18" charset="0"/>
            </a:endParaRPr>
          </a:p>
        </p:txBody>
      </p:sp>
    </p:spTree>
    <p:extLst>
      <p:ext uri="{BB962C8B-B14F-4D97-AF65-F5344CB8AC3E}">
        <p14:creationId xmlns:p14="http://schemas.microsoft.com/office/powerpoint/2010/main" val="41482536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A16BF-43C7-2669-A83C-537A3280FBB3}"/>
              </a:ext>
            </a:extLst>
          </p:cNvPr>
          <p:cNvSpPr>
            <a:spLocks noGrp="1"/>
          </p:cNvSpPr>
          <p:nvPr>
            <p:ph type="title"/>
          </p:nvPr>
        </p:nvSpPr>
        <p:spPr/>
        <p:txBody>
          <a:bodyPr/>
          <a:lstStyle/>
          <a:p>
            <a:r>
              <a:rPr lang="en-US" dirty="0">
                <a:latin typeface="Aptos" panose="020B0004020202020204" pitchFamily="34" charset="0"/>
              </a:rPr>
              <a:t>Mini Referee Report	</a:t>
            </a:r>
          </a:p>
        </p:txBody>
      </p:sp>
      <p:sp>
        <p:nvSpPr>
          <p:cNvPr id="3" name="Content Placeholder 2">
            <a:extLst>
              <a:ext uri="{FF2B5EF4-FFF2-40B4-BE49-F238E27FC236}">
                <a16:creationId xmlns:a16="http://schemas.microsoft.com/office/drawing/2014/main" id="{0F7900C9-79D5-0726-E388-4308BE77BA59}"/>
              </a:ext>
            </a:extLst>
          </p:cNvPr>
          <p:cNvSpPr>
            <a:spLocks noGrp="1"/>
          </p:cNvSpPr>
          <p:nvPr>
            <p:ph idx="1"/>
          </p:nvPr>
        </p:nvSpPr>
        <p:spPr/>
        <p:txBody>
          <a:bodyPr>
            <a:normAutofit/>
          </a:bodyPr>
          <a:lstStyle/>
          <a:p>
            <a:r>
              <a:rPr lang="en-US" sz="2400" dirty="0">
                <a:latin typeface="Aptos" panose="020B0004020202020204" pitchFamily="34" charset="0"/>
                <a:cs typeface="Aparajita" panose="02020603050405020304" pitchFamily="18" charset="0"/>
              </a:rPr>
              <a:t>What do you like about the paper? </a:t>
            </a:r>
          </a:p>
          <a:p>
            <a:r>
              <a:rPr lang="en-US" sz="2400" dirty="0">
                <a:latin typeface="Aptos" panose="020B0004020202020204" pitchFamily="34" charset="0"/>
                <a:cs typeface="Aparajita" panose="02020603050405020304" pitchFamily="18" charset="0"/>
              </a:rPr>
              <a:t>What about the field experiments? Value added? </a:t>
            </a:r>
          </a:p>
          <a:p>
            <a:r>
              <a:rPr lang="en-US" sz="2400" dirty="0">
                <a:latin typeface="Aptos" panose="020B0004020202020204" pitchFamily="34" charset="0"/>
                <a:cs typeface="Aparajita" panose="02020603050405020304" pitchFamily="18" charset="0"/>
              </a:rPr>
              <a:t>Major concerns, etc.?</a:t>
            </a:r>
          </a:p>
          <a:p>
            <a:r>
              <a:rPr lang="en-US" sz="2400" dirty="0">
                <a:latin typeface="Aptos" panose="020B0004020202020204" pitchFamily="34" charset="0"/>
                <a:cs typeface="Aparajita" panose="02020603050405020304" pitchFamily="18" charset="0"/>
              </a:rPr>
              <a:t>This hasn’t been published – why do you think that is? </a:t>
            </a:r>
          </a:p>
        </p:txBody>
      </p:sp>
    </p:spTree>
    <p:extLst>
      <p:ext uri="{BB962C8B-B14F-4D97-AF65-F5344CB8AC3E}">
        <p14:creationId xmlns:p14="http://schemas.microsoft.com/office/powerpoint/2010/main" val="3741857696"/>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6464</TotalTime>
  <Words>4102</Words>
  <Application>Microsoft Office PowerPoint</Application>
  <PresentationFormat>Widescreen</PresentationFormat>
  <Paragraphs>367</Paragraphs>
  <Slides>48</Slides>
  <Notes>46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48</vt:i4>
      </vt:variant>
    </vt:vector>
  </HeadingPairs>
  <TitlesOfParts>
    <vt:vector size="60" baseType="lpstr">
      <vt:lpstr>Aptos</vt:lpstr>
      <vt:lpstr>Aptos Narrow</vt:lpstr>
      <vt:lpstr>Arial</vt:lpstr>
      <vt:lpstr>Calibri</vt:lpstr>
      <vt:lpstr>Cambria Math</vt:lpstr>
      <vt:lpstr>Century Schoolbook</vt:lpstr>
      <vt:lpstr>Lato</vt:lpstr>
      <vt:lpstr>Source Sans Pro</vt:lpstr>
      <vt:lpstr>Symbol</vt:lpstr>
      <vt:lpstr>Times New Roman</vt:lpstr>
      <vt:lpstr>Wingdings 2</vt:lpstr>
      <vt:lpstr>View</vt:lpstr>
      <vt:lpstr>Quant Methods in HSR I </vt:lpstr>
      <vt:lpstr>Latest Research Designs Used in Working Papers</vt:lpstr>
      <vt:lpstr>Latest Research Designs Used in Working Papers</vt:lpstr>
      <vt:lpstr>Last Time: Differences-in-differences </vt:lpstr>
      <vt:lpstr>DID in Graph Form</vt:lpstr>
      <vt:lpstr>Differences- in- Differences- in- Differences   (oh my!)</vt:lpstr>
      <vt:lpstr>Leveraging Policy Characteristics Can Improve your Estimates</vt:lpstr>
      <vt:lpstr>What does a DDD look like in practice?</vt:lpstr>
      <vt:lpstr>What does a DDD look like in practice?</vt:lpstr>
      <vt:lpstr>What does a DDD look like in practice?</vt:lpstr>
      <vt:lpstr>What to Know When Implementing a DDD</vt:lpstr>
      <vt:lpstr>Alternative Approaches</vt:lpstr>
      <vt:lpstr>What if I don’t have a good control group (part 1)?</vt:lpstr>
      <vt:lpstr>What if I don’t have a good control group (part 1)?</vt:lpstr>
      <vt:lpstr>Placebo control groups [add Fadlon and Nielsen here]</vt:lpstr>
      <vt:lpstr>What if I don’t have a good control group (part 1)?</vt:lpstr>
      <vt:lpstr>Conclusion</vt:lpstr>
      <vt:lpstr>Conclusion:</vt:lpstr>
      <vt:lpstr>Conclusion:</vt:lpstr>
      <vt:lpstr>Synthetic Controls </vt:lpstr>
      <vt:lpstr>What are we DIDing? </vt:lpstr>
      <vt:lpstr>What are we DIDing? </vt:lpstr>
      <vt:lpstr>Example: Organ Donation Rates</vt:lpstr>
      <vt:lpstr>Intuition: Building a Synthetic CA</vt:lpstr>
      <vt:lpstr>Synthetic Control </vt:lpstr>
      <vt:lpstr>Case Study </vt:lpstr>
      <vt:lpstr>What’s the research question? What’s the identification?</vt:lpstr>
      <vt:lpstr>Example: Infant Mortality in Central America/Carribean</vt:lpstr>
      <vt:lpstr>Example: Infant Mortality in Central America/Caribbean</vt:lpstr>
      <vt:lpstr>So how do we construct Synthetic Cuba?</vt:lpstr>
      <vt:lpstr>So how do we construct Synthetic Cuba?</vt:lpstr>
      <vt:lpstr>Step 1: Selection of “Donor Pool” &amp; Matching Variables</vt:lpstr>
      <vt:lpstr>Step 1 Example: Case Study </vt:lpstr>
      <vt:lpstr>Step 1 Example: Case Study </vt:lpstr>
      <vt:lpstr>Step 2: Construction of Synthetic Cuba</vt:lpstr>
      <vt:lpstr>The Convex Hull</vt:lpstr>
      <vt:lpstr>Step 2: Construction of Synthetic Cuba</vt:lpstr>
      <vt:lpstr>Step 2: Construction of  Synthetic Cuba</vt:lpstr>
      <vt:lpstr>Step 2: Construction of Synthetic Cuba</vt:lpstr>
      <vt:lpstr>Results: OH vs. Synthetic OH</vt:lpstr>
      <vt:lpstr>Results: OH vs. Synthetic OH</vt:lpstr>
      <vt:lpstr>Inference: Are these results significant?</vt:lpstr>
      <vt:lpstr>Inference: Are these results significant?</vt:lpstr>
      <vt:lpstr>Inference: Are these results significant?</vt:lpstr>
      <vt:lpstr>From Figure to Test Statistic: Are the results significant?</vt:lpstr>
      <vt:lpstr>Synthetic Control in Practice</vt:lpstr>
      <vt:lpstr>Additional Help</vt:lpstr>
      <vt:lpstr>Mini Referee Report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603</cp:revision>
  <dcterms:created xsi:type="dcterms:W3CDTF">2011-01-10T00:42:42Z</dcterms:created>
  <dcterms:modified xsi:type="dcterms:W3CDTF">2026-07-22T17:32:53Z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