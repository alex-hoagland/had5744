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0" r:id="rId2"/>
    <p:sldMasterId id="2147483762" r:id="rId3"/>
  </p:sldMasterIdLst>
  <p:notesMasterIdLst>
    <p:notesMasterId r:id="rId33"/>
  </p:notesMasterIdLst>
  <p:sldIdLst>
    <p:sldId id="256" r:id="rId4"/>
    <p:sldId id="634" r:id="rId5"/>
    <p:sldId id="672" r:id="rId6"/>
    <p:sldId id="654" r:id="rId7"/>
    <p:sldId id="660" r:id="rId8"/>
    <p:sldId id="664" r:id="rId9"/>
    <p:sldId id="666" r:id="rId10"/>
    <p:sldId id="667" r:id="rId11"/>
    <p:sldId id="668" r:id="rId12"/>
    <p:sldId id="5050" r:id="rId13"/>
    <p:sldId id="5051" r:id="rId14"/>
    <p:sldId id="5052" r:id="rId15"/>
    <p:sldId id="5053" r:id="rId16"/>
    <p:sldId id="5139" r:id="rId17"/>
    <p:sldId id="5141" r:id="rId18"/>
    <p:sldId id="5092" r:id="rId19"/>
    <p:sldId id="662" r:id="rId20"/>
    <p:sldId id="663" r:id="rId21"/>
    <p:sldId id="5142" r:id="rId22"/>
    <p:sldId id="5143" r:id="rId23"/>
    <p:sldId id="5144" r:id="rId24"/>
    <p:sldId id="5145" r:id="rId25"/>
    <p:sldId id="276" r:id="rId26"/>
    <p:sldId id="278" r:id="rId27"/>
    <p:sldId id="277" r:id="rId28"/>
    <p:sldId id="279" r:id="rId29"/>
    <p:sldId id="271" r:id="rId30"/>
    <p:sldId id="284" r:id="rId31"/>
    <p:sldId id="273" r:id="rId32"/>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82479" autoAdjust="0"/>
  </p:normalViewPr>
  <p:slideViewPr>
    <p:cSldViewPr>
      <p:cViewPr varScale="1">
        <p:scale>
          <a:sx n="52" d="100"/>
          <a:sy n="52" d="100"/>
        </p:scale>
        <p:origin x="1204" y="3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s>
</file>

<file path=ppt/diagrams/_rels/data4.xml.rels><?xml version='1.0' encoding='UTF-8' standalone='yes'?>
<Relationships xmlns="http://schemas.openxmlformats.org/package/2006/relationships"><Relationship Id="rId1" Type="http://schemas.openxmlformats.org/officeDocument/2006/relationships/image" Target="../media/image26.svg"/><Relationship Id="rId2" Type="http://schemas.openxmlformats.org/officeDocument/2006/relationships/image" Target="../media/image27.svg"/><Relationship Id="rId3" Type="http://schemas.openxmlformats.org/officeDocument/2006/relationships/image" Target="../media/image28.svg"/><Relationship Id="rId4" Type="http://schemas.openxmlformats.org/officeDocument/2006/relationships/image" Target="../media/image29.svg"/><Relationship Id="rId5" Type="http://schemas.openxmlformats.org/officeDocument/2006/relationships/image" Target="../media/image30.svg"/></Relationships>
</file>

<file path=ppt/diagrams/_rels/drawing3.xml.rels><?xml version='1.0' encoding='UTF-8' standalone='yes'?>
<Relationships xmlns="http://schemas.openxmlformats.org/package/2006/relationships"><Relationship Id="rId1" Type="http://schemas.openxmlformats.org/officeDocument/2006/relationships/image" Target="../media/image17.svg"/><Relationship Id="rId2" Type="http://schemas.openxmlformats.org/officeDocument/2006/relationships/image" Target="../media/image18.svg"/><Relationship Id="rId3" Type="http://schemas.openxmlformats.org/officeDocument/2006/relationships/image" Target="../media/image19.svg"/></Relationships>
</file>

<file path=ppt/diagrams/_rels/drawing4.xml.rels><?xml version='1.0' encoding='UTF-8' standalone='yes'?>
<Relationships xmlns="http://schemas.openxmlformats.org/package/2006/relationships"><Relationship Id="rId1" Type="http://schemas.openxmlformats.org/officeDocument/2006/relationships/image" Target="../media/image26.svg"/><Relationship Id="rId2" Type="http://schemas.openxmlformats.org/officeDocument/2006/relationships/image" Target="../media/image27.svg"/><Relationship Id="rId3" Type="http://schemas.openxmlformats.org/officeDocument/2006/relationships/image" Target="../media/image28.svg"/><Relationship Id="rId4" Type="http://schemas.openxmlformats.org/officeDocument/2006/relationships/image" Target="../media/image29.svg"/><Relationship Id="rId5"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815CA3-0CEB-450E-BB11-2CFF4036A75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1129AD4-905B-43D9-9282-F2E2D343AF42}">
      <dgm:prSet custT="1"/>
      <dgm:spPr/>
      <dgm:t>
        <a:bodyPr/>
        <a:lstStyle/>
        <a:p>
          <a:r>
            <a:rPr lang="en-US" sz="3500" b="1" dirty="0"/>
            <a:t>You don’t! </a:t>
          </a:r>
          <a:endParaRPr lang="en-US" sz="3500" dirty="0"/>
        </a:p>
      </dgm:t>
    </dgm:pt>
    <dgm:pt modelId="{AC8F0986-A936-4256-BC1B-D6B0617C0402}" type="parTrans" cxnId="{CCC8BCA5-355D-4328-B0FB-44D2C922FC35}">
      <dgm:prSet/>
      <dgm:spPr/>
      <dgm:t>
        <a:bodyPr/>
        <a:lstStyle/>
        <a:p>
          <a:endParaRPr lang="en-US"/>
        </a:p>
      </dgm:t>
    </dgm:pt>
    <dgm:pt modelId="{A9406C7B-C480-4C9D-8DA2-62B06CBF50DB}" type="sibTrans" cxnId="{CCC8BCA5-355D-4328-B0FB-44D2C922FC35}">
      <dgm:prSet/>
      <dgm:spPr/>
      <dgm:t>
        <a:bodyPr/>
        <a:lstStyle/>
        <a:p>
          <a:endParaRPr lang="en-US"/>
        </a:p>
      </dgm:t>
    </dgm:pt>
    <dgm:pt modelId="{132F8411-38EE-41D2-B335-2FA4F8F5A330}">
      <dgm:prSet custT="1"/>
      <dgm:spPr/>
      <dgm:t>
        <a:bodyPr/>
        <a:lstStyle/>
        <a:p>
          <a:r>
            <a:rPr lang="en-US" sz="2600" dirty="0"/>
            <a:t>There are no perfect research designs, everything is a tradeoff </a:t>
          </a:r>
        </a:p>
      </dgm:t>
    </dgm:pt>
    <dgm:pt modelId="{AA3BB03D-FF3F-433D-96CA-B1C216199D8C}" type="parTrans" cxnId="{9A488843-3B66-441B-A2AD-025707408E86}">
      <dgm:prSet/>
      <dgm:spPr/>
      <dgm:t>
        <a:bodyPr/>
        <a:lstStyle/>
        <a:p>
          <a:endParaRPr lang="en-US"/>
        </a:p>
      </dgm:t>
    </dgm:pt>
    <dgm:pt modelId="{EE8CFA60-7665-4AEA-B6F8-8B1117F7DBAC}" type="sibTrans" cxnId="{9A488843-3B66-441B-A2AD-025707408E86}">
      <dgm:prSet/>
      <dgm:spPr/>
      <dgm:t>
        <a:bodyPr/>
        <a:lstStyle/>
        <a:p>
          <a:endParaRPr lang="en-US"/>
        </a:p>
      </dgm:t>
    </dgm:pt>
    <dgm:pt modelId="{CAB375E1-4CFF-4D4C-A85A-A8A8FEADB28B}">
      <dgm:prSet custT="1"/>
      <dgm:spPr/>
      <dgm:t>
        <a:bodyPr/>
        <a:lstStyle/>
        <a:p>
          <a:r>
            <a:rPr lang="en-US" sz="2600" dirty="0"/>
            <a:t>Example: running an RCT vs. using quasi-experimental data to investigate vaccine takeup/effectiveness</a:t>
          </a:r>
        </a:p>
      </dgm:t>
    </dgm:pt>
    <dgm:pt modelId="{41F3E2B5-2568-4510-AD96-86B076678998}" type="parTrans" cxnId="{A5A3081B-45E4-4E4B-96ED-62C5F175CDD4}">
      <dgm:prSet/>
      <dgm:spPr/>
      <dgm:t>
        <a:bodyPr/>
        <a:lstStyle/>
        <a:p>
          <a:endParaRPr lang="en-US"/>
        </a:p>
      </dgm:t>
    </dgm:pt>
    <dgm:pt modelId="{CF61B3EC-1664-4380-98F5-705F24214D5B}" type="sibTrans" cxnId="{A5A3081B-45E4-4E4B-96ED-62C5F175CDD4}">
      <dgm:prSet/>
      <dgm:spPr/>
      <dgm:t>
        <a:bodyPr/>
        <a:lstStyle/>
        <a:p>
          <a:endParaRPr lang="en-US"/>
        </a:p>
      </dgm:t>
    </dgm:pt>
    <dgm:pt modelId="{1D7E2400-2393-4C07-9A30-FAA1AA1BA1AA}" type="pres">
      <dgm:prSet presAssocID="{46815CA3-0CEB-450E-BB11-2CFF4036A75F}" presName="linear" presStyleCnt="0">
        <dgm:presLayoutVars>
          <dgm:animLvl val="lvl"/>
          <dgm:resizeHandles val="exact"/>
        </dgm:presLayoutVars>
      </dgm:prSet>
      <dgm:spPr/>
    </dgm:pt>
    <dgm:pt modelId="{C9A18400-7AEF-460E-919B-C21E87C1900D}" type="pres">
      <dgm:prSet presAssocID="{71129AD4-905B-43D9-9282-F2E2D343AF42}" presName="parentText" presStyleLbl="node1" presStyleIdx="0" presStyleCnt="1">
        <dgm:presLayoutVars>
          <dgm:chMax val="0"/>
          <dgm:bulletEnabled val="1"/>
        </dgm:presLayoutVars>
      </dgm:prSet>
      <dgm:spPr/>
    </dgm:pt>
    <dgm:pt modelId="{DD8C76F3-8C1C-4F57-8252-68AFEEF6C265}" type="pres">
      <dgm:prSet presAssocID="{71129AD4-905B-43D9-9282-F2E2D343AF42}" presName="childText" presStyleLbl="revTx" presStyleIdx="0" presStyleCnt="1">
        <dgm:presLayoutVars>
          <dgm:bulletEnabled val="1"/>
        </dgm:presLayoutVars>
      </dgm:prSet>
      <dgm:spPr/>
    </dgm:pt>
  </dgm:ptLst>
  <dgm:cxnLst>
    <dgm:cxn modelId="{A5A3081B-45E4-4E4B-96ED-62C5F175CDD4}" srcId="{71129AD4-905B-43D9-9282-F2E2D343AF42}" destId="{CAB375E1-4CFF-4D4C-A85A-A8A8FEADB28B}" srcOrd="1" destOrd="0" parTransId="{41F3E2B5-2568-4510-AD96-86B076678998}" sibTransId="{CF61B3EC-1664-4380-98F5-705F24214D5B}"/>
    <dgm:cxn modelId="{8352F65D-E4A3-4A2D-B1A0-3E1E436CE861}" type="presOf" srcId="{132F8411-38EE-41D2-B335-2FA4F8F5A330}" destId="{DD8C76F3-8C1C-4F57-8252-68AFEEF6C265}" srcOrd="0" destOrd="0" presId="urn:microsoft.com/office/officeart/2005/8/layout/vList2"/>
    <dgm:cxn modelId="{9A488843-3B66-441B-A2AD-025707408E86}" srcId="{71129AD4-905B-43D9-9282-F2E2D343AF42}" destId="{132F8411-38EE-41D2-B335-2FA4F8F5A330}" srcOrd="0" destOrd="0" parTransId="{AA3BB03D-FF3F-433D-96CA-B1C216199D8C}" sibTransId="{EE8CFA60-7665-4AEA-B6F8-8B1117F7DBAC}"/>
    <dgm:cxn modelId="{60E1706F-F363-474F-8D07-4B1A95788DA1}" type="presOf" srcId="{CAB375E1-4CFF-4D4C-A85A-A8A8FEADB28B}" destId="{DD8C76F3-8C1C-4F57-8252-68AFEEF6C265}" srcOrd="0" destOrd="1" presId="urn:microsoft.com/office/officeart/2005/8/layout/vList2"/>
    <dgm:cxn modelId="{CCC8BCA5-355D-4328-B0FB-44D2C922FC35}" srcId="{46815CA3-0CEB-450E-BB11-2CFF4036A75F}" destId="{71129AD4-905B-43D9-9282-F2E2D343AF42}" srcOrd="0" destOrd="0" parTransId="{AC8F0986-A936-4256-BC1B-D6B0617C0402}" sibTransId="{A9406C7B-C480-4C9D-8DA2-62B06CBF50DB}"/>
    <dgm:cxn modelId="{19B48FBB-773D-4F44-8B39-2E5B4A4A44F4}" type="presOf" srcId="{46815CA3-0CEB-450E-BB11-2CFF4036A75F}" destId="{1D7E2400-2393-4C07-9A30-FAA1AA1BA1AA}" srcOrd="0" destOrd="0" presId="urn:microsoft.com/office/officeart/2005/8/layout/vList2"/>
    <dgm:cxn modelId="{6838B0F3-5E0E-4662-9379-F4B5760D0A0E}" type="presOf" srcId="{71129AD4-905B-43D9-9282-F2E2D343AF42}" destId="{C9A18400-7AEF-460E-919B-C21E87C1900D}" srcOrd="0" destOrd="0" presId="urn:microsoft.com/office/officeart/2005/8/layout/vList2"/>
    <dgm:cxn modelId="{B2EC4D37-344E-4770-BDB8-DB6B73968AD6}" type="presParOf" srcId="{1D7E2400-2393-4C07-9A30-FAA1AA1BA1AA}" destId="{C9A18400-7AEF-460E-919B-C21E87C1900D}" srcOrd="0" destOrd="0" presId="urn:microsoft.com/office/officeart/2005/8/layout/vList2"/>
    <dgm:cxn modelId="{BC2EF98A-4812-4B1C-B238-7595F9E10E3E}" type="presParOf" srcId="{1D7E2400-2393-4C07-9A30-FAA1AA1BA1AA}" destId="{DD8C76F3-8C1C-4F57-8252-68AFEEF6C265}"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E6FF26-C5AB-46F6-953A-AF9ECB564B9E}" type="doc">
      <dgm:prSet loTypeId="urn:microsoft.com/office/officeart/2005/8/layout/process5" loCatId="process" qsTypeId="urn:microsoft.com/office/officeart/2005/8/quickstyle/simple1" qsCatId="simple" csTypeId="urn:microsoft.com/office/officeart/2005/8/colors/colorful5" csCatId="colorful"/>
      <dgm:spPr/>
      <dgm:t>
        <a:bodyPr/>
        <a:lstStyle/>
        <a:p>
          <a:endParaRPr lang="en-US"/>
        </a:p>
      </dgm:t>
    </dgm:pt>
    <dgm:pt modelId="{CB08E51F-7698-4662-B7F9-9F86FBA9A756}">
      <dgm:prSet/>
      <dgm:spPr/>
      <dgm:t>
        <a:bodyPr/>
        <a:lstStyle/>
        <a:p>
          <a:r>
            <a:rPr lang="en-US" b="1"/>
            <a:t>Your research design helps you be clear about: </a:t>
          </a:r>
          <a:endParaRPr lang="en-US"/>
        </a:p>
      </dgm:t>
    </dgm:pt>
    <dgm:pt modelId="{AC3E989D-5432-4530-A4F9-1FA1DD6BBA7E}" type="parTrans" cxnId="{3060B0E9-EFC0-4E31-95CF-0C5B5D6DFA20}">
      <dgm:prSet/>
      <dgm:spPr/>
      <dgm:t>
        <a:bodyPr/>
        <a:lstStyle/>
        <a:p>
          <a:endParaRPr lang="en-US"/>
        </a:p>
      </dgm:t>
    </dgm:pt>
    <dgm:pt modelId="{53DB1BAD-C4C9-4C3B-B64D-AE129423C7F2}" type="sibTrans" cxnId="{3060B0E9-EFC0-4E31-95CF-0C5B5D6DFA20}">
      <dgm:prSet/>
      <dgm:spPr/>
      <dgm:t>
        <a:bodyPr/>
        <a:lstStyle/>
        <a:p>
          <a:endParaRPr lang="en-US"/>
        </a:p>
      </dgm:t>
    </dgm:pt>
    <dgm:pt modelId="{54A8E0B0-5A49-4068-B53E-697D6E3C7386}">
      <dgm:prSet/>
      <dgm:spPr/>
      <dgm:t>
        <a:bodyPr/>
        <a:lstStyle/>
        <a:p>
          <a:r>
            <a:rPr lang="en-US"/>
            <a:t>Your estimand (what parameter am I trying to recover)? </a:t>
          </a:r>
        </a:p>
      </dgm:t>
    </dgm:pt>
    <dgm:pt modelId="{139BD342-12D0-4BA6-BB3D-059AC5A314FA}" type="parTrans" cxnId="{B7DCAB8C-2614-4D3D-A590-540B283676BA}">
      <dgm:prSet/>
      <dgm:spPr/>
      <dgm:t>
        <a:bodyPr/>
        <a:lstStyle/>
        <a:p>
          <a:endParaRPr lang="en-US"/>
        </a:p>
      </dgm:t>
    </dgm:pt>
    <dgm:pt modelId="{A6CFEB44-8546-4099-8862-12BEE59D2EF8}" type="sibTrans" cxnId="{B7DCAB8C-2614-4D3D-A590-540B283676BA}">
      <dgm:prSet/>
      <dgm:spPr/>
      <dgm:t>
        <a:bodyPr/>
        <a:lstStyle/>
        <a:p>
          <a:endParaRPr lang="en-US"/>
        </a:p>
      </dgm:t>
    </dgm:pt>
    <dgm:pt modelId="{8A0E4A40-F514-4EB6-B6E1-41E0EF1BA4C4}">
      <dgm:prSet/>
      <dgm:spPr/>
      <dgm:t>
        <a:bodyPr/>
        <a:lstStyle/>
        <a:p>
          <a:r>
            <a:rPr lang="en-US"/>
            <a:t>Your assumptions (what am I already seeing about the data)?</a:t>
          </a:r>
        </a:p>
      </dgm:t>
    </dgm:pt>
    <dgm:pt modelId="{908C954D-27AA-4E6B-AF38-F70C74D9FC46}" type="parTrans" cxnId="{D816E990-523D-4B80-BC90-812218948317}">
      <dgm:prSet/>
      <dgm:spPr/>
      <dgm:t>
        <a:bodyPr/>
        <a:lstStyle/>
        <a:p>
          <a:endParaRPr lang="en-US"/>
        </a:p>
      </dgm:t>
    </dgm:pt>
    <dgm:pt modelId="{09B70D1E-6C4C-4BE2-AC4E-F67823258AF1}" type="sibTrans" cxnId="{D816E990-523D-4B80-BC90-812218948317}">
      <dgm:prSet/>
      <dgm:spPr/>
      <dgm:t>
        <a:bodyPr/>
        <a:lstStyle/>
        <a:p>
          <a:endParaRPr lang="en-US"/>
        </a:p>
      </dgm:t>
    </dgm:pt>
    <dgm:pt modelId="{4D537AA9-BD89-4A6B-83FF-05171E9998CD}">
      <dgm:prSet/>
      <dgm:spPr/>
      <dgm:t>
        <a:bodyPr/>
        <a:lstStyle/>
        <a:p>
          <a:r>
            <a:rPr lang="en-US"/>
            <a:t>Your policy relevance (where will my results be useful, and where won’t they)?</a:t>
          </a:r>
        </a:p>
      </dgm:t>
    </dgm:pt>
    <dgm:pt modelId="{90E56430-AEB9-4642-A05B-97D1E2B0FB45}" type="parTrans" cxnId="{CBE5CA30-6821-4180-8748-9E19A7D39667}">
      <dgm:prSet/>
      <dgm:spPr/>
      <dgm:t>
        <a:bodyPr/>
        <a:lstStyle/>
        <a:p>
          <a:endParaRPr lang="en-US"/>
        </a:p>
      </dgm:t>
    </dgm:pt>
    <dgm:pt modelId="{5AB4876F-1E9F-497F-8702-29894FF392A9}" type="sibTrans" cxnId="{CBE5CA30-6821-4180-8748-9E19A7D39667}">
      <dgm:prSet/>
      <dgm:spPr/>
      <dgm:t>
        <a:bodyPr/>
        <a:lstStyle/>
        <a:p>
          <a:endParaRPr lang="en-US"/>
        </a:p>
      </dgm:t>
    </dgm:pt>
    <dgm:pt modelId="{2FF0B6EB-886A-48FA-ABC4-99515675B1E2}" type="pres">
      <dgm:prSet presAssocID="{E3E6FF26-C5AB-46F6-953A-AF9ECB564B9E}" presName="diagram" presStyleCnt="0">
        <dgm:presLayoutVars>
          <dgm:dir/>
          <dgm:resizeHandles val="exact"/>
        </dgm:presLayoutVars>
      </dgm:prSet>
      <dgm:spPr/>
    </dgm:pt>
    <dgm:pt modelId="{CB03F43D-E790-4990-A0DB-958FBE961E5B}" type="pres">
      <dgm:prSet presAssocID="{CB08E51F-7698-4662-B7F9-9F86FBA9A756}" presName="node" presStyleLbl="node1" presStyleIdx="0" presStyleCnt="1">
        <dgm:presLayoutVars>
          <dgm:bulletEnabled val="1"/>
        </dgm:presLayoutVars>
      </dgm:prSet>
      <dgm:spPr/>
    </dgm:pt>
  </dgm:ptLst>
  <dgm:cxnLst>
    <dgm:cxn modelId="{CBE5CA30-6821-4180-8748-9E19A7D39667}" srcId="{CB08E51F-7698-4662-B7F9-9F86FBA9A756}" destId="{4D537AA9-BD89-4A6B-83FF-05171E9998CD}" srcOrd="2" destOrd="0" parTransId="{90E56430-AEB9-4642-A05B-97D1E2B0FB45}" sibTransId="{5AB4876F-1E9F-497F-8702-29894FF392A9}"/>
    <dgm:cxn modelId="{BD05E53C-A63E-4D3F-BFAC-7807B984D514}" type="presOf" srcId="{8A0E4A40-F514-4EB6-B6E1-41E0EF1BA4C4}" destId="{CB03F43D-E790-4990-A0DB-958FBE961E5B}" srcOrd="0" destOrd="2" presId="urn:microsoft.com/office/officeart/2005/8/layout/process5"/>
    <dgm:cxn modelId="{B7DCAB8C-2614-4D3D-A590-540B283676BA}" srcId="{CB08E51F-7698-4662-B7F9-9F86FBA9A756}" destId="{54A8E0B0-5A49-4068-B53E-697D6E3C7386}" srcOrd="0" destOrd="0" parTransId="{139BD342-12D0-4BA6-BB3D-059AC5A314FA}" sibTransId="{A6CFEB44-8546-4099-8862-12BEE59D2EF8}"/>
    <dgm:cxn modelId="{D816E990-523D-4B80-BC90-812218948317}" srcId="{CB08E51F-7698-4662-B7F9-9F86FBA9A756}" destId="{8A0E4A40-F514-4EB6-B6E1-41E0EF1BA4C4}" srcOrd="1" destOrd="0" parTransId="{908C954D-27AA-4E6B-AF38-F70C74D9FC46}" sibTransId="{09B70D1E-6C4C-4BE2-AC4E-F67823258AF1}"/>
    <dgm:cxn modelId="{51693693-E6A7-4C44-9B5D-8B9C46E93425}" type="presOf" srcId="{CB08E51F-7698-4662-B7F9-9F86FBA9A756}" destId="{CB03F43D-E790-4990-A0DB-958FBE961E5B}" srcOrd="0" destOrd="0" presId="urn:microsoft.com/office/officeart/2005/8/layout/process5"/>
    <dgm:cxn modelId="{FE5A44A4-DF97-4D59-8105-44C1763CB44D}" type="presOf" srcId="{4D537AA9-BD89-4A6B-83FF-05171E9998CD}" destId="{CB03F43D-E790-4990-A0DB-958FBE961E5B}" srcOrd="0" destOrd="3" presId="urn:microsoft.com/office/officeart/2005/8/layout/process5"/>
    <dgm:cxn modelId="{06A4AFCE-2867-4059-80CC-B3BDF49BAC46}" type="presOf" srcId="{E3E6FF26-C5AB-46F6-953A-AF9ECB564B9E}" destId="{2FF0B6EB-886A-48FA-ABC4-99515675B1E2}" srcOrd="0" destOrd="0" presId="urn:microsoft.com/office/officeart/2005/8/layout/process5"/>
    <dgm:cxn modelId="{3060B0E9-EFC0-4E31-95CF-0C5B5D6DFA20}" srcId="{E3E6FF26-C5AB-46F6-953A-AF9ECB564B9E}" destId="{CB08E51F-7698-4662-B7F9-9F86FBA9A756}" srcOrd="0" destOrd="0" parTransId="{AC3E989D-5432-4530-A4F9-1FA1DD6BBA7E}" sibTransId="{53DB1BAD-C4C9-4C3B-B64D-AE129423C7F2}"/>
    <dgm:cxn modelId="{608202FD-2171-4647-870F-14F3F393E131}" type="presOf" srcId="{54A8E0B0-5A49-4068-B53E-697D6E3C7386}" destId="{CB03F43D-E790-4990-A0DB-958FBE961E5B}" srcOrd="0" destOrd="1" presId="urn:microsoft.com/office/officeart/2005/8/layout/process5"/>
    <dgm:cxn modelId="{BAB57116-D37F-4C27-9116-832495E1C267}" type="presParOf" srcId="{2FF0B6EB-886A-48FA-ABC4-99515675B1E2}" destId="{CB03F43D-E790-4990-A0DB-958FBE961E5B}"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EF04AEB-63AB-416E-812B-F347A9546E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4DCC8DC-FFB5-4C85-B734-FCAF95AB3FDE}">
      <dgm:prSet/>
      <dgm:spPr/>
      <dgm:t>
        <a:bodyPr/>
        <a:lstStyle/>
        <a:p>
          <a:r>
            <a:rPr lang="en-US"/>
            <a:t>Quantitative research is all about identifying a </a:t>
          </a:r>
          <a:r>
            <a:rPr lang="en-US" b="1"/>
            <a:t>data generating process</a:t>
          </a:r>
          <a:endParaRPr lang="en-US"/>
        </a:p>
      </dgm:t>
    </dgm:pt>
    <dgm:pt modelId="{84B1A11C-980C-4F89-B5F4-30D03B2F9931}" type="parTrans" cxnId="{7F81353F-1D91-4F7D-B9A6-4C3988596F8C}">
      <dgm:prSet/>
      <dgm:spPr/>
      <dgm:t>
        <a:bodyPr/>
        <a:lstStyle/>
        <a:p>
          <a:endParaRPr lang="en-US"/>
        </a:p>
      </dgm:t>
    </dgm:pt>
    <dgm:pt modelId="{4E151784-246B-4C52-8B2A-425C2E30EF44}" type="sibTrans" cxnId="{7F81353F-1D91-4F7D-B9A6-4C3988596F8C}">
      <dgm:prSet/>
      <dgm:spPr/>
      <dgm:t>
        <a:bodyPr/>
        <a:lstStyle/>
        <a:p>
          <a:endParaRPr lang="en-US"/>
        </a:p>
      </dgm:t>
    </dgm:pt>
    <dgm:pt modelId="{3725AEC9-44C2-4502-9C92-99065C5A60AC}">
      <dgm:prSet/>
      <dgm:spPr/>
      <dgm:t>
        <a:bodyPr/>
        <a:lstStyle/>
        <a:p>
          <a:r>
            <a:rPr lang="en-US"/>
            <a:t>Better understanding of this process means better policy design!</a:t>
          </a:r>
        </a:p>
      </dgm:t>
    </dgm:pt>
    <dgm:pt modelId="{CE5BCA1D-5FC8-4931-9E76-4CE7EF8ABED3}" type="parTrans" cxnId="{14535C18-5641-4F88-89A8-F5A7188FC86B}">
      <dgm:prSet/>
      <dgm:spPr/>
      <dgm:t>
        <a:bodyPr/>
        <a:lstStyle/>
        <a:p>
          <a:endParaRPr lang="en-US"/>
        </a:p>
      </dgm:t>
    </dgm:pt>
    <dgm:pt modelId="{4BF8B112-5D91-4282-983D-AB3561C1A98A}" type="sibTrans" cxnId="{14535C18-5641-4F88-89A8-F5A7188FC86B}">
      <dgm:prSet/>
      <dgm:spPr/>
      <dgm:t>
        <a:bodyPr/>
        <a:lstStyle/>
        <a:p>
          <a:endParaRPr lang="en-US"/>
        </a:p>
      </dgm:t>
    </dgm:pt>
    <dgm:pt modelId="{AFE27314-662D-4CCA-B28A-94D2C28246B5}">
      <dgm:prSet/>
      <dgm:spPr/>
      <dgm:t>
        <a:bodyPr/>
        <a:lstStyle/>
        <a:p>
          <a:r>
            <a:rPr lang="en-US"/>
            <a:t>If we could design any experiment or collect any ideal data to answer your question, what would it be? </a:t>
          </a:r>
        </a:p>
      </dgm:t>
    </dgm:pt>
    <dgm:pt modelId="{28EA942B-F629-4A64-8552-6F7EB272196B}" type="parTrans" cxnId="{EC22982D-68A3-459F-A26F-95A15EFE9A4A}">
      <dgm:prSet/>
      <dgm:spPr/>
      <dgm:t>
        <a:bodyPr/>
        <a:lstStyle/>
        <a:p>
          <a:endParaRPr lang="en-US"/>
        </a:p>
      </dgm:t>
    </dgm:pt>
    <dgm:pt modelId="{7FD58369-8710-4DE7-A6A0-AC033AD10BD7}" type="sibTrans" cxnId="{EC22982D-68A3-459F-A26F-95A15EFE9A4A}">
      <dgm:prSet/>
      <dgm:spPr/>
      <dgm:t>
        <a:bodyPr/>
        <a:lstStyle/>
        <a:p>
          <a:endParaRPr lang="en-US"/>
        </a:p>
      </dgm:t>
    </dgm:pt>
    <dgm:pt modelId="{046705F2-E767-4739-B4CD-F667358DE7AE}" type="pres">
      <dgm:prSet presAssocID="{AEF04AEB-63AB-416E-812B-F347A9546EF0}" presName="root" presStyleCnt="0">
        <dgm:presLayoutVars>
          <dgm:dir/>
          <dgm:resizeHandles val="exact"/>
        </dgm:presLayoutVars>
      </dgm:prSet>
      <dgm:spPr/>
    </dgm:pt>
    <dgm:pt modelId="{DE8ACA60-CCEA-41C1-854A-306AA9AB26C6}" type="pres">
      <dgm:prSet presAssocID="{04DCC8DC-FFB5-4C85-B734-FCAF95AB3FDE}" presName="compNode" presStyleCnt="0"/>
      <dgm:spPr/>
    </dgm:pt>
    <dgm:pt modelId="{242D3F63-B57A-46DE-A9DD-BA127B0D6628}" type="pres">
      <dgm:prSet presAssocID="{04DCC8DC-FFB5-4C85-B734-FCAF95AB3FDE}" presName="bgRect" presStyleLbl="bgShp" presStyleIdx="0" presStyleCnt="3"/>
      <dgm:spPr/>
    </dgm:pt>
    <dgm:pt modelId="{513F44E8-4A2F-4D12-9308-3CF3949BF0B0}" type="pres">
      <dgm:prSet presAssocID="{04DCC8DC-FFB5-4C85-B734-FCAF95AB3FD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8865A337-6563-42F7-989D-FE66917AFC56}" type="pres">
      <dgm:prSet presAssocID="{04DCC8DC-FFB5-4C85-B734-FCAF95AB3FDE}" presName="spaceRect" presStyleCnt="0"/>
      <dgm:spPr/>
    </dgm:pt>
    <dgm:pt modelId="{2B2627A1-3AE2-40F4-9BAC-1FB923E71826}" type="pres">
      <dgm:prSet presAssocID="{04DCC8DC-FFB5-4C85-B734-FCAF95AB3FDE}" presName="parTx" presStyleLbl="revTx" presStyleIdx="0" presStyleCnt="3">
        <dgm:presLayoutVars>
          <dgm:chMax val="0"/>
          <dgm:chPref val="0"/>
        </dgm:presLayoutVars>
      </dgm:prSet>
      <dgm:spPr/>
    </dgm:pt>
    <dgm:pt modelId="{CF34A2AE-12C1-48C2-A788-B9D25C33E3E7}" type="pres">
      <dgm:prSet presAssocID="{4E151784-246B-4C52-8B2A-425C2E30EF44}" presName="sibTrans" presStyleCnt="0"/>
      <dgm:spPr/>
    </dgm:pt>
    <dgm:pt modelId="{325F9F1B-56CE-47D2-8C0F-A3E53B0D6277}" type="pres">
      <dgm:prSet presAssocID="{3725AEC9-44C2-4502-9C92-99065C5A60AC}" presName="compNode" presStyleCnt="0"/>
      <dgm:spPr/>
    </dgm:pt>
    <dgm:pt modelId="{D0F0431E-50F2-47BD-AA17-12891A57C90E}" type="pres">
      <dgm:prSet presAssocID="{3725AEC9-44C2-4502-9C92-99065C5A60AC}" presName="bgRect" presStyleLbl="bgShp" presStyleIdx="1" presStyleCnt="3"/>
      <dgm:spPr/>
    </dgm:pt>
    <dgm:pt modelId="{D1A5DCFC-FAA3-45E2-90EB-1012D3A7BCA0}" type="pres">
      <dgm:prSet presAssocID="{3725AEC9-44C2-4502-9C92-99065C5A60A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575AB9CF-B2C1-4F0A-AE7A-D3F5AA4FDDEE}" type="pres">
      <dgm:prSet presAssocID="{3725AEC9-44C2-4502-9C92-99065C5A60AC}" presName="spaceRect" presStyleCnt="0"/>
      <dgm:spPr/>
    </dgm:pt>
    <dgm:pt modelId="{FF55C7B8-7C99-4865-A04A-E359E4DF2399}" type="pres">
      <dgm:prSet presAssocID="{3725AEC9-44C2-4502-9C92-99065C5A60AC}" presName="parTx" presStyleLbl="revTx" presStyleIdx="1" presStyleCnt="3">
        <dgm:presLayoutVars>
          <dgm:chMax val="0"/>
          <dgm:chPref val="0"/>
        </dgm:presLayoutVars>
      </dgm:prSet>
      <dgm:spPr/>
    </dgm:pt>
    <dgm:pt modelId="{C5F0F9D2-764C-41D8-84A6-5E96AFB1F0DD}" type="pres">
      <dgm:prSet presAssocID="{4BF8B112-5D91-4282-983D-AB3561C1A98A}" presName="sibTrans" presStyleCnt="0"/>
      <dgm:spPr/>
    </dgm:pt>
    <dgm:pt modelId="{DBAC7337-3EF7-4BF7-9EFA-209F5D8899C8}" type="pres">
      <dgm:prSet presAssocID="{AFE27314-662D-4CCA-B28A-94D2C28246B5}" presName="compNode" presStyleCnt="0"/>
      <dgm:spPr/>
    </dgm:pt>
    <dgm:pt modelId="{6E34CB9F-015C-4AD9-BE5C-CE93832C66BB}" type="pres">
      <dgm:prSet presAssocID="{AFE27314-662D-4CCA-B28A-94D2C28246B5}" presName="bgRect" presStyleLbl="bgShp" presStyleIdx="2" presStyleCnt="3"/>
      <dgm:spPr/>
    </dgm:pt>
    <dgm:pt modelId="{7F3688AE-96BF-477E-BC12-0199EED4691C}" type="pres">
      <dgm:prSet presAssocID="{AFE27314-662D-4CCA-B28A-94D2C28246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Questions"/>
        </a:ext>
      </dgm:extLst>
    </dgm:pt>
    <dgm:pt modelId="{1C7EEE1F-A812-4C2E-AE25-28985CD6B52E}" type="pres">
      <dgm:prSet presAssocID="{AFE27314-662D-4CCA-B28A-94D2C28246B5}" presName="spaceRect" presStyleCnt="0"/>
      <dgm:spPr/>
    </dgm:pt>
    <dgm:pt modelId="{75318915-9F7F-4F08-A52D-DF9B300DCE71}" type="pres">
      <dgm:prSet presAssocID="{AFE27314-662D-4CCA-B28A-94D2C28246B5}" presName="parTx" presStyleLbl="revTx" presStyleIdx="2" presStyleCnt="3">
        <dgm:presLayoutVars>
          <dgm:chMax val="0"/>
          <dgm:chPref val="0"/>
        </dgm:presLayoutVars>
      </dgm:prSet>
      <dgm:spPr/>
    </dgm:pt>
  </dgm:ptLst>
  <dgm:cxnLst>
    <dgm:cxn modelId="{14535C18-5641-4F88-89A8-F5A7188FC86B}" srcId="{AEF04AEB-63AB-416E-812B-F347A9546EF0}" destId="{3725AEC9-44C2-4502-9C92-99065C5A60AC}" srcOrd="1" destOrd="0" parTransId="{CE5BCA1D-5FC8-4931-9E76-4CE7EF8ABED3}" sibTransId="{4BF8B112-5D91-4282-983D-AB3561C1A98A}"/>
    <dgm:cxn modelId="{EC22982D-68A3-459F-A26F-95A15EFE9A4A}" srcId="{AEF04AEB-63AB-416E-812B-F347A9546EF0}" destId="{AFE27314-662D-4CCA-B28A-94D2C28246B5}" srcOrd="2" destOrd="0" parTransId="{28EA942B-F629-4A64-8552-6F7EB272196B}" sibTransId="{7FD58369-8710-4DE7-A6A0-AC033AD10BD7}"/>
    <dgm:cxn modelId="{7F81353F-1D91-4F7D-B9A6-4C3988596F8C}" srcId="{AEF04AEB-63AB-416E-812B-F347A9546EF0}" destId="{04DCC8DC-FFB5-4C85-B734-FCAF95AB3FDE}" srcOrd="0" destOrd="0" parTransId="{84B1A11C-980C-4F89-B5F4-30D03B2F9931}" sibTransId="{4E151784-246B-4C52-8B2A-425C2E30EF44}"/>
    <dgm:cxn modelId="{E3EA975D-370A-4A23-82EE-AE04507D7286}" type="presOf" srcId="{AFE27314-662D-4CCA-B28A-94D2C28246B5}" destId="{75318915-9F7F-4F08-A52D-DF9B300DCE71}" srcOrd="0" destOrd="0" presId="urn:microsoft.com/office/officeart/2018/2/layout/IconVerticalSolidList"/>
    <dgm:cxn modelId="{64612283-1AD6-4D46-A9F4-B3E31C1BB607}" type="presOf" srcId="{AEF04AEB-63AB-416E-812B-F347A9546EF0}" destId="{046705F2-E767-4739-B4CD-F667358DE7AE}" srcOrd="0" destOrd="0" presId="urn:microsoft.com/office/officeart/2018/2/layout/IconVerticalSolidList"/>
    <dgm:cxn modelId="{DAE11FBB-94DE-4DA9-883C-CC667BF81DC1}" type="presOf" srcId="{3725AEC9-44C2-4502-9C92-99065C5A60AC}" destId="{FF55C7B8-7C99-4865-A04A-E359E4DF2399}" srcOrd="0" destOrd="0" presId="urn:microsoft.com/office/officeart/2018/2/layout/IconVerticalSolidList"/>
    <dgm:cxn modelId="{0C8A84DC-B788-4EB1-B2A8-5151C2DFDD23}" type="presOf" srcId="{04DCC8DC-FFB5-4C85-B734-FCAF95AB3FDE}" destId="{2B2627A1-3AE2-40F4-9BAC-1FB923E71826}" srcOrd="0" destOrd="0" presId="urn:microsoft.com/office/officeart/2018/2/layout/IconVerticalSolidList"/>
    <dgm:cxn modelId="{080D4DC3-8DF7-4957-97CA-73D7684A7F11}" type="presParOf" srcId="{046705F2-E767-4739-B4CD-F667358DE7AE}" destId="{DE8ACA60-CCEA-41C1-854A-306AA9AB26C6}" srcOrd="0" destOrd="0" presId="urn:microsoft.com/office/officeart/2018/2/layout/IconVerticalSolidList"/>
    <dgm:cxn modelId="{2DA37A7A-5B84-4D71-98ED-BFC12E7AF1C2}" type="presParOf" srcId="{DE8ACA60-CCEA-41C1-854A-306AA9AB26C6}" destId="{242D3F63-B57A-46DE-A9DD-BA127B0D6628}" srcOrd="0" destOrd="0" presId="urn:microsoft.com/office/officeart/2018/2/layout/IconVerticalSolidList"/>
    <dgm:cxn modelId="{A0FDAEDD-6E98-4F68-B89E-B05767A516FA}" type="presParOf" srcId="{DE8ACA60-CCEA-41C1-854A-306AA9AB26C6}" destId="{513F44E8-4A2F-4D12-9308-3CF3949BF0B0}" srcOrd="1" destOrd="0" presId="urn:microsoft.com/office/officeart/2018/2/layout/IconVerticalSolidList"/>
    <dgm:cxn modelId="{CABDF457-A752-4503-AFED-CFCCC3B5C307}" type="presParOf" srcId="{DE8ACA60-CCEA-41C1-854A-306AA9AB26C6}" destId="{8865A337-6563-42F7-989D-FE66917AFC56}" srcOrd="2" destOrd="0" presId="urn:microsoft.com/office/officeart/2018/2/layout/IconVerticalSolidList"/>
    <dgm:cxn modelId="{8FAE5C73-24EE-4770-AA78-C5197D6C94C7}" type="presParOf" srcId="{DE8ACA60-CCEA-41C1-854A-306AA9AB26C6}" destId="{2B2627A1-3AE2-40F4-9BAC-1FB923E71826}" srcOrd="3" destOrd="0" presId="urn:microsoft.com/office/officeart/2018/2/layout/IconVerticalSolidList"/>
    <dgm:cxn modelId="{6145646C-BB52-4681-89CF-8E0BD28C8E2D}" type="presParOf" srcId="{046705F2-E767-4739-B4CD-F667358DE7AE}" destId="{CF34A2AE-12C1-48C2-A788-B9D25C33E3E7}" srcOrd="1" destOrd="0" presId="urn:microsoft.com/office/officeart/2018/2/layout/IconVerticalSolidList"/>
    <dgm:cxn modelId="{33ACB6A3-0062-4B05-9964-2CC4D28B3229}" type="presParOf" srcId="{046705F2-E767-4739-B4CD-F667358DE7AE}" destId="{325F9F1B-56CE-47D2-8C0F-A3E53B0D6277}" srcOrd="2" destOrd="0" presId="urn:microsoft.com/office/officeart/2018/2/layout/IconVerticalSolidList"/>
    <dgm:cxn modelId="{F10EAE32-7BC1-41AB-BE29-0808FDC84A4C}" type="presParOf" srcId="{325F9F1B-56CE-47D2-8C0F-A3E53B0D6277}" destId="{D0F0431E-50F2-47BD-AA17-12891A57C90E}" srcOrd="0" destOrd="0" presId="urn:microsoft.com/office/officeart/2018/2/layout/IconVerticalSolidList"/>
    <dgm:cxn modelId="{85F09DDE-CBD1-40CA-8E42-DF911EB787C4}" type="presParOf" srcId="{325F9F1B-56CE-47D2-8C0F-A3E53B0D6277}" destId="{D1A5DCFC-FAA3-45E2-90EB-1012D3A7BCA0}" srcOrd="1" destOrd="0" presId="urn:microsoft.com/office/officeart/2018/2/layout/IconVerticalSolidList"/>
    <dgm:cxn modelId="{8CFB7BFE-3C5C-4B88-A087-23D307D88995}" type="presParOf" srcId="{325F9F1B-56CE-47D2-8C0F-A3E53B0D6277}" destId="{575AB9CF-B2C1-4F0A-AE7A-D3F5AA4FDDEE}" srcOrd="2" destOrd="0" presId="urn:microsoft.com/office/officeart/2018/2/layout/IconVerticalSolidList"/>
    <dgm:cxn modelId="{DFD5DB66-96A1-449C-9218-0B864358FF39}" type="presParOf" srcId="{325F9F1B-56CE-47D2-8C0F-A3E53B0D6277}" destId="{FF55C7B8-7C99-4865-A04A-E359E4DF2399}" srcOrd="3" destOrd="0" presId="urn:microsoft.com/office/officeart/2018/2/layout/IconVerticalSolidList"/>
    <dgm:cxn modelId="{87EFB10E-F243-40DB-96B4-DD0282509170}" type="presParOf" srcId="{046705F2-E767-4739-B4CD-F667358DE7AE}" destId="{C5F0F9D2-764C-41D8-84A6-5E96AFB1F0DD}" srcOrd="3" destOrd="0" presId="urn:microsoft.com/office/officeart/2018/2/layout/IconVerticalSolidList"/>
    <dgm:cxn modelId="{80EC9836-84BC-40BD-8BCE-FF14A829760A}" type="presParOf" srcId="{046705F2-E767-4739-B4CD-F667358DE7AE}" destId="{DBAC7337-3EF7-4BF7-9EFA-209F5D8899C8}" srcOrd="4" destOrd="0" presId="urn:microsoft.com/office/officeart/2018/2/layout/IconVerticalSolidList"/>
    <dgm:cxn modelId="{45E03D7E-9CB5-4F37-8058-4D3BF2D73F4E}" type="presParOf" srcId="{DBAC7337-3EF7-4BF7-9EFA-209F5D8899C8}" destId="{6E34CB9F-015C-4AD9-BE5C-CE93832C66BB}" srcOrd="0" destOrd="0" presId="urn:microsoft.com/office/officeart/2018/2/layout/IconVerticalSolidList"/>
    <dgm:cxn modelId="{C2614419-F1CF-43A7-8350-1AA0F0721E16}" type="presParOf" srcId="{DBAC7337-3EF7-4BF7-9EFA-209F5D8899C8}" destId="{7F3688AE-96BF-477E-BC12-0199EED4691C}" srcOrd="1" destOrd="0" presId="urn:microsoft.com/office/officeart/2018/2/layout/IconVerticalSolidList"/>
    <dgm:cxn modelId="{DDF750D7-ED08-462A-981E-FB97227D6183}" type="presParOf" srcId="{DBAC7337-3EF7-4BF7-9EFA-209F5D8899C8}" destId="{1C7EEE1F-A812-4C2E-AE25-28985CD6B52E}" srcOrd="2" destOrd="0" presId="urn:microsoft.com/office/officeart/2018/2/layout/IconVerticalSolidList"/>
    <dgm:cxn modelId="{E528C8B0-2E52-4755-87A2-B9A61A1E75DD}" type="presParOf" srcId="{DBAC7337-3EF7-4BF7-9EFA-209F5D8899C8}" destId="{75318915-9F7F-4F08-A52D-DF9B300DCE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9FE8088-95AB-43A3-874B-BD5864431DB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E539D72-0277-4131-82EA-FE208FD6B93A}">
      <dgm:prSet custT="1"/>
      <dgm:spPr/>
      <dgm:t>
        <a:bodyPr/>
        <a:lstStyle/>
        <a:p>
          <a:pPr>
            <a:defRPr cap="all"/>
          </a:pPr>
          <a:r>
            <a:rPr lang="en-US" sz="1800" dirty="0"/>
            <a:t>1. What is your research question? What is your ideal experiment?</a:t>
          </a:r>
        </a:p>
      </dgm:t>
    </dgm:pt>
    <dgm:pt modelId="{BF13107B-EDB7-4C6C-8DBF-1F2CDB5CBF4A}" type="parTrans" cxnId="{C7C755BC-7EEE-4CC1-A268-D707BACBC2E5}">
      <dgm:prSet/>
      <dgm:spPr/>
      <dgm:t>
        <a:bodyPr/>
        <a:lstStyle/>
        <a:p>
          <a:endParaRPr lang="en-US"/>
        </a:p>
      </dgm:t>
    </dgm:pt>
    <dgm:pt modelId="{1546A2F7-945F-46F6-9BD0-847D0A7599FB}" type="sibTrans" cxnId="{C7C755BC-7EEE-4CC1-A268-D707BACBC2E5}">
      <dgm:prSet/>
      <dgm:spPr/>
      <dgm:t>
        <a:bodyPr/>
        <a:lstStyle/>
        <a:p>
          <a:endParaRPr lang="en-US"/>
        </a:p>
      </dgm:t>
    </dgm:pt>
    <dgm:pt modelId="{31C01BCA-42D2-46EC-9ED6-E1C3E93EEEF3}">
      <dgm:prSet/>
      <dgm:spPr/>
      <dgm:t>
        <a:bodyPr/>
        <a:lstStyle/>
        <a:p>
          <a:pPr>
            <a:defRPr cap="all"/>
          </a:pPr>
          <a:r>
            <a:rPr lang="en-US"/>
            <a:t>2. Do you want to describe, predict, or explain?</a:t>
          </a:r>
        </a:p>
      </dgm:t>
    </dgm:pt>
    <dgm:pt modelId="{1A6A4FE4-12DF-4AB0-B202-09238CA39A16}" type="parTrans" cxnId="{E4376AFD-3CB6-470B-A492-EE3E645919A9}">
      <dgm:prSet/>
      <dgm:spPr/>
      <dgm:t>
        <a:bodyPr/>
        <a:lstStyle/>
        <a:p>
          <a:endParaRPr lang="en-US"/>
        </a:p>
      </dgm:t>
    </dgm:pt>
    <dgm:pt modelId="{CF054FC2-52D6-4ADA-9198-E1C5FDF2D2F8}" type="sibTrans" cxnId="{E4376AFD-3CB6-470B-A492-EE3E645919A9}">
      <dgm:prSet/>
      <dgm:spPr/>
      <dgm:t>
        <a:bodyPr/>
        <a:lstStyle/>
        <a:p>
          <a:endParaRPr lang="en-US"/>
        </a:p>
      </dgm:t>
    </dgm:pt>
    <dgm:pt modelId="{70224361-E78C-458F-BA70-26027BE27020}">
      <dgm:prSet/>
      <dgm:spPr/>
      <dgm:t>
        <a:bodyPr/>
        <a:lstStyle/>
        <a:p>
          <a:pPr>
            <a:defRPr cap="all"/>
          </a:pPr>
          <a:r>
            <a:rPr lang="en-US" dirty="0"/>
            <a:t>3. What data and variation do you have?</a:t>
          </a:r>
        </a:p>
      </dgm:t>
    </dgm:pt>
    <dgm:pt modelId="{BE9BA61C-F8DE-426C-9760-139D8DFFEAAA}" type="parTrans" cxnId="{3BC95EDC-673E-45A1-B091-59351A3453D4}">
      <dgm:prSet/>
      <dgm:spPr/>
      <dgm:t>
        <a:bodyPr/>
        <a:lstStyle/>
        <a:p>
          <a:endParaRPr lang="en-US"/>
        </a:p>
      </dgm:t>
    </dgm:pt>
    <dgm:pt modelId="{E94E4DBA-7442-453A-AE15-35266AF4DC5A}" type="sibTrans" cxnId="{3BC95EDC-673E-45A1-B091-59351A3453D4}">
      <dgm:prSet/>
      <dgm:spPr/>
      <dgm:t>
        <a:bodyPr/>
        <a:lstStyle/>
        <a:p>
          <a:endParaRPr lang="en-US"/>
        </a:p>
      </dgm:t>
    </dgm:pt>
    <dgm:pt modelId="{B450AA7E-0FB1-4E9D-936F-6918A46AAE42}">
      <dgm:prSet/>
      <dgm:spPr/>
      <dgm:t>
        <a:bodyPr/>
        <a:lstStyle/>
        <a:p>
          <a:pPr>
            <a:defRPr cap="all"/>
          </a:pPr>
          <a:r>
            <a:rPr lang="en-US"/>
            <a:t>4. What assumptions can you justify?</a:t>
          </a:r>
        </a:p>
      </dgm:t>
    </dgm:pt>
    <dgm:pt modelId="{3966BDE8-AB2B-4158-98D8-222574723C67}" type="parTrans" cxnId="{64CD6696-AF25-46A7-828E-5F8733246499}">
      <dgm:prSet/>
      <dgm:spPr/>
      <dgm:t>
        <a:bodyPr/>
        <a:lstStyle/>
        <a:p>
          <a:endParaRPr lang="en-US"/>
        </a:p>
      </dgm:t>
    </dgm:pt>
    <dgm:pt modelId="{20DA8612-3C25-48A9-A17E-192DB0ABECFF}" type="sibTrans" cxnId="{64CD6696-AF25-46A7-828E-5F8733246499}">
      <dgm:prSet/>
      <dgm:spPr/>
      <dgm:t>
        <a:bodyPr/>
        <a:lstStyle/>
        <a:p>
          <a:endParaRPr lang="en-US"/>
        </a:p>
      </dgm:t>
    </dgm:pt>
    <dgm:pt modelId="{B4A14F11-7882-41C0-A4C1-849089731A30}">
      <dgm:prSet/>
      <dgm:spPr/>
      <dgm:t>
        <a:bodyPr/>
        <a:lstStyle/>
        <a:p>
          <a:pPr>
            <a:defRPr cap="all"/>
          </a:pPr>
          <a:r>
            <a:rPr lang="en-US"/>
            <a:t>5. What is the policy goal?</a:t>
          </a:r>
        </a:p>
      </dgm:t>
    </dgm:pt>
    <dgm:pt modelId="{C5F6C310-9403-43FC-94D5-0A14CEE9FB02}" type="parTrans" cxnId="{599E52D7-B4B6-46DE-8227-37F5FD37F02F}">
      <dgm:prSet/>
      <dgm:spPr/>
      <dgm:t>
        <a:bodyPr/>
        <a:lstStyle/>
        <a:p>
          <a:endParaRPr lang="en-US"/>
        </a:p>
      </dgm:t>
    </dgm:pt>
    <dgm:pt modelId="{79C73AF3-1E2F-4BBD-A4A4-B71D8310BCD1}" type="sibTrans" cxnId="{599E52D7-B4B6-46DE-8227-37F5FD37F02F}">
      <dgm:prSet/>
      <dgm:spPr/>
      <dgm:t>
        <a:bodyPr/>
        <a:lstStyle/>
        <a:p>
          <a:endParaRPr lang="en-US"/>
        </a:p>
      </dgm:t>
    </dgm:pt>
    <dgm:pt modelId="{4C000C75-3CF2-4483-A4E5-B85EF21ADC18}" type="pres">
      <dgm:prSet presAssocID="{79FE8088-95AB-43A3-874B-BD5864431DBF}" presName="root" presStyleCnt="0">
        <dgm:presLayoutVars>
          <dgm:dir/>
          <dgm:resizeHandles val="exact"/>
        </dgm:presLayoutVars>
      </dgm:prSet>
      <dgm:spPr/>
    </dgm:pt>
    <dgm:pt modelId="{803B6281-4801-4572-A3C9-0FF488CB5848}" type="pres">
      <dgm:prSet presAssocID="{FE539D72-0277-4131-82EA-FE208FD6B93A}" presName="compNode" presStyleCnt="0"/>
      <dgm:spPr/>
    </dgm:pt>
    <dgm:pt modelId="{D78AB590-8DD4-4C74-BA05-D7CDB9C9BDD0}" type="pres">
      <dgm:prSet presAssocID="{FE539D72-0277-4131-82EA-FE208FD6B93A}" presName="iconBgRect" presStyleLbl="bgShp" presStyleIdx="0" presStyleCnt="5"/>
      <dgm:spPr>
        <a:prstGeom prst="round2DiagRect">
          <a:avLst>
            <a:gd name="adj1" fmla="val 29727"/>
            <a:gd name="adj2" fmla="val 0"/>
          </a:avLst>
        </a:prstGeom>
      </dgm:spPr>
    </dgm:pt>
    <dgm:pt modelId="{A5BC1F22-EB9D-4E2B-A03D-9BD49FAC4043}" type="pres">
      <dgm:prSet presAssocID="{FE539D72-0277-4131-82EA-FE208FD6B93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68FFC053-6C2C-4A37-B6B8-1A24D10231B2}" type="pres">
      <dgm:prSet presAssocID="{FE539D72-0277-4131-82EA-FE208FD6B93A}" presName="spaceRect" presStyleCnt="0"/>
      <dgm:spPr/>
    </dgm:pt>
    <dgm:pt modelId="{08D93831-29FC-49E8-9C5E-706DF57508AE}" type="pres">
      <dgm:prSet presAssocID="{FE539D72-0277-4131-82EA-FE208FD6B93A}" presName="textRect" presStyleLbl="revTx" presStyleIdx="0" presStyleCnt="5">
        <dgm:presLayoutVars>
          <dgm:chMax val="1"/>
          <dgm:chPref val="1"/>
        </dgm:presLayoutVars>
      </dgm:prSet>
      <dgm:spPr/>
    </dgm:pt>
    <dgm:pt modelId="{44A53E66-E260-4C00-952A-5E7E389E625A}" type="pres">
      <dgm:prSet presAssocID="{1546A2F7-945F-46F6-9BD0-847D0A7599FB}" presName="sibTrans" presStyleCnt="0"/>
      <dgm:spPr/>
    </dgm:pt>
    <dgm:pt modelId="{789780F9-FEC4-4B78-9CB1-781D9FEBDC38}" type="pres">
      <dgm:prSet presAssocID="{31C01BCA-42D2-46EC-9ED6-E1C3E93EEEF3}" presName="compNode" presStyleCnt="0"/>
      <dgm:spPr/>
    </dgm:pt>
    <dgm:pt modelId="{10CB323D-8BEE-4E0A-B9A6-BB9AF2B57AC0}" type="pres">
      <dgm:prSet presAssocID="{31C01BCA-42D2-46EC-9ED6-E1C3E93EEEF3}" presName="iconBgRect" presStyleLbl="bgShp" presStyleIdx="1" presStyleCnt="5"/>
      <dgm:spPr>
        <a:prstGeom prst="round2DiagRect">
          <a:avLst>
            <a:gd name="adj1" fmla="val 29727"/>
            <a:gd name="adj2" fmla="val 0"/>
          </a:avLst>
        </a:prstGeom>
      </dgm:spPr>
    </dgm:pt>
    <dgm:pt modelId="{68C8E821-DAA9-4096-B94C-5683AA05D416}" type="pres">
      <dgm:prSet presAssocID="{31C01BCA-42D2-46EC-9ED6-E1C3E93EEEF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ce"/>
        </a:ext>
      </dgm:extLst>
    </dgm:pt>
    <dgm:pt modelId="{316476F8-52CB-43DF-A3F9-5140BEC6BB0E}" type="pres">
      <dgm:prSet presAssocID="{31C01BCA-42D2-46EC-9ED6-E1C3E93EEEF3}" presName="spaceRect" presStyleCnt="0"/>
      <dgm:spPr/>
    </dgm:pt>
    <dgm:pt modelId="{7EFF054D-53EB-4C39-AD4C-1D9C5B2C17C4}" type="pres">
      <dgm:prSet presAssocID="{31C01BCA-42D2-46EC-9ED6-E1C3E93EEEF3}" presName="textRect" presStyleLbl="revTx" presStyleIdx="1" presStyleCnt="5">
        <dgm:presLayoutVars>
          <dgm:chMax val="1"/>
          <dgm:chPref val="1"/>
        </dgm:presLayoutVars>
      </dgm:prSet>
      <dgm:spPr/>
    </dgm:pt>
    <dgm:pt modelId="{A9EEBC65-F257-4CAA-AE5A-72AD13E48F6B}" type="pres">
      <dgm:prSet presAssocID="{CF054FC2-52D6-4ADA-9198-E1C5FDF2D2F8}" presName="sibTrans" presStyleCnt="0"/>
      <dgm:spPr/>
    </dgm:pt>
    <dgm:pt modelId="{7752EDA2-6D7A-4329-9745-B433A158351C}" type="pres">
      <dgm:prSet presAssocID="{70224361-E78C-458F-BA70-26027BE27020}" presName="compNode" presStyleCnt="0"/>
      <dgm:spPr/>
    </dgm:pt>
    <dgm:pt modelId="{B86E754B-E76B-4FB1-BB96-2132CB5D2EF4}" type="pres">
      <dgm:prSet presAssocID="{70224361-E78C-458F-BA70-26027BE27020}" presName="iconBgRect" presStyleLbl="bgShp" presStyleIdx="2" presStyleCnt="5"/>
      <dgm:spPr>
        <a:prstGeom prst="round2DiagRect">
          <a:avLst>
            <a:gd name="adj1" fmla="val 29727"/>
            <a:gd name="adj2" fmla="val 0"/>
          </a:avLst>
        </a:prstGeom>
      </dgm:spPr>
    </dgm:pt>
    <dgm:pt modelId="{313FD225-4A45-4EC9-A1BA-9D2568BCAEC6}" type="pres">
      <dgm:prSet presAssocID="{70224361-E78C-458F-BA70-26027BE27020}"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rget Audience"/>
        </a:ext>
      </dgm:extLst>
    </dgm:pt>
    <dgm:pt modelId="{DAB959FC-907B-41C0-8DD3-C18D4F9748A0}" type="pres">
      <dgm:prSet presAssocID="{70224361-E78C-458F-BA70-26027BE27020}" presName="spaceRect" presStyleCnt="0"/>
      <dgm:spPr/>
    </dgm:pt>
    <dgm:pt modelId="{418C91DE-0B7C-4B48-BFE5-31D56D70F6BC}" type="pres">
      <dgm:prSet presAssocID="{70224361-E78C-458F-BA70-26027BE27020}" presName="textRect" presStyleLbl="revTx" presStyleIdx="2" presStyleCnt="5">
        <dgm:presLayoutVars>
          <dgm:chMax val="1"/>
          <dgm:chPref val="1"/>
        </dgm:presLayoutVars>
      </dgm:prSet>
      <dgm:spPr/>
    </dgm:pt>
    <dgm:pt modelId="{EF8941B7-BC1A-4837-8673-D5038527EF25}" type="pres">
      <dgm:prSet presAssocID="{E94E4DBA-7442-453A-AE15-35266AF4DC5A}" presName="sibTrans" presStyleCnt="0"/>
      <dgm:spPr/>
    </dgm:pt>
    <dgm:pt modelId="{E011A367-D899-494D-9193-33D256FECE18}" type="pres">
      <dgm:prSet presAssocID="{B450AA7E-0FB1-4E9D-936F-6918A46AAE42}" presName="compNode" presStyleCnt="0"/>
      <dgm:spPr/>
    </dgm:pt>
    <dgm:pt modelId="{99C32FEA-3E5B-4935-96E8-AA5DECE94A61}" type="pres">
      <dgm:prSet presAssocID="{B450AA7E-0FB1-4E9D-936F-6918A46AAE42}" presName="iconBgRect" presStyleLbl="bgShp" presStyleIdx="3" presStyleCnt="5"/>
      <dgm:spPr>
        <a:prstGeom prst="round2DiagRect">
          <a:avLst>
            <a:gd name="adj1" fmla="val 29727"/>
            <a:gd name="adj2" fmla="val 0"/>
          </a:avLst>
        </a:prstGeom>
      </dgm:spPr>
    </dgm:pt>
    <dgm:pt modelId="{8BF64AFC-0039-4308-9B66-64CB7FB4274A}" type="pres">
      <dgm:prSet presAssocID="{B450AA7E-0FB1-4E9D-936F-6918A46AAE42}"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2C2AA079-FEB8-4032-87C6-67A81FDE42D0}" type="pres">
      <dgm:prSet presAssocID="{B450AA7E-0FB1-4E9D-936F-6918A46AAE42}" presName="spaceRect" presStyleCnt="0"/>
      <dgm:spPr/>
    </dgm:pt>
    <dgm:pt modelId="{504268BE-DCE2-42C8-AB80-28E6264782D5}" type="pres">
      <dgm:prSet presAssocID="{B450AA7E-0FB1-4E9D-936F-6918A46AAE42}" presName="textRect" presStyleLbl="revTx" presStyleIdx="3" presStyleCnt="5">
        <dgm:presLayoutVars>
          <dgm:chMax val="1"/>
          <dgm:chPref val="1"/>
        </dgm:presLayoutVars>
      </dgm:prSet>
      <dgm:spPr/>
    </dgm:pt>
    <dgm:pt modelId="{8D08CECA-876E-4ECE-AC4D-5F6BFA879880}" type="pres">
      <dgm:prSet presAssocID="{20DA8612-3C25-48A9-A17E-192DB0ABECFF}" presName="sibTrans" presStyleCnt="0"/>
      <dgm:spPr/>
    </dgm:pt>
    <dgm:pt modelId="{60B4141C-6142-4A21-9309-328FBE14003D}" type="pres">
      <dgm:prSet presAssocID="{B4A14F11-7882-41C0-A4C1-849089731A30}" presName="compNode" presStyleCnt="0"/>
      <dgm:spPr/>
    </dgm:pt>
    <dgm:pt modelId="{00EFE217-841E-4ABD-A88E-811D78288E61}" type="pres">
      <dgm:prSet presAssocID="{B4A14F11-7882-41C0-A4C1-849089731A30}" presName="iconBgRect" presStyleLbl="bgShp" presStyleIdx="4" presStyleCnt="5"/>
      <dgm:spPr>
        <a:prstGeom prst="round2DiagRect">
          <a:avLst>
            <a:gd name="adj1" fmla="val 29727"/>
            <a:gd name="adj2" fmla="val 0"/>
          </a:avLst>
        </a:prstGeom>
      </dgm:spPr>
    </dgm:pt>
    <dgm:pt modelId="{B2C14E18-E3A6-4DDC-B4D0-2845115138A0}" type="pres">
      <dgm:prSet presAssocID="{B4A14F11-7882-41C0-A4C1-849089731A30}"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ullseye"/>
        </a:ext>
      </dgm:extLst>
    </dgm:pt>
    <dgm:pt modelId="{ACB07D10-22F6-415A-8297-C66E23B305A1}" type="pres">
      <dgm:prSet presAssocID="{B4A14F11-7882-41C0-A4C1-849089731A30}" presName="spaceRect" presStyleCnt="0"/>
      <dgm:spPr/>
    </dgm:pt>
    <dgm:pt modelId="{8A2C4BE6-9CE9-4AA8-B5BF-DB0A28B9FBEF}" type="pres">
      <dgm:prSet presAssocID="{B4A14F11-7882-41C0-A4C1-849089731A30}" presName="textRect" presStyleLbl="revTx" presStyleIdx="4" presStyleCnt="5">
        <dgm:presLayoutVars>
          <dgm:chMax val="1"/>
          <dgm:chPref val="1"/>
        </dgm:presLayoutVars>
      </dgm:prSet>
      <dgm:spPr/>
    </dgm:pt>
  </dgm:ptLst>
  <dgm:cxnLst>
    <dgm:cxn modelId="{01A1C938-3FB8-49E0-A125-C1FAEFEEEAA7}" type="presOf" srcId="{FE539D72-0277-4131-82EA-FE208FD6B93A}" destId="{08D93831-29FC-49E8-9C5E-706DF57508AE}" srcOrd="0" destOrd="0" presId="urn:microsoft.com/office/officeart/2018/5/layout/IconLeafLabelList"/>
    <dgm:cxn modelId="{23303965-FEBA-407A-8F12-CD8C234594B6}" type="presOf" srcId="{70224361-E78C-458F-BA70-26027BE27020}" destId="{418C91DE-0B7C-4B48-BFE5-31D56D70F6BC}" srcOrd="0" destOrd="0" presId="urn:microsoft.com/office/officeart/2018/5/layout/IconLeafLabelList"/>
    <dgm:cxn modelId="{405E2882-A3D5-4417-88E6-55690ACFA672}" type="presOf" srcId="{B4A14F11-7882-41C0-A4C1-849089731A30}" destId="{8A2C4BE6-9CE9-4AA8-B5BF-DB0A28B9FBEF}" srcOrd="0" destOrd="0" presId="urn:microsoft.com/office/officeart/2018/5/layout/IconLeafLabelList"/>
    <dgm:cxn modelId="{F5853F85-FBC4-45B4-BC2F-23CB6C570226}" type="presOf" srcId="{79FE8088-95AB-43A3-874B-BD5864431DBF}" destId="{4C000C75-3CF2-4483-A4E5-B85EF21ADC18}" srcOrd="0" destOrd="0" presId="urn:microsoft.com/office/officeart/2018/5/layout/IconLeafLabelList"/>
    <dgm:cxn modelId="{64CD6696-AF25-46A7-828E-5F8733246499}" srcId="{79FE8088-95AB-43A3-874B-BD5864431DBF}" destId="{B450AA7E-0FB1-4E9D-936F-6918A46AAE42}" srcOrd="3" destOrd="0" parTransId="{3966BDE8-AB2B-4158-98D8-222574723C67}" sibTransId="{20DA8612-3C25-48A9-A17E-192DB0ABECFF}"/>
    <dgm:cxn modelId="{16162BA7-16BD-42B3-8A14-05213FBD4171}" type="presOf" srcId="{B450AA7E-0FB1-4E9D-936F-6918A46AAE42}" destId="{504268BE-DCE2-42C8-AB80-28E6264782D5}" srcOrd="0" destOrd="0" presId="urn:microsoft.com/office/officeart/2018/5/layout/IconLeafLabelList"/>
    <dgm:cxn modelId="{591970B4-9908-4E53-A925-FAFED0FB8A86}" type="presOf" srcId="{31C01BCA-42D2-46EC-9ED6-E1C3E93EEEF3}" destId="{7EFF054D-53EB-4C39-AD4C-1D9C5B2C17C4}" srcOrd="0" destOrd="0" presId="urn:microsoft.com/office/officeart/2018/5/layout/IconLeafLabelList"/>
    <dgm:cxn modelId="{C7C755BC-7EEE-4CC1-A268-D707BACBC2E5}" srcId="{79FE8088-95AB-43A3-874B-BD5864431DBF}" destId="{FE539D72-0277-4131-82EA-FE208FD6B93A}" srcOrd="0" destOrd="0" parTransId="{BF13107B-EDB7-4C6C-8DBF-1F2CDB5CBF4A}" sibTransId="{1546A2F7-945F-46F6-9BD0-847D0A7599FB}"/>
    <dgm:cxn modelId="{599E52D7-B4B6-46DE-8227-37F5FD37F02F}" srcId="{79FE8088-95AB-43A3-874B-BD5864431DBF}" destId="{B4A14F11-7882-41C0-A4C1-849089731A30}" srcOrd="4" destOrd="0" parTransId="{C5F6C310-9403-43FC-94D5-0A14CEE9FB02}" sibTransId="{79C73AF3-1E2F-4BBD-A4A4-B71D8310BCD1}"/>
    <dgm:cxn modelId="{3BC95EDC-673E-45A1-B091-59351A3453D4}" srcId="{79FE8088-95AB-43A3-874B-BD5864431DBF}" destId="{70224361-E78C-458F-BA70-26027BE27020}" srcOrd="2" destOrd="0" parTransId="{BE9BA61C-F8DE-426C-9760-139D8DFFEAAA}" sibTransId="{E94E4DBA-7442-453A-AE15-35266AF4DC5A}"/>
    <dgm:cxn modelId="{E4376AFD-3CB6-470B-A492-EE3E645919A9}" srcId="{79FE8088-95AB-43A3-874B-BD5864431DBF}" destId="{31C01BCA-42D2-46EC-9ED6-E1C3E93EEEF3}" srcOrd="1" destOrd="0" parTransId="{1A6A4FE4-12DF-4AB0-B202-09238CA39A16}" sibTransId="{CF054FC2-52D6-4ADA-9198-E1C5FDF2D2F8}"/>
    <dgm:cxn modelId="{7C115EF0-12EF-4285-B062-A186FCE750BB}" type="presParOf" srcId="{4C000C75-3CF2-4483-A4E5-B85EF21ADC18}" destId="{803B6281-4801-4572-A3C9-0FF488CB5848}" srcOrd="0" destOrd="0" presId="urn:microsoft.com/office/officeart/2018/5/layout/IconLeafLabelList"/>
    <dgm:cxn modelId="{8E1E9301-930F-4408-8D2D-B3FB501A5CEA}" type="presParOf" srcId="{803B6281-4801-4572-A3C9-0FF488CB5848}" destId="{D78AB590-8DD4-4C74-BA05-D7CDB9C9BDD0}" srcOrd="0" destOrd="0" presId="urn:microsoft.com/office/officeart/2018/5/layout/IconLeafLabelList"/>
    <dgm:cxn modelId="{5399A38E-6B85-4A5E-B90C-7ACD623979C4}" type="presParOf" srcId="{803B6281-4801-4572-A3C9-0FF488CB5848}" destId="{A5BC1F22-EB9D-4E2B-A03D-9BD49FAC4043}" srcOrd="1" destOrd="0" presId="urn:microsoft.com/office/officeart/2018/5/layout/IconLeafLabelList"/>
    <dgm:cxn modelId="{0F31EA8F-DFDD-4FEE-97BB-83FC3C655DBA}" type="presParOf" srcId="{803B6281-4801-4572-A3C9-0FF488CB5848}" destId="{68FFC053-6C2C-4A37-B6B8-1A24D10231B2}" srcOrd="2" destOrd="0" presId="urn:microsoft.com/office/officeart/2018/5/layout/IconLeafLabelList"/>
    <dgm:cxn modelId="{64235EF2-280A-41FA-BA1C-6958AA8168CA}" type="presParOf" srcId="{803B6281-4801-4572-A3C9-0FF488CB5848}" destId="{08D93831-29FC-49E8-9C5E-706DF57508AE}" srcOrd="3" destOrd="0" presId="urn:microsoft.com/office/officeart/2018/5/layout/IconLeafLabelList"/>
    <dgm:cxn modelId="{59A29E4D-D966-4930-866A-C430196D14B2}" type="presParOf" srcId="{4C000C75-3CF2-4483-A4E5-B85EF21ADC18}" destId="{44A53E66-E260-4C00-952A-5E7E389E625A}" srcOrd="1" destOrd="0" presId="urn:microsoft.com/office/officeart/2018/5/layout/IconLeafLabelList"/>
    <dgm:cxn modelId="{E5C62147-5B49-4EC0-A9CF-9967C4B077D0}" type="presParOf" srcId="{4C000C75-3CF2-4483-A4E5-B85EF21ADC18}" destId="{789780F9-FEC4-4B78-9CB1-781D9FEBDC38}" srcOrd="2" destOrd="0" presId="urn:microsoft.com/office/officeart/2018/5/layout/IconLeafLabelList"/>
    <dgm:cxn modelId="{18AB9A4B-DF38-4E4C-BDC0-0193B8CBBF79}" type="presParOf" srcId="{789780F9-FEC4-4B78-9CB1-781D9FEBDC38}" destId="{10CB323D-8BEE-4E0A-B9A6-BB9AF2B57AC0}" srcOrd="0" destOrd="0" presId="urn:microsoft.com/office/officeart/2018/5/layout/IconLeafLabelList"/>
    <dgm:cxn modelId="{CFD9A544-BA35-4F48-9DBB-638CC9860BB2}" type="presParOf" srcId="{789780F9-FEC4-4B78-9CB1-781D9FEBDC38}" destId="{68C8E821-DAA9-4096-B94C-5683AA05D416}" srcOrd="1" destOrd="0" presId="urn:microsoft.com/office/officeart/2018/5/layout/IconLeafLabelList"/>
    <dgm:cxn modelId="{3F8EA5DA-2EC1-41E1-AA79-9BCCBAB1A031}" type="presParOf" srcId="{789780F9-FEC4-4B78-9CB1-781D9FEBDC38}" destId="{316476F8-52CB-43DF-A3F9-5140BEC6BB0E}" srcOrd="2" destOrd="0" presId="urn:microsoft.com/office/officeart/2018/5/layout/IconLeafLabelList"/>
    <dgm:cxn modelId="{F958AE15-5416-4E1D-BC0D-9390F5D70BE0}" type="presParOf" srcId="{789780F9-FEC4-4B78-9CB1-781D9FEBDC38}" destId="{7EFF054D-53EB-4C39-AD4C-1D9C5B2C17C4}" srcOrd="3" destOrd="0" presId="urn:microsoft.com/office/officeart/2018/5/layout/IconLeafLabelList"/>
    <dgm:cxn modelId="{B60590CA-F55D-41B2-ABFB-D44E47557F00}" type="presParOf" srcId="{4C000C75-3CF2-4483-A4E5-B85EF21ADC18}" destId="{A9EEBC65-F257-4CAA-AE5A-72AD13E48F6B}" srcOrd="3" destOrd="0" presId="urn:microsoft.com/office/officeart/2018/5/layout/IconLeafLabelList"/>
    <dgm:cxn modelId="{26C0F7BB-A9CA-40B0-B9DD-6F3E8AF01DA0}" type="presParOf" srcId="{4C000C75-3CF2-4483-A4E5-B85EF21ADC18}" destId="{7752EDA2-6D7A-4329-9745-B433A158351C}" srcOrd="4" destOrd="0" presId="urn:microsoft.com/office/officeart/2018/5/layout/IconLeafLabelList"/>
    <dgm:cxn modelId="{B63E67BE-7F6B-46B3-B257-8EFB54B1FE1B}" type="presParOf" srcId="{7752EDA2-6D7A-4329-9745-B433A158351C}" destId="{B86E754B-E76B-4FB1-BB96-2132CB5D2EF4}" srcOrd="0" destOrd="0" presId="urn:microsoft.com/office/officeart/2018/5/layout/IconLeafLabelList"/>
    <dgm:cxn modelId="{2B2B04B9-5703-447C-8479-71B87BB4D51A}" type="presParOf" srcId="{7752EDA2-6D7A-4329-9745-B433A158351C}" destId="{313FD225-4A45-4EC9-A1BA-9D2568BCAEC6}" srcOrd="1" destOrd="0" presId="urn:microsoft.com/office/officeart/2018/5/layout/IconLeafLabelList"/>
    <dgm:cxn modelId="{A8676EA4-A88D-4475-8A0F-0CACFE1414B5}" type="presParOf" srcId="{7752EDA2-6D7A-4329-9745-B433A158351C}" destId="{DAB959FC-907B-41C0-8DD3-C18D4F9748A0}" srcOrd="2" destOrd="0" presId="urn:microsoft.com/office/officeart/2018/5/layout/IconLeafLabelList"/>
    <dgm:cxn modelId="{80DB8B62-5C2A-4AC1-A8EF-A4C0245DE6D9}" type="presParOf" srcId="{7752EDA2-6D7A-4329-9745-B433A158351C}" destId="{418C91DE-0B7C-4B48-BFE5-31D56D70F6BC}" srcOrd="3" destOrd="0" presId="urn:microsoft.com/office/officeart/2018/5/layout/IconLeafLabelList"/>
    <dgm:cxn modelId="{3B2BA79F-219A-4B36-B94B-170DC10449E0}" type="presParOf" srcId="{4C000C75-3CF2-4483-A4E5-B85EF21ADC18}" destId="{EF8941B7-BC1A-4837-8673-D5038527EF25}" srcOrd="5" destOrd="0" presId="urn:microsoft.com/office/officeart/2018/5/layout/IconLeafLabelList"/>
    <dgm:cxn modelId="{CB019837-9652-469F-85D2-44FF579996A5}" type="presParOf" srcId="{4C000C75-3CF2-4483-A4E5-B85EF21ADC18}" destId="{E011A367-D899-494D-9193-33D256FECE18}" srcOrd="6" destOrd="0" presId="urn:microsoft.com/office/officeart/2018/5/layout/IconLeafLabelList"/>
    <dgm:cxn modelId="{AC699627-23A9-458F-ADCD-BA74DC8706CE}" type="presParOf" srcId="{E011A367-D899-494D-9193-33D256FECE18}" destId="{99C32FEA-3E5B-4935-96E8-AA5DECE94A61}" srcOrd="0" destOrd="0" presId="urn:microsoft.com/office/officeart/2018/5/layout/IconLeafLabelList"/>
    <dgm:cxn modelId="{9E7CA882-073E-4855-B5EE-691CB3CF8EF0}" type="presParOf" srcId="{E011A367-D899-494D-9193-33D256FECE18}" destId="{8BF64AFC-0039-4308-9B66-64CB7FB4274A}" srcOrd="1" destOrd="0" presId="urn:microsoft.com/office/officeart/2018/5/layout/IconLeafLabelList"/>
    <dgm:cxn modelId="{27FD5759-AE5B-46AB-96FF-4BE06B368C45}" type="presParOf" srcId="{E011A367-D899-494D-9193-33D256FECE18}" destId="{2C2AA079-FEB8-4032-87C6-67A81FDE42D0}" srcOrd="2" destOrd="0" presId="urn:microsoft.com/office/officeart/2018/5/layout/IconLeafLabelList"/>
    <dgm:cxn modelId="{046D1ECC-E2A2-4DAA-9340-4630C8FF5E55}" type="presParOf" srcId="{E011A367-D899-494D-9193-33D256FECE18}" destId="{504268BE-DCE2-42C8-AB80-28E6264782D5}" srcOrd="3" destOrd="0" presId="urn:microsoft.com/office/officeart/2018/5/layout/IconLeafLabelList"/>
    <dgm:cxn modelId="{ADA451B0-0A06-4438-8BC5-1C4E28281C5E}" type="presParOf" srcId="{4C000C75-3CF2-4483-A4E5-B85EF21ADC18}" destId="{8D08CECA-876E-4ECE-AC4D-5F6BFA879880}" srcOrd="7" destOrd="0" presId="urn:microsoft.com/office/officeart/2018/5/layout/IconLeafLabelList"/>
    <dgm:cxn modelId="{695F6012-A542-439F-9533-5950B804ED3F}" type="presParOf" srcId="{4C000C75-3CF2-4483-A4E5-B85EF21ADC18}" destId="{60B4141C-6142-4A21-9309-328FBE14003D}" srcOrd="8" destOrd="0" presId="urn:microsoft.com/office/officeart/2018/5/layout/IconLeafLabelList"/>
    <dgm:cxn modelId="{BDF7D87B-691A-4585-97CB-EF04C281E66B}" type="presParOf" srcId="{60B4141C-6142-4A21-9309-328FBE14003D}" destId="{00EFE217-841E-4ABD-A88E-811D78288E61}" srcOrd="0" destOrd="0" presId="urn:microsoft.com/office/officeart/2018/5/layout/IconLeafLabelList"/>
    <dgm:cxn modelId="{8FBF0971-C787-491D-B9EF-C253C8CBA951}" type="presParOf" srcId="{60B4141C-6142-4A21-9309-328FBE14003D}" destId="{B2C14E18-E3A6-4DDC-B4D0-2845115138A0}" srcOrd="1" destOrd="0" presId="urn:microsoft.com/office/officeart/2018/5/layout/IconLeafLabelList"/>
    <dgm:cxn modelId="{7053FCBA-825E-4295-B319-559195649D49}" type="presParOf" srcId="{60B4141C-6142-4A21-9309-328FBE14003D}" destId="{ACB07D10-22F6-415A-8297-C66E23B305A1}" srcOrd="2" destOrd="0" presId="urn:microsoft.com/office/officeart/2018/5/layout/IconLeafLabelList"/>
    <dgm:cxn modelId="{A52DE31F-E490-4086-B339-DDE01E3B04DC}" type="presParOf" srcId="{60B4141C-6142-4A21-9309-328FBE14003D}" destId="{8A2C4BE6-9CE9-4AA8-B5BF-DB0A28B9FBEF}"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18400-7AEF-460E-919B-C21E87C1900D}">
      <dsp:nvSpPr>
        <dsp:cNvPr id="0" name=""/>
        <dsp:cNvSpPr/>
      </dsp:nvSpPr>
      <dsp:spPr>
        <a:xfrm>
          <a:off x="0" y="571188"/>
          <a:ext cx="8303635" cy="12168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dirty="0"/>
            <a:t>You don’t! </a:t>
          </a:r>
          <a:endParaRPr lang="en-US" sz="3500" kern="1200" dirty="0"/>
        </a:p>
      </dsp:txBody>
      <dsp:txXfrm>
        <a:off x="59399" y="630587"/>
        <a:ext cx="8184837" cy="1098002"/>
      </dsp:txXfrm>
    </dsp:sp>
    <dsp:sp modelId="{DD8C76F3-8C1C-4F57-8252-68AFEEF6C265}">
      <dsp:nvSpPr>
        <dsp:cNvPr id="0" name=""/>
        <dsp:cNvSpPr/>
      </dsp:nvSpPr>
      <dsp:spPr>
        <a:xfrm>
          <a:off x="0" y="1787988"/>
          <a:ext cx="8303635" cy="16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640" tIns="33020" rIns="184912" bIns="33020" numCol="1" spcCol="1270" anchor="t" anchorCtr="0">
          <a:noAutofit/>
        </a:bodyPr>
        <a:lstStyle/>
        <a:p>
          <a:pPr marL="228600" lvl="1" indent="-228600" algn="l" defTabSz="1155700">
            <a:lnSpc>
              <a:spcPct val="90000"/>
            </a:lnSpc>
            <a:spcBef>
              <a:spcPct val="0"/>
            </a:spcBef>
            <a:spcAft>
              <a:spcPct val="20000"/>
            </a:spcAft>
            <a:buChar char="•"/>
          </a:pPr>
          <a:r>
            <a:rPr lang="en-US" sz="2600" kern="1200" dirty="0"/>
            <a:t>There are no perfect research designs, everything is a tradeoff </a:t>
          </a:r>
        </a:p>
        <a:p>
          <a:pPr marL="228600" lvl="1" indent="-228600" algn="l" defTabSz="1155700">
            <a:lnSpc>
              <a:spcPct val="90000"/>
            </a:lnSpc>
            <a:spcBef>
              <a:spcPct val="0"/>
            </a:spcBef>
            <a:spcAft>
              <a:spcPct val="20000"/>
            </a:spcAft>
            <a:buChar char="•"/>
          </a:pPr>
          <a:r>
            <a:rPr lang="en-US" sz="2600" kern="1200" dirty="0"/>
            <a:t>Example: running an RCT vs. using quasi-experimental data to investigate vaccine takeup/effectiveness</a:t>
          </a:r>
        </a:p>
      </dsp:txBody>
      <dsp:txXfrm>
        <a:off x="0" y="1787988"/>
        <a:ext cx="8303635" cy="1614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03F43D-E790-4990-A0DB-958FBE961E5B}">
      <dsp:nvSpPr>
        <dsp:cNvPr id="0" name=""/>
        <dsp:cNvSpPr/>
      </dsp:nvSpPr>
      <dsp:spPr>
        <a:xfrm>
          <a:off x="0" y="693178"/>
          <a:ext cx="5884758" cy="3530854"/>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b="1" kern="1200"/>
            <a:t>Your research design helps you be clear about: </a:t>
          </a:r>
          <a:endParaRPr lang="en-US" sz="3000" kern="1200"/>
        </a:p>
        <a:p>
          <a:pPr marL="228600" lvl="1" indent="-228600" algn="l" defTabSz="1022350">
            <a:lnSpc>
              <a:spcPct val="90000"/>
            </a:lnSpc>
            <a:spcBef>
              <a:spcPct val="0"/>
            </a:spcBef>
            <a:spcAft>
              <a:spcPct val="15000"/>
            </a:spcAft>
            <a:buChar char="•"/>
          </a:pPr>
          <a:r>
            <a:rPr lang="en-US" sz="2300" kern="1200"/>
            <a:t>Your estimand (what parameter am I trying to recover)? </a:t>
          </a:r>
        </a:p>
        <a:p>
          <a:pPr marL="228600" lvl="1" indent="-228600" algn="l" defTabSz="1022350">
            <a:lnSpc>
              <a:spcPct val="90000"/>
            </a:lnSpc>
            <a:spcBef>
              <a:spcPct val="0"/>
            </a:spcBef>
            <a:spcAft>
              <a:spcPct val="15000"/>
            </a:spcAft>
            <a:buChar char="•"/>
          </a:pPr>
          <a:r>
            <a:rPr lang="en-US" sz="2300" kern="1200"/>
            <a:t>Your assumptions (what am I already seeing about the data)?</a:t>
          </a:r>
        </a:p>
        <a:p>
          <a:pPr marL="228600" lvl="1" indent="-228600" algn="l" defTabSz="1022350">
            <a:lnSpc>
              <a:spcPct val="90000"/>
            </a:lnSpc>
            <a:spcBef>
              <a:spcPct val="0"/>
            </a:spcBef>
            <a:spcAft>
              <a:spcPct val="15000"/>
            </a:spcAft>
            <a:buChar char="•"/>
          </a:pPr>
          <a:r>
            <a:rPr lang="en-US" sz="2300" kern="1200"/>
            <a:t>Your policy relevance (where will my results be useful, and where won’t they)?</a:t>
          </a:r>
        </a:p>
      </dsp:txBody>
      <dsp:txXfrm>
        <a:off x="103415" y="796593"/>
        <a:ext cx="5677928" cy="33240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D3F63-B57A-46DE-A9DD-BA127B0D6628}">
      <dsp:nvSpPr>
        <dsp:cNvPr id="0" name=""/>
        <dsp:cNvSpPr/>
      </dsp:nvSpPr>
      <dsp:spPr>
        <a:xfrm>
          <a:off x="0" y="600"/>
          <a:ext cx="5884758" cy="140457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3F44E8-4A2F-4D12-9308-3CF3949BF0B0}">
      <dsp:nvSpPr>
        <dsp:cNvPr id="0" name=""/>
        <dsp:cNvSpPr/>
      </dsp:nvSpPr>
      <dsp:spPr>
        <a:xfrm>
          <a:off x="424883" y="316629"/>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B2627A1-3AE2-40F4-9BAC-1FB923E71826}">
      <dsp:nvSpPr>
        <dsp:cNvPr id="0" name=""/>
        <dsp:cNvSpPr/>
      </dsp:nvSpPr>
      <dsp:spPr>
        <a:xfrm>
          <a:off x="1622283" y="600"/>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Quantitative research is all about identifying a </a:t>
          </a:r>
          <a:r>
            <a:rPr lang="en-US" sz="2100" b="1" kern="1200"/>
            <a:t>data generating process</a:t>
          </a:r>
          <a:endParaRPr lang="en-US" sz="2100" kern="1200"/>
        </a:p>
      </dsp:txBody>
      <dsp:txXfrm>
        <a:off x="1622283" y="600"/>
        <a:ext cx="4262474" cy="1404574"/>
      </dsp:txXfrm>
    </dsp:sp>
    <dsp:sp modelId="{D0F0431E-50F2-47BD-AA17-12891A57C90E}">
      <dsp:nvSpPr>
        <dsp:cNvPr id="0" name=""/>
        <dsp:cNvSpPr/>
      </dsp:nvSpPr>
      <dsp:spPr>
        <a:xfrm>
          <a:off x="0" y="1756318"/>
          <a:ext cx="5884758" cy="140457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A5DCFC-FAA3-45E2-90EB-1012D3A7BCA0}">
      <dsp:nvSpPr>
        <dsp:cNvPr id="0" name=""/>
        <dsp:cNvSpPr/>
      </dsp:nvSpPr>
      <dsp:spPr>
        <a:xfrm>
          <a:off x="424883" y="2072347"/>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F55C7B8-7C99-4865-A04A-E359E4DF2399}">
      <dsp:nvSpPr>
        <dsp:cNvPr id="0" name=""/>
        <dsp:cNvSpPr/>
      </dsp:nvSpPr>
      <dsp:spPr>
        <a:xfrm>
          <a:off x="1622283" y="1756318"/>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Better understanding of this process means better policy design!</a:t>
          </a:r>
        </a:p>
      </dsp:txBody>
      <dsp:txXfrm>
        <a:off x="1622283" y="1756318"/>
        <a:ext cx="4262474" cy="1404574"/>
      </dsp:txXfrm>
    </dsp:sp>
    <dsp:sp modelId="{6E34CB9F-015C-4AD9-BE5C-CE93832C66BB}">
      <dsp:nvSpPr>
        <dsp:cNvPr id="0" name=""/>
        <dsp:cNvSpPr/>
      </dsp:nvSpPr>
      <dsp:spPr>
        <a:xfrm>
          <a:off x="0" y="3512036"/>
          <a:ext cx="5884758" cy="140457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3688AE-96BF-477E-BC12-0199EED4691C}">
      <dsp:nvSpPr>
        <dsp:cNvPr id="0" name=""/>
        <dsp:cNvSpPr/>
      </dsp:nvSpPr>
      <dsp:spPr>
        <a:xfrm>
          <a:off x="424883" y="3828065"/>
          <a:ext cx="772515" cy="7725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5318915-9F7F-4F08-A52D-DF9B300DCE71}">
      <dsp:nvSpPr>
        <dsp:cNvPr id="0" name=""/>
        <dsp:cNvSpPr/>
      </dsp:nvSpPr>
      <dsp:spPr>
        <a:xfrm>
          <a:off x="1622283" y="3512036"/>
          <a:ext cx="4262474" cy="1404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651" tIns="148651" rIns="148651" bIns="148651" numCol="1" spcCol="1270" anchor="ctr" anchorCtr="0">
          <a:noAutofit/>
        </a:bodyPr>
        <a:lstStyle/>
        <a:p>
          <a:pPr marL="0" lvl="0" indent="0" algn="l" defTabSz="933450">
            <a:lnSpc>
              <a:spcPct val="90000"/>
            </a:lnSpc>
            <a:spcBef>
              <a:spcPct val="0"/>
            </a:spcBef>
            <a:spcAft>
              <a:spcPct val="35000"/>
            </a:spcAft>
            <a:buNone/>
          </a:pPr>
          <a:r>
            <a:rPr lang="en-US" sz="2100" kern="1200"/>
            <a:t>If we could design any experiment or collect any ideal data to answer your question, what would it be? </a:t>
          </a:r>
        </a:p>
      </dsp:txBody>
      <dsp:txXfrm>
        <a:off x="1622283" y="3512036"/>
        <a:ext cx="4262474" cy="14045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8AB590-8DD4-4C74-BA05-D7CDB9C9BDD0}">
      <dsp:nvSpPr>
        <dsp:cNvPr id="0" name=""/>
        <dsp:cNvSpPr/>
      </dsp:nvSpPr>
      <dsp:spPr>
        <a:xfrm>
          <a:off x="796737" y="678515"/>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C1F22-EB9D-4E2B-A03D-9BD49FAC4043}">
      <dsp:nvSpPr>
        <dsp:cNvPr id="0" name=""/>
        <dsp:cNvSpPr/>
      </dsp:nvSpPr>
      <dsp:spPr>
        <a:xfrm>
          <a:off x="103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8D93831-29FC-49E8-9C5E-706DF57508AE}">
      <dsp:nvSpPr>
        <dsp:cNvPr id="0" name=""/>
        <dsp:cNvSpPr/>
      </dsp:nvSpPr>
      <dsp:spPr>
        <a:xfrm>
          <a:off x="44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1. What is your research question? What is your ideal experiment?</a:t>
          </a:r>
        </a:p>
      </dsp:txBody>
      <dsp:txXfrm>
        <a:off x="445737" y="2118515"/>
        <a:ext cx="1800000" cy="1260000"/>
      </dsp:txXfrm>
    </dsp:sp>
    <dsp:sp modelId="{10CB323D-8BEE-4E0A-B9A6-BB9AF2B57AC0}">
      <dsp:nvSpPr>
        <dsp:cNvPr id="0" name=""/>
        <dsp:cNvSpPr/>
      </dsp:nvSpPr>
      <dsp:spPr>
        <a:xfrm>
          <a:off x="2911737" y="678515"/>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8E821-DAA9-4096-B94C-5683AA05D416}">
      <dsp:nvSpPr>
        <dsp:cNvPr id="0" name=""/>
        <dsp:cNvSpPr/>
      </dsp:nvSpPr>
      <dsp:spPr>
        <a:xfrm>
          <a:off x="314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FF054D-53EB-4C39-AD4C-1D9C5B2C17C4}">
      <dsp:nvSpPr>
        <dsp:cNvPr id="0" name=""/>
        <dsp:cNvSpPr/>
      </dsp:nvSpPr>
      <dsp:spPr>
        <a:xfrm>
          <a:off x="256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2. Do you want to describe, predict, or explain?</a:t>
          </a:r>
        </a:p>
      </dsp:txBody>
      <dsp:txXfrm>
        <a:off x="2560737" y="2118515"/>
        <a:ext cx="1800000" cy="1260000"/>
      </dsp:txXfrm>
    </dsp:sp>
    <dsp:sp modelId="{B86E754B-E76B-4FB1-BB96-2132CB5D2EF4}">
      <dsp:nvSpPr>
        <dsp:cNvPr id="0" name=""/>
        <dsp:cNvSpPr/>
      </dsp:nvSpPr>
      <dsp:spPr>
        <a:xfrm>
          <a:off x="5026737" y="678515"/>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3FD225-4A45-4EC9-A1BA-9D2568BCAEC6}">
      <dsp:nvSpPr>
        <dsp:cNvPr id="0" name=""/>
        <dsp:cNvSpPr/>
      </dsp:nvSpPr>
      <dsp:spPr>
        <a:xfrm>
          <a:off x="526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18C91DE-0B7C-4B48-BFE5-31D56D70F6BC}">
      <dsp:nvSpPr>
        <dsp:cNvPr id="0" name=""/>
        <dsp:cNvSpPr/>
      </dsp:nvSpPr>
      <dsp:spPr>
        <a:xfrm>
          <a:off x="467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dirty="0"/>
            <a:t>3. What data and variation do you have?</a:t>
          </a:r>
        </a:p>
      </dsp:txBody>
      <dsp:txXfrm>
        <a:off x="4675737" y="2118515"/>
        <a:ext cx="1800000" cy="1260000"/>
      </dsp:txXfrm>
    </dsp:sp>
    <dsp:sp modelId="{99C32FEA-3E5B-4935-96E8-AA5DECE94A61}">
      <dsp:nvSpPr>
        <dsp:cNvPr id="0" name=""/>
        <dsp:cNvSpPr/>
      </dsp:nvSpPr>
      <dsp:spPr>
        <a:xfrm>
          <a:off x="7141737" y="678515"/>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F64AFC-0039-4308-9B66-64CB7FB4274A}">
      <dsp:nvSpPr>
        <dsp:cNvPr id="0" name=""/>
        <dsp:cNvSpPr/>
      </dsp:nvSpPr>
      <dsp:spPr>
        <a:xfrm>
          <a:off x="7375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04268BE-DCE2-42C8-AB80-28E6264782D5}">
      <dsp:nvSpPr>
        <dsp:cNvPr id="0" name=""/>
        <dsp:cNvSpPr/>
      </dsp:nvSpPr>
      <dsp:spPr>
        <a:xfrm>
          <a:off x="6790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4. What assumptions can you justify?</a:t>
          </a:r>
        </a:p>
      </dsp:txBody>
      <dsp:txXfrm>
        <a:off x="6790737" y="2118515"/>
        <a:ext cx="1800000" cy="1260000"/>
      </dsp:txXfrm>
    </dsp:sp>
    <dsp:sp modelId="{00EFE217-841E-4ABD-A88E-811D78288E61}">
      <dsp:nvSpPr>
        <dsp:cNvPr id="0" name=""/>
        <dsp:cNvSpPr/>
      </dsp:nvSpPr>
      <dsp:spPr>
        <a:xfrm>
          <a:off x="9256737" y="678515"/>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C14E18-E3A6-4DDC-B4D0-2845115138A0}">
      <dsp:nvSpPr>
        <dsp:cNvPr id="0" name=""/>
        <dsp:cNvSpPr/>
      </dsp:nvSpPr>
      <dsp:spPr>
        <a:xfrm>
          <a:off x="9490737" y="912515"/>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2C4BE6-9CE9-4AA8-B5BF-DB0A28B9FBEF}">
      <dsp:nvSpPr>
        <dsp:cNvPr id="0" name=""/>
        <dsp:cNvSpPr/>
      </dsp:nvSpPr>
      <dsp:spPr>
        <a:xfrm>
          <a:off x="8905737" y="2118515"/>
          <a:ext cx="1800000" cy="126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cap="all"/>
          </a:pPr>
          <a:r>
            <a:rPr lang="en-US" sz="2000" kern="1200"/>
            <a:t>5. What is the policy goal?</a:t>
          </a:r>
        </a:p>
      </dsp:txBody>
      <dsp:txXfrm>
        <a:off x="8905737" y="2118515"/>
        <a:ext cx="1800000" cy="126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https://the-toast.net/2015/04/01/two-medieval-monks-invent-bestiaries/</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2654928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4E95A-7F94-DAD6-26A3-2F9C7BE38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1924B-110E-A80C-ED4B-2912FD3796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5E102C-90E3-35D0-7E09-399E61962836}"/>
              </a:ext>
            </a:extLst>
          </p:cNvPr>
          <p:cNvSpPr>
            <a:spLocks noGrp="1"/>
          </p:cNvSpPr>
          <p:nvPr>
            <p:ph type="body" idx="1"/>
          </p:nvPr>
        </p:nvSpPr>
        <p:spPr/>
        <p:txBody>
          <a:bodyPr/>
          <a:lstStyle/>
          <a:p>
            <a:r>
              <a:rPr lang="en-US" dirty="0"/>
              <a:t>https://the-toast.net/2015/04/01/two-medieval-monks-invent-bestiaries/</a:t>
            </a:r>
          </a:p>
        </p:txBody>
      </p:sp>
      <p:sp>
        <p:nvSpPr>
          <p:cNvPr id="4" name="Slide Number Placeholder 3">
            <a:extLst>
              <a:ext uri="{FF2B5EF4-FFF2-40B4-BE49-F238E27FC236}">
                <a16:creationId xmlns:a16="http://schemas.microsoft.com/office/drawing/2014/main" id="{6EDE4A3B-EB47-6EE4-7A73-B0A8FF82829D}"/>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4129539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648E-9B6C-4D1D-2720-B8F9BD19A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C8BDC-6342-0D2B-5CF1-250969827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CD3040-8BCC-1F7A-24B8-82D14798E192}"/>
              </a:ext>
            </a:extLst>
          </p:cNvPr>
          <p:cNvSpPr>
            <a:spLocks noGrp="1"/>
          </p:cNvSpPr>
          <p:nvPr>
            <p:ph type="body" idx="1"/>
          </p:nvPr>
        </p:nvSpPr>
        <p:spPr/>
        <p:txBody>
          <a:bodyPr/>
          <a:lstStyle/>
          <a:p>
            <a:r>
              <a:rPr lang="en-US" dirty="0"/>
              <a:t>Note: although comps papers can now be quant in nature (and should be!) you can also do review papers. I thought this was a really well-done review paper, what did you think? </a:t>
            </a:r>
          </a:p>
        </p:txBody>
      </p:sp>
      <p:sp>
        <p:nvSpPr>
          <p:cNvPr id="4" name="Slide Number Placeholder 3">
            <a:extLst>
              <a:ext uri="{FF2B5EF4-FFF2-40B4-BE49-F238E27FC236}">
                <a16:creationId xmlns:a16="http://schemas.microsoft.com/office/drawing/2014/main" id="{7D875E27-F780-E256-2502-7A861C0E2126}"/>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2986102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B2D7D-5819-92A0-94C5-9323AFBF5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EE067-AEE7-CF6E-6684-B3047AF05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7D1B3-E40A-AAE9-5358-BE4B9E0418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5F6256-66AA-BD47-A168-ECADFD51355B}"/>
              </a:ext>
            </a:extLst>
          </p:cNvPr>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284229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FDC5-D436-BF82-3A21-279B1516A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1A162-5383-11E1-7147-B5B0BF577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51834-5508-31B7-4438-42C3FE4536C7}"/>
              </a:ext>
            </a:extLst>
          </p:cNvPr>
          <p:cNvSpPr>
            <a:spLocks noGrp="1"/>
          </p:cNvSpPr>
          <p:nvPr>
            <p:ph type="body" idx="1"/>
          </p:nvPr>
        </p:nvSpPr>
        <p:spPr/>
        <p:txBody>
          <a:bodyPr/>
          <a:lstStyle/>
          <a:p>
            <a:r>
              <a:rPr lang="en-US" dirty="0"/>
              <a:t>Going to show you brief intuition for both of these approaches; others in the sample paper. </a:t>
            </a:r>
          </a:p>
        </p:txBody>
      </p:sp>
      <p:sp>
        <p:nvSpPr>
          <p:cNvPr id="4" name="Slide Number Placeholder 3">
            <a:extLst>
              <a:ext uri="{FF2B5EF4-FFF2-40B4-BE49-F238E27FC236}">
                <a16:creationId xmlns:a16="http://schemas.microsoft.com/office/drawing/2014/main" id="{1D481F56-21E3-1820-3298-FD69CDD27DF8}"/>
              </a:ext>
            </a:extLst>
          </p:cNvPr>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2106786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151C-FAEA-F5FF-F9CD-77497B82BA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37CDA-19AA-D824-63F4-15ABEA5D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809EF-6048-A0AB-6F21-33040100D52A}"/>
              </a:ext>
            </a:extLst>
          </p:cNvPr>
          <p:cNvSpPr>
            <a:spLocks noGrp="1"/>
          </p:cNvSpPr>
          <p:nvPr>
            <p:ph type="body" idx="1"/>
          </p:nvPr>
        </p:nvSpPr>
        <p:spPr/>
        <p:txBody>
          <a:bodyPr/>
          <a:lstStyle/>
          <a:p>
            <a:r>
              <a:rPr lang="en-US" dirty="0"/>
              <a:t>Other similar options: elastic net/ridge regression. Lets you build a model that includes millions of covariates. </a:t>
            </a:r>
          </a:p>
        </p:txBody>
      </p:sp>
      <p:sp>
        <p:nvSpPr>
          <p:cNvPr id="4" name="Slide Number Placeholder 3">
            <a:extLst>
              <a:ext uri="{FF2B5EF4-FFF2-40B4-BE49-F238E27FC236}">
                <a16:creationId xmlns:a16="http://schemas.microsoft.com/office/drawing/2014/main" id="{060FC926-8B13-4C84-3992-4C6AE2C11276}"/>
              </a:ext>
            </a:extLst>
          </p:cNvPr>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821212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595D9-794D-6234-709F-8C3E5DE63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9EAD3-0B19-BE17-E527-CC2FAC8AE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6DC1C-CB86-56E5-C0A7-0B8085FB6C9F}"/>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9EE1B7E2-4588-CD81-9594-8E731B13537D}"/>
              </a:ext>
            </a:extLst>
          </p:cNvPr>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676770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B656-203D-A923-3B8E-2B5C343B8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06DCE-20F2-99AD-AC8E-162F0B6C4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69EE1-E3B3-FC28-C681-1D8DDF9218EA}"/>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FBA938C8-F9BD-649C-10A7-BA3E6CD1A2F3}"/>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498715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80B43-1962-C335-338E-D8046278B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006BB-93B0-E237-D503-5BF90D9663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B15E6-BD7E-291B-61AE-72B4B235ED59}"/>
              </a:ext>
            </a:extLst>
          </p:cNvPr>
          <p:cNvSpPr>
            <a:spLocks noGrp="1"/>
          </p:cNvSpPr>
          <p:nvPr>
            <p:ph type="body" idx="1"/>
          </p:nvPr>
        </p:nvSpPr>
        <p:spPr/>
        <p:txBody>
          <a:bodyPr/>
          <a:lstStyle/>
          <a:p>
            <a:r>
              <a:rPr lang="en-US" dirty="0"/>
              <a:t>Chronic conditions include ADRD, cancer (colorectal, lung, or prostate), chronic kidney disease, </a:t>
            </a:r>
            <a:r>
              <a:rPr lang="en-US" dirty="0" err="1"/>
              <a:t>COPD,hip</a:t>
            </a:r>
            <a:r>
              <a:rPr lang="en-US" dirty="0"/>
              <a:t> fractures, and strokes</a:t>
            </a:r>
            <a:endParaRPr lang="en-GB" dirty="0"/>
          </a:p>
        </p:txBody>
      </p:sp>
      <p:sp>
        <p:nvSpPr>
          <p:cNvPr id="4" name="Slide Number Placeholder 3">
            <a:extLst>
              <a:ext uri="{FF2B5EF4-FFF2-40B4-BE49-F238E27FC236}">
                <a16:creationId xmlns:a16="http://schemas.microsoft.com/office/drawing/2014/main" id="{92ADAB4F-5118-6EC0-E1D1-5E6C50284A0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49119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63421-5941-012F-ECEE-F860BE2E3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A5912-0978-8722-A4C5-A8B4A006C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3BDBA-671C-7AC9-CD3B-ACA2A75B67BC}"/>
              </a:ext>
            </a:extLst>
          </p:cNvPr>
          <p:cNvSpPr>
            <a:spLocks noGrp="1"/>
          </p:cNvSpPr>
          <p:nvPr>
            <p:ph type="body" idx="1"/>
          </p:nvPr>
        </p:nvSpPr>
        <p:spPr/>
        <p:txBody>
          <a:bodyPr/>
          <a:lstStyle/>
          <a:p>
            <a:r>
              <a:rPr lang="en-US" dirty="0"/>
              <a:t>Email me for R or </a:t>
            </a:r>
            <a:r>
              <a:rPr lang="en-US" dirty="0" err="1"/>
              <a:t>stata</a:t>
            </a:r>
            <a:r>
              <a:rPr lang="en-US" dirty="0"/>
              <a:t> code – this is always changing. Main question here: what is the effect of a partner’s health shock on takeup of formal eldercare? But there are two possible channels: a health effect and a substitution effect</a:t>
            </a:r>
          </a:p>
        </p:txBody>
      </p:sp>
      <p:sp>
        <p:nvSpPr>
          <p:cNvPr id="4" name="Slide Number Placeholder 3">
            <a:extLst>
              <a:ext uri="{FF2B5EF4-FFF2-40B4-BE49-F238E27FC236}">
                <a16:creationId xmlns:a16="http://schemas.microsoft.com/office/drawing/2014/main" id="{FFB87864-ECD9-B656-87BE-B011FCBD53B3}"/>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197323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A3851-F985-0996-97B4-DE8B86FFD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B667B-7FA7-19F9-C684-26B978877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E86FA-CBFB-EC02-CE84-6B45ECCB2E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C11FF40-D39B-24CA-A933-E97507FB9E9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74433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F6CDD-E5B4-3B1C-6574-23DF8BECB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21962-F038-4459-A1D7-19AC0324B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6E46F-8236-4839-3349-5AF56CA1EA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F44609-9D62-B30B-C139-FEE8A2F250A9}"/>
              </a:ext>
            </a:extLst>
          </p:cNvPr>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723526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4F52-58BE-5421-EC7E-787E3D69D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AD807-2C04-B69B-2448-CC0BFF1D30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54C46-46AD-2A7F-630F-3514AB0C1602}"/>
              </a:ext>
            </a:extLst>
          </p:cNvPr>
          <p:cNvSpPr>
            <a:spLocks noGrp="1"/>
          </p:cNvSpPr>
          <p:nvPr>
            <p:ph type="body" idx="1"/>
          </p:nvPr>
        </p:nvSpPr>
        <p:spPr/>
        <p:txBody>
          <a:bodyPr/>
          <a:lstStyle/>
          <a:p>
            <a:r>
              <a:rPr lang="en-GB" dirty="0"/>
              <a:t>* So a hospitalization for fever can still happen at the same rates, but without a spouse, you’re more likely to go to a SNF</a:t>
            </a:r>
          </a:p>
          <a:p>
            <a:r>
              <a:rPr lang="en-GB" dirty="0"/>
              <a:t>* However, if your hospitalizations happen more often or for more complex reasons, your predicted probability of SNF discharge would go up in LASSO model (health effects)</a:t>
            </a:r>
          </a:p>
        </p:txBody>
      </p:sp>
      <p:sp>
        <p:nvSpPr>
          <p:cNvPr id="4" name="Slide Number Placeholder 3">
            <a:extLst>
              <a:ext uri="{FF2B5EF4-FFF2-40B4-BE49-F238E27FC236}">
                <a16:creationId xmlns:a16="http://schemas.microsoft.com/office/drawing/2014/main" id="{AECFC63B-F59A-D0AE-A3D3-39291E5CB8E5}"/>
              </a:ext>
            </a:extLst>
          </p:cNvPr>
          <p:cNvSpPr>
            <a:spLocks noGrp="1"/>
          </p:cNvSpPr>
          <p:nvPr>
            <p:ph type="sldNum" sz="quarter" idx="10"/>
          </p:nvPr>
        </p:nvSpPr>
        <p:spPr/>
        <p:txBody>
          <a:bodyPr/>
          <a:lstStyle/>
          <a:p>
            <a:fld id="{49436F85-577F-4A92-A47F-D540A2BCC821}" type="slidenum">
              <a:rPr lang="en-GB" smtClean="0"/>
              <a:t>14</a:t>
            </a:fld>
            <a:endParaRPr lang="en-GB" dirty="0"/>
          </a:p>
        </p:txBody>
      </p:sp>
    </p:spTree>
    <p:extLst>
      <p:ext uri="{BB962C8B-B14F-4D97-AF65-F5344CB8AC3E}">
        <p14:creationId xmlns:p14="http://schemas.microsoft.com/office/powerpoint/2010/main" val="2670251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E97BD-7966-1EA2-A36C-F75367B61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059A9-4153-9F5F-561C-330944FD3B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E4B45-41CE-8C31-5397-6E97DB25BB3B}"/>
              </a:ext>
            </a:extLst>
          </p:cNvPr>
          <p:cNvSpPr>
            <a:spLocks noGrp="1"/>
          </p:cNvSpPr>
          <p:nvPr>
            <p:ph type="body" idx="1"/>
          </p:nvPr>
        </p:nvSpPr>
        <p:spPr/>
        <p:txBody>
          <a:bodyPr/>
          <a:lstStyle/>
          <a:p>
            <a:r>
              <a:rPr lang="en-GB" dirty="0"/>
              <a:t>What do you see here? </a:t>
            </a:r>
          </a:p>
        </p:txBody>
      </p:sp>
      <p:sp>
        <p:nvSpPr>
          <p:cNvPr id="4" name="Slide Number Placeholder 3">
            <a:extLst>
              <a:ext uri="{FF2B5EF4-FFF2-40B4-BE49-F238E27FC236}">
                <a16:creationId xmlns:a16="http://schemas.microsoft.com/office/drawing/2014/main" id="{3B283DE9-8697-C848-176C-4CC7F2D3E895}"/>
              </a:ext>
            </a:extLst>
          </p:cNvPr>
          <p:cNvSpPr>
            <a:spLocks noGrp="1"/>
          </p:cNvSpPr>
          <p:nvPr>
            <p:ph type="sldNum" sz="quarter" idx="10"/>
          </p:nvPr>
        </p:nvSpPr>
        <p:spPr/>
        <p:txBody>
          <a:bodyPr/>
          <a:lstStyle/>
          <a:p>
            <a:fld id="{49436F85-577F-4A92-A47F-D540A2BCC821}" type="slidenum">
              <a:rPr lang="en-GB" smtClean="0"/>
              <a:t>15</a:t>
            </a:fld>
            <a:endParaRPr lang="en-GB" dirty="0"/>
          </a:p>
        </p:txBody>
      </p:sp>
    </p:spTree>
    <p:extLst>
      <p:ext uri="{BB962C8B-B14F-4D97-AF65-F5344CB8AC3E}">
        <p14:creationId xmlns:p14="http://schemas.microsoft.com/office/powerpoint/2010/main" val="236747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CAC6B-87C4-BF28-466D-E9A805B3E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7569F1-B24B-F65B-8514-6E868B201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F65ADD-B58E-E8E8-6EAE-E33639B8E1BC}"/>
              </a:ext>
            </a:extLst>
          </p:cNvPr>
          <p:cNvSpPr>
            <a:spLocks noGrp="1"/>
          </p:cNvSpPr>
          <p:nvPr>
            <p:ph type="body" idx="1"/>
          </p:nvPr>
        </p:nvSpPr>
        <p:spPr/>
        <p:txBody>
          <a:bodyPr/>
          <a:lstStyle/>
          <a:p>
            <a:r>
              <a:rPr lang="en-GB" dirty="0"/>
              <a:t>Roughly 28% health effects, majority (72%) substitution! </a:t>
            </a:r>
          </a:p>
        </p:txBody>
      </p:sp>
      <p:sp>
        <p:nvSpPr>
          <p:cNvPr id="4" name="Slide Number Placeholder 3">
            <a:extLst>
              <a:ext uri="{FF2B5EF4-FFF2-40B4-BE49-F238E27FC236}">
                <a16:creationId xmlns:a16="http://schemas.microsoft.com/office/drawing/2014/main" id="{DF933843-89B4-3E1C-D31D-ED29F2849DC5}"/>
              </a:ext>
            </a:extLst>
          </p:cNvPr>
          <p:cNvSpPr>
            <a:spLocks noGrp="1"/>
          </p:cNvSpPr>
          <p:nvPr>
            <p:ph type="sldNum" sz="quarter" idx="10"/>
          </p:nvPr>
        </p:nvSpPr>
        <p:spPr/>
        <p:txBody>
          <a:bodyPr/>
          <a:lstStyle/>
          <a:p>
            <a:fld id="{49436F85-577F-4A92-A47F-D540A2BCC821}" type="slidenum">
              <a:rPr lang="en-GB" smtClean="0"/>
              <a:t>16</a:t>
            </a:fld>
            <a:endParaRPr lang="en-GB" dirty="0"/>
          </a:p>
        </p:txBody>
      </p:sp>
    </p:spTree>
    <p:extLst>
      <p:ext uri="{BB962C8B-B14F-4D97-AF65-F5344CB8AC3E}">
        <p14:creationId xmlns:p14="http://schemas.microsoft.com/office/powerpoint/2010/main" val="4289883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A35A6-8E64-15B8-805B-00F95D7A1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EDC5F-65D5-E8C9-96DD-BB40347A0F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B4EFD2-C60A-FB54-FFBB-E75C54FC3977}"/>
              </a:ext>
            </a:extLst>
          </p:cNvPr>
          <p:cNvSpPr>
            <a:spLocks noGrp="1"/>
          </p:cNvSpPr>
          <p:nvPr>
            <p:ph type="body" idx="1"/>
          </p:nvPr>
        </p:nvSpPr>
        <p:spPr/>
        <p:txBody>
          <a:bodyPr/>
          <a:lstStyle/>
          <a:p>
            <a:r>
              <a:rPr lang="en-US" dirty="0"/>
              <a:t>Cut-points – rules for how to bin data in order to assign prediction (e.g., if we’re predicting expenses, at what age do expenses go down (2?) and then up again (50?). Once we’ve done that cut, what’s the next best way to cut – by sex (older men versus older women)? And so on.)</a:t>
            </a:r>
          </a:p>
        </p:txBody>
      </p:sp>
      <p:sp>
        <p:nvSpPr>
          <p:cNvPr id="4" name="Slide Number Placeholder 3">
            <a:extLst>
              <a:ext uri="{FF2B5EF4-FFF2-40B4-BE49-F238E27FC236}">
                <a16:creationId xmlns:a16="http://schemas.microsoft.com/office/drawing/2014/main" id="{0DEEA272-8CA3-8260-5775-3D022DAC9A25}"/>
              </a:ext>
            </a:extLst>
          </p:cNvPr>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923752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FAE84-E698-DAF6-513F-B8E724163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9D0A4-CFC5-7CD9-6AED-C90821627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2EB6AE-9218-B89C-4EDA-53C386DAE5C4}"/>
              </a:ext>
            </a:extLst>
          </p:cNvPr>
          <p:cNvSpPr>
            <a:spLocks noGrp="1"/>
          </p:cNvSpPr>
          <p:nvPr>
            <p:ph type="body" idx="1"/>
          </p:nvPr>
        </p:nvSpPr>
        <p:spPr/>
        <p:txBody>
          <a:bodyPr/>
          <a:lstStyle/>
          <a:p>
            <a:r>
              <a:rPr lang="en-US" dirty="0"/>
              <a:t>Neurons are similar to trees</a:t>
            </a:r>
          </a:p>
        </p:txBody>
      </p:sp>
      <p:sp>
        <p:nvSpPr>
          <p:cNvPr id="4" name="Slide Number Placeholder 3">
            <a:extLst>
              <a:ext uri="{FF2B5EF4-FFF2-40B4-BE49-F238E27FC236}">
                <a16:creationId xmlns:a16="http://schemas.microsoft.com/office/drawing/2014/main" id="{2B5EFD30-DA41-43ED-06DB-54D40BB16A67}"/>
              </a:ext>
            </a:extLst>
          </p:cNvPr>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504831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5C794-1B55-3E55-F31C-C11FDD748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59799-C235-E392-E53F-5FCB3FBE4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41079-C942-391F-D286-BE4435FA1F10}"/>
              </a:ext>
            </a:extLst>
          </p:cNvPr>
          <p:cNvSpPr>
            <a:spLocks noGrp="1"/>
          </p:cNvSpPr>
          <p:nvPr>
            <p:ph type="body" idx="1"/>
          </p:nvPr>
        </p:nvSpPr>
        <p:spPr/>
        <p:txBody>
          <a:bodyPr/>
          <a:lstStyle/>
          <a:p>
            <a:r>
              <a:rPr lang="en-US" dirty="0"/>
              <a:t>Neurons are similar to trees</a:t>
            </a:r>
          </a:p>
        </p:txBody>
      </p:sp>
      <p:sp>
        <p:nvSpPr>
          <p:cNvPr id="4" name="Slide Number Placeholder 3">
            <a:extLst>
              <a:ext uri="{FF2B5EF4-FFF2-40B4-BE49-F238E27FC236}">
                <a16:creationId xmlns:a16="http://schemas.microsoft.com/office/drawing/2014/main" id="{601C8951-8F36-16A2-D1DE-867B331E2AF4}"/>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1470860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1562-D791-6E61-7BC9-4A7467762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EA7AB-1EA1-51DA-3F01-7D0861573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7CDE7-90DA-7F9D-4B42-84C12796C6C4}"/>
              </a:ext>
            </a:extLst>
          </p:cNvPr>
          <p:cNvSpPr>
            <a:spLocks noGrp="1"/>
          </p:cNvSpPr>
          <p:nvPr>
            <p:ph type="body" idx="1"/>
          </p:nvPr>
        </p:nvSpPr>
        <p:spPr/>
        <p:txBody>
          <a:bodyPr/>
          <a:lstStyle/>
          <a:p>
            <a:r>
              <a:rPr lang="en-US" dirty="0"/>
              <a:t>What’s the structure here? </a:t>
            </a:r>
          </a:p>
        </p:txBody>
      </p:sp>
      <p:sp>
        <p:nvSpPr>
          <p:cNvPr id="4" name="Slide Number Placeholder 3">
            <a:extLst>
              <a:ext uri="{FF2B5EF4-FFF2-40B4-BE49-F238E27FC236}">
                <a16:creationId xmlns:a16="http://schemas.microsoft.com/office/drawing/2014/main" id="{2E25967D-72DA-76E8-D5C2-0F108052F1BB}"/>
              </a:ext>
            </a:extLst>
          </p:cNvPr>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2256710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89E2E-262B-60CD-6627-DBF020CFE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851D4-3831-63AA-9D09-2B288DF63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3B21E-6F1A-00AD-7745-13FB8E575B84}"/>
              </a:ext>
            </a:extLst>
          </p:cNvPr>
          <p:cNvSpPr>
            <a:spLocks noGrp="1"/>
          </p:cNvSpPr>
          <p:nvPr>
            <p:ph type="body" idx="1"/>
          </p:nvPr>
        </p:nvSpPr>
        <p:spPr/>
        <p:txBody>
          <a:bodyPr/>
          <a:lstStyle/>
          <a:p>
            <a:r>
              <a:rPr lang="en-US" dirty="0"/>
              <a:t>Example: in BC, there’s this early-learning development instrument. </a:t>
            </a:r>
          </a:p>
        </p:txBody>
      </p:sp>
      <p:sp>
        <p:nvSpPr>
          <p:cNvPr id="4" name="Slide Number Placeholder 3">
            <a:extLst>
              <a:ext uri="{FF2B5EF4-FFF2-40B4-BE49-F238E27FC236}">
                <a16:creationId xmlns:a16="http://schemas.microsoft.com/office/drawing/2014/main" id="{2B909364-E7E1-3862-45F2-8B86A1EF386E}"/>
              </a:ext>
            </a:extLst>
          </p:cNvPr>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4074458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0299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CTR as a motivating example – is there only one right choice? </a:t>
            </a:r>
          </a:p>
          <a:p>
            <a:endParaRPr lang="en-US" dirty="0"/>
          </a:p>
          <a:p>
            <a:r>
              <a:rPr lang="en-US" dirty="0"/>
              <a:t>Let’s talk about some of your research questions – what kinds of questions are you interested in or already studying? </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38262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macabre thought experiment”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9251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F5C54-83BB-2BDA-022B-4DD10F119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7BE20-8F6B-97CE-C6B4-CB0439075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53C402-4DBE-3E5A-D081-2A5F2928A421}"/>
              </a:ext>
            </a:extLst>
          </p:cNvPr>
          <p:cNvSpPr>
            <a:spLocks noGrp="1"/>
          </p:cNvSpPr>
          <p:nvPr>
            <p:ph type="body" idx="1"/>
          </p:nvPr>
        </p:nvSpPr>
        <p:spPr/>
        <p:txBody>
          <a:bodyPr/>
          <a:lstStyle/>
          <a:p>
            <a:r>
              <a:rPr lang="en-US" dirty="0"/>
              <a:t>What kinds of questions are you asking? Generally your question falls into one of these three categories. </a:t>
            </a:r>
          </a:p>
          <a:p>
            <a:r>
              <a:rPr lang="en-US" dirty="0"/>
              <a:t>Go through each of these with an example. We’re going to think about their relative strengths and weaknesses with an example: escape rooms</a:t>
            </a:r>
          </a:p>
        </p:txBody>
      </p:sp>
      <p:sp>
        <p:nvSpPr>
          <p:cNvPr id="4" name="Slide Number Placeholder 3">
            <a:extLst>
              <a:ext uri="{FF2B5EF4-FFF2-40B4-BE49-F238E27FC236}">
                <a16:creationId xmlns:a16="http://schemas.microsoft.com/office/drawing/2014/main" id="{B3B9D956-EEA0-C018-8BB7-C4407DFBE9C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475EB5B-985B-48C1-8D23-6420254EE3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622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Example: Halloween and ADHD diagnoses. Think about (1) approximating an experiment using (2) identifying variation you know and can exploit. Questions to consider: </a:t>
            </a:r>
          </a:p>
          <a:p>
            <a:pPr marL="171450" indent="-171450">
              <a:buFontTx/>
              <a:buChar char="-"/>
            </a:pPr>
            <a:r>
              <a:rPr lang="en-US" dirty="0"/>
              <a:t>Is there a natural policy change I can use? </a:t>
            </a:r>
          </a:p>
          <a:p>
            <a:pPr marL="171450" indent="-171450">
              <a:buFontTx/>
              <a:buChar char="-"/>
            </a:pPr>
            <a:r>
              <a:rPr lang="en-US" dirty="0"/>
              <a:t>Is there a staggered rollout? Is there heterogeneity in the population’s level of exposure to my exposure (lol) and can I use that as exogenous in some way? </a:t>
            </a:r>
          </a:p>
          <a:p>
            <a:pPr marL="171450" indent="-171450">
              <a:buFontTx/>
              <a:buChar char="-"/>
            </a:pPr>
            <a:r>
              <a:rPr lang="en-US" dirty="0"/>
              <a:t>What behaviors are endogenous and what are exogenous? [Sometimes writing or drawing a simple model may help]</a:t>
            </a:r>
          </a:p>
          <a:p>
            <a:pPr marL="171450" indent="-171450">
              <a:buFontTx/>
              <a:buChar char="-"/>
            </a:pPr>
            <a:r>
              <a:rPr lang="en-US" dirty="0"/>
              <a:t>Are there “off the shelf” methods I can use or remix? IVs? What has the literature already identified as problematic or useful here?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2863-F3B9-303A-DB12-F809EBA5A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F3FFD-F529-3E14-7E26-947E0426247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386C5C-1F71-7118-AC34-6DF1CBE20D41}"/>
              </a:ext>
            </a:extLst>
          </p:cNvPr>
          <p:cNvSpPr>
            <a:spLocks noGrp="1"/>
          </p:cNvSpPr>
          <p:nvPr>
            <p:ph type="body" sz="quarter" idx="3"/>
          </p:nvPr>
        </p:nvSpPr>
        <p:spPr/>
        <p:txBody>
          <a:bodyPr/>
          <a:lstStyle/>
          <a:p>
            <a:r>
              <a:rPr lang="en-US" dirty="0"/>
              <a:t>Useful to have insight to tell your story </a:t>
            </a:r>
            <a:r>
              <a:rPr lang="en-US" dirty="0" err="1"/>
              <a:t>robustlessly</a:t>
            </a:r>
            <a:r>
              <a:rPr lang="en-US" dirty="0"/>
              <a:t> too (robustness checks and descriptive stats count almost as much as identification!)</a:t>
            </a:r>
            <a:endParaRPr dirty="0"/>
          </a:p>
        </p:txBody>
      </p:sp>
      <p:sp>
        <p:nvSpPr>
          <p:cNvPr id="4" name="Slide Number Placeholder 3">
            <a:extLst>
              <a:ext uri="{FF2B5EF4-FFF2-40B4-BE49-F238E27FC236}">
                <a16:creationId xmlns:a16="http://schemas.microsoft.com/office/drawing/2014/main" id="{F72848A8-AC47-6936-8928-AFB8FA9A845A}"/>
              </a:ext>
            </a:extLst>
          </p:cNvPr>
          <p:cNvSpPr>
            <a:spLocks noGrp="1"/>
          </p:cNvSpPr>
          <p:nvPr>
            <p:ph type="sldNum" sz="quarter" idx="5"/>
          </p:nvPr>
        </p:nvSpPr>
        <p:spPr/>
      </p:sp>
    </p:spTree>
    <p:extLst>
      <p:ext uri="{BB962C8B-B14F-4D97-AF65-F5344CB8AC3E}">
        <p14:creationId xmlns:p14="http://schemas.microsoft.com/office/powerpoint/2010/main" val="2766042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Note – you will also go through a </a:t>
            </a:r>
            <a:r>
              <a:rPr lang="en-US" b="1" dirty="0"/>
              <a:t>lot </a:t>
            </a:r>
            <a:r>
              <a:rPr lang="en-US" b="0" dirty="0"/>
              <a:t>of bad or underbaked ideas before you get the right bake</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81CE-CD0F-6D9C-7D71-BA9A4BB82F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0FBE1A-C922-3E7A-0B6E-8B5254EE2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CCFC58-C533-7766-08AA-9ED9168AB297}"/>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9463DF66-B136-6965-8E1F-2869537C3A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398810-FD93-87D7-E9DA-EE2E2162A832}"/>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3111110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EACF-0CC1-8F49-FE33-B97F72CF02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AEC7B1-6189-E2AE-E150-7E259C14B616}"/>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ECA8125-6FC4-0880-63B1-B44B8232436A}"/>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48E22B8C-B3F1-FAAF-ACF6-6B399C120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737F7-FF60-9C88-F57B-53ED020D8F6D}"/>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4896628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20DF-E124-7DE5-1879-2D1F4FE1A8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C4D6A0-F1A5-6BB4-037B-B6BF1695CC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B14DCE4-35B6-F6B2-2C78-2FDDA2C8272C}"/>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786C4F90-8148-8C00-E4E6-57B7E66C8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E0522C-2F52-E6A8-1066-56ECFBAFB46C}"/>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3153676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89667-7417-509C-9279-09619B8B2C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C6A8B-03AC-B73C-B8BC-6C84D35B28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DA9032-C62A-98F8-4DB6-DB73EE8803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8336D-6D98-B4D3-3968-BC3167B63FC9}"/>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6" name="Footer Placeholder 5">
            <a:extLst>
              <a:ext uri="{FF2B5EF4-FFF2-40B4-BE49-F238E27FC236}">
                <a16:creationId xmlns:a16="http://schemas.microsoft.com/office/drawing/2014/main" id="{16B999A3-0BE5-401B-B66B-ED81F7DE59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F8FA1-373B-4E46-FCEC-596C374A6D04}"/>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1671626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94033-4007-E786-752C-0BB88F5126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830782-C6E2-D646-DF40-E3F66CF269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07E572-BAAF-E329-97B0-87D55B107C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923190-EC54-510B-5769-E9DABBFC7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9FBAD2-4C45-C5D7-B61B-4E4EC1E19A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67D1A5-2A8C-A003-653A-9B0B1F1A5666}"/>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8" name="Footer Placeholder 7">
            <a:extLst>
              <a:ext uri="{FF2B5EF4-FFF2-40B4-BE49-F238E27FC236}">
                <a16:creationId xmlns:a16="http://schemas.microsoft.com/office/drawing/2014/main" id="{51E4E7DE-56F2-6D51-32B4-3B0D3CB82A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77224E-CAFC-1E60-115E-5B4F6563E01C}"/>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4213842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8EBAF-89B8-F198-6840-9B43B87AC4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60BCEE-E19C-E5BA-C74F-8DFDDAB9069C}"/>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4" name="Footer Placeholder 3">
            <a:extLst>
              <a:ext uri="{FF2B5EF4-FFF2-40B4-BE49-F238E27FC236}">
                <a16:creationId xmlns:a16="http://schemas.microsoft.com/office/drawing/2014/main" id="{83C77B92-8B41-44C4-B7E8-71F4AD389A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AAFA0-8967-53DF-14BC-A5E9FF632859}"/>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5467273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1D1C8-5AC9-DAA5-AED2-0045D15FB5AE}"/>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3" name="Footer Placeholder 2">
            <a:extLst>
              <a:ext uri="{FF2B5EF4-FFF2-40B4-BE49-F238E27FC236}">
                <a16:creationId xmlns:a16="http://schemas.microsoft.com/office/drawing/2014/main" id="{DDCEF01B-44CA-9395-E618-B9415AA99F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F249BF-160F-AE30-F2EE-7970AA414A82}"/>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2132205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97848-69B3-51F9-234B-E159ABAA1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1CF252-8926-92A8-4850-4301C44A26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87BE88-6F7F-C81D-4D09-614A50A06B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A9964-0579-6530-171D-EE8EF51CA524}"/>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6" name="Footer Placeholder 5">
            <a:extLst>
              <a:ext uri="{FF2B5EF4-FFF2-40B4-BE49-F238E27FC236}">
                <a16:creationId xmlns:a16="http://schemas.microsoft.com/office/drawing/2014/main" id="{306E0307-C7C5-841F-715E-34C6935CFA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CDFC85-B593-8BF5-B232-5C390305526D}"/>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778199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E3C83-4220-BCEA-84D7-65767DE047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EA7566-4993-1023-44F0-D8E9A634DE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FCEAC6-67EE-138E-646C-677FFA9119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CEA1E9-2CD9-370B-2427-F81CDD9DABED}"/>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6" name="Footer Placeholder 5">
            <a:extLst>
              <a:ext uri="{FF2B5EF4-FFF2-40B4-BE49-F238E27FC236}">
                <a16:creationId xmlns:a16="http://schemas.microsoft.com/office/drawing/2014/main" id="{0C379A26-27EB-3D19-9702-615819E82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B0E6CD-9351-4A1B-849C-0A276F67633E}"/>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4128620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32C7-4782-0FDA-E13F-ED144F0D08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99E92C-C40D-781F-F007-D0FFDB2B0C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9189F2-BB91-5D2B-57AD-CC357E732E0C}"/>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AC336D14-5551-F2D7-BE72-FDE72565FD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FAF0C4-AA27-49E2-00F3-798711120113}"/>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228474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34852-7BD3-6F29-7D7E-F52954BB3A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5D01A0-9447-C585-764A-5BC02CBE16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77342-525D-A0DC-E5D1-E371A6BC2596}"/>
              </a:ext>
            </a:extLst>
          </p:cNvPr>
          <p:cNvSpPr>
            <a:spLocks noGrp="1"/>
          </p:cNvSpPr>
          <p:nvPr>
            <p:ph type="dt" sz="half" idx="10"/>
          </p:nvPr>
        </p:nvSpPr>
        <p:spPr/>
        <p:txBody>
          <a:body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5A64E486-AE3F-8E17-D364-73F6660CF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D30BD-248B-BFB0-0982-7513FC8D5156}"/>
              </a:ext>
            </a:extLst>
          </p:cNvPr>
          <p:cNvSpPr>
            <a:spLocks noGrp="1"/>
          </p:cNvSpPr>
          <p:nvPr>
            <p:ph type="sldNum" sz="quarter" idx="12"/>
          </p:nvPr>
        </p:nvSpPr>
        <p:spPr/>
        <p:txBody>
          <a:bodyPr/>
          <a:lstStyle/>
          <a:p>
            <a:fld id="{E8275284-7144-4703-9CDB-22B9D3867039}" type="slidenum">
              <a:rPr lang="en-US" smtClean="0"/>
              <a:t>‹#›</a:t>
            </a:fld>
            <a:endParaRPr lang="en-US"/>
          </a:p>
        </p:txBody>
      </p:sp>
    </p:spTree>
    <p:extLst>
      <p:ext uri="{BB962C8B-B14F-4D97-AF65-F5344CB8AC3E}">
        <p14:creationId xmlns:p14="http://schemas.microsoft.com/office/powerpoint/2010/main" val="26420545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799">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4"/>
            <a:ext cx="7197726" cy="1405467"/>
          </a:xfrm>
        </p:spPr>
        <p:txBody>
          <a:bodyPr anchor="t">
            <a:normAutofit/>
          </a:bodyPr>
          <a:lstStyle>
            <a:lvl1pPr marL="0" indent="0" algn="r">
              <a:buNone/>
              <a:defRPr sz="1799" cap="all">
                <a:solidFill>
                  <a:schemeClr val="tx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9" y="5870577"/>
            <a:ext cx="1600200" cy="377825"/>
          </a:xfrm>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a:xfrm>
            <a:off x="3962399" y="5870577"/>
            <a:ext cx="4893958" cy="377825"/>
          </a:xfrm>
        </p:spPr>
        <p:txBody>
          <a:bodyPr/>
          <a:lstStyle/>
          <a:p>
            <a:endParaRPr lang="en-US"/>
          </a:p>
        </p:txBody>
      </p:sp>
      <p:sp>
        <p:nvSpPr>
          <p:cNvPr id="6" name="Slide Number Placeholder 5"/>
          <p:cNvSpPr>
            <a:spLocks noGrp="1"/>
          </p:cNvSpPr>
          <p:nvPr>
            <p:ph type="sldNum" sz="quarter" idx="12"/>
          </p:nvPr>
        </p:nvSpPr>
        <p:spPr>
          <a:xfrm>
            <a:off x="10608959" y="5870577"/>
            <a:ext cx="551167" cy="3778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6778680"/>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2396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3308581"/>
            <a:ext cx="10131427" cy="1468800"/>
          </a:xfrm>
        </p:spPr>
        <p:txBody>
          <a:bodyPr anchor="b"/>
          <a:lstStyle>
            <a:lvl1pPr algn="l">
              <a:defRPr sz="3999"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1999" cap="all">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7335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6" y="2142069"/>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712738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2"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4" y="2226734"/>
            <a:ext cx="4722813" cy="576262"/>
          </a:xfrm>
        </p:spPr>
        <p:txBody>
          <a:bodyPr anchor="b">
            <a:noAutofit/>
          </a:bodyPr>
          <a:lstStyle>
            <a:lvl1pPr marL="0" indent="0">
              <a:buNone/>
              <a:defRPr sz="2799" b="0"/>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4"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5280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045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1081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399" b="0"/>
            </a:lvl1pPr>
          </a:lstStyle>
          <a:p>
            <a:r>
              <a:rPr lang="en-US"/>
              <a:t>Click to edit Master title style</a:t>
            </a:r>
            <a:endParaRPr lang="en-US" dirty="0"/>
          </a:p>
        </p:txBody>
      </p:sp>
      <p:sp>
        <p:nvSpPr>
          <p:cNvPr id="3" name="Content Placeholder 2"/>
          <p:cNvSpPr>
            <a:spLocks noGrp="1"/>
          </p:cNvSpPr>
          <p:nvPr>
            <p:ph idx="1"/>
          </p:nvPr>
        </p:nvSpPr>
        <p:spPr>
          <a:xfrm>
            <a:off x="4648202"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56966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1600200"/>
            <a:ext cx="6164653" cy="1371600"/>
          </a:xfrm>
        </p:spPr>
        <p:txBody>
          <a:bodyPr anchor="b">
            <a:normAutofit/>
          </a:bodyPr>
          <a:lstStyle>
            <a:lvl1pPr algn="l">
              <a:defRPr sz="2799"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2971800"/>
            <a:ext cx="6164653" cy="1828800"/>
          </a:xfrm>
        </p:spPr>
        <p:txBody>
          <a:bodyPr anchor="t">
            <a:normAutofit/>
          </a:bodyPr>
          <a:lstStyle>
            <a:lvl1pPr marL="0" indent="0">
              <a:buNone/>
              <a:defRPr sz="1799"/>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0815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1" y="4732865"/>
            <a:ext cx="10131427" cy="566738"/>
          </a:xfrm>
        </p:spPr>
        <p:txBody>
          <a:bodyPr anchor="b">
            <a:normAutofit/>
          </a:bodyPr>
          <a:lstStyle>
            <a:lvl1pPr algn="l">
              <a:defRPr sz="2399"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063" indent="0">
              <a:buNone/>
              <a:defRPr sz="1600"/>
            </a:lvl2pPr>
            <a:lvl3pPr marL="914126" indent="0">
              <a:buNone/>
              <a:defRPr sz="1600"/>
            </a:lvl3pPr>
            <a:lvl4pPr marL="1371189" indent="0">
              <a:buNone/>
              <a:defRPr sz="1600"/>
            </a:lvl4pPr>
            <a:lvl5pPr marL="1828251" indent="0">
              <a:buNone/>
              <a:defRPr sz="1600"/>
            </a:lvl5pPr>
            <a:lvl6pPr marL="2285314" indent="0">
              <a:buNone/>
              <a:defRPr sz="1600"/>
            </a:lvl6pPr>
            <a:lvl7pPr marL="2742377" indent="0">
              <a:buNone/>
              <a:defRPr sz="1600"/>
            </a:lvl7pPr>
            <a:lvl8pPr marL="3199440" indent="0">
              <a:buNone/>
              <a:defRPr sz="1600"/>
            </a:lvl8pPr>
            <a:lvl9pPr marL="3656503"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1" y="5299603"/>
            <a:ext cx="10131427" cy="493712"/>
          </a:xfrm>
        </p:spPr>
        <p:txBody>
          <a:bodyPr anchor="t">
            <a:normAutofit/>
          </a:bodyPr>
          <a:lstStyle>
            <a:lvl1pPr marL="0" indent="0">
              <a:buNone/>
              <a:defRPr sz="14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208065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3124199"/>
          </a:xfrm>
        </p:spPr>
        <p:txBody>
          <a:bodyPr anchor="ctr">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0356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1" name="TextBox 10"/>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2"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063" indent="0">
              <a:buFontTx/>
              <a:buNone/>
              <a:defRPr/>
            </a:lvl2pPr>
            <a:lvl3pPr marL="914126" indent="0">
              <a:buFontTx/>
              <a:buNone/>
              <a:defRPr/>
            </a:lvl3pPr>
            <a:lvl4pPr marL="1371189" indent="0">
              <a:buFontTx/>
              <a:buNone/>
              <a:defRPr/>
            </a:lvl4pPr>
            <a:lvl5pPr marL="1828251"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6" y="4343400"/>
            <a:ext cx="10152367" cy="1447800"/>
          </a:xfrm>
        </p:spPr>
        <p:txBody>
          <a:bodyPr anchor="ctr">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6357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3" y="3308581"/>
            <a:ext cx="10131425" cy="1468800"/>
          </a:xfrm>
        </p:spPr>
        <p:txBody>
          <a:bodyPr anchor="b">
            <a:normAutofit/>
          </a:bodyPr>
          <a:lstStyle>
            <a:lvl1pPr algn="l">
              <a:defRPr sz="3199"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19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90180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4" name="TextBox 13"/>
          <p:cNvSpPr txBox="1"/>
          <p:nvPr/>
        </p:nvSpPr>
        <p:spPr>
          <a:xfrm>
            <a:off x="488276" y="823337"/>
            <a:ext cx="609600" cy="584776"/>
          </a:xfrm>
          <a:prstGeom prst="rect">
            <a:avLst/>
          </a:prstGeom>
        </p:spPr>
        <p:txBody>
          <a:bodyPr vert="horz" lIns="91416" tIns="45708" rIns="91416" bIns="45708"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998" dirty="0">
                <a:solidFill>
                  <a:schemeClr val="tx1"/>
                </a:solidFill>
                <a:effectLst/>
              </a:rPr>
              <a:t>“</a:t>
            </a:r>
          </a:p>
        </p:txBody>
      </p:sp>
      <p:sp>
        <p:nvSpPr>
          <p:cNvPr id="16" name="Title 1"/>
          <p:cNvSpPr>
            <a:spLocks noGrp="1"/>
          </p:cNvSpPr>
          <p:nvPr>
            <p:ph type="title"/>
          </p:nvPr>
        </p:nvSpPr>
        <p:spPr>
          <a:xfrm>
            <a:off x="992267" y="609603"/>
            <a:ext cx="9550399" cy="2743199"/>
          </a:xfrm>
        </p:spPr>
        <p:txBody>
          <a:bodyPr anchor="ctr">
            <a:normAutofit/>
          </a:bodyPr>
          <a:lstStyle>
            <a:lvl1pPr algn="l">
              <a:defRPr sz="3199"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3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6274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Title 1"/>
          <p:cNvSpPr>
            <a:spLocks noGrp="1"/>
          </p:cNvSpPr>
          <p:nvPr>
            <p:ph type="title"/>
          </p:nvPr>
        </p:nvSpPr>
        <p:spPr>
          <a:xfrm>
            <a:off x="685802" y="609603"/>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799"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20872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8" name="Title 1"/>
          <p:cNvSpPr>
            <a:spLocks noGrp="1"/>
          </p:cNvSpPr>
          <p:nvPr>
            <p:ph type="title"/>
          </p:nvPr>
        </p:nvSpPr>
        <p:spPr>
          <a:xfrm>
            <a:off x="685802" y="609602"/>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35565972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88825" cy="6856214"/>
          </a:xfrm>
          <a:prstGeom prst="rect">
            <a:avLst/>
          </a:prstGeom>
        </p:spPr>
      </p:pic>
      <p:sp>
        <p:nvSpPr>
          <p:cNvPr id="2" name="Vertical Title 1"/>
          <p:cNvSpPr>
            <a:spLocks noGrp="1"/>
          </p:cNvSpPr>
          <p:nvPr>
            <p:ph type="title" orient="vert"/>
          </p:nvPr>
        </p:nvSpPr>
        <p:spPr>
          <a:xfrm>
            <a:off x="8658675" y="609601"/>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38466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Relationship Id="rId15" Type="http://schemas.openxmlformats.org/officeDocument/2006/relationships/slideLayout" Target="../slideLayouts/slideLayout37.xml"/><Relationship Id="rId16" Type="http://schemas.openxmlformats.org/officeDocument/2006/relationships/slideLayout" Target="../slideLayouts/slideLayout38.xml"/><Relationship Id="rId17" Type="http://schemas.openxmlformats.org/officeDocument/2006/relationships/slideLayout" Target="../slideLayouts/slideLayout39.xml"/><Relationship Id="rId1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1384C-77A1-9546-BB3E-A7F7E07980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257206-EED2-3451-3550-EF6ECE8F6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E4FCEE-4E80-3B10-F93B-D7AEB085FA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BE1A62-EAA8-4F7F-A3C3-C1AE5D22EF19}" type="datetimeFigureOut">
              <a:rPr lang="en-US" smtClean="0"/>
              <a:t>7/22/2026</a:t>
            </a:fld>
            <a:endParaRPr lang="en-US"/>
          </a:p>
        </p:txBody>
      </p:sp>
      <p:sp>
        <p:nvSpPr>
          <p:cNvPr id="5" name="Footer Placeholder 4">
            <a:extLst>
              <a:ext uri="{FF2B5EF4-FFF2-40B4-BE49-F238E27FC236}">
                <a16:creationId xmlns:a16="http://schemas.microsoft.com/office/drawing/2014/main" id="{F8FA3CBA-41EA-6766-8302-A4122EED65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9F0089-3166-CA29-2E42-E42A3BD51C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5284-7144-4703-9CDB-22B9D3867039}" type="slidenum">
              <a:rPr lang="en-US" smtClean="0"/>
              <a:t>‹#›</a:t>
            </a:fld>
            <a:endParaRPr lang="en-US"/>
          </a:p>
        </p:txBody>
      </p:sp>
    </p:spTree>
    <p:extLst>
      <p:ext uri="{BB962C8B-B14F-4D97-AF65-F5344CB8AC3E}">
        <p14:creationId xmlns:p14="http://schemas.microsoft.com/office/powerpoint/2010/main" val="361653090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2" y="609602"/>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2" y="2142069"/>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7"/>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685801" y="5870577"/>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1" y="5870577"/>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2961762"/>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063" rtl="0" eaLnBrk="1" latinLnBrk="0" hangingPunct="1">
        <a:spcBef>
          <a:spcPct val="0"/>
        </a:spcBef>
        <a:buNone/>
        <a:defRPr sz="3599"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063" rtl="0" eaLnBrk="1" latinLnBrk="0" hangingPunct="1">
        <a:defRPr sz="1799" kern="1200">
          <a:solidFill>
            <a:schemeClr val="tx1"/>
          </a:solidFill>
          <a:latin typeface="+mn-lt"/>
          <a:ea typeface="+mn-ea"/>
          <a:cs typeface="+mn-cs"/>
        </a:defRPr>
      </a:lvl1pPr>
      <a:lvl2pPr marL="457063" algn="l" defTabSz="457063" rtl="0" eaLnBrk="1" latinLnBrk="0" hangingPunct="1">
        <a:defRPr sz="1799" kern="1200">
          <a:solidFill>
            <a:schemeClr val="tx1"/>
          </a:solidFill>
          <a:latin typeface="+mn-lt"/>
          <a:ea typeface="+mn-ea"/>
          <a:cs typeface="+mn-cs"/>
        </a:defRPr>
      </a:lvl2pPr>
      <a:lvl3pPr marL="914126" algn="l" defTabSz="457063" rtl="0" eaLnBrk="1" latinLnBrk="0" hangingPunct="1">
        <a:defRPr sz="1799" kern="1200">
          <a:solidFill>
            <a:schemeClr val="tx1"/>
          </a:solidFill>
          <a:latin typeface="+mn-lt"/>
          <a:ea typeface="+mn-ea"/>
          <a:cs typeface="+mn-cs"/>
        </a:defRPr>
      </a:lvl3pPr>
      <a:lvl4pPr marL="1371189" algn="l" defTabSz="457063" rtl="0" eaLnBrk="1" latinLnBrk="0" hangingPunct="1">
        <a:defRPr sz="1799" kern="1200">
          <a:solidFill>
            <a:schemeClr val="tx1"/>
          </a:solidFill>
          <a:latin typeface="+mn-lt"/>
          <a:ea typeface="+mn-ea"/>
          <a:cs typeface="+mn-cs"/>
        </a:defRPr>
      </a:lvl4pPr>
      <a:lvl5pPr marL="1828251" algn="l" defTabSz="457063" rtl="0" eaLnBrk="1" latinLnBrk="0" hangingPunct="1">
        <a:defRPr sz="1799" kern="1200">
          <a:solidFill>
            <a:schemeClr val="tx1"/>
          </a:solidFill>
          <a:latin typeface="+mn-lt"/>
          <a:ea typeface="+mn-ea"/>
          <a:cs typeface="+mn-cs"/>
        </a:defRPr>
      </a:lvl5pPr>
      <a:lvl6pPr marL="2285314" algn="l" defTabSz="457063" rtl="0" eaLnBrk="1" latinLnBrk="0" hangingPunct="1">
        <a:defRPr sz="1799" kern="1200">
          <a:solidFill>
            <a:schemeClr val="tx1"/>
          </a:solidFill>
          <a:latin typeface="+mn-lt"/>
          <a:ea typeface="+mn-ea"/>
          <a:cs typeface="+mn-cs"/>
        </a:defRPr>
      </a:lvl6pPr>
      <a:lvl7pPr marL="2742377" algn="l" defTabSz="457063" rtl="0" eaLnBrk="1" latinLnBrk="0" hangingPunct="1">
        <a:defRPr sz="1799" kern="1200">
          <a:solidFill>
            <a:schemeClr val="tx1"/>
          </a:solidFill>
          <a:latin typeface="+mn-lt"/>
          <a:ea typeface="+mn-ea"/>
          <a:cs typeface="+mn-cs"/>
        </a:defRPr>
      </a:lvl7pPr>
      <a:lvl8pPr marL="3199440" algn="l" defTabSz="457063" rtl="0" eaLnBrk="1" latinLnBrk="0" hangingPunct="1">
        <a:defRPr sz="1799" kern="1200">
          <a:solidFill>
            <a:schemeClr val="tx1"/>
          </a:solidFill>
          <a:latin typeface="+mn-lt"/>
          <a:ea typeface="+mn-ea"/>
          <a:cs typeface="+mn-cs"/>
        </a:defRPr>
      </a:lvl8pPr>
      <a:lvl9pPr marL="3656503" algn="l" defTabSz="457063"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20.svg"/><Relationship Id="rId4" Type="http://schemas.openxmlformats.org/officeDocument/2006/relationships/image" Target="../media/image21.svg"/><Relationship Id="rId5" Type="http://schemas.openxmlformats.org/officeDocument/2006/relationships/image" Target="../media/image22.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1.jpeg"/><Relationship Id="rId4" Type="http://schemas.openxmlformats.org/officeDocument/2006/relationships/diagramData" Target="../diagrams/data4.xml"/><Relationship Id="rId5" Type="http://schemas.openxmlformats.org/officeDocument/2006/relationships/diagramLayout" Target="../diagrams/layout4.xml"/><Relationship Id="rId6" Type="http://schemas.openxmlformats.org/officeDocument/2006/relationships/diagramQuickStyle" Target="../diagrams/quickStyle4.xml"/><Relationship Id="rId7" Type="http://schemas.openxmlformats.org/officeDocument/2006/relationships/diagramColors" Target="../diagrams/colors4.xml"/><Relationship Id="rId8" Type="http://schemas.microsoft.com/office/2007/relationships/diagramDrawing" Target="../diagrams/drawin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209800"/>
            <a:ext cx="10668000" cy="1894362"/>
          </a:xfrm>
        </p:spPr>
        <p:txBody>
          <a:bodyPr>
            <a:normAutofit/>
          </a:bodyPr>
          <a:lstStyle/>
          <a:p>
            <a:r>
              <a:rPr lang="en-US" dirty="0"/>
              <a:t>Quant Methods in HSR I </a:t>
            </a:r>
          </a:p>
        </p:txBody>
      </p:sp>
      <p:sp>
        <p:nvSpPr>
          <p:cNvPr id="3" name="Subtitle 2"/>
          <p:cNvSpPr>
            <a:spLocks noGrp="1"/>
          </p:cNvSpPr>
          <p:nvPr>
            <p:ph type="subTitle" idx="1"/>
          </p:nvPr>
        </p:nvSpPr>
        <p:spPr>
          <a:xfrm>
            <a:off x="914400" y="4191000"/>
            <a:ext cx="10439400" cy="1981200"/>
          </a:xfrm>
        </p:spPr>
        <p:txBody>
          <a:bodyPr>
            <a:noAutofit/>
          </a:bodyPr>
          <a:lstStyle/>
          <a:p>
            <a:r>
              <a:rPr lang="en-US" sz="2400" dirty="0"/>
              <a:t>Lecture 12: Causal Machine Learning for HSR </a:t>
            </a:r>
          </a:p>
          <a:p>
            <a:r>
              <a:rPr lang="en-US" sz="2400" dirty="0"/>
              <a:t>December 7,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C30AAF-8E51-633B-03D1-F181CFA642C6}"/>
              </a:ext>
            </a:extLst>
          </p:cNvPr>
          <p:cNvPicPr>
            <a:picLocks noChangeAspect="1"/>
          </p:cNvPicPr>
          <p:nvPr/>
        </p:nvPicPr>
        <p:blipFill>
          <a:blip r:embed="rId3"/>
          <a:stretch>
            <a:fillRect/>
          </a:stretch>
        </p:blipFill>
        <p:spPr>
          <a:xfrm>
            <a:off x="-10610" y="75979"/>
            <a:ext cx="8802328" cy="762106"/>
          </a:xfrm>
          <a:prstGeom prst="rect">
            <a:avLst/>
          </a:prstGeom>
        </p:spPr>
      </p:pic>
      <p:pic>
        <p:nvPicPr>
          <p:cNvPr id="3" name="Picture 2">
            <a:extLst>
              <a:ext uri="{FF2B5EF4-FFF2-40B4-BE49-F238E27FC236}">
                <a16:creationId xmlns:a16="http://schemas.microsoft.com/office/drawing/2014/main" id="{953D0A8F-0EE5-E867-8000-26FF01188E44}"/>
              </a:ext>
            </a:extLst>
          </p:cNvPr>
          <p:cNvPicPr>
            <a:picLocks noChangeAspect="1"/>
          </p:cNvPicPr>
          <p:nvPr/>
        </p:nvPicPr>
        <p:blipFill>
          <a:blip r:embed="rId4"/>
          <a:stretch>
            <a:fillRect/>
          </a:stretch>
        </p:blipFill>
        <p:spPr>
          <a:xfrm>
            <a:off x="136576" y="838085"/>
            <a:ext cx="5287113" cy="4791744"/>
          </a:xfrm>
          <a:prstGeom prst="rect">
            <a:avLst/>
          </a:prstGeom>
        </p:spPr>
      </p:pic>
    </p:spTree>
    <p:extLst>
      <p:ext uri="{BB962C8B-B14F-4D97-AF65-F5344CB8AC3E}">
        <p14:creationId xmlns:p14="http://schemas.microsoft.com/office/powerpoint/2010/main" val="2073307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D9A50-A8B6-E383-CE34-533BE6CAD5F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2C2A0D3-1BF0-05E9-2642-D7C4F72B7C13}"/>
              </a:ext>
            </a:extLst>
          </p:cNvPr>
          <p:cNvPicPr>
            <a:picLocks noChangeAspect="1"/>
          </p:cNvPicPr>
          <p:nvPr/>
        </p:nvPicPr>
        <p:blipFill>
          <a:blip r:embed="rId3"/>
          <a:stretch>
            <a:fillRect/>
          </a:stretch>
        </p:blipFill>
        <p:spPr>
          <a:xfrm>
            <a:off x="5943600" y="846106"/>
            <a:ext cx="6111824" cy="6127971"/>
          </a:xfrm>
          <a:prstGeom prst="rect">
            <a:avLst/>
          </a:prstGeom>
        </p:spPr>
      </p:pic>
      <p:pic>
        <p:nvPicPr>
          <p:cNvPr id="7" name="Picture 6">
            <a:extLst>
              <a:ext uri="{FF2B5EF4-FFF2-40B4-BE49-F238E27FC236}">
                <a16:creationId xmlns:a16="http://schemas.microsoft.com/office/drawing/2014/main" id="{C8C16630-0526-2492-1CCB-3F36669E85E2}"/>
              </a:ext>
            </a:extLst>
          </p:cNvPr>
          <p:cNvPicPr>
            <a:picLocks noChangeAspect="1"/>
          </p:cNvPicPr>
          <p:nvPr/>
        </p:nvPicPr>
        <p:blipFill>
          <a:blip r:embed="rId4"/>
          <a:stretch>
            <a:fillRect/>
          </a:stretch>
        </p:blipFill>
        <p:spPr>
          <a:xfrm>
            <a:off x="-10610" y="75979"/>
            <a:ext cx="8802328" cy="762106"/>
          </a:xfrm>
          <a:prstGeom prst="rect">
            <a:avLst/>
          </a:prstGeom>
        </p:spPr>
      </p:pic>
      <p:pic>
        <p:nvPicPr>
          <p:cNvPr id="3" name="Picture 2">
            <a:extLst>
              <a:ext uri="{FF2B5EF4-FFF2-40B4-BE49-F238E27FC236}">
                <a16:creationId xmlns:a16="http://schemas.microsoft.com/office/drawing/2014/main" id="{0A6D0602-87ED-5078-01D9-EF35816285F3}"/>
              </a:ext>
            </a:extLst>
          </p:cNvPr>
          <p:cNvPicPr>
            <a:picLocks noChangeAspect="1"/>
          </p:cNvPicPr>
          <p:nvPr/>
        </p:nvPicPr>
        <p:blipFill>
          <a:blip r:embed="rId5"/>
          <a:stretch>
            <a:fillRect/>
          </a:stretch>
        </p:blipFill>
        <p:spPr>
          <a:xfrm>
            <a:off x="136576" y="838085"/>
            <a:ext cx="5287113" cy="4791744"/>
          </a:xfrm>
          <a:prstGeom prst="rect">
            <a:avLst/>
          </a:prstGeom>
        </p:spPr>
      </p:pic>
    </p:spTree>
    <p:extLst>
      <p:ext uri="{BB962C8B-B14F-4D97-AF65-F5344CB8AC3E}">
        <p14:creationId xmlns:p14="http://schemas.microsoft.com/office/powerpoint/2010/main" val="1121694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D1775-1437-ADDC-CAC3-051DB7230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872F8-CC29-DAC0-C5C4-EFE0894B4983}"/>
              </a:ext>
            </a:extLst>
          </p:cNvPr>
          <p:cNvSpPr>
            <a:spLocks noGrp="1"/>
          </p:cNvSpPr>
          <p:nvPr>
            <p:ph type="ctrTitle"/>
          </p:nvPr>
        </p:nvSpPr>
        <p:spPr>
          <a:xfrm>
            <a:off x="1261872" y="758952"/>
            <a:ext cx="10549128" cy="4041648"/>
          </a:xfrm>
        </p:spPr>
        <p:txBody>
          <a:bodyPr/>
          <a:lstStyle/>
          <a:p>
            <a:r>
              <a:rPr lang="en-US" dirty="0"/>
              <a:t>ML in Causal/Descriptive HSR Research:</a:t>
            </a:r>
          </a:p>
        </p:txBody>
      </p:sp>
      <p:sp>
        <p:nvSpPr>
          <p:cNvPr id="3" name="Subtitle 2">
            <a:extLst>
              <a:ext uri="{FF2B5EF4-FFF2-40B4-BE49-F238E27FC236}">
                <a16:creationId xmlns:a16="http://schemas.microsoft.com/office/drawing/2014/main" id="{D67C696B-9EE3-1E53-6B64-8F0ACBC0CC49}"/>
              </a:ext>
            </a:extLst>
          </p:cNvPr>
          <p:cNvSpPr>
            <a:spLocks noGrp="1"/>
          </p:cNvSpPr>
          <p:nvPr>
            <p:ph type="subTitle" idx="1"/>
          </p:nvPr>
        </p:nvSpPr>
        <p:spPr/>
        <p:txBody>
          <a:bodyPr>
            <a:normAutofit/>
          </a:bodyPr>
          <a:lstStyle/>
          <a:p>
            <a:r>
              <a:rPr lang="en-US" sz="4400" dirty="0"/>
              <a:t>A Short Primer</a:t>
            </a:r>
          </a:p>
        </p:txBody>
      </p:sp>
    </p:spTree>
    <p:extLst>
      <p:ext uri="{BB962C8B-B14F-4D97-AF65-F5344CB8AC3E}">
        <p14:creationId xmlns:p14="http://schemas.microsoft.com/office/powerpoint/2010/main" val="4257135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4CF12-2553-FF64-BBC9-8859E82D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26C39-2D2B-61DB-DC77-56884EFAC87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Conditional Density Estimation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0237EA-1978-2A79-30B2-65CCE20282E1}"/>
                  </a:ext>
                </a:extLst>
              </p:cNvPr>
              <p:cNvSpPr>
                <a:spLocks noGrp="1"/>
              </p:cNvSpPr>
              <p:nvPr>
                <p:ph idx="1"/>
              </p:nvPr>
            </p:nvSpPr>
            <p:spPr>
              <a:xfrm>
                <a:off x="609601" y="1066801"/>
                <a:ext cx="10015390" cy="5141388"/>
              </a:xfrm>
            </p:spPr>
            <p:txBody>
              <a:bodyPr>
                <a:noAutofit/>
              </a:bodyPr>
              <a:lstStyle/>
              <a:p>
                <a:r>
                  <a:rPr lang="en-US" sz="2400" dirty="0">
                    <a:solidFill>
                      <a:srgbClr val="222222"/>
                    </a:solidFill>
                    <a:cs typeface="Times New Roman" panose="02020603050405020304" pitchFamily="18" charset="0"/>
                  </a:rPr>
                  <a:t>In causal regressions, we focus on estimating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𝛽</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𝔼</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endParaRPr lang="en-US" sz="2400" dirty="0">
                  <a:solidFill>
                    <a:srgbClr val="222222"/>
                  </a:solidFill>
                  <a:cs typeface="Times New Roman" panose="02020603050405020304" pitchFamily="18" charset="0"/>
                </a:endParaRPr>
              </a:p>
              <a:p>
                <a:r>
                  <a:rPr lang="en-US" sz="2400" dirty="0">
                    <a:solidFill>
                      <a:srgbClr val="222222"/>
                    </a:solidFill>
                    <a:cs typeface="Times New Roman" panose="02020603050405020304" pitchFamily="18" charset="0"/>
                  </a:rPr>
                  <a:t>Sometimes, we want to have: </a:t>
                </a:r>
              </a:p>
              <a:p>
                <a:pPr lvl="1"/>
                <a:r>
                  <a:rPr lang="en-US" sz="2200" dirty="0">
                    <a:solidFill>
                      <a:srgbClr val="222222"/>
                    </a:solidFill>
                    <a:cs typeface="Times New Roman" panose="02020603050405020304" pitchFamily="18" charset="0"/>
                  </a:rPr>
                  <a:t>Really good prediction (focus on </a:t>
                </a:r>
                <a14:m>
                  <m:oMath xmlns:m="http://schemas.openxmlformats.org/officeDocument/2006/math">
                    <m:acc>
                      <m:accPr>
                        <m:chr m:val="̂"/>
                        <m:ctrlPr>
                          <a:rPr lang="en-US" sz="2200" b="0" i="1" smtClean="0">
                            <a:solidFill>
                              <a:srgbClr val="222222"/>
                            </a:solidFill>
                            <a:latin typeface="Cambria Math" panose="02040503050406030204" pitchFamily="18" charset="0"/>
                            <a:cs typeface="Times New Roman" panose="02020603050405020304" pitchFamily="18" charset="0"/>
                          </a:rPr>
                        </m:ctrlPr>
                      </m:accPr>
                      <m:e>
                        <m:r>
                          <a:rPr lang="en-US" sz="2200" b="0" i="1" smtClean="0">
                            <a:solidFill>
                              <a:srgbClr val="222222"/>
                            </a:solidFill>
                            <a:latin typeface="Cambria Math" panose="02040503050406030204" pitchFamily="18" charset="0"/>
                            <a:cs typeface="Times New Roman" panose="02020603050405020304" pitchFamily="18" charset="0"/>
                          </a:rPr>
                          <m:t>𝑦</m:t>
                        </m:r>
                      </m:e>
                    </m:acc>
                  </m:oMath>
                </a14:m>
                <a:r>
                  <a:rPr lang="en-US" sz="2200" dirty="0">
                    <a:solidFill>
                      <a:srgbClr val="222222"/>
                    </a:solidFill>
                    <a:cs typeface="Times New Roman" panose="02020603050405020304" pitchFamily="18" charset="0"/>
                  </a:rPr>
                  <a:t> instead of </a:t>
                </a:r>
                <a14:m>
                  <m:oMath xmlns:m="http://schemas.openxmlformats.org/officeDocument/2006/math">
                    <m:r>
                      <a:rPr lang="en-US" sz="2200" b="0" i="1" smtClean="0">
                        <a:solidFill>
                          <a:srgbClr val="222222"/>
                        </a:solidFill>
                        <a:latin typeface="Cambria Math" panose="02040503050406030204" pitchFamily="18" charset="0"/>
                        <a:cs typeface="Times New Roman" panose="02020603050405020304" pitchFamily="18" charset="0"/>
                      </a:rPr>
                      <m:t>𝛽</m:t>
                    </m:r>
                    <m:r>
                      <a:rPr lang="en-US" sz="2200" b="0" i="1" smtClean="0">
                        <a:solidFill>
                          <a:srgbClr val="222222"/>
                        </a:solidFill>
                        <a:latin typeface="Cambria Math" panose="02040503050406030204" pitchFamily="18" charset="0"/>
                        <a:cs typeface="Times New Roman" panose="02020603050405020304" pitchFamily="18" charset="0"/>
                      </a:rPr>
                      <m:t>)</m:t>
                    </m:r>
                  </m:oMath>
                </a14:m>
                <a:endParaRPr lang="en-US" sz="2200" dirty="0">
                  <a:solidFill>
                    <a:srgbClr val="222222"/>
                  </a:solidFill>
                  <a:cs typeface="Times New Roman" panose="02020603050405020304" pitchFamily="18" charset="0"/>
                </a:endParaRPr>
              </a:p>
              <a:p>
                <a:pPr lvl="1"/>
                <a:r>
                  <a:rPr lang="en-US" sz="2200" dirty="0">
                    <a:solidFill>
                      <a:srgbClr val="222222"/>
                    </a:solidFill>
                    <a:cs typeface="Times New Roman" panose="02020603050405020304" pitchFamily="18" charset="0"/>
                  </a:rPr>
                  <a:t>A nonparametric estimate: not just </a:t>
                </a:r>
                <a14:m>
                  <m:oMath xmlns:m="http://schemas.openxmlformats.org/officeDocument/2006/math">
                    <m:r>
                      <m:rPr>
                        <m:sty m:val="p"/>
                      </m:rPr>
                      <a:rPr lang="en-US" sz="2400" b="0" i="0" smtClean="0">
                        <a:solidFill>
                          <a:srgbClr val="222222"/>
                        </a:solidFill>
                        <a:latin typeface="Cambria Math" panose="02040503050406030204" pitchFamily="18" charset="0"/>
                        <a:cs typeface="Times New Roman" panose="02020603050405020304" pitchFamily="18" charset="0"/>
                      </a:rPr>
                      <m:t>average</m:t>
                    </m:r>
                    <m:r>
                      <a:rPr lang="en-US" sz="2400" b="0" i="0" smtClean="0">
                        <a:solidFill>
                          <a:srgbClr val="222222"/>
                        </a:solidFill>
                        <a:latin typeface="Cambria Math" panose="02040503050406030204" pitchFamily="18" charset="0"/>
                        <a:cs typeface="Times New Roman" panose="02020603050405020304" pitchFamily="18" charset="0"/>
                      </a:rPr>
                      <m:t> </m:t>
                    </m:r>
                  </m:oMath>
                </a14:m>
                <a:r>
                  <a:rPr lang="en-US" sz="2400" dirty="0">
                    <a:solidFill>
                      <a:srgbClr val="222222"/>
                    </a:solidFill>
                    <a:cs typeface="Times New Roman" panose="02020603050405020304" pitchFamily="18" charset="0"/>
                  </a:rPr>
                  <a:t>but rather the full density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𝐹</m:t>
                    </m:r>
                    <m:d>
                      <m:dPr>
                        <m:ctrlPr>
                          <a:rPr lang="en-US" sz="2400" b="0" i="1" smtClean="0">
                            <a:solidFill>
                              <a:srgbClr val="222222"/>
                            </a:solidFill>
                            <a:latin typeface="Cambria Math" panose="02040503050406030204" pitchFamily="18" charset="0"/>
                            <a:cs typeface="Times New Roman" panose="02020603050405020304" pitchFamily="18" charset="0"/>
                          </a:rPr>
                        </m:ctrlPr>
                      </m:dPr>
                      <m:e>
                        <m:r>
                          <a:rPr lang="en-US" sz="2400" b="0" i="1" smtClean="0">
                            <a:solidFill>
                              <a:srgbClr val="222222"/>
                            </a:solidFill>
                            <a:latin typeface="Cambria Math" panose="02040503050406030204" pitchFamily="18" charset="0"/>
                            <a:cs typeface="Times New Roman" panose="02020603050405020304" pitchFamily="18" charset="0"/>
                          </a:rPr>
                          <m:t>𝑦</m:t>
                        </m:r>
                      </m:e>
                      <m:e>
                        <m:r>
                          <a:rPr lang="en-US" sz="2400" b="0" i="1" smtClean="0">
                            <a:solidFill>
                              <a:srgbClr val="222222"/>
                            </a:solidFill>
                            <a:latin typeface="Cambria Math" panose="02040503050406030204" pitchFamily="18" charset="0"/>
                            <a:cs typeface="Times New Roman" panose="02020603050405020304" pitchFamily="18" charset="0"/>
                          </a:rPr>
                          <m:t>𝑥</m:t>
                        </m:r>
                      </m:e>
                    </m:d>
                  </m:oMath>
                </a14:m>
                <a:endParaRPr lang="en-US" sz="2400" b="0" dirty="0">
                  <a:solidFill>
                    <a:srgbClr val="222222"/>
                  </a:solidFill>
                  <a:cs typeface="Times New Roman" panose="02020603050405020304" pitchFamily="18" charset="0"/>
                </a:endParaRPr>
              </a:p>
              <a:p>
                <a:r>
                  <a:rPr lang="en-US" sz="2400" b="1" dirty="0">
                    <a:solidFill>
                      <a:srgbClr val="222222"/>
                    </a:solidFill>
                    <a:cs typeface="Times New Roman" panose="02020603050405020304" pitchFamily="18" charset="0"/>
                  </a:rPr>
                  <a:t>Machine learning </a:t>
                </a:r>
                <a:r>
                  <a:rPr lang="en-US" sz="2400" dirty="0">
                    <a:solidFill>
                      <a:srgbClr val="222222"/>
                    </a:solidFill>
                    <a:cs typeface="Times New Roman" panose="02020603050405020304" pitchFamily="18" charset="0"/>
                  </a:rPr>
                  <a:t>is well suited to these types of questions</a:t>
                </a:r>
                <a:endParaRPr lang="en-US" sz="2400" b="1" dirty="0">
                  <a:solidFill>
                    <a:srgbClr val="222222"/>
                  </a:solidFill>
                  <a:cs typeface="Times New Roman" panose="02020603050405020304" pitchFamily="18" charset="0"/>
                </a:endParaRPr>
              </a:p>
              <a:p>
                <a:pPr lvl="1"/>
                <a:r>
                  <a:rPr lang="en-US" sz="2400" dirty="0">
                    <a:solidFill>
                      <a:srgbClr val="222222"/>
                    </a:solidFill>
                    <a:cs typeface="Times New Roman" panose="02020603050405020304" pitchFamily="18" charset="0"/>
                  </a:rPr>
                  <a:t>Requires defining a loss function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𝐿</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𝑝</m:t>
                    </m:r>
                    <m:r>
                      <a:rPr lang="en-US" sz="2400" b="0" i="1" smtClean="0">
                        <a:solidFill>
                          <a:srgbClr val="222222"/>
                        </a:solidFill>
                        <a:latin typeface="Cambria Math" panose="02040503050406030204" pitchFamily="18" charset="0"/>
                        <a:cs typeface="Times New Roman" panose="02020603050405020304" pitchFamily="18" charset="0"/>
                      </a:rPr>
                      <m:t>,</m:t>
                    </m:r>
                    <m:acc>
                      <m:accPr>
                        <m:chr m:val="̂"/>
                        <m:ctrlPr>
                          <a:rPr lang="en-US" sz="2400" b="0" i="1" smtClean="0">
                            <a:solidFill>
                              <a:srgbClr val="222222"/>
                            </a:solidFill>
                            <a:latin typeface="Cambria Math" panose="02040503050406030204" pitchFamily="18" charset="0"/>
                            <a:cs typeface="Times New Roman" panose="02020603050405020304" pitchFamily="18" charset="0"/>
                          </a:rPr>
                        </m:ctrlPr>
                      </m:accPr>
                      <m:e>
                        <m:r>
                          <a:rPr lang="en-US" sz="2400" b="0" i="1" smtClean="0">
                            <a:solidFill>
                              <a:srgbClr val="222222"/>
                            </a:solidFill>
                            <a:latin typeface="Cambria Math" panose="02040503050406030204" pitchFamily="18" charset="0"/>
                            <a:cs typeface="Times New Roman" panose="02020603050405020304" pitchFamily="18" charset="0"/>
                          </a:rPr>
                          <m:t>𝑝</m:t>
                        </m:r>
                      </m:e>
                    </m:acc>
                    <m:r>
                      <a:rPr lang="en-US" sz="2400" b="0" i="1" smtClean="0">
                        <a:solidFill>
                          <a:srgbClr val="222222"/>
                        </a:solidFill>
                        <a:latin typeface="Cambria Math" panose="02040503050406030204" pitchFamily="18" charset="0"/>
                        <a:cs typeface="Times New Roman" panose="02020603050405020304" pitchFamily="18" charset="0"/>
                      </a:rPr>
                      <m:t>)</m:t>
                    </m:r>
                  </m:oMath>
                </a14:m>
                <a:r>
                  <a:rPr lang="en-US" sz="2400" dirty="0">
                    <a:solidFill>
                      <a:srgbClr val="222222"/>
                    </a:solidFill>
                    <a:cs typeface="Times New Roman" panose="02020603050405020304" pitchFamily="18" charset="0"/>
                  </a:rPr>
                  <a:t> as the difference between </a:t>
                </a:r>
              </a:p>
              <a:p>
                <a:pPr lvl="1"/>
                <a:r>
                  <a:rPr lang="en-US" sz="2400" dirty="0">
                    <a:solidFill>
                      <a:srgbClr val="222222"/>
                    </a:solidFill>
                    <a:cs typeface="Times New Roman" panose="02020603050405020304" pitchFamily="18" charset="0"/>
                  </a:rPr>
                  <a:t>True probabilities </a:t>
                </a:r>
                <a14:m>
                  <m:oMath xmlns:m="http://schemas.openxmlformats.org/officeDocument/2006/math">
                    <m:r>
                      <a:rPr lang="en-US" sz="2400" b="0" i="1" smtClean="0">
                        <a:solidFill>
                          <a:srgbClr val="222222"/>
                        </a:solidFill>
                        <a:latin typeface="Cambria Math" panose="02040503050406030204" pitchFamily="18" charset="0"/>
                        <a:cs typeface="Times New Roman" panose="02020603050405020304" pitchFamily="18" charset="0"/>
                      </a:rPr>
                      <m:t>𝑝</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r>
                  <a:rPr lang="en-US" sz="2400" dirty="0">
                    <a:solidFill>
                      <a:srgbClr val="222222"/>
                    </a:solidFill>
                    <a:cs typeface="Times New Roman" panose="02020603050405020304" pitchFamily="18" charset="0"/>
                  </a:rPr>
                  <a:t> </a:t>
                </a:r>
              </a:p>
              <a:p>
                <a:pPr lvl="1"/>
                <a:r>
                  <a:rPr lang="en-US" sz="2400" dirty="0">
                    <a:solidFill>
                      <a:srgbClr val="222222"/>
                    </a:solidFill>
                    <a:cs typeface="Times New Roman" panose="02020603050405020304" pitchFamily="18" charset="0"/>
                  </a:rPr>
                  <a:t>Predicted probabilities </a:t>
                </a:r>
                <a14:m>
                  <m:oMath xmlns:m="http://schemas.openxmlformats.org/officeDocument/2006/math">
                    <m:acc>
                      <m:accPr>
                        <m:chr m:val="̂"/>
                        <m:ctrlPr>
                          <a:rPr lang="en-US" sz="2400" b="0" i="1" smtClean="0">
                            <a:solidFill>
                              <a:srgbClr val="222222"/>
                            </a:solidFill>
                            <a:latin typeface="Cambria Math" panose="02040503050406030204" pitchFamily="18" charset="0"/>
                            <a:cs typeface="Times New Roman" panose="02020603050405020304" pitchFamily="18" charset="0"/>
                          </a:rPr>
                        </m:ctrlPr>
                      </m:accPr>
                      <m:e>
                        <m:r>
                          <a:rPr lang="en-US" sz="2400" b="0" i="1" smtClean="0">
                            <a:solidFill>
                              <a:srgbClr val="222222"/>
                            </a:solidFill>
                            <a:latin typeface="Cambria Math" panose="02040503050406030204" pitchFamily="18" charset="0"/>
                            <a:cs typeface="Times New Roman" panose="02020603050405020304" pitchFamily="18" charset="0"/>
                          </a:rPr>
                          <m:t>𝑝</m:t>
                        </m:r>
                      </m:e>
                    </m:acc>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𝑦</m:t>
                    </m:r>
                    <m:r>
                      <a:rPr lang="en-US" sz="2400" b="0" i="1" smtClean="0">
                        <a:solidFill>
                          <a:srgbClr val="222222"/>
                        </a:solidFill>
                        <a:latin typeface="Cambria Math" panose="02040503050406030204" pitchFamily="18" charset="0"/>
                        <a:cs typeface="Times New Roman" panose="02020603050405020304" pitchFamily="18" charset="0"/>
                      </a:rPr>
                      <m:t>|</m:t>
                    </m:r>
                    <m:r>
                      <a:rPr lang="en-US" sz="2400" b="0" i="1" smtClean="0">
                        <a:solidFill>
                          <a:srgbClr val="222222"/>
                        </a:solidFill>
                        <a:latin typeface="Cambria Math" panose="02040503050406030204" pitchFamily="18" charset="0"/>
                        <a:cs typeface="Times New Roman" panose="02020603050405020304" pitchFamily="18" charset="0"/>
                      </a:rPr>
                      <m:t>𝑥</m:t>
                    </m:r>
                    <m:r>
                      <a:rPr lang="en-US" sz="2400" b="0" i="1" smtClean="0">
                        <a:solidFill>
                          <a:srgbClr val="222222"/>
                        </a:solidFill>
                        <a:latin typeface="Cambria Math" panose="02040503050406030204" pitchFamily="18" charset="0"/>
                        <a:cs typeface="Times New Roman" panose="02020603050405020304" pitchFamily="18" charset="0"/>
                      </a:rPr>
                      <m:t>)</m:t>
                    </m:r>
                  </m:oMath>
                </a14:m>
                <a:endParaRPr lang="en-US" sz="2400" dirty="0">
                  <a:solidFill>
                    <a:srgbClr val="222222"/>
                  </a:solidFill>
                  <a:cs typeface="Times New Roman" panose="02020603050405020304" pitchFamily="18" charset="0"/>
                </a:endParaRPr>
              </a:p>
              <a:p>
                <a:pPr lvl="1"/>
                <a:r>
                  <a:rPr lang="en-US" sz="2400" dirty="0">
                    <a:solidFill>
                      <a:srgbClr val="222222"/>
                    </a:solidFill>
                    <a:cs typeface="Times New Roman" panose="02020603050405020304" pitchFamily="18" charset="0"/>
                  </a:rPr>
                  <a:t>A machine learning model presents a </a:t>
                </a:r>
                <a:r>
                  <a:rPr lang="en-US" sz="2400" b="1" dirty="0">
                    <a:solidFill>
                      <a:srgbClr val="222222"/>
                    </a:solidFill>
                    <a:cs typeface="Times New Roman" panose="02020603050405020304" pitchFamily="18" charset="0"/>
                  </a:rPr>
                  <a:t>possible data structure </a:t>
                </a:r>
                <a:r>
                  <a:rPr lang="en-US" sz="2400" dirty="0">
                    <a:solidFill>
                      <a:srgbClr val="222222"/>
                    </a:solidFill>
                    <a:cs typeface="Times New Roman" panose="02020603050405020304" pitchFamily="18" charset="0"/>
                  </a:rPr>
                  <a:t>that is really good at minimizing the loss function (difference between real and predicted probabilities)</a:t>
                </a:r>
              </a:p>
            </p:txBody>
          </p:sp>
        </mc:Choice>
        <mc:Fallback xmlns="">
          <p:sp>
            <p:nvSpPr>
              <p:cNvPr id="3" name="Content Placeholder 2">
                <a:extLst>
                  <a:ext uri="{FF2B5EF4-FFF2-40B4-BE49-F238E27FC236}">
                    <a16:creationId xmlns:a16="http://schemas.microsoft.com/office/drawing/2014/main" id="{130237EA-1978-2A79-30B2-65CCE20282E1}"/>
                  </a:ext>
                </a:extLst>
              </p:cNvPr>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t="-1305"/>
                </a:stretch>
              </a:blipFill>
            </p:spPr>
            <p:txBody>
              <a:bodyPr/>
              <a:lstStyle/>
              <a:p>
                <a:r>
                  <a:rPr lang="en-US">
                    <a:noFill/>
                  </a:rPr>
                  <a:t> </a:t>
                </a:r>
              </a:p>
            </p:txBody>
          </p:sp>
        </mc:Fallback>
      </mc:AlternateContent>
    </p:spTree>
    <p:extLst>
      <p:ext uri="{BB962C8B-B14F-4D97-AF65-F5344CB8AC3E}">
        <p14:creationId xmlns:p14="http://schemas.microsoft.com/office/powerpoint/2010/main" val="425404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08F1A-696A-0086-E7B7-E1967D6C7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FE0A4-B6E3-BB78-65AC-4AD781015D3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ML good for? What is it not good for? </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70E1531-2BD4-8DDF-5960-03EB061E9F85}"/>
              </a:ext>
            </a:extLst>
          </p:cNvPr>
          <p:cNvSpPr>
            <a:spLocks noGrp="1"/>
          </p:cNvSpPr>
          <p:nvPr>
            <p:ph idx="1"/>
          </p:nvPr>
        </p:nvSpPr>
        <p:spPr>
          <a:xfrm>
            <a:off x="609601" y="1066801"/>
            <a:ext cx="10015390" cy="5141388"/>
          </a:xfrm>
        </p:spPr>
        <p:txBody>
          <a:bodyPr>
            <a:noAutofit/>
          </a:bodyPr>
          <a:lstStyle/>
          <a:p>
            <a:r>
              <a:rPr lang="en-US" sz="2400" dirty="0">
                <a:solidFill>
                  <a:srgbClr val="222222"/>
                </a:solidFill>
                <a:cs typeface="Times New Roman" panose="02020603050405020304" pitchFamily="18" charset="0"/>
              </a:rPr>
              <a:t>Advantages: </a:t>
            </a:r>
          </a:p>
          <a:p>
            <a:pPr lvl="1"/>
            <a:r>
              <a:rPr lang="en-US" sz="2200" dirty="0">
                <a:solidFill>
                  <a:srgbClr val="222222"/>
                </a:solidFill>
                <a:cs typeface="Times New Roman" panose="02020603050405020304" pitchFamily="18" charset="0"/>
              </a:rPr>
              <a:t>Really great at prediction</a:t>
            </a:r>
          </a:p>
          <a:p>
            <a:pPr lvl="1"/>
            <a:r>
              <a:rPr lang="en-US" sz="2200" dirty="0">
                <a:solidFill>
                  <a:srgbClr val="222222"/>
                </a:solidFill>
                <a:cs typeface="Times New Roman" panose="02020603050405020304" pitchFamily="18" charset="0"/>
              </a:rPr>
              <a:t>Can be useful in building out descriptive stats</a:t>
            </a:r>
          </a:p>
          <a:p>
            <a:pPr lvl="1"/>
            <a:r>
              <a:rPr lang="en-US" sz="2200" dirty="0">
                <a:solidFill>
                  <a:srgbClr val="222222"/>
                </a:solidFill>
                <a:cs typeface="Times New Roman" panose="02020603050405020304" pitchFamily="18" charset="0"/>
              </a:rPr>
              <a:t>Can also be useful for </a:t>
            </a:r>
            <a:r>
              <a:rPr lang="en-US" sz="2200" b="1" dirty="0">
                <a:solidFill>
                  <a:srgbClr val="222222"/>
                </a:solidFill>
                <a:cs typeface="Times New Roman" panose="02020603050405020304" pitchFamily="18" charset="0"/>
              </a:rPr>
              <a:t>decomposition analyses</a:t>
            </a:r>
            <a:endParaRPr lang="en-US" sz="2200" dirty="0">
              <a:solidFill>
                <a:srgbClr val="222222"/>
              </a:solidFill>
              <a:cs typeface="Times New Roman" panose="02020603050405020304" pitchFamily="18" charset="0"/>
            </a:endParaRPr>
          </a:p>
          <a:p>
            <a:r>
              <a:rPr lang="en-US" sz="2400" dirty="0">
                <a:solidFill>
                  <a:srgbClr val="222222"/>
                </a:solidFill>
                <a:cs typeface="Times New Roman" panose="02020603050405020304" pitchFamily="18" charset="0"/>
              </a:rPr>
              <a:t>Disadvantages: </a:t>
            </a:r>
          </a:p>
          <a:p>
            <a:pPr lvl="1"/>
            <a:r>
              <a:rPr lang="en-US" sz="2200" dirty="0">
                <a:solidFill>
                  <a:srgbClr val="222222"/>
                </a:solidFill>
                <a:cs typeface="Times New Roman" panose="02020603050405020304" pitchFamily="18" charset="0"/>
              </a:rPr>
              <a:t>Cannot handle deep assumptions about the structure of the DGP </a:t>
            </a:r>
          </a:p>
          <a:p>
            <a:pPr lvl="1"/>
            <a:r>
              <a:rPr lang="en-US" sz="2200" dirty="0">
                <a:solidFill>
                  <a:srgbClr val="222222"/>
                </a:solidFill>
                <a:cs typeface="Times New Roman" panose="02020603050405020304" pitchFamily="18" charset="0"/>
              </a:rPr>
              <a:t>For example, cannot model selection bias or endogeneity without </a:t>
            </a:r>
            <a:r>
              <a:rPr lang="en-US" sz="2200" i="1" dirty="0">
                <a:solidFill>
                  <a:srgbClr val="222222"/>
                </a:solidFill>
                <a:cs typeface="Times New Roman" panose="02020603050405020304" pitchFamily="18" charset="0"/>
              </a:rPr>
              <a:t>ex-ante </a:t>
            </a:r>
            <a:r>
              <a:rPr lang="en-US" sz="2200" dirty="0">
                <a:solidFill>
                  <a:srgbClr val="222222"/>
                </a:solidFill>
                <a:cs typeface="Times New Roman" panose="02020603050405020304" pitchFamily="18" charset="0"/>
              </a:rPr>
              <a:t>assumptions by researcher (which defeats purpose of ML) </a:t>
            </a:r>
          </a:p>
          <a:p>
            <a:pPr lvl="1"/>
            <a:r>
              <a:rPr lang="en-US" sz="2200" dirty="0">
                <a:solidFill>
                  <a:srgbClr val="222222"/>
                </a:solidFill>
                <a:cs typeface="Times New Roman" panose="02020603050405020304" pitchFamily="18" charset="0"/>
              </a:rPr>
              <a:t>On its own, then, generally insufficient for causal questions</a:t>
            </a:r>
          </a:p>
          <a:p>
            <a:pPr lvl="1"/>
            <a:r>
              <a:rPr lang="en-US" sz="2200" dirty="0">
                <a:solidFill>
                  <a:srgbClr val="222222"/>
                </a:solidFill>
                <a:cs typeface="Times New Roman" panose="02020603050405020304" pitchFamily="18" charset="0"/>
              </a:rPr>
              <a:t>Can be combined with other methods to get causality </a:t>
            </a:r>
            <a:r>
              <a:rPr lang="en-US" sz="2200" b="1" dirty="0">
                <a:solidFill>
                  <a:srgbClr val="222222"/>
                </a:solidFill>
                <a:cs typeface="Times New Roman" panose="02020603050405020304" pitchFamily="18" charset="0"/>
              </a:rPr>
              <a:t>(double debiased ML + IV)</a:t>
            </a:r>
          </a:p>
        </p:txBody>
      </p:sp>
    </p:spTree>
    <p:extLst>
      <p:ext uri="{BB962C8B-B14F-4D97-AF65-F5344CB8AC3E}">
        <p14:creationId xmlns:p14="http://schemas.microsoft.com/office/powerpoint/2010/main" val="506718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E7A04-4793-67D5-3116-5CBAFFC1F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D5A35-3A52-7250-8768-8F5172825A00}"/>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Option 1: LASSO</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99D5582D-05D8-6B5C-268F-1D76AE0AF705}"/>
                  </a:ext>
                </a:extLst>
              </p:cNvPr>
              <p:cNvSpPr>
                <a:spLocks noGrp="1"/>
              </p:cNvSpPr>
              <p:nvPr>
                <p:ph idx="1"/>
              </p:nvPr>
            </p:nvSpPr>
            <p:spPr>
              <a:xfrm>
                <a:off x="609600" y="962232"/>
                <a:ext cx="9247632" cy="5217905"/>
              </a:xfrm>
            </p:spPr>
            <p:txBody>
              <a:bodyPr>
                <a:normAutofit fontScale="85000" lnSpcReduction="20000"/>
              </a:bodyPr>
              <a:lstStyle/>
              <a:p>
                <a:pPr marL="0" indent="0">
                  <a:buNone/>
                </a:pPr>
                <a:r>
                  <a:rPr lang="en-US" sz="2200" dirty="0"/>
                  <a:t>(</a:t>
                </a:r>
                <a:r>
                  <a:rPr lang="en-US" sz="2400" dirty="0"/>
                  <a:t>Least Absolute Shrinkage and Selection Operator)</a:t>
                </a:r>
              </a:p>
              <a:p>
                <a:r>
                  <a:rPr lang="en-US" sz="2400" b="1" dirty="0"/>
                  <a:t>Goal:</a:t>
                </a:r>
                <a:r>
                  <a:rPr lang="en-US" sz="2400" dirty="0"/>
                  <a:t> Simultaneously </a:t>
                </a:r>
                <a:r>
                  <a:rPr lang="en-US" sz="2400" b="1" dirty="0"/>
                  <a:t>regularize</a:t>
                </a:r>
                <a:r>
                  <a:rPr lang="en-US" sz="2400" dirty="0"/>
                  <a:t> and </a:t>
                </a:r>
                <a:r>
                  <a:rPr lang="en-US" sz="2400" b="1" dirty="0"/>
                  <a:t>select variables</a:t>
                </a:r>
                <a:r>
                  <a:rPr lang="en-US" sz="2400" dirty="0"/>
                  <a:t> in high-dimensional or multicollinear settings. Essentially, this is a </a:t>
                </a:r>
                <a:r>
                  <a:rPr lang="en-US" sz="2400" b="1" dirty="0"/>
                  <a:t>supercharged </a:t>
                </a:r>
                <a:r>
                  <a:rPr lang="en-US" sz="2400" dirty="0"/>
                  <a:t>linear model</a:t>
                </a:r>
              </a:p>
              <a:p>
                <a:r>
                  <a:rPr lang="en-US" sz="2400" b="1" dirty="0"/>
                  <a:t>Model</a:t>
                </a:r>
              </a:p>
              <a:p>
                <a:pPr marL="0" indent="0">
                  <a:buNone/>
                </a:pPr>
                <a14:m>
                  <m:oMathPara xmlns:m="http://schemas.openxmlformats.org/officeDocument/2006/math">
                    <m:oMathParaPr>
                      <m:jc m:val="centerGroup"/>
                    </m:oMathParaPr>
                    <m:oMath xmlns:m="http://schemas.openxmlformats.org/officeDocument/2006/math">
                      <m:sSup>
                        <m:sSupPr>
                          <m:ctrlPr>
                            <a:rPr lang="en-US" sz="2200" b="0" i="1" dirty="0" smtClean="0">
                              <a:latin typeface="Cambria Math" panose="02040503050406030204" pitchFamily="18" charset="0"/>
                            </a:rPr>
                          </m:ctrlPr>
                        </m:sSup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𝛽</m:t>
                              </m:r>
                            </m:e>
                          </m:acc>
                        </m:e>
                        <m:sup>
                          <m:r>
                            <a:rPr lang="en-US" sz="2200" b="0" i="1" dirty="0" smtClean="0">
                              <a:latin typeface="Cambria Math" panose="02040503050406030204" pitchFamily="18" charset="0"/>
                            </a:rPr>
                            <m:t>𝐿𝐴𝑆𝑆𝑂</m:t>
                          </m:r>
                        </m:sup>
                      </m:sSup>
                      <m:r>
                        <a:rPr lang="en-US" sz="2200" b="0" i="1" dirty="0" smtClean="0">
                          <a:latin typeface="Cambria Math" panose="02040503050406030204" pitchFamily="18" charset="0"/>
                        </a:rPr>
                        <m:t>=</m:t>
                      </m:r>
                      <m:func>
                        <m:funcPr>
                          <m:ctrlPr>
                            <a:rPr lang="en-US" sz="2200" b="0" i="1" dirty="0" smtClean="0">
                              <a:latin typeface="Cambria Math" panose="02040503050406030204" pitchFamily="18" charset="0"/>
                            </a:rPr>
                          </m:ctrlPr>
                        </m:funcPr>
                        <m:fName>
                          <m:r>
                            <m:rPr>
                              <m:sty m:val="p"/>
                            </m:rPr>
                            <a:rPr lang="en-US" sz="2200" b="0" i="0" dirty="0" smtClean="0">
                              <a:latin typeface="Cambria Math" panose="02040503050406030204" pitchFamily="18" charset="0"/>
                            </a:rPr>
                            <m:t>arg</m:t>
                          </m:r>
                        </m:fName>
                        <m:e>
                          <m:func>
                            <m:funcPr>
                              <m:ctrlPr>
                                <a:rPr lang="en-US" sz="2200" b="0" i="1" dirty="0" smtClean="0">
                                  <a:latin typeface="Cambria Math" panose="02040503050406030204" pitchFamily="18" charset="0"/>
                                </a:rPr>
                              </m:ctrlPr>
                            </m:funcPr>
                            <m:fName>
                              <m:limLow>
                                <m:limLowPr>
                                  <m:ctrlPr>
                                    <a:rPr lang="en-US" sz="2200" b="0" i="1" dirty="0" smtClean="0">
                                      <a:latin typeface="Cambria Math" panose="02040503050406030204" pitchFamily="18" charset="0"/>
                                    </a:rPr>
                                  </m:ctrlPr>
                                </m:limLowPr>
                                <m:e>
                                  <m:r>
                                    <m:rPr>
                                      <m:sty m:val="p"/>
                                    </m:rPr>
                                    <a:rPr lang="en-US" sz="2200" b="0" i="0" dirty="0" smtClean="0">
                                      <a:latin typeface="Cambria Math" panose="02040503050406030204" pitchFamily="18" charset="0"/>
                                    </a:rPr>
                                    <m:t>min</m:t>
                                  </m:r>
                                </m:e>
                                <m:lim>
                                  <m:r>
                                    <a:rPr lang="en-US" sz="2200" b="0" i="1" dirty="0" smtClean="0">
                                      <a:latin typeface="Cambria Math" panose="02040503050406030204" pitchFamily="18" charset="0"/>
                                    </a:rPr>
                                    <m:t>𝛽</m:t>
                                  </m:r>
                                </m:lim>
                              </m:limLow>
                            </m:fName>
                            <m:e>
                              <m:f>
                                <m:fPr>
                                  <m:ctrlPr>
                                    <a:rPr lang="en-US" sz="2200" b="0" i="1" dirty="0" smtClean="0">
                                      <a:latin typeface="Cambria Math" panose="02040503050406030204" pitchFamily="18" charset="0"/>
                                    </a:rPr>
                                  </m:ctrlPr>
                                </m:fPr>
                                <m:num>
                                  <m:r>
                                    <a:rPr lang="en-US" sz="2200" b="0" i="1" dirty="0" smtClean="0">
                                      <a:latin typeface="Cambria Math" panose="02040503050406030204" pitchFamily="18" charset="0"/>
                                    </a:rPr>
                                    <m:t>1</m:t>
                                  </m:r>
                                </m:num>
                                <m:den>
                                  <m:r>
                                    <a:rPr lang="en-US" sz="2200" b="0" i="1" dirty="0" smtClean="0">
                                      <a:latin typeface="Cambria Math" panose="02040503050406030204" pitchFamily="18" charset="0"/>
                                    </a:rPr>
                                    <m:t>2</m:t>
                                  </m:r>
                                  <m:r>
                                    <a:rPr lang="en-US" sz="2200" b="0" i="1" dirty="0" smtClean="0">
                                      <a:latin typeface="Cambria Math" panose="02040503050406030204" pitchFamily="18" charset="0"/>
                                    </a:rPr>
                                    <m:t>𝑛</m:t>
                                  </m:r>
                                </m:den>
                              </m:f>
                              <m:nary>
                                <m:naryPr>
                                  <m:chr m:val="∑"/>
                                  <m:supHide m:val="on"/>
                                  <m:ctrlPr>
                                    <a:rPr lang="en-US" sz="2200" b="0" i="1" dirty="0" smtClean="0">
                                      <a:latin typeface="Cambria Math" panose="02040503050406030204" pitchFamily="18" charset="0"/>
                                    </a:rPr>
                                  </m:ctrlPr>
                                </m:naryPr>
                                <m:sub>
                                  <m:r>
                                    <a:rPr lang="en-US" sz="2200" b="0" i="1" dirty="0" smtClean="0">
                                      <a:latin typeface="Cambria Math" panose="02040503050406030204" pitchFamily="18" charset="0"/>
                                    </a:rPr>
                                    <m:t>𝑖</m:t>
                                  </m:r>
                                </m:sub>
                                <m:sup/>
                                <m:e>
                                  <m:sSup>
                                    <m:sSupPr>
                                      <m:ctrlPr>
                                        <a:rPr lang="en-US" sz="2200" b="0" i="1" dirty="0" smtClean="0">
                                          <a:latin typeface="Cambria Math" panose="02040503050406030204" pitchFamily="18" charset="0"/>
                                        </a:rPr>
                                      </m:ctrlPr>
                                    </m:sSupPr>
                                    <m:e>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𝑦</m:t>
                                              </m:r>
                                            </m:e>
                                            <m:sub>
                                              <m:r>
                                                <a:rPr lang="en-US" sz="2200" b="0" i="1" dirty="0" smtClean="0">
                                                  <a:latin typeface="Cambria Math" panose="02040503050406030204" pitchFamily="18" charset="0"/>
                                                </a:rPr>
                                                <m:t>𝑖</m:t>
                                              </m:r>
                                            </m:sub>
                                          </m:sSub>
                                          <m:r>
                                            <a:rPr lang="en-US" sz="2200" b="0" i="1" dirty="0" smtClean="0">
                                              <a:latin typeface="Cambria Math" panose="02040503050406030204" pitchFamily="18" charset="0"/>
                                            </a:rPr>
                                            <m:t>−</m:t>
                                          </m:r>
                                          <m:sSubSup>
                                            <m:sSubSupPr>
                                              <m:ctrlPr>
                                                <a:rPr lang="en-US" sz="2200" b="0" i="1" dirty="0" smtClean="0">
                                                  <a:latin typeface="Cambria Math" panose="02040503050406030204" pitchFamily="18" charset="0"/>
                                                </a:rPr>
                                              </m:ctrlPr>
                                            </m:sSubSupPr>
                                            <m:e>
                                              <m:r>
                                                <a:rPr lang="en-US" sz="2200" b="0" i="1" dirty="0" smtClean="0">
                                                  <a:latin typeface="Cambria Math" panose="02040503050406030204" pitchFamily="18" charset="0"/>
                                                </a:rPr>
                                                <m:t>𝑥</m:t>
                                              </m:r>
                                            </m:e>
                                            <m:sub>
                                              <m:r>
                                                <a:rPr lang="en-US" sz="2200" b="0" i="1" dirty="0" smtClean="0">
                                                  <a:latin typeface="Cambria Math" panose="02040503050406030204" pitchFamily="18" charset="0"/>
                                                </a:rPr>
                                                <m:t>𝑖</m:t>
                                              </m:r>
                                            </m:sub>
                                            <m:sup>
                                              <m:r>
                                                <a:rPr lang="en-US" sz="2200" b="0" i="1" dirty="0" smtClean="0">
                                                  <a:latin typeface="Cambria Math" panose="02040503050406030204" pitchFamily="18" charset="0"/>
                                                </a:rPr>
                                                <m:t>′</m:t>
                                              </m:r>
                                            </m:sup>
                                          </m:sSubSup>
                                          <m:r>
                                            <a:rPr lang="en-US" sz="2200" b="0" i="1" dirty="0" smtClean="0">
                                              <a:latin typeface="Cambria Math" panose="02040503050406030204" pitchFamily="18" charset="0"/>
                                            </a:rPr>
                                            <m:t>𝛽</m:t>
                                          </m:r>
                                        </m:e>
                                      </m:d>
                                    </m:e>
                                    <m:sup>
                                      <m:r>
                                        <a:rPr lang="en-US" sz="2200" b="0" i="1" dirty="0" smtClean="0">
                                          <a:latin typeface="Cambria Math" panose="02040503050406030204" pitchFamily="18" charset="0"/>
                                        </a:rPr>
                                        <m:t>2</m:t>
                                      </m:r>
                                    </m:sup>
                                  </m:sSup>
                                  <m:r>
                                    <a:rPr lang="en-US" sz="2200" b="0" i="1" dirty="0" smtClean="0">
                                      <a:latin typeface="Cambria Math" panose="02040503050406030204" pitchFamily="18" charset="0"/>
                                    </a:rPr>
                                    <m:t>+</m:t>
                                  </m:r>
                                  <m:r>
                                    <a:rPr lang="en-US" sz="2200" b="0" i="1" dirty="0" smtClean="0">
                                      <a:latin typeface="Cambria Math" panose="02040503050406030204" pitchFamily="18" charset="0"/>
                                    </a:rPr>
                                    <m:t>𝜆</m:t>
                                  </m:r>
                                  <m:nary>
                                    <m:naryPr>
                                      <m:chr m:val="∑"/>
                                      <m:supHide m:val="on"/>
                                      <m:ctrlPr>
                                        <a:rPr lang="en-US" sz="2200" b="0" i="1" dirty="0" smtClean="0">
                                          <a:latin typeface="Cambria Math" panose="02040503050406030204" pitchFamily="18" charset="0"/>
                                        </a:rPr>
                                      </m:ctrlPr>
                                    </m:naryPr>
                                    <m:sub>
                                      <m:r>
                                        <a:rPr lang="en-US" sz="2200" b="0" i="1" dirty="0" smtClean="0">
                                          <a:latin typeface="Cambria Math" panose="02040503050406030204" pitchFamily="18" charset="0"/>
                                        </a:rPr>
                                        <m:t>𝑗</m:t>
                                      </m:r>
                                    </m:sub>
                                    <m:sup/>
                                    <m:e>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𝛽</m:t>
                                          </m:r>
                                        </m:e>
                                        <m:sub>
                                          <m:r>
                                            <a:rPr lang="en-US" sz="2200" b="0" i="1" dirty="0" smtClean="0">
                                              <a:latin typeface="Cambria Math" panose="02040503050406030204" pitchFamily="18" charset="0"/>
                                            </a:rPr>
                                            <m:t>𝑗</m:t>
                                          </m:r>
                                        </m:sub>
                                      </m:sSub>
                                      <m:r>
                                        <a:rPr lang="en-US" sz="2200" b="0" i="1" dirty="0" smtClean="0">
                                          <a:latin typeface="Cambria Math" panose="02040503050406030204" pitchFamily="18" charset="0"/>
                                        </a:rPr>
                                        <m:t>|</m:t>
                                      </m:r>
                                    </m:e>
                                  </m:nary>
                                </m:e>
                              </m:nary>
                            </m:e>
                          </m:func>
                        </m:e>
                      </m:func>
                    </m:oMath>
                  </m:oMathPara>
                </a14:m>
                <a:endParaRPr lang="en-US" sz="2200" dirty="0"/>
              </a:p>
              <a:p>
                <a:pPr marL="0" indent="0">
                  <a:buNone/>
                </a:pPr>
                <a:r>
                  <a:rPr lang="en-US" sz="2400" b="1" dirty="0"/>
                  <a:t>Key Properties</a:t>
                </a:r>
              </a:p>
              <a:p>
                <a:r>
                  <a:rPr lang="en-US" sz="2400" b="1" dirty="0"/>
                  <a:t>New penalty term: </a:t>
                </a:r>
                <a:r>
                  <a:rPr lang="en-US" sz="2400" dirty="0"/>
                  <a:t>shrinks coefficients toward zero; can set some </a:t>
                </a:r>
                <a:r>
                  <a:rPr lang="en-US" sz="2400" b="1" dirty="0"/>
                  <a:t>exactly to zero</a:t>
                </a:r>
                <a:r>
                  <a:rPr lang="en-US" sz="2400" dirty="0"/>
                  <a:t> → </a:t>
                </a:r>
                <a:r>
                  <a:rPr lang="en-US" sz="2400" b="1" dirty="0"/>
                  <a:t>automatic variable selection</a:t>
                </a:r>
                <a:r>
                  <a:rPr lang="en-US" sz="2400" dirty="0"/>
                  <a:t>.</a:t>
                </a:r>
              </a:p>
              <a:p>
                <a:r>
                  <a:rPr lang="en-US" sz="2400" dirty="0"/>
                  <a:t>Biased estimator, but often with </a:t>
                </a:r>
                <a:r>
                  <a:rPr lang="en-US" sz="2400" b="1" dirty="0"/>
                  <a:t>lower MSE</a:t>
                </a:r>
                <a:r>
                  <a:rPr lang="en-US" sz="2400" dirty="0"/>
                  <a:t> than OLS in high-dimensional settings.</a:t>
                </a:r>
              </a:p>
              <a:p>
                <a:r>
                  <a:rPr lang="en-US" sz="2400" dirty="0"/>
                  <a:t>LASSO tends to select more variables than the true model (over-selection).</a:t>
                </a:r>
              </a:p>
              <a:p>
                <a:r>
                  <a:rPr lang="en-US" sz="2400" dirty="0"/>
                  <a:t>Useful when you have: High-dimensional regressors, multicollinearity</a:t>
                </a:r>
              </a:p>
              <a:p>
                <a:r>
                  <a:rPr lang="en-US" sz="2400" dirty="0" err="1"/>
                  <a:t>Userful</a:t>
                </a:r>
                <a:r>
                  <a:rPr lang="en-US" sz="2400" dirty="0"/>
                  <a:t> for Prediction-focused settings or as a first stage for structural models</a:t>
                </a:r>
              </a:p>
              <a:p>
                <a:pPr marL="0" indent="0">
                  <a:buNone/>
                </a:pPr>
                <a:endParaRPr lang="en-US" sz="2200" dirty="0"/>
              </a:p>
            </p:txBody>
          </p:sp>
        </mc:Choice>
        <mc:Fallback xmlns="">
          <p:sp>
            <p:nvSpPr>
              <p:cNvPr id="9" name="Content Placeholder 8">
                <a:extLst>
                  <a:ext uri="{FF2B5EF4-FFF2-40B4-BE49-F238E27FC236}">
                    <a16:creationId xmlns:a16="http://schemas.microsoft.com/office/drawing/2014/main" id="{99D5582D-05D8-6B5C-268F-1D76AE0AF705}"/>
                  </a:ext>
                </a:extLst>
              </p:cNvPr>
              <p:cNvSpPr>
                <a:spLocks noGrp="1" noRot="1" noChangeAspect="1" noMove="1" noResize="1" noEditPoints="1" noAdjustHandles="1" noChangeArrowheads="1" noChangeShapeType="1" noTextEdit="1"/>
              </p:cNvSpPr>
              <p:nvPr>
                <p:ph idx="1"/>
              </p:nvPr>
            </p:nvSpPr>
            <p:spPr>
              <a:xfrm>
                <a:off x="609600" y="962232"/>
                <a:ext cx="9247632" cy="5217905"/>
              </a:xfrm>
              <a:blipFill>
                <a:blip r:embed="rId3"/>
                <a:stretch>
                  <a:fillRect l="-659" t="-2103" r="-396"/>
                </a:stretch>
              </a:blipFill>
            </p:spPr>
            <p:txBody>
              <a:bodyPr/>
              <a:lstStyle/>
              <a:p>
                <a:r>
                  <a:rPr lang="en-US">
                    <a:noFill/>
                  </a:rPr>
                  <a:t> </a:t>
                </a:r>
              </a:p>
            </p:txBody>
          </p:sp>
        </mc:Fallback>
      </mc:AlternateContent>
    </p:spTree>
    <p:extLst>
      <p:ext uri="{BB962C8B-B14F-4D97-AF65-F5344CB8AC3E}">
        <p14:creationId xmlns:p14="http://schemas.microsoft.com/office/powerpoint/2010/main" val="1655810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614FE-9388-C7DE-B810-D30A449950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9A3FED-2C9B-F4BF-CE17-815F9FE080B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82A3E4D3-0515-CD33-CFE9-C4590B666CD2}"/>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43790BD4-E472-5904-2730-641ABEC76BFC}"/>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p:txBody>
      </p:sp>
      <p:pic>
        <p:nvPicPr>
          <p:cNvPr id="6" name="Picture 5">
            <a:extLst>
              <a:ext uri="{FF2B5EF4-FFF2-40B4-BE49-F238E27FC236}">
                <a16:creationId xmlns:a16="http://schemas.microsoft.com/office/drawing/2014/main" id="{708C9BF8-5914-08D4-9113-8C13615E42C8}"/>
              </a:ext>
            </a:extLst>
          </p:cNvPr>
          <p:cNvPicPr>
            <a:picLocks noChangeAspect="1"/>
          </p:cNvPicPr>
          <p:nvPr/>
        </p:nvPicPr>
        <p:blipFill>
          <a:blip r:embed="rId4"/>
          <a:stretch>
            <a:fillRect/>
          </a:stretch>
        </p:blipFill>
        <p:spPr>
          <a:xfrm>
            <a:off x="5570795" y="2922113"/>
            <a:ext cx="5478205" cy="3623209"/>
          </a:xfrm>
          <a:prstGeom prst="rect">
            <a:avLst/>
          </a:prstGeom>
        </p:spPr>
      </p:pic>
    </p:spTree>
    <p:extLst>
      <p:ext uri="{BB962C8B-B14F-4D97-AF65-F5344CB8AC3E}">
        <p14:creationId xmlns:p14="http://schemas.microsoft.com/office/powerpoint/2010/main" val="1719105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84D3-35A7-7B89-6439-7EFD1C696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400A7-95F8-ADE1-3689-67FC55AA654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E42EDEEB-F2F3-1F26-3F42-60424132FF92}"/>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9DDEEB4C-692F-2CE5-BC5D-798614B0EF48}"/>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a:t>
            </a:r>
          </a:p>
        </p:txBody>
      </p:sp>
    </p:spTree>
    <p:extLst>
      <p:ext uri="{BB962C8B-B14F-4D97-AF65-F5344CB8AC3E}">
        <p14:creationId xmlns:p14="http://schemas.microsoft.com/office/powerpoint/2010/main" val="3576157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D25B-6356-160B-4E7C-E056A93FDD7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CEB139F-EC8F-D82E-9C16-2C35AD4403F5}"/>
              </a:ext>
            </a:extLst>
          </p:cNvPr>
          <p:cNvPicPr>
            <a:picLocks noChangeAspect="1"/>
          </p:cNvPicPr>
          <p:nvPr/>
        </p:nvPicPr>
        <p:blipFill>
          <a:blip r:embed="rId3"/>
          <a:stretch>
            <a:fillRect/>
          </a:stretch>
        </p:blipFill>
        <p:spPr>
          <a:xfrm>
            <a:off x="553646" y="895199"/>
            <a:ext cx="8802328" cy="5753903"/>
          </a:xfrm>
          <a:prstGeom prst="rect">
            <a:avLst/>
          </a:prstGeom>
        </p:spPr>
      </p:pic>
      <p:sp>
        <p:nvSpPr>
          <p:cNvPr id="7" name="Title 1">
            <a:extLst>
              <a:ext uri="{FF2B5EF4-FFF2-40B4-BE49-F238E27FC236}">
                <a16:creationId xmlns:a16="http://schemas.microsoft.com/office/drawing/2014/main" id="{B24E643E-2963-8974-97F7-6A7022AD9BFD}"/>
              </a:ext>
            </a:extLst>
          </p:cNvPr>
          <p:cNvSpPr>
            <a:spLocks noGrp="1"/>
          </p:cNvSpPr>
          <p:nvPr>
            <p:ph type="title"/>
          </p:nvPr>
        </p:nvSpPr>
        <p:spPr>
          <a:xfrm>
            <a:off x="253512" y="0"/>
            <a:ext cx="11816568" cy="924107"/>
          </a:xfrm>
        </p:spPr>
        <p:txBody>
          <a:bodyPr>
            <a:normAutofit/>
          </a:bodyPr>
          <a:lstStyle/>
          <a:p>
            <a:r>
              <a:rPr lang="en-US" sz="3900" b="1" dirty="0">
                <a:solidFill>
                  <a:schemeClr val="accent1">
                    <a:lumMod val="75000"/>
                  </a:schemeClr>
                </a:solidFill>
              </a:rPr>
              <a:t>Formal Care Effects Larger for Spouses Requiring Care</a:t>
            </a:r>
          </a:p>
        </p:txBody>
      </p:sp>
      <p:cxnSp>
        <p:nvCxnSpPr>
          <p:cNvPr id="6" name="Straight Arrow Connector 5">
            <a:extLst>
              <a:ext uri="{FF2B5EF4-FFF2-40B4-BE49-F238E27FC236}">
                <a16:creationId xmlns:a16="http://schemas.microsoft.com/office/drawing/2014/main" id="{D70EA09B-0A76-7048-8C9B-D09E6146D485}"/>
              </a:ext>
            </a:extLst>
          </p:cNvPr>
          <p:cNvCxnSpPr>
            <a:cxnSpLocks/>
            <a:stCxn id="11" idx="1"/>
          </p:cNvCxnSpPr>
          <p:nvPr/>
        </p:nvCxnSpPr>
        <p:spPr>
          <a:xfrm flipH="1">
            <a:off x="6756400" y="1767458"/>
            <a:ext cx="1022403" cy="709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743453F-5BE9-5412-B93C-D9E269009DA1}"/>
              </a:ext>
            </a:extLst>
          </p:cNvPr>
          <p:cNvCxnSpPr>
            <a:cxnSpLocks/>
          </p:cNvCxnSpPr>
          <p:nvPr/>
        </p:nvCxnSpPr>
        <p:spPr>
          <a:xfrm flipH="1" flipV="1">
            <a:off x="8229600" y="4905877"/>
            <a:ext cx="527680" cy="1056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DAF438E-EB8D-82E8-13E8-F16E4C980F90}"/>
              </a:ext>
            </a:extLst>
          </p:cNvPr>
          <p:cNvSpPr txBox="1"/>
          <p:nvPr/>
        </p:nvSpPr>
        <p:spPr>
          <a:xfrm>
            <a:off x="8742881" y="5878209"/>
            <a:ext cx="2895473" cy="646331"/>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Outcome spouse does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have a chronic condition</a:t>
            </a:r>
            <a:endPar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A91A5E71-1BBF-D461-1B6E-CF52E237D474}"/>
              </a:ext>
            </a:extLst>
          </p:cNvPr>
          <p:cNvSpPr txBox="1"/>
          <p:nvPr/>
        </p:nvSpPr>
        <p:spPr>
          <a:xfrm>
            <a:off x="7778803" y="1582792"/>
            <a:ext cx="4040510"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Outcome spouse has a chronic condition</a:t>
            </a:r>
            <a:endPar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7076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375FA-B953-BBF3-BB03-648359F3B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B69D2-D6FF-54AA-7C64-22A8815D44A0}"/>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9A8AB99-7273-AE13-1483-B5C01122B2C4}"/>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FC15186F-1ABE-556F-1FFD-2A44E9C2A40A}"/>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 On the other hand, you might have </a:t>
            </a:r>
            <a:r>
              <a:rPr lang="en-US" sz="2200" b="1" dirty="0"/>
              <a:t>health effects: </a:t>
            </a:r>
            <a:r>
              <a:rPr lang="en-US" sz="2200" dirty="0"/>
              <a:t>especially things like “heartbreak effect”</a:t>
            </a:r>
          </a:p>
        </p:txBody>
      </p:sp>
    </p:spTree>
    <p:extLst>
      <p:ext uri="{BB962C8B-B14F-4D97-AF65-F5344CB8AC3E}">
        <p14:creationId xmlns:p14="http://schemas.microsoft.com/office/powerpoint/2010/main" val="3957437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8F53E-E427-EE96-D7BD-20022CED8488}"/>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A1B1057A-B8C4-1328-D3CB-A2B5AAC70675}"/>
              </a:ext>
            </a:extLst>
          </p:cNvPr>
          <p:cNvSpPr>
            <a:spLocks noGrp="1"/>
          </p:cNvSpPr>
          <p:nvPr>
            <p:ph type="title"/>
          </p:nvPr>
        </p:nvSpPr>
        <p:spPr>
          <a:xfrm>
            <a:off x="253512" y="0"/>
            <a:ext cx="11816568" cy="924107"/>
          </a:xfrm>
        </p:spPr>
        <p:txBody>
          <a:bodyPr>
            <a:normAutofit/>
          </a:bodyPr>
          <a:lstStyle/>
          <a:p>
            <a:r>
              <a:rPr lang="en-US" sz="3900" b="1" dirty="0">
                <a:solidFill>
                  <a:schemeClr val="accent1">
                    <a:lumMod val="75000"/>
                  </a:schemeClr>
                </a:solidFill>
              </a:rPr>
              <a:t>Health Effects: Mortality</a:t>
            </a:r>
          </a:p>
        </p:txBody>
      </p:sp>
      <p:pic>
        <p:nvPicPr>
          <p:cNvPr id="2" name="Picture 1">
            <a:extLst>
              <a:ext uri="{FF2B5EF4-FFF2-40B4-BE49-F238E27FC236}">
                <a16:creationId xmlns:a16="http://schemas.microsoft.com/office/drawing/2014/main" id="{74F49820-0259-0E73-2E69-4E4926A9FF2A}"/>
              </a:ext>
            </a:extLst>
          </p:cNvPr>
          <p:cNvPicPr>
            <a:picLocks noChangeAspect="1"/>
          </p:cNvPicPr>
          <p:nvPr/>
        </p:nvPicPr>
        <p:blipFill>
          <a:blip r:embed="rId3"/>
          <a:stretch>
            <a:fillRect/>
          </a:stretch>
        </p:blipFill>
        <p:spPr>
          <a:xfrm>
            <a:off x="531327" y="1074285"/>
            <a:ext cx="8363575" cy="5614272"/>
          </a:xfrm>
          <a:prstGeom prst="rect">
            <a:avLst/>
          </a:prstGeom>
        </p:spPr>
      </p:pic>
    </p:spTree>
    <p:extLst>
      <p:ext uri="{BB962C8B-B14F-4D97-AF65-F5344CB8AC3E}">
        <p14:creationId xmlns:p14="http://schemas.microsoft.com/office/powerpoint/2010/main" val="61808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51C0-637E-E2AB-C146-63A16E8ED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EA2F4-2E77-2F6D-CA90-EF9A9EB47C2A}"/>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 LASSO example</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0E40A31-DFF7-EB0D-8982-6AE8E8EC3F98}"/>
              </a:ext>
            </a:extLst>
          </p:cNvPr>
          <p:cNvPicPr>
            <a:picLocks noGrp="1" noChangeAspect="1"/>
          </p:cNvPicPr>
          <p:nvPr>
            <p:ph idx="1"/>
          </p:nvPr>
        </p:nvPicPr>
        <p:blipFill>
          <a:blip r:embed="rId3"/>
          <a:stretch>
            <a:fillRect/>
          </a:stretch>
        </p:blipFill>
        <p:spPr>
          <a:xfrm>
            <a:off x="7112992" y="18574"/>
            <a:ext cx="4108693" cy="1581626"/>
          </a:xfrm>
          <a:prstGeom prst="rect">
            <a:avLst/>
          </a:prstGeom>
        </p:spPr>
      </p:pic>
      <p:sp>
        <p:nvSpPr>
          <p:cNvPr id="5" name="Content Placeholder 8">
            <a:extLst>
              <a:ext uri="{FF2B5EF4-FFF2-40B4-BE49-F238E27FC236}">
                <a16:creationId xmlns:a16="http://schemas.microsoft.com/office/drawing/2014/main" id="{94191CE1-1B22-E243-2065-AD9D2C4A2B51}"/>
              </a:ext>
            </a:extLst>
          </p:cNvPr>
          <p:cNvSpPr txBox="1">
            <a:spLocks/>
          </p:cNvSpPr>
          <p:nvPr/>
        </p:nvSpPr>
        <p:spPr>
          <a:xfrm>
            <a:off x="609600" y="1600200"/>
            <a:ext cx="10439400" cy="4579937"/>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pPr marL="0" indent="0">
              <a:buFont typeface="Arial" pitchFamily="34" charset="0"/>
              <a:buNone/>
            </a:pPr>
            <a:r>
              <a:rPr lang="en-US" sz="2200" dirty="0"/>
              <a:t>The question: how does </a:t>
            </a:r>
            <a:r>
              <a:rPr lang="en-US" sz="2200" i="1" dirty="0"/>
              <a:t>losing </a:t>
            </a:r>
            <a:r>
              <a:rPr lang="en-US" sz="2200" dirty="0"/>
              <a:t>access to a source of informal care affect takeup of formal care among the elderly?</a:t>
            </a:r>
          </a:p>
          <a:p>
            <a:pPr marL="0" indent="0">
              <a:buFont typeface="Arial" pitchFamily="34" charset="0"/>
              <a:buNone/>
            </a:pPr>
            <a:r>
              <a:rPr lang="en-US" sz="2200" dirty="0"/>
              <a:t>Research design: Dynamic difference in differences using quasi-exogenous variation in when shocks occurred to households</a:t>
            </a:r>
          </a:p>
          <a:p>
            <a:pPr marL="0" indent="0">
              <a:buFont typeface="Arial" pitchFamily="34" charset="0"/>
              <a:buNone/>
            </a:pPr>
            <a:r>
              <a:rPr lang="en-US" sz="2200" dirty="0"/>
              <a:t>Mechanisms: What could drive this effect? On the one hand, you might have a </a:t>
            </a:r>
            <a:r>
              <a:rPr lang="en-US" sz="2200" b="1" dirty="0"/>
              <a:t>substitution effect: </a:t>
            </a:r>
            <a:r>
              <a:rPr lang="en-US" sz="2200" dirty="0"/>
              <a:t>simply can’t get informal care, so you need formal care. On the other hand, you might have </a:t>
            </a:r>
            <a:r>
              <a:rPr lang="en-US" sz="2200" b="1" dirty="0"/>
              <a:t>health effects: </a:t>
            </a:r>
            <a:r>
              <a:rPr lang="en-US" sz="2200" dirty="0"/>
              <a:t>especially things like “heartbreak effect”</a:t>
            </a:r>
          </a:p>
          <a:p>
            <a:pPr marL="0" indent="0">
              <a:buFont typeface="Arial" pitchFamily="34" charset="0"/>
              <a:buNone/>
            </a:pPr>
            <a:r>
              <a:rPr lang="en-US" sz="2200" dirty="0"/>
              <a:t>Main role for ML: </a:t>
            </a:r>
            <a:r>
              <a:rPr lang="en-US" sz="2200" b="1" dirty="0"/>
              <a:t>how can we decompose the relative effects here?</a:t>
            </a:r>
            <a:endParaRPr lang="en-US" sz="2200" dirty="0"/>
          </a:p>
        </p:txBody>
      </p:sp>
    </p:spTree>
    <p:extLst>
      <p:ext uri="{BB962C8B-B14F-4D97-AF65-F5344CB8AC3E}">
        <p14:creationId xmlns:p14="http://schemas.microsoft.com/office/powerpoint/2010/main" val="326824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CF61-DEC0-3226-57F6-CB57F3E91C2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8F406D5-3929-E7E3-ED41-68C70007C359}"/>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Decomposition</a:t>
            </a:r>
          </a:p>
        </p:txBody>
      </p:sp>
      <p:sp>
        <p:nvSpPr>
          <p:cNvPr id="3" name="Content Placeholder 2">
            <a:extLst>
              <a:ext uri="{FF2B5EF4-FFF2-40B4-BE49-F238E27FC236}">
                <a16:creationId xmlns:a16="http://schemas.microsoft.com/office/drawing/2014/main" id="{4AE47C7A-ACF0-9DD8-9C29-6839FE934B7D}"/>
              </a:ext>
            </a:extLst>
          </p:cNvPr>
          <p:cNvSpPr>
            <a:spLocks noGrp="1"/>
          </p:cNvSpPr>
          <p:nvPr>
            <p:ph idx="1"/>
          </p:nvPr>
        </p:nvSpPr>
        <p:spPr>
          <a:xfrm>
            <a:off x="838199" y="1284455"/>
            <a:ext cx="10815735" cy="5489572"/>
          </a:xfrm>
        </p:spPr>
        <p:txBody>
          <a:bodyPr>
            <a:noAutofit/>
          </a:bodyPr>
          <a:lstStyle/>
          <a:p>
            <a:r>
              <a:rPr lang="en-US" dirty="0"/>
              <a:t>Data requirement: All SNF stays must be preceded by hospitalization to qualify for Medicare payment. We have rich administrative data here we can exploit!</a:t>
            </a:r>
          </a:p>
          <a:p>
            <a:pPr lvl="1"/>
            <a:endParaRPr lang="en-US" dirty="0"/>
          </a:p>
          <a:p>
            <a:r>
              <a:rPr lang="en-US" dirty="0"/>
              <a:t>Theoretical motivation: SNF effect could come from 2 sources:</a:t>
            </a:r>
          </a:p>
          <a:p>
            <a:pPr lvl="1"/>
            <a:r>
              <a:rPr lang="en-US" dirty="0"/>
              <a:t>Normal “flow” of hospitalizations shift from discharge home to discharge to SNF in absence of spouse (substitution effect)</a:t>
            </a:r>
          </a:p>
          <a:p>
            <a:pPr lvl="1"/>
            <a:r>
              <a:rPr lang="en-US" dirty="0"/>
              <a:t>New hospitalizations = more SNF stays (health effect)</a:t>
            </a:r>
          </a:p>
          <a:p>
            <a:pPr lvl="2"/>
            <a:endParaRPr lang="en-US" dirty="0"/>
          </a:p>
          <a:p>
            <a:r>
              <a:rPr lang="en-US" dirty="0"/>
              <a:t>Use ML prediction (LASSO) at hospitalization level to predict the underlying probability of being discharged to a SNF</a:t>
            </a:r>
          </a:p>
          <a:p>
            <a:pPr lvl="1"/>
            <a:r>
              <a:rPr lang="en-US" dirty="0"/>
              <a:t>Based on patient demographics and hospitalization clinical characteristics</a:t>
            </a:r>
          </a:p>
          <a:p>
            <a:pPr lvl="1"/>
            <a:endParaRPr lang="en-US" dirty="0"/>
          </a:p>
        </p:txBody>
      </p:sp>
    </p:spTree>
    <p:extLst>
      <p:ext uri="{BB962C8B-B14F-4D97-AF65-F5344CB8AC3E}">
        <p14:creationId xmlns:p14="http://schemas.microsoft.com/office/powerpoint/2010/main" val="3055812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9DF82-0788-0D08-F9C9-55F3FD9EA90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F7ACAB44-1875-B687-0B82-91DD00DB9B3B}"/>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Decomposition</a:t>
            </a:r>
          </a:p>
        </p:txBody>
      </p:sp>
      <p:pic>
        <p:nvPicPr>
          <p:cNvPr id="4" name="Content Placeholder 3">
            <a:extLst>
              <a:ext uri="{FF2B5EF4-FFF2-40B4-BE49-F238E27FC236}">
                <a16:creationId xmlns:a16="http://schemas.microsoft.com/office/drawing/2014/main" id="{AC9AC7B7-BD86-86B9-51DB-B68DEEFDC98B}"/>
              </a:ext>
            </a:extLst>
          </p:cNvPr>
          <p:cNvPicPr>
            <a:picLocks noGrp="1" noChangeAspect="1"/>
          </p:cNvPicPr>
          <p:nvPr>
            <p:ph idx="1"/>
          </p:nvPr>
        </p:nvPicPr>
        <p:blipFill>
          <a:blip r:embed="rId3"/>
          <a:stretch>
            <a:fillRect/>
          </a:stretch>
        </p:blipFill>
        <p:spPr>
          <a:xfrm>
            <a:off x="990600" y="914400"/>
            <a:ext cx="8358155" cy="5489575"/>
          </a:xfrm>
          <a:prstGeom prst="rect">
            <a:avLst/>
          </a:prstGeom>
        </p:spPr>
      </p:pic>
    </p:spTree>
    <p:extLst>
      <p:ext uri="{BB962C8B-B14F-4D97-AF65-F5344CB8AC3E}">
        <p14:creationId xmlns:p14="http://schemas.microsoft.com/office/powerpoint/2010/main" val="1682517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E79E-7067-4F8E-DC5B-63B28AF9A270}"/>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2906DED-D61E-2597-3B93-47F554876DE4}"/>
              </a:ext>
            </a:extLst>
          </p:cNvPr>
          <p:cNvSpPr>
            <a:spLocks noGrp="1"/>
          </p:cNvSpPr>
          <p:nvPr>
            <p:ph type="title"/>
          </p:nvPr>
        </p:nvSpPr>
        <p:spPr>
          <a:xfrm>
            <a:off x="838200" y="0"/>
            <a:ext cx="10713098" cy="1325563"/>
          </a:xfrm>
        </p:spPr>
        <p:txBody>
          <a:bodyPr/>
          <a:lstStyle/>
          <a:p>
            <a:r>
              <a:rPr lang="en-US" b="1" dirty="0">
                <a:solidFill>
                  <a:schemeClr val="accent1">
                    <a:lumMod val="75000"/>
                  </a:schemeClr>
                </a:solidFill>
              </a:rPr>
              <a:t>Change in Predicted </a:t>
            </a:r>
            <a:r>
              <a:rPr lang="en-US" b="1" dirty="0" err="1">
                <a:solidFill>
                  <a:schemeClr val="accent1">
                    <a:lumMod val="75000"/>
                  </a:schemeClr>
                </a:solidFill>
              </a:rPr>
              <a:t>Pr</a:t>
            </a:r>
            <a:r>
              <a:rPr lang="en-US" b="1" dirty="0">
                <a:solidFill>
                  <a:schemeClr val="accent1">
                    <a:lumMod val="75000"/>
                  </a:schemeClr>
                </a:solidFill>
              </a:rPr>
              <a:t>(SNF Discharge)</a:t>
            </a:r>
          </a:p>
        </p:txBody>
      </p:sp>
      <p:pic>
        <p:nvPicPr>
          <p:cNvPr id="3" name="Picture 2">
            <a:extLst>
              <a:ext uri="{FF2B5EF4-FFF2-40B4-BE49-F238E27FC236}">
                <a16:creationId xmlns:a16="http://schemas.microsoft.com/office/drawing/2014/main" id="{E4595AF7-E546-0067-9E77-B4E425E8B8E6}"/>
              </a:ext>
            </a:extLst>
          </p:cNvPr>
          <p:cNvPicPr>
            <a:picLocks noChangeAspect="1"/>
          </p:cNvPicPr>
          <p:nvPr/>
        </p:nvPicPr>
        <p:blipFill>
          <a:blip r:embed="rId3"/>
          <a:stretch>
            <a:fillRect/>
          </a:stretch>
        </p:blipFill>
        <p:spPr>
          <a:xfrm>
            <a:off x="457200" y="914400"/>
            <a:ext cx="8939918" cy="5552691"/>
          </a:xfrm>
          <a:prstGeom prst="rect">
            <a:avLst/>
          </a:prstGeom>
        </p:spPr>
      </p:pic>
    </p:spTree>
    <p:extLst>
      <p:ext uri="{BB962C8B-B14F-4D97-AF65-F5344CB8AC3E}">
        <p14:creationId xmlns:p14="http://schemas.microsoft.com/office/powerpoint/2010/main" val="1490584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C649F-8A94-4F7F-AB91-D8D54D9B4920}"/>
            </a:ext>
          </a:extLst>
        </p:cNvPr>
        <p:cNvGrpSpPr/>
        <p:nvPr/>
      </p:nvGrpSpPr>
      <p:grpSpPr>
        <a:xfrm>
          <a:off x="0" y="0"/>
          <a:ext cx="0" cy="0"/>
          <a:chOff x="0" y="0"/>
          <a:chExt cx="0" cy="0"/>
        </a:xfrm>
      </p:grpSpPr>
      <p:pic>
        <p:nvPicPr>
          <p:cNvPr id="2050" name="Picture 2" descr="General structure of decision tree-based ensemble models. | Download ...">
            <a:extLst>
              <a:ext uri="{FF2B5EF4-FFF2-40B4-BE49-F238E27FC236}">
                <a16:creationId xmlns:a16="http://schemas.microsoft.com/office/drawing/2014/main" id="{7E0471A7-75E2-5074-0B7C-5AA769D657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00800" y="2406454"/>
            <a:ext cx="4853356" cy="28513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FECBD1-020F-AACF-5F99-F29A2D6ED0A3}"/>
              </a:ext>
            </a:extLst>
          </p:cNvPr>
          <p:cNvSpPr>
            <a:spLocks noGrp="1"/>
          </p:cNvSpPr>
          <p:nvPr>
            <p:ph type="title"/>
          </p:nvPr>
        </p:nvSpPr>
        <p:spPr>
          <a:xfrm>
            <a:off x="718874" y="304800"/>
            <a:ext cx="7586926" cy="609600"/>
          </a:xfrm>
        </p:spPr>
        <p:txBody>
          <a:bodyPr>
            <a:normAutofit fontScale="90000"/>
          </a:bodyPr>
          <a:lstStyle/>
          <a:p>
            <a:r>
              <a:rPr lang="en-US" dirty="0">
                <a:cs typeface="Times New Roman" panose="02020603050405020304" pitchFamily="18" charset="0"/>
              </a:rPr>
              <a:t>Option 2: Random Forests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73FB32-5DA5-787D-F030-CEB9AF6EA789}"/>
              </a:ext>
            </a:extLst>
          </p:cNvPr>
          <p:cNvSpPr>
            <a:spLocks noGrp="1"/>
          </p:cNvSpPr>
          <p:nvPr>
            <p:ph idx="1"/>
          </p:nvPr>
        </p:nvSpPr>
        <p:spPr>
          <a:xfrm>
            <a:off x="718874" y="914400"/>
            <a:ext cx="6215326" cy="5265737"/>
          </a:xfrm>
        </p:spPr>
        <p:txBody>
          <a:bodyPr>
            <a:noAutofit/>
          </a:bodyPr>
          <a:lstStyle/>
          <a:p>
            <a:r>
              <a:rPr lang="en-US" sz="2200" dirty="0">
                <a:cs typeface="Times New Roman" panose="02020603050405020304" pitchFamily="18" charset="0"/>
              </a:rPr>
              <a:t>A more explicitly</a:t>
            </a:r>
            <a:r>
              <a:rPr lang="en-US" sz="2200" b="1" dirty="0">
                <a:cs typeface="Times New Roman" panose="02020603050405020304" pitchFamily="18" charset="0"/>
              </a:rPr>
              <a:t> prediction </a:t>
            </a:r>
            <a:r>
              <a:rPr lang="en-US" sz="2200" dirty="0">
                <a:cs typeface="Times New Roman" panose="02020603050405020304" pitchFamily="18" charset="0"/>
              </a:rPr>
              <a:t>approach to regression</a:t>
            </a:r>
          </a:p>
          <a:p>
            <a:pPr lvl="1"/>
            <a:r>
              <a:rPr lang="en-US" sz="2200" dirty="0">
                <a:cs typeface="Times New Roman" panose="02020603050405020304" pitchFamily="18" charset="0"/>
              </a:rPr>
              <a:t>Rather than coefficient estimation based on averages of errors, </a:t>
            </a:r>
          </a:p>
          <a:p>
            <a:pPr lvl="1"/>
            <a:r>
              <a:rPr lang="en-US" sz="2200" dirty="0">
                <a:cs typeface="Times New Roman" panose="02020603050405020304" pitchFamily="18" charset="0"/>
              </a:rPr>
              <a:t>Split data into </a:t>
            </a:r>
            <a:r>
              <a:rPr lang="en-US" sz="2200" i="1" dirty="0">
                <a:cs typeface="Times New Roman" panose="02020603050405020304" pitchFamily="18" charset="0"/>
              </a:rPr>
              <a:t>trees </a:t>
            </a:r>
            <a:r>
              <a:rPr lang="en-US" sz="2200" dirty="0">
                <a:cs typeface="Times New Roman" panose="02020603050405020304" pitchFamily="18" charset="0"/>
              </a:rPr>
              <a:t>based on “cut-points” in data</a:t>
            </a:r>
          </a:p>
          <a:p>
            <a:pPr lvl="1"/>
            <a:r>
              <a:rPr lang="en-US" sz="2200" dirty="0">
                <a:cs typeface="Times New Roman" panose="02020603050405020304" pitchFamily="18" charset="0"/>
              </a:rPr>
              <a:t>Trees are chosen in order to maximize predictive power of data</a:t>
            </a:r>
          </a:p>
          <a:p>
            <a:r>
              <a:rPr lang="en-US" sz="2200" dirty="0">
                <a:cs typeface="Times New Roman" panose="02020603050405020304" pitchFamily="18" charset="0"/>
              </a:rPr>
              <a:t>Forests: bootstrapping over the trees!</a:t>
            </a:r>
          </a:p>
          <a:p>
            <a:pPr lvl="1"/>
            <a:r>
              <a:rPr lang="en-US" sz="2200" dirty="0">
                <a:cs typeface="Times New Roman" panose="02020603050405020304" pitchFamily="18" charset="0"/>
              </a:rPr>
              <a:t>There is new terminology here: bagging, boosting, etc. But the concepts are similar</a:t>
            </a:r>
          </a:p>
          <a:p>
            <a:r>
              <a:rPr lang="en-US" sz="2200" dirty="0">
                <a:cs typeface="Times New Roman" panose="02020603050405020304" pitchFamily="18" charset="0"/>
              </a:rPr>
              <a:t>These methods were applied best as </a:t>
            </a:r>
            <a:r>
              <a:rPr lang="en-US" sz="2200" b="1" dirty="0">
                <a:cs typeface="Times New Roman" panose="02020603050405020304" pitchFamily="18" charset="0"/>
              </a:rPr>
              <a:t>predictive methods</a:t>
            </a:r>
            <a:r>
              <a:rPr lang="en-US" sz="2200" dirty="0">
                <a:cs typeface="Times New Roman" panose="02020603050405020304" pitchFamily="18" charset="0"/>
              </a:rPr>
              <a:t>, so causality is not always apparent</a:t>
            </a:r>
          </a:p>
          <a:p>
            <a:pPr lvl="1"/>
            <a:r>
              <a:rPr lang="en-US" sz="2200" dirty="0">
                <a:cs typeface="Times New Roman" panose="02020603050405020304" pitchFamily="18" charset="0"/>
              </a:rPr>
              <a:t>But causal methods are being developed; see papers in </a:t>
            </a:r>
            <a:r>
              <a:rPr lang="en-US" sz="2200" dirty="0" err="1">
                <a:cs typeface="Times New Roman" panose="02020603050405020304" pitchFamily="18" charset="0"/>
              </a:rPr>
              <a:t>Github</a:t>
            </a:r>
            <a:r>
              <a:rPr lang="en-US" sz="2200" dirty="0">
                <a:cs typeface="Times New Roman" panose="02020603050405020304" pitchFamily="18" charset="0"/>
              </a:rPr>
              <a:t> repo </a:t>
            </a:r>
          </a:p>
          <a:p>
            <a:pPr lvl="1"/>
            <a:r>
              <a:rPr lang="en-US" sz="2200" dirty="0">
                <a:cs typeface="Times New Roman" panose="02020603050405020304" pitchFamily="18" charset="0"/>
              </a:rPr>
              <a:t>Sometimes we care about prediction too! (e.g., risk adjustment)</a:t>
            </a:r>
          </a:p>
        </p:txBody>
      </p:sp>
    </p:spTree>
    <p:extLst>
      <p:ext uri="{BB962C8B-B14F-4D97-AF65-F5344CB8AC3E}">
        <p14:creationId xmlns:p14="http://schemas.microsoft.com/office/powerpoint/2010/main" val="2639687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E50903-DD50-7011-608A-0D137C3D77E9}"/>
            </a:ext>
          </a:extLst>
        </p:cNvPr>
        <p:cNvGrpSpPr/>
        <p:nvPr/>
      </p:nvGrpSpPr>
      <p:grpSpPr>
        <a:xfrm>
          <a:off x="0" y="0"/>
          <a:ext cx="0" cy="0"/>
          <a:chOff x="0" y="0"/>
          <a:chExt cx="0" cy="0"/>
        </a:xfrm>
      </p:grpSpPr>
      <p:pic>
        <p:nvPicPr>
          <p:cNvPr id="7170" name="Picture 2" descr="Deep Feed Forward Neural Network | Download Scientific Diagram">
            <a:extLst>
              <a:ext uri="{FF2B5EF4-FFF2-40B4-BE49-F238E27FC236}">
                <a16:creationId xmlns:a16="http://schemas.microsoft.com/office/drawing/2014/main" id="{53782D61-8C2B-AC6D-5B4E-E6547F463F8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39080" y="1976547"/>
            <a:ext cx="4294933" cy="290490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5C6AA9-9788-8268-0938-C8926CED53E7}"/>
              </a:ext>
            </a:extLst>
          </p:cNvPr>
          <p:cNvSpPr>
            <a:spLocks noGrp="1"/>
          </p:cNvSpPr>
          <p:nvPr>
            <p:ph type="title"/>
          </p:nvPr>
        </p:nvSpPr>
        <p:spPr>
          <a:xfrm>
            <a:off x="718874" y="228600"/>
            <a:ext cx="7815526" cy="609600"/>
          </a:xfrm>
        </p:spPr>
        <p:txBody>
          <a:bodyPr>
            <a:normAutofit fontScale="90000"/>
          </a:bodyPr>
          <a:lstStyle/>
          <a:p>
            <a:r>
              <a:rPr lang="en-US" dirty="0">
                <a:cs typeface="Times New Roman" panose="02020603050405020304" pitchFamily="18" charset="0"/>
              </a:rPr>
              <a:t>Option 3: Neural Networks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3E5F1C0-270D-178A-A1E3-2EE40F38284B}"/>
              </a:ext>
            </a:extLst>
          </p:cNvPr>
          <p:cNvSpPr>
            <a:spLocks noGrp="1"/>
          </p:cNvSpPr>
          <p:nvPr>
            <p:ph idx="1"/>
          </p:nvPr>
        </p:nvSpPr>
        <p:spPr>
          <a:xfrm>
            <a:off x="727112" y="990600"/>
            <a:ext cx="6520126" cy="5341937"/>
          </a:xfrm>
        </p:spPr>
        <p:txBody>
          <a:bodyPr>
            <a:noAutofit/>
          </a:bodyPr>
          <a:lstStyle/>
          <a:p>
            <a:r>
              <a:rPr lang="en-US" sz="2200" dirty="0">
                <a:cs typeface="Times New Roman" panose="02020603050405020304" pitchFamily="18" charset="0"/>
              </a:rPr>
              <a:t>Random forests are a collection of individual decision trees</a:t>
            </a:r>
          </a:p>
          <a:p>
            <a:r>
              <a:rPr lang="en-US" sz="2200" dirty="0">
                <a:cs typeface="Times New Roman" panose="02020603050405020304" pitchFamily="18" charset="0"/>
              </a:rPr>
              <a:t>Neural networks are a group of </a:t>
            </a:r>
            <a:r>
              <a:rPr lang="en-US" sz="2200" i="1" dirty="0">
                <a:cs typeface="Times New Roman" panose="02020603050405020304" pitchFamily="18" charset="0"/>
              </a:rPr>
              <a:t>connected </a:t>
            </a:r>
            <a:r>
              <a:rPr lang="en-US" sz="2200" dirty="0">
                <a:cs typeface="Times New Roman" panose="02020603050405020304" pitchFamily="18" charset="0"/>
              </a:rPr>
              <a:t>“neurons” </a:t>
            </a:r>
          </a:p>
          <a:p>
            <a:pPr lvl="1"/>
            <a:r>
              <a:rPr lang="en-US" sz="2200" dirty="0">
                <a:cs typeface="Times New Roman" panose="02020603050405020304" pitchFamily="18" charset="0"/>
              </a:rPr>
              <a:t>These neurons process data in “layered” steps</a:t>
            </a:r>
          </a:p>
          <a:p>
            <a:pPr lvl="1"/>
            <a:r>
              <a:rPr lang="en-US" sz="2200" dirty="0">
                <a:cs typeface="Times New Roman" panose="02020603050405020304" pitchFamily="18" charset="0"/>
              </a:rPr>
              <a:t>These layers can be unidirectional (feedforward NN) or circular (feedback NN)</a:t>
            </a:r>
          </a:p>
          <a:p>
            <a:pPr lvl="1"/>
            <a:r>
              <a:rPr lang="en-US" sz="2200" dirty="0">
                <a:cs typeface="Times New Roman" panose="02020603050405020304" pitchFamily="18" charset="0"/>
              </a:rPr>
              <a:t>Ultimately, the neurons “learn” complex functions/DGPs using </a:t>
            </a:r>
            <a:r>
              <a:rPr lang="en-US" sz="2200" b="1" dirty="0">
                <a:cs typeface="Times New Roman" panose="02020603050405020304" pitchFamily="18" charset="0"/>
              </a:rPr>
              <a:t>many nonlinear transformations of data</a:t>
            </a:r>
            <a:endParaRPr lang="en-US" sz="2200" dirty="0">
              <a:cs typeface="Times New Roman" panose="02020603050405020304" pitchFamily="18" charset="0"/>
            </a:endParaRPr>
          </a:p>
          <a:p>
            <a:r>
              <a:rPr lang="en-US" sz="2200" dirty="0">
                <a:cs typeface="Times New Roman" panose="02020603050405020304" pitchFamily="18" charset="0"/>
              </a:rPr>
              <a:t>Advantages: extremely flexible, </a:t>
            </a:r>
            <a:r>
              <a:rPr lang="en-US" sz="2200" dirty="0"/>
              <a:t>Capture complicated nonlinearities &amp; interactions automatically.</a:t>
            </a:r>
          </a:p>
          <a:p>
            <a:r>
              <a:rPr lang="en-US" sz="2200" dirty="0">
                <a:cs typeface="Times New Roman" panose="02020603050405020304" pitchFamily="18" charset="0"/>
              </a:rPr>
              <a:t>Drawbacks: Require extremely large data sets, have many hyperparameters that need tuning, prone to overfitting</a:t>
            </a:r>
          </a:p>
          <a:p>
            <a:pPr lvl="1"/>
            <a:r>
              <a:rPr lang="en-US" sz="2200" dirty="0">
                <a:cs typeface="Times New Roman" panose="02020603050405020304" pitchFamily="18" charset="0"/>
              </a:rPr>
              <a:t>Makes training these more of an “art” </a:t>
            </a:r>
          </a:p>
        </p:txBody>
      </p:sp>
    </p:spTree>
    <p:extLst>
      <p:ext uri="{BB962C8B-B14F-4D97-AF65-F5344CB8AC3E}">
        <p14:creationId xmlns:p14="http://schemas.microsoft.com/office/powerpoint/2010/main" val="2987498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8FB3-6A59-7563-50B0-75CF0374B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EFC20-1717-E845-E253-595D1FB05FD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Can this ever be causal?</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3834DB-18AC-AFD8-8212-D6CCB8C32322}"/>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Many econometricians (and others) are working on developing causal methods for machine learning</a:t>
            </a:r>
          </a:p>
          <a:p>
            <a:r>
              <a:rPr lang="en-US" sz="2400" dirty="0">
                <a:solidFill>
                  <a:srgbClr val="222222"/>
                </a:solidFill>
                <a:cs typeface="Times New Roman" panose="02020603050405020304" pitchFamily="18" charset="0"/>
              </a:rPr>
              <a:t>One place where this is really promising: </a:t>
            </a:r>
            <a:r>
              <a:rPr lang="en-US" sz="2400" b="1" dirty="0">
                <a:solidFill>
                  <a:srgbClr val="222222"/>
                </a:solidFill>
                <a:cs typeface="Times New Roman" panose="02020603050405020304" pitchFamily="18" charset="0"/>
              </a:rPr>
              <a:t>learning coefficients on endogenous regressors </a:t>
            </a:r>
            <a:r>
              <a:rPr lang="en-US" sz="2400" dirty="0">
                <a:solidFill>
                  <a:srgbClr val="222222"/>
                </a:solidFill>
                <a:cs typeface="Times New Roman" panose="02020603050405020304" pitchFamily="18" charset="0"/>
              </a:rPr>
              <a:t>with a combination of IV methods.</a:t>
            </a:r>
          </a:p>
          <a:p>
            <a:r>
              <a:rPr lang="en-US" sz="2400" dirty="0">
                <a:solidFill>
                  <a:srgbClr val="222222"/>
                </a:solidFill>
                <a:cs typeface="Times New Roman" panose="02020603050405020304" pitchFamily="18" charset="0"/>
              </a:rPr>
              <a:t>Intuition: ML models can help generate a stronger instrument (first stage is all about prediction) and can then be jointly/nonlinearly embedded into a 2SLS regression</a:t>
            </a:r>
          </a:p>
          <a:p>
            <a:endParaRPr lang="en-US" sz="2400" dirty="0">
              <a:solidFill>
                <a:srgbClr val="222222"/>
              </a:solidFill>
              <a:cs typeface="Times New Roman" panose="02020603050405020304" pitchFamily="18" charset="0"/>
            </a:endParaRPr>
          </a:p>
        </p:txBody>
      </p:sp>
      <p:pic>
        <p:nvPicPr>
          <p:cNvPr id="5" name="Picture 4">
            <a:extLst>
              <a:ext uri="{FF2B5EF4-FFF2-40B4-BE49-F238E27FC236}">
                <a16:creationId xmlns:a16="http://schemas.microsoft.com/office/drawing/2014/main" id="{B52148A4-01E5-EDFD-27A4-7BB12381D0F8}"/>
              </a:ext>
            </a:extLst>
          </p:cNvPr>
          <p:cNvPicPr>
            <a:picLocks noChangeAspect="1"/>
          </p:cNvPicPr>
          <p:nvPr/>
        </p:nvPicPr>
        <p:blipFill>
          <a:blip r:embed="rId3"/>
          <a:stretch>
            <a:fillRect/>
          </a:stretch>
        </p:blipFill>
        <p:spPr>
          <a:xfrm>
            <a:off x="76200" y="3937708"/>
            <a:ext cx="6400800" cy="2787445"/>
          </a:xfrm>
          <a:prstGeom prst="rect">
            <a:avLst/>
          </a:prstGeom>
        </p:spPr>
      </p:pic>
    </p:spTree>
    <p:extLst>
      <p:ext uri="{BB962C8B-B14F-4D97-AF65-F5344CB8AC3E}">
        <p14:creationId xmlns:p14="http://schemas.microsoft.com/office/powerpoint/2010/main" val="3541803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B8A2E-3C0F-2EA9-C1D5-A4EBA6FA2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304217-ADE0-ECF5-24DF-B8D58AF42176}"/>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 example: in progress</a:t>
            </a:r>
          </a:p>
        </p:txBody>
      </p:sp>
      <p:sp>
        <p:nvSpPr>
          <p:cNvPr id="3" name="Content Placeholder 2">
            <a:extLst>
              <a:ext uri="{FF2B5EF4-FFF2-40B4-BE49-F238E27FC236}">
                <a16:creationId xmlns:a16="http://schemas.microsoft.com/office/drawing/2014/main" id="{F3BDB1D8-1038-D949-CB8E-9C0577FF347A}"/>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Suppose we care about the effect of child maltreatment investigations on household wellbeing (why?)</a:t>
            </a:r>
          </a:p>
          <a:p>
            <a:r>
              <a:rPr lang="en-US" sz="2400" dirty="0">
                <a:solidFill>
                  <a:srgbClr val="222222"/>
                </a:solidFill>
                <a:cs typeface="Times New Roman" panose="02020603050405020304" pitchFamily="18" charset="0"/>
              </a:rPr>
              <a:t>The DAG looks something like this</a:t>
            </a:r>
          </a:p>
        </p:txBody>
      </p:sp>
      <p:sp>
        <p:nvSpPr>
          <p:cNvPr id="6" name="Oval 5">
            <a:extLst>
              <a:ext uri="{FF2B5EF4-FFF2-40B4-BE49-F238E27FC236}">
                <a16:creationId xmlns:a16="http://schemas.microsoft.com/office/drawing/2014/main" id="{3B4FA199-BF56-C510-FBD2-844AD0E24E61}"/>
              </a:ext>
            </a:extLst>
          </p:cNvPr>
          <p:cNvSpPr/>
          <p:nvPr/>
        </p:nvSpPr>
        <p:spPr>
          <a:xfrm>
            <a:off x="4429254"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Investigation</a:t>
            </a:r>
          </a:p>
        </p:txBody>
      </p:sp>
      <p:sp>
        <p:nvSpPr>
          <p:cNvPr id="7" name="Oval 6">
            <a:extLst>
              <a:ext uri="{FF2B5EF4-FFF2-40B4-BE49-F238E27FC236}">
                <a16:creationId xmlns:a16="http://schemas.microsoft.com/office/drawing/2014/main" id="{A0F9987D-FE73-48CD-C551-40EB7BC64F9F}"/>
              </a:ext>
            </a:extLst>
          </p:cNvPr>
          <p:cNvSpPr/>
          <p:nvPr/>
        </p:nvSpPr>
        <p:spPr>
          <a:xfrm>
            <a:off x="8528222"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sp>
        <p:nvSpPr>
          <p:cNvPr id="8" name="Oval 7">
            <a:extLst>
              <a:ext uri="{FF2B5EF4-FFF2-40B4-BE49-F238E27FC236}">
                <a16:creationId xmlns:a16="http://schemas.microsoft.com/office/drawing/2014/main" id="{FE5E95ED-CDE2-C614-8514-C94CE9DD1C68}"/>
              </a:ext>
            </a:extLst>
          </p:cNvPr>
          <p:cNvSpPr/>
          <p:nvPr/>
        </p:nvSpPr>
        <p:spPr>
          <a:xfrm>
            <a:off x="330286" y="2809104"/>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Caseworker variation (leniency design)</a:t>
            </a:r>
          </a:p>
        </p:txBody>
      </p:sp>
      <p:sp>
        <p:nvSpPr>
          <p:cNvPr id="9" name="Oval 8">
            <a:extLst>
              <a:ext uri="{FF2B5EF4-FFF2-40B4-BE49-F238E27FC236}">
                <a16:creationId xmlns:a16="http://schemas.microsoft.com/office/drawing/2014/main" id="{36EACE8C-11E9-9A0F-5961-A3B5C4D09080}"/>
              </a:ext>
            </a:extLst>
          </p:cNvPr>
          <p:cNvSpPr/>
          <p:nvPr/>
        </p:nvSpPr>
        <p:spPr>
          <a:xfrm>
            <a:off x="6509630" y="4762499"/>
            <a:ext cx="2514600" cy="2057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Selection</a:t>
            </a:r>
          </a:p>
        </p:txBody>
      </p:sp>
      <p:cxnSp>
        <p:nvCxnSpPr>
          <p:cNvPr id="11" name="Straight Arrow Connector 10">
            <a:extLst>
              <a:ext uri="{FF2B5EF4-FFF2-40B4-BE49-F238E27FC236}">
                <a16:creationId xmlns:a16="http://schemas.microsoft.com/office/drawing/2014/main" id="{6192EDFC-C8CE-6B52-280F-5CB0C783B5B6}"/>
              </a:ext>
            </a:extLst>
          </p:cNvPr>
          <p:cNvCxnSpPr>
            <a:stCxn id="8" idx="6"/>
            <a:endCxn id="6" idx="2"/>
          </p:cNvCxnSpPr>
          <p:nvPr/>
        </p:nvCxnSpPr>
        <p:spPr>
          <a:xfrm>
            <a:off x="2844886" y="3837804"/>
            <a:ext cx="158436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5628801-A6BA-D7DD-C738-2E7C024B3A8C}"/>
              </a:ext>
            </a:extLst>
          </p:cNvPr>
          <p:cNvCxnSpPr>
            <a:endCxn id="7" idx="2"/>
          </p:cNvCxnSpPr>
          <p:nvPr/>
        </p:nvCxnSpPr>
        <p:spPr>
          <a:xfrm>
            <a:off x="7086600" y="3837804"/>
            <a:ext cx="144162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39D4D1F-8E2F-995E-49C7-2C7D1B6571D2}"/>
              </a:ext>
            </a:extLst>
          </p:cNvPr>
          <p:cNvCxnSpPr>
            <a:cxnSpLocks/>
            <a:stCxn id="9" idx="1"/>
          </p:cNvCxnSpPr>
          <p:nvPr/>
        </p:nvCxnSpPr>
        <p:spPr>
          <a:xfrm flipH="1" flipV="1">
            <a:off x="5867401" y="4965151"/>
            <a:ext cx="1010484" cy="986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3447292-B29C-4617-E6C1-FD851970656E}"/>
              </a:ext>
            </a:extLst>
          </p:cNvPr>
          <p:cNvCxnSpPr>
            <a:cxnSpLocks/>
            <a:stCxn id="9" idx="7"/>
          </p:cNvCxnSpPr>
          <p:nvPr/>
        </p:nvCxnSpPr>
        <p:spPr>
          <a:xfrm flipV="1">
            <a:off x="8655975" y="5014474"/>
            <a:ext cx="945225" cy="493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558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4762F-9588-E027-4A93-9A4B51105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78770-257A-4D04-E77C-FB2F9BF90C93}"/>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 example: in progress</a:t>
            </a:r>
          </a:p>
        </p:txBody>
      </p:sp>
      <p:sp>
        <p:nvSpPr>
          <p:cNvPr id="3" name="Content Placeholder 2">
            <a:extLst>
              <a:ext uri="{FF2B5EF4-FFF2-40B4-BE49-F238E27FC236}">
                <a16:creationId xmlns:a16="http://schemas.microsoft.com/office/drawing/2014/main" id="{4DF60C9B-68B7-4240-8FF6-E148E3605E04}"/>
              </a:ext>
            </a:extLst>
          </p:cNvPr>
          <p:cNvSpPr>
            <a:spLocks noGrp="1"/>
          </p:cNvSpPr>
          <p:nvPr>
            <p:ph idx="1"/>
          </p:nvPr>
        </p:nvSpPr>
        <p:spPr>
          <a:xfrm>
            <a:off x="685801" y="1066801"/>
            <a:ext cx="10363200" cy="5141388"/>
          </a:xfrm>
        </p:spPr>
        <p:txBody>
          <a:bodyPr>
            <a:noAutofit/>
          </a:bodyPr>
          <a:lstStyle/>
          <a:p>
            <a:r>
              <a:rPr lang="en-US" sz="2400" dirty="0">
                <a:solidFill>
                  <a:srgbClr val="222222"/>
                </a:solidFill>
                <a:cs typeface="Times New Roman" panose="02020603050405020304" pitchFamily="18" charset="0"/>
              </a:rPr>
              <a:t>A prediction model can use </a:t>
            </a:r>
            <a:r>
              <a:rPr lang="en-US" sz="2400" b="1" dirty="0">
                <a:solidFill>
                  <a:srgbClr val="222222"/>
                </a:solidFill>
                <a:cs typeface="Times New Roman" panose="02020603050405020304" pitchFamily="18" charset="0"/>
              </a:rPr>
              <a:t>rich demographics </a:t>
            </a:r>
            <a:r>
              <a:rPr lang="en-US" sz="2400" dirty="0">
                <a:solidFill>
                  <a:srgbClr val="222222"/>
                </a:solidFill>
                <a:cs typeface="Times New Roman" panose="02020603050405020304" pitchFamily="18" charset="0"/>
              </a:rPr>
              <a:t>on both the endogenous treatment (investigation) and outcomes to boost the IV’s power: </a:t>
            </a:r>
          </a:p>
          <a:p>
            <a:pPr marL="457200" indent="-457200">
              <a:buAutoNum type="arabicPeriod"/>
            </a:pPr>
            <a:r>
              <a:rPr lang="en-US" sz="2400" dirty="0">
                <a:solidFill>
                  <a:srgbClr val="222222"/>
                </a:solidFill>
                <a:cs typeface="Times New Roman" panose="02020603050405020304" pitchFamily="18" charset="0"/>
              </a:rPr>
              <a:t>Use a LASSO/other model to predict investigations based on both the instrument and observables</a:t>
            </a:r>
          </a:p>
          <a:p>
            <a:pPr marL="457200" indent="-457200">
              <a:buAutoNum type="arabicPeriod"/>
            </a:pPr>
            <a:r>
              <a:rPr lang="en-US" sz="2400" dirty="0">
                <a:solidFill>
                  <a:srgbClr val="222222"/>
                </a:solidFill>
                <a:cs typeface="Times New Roman" panose="02020603050405020304" pitchFamily="18" charset="0"/>
              </a:rPr>
              <a:t>Use another LASSO/ML model to predict outcomes (e.g., graduation rates)</a:t>
            </a:r>
          </a:p>
          <a:p>
            <a:pPr marL="457200" indent="-457200">
              <a:buAutoNum type="arabicPeriod"/>
            </a:pPr>
            <a:r>
              <a:rPr lang="en-US" sz="2400" dirty="0">
                <a:solidFill>
                  <a:srgbClr val="222222"/>
                </a:solidFill>
                <a:cs typeface="Times New Roman" panose="02020603050405020304" pitchFamily="18" charset="0"/>
              </a:rPr>
              <a:t>Take the residuals from both predictions (double ML)</a:t>
            </a:r>
          </a:p>
          <a:p>
            <a:pPr marL="457200" indent="-457200">
              <a:buAutoNum type="arabicPeriod"/>
            </a:pPr>
            <a:r>
              <a:rPr lang="en-US" sz="2400" dirty="0">
                <a:solidFill>
                  <a:srgbClr val="222222"/>
                </a:solidFill>
                <a:cs typeface="Times New Roman" panose="02020603050405020304" pitchFamily="18" charset="0"/>
              </a:rPr>
              <a:t>Estimate 2SLS on these residuals</a:t>
            </a:r>
          </a:p>
          <a:p>
            <a:pPr marL="457200" indent="-457200">
              <a:buAutoNum type="arabicPeriod"/>
            </a:pPr>
            <a:endParaRPr lang="en-US" sz="2400" dirty="0">
              <a:solidFill>
                <a:srgbClr val="222222"/>
              </a:solidFill>
              <a:cs typeface="Times New Roman" panose="02020603050405020304" pitchFamily="18" charset="0"/>
            </a:endParaRPr>
          </a:p>
        </p:txBody>
      </p:sp>
      <p:pic>
        <p:nvPicPr>
          <p:cNvPr id="8196" name="Picture 4" descr="Double ML: Causal Inference based on ML">
            <a:extLst>
              <a:ext uri="{FF2B5EF4-FFF2-40B4-BE49-F238E27FC236}">
                <a16:creationId xmlns:a16="http://schemas.microsoft.com/office/drawing/2014/main" id="{5AFEAD28-643C-EB52-699A-846F492675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403168"/>
            <a:ext cx="7162800" cy="2323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402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37419" y="1099456"/>
            <a:ext cx="7902389" cy="3668487"/>
          </a:xfrm>
        </p:spPr>
        <p:txBody>
          <a:bodyPr>
            <a:normAutofit/>
          </a:bodyPr>
          <a:lstStyle/>
          <a:p>
            <a:pPr>
              <a:lnSpc>
                <a:spcPct val="90000"/>
              </a:lnSpc>
            </a:pPr>
            <a:r>
              <a:rPr lang="en-US" sz="6100" dirty="0"/>
              <a:t>Choosing the “Right” research design</a:t>
            </a:r>
          </a:p>
        </p:txBody>
      </p:sp>
      <p:sp>
        <p:nvSpPr>
          <p:cNvPr id="5" name="Subtitle 4">
            <a:extLst>
              <a:ext uri="{FF2B5EF4-FFF2-40B4-BE49-F238E27FC236}">
                <a16:creationId xmlns:a16="http://schemas.microsoft.com/office/drawing/2014/main" id="{5B04A455-F13B-BDF4-4132-09973C85EA13}"/>
              </a:ext>
            </a:extLst>
          </p:cNvPr>
          <p:cNvSpPr>
            <a:spLocks noGrp="1"/>
          </p:cNvSpPr>
          <p:nvPr>
            <p:ph type="subTitle" idx="1"/>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064ED-E0B6-0C8D-B7F3-02BF1482CD4F}"/>
              </a:ext>
            </a:extLst>
          </p:cNvPr>
          <p:cNvSpPr>
            <a:spLocks noGrp="1"/>
          </p:cNvSpPr>
          <p:nvPr>
            <p:ph type="title"/>
          </p:nvPr>
        </p:nvSpPr>
        <p:spPr>
          <a:xfrm>
            <a:off x="687212" y="609601"/>
            <a:ext cx="7737725" cy="922867"/>
          </a:xfrm>
        </p:spPr>
        <p:txBody>
          <a:bodyPr anchor="b">
            <a:normAutofit fontScale="90000"/>
          </a:bodyPr>
          <a:lstStyle/>
          <a:p>
            <a:r>
              <a:rPr lang="en-US" sz="3200"/>
              <a:t>How do I pick the “right” research design?</a:t>
            </a:r>
            <a:endParaRPr lang="en-US" sz="3200" dirty="0"/>
          </a:p>
        </p:txBody>
      </p:sp>
      <p:graphicFrame>
        <p:nvGraphicFramePr>
          <p:cNvPr id="1036" name="Content Placeholder 2">
            <a:extLst>
              <a:ext uri="{FF2B5EF4-FFF2-40B4-BE49-F238E27FC236}">
                <a16:creationId xmlns:a16="http://schemas.microsoft.com/office/drawing/2014/main" id="{71B5DB4A-C7BC-B479-C828-CD5B646DF46E}"/>
              </a:ext>
            </a:extLst>
          </p:cNvPr>
          <p:cNvGraphicFramePr>
            <a:graphicFrameLocks noGrp="1"/>
          </p:cNvGraphicFramePr>
          <p:nvPr>
            <p:ph idx="1"/>
          </p:nvPr>
        </p:nvGraphicFramePr>
        <p:xfrm>
          <a:off x="687213" y="1817424"/>
          <a:ext cx="8303635" cy="39737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F0EB2911-94AB-5B58-1A67-6EF4D565FF1A}"/>
              </a:ext>
            </a:extLst>
          </p:cNvPr>
          <p:cNvCxnSpPr>
            <a:cxnSpLocks/>
          </p:cNvCxnSpPr>
          <p:nvPr/>
        </p:nvCxnSpPr>
        <p:spPr>
          <a:xfrm>
            <a:off x="828307" y="1817423"/>
            <a:ext cx="85678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622119"/>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B763850D-24F4-3E21-219F-4265B9DA4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3BF69-1460-783B-E6A9-6707938E38D9}"/>
              </a:ext>
            </a:extLst>
          </p:cNvPr>
          <p:cNvSpPr>
            <a:spLocks noGrp="1"/>
          </p:cNvSpPr>
          <p:nvPr>
            <p:ph type="title"/>
          </p:nvPr>
        </p:nvSpPr>
        <p:spPr>
          <a:xfrm>
            <a:off x="687211" y="643467"/>
            <a:ext cx="4287211" cy="4995333"/>
          </a:xfrm>
        </p:spPr>
        <p:txBody>
          <a:bodyPr>
            <a:normAutofit/>
          </a:bodyPr>
          <a:lstStyle/>
          <a:p>
            <a:r>
              <a:rPr lang="en-US" dirty="0"/>
              <a:t>How do I pick the “right” research design?</a:t>
            </a:r>
          </a:p>
        </p:txBody>
      </p:sp>
      <p:graphicFrame>
        <p:nvGraphicFramePr>
          <p:cNvPr id="17" name="Content Placeholder 2">
            <a:extLst>
              <a:ext uri="{FF2B5EF4-FFF2-40B4-BE49-F238E27FC236}">
                <a16:creationId xmlns:a16="http://schemas.microsoft.com/office/drawing/2014/main" id="{0B57BCF7-AEC2-620D-EDD2-85AD1ECE7821}"/>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a:extLst>
              <a:ext uri="{FF2B5EF4-FFF2-40B4-BE49-F238E27FC236}">
                <a16:creationId xmlns:a16="http://schemas.microsoft.com/office/drawing/2014/main" id="{73157F1A-6089-F16A-456C-4B88BD42F226}"/>
              </a:ext>
            </a:extLst>
          </p:cNvPr>
          <p:cNvCxnSpPr>
            <a:cxnSpLocks/>
          </p:cNvCxnSpPr>
          <p:nvPr/>
        </p:nvCxnSpPr>
        <p:spPr>
          <a:xfrm>
            <a:off x="4974421"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44006"/>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a:extLst>
            <a:ext uri="{FF2B5EF4-FFF2-40B4-BE49-F238E27FC236}">
              <a16:creationId xmlns:a16="http://schemas.microsoft.com/office/drawing/2014/main" id="{D7E4BAB3-D92B-B305-FD3A-FC8725F49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02243-A28B-FCB6-7740-921B944C27CE}"/>
              </a:ext>
            </a:extLst>
          </p:cNvPr>
          <p:cNvSpPr>
            <a:spLocks noGrp="1"/>
          </p:cNvSpPr>
          <p:nvPr>
            <p:ph type="title"/>
          </p:nvPr>
        </p:nvSpPr>
        <p:spPr>
          <a:xfrm>
            <a:off x="687211" y="643467"/>
            <a:ext cx="4274685" cy="4995333"/>
          </a:xfrm>
        </p:spPr>
        <p:txBody>
          <a:bodyPr>
            <a:normAutofit/>
          </a:bodyPr>
          <a:lstStyle/>
          <a:p>
            <a:r>
              <a:rPr lang="en-US" b="1" dirty="0"/>
              <a:t>A starting point:</a:t>
            </a:r>
            <a:r>
              <a:rPr lang="en-US" dirty="0"/>
              <a:t> what is the right experiment?</a:t>
            </a:r>
          </a:p>
        </p:txBody>
      </p:sp>
      <p:graphicFrame>
        <p:nvGraphicFramePr>
          <p:cNvPr id="5" name="Content Placeholder 2">
            <a:extLst>
              <a:ext uri="{FF2B5EF4-FFF2-40B4-BE49-F238E27FC236}">
                <a16:creationId xmlns:a16="http://schemas.microsoft.com/office/drawing/2014/main" id="{4530AAD7-5746-B208-A2B0-90919FBB9BE1}"/>
              </a:ext>
            </a:extLst>
          </p:cNvPr>
          <p:cNvGraphicFramePr>
            <a:graphicFrameLocks noGrp="1"/>
          </p:cNvGraphicFramePr>
          <p:nvPr>
            <p:ph idx="1"/>
          </p:nvPr>
        </p:nvGraphicFramePr>
        <p:xfrm>
          <a:off x="5467673" y="804672"/>
          <a:ext cx="5884758" cy="49172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4" name="Straight Connector 3">
            <a:extLst>
              <a:ext uri="{FF2B5EF4-FFF2-40B4-BE49-F238E27FC236}">
                <a16:creationId xmlns:a16="http://schemas.microsoft.com/office/drawing/2014/main" id="{C887B4AB-866B-415B-CEBB-5474164B3F50}"/>
              </a:ext>
            </a:extLst>
          </p:cNvPr>
          <p:cNvCxnSpPr>
            <a:cxnSpLocks/>
          </p:cNvCxnSpPr>
          <p:nvPr/>
        </p:nvCxnSpPr>
        <p:spPr>
          <a:xfrm>
            <a:off x="4974421" y="643467"/>
            <a:ext cx="0" cy="540986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799329"/>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a:extLst>
            <a:ext uri="{FF2B5EF4-FFF2-40B4-BE49-F238E27FC236}">
              <a16:creationId xmlns:a16="http://schemas.microsoft.com/office/drawing/2014/main" id="{8DBAE5D0-48A0-4B08-AE18-7E3EE174F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8CAF1-BD39-D516-ABD0-A40043AB5E17}"/>
              </a:ext>
            </a:extLst>
          </p:cNvPr>
          <p:cNvSpPr>
            <a:spLocks noGrp="1"/>
          </p:cNvSpPr>
          <p:nvPr>
            <p:ph type="title"/>
          </p:nvPr>
        </p:nvSpPr>
        <p:spPr>
          <a:xfrm>
            <a:off x="404959" y="609601"/>
            <a:ext cx="10293857" cy="952547"/>
          </a:xfrm>
        </p:spPr>
        <p:txBody>
          <a:bodyPr anchor="b">
            <a:normAutofit/>
          </a:bodyPr>
          <a:lstStyle/>
          <a:p>
            <a:r>
              <a:rPr lang="en-US" sz="4500" dirty="0">
                <a:solidFill>
                  <a:schemeClr val="bg1"/>
                </a:solidFill>
              </a:rPr>
              <a:t>3 Types of Quantitative questions</a:t>
            </a:r>
          </a:p>
        </p:txBody>
      </p:sp>
      <p:sp>
        <p:nvSpPr>
          <p:cNvPr id="3" name="Content Placeholder 2">
            <a:extLst>
              <a:ext uri="{FF2B5EF4-FFF2-40B4-BE49-F238E27FC236}">
                <a16:creationId xmlns:a16="http://schemas.microsoft.com/office/drawing/2014/main" id="{2B4C0B7F-3A33-EF2D-3ED6-F35C1A06BCBE}"/>
              </a:ext>
            </a:extLst>
          </p:cNvPr>
          <p:cNvSpPr>
            <a:spLocks noGrp="1"/>
          </p:cNvSpPr>
          <p:nvPr>
            <p:ph idx="1"/>
          </p:nvPr>
        </p:nvSpPr>
        <p:spPr>
          <a:xfrm>
            <a:off x="4777670" y="4067818"/>
            <a:ext cx="2911070" cy="992696"/>
          </a:xfrm>
        </p:spPr>
        <p:txBody>
          <a:bodyPr numCol="1">
            <a:normAutofit/>
          </a:bodyPr>
          <a:lstStyle/>
          <a:p>
            <a:pPr marL="0" indent="0" algn="ctr">
              <a:buNone/>
            </a:pPr>
            <a:r>
              <a:rPr lang="en-US" sz="3000" b="1" dirty="0">
                <a:solidFill>
                  <a:schemeClr val="bg1"/>
                </a:solidFill>
              </a:rPr>
              <a:t>Predictive</a:t>
            </a:r>
          </a:p>
        </p:txBody>
      </p:sp>
      <p:pic>
        <p:nvPicPr>
          <p:cNvPr id="5" name="Graphic 4" descr="Magnifying glass outline">
            <a:extLst>
              <a:ext uri="{FF2B5EF4-FFF2-40B4-BE49-F238E27FC236}">
                <a16:creationId xmlns:a16="http://schemas.microsoft.com/office/drawing/2014/main" id="{EC28C02A-74D0-7302-B8BB-DBA50E6A0C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200229" y="2553895"/>
            <a:ext cx="1514873" cy="1514873"/>
          </a:xfrm>
          <a:prstGeom prst="rect">
            <a:avLst/>
          </a:prstGeom>
        </p:spPr>
      </p:pic>
      <p:pic>
        <p:nvPicPr>
          <p:cNvPr id="7" name="Graphic 6" descr="Bar graph with downward trend outline">
            <a:extLst>
              <a:ext uri="{FF2B5EF4-FFF2-40B4-BE49-F238E27FC236}">
                <a16:creationId xmlns:a16="http://schemas.microsoft.com/office/drawing/2014/main" id="{4B356B8A-69DE-C16E-6078-243DEBF79E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5300" y="2597438"/>
            <a:ext cx="1514873" cy="1514873"/>
          </a:xfrm>
          <a:prstGeom prst="rect">
            <a:avLst/>
          </a:prstGeom>
        </p:spPr>
      </p:pic>
      <p:pic>
        <p:nvPicPr>
          <p:cNvPr id="11" name="Graphic 10" descr="Cause And Effect outline">
            <a:extLst>
              <a:ext uri="{FF2B5EF4-FFF2-40B4-BE49-F238E27FC236}">
                <a16:creationId xmlns:a16="http://schemas.microsoft.com/office/drawing/2014/main" id="{15B7C342-4042-327B-DECC-C4429B9644F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3039" y="2724179"/>
            <a:ext cx="1514873" cy="1514873"/>
          </a:xfrm>
          <a:prstGeom prst="rect">
            <a:avLst/>
          </a:prstGeom>
        </p:spPr>
      </p:pic>
      <p:sp>
        <p:nvSpPr>
          <p:cNvPr id="13" name="Content Placeholder 2">
            <a:extLst>
              <a:ext uri="{FF2B5EF4-FFF2-40B4-BE49-F238E27FC236}">
                <a16:creationId xmlns:a16="http://schemas.microsoft.com/office/drawing/2014/main" id="{83281337-201D-1DB2-5012-EF746C1C047B}"/>
              </a:ext>
            </a:extLst>
          </p:cNvPr>
          <p:cNvSpPr txBox="1">
            <a:spLocks/>
          </p:cNvSpPr>
          <p:nvPr/>
        </p:nvSpPr>
        <p:spPr>
          <a:xfrm>
            <a:off x="1495659"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Descriptive</a:t>
            </a:r>
          </a:p>
        </p:txBody>
      </p:sp>
      <p:sp>
        <p:nvSpPr>
          <p:cNvPr id="14" name="Content Placeholder 2">
            <a:extLst>
              <a:ext uri="{FF2B5EF4-FFF2-40B4-BE49-F238E27FC236}">
                <a16:creationId xmlns:a16="http://schemas.microsoft.com/office/drawing/2014/main" id="{D0FD20AF-D115-28F1-801C-52AF9CC524A6}"/>
              </a:ext>
            </a:extLst>
          </p:cNvPr>
          <p:cNvSpPr txBox="1">
            <a:spLocks/>
          </p:cNvSpPr>
          <p:nvPr/>
        </p:nvSpPr>
        <p:spPr>
          <a:xfrm>
            <a:off x="7787745" y="4067818"/>
            <a:ext cx="2911070" cy="992696"/>
          </a:xfrm>
          <a:prstGeom prst="rect">
            <a:avLst/>
          </a:prstGeom>
        </p:spPr>
        <p:txBody>
          <a:bodyPr vert="horz" lIns="91440" tIns="45720" rIns="91440" bIns="45720" numCol="1" rtlCol="0" anchor="ctr">
            <a:normAutofit/>
          </a:bodyPr>
          <a:lstStyle>
            <a:lvl1pPr marL="285664" indent="-285664" algn="l" defTabSz="457063" rtl="0" eaLnBrk="1" latinLnBrk="0" hangingPunct="1">
              <a:spcBef>
                <a:spcPts val="0"/>
              </a:spcBef>
              <a:spcAft>
                <a:spcPts val="1000"/>
              </a:spcAft>
              <a:buClr>
                <a:schemeClr val="tx1"/>
              </a:buClr>
              <a:buSzPct val="100000"/>
              <a:buFont typeface="Arial"/>
              <a:buChar char="•"/>
              <a:defRPr sz="1799" kern="1200" cap="none">
                <a:solidFill>
                  <a:schemeClr val="tx1"/>
                </a:solidFill>
                <a:effectLst/>
                <a:latin typeface="+mn-lt"/>
                <a:ea typeface="+mn-ea"/>
                <a:cs typeface="+mn-cs"/>
              </a:defRPr>
            </a:lvl1pPr>
            <a:lvl2pPr marL="742727" indent="-285664" algn="l" defTabSz="457063"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199790" indent="-285664" algn="l" defTabSz="457063"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2587"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1999650" indent="-171399"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3846"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0908"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7971"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5034" indent="-228531" algn="l" defTabSz="457063"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lgn="ctr">
              <a:buClr>
                <a:prstClr val="black"/>
              </a:buClr>
              <a:buNone/>
            </a:pPr>
            <a:r>
              <a:rPr lang="en-US" sz="3000" b="1" dirty="0">
                <a:solidFill>
                  <a:prstClr val="white"/>
                </a:solidFill>
                <a:latin typeface="Calibri" panose="020F0502020204030204"/>
              </a:rPr>
              <a:t>Causal</a:t>
            </a:r>
          </a:p>
        </p:txBody>
      </p:sp>
      <p:cxnSp>
        <p:nvCxnSpPr>
          <p:cNvPr id="15" name="Straight Connector 14">
            <a:extLst>
              <a:ext uri="{FF2B5EF4-FFF2-40B4-BE49-F238E27FC236}">
                <a16:creationId xmlns:a16="http://schemas.microsoft.com/office/drawing/2014/main" id="{43A05352-BA32-6FA7-B576-5E8577E21F77}"/>
              </a:ext>
            </a:extLst>
          </p:cNvPr>
          <p:cNvCxnSpPr>
            <a:cxnSpLocks/>
          </p:cNvCxnSpPr>
          <p:nvPr/>
        </p:nvCxnSpPr>
        <p:spPr>
          <a:xfrm>
            <a:off x="202005" y="1817423"/>
            <a:ext cx="91941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033539"/>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2" y="609602"/>
            <a:ext cx="10128787" cy="617950"/>
          </a:xfrm>
        </p:spPr>
        <p:txBody>
          <a:bodyPr>
            <a:normAutofit fontScale="90000"/>
          </a:bodyPr>
          <a:lstStyle/>
          <a:p>
            <a:r>
              <a:rPr lang="en-US" dirty="0">
                <a:solidFill>
                  <a:schemeClr val="bg1"/>
                </a:solidFill>
              </a:rPr>
              <a:t>What design do I pick? What’s my variation?</a:t>
            </a:r>
            <a:endParaRPr dirty="0">
              <a:solidFill>
                <a:schemeClr val="bg1"/>
              </a:solidFill>
            </a:endParaRPr>
          </a:p>
        </p:txBody>
      </p:sp>
      <p:pic>
        <p:nvPicPr>
          <p:cNvPr id="6" name="Picture 5">
            <a:extLst>
              <a:ext uri="{FF2B5EF4-FFF2-40B4-BE49-F238E27FC236}">
                <a16:creationId xmlns:a16="http://schemas.microsoft.com/office/drawing/2014/main" id="{7BB387A4-2E13-B1A5-DCBD-D6BECFBCBB92}"/>
              </a:ext>
            </a:extLst>
          </p:cNvPr>
          <p:cNvPicPr>
            <a:picLocks noChangeAspect="1"/>
          </p:cNvPicPr>
          <p:nvPr/>
        </p:nvPicPr>
        <p:blipFill>
          <a:blip r:embed="rId3"/>
          <a:stretch>
            <a:fillRect/>
          </a:stretch>
        </p:blipFill>
        <p:spPr>
          <a:xfrm>
            <a:off x="519330" y="1227552"/>
            <a:ext cx="6830378" cy="2095792"/>
          </a:xfrm>
          <a:prstGeom prst="rect">
            <a:avLst/>
          </a:prstGeom>
        </p:spPr>
      </p:pic>
      <p:pic>
        <p:nvPicPr>
          <p:cNvPr id="7" name="Picture 6">
            <a:extLst>
              <a:ext uri="{FF2B5EF4-FFF2-40B4-BE49-F238E27FC236}">
                <a16:creationId xmlns:a16="http://schemas.microsoft.com/office/drawing/2014/main" id="{679DFC59-ADA0-3F07-E5FD-322FAB6EFB00}"/>
              </a:ext>
            </a:extLst>
          </p:cNvPr>
          <p:cNvPicPr>
            <a:picLocks noChangeAspect="1"/>
          </p:cNvPicPr>
          <p:nvPr/>
        </p:nvPicPr>
        <p:blipFill>
          <a:blip r:embed="rId4"/>
          <a:srcRect l="6747" b="63626"/>
          <a:stretch>
            <a:fillRect/>
          </a:stretch>
        </p:blipFill>
        <p:spPr>
          <a:xfrm>
            <a:off x="519330" y="3534657"/>
            <a:ext cx="7067605" cy="271374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a:extLst>
            <a:ext uri="{FF2B5EF4-FFF2-40B4-BE49-F238E27FC236}">
              <a16:creationId xmlns:a16="http://schemas.microsoft.com/office/drawing/2014/main" id="{3CFA236D-1C90-1556-E021-B9AB1270C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8D5F23-E886-166A-6735-327C69877166}"/>
              </a:ext>
            </a:extLst>
          </p:cNvPr>
          <p:cNvSpPr>
            <a:spLocks noGrp="1"/>
          </p:cNvSpPr>
          <p:nvPr>
            <p:ph type="title"/>
          </p:nvPr>
        </p:nvSpPr>
        <p:spPr>
          <a:xfrm>
            <a:off x="687212" y="609602"/>
            <a:ext cx="10128787" cy="617950"/>
          </a:xfrm>
        </p:spPr>
        <p:txBody>
          <a:bodyPr>
            <a:normAutofit fontScale="90000"/>
          </a:bodyPr>
          <a:lstStyle/>
          <a:p>
            <a:r>
              <a:rPr lang="en-US" dirty="0">
                <a:solidFill>
                  <a:schemeClr val="bg1"/>
                </a:solidFill>
              </a:rPr>
              <a:t>What design do I pick? What’s my variation?</a:t>
            </a:r>
            <a:endParaRPr dirty="0">
              <a:solidFill>
                <a:schemeClr val="bg1"/>
              </a:solidFill>
            </a:endParaRPr>
          </a:p>
        </p:txBody>
      </p:sp>
      <p:pic>
        <p:nvPicPr>
          <p:cNvPr id="6" name="Picture 5">
            <a:extLst>
              <a:ext uri="{FF2B5EF4-FFF2-40B4-BE49-F238E27FC236}">
                <a16:creationId xmlns:a16="http://schemas.microsoft.com/office/drawing/2014/main" id="{BDEC7B4F-8AEC-5F0D-093D-2C7DDCBF3EBE}"/>
              </a:ext>
            </a:extLst>
          </p:cNvPr>
          <p:cNvPicPr>
            <a:picLocks noChangeAspect="1"/>
          </p:cNvPicPr>
          <p:nvPr/>
        </p:nvPicPr>
        <p:blipFill>
          <a:blip r:embed="rId3"/>
          <a:stretch>
            <a:fillRect/>
          </a:stretch>
        </p:blipFill>
        <p:spPr>
          <a:xfrm>
            <a:off x="519330" y="1227552"/>
            <a:ext cx="6830378" cy="2095792"/>
          </a:xfrm>
          <a:prstGeom prst="rect">
            <a:avLst/>
          </a:prstGeom>
        </p:spPr>
      </p:pic>
      <p:pic>
        <p:nvPicPr>
          <p:cNvPr id="7" name="Picture 6">
            <a:extLst>
              <a:ext uri="{FF2B5EF4-FFF2-40B4-BE49-F238E27FC236}">
                <a16:creationId xmlns:a16="http://schemas.microsoft.com/office/drawing/2014/main" id="{E6CEFCB4-D5AA-463F-32BA-7ECCDC473925}"/>
              </a:ext>
            </a:extLst>
          </p:cNvPr>
          <p:cNvPicPr>
            <a:picLocks noChangeAspect="1"/>
          </p:cNvPicPr>
          <p:nvPr/>
        </p:nvPicPr>
        <p:blipFill>
          <a:blip r:embed="rId4"/>
          <a:srcRect l="6747" b="63626"/>
          <a:stretch>
            <a:fillRect/>
          </a:stretch>
        </p:blipFill>
        <p:spPr>
          <a:xfrm>
            <a:off x="519330" y="3534657"/>
            <a:ext cx="7067605" cy="2713741"/>
          </a:xfrm>
          <a:prstGeom prst="rect">
            <a:avLst/>
          </a:prstGeom>
        </p:spPr>
      </p:pic>
      <p:pic>
        <p:nvPicPr>
          <p:cNvPr id="8" name="Picture 7">
            <a:extLst>
              <a:ext uri="{FF2B5EF4-FFF2-40B4-BE49-F238E27FC236}">
                <a16:creationId xmlns:a16="http://schemas.microsoft.com/office/drawing/2014/main" id="{40875BC5-C669-7508-1EAE-29DF5C22BECD}"/>
              </a:ext>
            </a:extLst>
          </p:cNvPr>
          <p:cNvPicPr>
            <a:picLocks noChangeAspect="1"/>
          </p:cNvPicPr>
          <p:nvPr/>
        </p:nvPicPr>
        <p:blipFill>
          <a:blip r:embed="rId5"/>
          <a:stretch>
            <a:fillRect/>
          </a:stretch>
        </p:blipFill>
        <p:spPr>
          <a:xfrm>
            <a:off x="5813666" y="1837254"/>
            <a:ext cx="6150773" cy="5020747"/>
          </a:xfrm>
          <a:prstGeom prst="rect">
            <a:avLst/>
          </a:prstGeom>
        </p:spPr>
      </p:pic>
    </p:spTree>
    <p:extLst>
      <p:ext uri="{BB962C8B-B14F-4D97-AF65-F5344CB8AC3E}">
        <p14:creationId xmlns:p14="http://schemas.microsoft.com/office/powerpoint/2010/main" val="1731583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7211" y="609601"/>
            <a:ext cx="10128787" cy="1456267"/>
          </a:xfrm>
        </p:spPr>
        <p:txBody>
          <a:bodyPr>
            <a:normAutofit/>
          </a:bodyPr>
          <a:lstStyle/>
          <a:p>
            <a:r>
              <a:rPr dirty="0"/>
              <a:t>Choosing the Right Method</a:t>
            </a:r>
          </a:p>
        </p:txBody>
      </p:sp>
      <p:graphicFrame>
        <p:nvGraphicFramePr>
          <p:cNvPr id="5" name="Content Placeholder 2">
            <a:extLst>
              <a:ext uri="{FF2B5EF4-FFF2-40B4-BE49-F238E27FC236}">
                <a16:creationId xmlns:a16="http://schemas.microsoft.com/office/drawing/2014/main" id="{77A953DF-C46A-4020-A094-B69A8634A8CC}"/>
              </a:ext>
            </a:extLst>
          </p:cNvPr>
          <p:cNvGraphicFramePr>
            <a:graphicFrameLocks noGrp="1"/>
          </p:cNvGraphicFramePr>
          <p:nvPr>
            <p:ph idx="1"/>
          </p:nvPr>
        </p:nvGraphicFramePr>
        <p:xfrm>
          <a:off x="687210" y="2406400"/>
          <a:ext cx="11151475" cy="40570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6241</TotalTime>
  <Words>2143</Words>
  <Application>Microsoft Office PowerPoint</Application>
  <PresentationFormat>Widescreen</PresentationFormat>
  <Paragraphs>187</Paragraphs>
  <Slides>29</Slides>
  <Notes>28</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29</vt:i4>
      </vt:variant>
    </vt:vector>
  </HeadingPairs>
  <TitlesOfParts>
    <vt:vector size="41" baseType="lpstr">
      <vt:lpstr>Aptos</vt:lpstr>
      <vt:lpstr>Arial</vt:lpstr>
      <vt:lpstr>Calibri</vt:lpstr>
      <vt:lpstr>Calibri Light</vt:lpstr>
      <vt:lpstr>Cambria Math</vt:lpstr>
      <vt:lpstr>Century Schoolbook</vt:lpstr>
      <vt:lpstr>Symbol</vt:lpstr>
      <vt:lpstr>Times New Roman</vt:lpstr>
      <vt:lpstr>Wingdings 2</vt:lpstr>
      <vt:lpstr>View</vt:lpstr>
      <vt:lpstr>Office Theme</vt:lpstr>
      <vt:lpstr>Celestial</vt:lpstr>
      <vt:lpstr>Quant Methods in HSR I </vt:lpstr>
      <vt:lpstr>PowerPoint Presentation</vt:lpstr>
      <vt:lpstr>PowerPoint Presentation</vt:lpstr>
      <vt:lpstr>ML in Causal/Descriptive HSR Research:</vt:lpstr>
      <vt:lpstr>Conditional Density Estimation</vt:lpstr>
      <vt:lpstr>What is ML good for? What is it not good for? </vt:lpstr>
      <vt:lpstr>Option 1: LASSO</vt:lpstr>
      <vt:lpstr>A LASSO example</vt:lpstr>
      <vt:lpstr>A LASSO example</vt:lpstr>
      <vt:lpstr>Formal Care Effects Larger for Spouses Requiring Care</vt:lpstr>
      <vt:lpstr>A LASSO example</vt:lpstr>
      <vt:lpstr>Health Effects: Mortality</vt:lpstr>
      <vt:lpstr>A LASSO example</vt:lpstr>
      <vt:lpstr>Decomposition</vt:lpstr>
      <vt:lpstr>Decomposition</vt:lpstr>
      <vt:lpstr>Change in Predicted Pr(SNF Discharge)</vt:lpstr>
      <vt:lpstr>Option 2: Random Forests</vt:lpstr>
      <vt:lpstr>Option 3: Neural Networks</vt:lpstr>
      <vt:lpstr>Can this ever be causal?</vt:lpstr>
      <vt:lpstr>An example: in progress</vt:lpstr>
      <vt:lpstr>An example: in progress</vt:lpstr>
      <vt:lpstr>Choosing the “Right” research design</vt:lpstr>
      <vt:lpstr>How do I pick the “right” research design?</vt:lpstr>
      <vt:lpstr>How do I pick the “right” research design?</vt:lpstr>
      <vt:lpstr>A starting point: what is the right experiment?</vt:lpstr>
      <vt:lpstr>3 Types of Quantitative questions</vt:lpstr>
      <vt:lpstr>What design do I pick? What’s my variation?</vt:lpstr>
      <vt:lpstr>What design do I pick? What’s my variation?</vt:lpstr>
      <vt:lpstr>Choosing the Right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573</cp:revision>
  <dcterms:created xsi:type="dcterms:W3CDTF">2011-01-10T00:42:42Z</dcterms:created>
  <dcterms:modified xsi:type="dcterms:W3CDTF">2026-07-22T17:25:36Z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